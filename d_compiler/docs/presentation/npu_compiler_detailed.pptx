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73.xml" ContentType="application/vnd.openxmlformats-officedocument.presentationml.slideMaster+xml"/>
  <Override PartName="/ppt/slides/slide73.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74.xml" ContentType="application/vnd.openxmlformats-officedocument.presentationml.slideMaster+xml"/>
  <Override PartName="/ppt/slides/slide74.xml" ContentType="application/vnd.openxmlformats-officedocument.presentationml.slide+xml"/>
  <Override PartName="/ppt/charts/chart7.xml" ContentType="application/vnd.openxmlformats-officedocument.drawingml.chart+xml"/>
  <Override PartName="/ppt/slideMasters/slideMaster75.xml" ContentType="application/vnd.openxmlformats-officedocument.presentationml.slideMaster+xml"/>
  <Override PartName="/ppt/slides/slide75.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76.xml" ContentType="application/vnd.openxmlformats-officedocument.presentationml.slideMaster+xml"/>
  <Override PartName="/ppt/slides/slide76.xml" ContentType="application/vnd.openxmlformats-officedocument.presentationml.slide+xml"/>
  <Override PartName="/ppt/charts/chart10.xml" ContentType="application/vnd.openxmlformats-officedocument.drawingml.chart+xml"/>
  <Override PartName="/ppt/slideMasters/slideMaster77.xml" ContentType="application/vnd.openxmlformats-officedocument.presentationml.slideMaster+xml"/>
  <Override PartName="/ppt/slides/slide77.xml" ContentType="application/vnd.openxmlformats-officedocument.presentationml.slide+xml"/>
  <Override PartName="/ppt/charts/chart11.xml" ContentType="application/vnd.openxmlformats-officedocument.drawingml.chart+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Lst>
  <p:notesMasterIdLst>
    <p:notesMasterId r:id="rId9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notesMaster" Target="notesMasters/notesMaster1.xml"/><Relationship Id="rId92" Type="http://schemas.openxmlformats.org/officeDocument/2006/relationships/presProps" Target="presProps.xml"/><Relationship Id="rId93" Type="http://schemas.openxmlformats.org/officeDocument/2006/relationships/viewProps" Target="viewProps.xml"/><Relationship Id="rId94" Type="http://schemas.openxmlformats.org/officeDocument/2006/relationships/theme" Target="theme/theme1.xml"/><Relationship Id="rId9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5243B"/>
                </a:solidFill>
                <a:latin typeface="Arial"/>
              </a:defRPr>
            </a:pPr>
            <a:r>
              <a:rPr sz="1100" b="0" i="0" u="none" strike="noStrike">
                <a:solidFill>
                  <a:srgbClr val="15243B"/>
                </a:solidFill>
                <a:latin typeface="Arial"/>
              </a:rPr>
              <a:t>Compile phase self seconds (합계 ≈ 188 s, 단일 관측)</a:t>
            </a:r>
          </a:p>
        </c:rich>
      </c:tx>
      <c:layout/>
      <c:overlay val="0"/>
    </c:title>
    <c:autoTitleDeleted val="0"/>
    <c:plotArea>
      <c:layout/>
      <c:barChart>
        <c:barDir val="bar"/>
        <c:grouping val="clustered"/>
        <c:varyColors val="0"/>
        <c:ser>
          <c:idx val="0"/>
          <c:order val="0"/>
          <c:tx>
            <c:strRef>
              <c:f>Sheet1!$B$1</c:f>
              <c:strCache>
                <c:ptCount val="1"/>
                <c:pt idx="0">
                  <c:v>self seconds</c:v>
                </c:pt>
              </c:strCache>
            </c:strRef>
          </c:tx>
          <c:spPr>
            <a:solidFill>
              <a:srgbClr val="1F8A8A"/>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Sheet1!$A$2:$A$13</c:f>
              <c:multiLvlStrCache>
                <c:ptCount val="12"/>
                <c:lvl>
                  <c:pt idx="0">
                    <c:v>native_codegen</c:v>
                  </c:pt>
                  <c:pt idx="1">
                    <c:v>schedule_probe_codegen</c:v>
                  </c:pt>
                  <c:pt idx="2">
                    <c:v>residency</c:v>
                  </c:pt>
                  <c:pt idx="3">
                    <c:v>entry_compile(self)</c:v>
                  </c:pt>
                  <c:pt idx="4">
                    <c:v>entry_statistics</c:v>
                  </c:pt>
                  <c:pt idx="5">
                    <c:v>schedule_tir</c:v>
                  </c:pt>
                  <c:pt idx="6">
                    <c:v>bound_kernel_codegen</c:v>
                  </c:pt>
                  <c:pt idx="7">
                    <c:v>memory_planning</c:v>
                  </c:pt>
                  <c:pt idx="8">
                    <c:v>schedule_probe_peephole</c:v>
                  </c:pt>
                  <c:pt idx="9">
                    <c:v>joint_schedule_memory</c:v>
                  </c:pt>
                  <c:pt idx="10">
                    <c:v>schedule_sram</c:v>
                  </c:pt>
                  <c:pt idx="11">
                    <c:v>schedule_and_sram</c:v>
                  </c:pt>
                </c:lvl>
              </c:multiLvlStrCache>
            </c:multiLvlStrRef>
          </c:cat>
          <c:val>
            <c:numRef>
              <c:f>Sheet1!$B$2:$B$13</c:f>
              <c:numCache>
                <c:formatCode>General</c:formatCode>
                <c:ptCount val="12"/>
                <c:pt idx="0">
                  <c:v>41.47</c:v>
                </c:pt>
                <c:pt idx="1">
                  <c:v>29.32</c:v>
                </c:pt>
                <c:pt idx="2">
                  <c:v>22.38</c:v>
                </c:pt>
                <c:pt idx="3">
                  <c:v>20.81</c:v>
                </c:pt>
                <c:pt idx="4">
                  <c:v>8.52</c:v>
                </c:pt>
                <c:pt idx="5">
                  <c:v>4.82</c:v>
                </c:pt>
                <c:pt idx="6">
                  <c:v>3.72</c:v>
                </c:pt>
                <c:pt idx="7">
                  <c:v>3.08</c:v>
                </c:pt>
                <c:pt idx="8">
                  <c:v>2.83</c:v>
                </c:pt>
                <c:pt idx="9">
                  <c:v>1.62</c:v>
                </c:pt>
                <c:pt idx="10">
                  <c:v>1.44</c:v>
                </c:pt>
                <c:pt idx="11">
                  <c:v>1.44</c:v>
                </c:pt>
              </c:numCache>
            </c:numRef>
          </c:val>
        </c:ser>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1F2D3D"/>
                </a:solidFill>
                <a:latin typeface="Arial"/>
              </a:defRPr>
            </a:pPr>
            <a:endParaRPr lang="en-US"/>
          </a:p>
        </c:txPr>
        <c:crossAx val="2094734552"/>
        <c:crosses val="autoZero"/>
        <c:auto val="1"/>
        <c:lblAlgn val="ctr"/>
        <c:noMultiLvlLbl val="1"/>
      </c:catAx>
      <c:valAx>
        <c:axId val="2094734552"/>
        <c:scaling>
          <c:orientation val="minMax"/>
          <c:max val="50"/>
        </c:scaling>
        <c:delete val="0"/>
        <c:axPos val="b"/>
        <c:majorGridlines>
          <c:spPr>
            <a:ln w="6350" cap="flat">
              <a:solidFill>
                <a:srgbClr val="E1E7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5243B"/>
                </a:solidFill>
                <a:latin typeface="Arial"/>
              </a:defRPr>
            </a:pPr>
            <a:r>
              <a:rPr sz="1050" b="0" i="0" u="none" strike="noStrike">
                <a:solidFill>
                  <a:srgbClr val="15243B"/>
                </a:solidFill>
                <a:latin typeface="Arial"/>
              </a:rPr>
              <a:t>ISA words</a:t>
            </a:r>
          </a:p>
        </c:rich>
      </c:tx>
      <c:layout/>
      <c:overlay val="0"/>
    </c:title>
    <c:autoTitleDeleted val="0"/>
    <c:plotArea>
      <c:layout/>
      <c:barChart>
        <c:barDir val="col"/>
        <c:grouping val="clustered"/>
        <c:varyColors val="0"/>
        <c:ser>
          <c:idx val="0"/>
          <c:order val="0"/>
          <c:tx>
            <c:strRef>
              <c:f>Sheet1!$B$1</c:f>
              <c:strCache>
                <c:ptCount val="1"/>
                <c:pt idx="0">
                  <c:v>words</c:v>
                </c:pt>
              </c:strCache>
            </c:strRef>
          </c:tx>
          <c:spPr>
            <a:solidFill>
              <a:srgbClr val="1F8A8A"/>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fusion off (3 kernels)</c:v>
                  </c:pt>
                  <c:pt idx="1">
                    <c:v>fusion auto (1 kernel)</c:v>
                  </c:pt>
                </c:lvl>
              </c:multiLvlStrCache>
            </c:multiLvlStrRef>
          </c:cat>
          <c:val>
            <c:numRef>
              <c:f>Sheet1!$B$2:$B$3</c:f>
              <c:numCache>
                <c:formatCode>General</c:formatCode>
                <c:ptCount val="2"/>
                <c:pt idx="0">
                  <c:v>2812</c:v>
                </c:pt>
                <c:pt idx="1">
                  <c:v>1577</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F2D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5243B"/>
                </a:solidFill>
                <a:latin typeface="Arial"/>
              </a:defRPr>
            </a:pPr>
            <a:r>
              <a:rPr sz="1050" b="0" i="0" u="none" strike="noStrike">
                <a:solidFill>
                  <a:srgbClr val="15243B"/>
                </a:solidFill>
                <a:latin typeface="Arial"/>
              </a:rPr>
              <a:t>SRAM peak (bytes)</a:t>
            </a:r>
          </a:p>
        </c:rich>
      </c:tx>
      <c:layout/>
      <c:overlay val="0"/>
    </c:title>
    <c:autoTitleDeleted val="0"/>
    <c:plotArea>
      <c:layout/>
      <c:barChart>
        <c:barDir val="col"/>
        <c:grouping val="clustered"/>
        <c:varyColors val="0"/>
        <c:ser>
          <c:idx val="0"/>
          <c:order val="0"/>
          <c:tx>
            <c:strRef>
              <c:f>Sheet1!$B$1</c:f>
              <c:strCache>
                <c:ptCount val="1"/>
                <c:pt idx="0">
                  <c:v>sram</c:v>
                </c:pt>
              </c:strCache>
            </c:strRef>
          </c:tx>
          <c:spPr>
            <a:solidFill>
              <a:srgbClr val="6C4FBF"/>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fusion off</c:v>
                  </c:pt>
                  <c:pt idx="1">
                    <c:v>fusion auto</c:v>
                  </c:pt>
                </c:lvl>
              </c:multiLvlStrCache>
            </c:multiLvlStrRef>
          </c:cat>
          <c:val>
            <c:numRef>
              <c:f>Sheet1!$B$2:$B$3</c:f>
              <c:numCache>
                <c:formatCode>General</c:formatCode>
                <c:ptCount val="2"/>
                <c:pt idx="0">
                  <c:v>50700</c:v>
                </c:pt>
                <c:pt idx="1">
                  <c:v>42508</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F2D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5243B"/>
                </a:solidFill>
                <a:latin typeface="Arial"/>
              </a:defRPr>
            </a:pPr>
            <a:r>
              <a:rPr sz="1050" b="0" i="0" u="none" strike="noStrike">
                <a:solidFill>
                  <a:srgbClr val="15243B"/>
                </a:solidFill>
                <a:latin typeface="Arial"/>
              </a:rPr>
              <a:t>DMA bytes (동일)</a:t>
            </a:r>
          </a:p>
        </c:rich>
      </c:tx>
      <c:layout/>
      <c:overlay val="0"/>
    </c:title>
    <c:autoTitleDeleted val="0"/>
    <c:plotArea>
      <c:layout/>
      <c:barChart>
        <c:barDir val="col"/>
        <c:grouping val="clustered"/>
        <c:varyColors val="0"/>
        <c:ser>
          <c:idx val="0"/>
          <c:order val="0"/>
          <c:tx>
            <c:strRef>
              <c:f>Sheet1!$B$1</c:f>
              <c:strCache>
                <c:ptCount val="1"/>
                <c:pt idx="0">
                  <c:v>dma</c:v>
                </c:pt>
              </c:strCache>
            </c:strRef>
          </c:tx>
          <c:spPr>
            <a:solidFill>
              <a:srgbClr val="D98A1E"/>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fusion off</c:v>
                  </c:pt>
                  <c:pt idx="1">
                    <c:v>fusion auto</c:v>
                  </c:pt>
                </c:lvl>
              </c:multiLvlStrCache>
            </c:multiLvlStrRef>
          </c:cat>
          <c:val>
            <c:numRef>
              <c:f>Sheet1!$B$2:$B$3</c:f>
              <c:numCache>
                <c:formatCode>General</c:formatCode>
                <c:ptCount val="2"/>
                <c:pt idx="0">
                  <c:v>41100</c:v>
                </c:pt>
                <c:pt idx="1">
                  <c:v>41100</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F2D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5243B"/>
                </a:solidFill>
                <a:latin typeface="Arial"/>
              </a:defRPr>
            </a:pPr>
            <a:r>
              <a:rPr sz="1050" b="0" i="0" u="none" strike="noStrike">
                <a:solidFill>
                  <a:srgbClr val="15243B"/>
                </a:solidFill>
                <a:latin typeface="Arial"/>
              </a:rPr>
              <a:t>DMA bytes</a:t>
            </a:r>
          </a:p>
        </c:rich>
      </c:tx>
      <c:layout/>
      <c:overlay val="0"/>
    </c:title>
    <c:autoTitleDeleted val="0"/>
    <c:plotArea>
      <c:layout/>
      <c:barChart>
        <c:barDir val="col"/>
        <c:grouping val="clustered"/>
        <c:varyColors val="0"/>
        <c:ser>
          <c:idx val="0"/>
          <c:order val="0"/>
          <c:tx>
            <c:strRef>
              <c:f>Sheet1!$B$1</c:f>
              <c:strCache>
                <c:ptCount val="1"/>
                <c:pt idx="0">
                  <c:v>DMA bytes</c:v>
                </c:pt>
              </c:strCache>
            </c:strRef>
          </c:tx>
          <c:spPr>
            <a:solidFill>
              <a:srgbClr val="D98A1E"/>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32K off</c:v>
                  </c:pt>
                  <c:pt idx="1">
                    <c:v>32K on</c:v>
                  </c:pt>
                  <c:pt idx="2">
                    <c:v>44K off</c:v>
                  </c:pt>
                  <c:pt idx="3">
                    <c:v>44K on</c:v>
                  </c:pt>
                  <c:pt idx="4">
                    <c:v>64K on</c:v>
                  </c:pt>
                </c:lvl>
              </c:multiLvlStrCache>
            </c:multiLvlStrRef>
          </c:cat>
          <c:val>
            <c:numRef>
              <c:f>Sheet1!$B$2:$B$6</c:f>
              <c:numCache>
                <c:formatCode>General</c:formatCode>
                <c:ptCount val="5"/>
                <c:pt idx="0">
                  <c:v>81932</c:v>
                </c:pt>
                <c:pt idx="1">
                  <c:v>81932</c:v>
                </c:pt>
                <c:pt idx="2">
                  <c:v>81932</c:v>
                </c:pt>
                <c:pt idx="3">
                  <c:v>49164</c:v>
                </c:pt>
                <c:pt idx="4">
                  <c:v>49164</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F2D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5243B"/>
                </a:solidFill>
                <a:latin typeface="Arial"/>
              </a:defRPr>
            </a:pPr>
            <a:r>
              <a:rPr sz="1050" b="0" i="0" u="none" strike="noStrike">
                <a:solidFill>
                  <a:srgbClr val="15243B"/>
                </a:solidFill>
                <a:latin typeface="Arial"/>
              </a:rPr>
              <a:t>ISA words</a:t>
            </a:r>
          </a:p>
        </c:rich>
      </c:tx>
      <c:layout/>
      <c:overlay val="0"/>
    </c:title>
    <c:autoTitleDeleted val="0"/>
    <c:plotArea>
      <c:layout/>
      <c:barChart>
        <c:barDir val="col"/>
        <c:grouping val="clustered"/>
        <c:varyColors val="0"/>
        <c:ser>
          <c:idx val="0"/>
          <c:order val="0"/>
          <c:tx>
            <c:strRef>
              <c:f>Sheet1!$B$1</c:f>
              <c:strCache>
                <c:ptCount val="1"/>
                <c:pt idx="0">
                  <c:v>words</c:v>
                </c:pt>
              </c:strCache>
            </c:strRef>
          </c:tx>
          <c:spPr>
            <a:solidFill>
              <a:srgbClr val="1F8A8A"/>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32K off</c:v>
                  </c:pt>
                  <c:pt idx="1">
                    <c:v>32K on</c:v>
                  </c:pt>
                  <c:pt idx="2">
                    <c:v>44K off</c:v>
                  </c:pt>
                  <c:pt idx="3">
                    <c:v>44K on</c:v>
                  </c:pt>
                  <c:pt idx="4">
                    <c:v>64K on</c:v>
                  </c:pt>
                </c:lvl>
              </c:multiLvlStrCache>
            </c:multiLvlStrRef>
          </c:cat>
          <c:val>
            <c:numRef>
              <c:f>Sheet1!$B$2:$B$6</c:f>
              <c:numCache>
                <c:formatCode>General</c:formatCode>
                <c:ptCount val="5"/>
                <c:pt idx="0">
                  <c:v>88</c:v>
                </c:pt>
                <c:pt idx="1">
                  <c:v>88</c:v>
                </c:pt>
                <c:pt idx="2">
                  <c:v>87</c:v>
                </c:pt>
                <c:pt idx="3">
                  <c:v>77</c:v>
                </c:pt>
                <c:pt idx="4">
                  <c:v>77</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F2D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5243B"/>
                </a:solidFill>
                <a:latin typeface="Arial"/>
              </a:defRPr>
            </a:pPr>
            <a:r>
              <a:rPr sz="1050" b="0" i="0" u="none" strike="noStrike">
                <a:solidFill>
                  <a:srgbClr val="15243B"/>
                </a:solidFill>
                <a:latin typeface="Arial"/>
              </a:rPr>
              <a:t>E3 words / image bytes ÷ 1000</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6C4FBF"/>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words 전</c:v>
                  </c:pt>
                  <c:pt idx="1">
                    <c:v>words 후</c:v>
                  </c:pt>
                  <c:pt idx="2">
                    <c:v>image KB 전</c:v>
                  </c:pt>
                  <c:pt idx="3">
                    <c:v>image KB 후</c:v>
                  </c:pt>
                </c:lvl>
              </c:multiLvlStrCache>
            </c:multiLvlStrRef>
          </c:cat>
          <c:val>
            <c:numRef>
              <c:f>Sheet1!$B$2:$B$5</c:f>
              <c:numCache>
                <c:formatCode>General</c:formatCode>
                <c:ptCount val="4"/>
                <c:pt idx="0">
                  <c:v>85</c:v>
                </c:pt>
                <c:pt idx="1">
                  <c:v>77</c:v>
                </c:pt>
                <c:pt idx="2">
                  <c:v>65.548</c:v>
                </c:pt>
                <c:pt idx="3">
                  <c:v>49.164</c:v>
                </c:pt>
              </c:numCache>
            </c:numRef>
          </c:val>
        </c:ser>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F2D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5243B"/>
                </a:solidFill>
                <a:latin typeface="Arial"/>
              </a:defRPr>
            </a:pPr>
            <a:r>
              <a:rPr sz="1050" b="0" i="0" u="none" strike="noStrike">
                <a:solidFill>
                  <a:srgbClr val="15243B"/>
                </a:solidFill>
                <a:latin typeface="Arial"/>
              </a:rPr>
              <a:t>M = 7 (같은 binary, 143,883 words)</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1F8A8A"/>
            </a:solidFill>
            <a:effectLst/>
          </c:spPr>
          <c:invertIfNegative val="0"/>
          <c:dLbls>
            <c:numFmt formatCode="0.0&quot; s&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instrumented</c:v>
                  </c:pt>
                  <c:pt idx="1">
                    <c:v>invalid_fast</c:v>
                  </c:pt>
                  <c:pt idx="2">
                    <c:v>bounded</c:v>
                  </c:pt>
                </c:lvl>
              </c:multiLvlStrCache>
            </c:multiLvlStrRef>
          </c:cat>
          <c:val>
            <c:numRef>
              <c:f>Sheet1!$B$2:$B$4</c:f>
              <c:numCache>
                <c:formatCode>General</c:formatCode>
                <c:ptCount val="3"/>
                <c:pt idx="0">
                  <c:v>84.163</c:v>
                </c:pt>
                <c:pt idx="1">
                  <c:v>35.57</c:v>
                </c:pt>
                <c:pt idx="2">
                  <c:v>22.073</c:v>
                </c:pt>
              </c:numCache>
            </c:numRef>
          </c:val>
        </c:ser>
        <c:dLbls>
          <c:numFmt formatCode="0.0&quot; s&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F2D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5243B"/>
                </a:solidFill>
                <a:latin typeface="Arial"/>
              </a:defRPr>
            </a:pPr>
            <a:r>
              <a:rPr sz="1050" b="0" i="0" u="none" strike="noStrike">
                <a:solidFill>
                  <a:srgbClr val="15243B"/>
                </a:solidFill>
                <a:latin typeface="Arial"/>
              </a:rPr>
              <a:t>M = 64 (같은 binary, 140,594 words)</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91A5BA"/>
            </a:solidFill>
            <a:effectLst/>
          </c:spPr>
          <c:invertIfNegative val="0"/>
          <c:dLbls>
            <c:numFmt formatCode="0.0&quot; s&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unbounded (47 trials)</c:v>
                  </c:pt>
                  <c:pt idx="1">
                    <c:v>bounded 64 (47 trials)</c:v>
                  </c:pt>
                </c:lvl>
              </c:multiLvlStrCache>
            </c:multiLvlStrRef>
          </c:cat>
          <c:val>
            <c:numRef>
              <c:f>Sheet1!$B$2:$B$3</c:f>
              <c:numCache>
                <c:formatCode>General</c:formatCode>
                <c:ptCount val="2"/>
                <c:pt idx="0">
                  <c:v>21.791</c:v>
                </c:pt>
                <c:pt idx="1">
                  <c:v>21.958</c:v>
                </c:pt>
              </c:numCache>
            </c:numRef>
          </c:val>
        </c:ser>
        <c:dLbls>
          <c:numFmt formatCode="0.0&quot; s&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F2D3D"/>
                </a:solidFill>
                <a:latin typeface="Arial"/>
              </a:defRPr>
            </a:pPr>
            <a:endParaRPr lang="en-US"/>
          </a:p>
        </c:txPr>
        <c:crossAx val="2094734552"/>
        <c:crosses val="autoZero"/>
        <c:auto val="1"/>
        <c:lblAlgn val="ctr"/>
        <c:noMultiLvlLbl val="1"/>
      </c:catAx>
      <c:valAx>
        <c:axId val="2094734552"/>
        <c:scaling>
          <c:orientation val="minMax"/>
          <c:max val="90"/>
        </c:scaling>
        <c:delete val="0"/>
        <c:axPos val="l"/>
        <c:majorGridlines>
          <c:spPr>
            <a:ln w="6350" cap="flat">
              <a:solidFill>
                <a:srgbClr val="E1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count</c:v>
                </c:pt>
              </c:strCache>
            </c:strRef>
          </c:tx>
          <c:spPr>
            <a:solidFill>
              <a:srgbClr val="6C4FBF"/>
            </a:solidFill>
            <a:effectLst/>
          </c:spPr>
          <c:invertIfNegative val="0"/>
          <c:dLbls>
            <c:numFmt formatCode="#,##0"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Sheet1!$A$2:$A$11</c:f>
              <c:multiLvlStrCache>
                <c:ptCount val="10"/>
                <c:lvl>
                  <c:pt idx="0">
                    <c:v>0x80 ADDR</c:v>
                  </c:pt>
                  <c:pt idx="1">
                    <c:v>0x90 LOAD</c:v>
                  </c:pt>
                  <c:pt idx="2">
                    <c:v>0x42 M_MUL</c:v>
                  </c:pt>
                  <c:pt idx="3">
                    <c:v>0x98 SAVE</c:v>
                  </c:pt>
                  <c:pt idx="4">
                    <c:v>0x17 COPY</c:v>
                  </c:pt>
                  <c:pt idx="5">
                    <c:v>0x15 BCAST</c:v>
                  </c:pt>
                  <c:pt idx="6">
                    <c:v>0x82 VLEN</c:v>
                  </c:pt>
                  <c:pt idx="7">
                    <c:v>0x0a MUL</c:v>
                  </c:pt>
                  <c:pt idx="8">
                    <c:v>0x01 ADD</c:v>
                  </c:pt>
                  <c:pt idx="9">
                    <c:v>DMA (a0+a8)</c:v>
                  </c:pt>
                </c:lvl>
              </c:multiLvlStrCache>
            </c:multiLvlStrRef>
          </c:cat>
          <c:val>
            <c:numRef>
              <c:f>Sheet1!$B$2:$B$11</c:f>
              <c:numCache>
                <c:formatCode>General</c:formatCode>
                <c:ptCount val="10"/>
                <c:pt idx="0">
                  <c:v>4385992</c:v>
                </c:pt>
                <c:pt idx="1">
                  <c:v>2007966</c:v>
                </c:pt>
                <c:pt idx="2">
                  <c:v>787008</c:v>
                </c:pt>
                <c:pt idx="3">
                  <c:v>521044</c:v>
                </c:pt>
                <c:pt idx="4">
                  <c:v>322764</c:v>
                </c:pt>
                <c:pt idx="5">
                  <c:v>237402</c:v>
                </c:pt>
                <c:pt idx="6">
                  <c:v>201292</c:v>
                </c:pt>
                <c:pt idx="7">
                  <c:v>25541</c:v>
                </c:pt>
                <c:pt idx="8">
                  <c:v>11621</c:v>
                </c:pt>
                <c:pt idx="9">
                  <c:v>13581</c:v>
                </c:pt>
              </c:numCache>
            </c:numRef>
          </c:val>
        </c:ser>
        <c:dLbls>
          <c:numFmt formatCode="#,##0"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1F2D3D"/>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1E7EF"/>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75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5243B"/>
                </a:solidFill>
                <a:latin typeface="Arial"/>
              </a:defRPr>
            </a:pPr>
            <a:r>
              <a:rPr sz="950" b="0" i="0" u="none" strike="noStrike">
                <a:solidFill>
                  <a:srgbClr val="15243B"/>
                </a:solidFill>
                <a:latin typeface="Arial"/>
              </a:rPr>
              <a:t>suite별 wall seconds (exit 0, 17/17 passed)</a:t>
            </a:r>
          </a:p>
        </c:rich>
      </c:tx>
      <c:layout/>
      <c:overlay val="0"/>
    </c:title>
    <c:autoTitleDeleted val="0"/>
    <c:plotArea>
      <c:layout/>
      <c:barChart>
        <c:barDir val="bar"/>
        <c:grouping val="clustered"/>
        <c:varyColors val="0"/>
        <c:ser>
          <c:idx val="0"/>
          <c:order val="0"/>
          <c:tx>
            <c:strRef>
              <c:f>Sheet1!$B$1</c:f>
              <c:strCache>
                <c:ptCount val="1"/>
                <c:pt idx="0">
                  <c:v>seconds</c:v>
                </c:pt>
              </c:strCache>
            </c:strRef>
          </c:tx>
          <c:spPr>
            <a:solidFill>
              <a:srgbClr val="1F8A8A"/>
            </a:solidFill>
            <a:effectLst/>
          </c:spPr>
          <c:invertIfNegative val="0"/>
          <c:dLbls>
            <c:numFmt formatCode="0.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Sheet1!$A$2:$A$18</c:f>
              <c:multiLvlStrCache>
                <c:ptCount val="17"/>
                <c:lvl>
                  <c:pt idx="0">
                    <c:v>nn_decode</c:v>
                  </c:pt>
                  <c:pt idx="1">
                    <c:v>pipeline_extensions</c:v>
                  </c:pt>
                  <c:pt idx="2">
                    <c:v>compiler_contracts</c:v>
                  </c:pt>
                  <c:pt idx="3">
                    <c:v>priority_contracts</c:v>
                  </c:pt>
                  <c:pt idx="4">
                    <c:v>npu_target</c:v>
                  </c:pt>
                  <c:pt idx="5">
                    <c:v>native_codegen</c:v>
                  </c:pt>
                  <c:pt idx="6">
                    <c:v>optimization_contracts</c:v>
                  </c:pt>
                  <c:pt idx="7">
                    <c:v>schedule_memory</c:v>
                  </c:pt>
                  <c:pt idx="8">
                    <c:v>npu_quantize</c:v>
                  </c:pt>
                  <c:pt idx="9">
                    <c:v>compiler_refinement</c:v>
                  </c:pt>
                  <c:pt idx="10">
                    <c:v>nn_hf</c:v>
                  </c:pt>
                  <c:pt idx="11">
                    <c:v>npu_link</c:v>
                  </c:pt>
                  <c:pt idx="12">
                    <c:v>architecture_contracts</c:v>
                  </c:pt>
                  <c:pt idx="13">
                    <c:v>completion_contracts</c:v>
                  </c:pt>
                  <c:pt idx="14">
                    <c:v>sram_lifetime</c:v>
                  </c:pt>
                  <c:pt idx="15">
                    <c:v>compile_speed</c:v>
                  </c:pt>
                  <c:pt idx="16">
                    <c:v>npu_memplan</c:v>
                  </c:pt>
                </c:lvl>
              </c:multiLvlStrCache>
            </c:multiLvlStrRef>
          </c:cat>
          <c:val>
            <c:numRef>
              <c:f>Sheet1!$B$2:$B$18</c:f>
              <c:numCache>
                <c:formatCode>General</c:formatCode>
                <c:ptCount val="17"/>
                <c:pt idx="0">
                  <c:v>207.3</c:v>
                </c:pt>
                <c:pt idx="1">
                  <c:v>68.6</c:v>
                </c:pt>
                <c:pt idx="2">
                  <c:v>44.6</c:v>
                </c:pt>
                <c:pt idx="3">
                  <c:v>37.3</c:v>
                </c:pt>
                <c:pt idx="4">
                  <c:v>34.8</c:v>
                </c:pt>
                <c:pt idx="5">
                  <c:v>25.6</c:v>
                </c:pt>
                <c:pt idx="6">
                  <c:v>20.4</c:v>
                </c:pt>
                <c:pt idx="7">
                  <c:v>18.8</c:v>
                </c:pt>
                <c:pt idx="8">
                  <c:v>18.9</c:v>
                </c:pt>
                <c:pt idx="9">
                  <c:v>14.3</c:v>
                </c:pt>
                <c:pt idx="10">
                  <c:v>14</c:v>
                </c:pt>
                <c:pt idx="11">
                  <c:v>9.3</c:v>
                </c:pt>
                <c:pt idx="12">
                  <c:v>9.1</c:v>
                </c:pt>
                <c:pt idx="13">
                  <c:v>8.9</c:v>
                </c:pt>
                <c:pt idx="14">
                  <c:v>6.7</c:v>
                </c:pt>
                <c:pt idx="15">
                  <c:v>3.5</c:v>
                </c:pt>
                <c:pt idx="16">
                  <c:v>2.4</c:v>
                </c:pt>
              </c:numCache>
            </c:numRef>
          </c:val>
        </c:ser>
        <c:dLbls>
          <c:numFmt formatCode="0.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50" b="0" i="0" u="none" strike="noStrike">
                <a:solidFill>
                  <a:srgbClr val="1F2D3D"/>
                </a:solidFill>
                <a:latin typeface="Arial"/>
              </a:defRPr>
            </a:pPr>
            <a:endParaRPr lang="en-US"/>
          </a:p>
        </c:txPr>
        <c:crossAx val="2094734552"/>
        <c:crosses val="autoZero"/>
        <c:auto val="1"/>
        <c:lblAlgn val="ctr"/>
        <c:noMultiLvlLbl val="1"/>
      </c:catAx>
      <c:valAx>
        <c:axId val="2094734552"/>
        <c:scaling>
          <c:orientation val="minMax"/>
          <c:max val="250"/>
        </c:scaling>
        <c:delete val="0"/>
        <c:axPos val="b"/>
        <c:majorGridlines>
          <c:spPr>
            <a:ln w="6350" cap="flat">
              <a:solidFill>
                <a:srgbClr val="E1E7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메모리 계층(DRAM/SRAM/연산장치)을 사용하는 v09 FP16 backend를 설명합니다. 모델의 계산이 어떻게 TVM Relax → TIR → scheduled TIR → ISA로 내려가고, runtime이 그 프로그램으로 실제 token을 생성하는지 Llama 3.2 3B와 작은 예제 두 개로 끝까지 따라갑니다. 과거 측정과 09-29 탐색 개선 결과를 구분합니다. 별도로 실행 중인 E10은 28-layer·256-token prefill이며 완료 전 비용이나 출력 통과를 주장하지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10개 파트입니다. 앞부분(1~4)은 계산의 의미를 정하는 단계, 중간(5~8)은 배치와 명령 생성, 뒷부분(9~10)은 runtime과 실험·한계입니다. 세 예제를 반복해서 사용하므로 청중은 한 예제가 단계마다 어떻게 변하는지 추적할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DRAM(global)은 DMA만 접근하며 32-bit cell 단위 주소를 씁니다. SRAM은 8 MiB, nibble 주소입니다. 연산장치는 64×64 matrix unit(FP32 accumulator 1개)과 256-lane vector unit입니다. GLOAD/GSTORE는 DRAM↔SRAM, LOAD/SAVE는 SRAM↔연산장치 이동이라 서로 다른 경계입니다. 그림의 SRAM 구성(literal·scratch, 입력 panel, 출력 tile, 커널 사이 보관값)은 8장의 실제 배치 순서입니다. 논리 VLEN 65535와 물리 256 lanes의 관계는 RTL 미확인 항목으로 문서가 명시합니다.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 한 layer의 weight는 FP16으로 192 MiB, 28 layers면 5.25 GiB, LM head가 751.5 MiB입니다. 전체 검증 기록의 DRAM image 약 6.43 GB와 일치하는 규모입니다. 8 MiB SRAM에는 어떤 projection weight도 통째로 들어가지 않으므로 panel 단위 streaming이 필수라는 점을 여기서 미리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npu_target.build는 relax.build와 달리 NpuExecutable(words + plan + lowered module)을 돌려줍니다. 장치에 runtime allocator가 없어 모든 주소가 compile 시점에 정해지기 때문입니다. Weight가 함수 parameter로 남아 있으면 값만 바꿔 같은 프로그램을 재사용할 수 있지만, constant folding된 weight는 그렇지 않습니다. 정적 shape가 달라지면 다른 프로그램이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Relax에는 호출 관계(무엇을 계산하는가)만 있습니다. LegalizeOps 뒤 TIR에는 어떤 원소를 읽어 더하는지, FP32로 누산해 FP16으로 cast하는 수치 의미가 있습니다. Schedule은 같은 계산을 64×64 조각과 SRAM 복사 위치로 재배치하고, codegen은 descriptor 설정·LOAD·M_MUL·SAVE·DMA 명령으로 펼칩니다. LegalizeOps 뒤에도 Relax 함수가 남아 호출 순서를 유지한다는 점이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npu_target.build → npu_build.lower_and_select가 진입점입니다. graph_prefix는 한 번만 적용되고, 그 뒤 attention(off/score/full) × GQA·producer 변환 × generic fusion(off/vectors/matmul) 조합으로 후보 source를 만듭니다. 각 후보는 npu_fusion.select로 영역별 검증을 거친 뒤 npu_link.compile_program으로 entry 전체를 컴파일하고 v09_stats.cost로 비교합니다. 기본값은 최초 합법 module 이후 120초이며 None으로 해제할 수 있습니다. Runtime은 선택된 NpuExecutable과 host transform을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TVM은 Relax graph pass, TE/TIR 표현, tir.Schedule loop 변환, CompactBufferAllocation, StaticPlanBlockMemory, USMP 충돌 분석을 제공합니다. NPU backend는 LegalizeOps의 custom map, TensorIntrin 등록, 후보 생성과 비용 검사, 커널 사이 SRAM 보관, ISA 인코딩과 runtime image를 담당합니다. DLight는 규칙 모음일 뿐 SRAM 수명 관리의 다른 이름이 아니므로, 표준 Schedule API 위에 직접 탐색을 두었습니다. MetaSchedule은 09-29부터 선택형 두 기능(JSONDatabase trace 재사용, ReplayFunc 추첨 탐색)에만 사용하며 기본 경로는 여전히 space 탐색입니다.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표는 이후 슬라이드의 "구현 연결"에 대응합니다. 예를 들어 첫 tile만 맞고 뒤 tile이 틀리면 ISA 주소 단위(isa_v09, tir_codegen) 문제이고, SRAM 보관을 켤 때만 틀리면 npu_memory_search의 값 버전·alias 판단을 먼저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nn_models/llama.py는 Attention(q/k/v/o Linear, bias 없음), MLP(down(silu(gate)·up)), DecoderLayer(pre-norm, residual 2개)를 relax.frontend.nn Module로 씁니다. RoPE는 host가 준 cos/sin과 rotate_half(split → negative → concat)로 표현하고, GQA는 op.repeat로 K/V를 3배 반복합니다. get_default_spec(seq, capacity)가 정적 shape를 고정하고 export_tvm이 packed_params tuple과 num_input attribute를 붙입니다. build_generate는 세 entry를 export한 뒤 decode 함수에 npu.cache_append 계약을 선언합니다.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앞 RMSNorm 결과가 Q/K/V projection에 들어갑니다. Q는 [7,24,128], K/V는 [7,8,128]입니다. RoPE는 Q와 K에만 적용됩니다. K/V를 repeat(3, axis=1)로 24 head로 늘린 뒤 head를 앞으로 보내 [24,7,128] batch matmul을 합니다. scores [24,7,7]에 1/√128 scale과 causal mask를 더하고 softmax, PV, O projection 뒤 첫 residual을 더합니다. MLP는 gate/up 두 갈래([7,8192] 각각, weight 48 MiB씩)를 SiLU·곱으로 합쳐 down projection 후 두 번째 residual을 더합니다. glyph의 칸 수는 축약이며 실제 tile 수(예: [7,3072]는 폭 48 tiles)의 비율이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decode 함수의 signature에 6개 실행 입력과 packed_params가 있고 npu.cache_append attribute가 붙어 있습니다. permute_dims(weight)가 layer마다 나타나는데 이것은 3장의 LiftTransformParams가 host로 옮깁니다. cache concat 뒤 repeat로 24 head가 되고, scores [24,1,10]에 scale 0.0884(=1/√128)와 mask [1,1,10]을 더합니다. 반환 tuple은 logits와 현재 token의 K/V이며 runtime의 append DMA가 cache slot에 옮깁니다.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예제의 authored Relax는 함수 하나에 permute_dims, matmul, add, silu 네 연산이 있습니다. num_input=1이므로 x만 실행 입력이고 weight/bias는 parameter입니다. tile 관점에서 X의 두 tile(K=0..63, 64..127)과 Wᵀ의 두 tile이 같은 출력 tile P에 누적되고, bias는 P의 모든 행에 같은 64개 값을 더하며, SiLU는 원소별입니다. 같은 예제의 host transform, semantic TIR, scheduled TIR, ISA packet, 실제 실행 출력이 docs/examples/pipeline에 모두 남아 있어 이후 슬라이드가 이 파일들을 인용합니다.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IRModule 하나에 prefill, host transform 함수, 그리고 나중의 TIR PrimFunc들이 함께 있습니다. TensorStructInfo 덕분에 실제 배열 없이도 shape/dtype 추론이 가능합니다. GlobalVar는 모듈 안의 다른 함수를 참조하며 call_tir가 PrimFunc를 호출할 때 사용됩니다. BlockBuilder는 작은 예제나 legalizer가 graph를 만들 때 쓰는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graph_prefix는 CanonicalizeAttention, CanonicalizeBindings, EliminateCommonSubexpr, RewriteDataflowReshape, LiftTransformParams 순서의 Sequential입니다. 표준 pass를 호출해도 임의의 layout 변환이 모두 zero-copy가 되거나 모든 연산이 장치에 맞게 되는 것은 아니며, 정확한 지원 조건은 이후 단계가 확인합니다. GQA repeat → broadcast matmul(FoldRepeatedGemv), concat producer fusion은 항상 적용되는 prefix가 아니라 비용 비교 대상인 선택적 후보입니다.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Compile은 host 함수를 만드는 시점이고, 실제 weight 배열을 transpose하는 것은 runtime 준비 단계에서 host 함수를 LLVM VM으로 실행할 때입니다. 그림 아래의 DRAM image는 bundle/program.json의 실제 주소입니다: x 0, bias 16,384, lv(Wᵀ) 16,512, 출력 gv 32,896, literal pool 41,088 (총 41,100 B). Runtime은 원래 순서를 추측하지 않고 변환된 signature(x, bias, lv)에 맞춰 이름·shape·dtype을 결합합니다. Llama LM head weight만 해도 751.5 MiB라 이 변환이 호출마다 들어가면 매우 큰 이동입니다.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CanonicalizeAttention은 relax.nn.attention / attention_bias만 대상으로 하며 정적 FP16 rank-4 BSNH 입력을 요구합니다. Q를 [b·h,s,d], K를 미리 transpose한 [b·h,d,t], V를 [b·h,t,dv]로 바꾸고 scale을 FP16 상수로 곱하거나 √d로 나눕니다. causal(TopLeft/BottomRight)과 window는 tril/triu로 max 전과 exp 후에 적용해 masked 원소를 정확히 0으로 만듭니다(그림의 회색 삼각형). 결과는 BSNH로 되돌립니다. 설치된 TVM 0.19의 DecomposeOpsForInference는 이 attention 예제를 그대로 두었다는 IR 비교 기록이 있어, 표준 pass 이름이 비슷하다고 같은 변환이라 판단하지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_run_transform은 entry_transform_params만 도달 가능한 module을 relax.build(…,"llvm")로 빌드해 VirtualMachine으로 실행합니다. _transform은 결과를 디스크 cache에 저장하는데, 키는 host IR JSON과 모든 weight의 shape·dtype·바이트 내용을 넣은 SHA-256입니다. flock, atomic rename, 배열별 sha256 검증, memmap 로드를 사용합니다. _bind_inputs는 func.params의 앞부분(runtime 입력)을 이름으로 검사하고 나머지를 변환 결과와 zip합니다. build_image는 plan.address×unit_bytes 위치에 각 leaf를 쓰고 const_data, 상수 pool, FP32 1.0을 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LegalizeOps는 고수준 Relax 연산을 원소 단위 계산으로 정의하지만 SRAM 주소나 64×64 실행 순서는 정하지 않습니다. call_tir는 TIR 함수를 호출하고 결과 shape/dtype을 알려주는 표현이지 그래프 연결을 지우는 명령이 아니므로 그 뒤에 FuseOps를 수행할 수 있습니다. TIR은 TVM Tensor IR이며 dump는 TVM Script 문법입니다. 다른 compiler가 TIR이라는 약자를 써도 같은 IR이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i,j는 결과 위치를 고르는 spatial 축, k는 같은 결과에 여러 값을 더하는 reduction 축입니다. T.init은 reduction 초기값, T.reads/T.writes는 block의 접근 영역으로 schedule이 이동·분할의 합법성을 분석할 때 씁니다. Buffer는 shape/dtype/scope를 가진 배열 표현입니다. Block 이름이 같다고 같은 연산이 아니며, 현재 kernel 분석(npu_kernel.matmul_blocks)도 이름이 아니라 접근·수식·계약을 보고 matmul을 인식합니다.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legalize_map은 relax.matmul, relax.split, relax.sum, relax.mean, relax.nn.rms_norm, relax.nn.softmax 여섯 개를 등록합니다. 각 legalizer는 지원 조건을 검사하고 밖이면 ValueError로 거절합니다. 예를 들어 softmax는 마지막 축, 정적 길이 1..65504, FP16만 허용합니다. RMSNorm은 마지막 축·1차원 weight·epsilon 범위(2^-48 ≤ ε ≤ 65504²)를 검사합니다. split은 axis-0 정적 split을 memory.view + ensure_zero_offset으로 바꿔 decode의 layer별 cache 분리가 복사 없이 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입력과 출력이 FP16이어도 많은 곱을 FP16으로 계속 더하면 오차가 커집니다. 현재 정책은 FP16 입력을 곱해 FP32로 누산하고 완료된 결과만 FP16으로 저장하는 것입니다. 장치는 K=64 단위 부분합을 만들므로 CPU reference도 split(k,[None,64])+rfactor로 같은 grouping을 표현하고, FoldConstants도 같은 기준을 씁니다. 단순 flat-K CPU loop와 모든 입력에서 bit-exact하다고 약속하지 않습니다(덧셈 결합 순서). E1에서는 같은 grouping의 LLVM 출력과 최대 절대차 0이었습니다.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최댓값을 빼면 실수 수학에서 결과는 같고 exp의 큰 양수 입력을 피합니다. 유한 logits에서 exp(x−max)≤1이므로 마지막 축 길이가 65504 이하면 FP16 합이 범위 안에 있습니다. RMSNorm은 x=1000이면 x²=10⁶으로 FP16 범위를 넘고 합산만 FP32로 바꿔도 이미 저장한 제곱값의 overflow는 복구할 수 없어서, 입력을 absmax로 먼저 줄입니다. |u|≤1이고 Σz²도 크게 자라지 않지만 FP16 중간 반올림 때문에 별도의 target 근사이며 HF FP32와 동일하지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off는 3커널(matmul 43 words, add 391, silu 2,373)이고 auto는 1커널 1,572 words입니다. 양쪽 모두 GLOAD(X, Wᵀ, bias, 상수) 4개와 GSTORE(Y) 1개만 DRAM을 지나므로 DMA는 41,100 B로 같습니다. 그림처럼 중간 tile P, A, sig가 SRAM에서 다음 계산으로 바로 이어지는 것은 커널을 나눠도 가능합니다(8장). Fused 커널은 축 결합으로 vector 행이 128 폭이 되어 명령 수가 절반이 되고, USMP가 buffer offset을 공유해 SRAM peak가 50,700 → 42,508 B로 줄었습니다. 이득의 형태는 예제마다 다르므로 실제 비용으로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FuseOps는 pattern 숫자가 같다는 이유로 묶지 않습니다. OutEWiseFusable(matmul) 출력 뒤에 elemwise/broadcast 경로가 이어지면 붙이고, injective와 tuple 연결은 후속 차례에서 처리하며, CommReduce는 다른 복합 연산에 임의로 붙이지 않고, Opaque는 경계입니다. 가지가 나뉘면 중간의 모든 관련 경로가 조건을 만족해야 합니다. 그림의 작은 예제: transpose(2)는 host 함수라 device 그래프에 없고, matmul(4) → add(0) → silu(0)이 한 영역이 되어 FuseTIR가 fused_matmul_add_silu PrimFunc를 만듭니다. NPU는 지원하지 않는 matrix 복합 영역과 W8A8을 opaque(8)로 표시해 경계를 보호합니다.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attention 패턴은 matmul → (multiply) → add → softmax → matmul입니다. supported 검사는 q/k/v가 FP16 rank-3 정적 shape이고 softmax axis가 마지막이며 h&gt;0, k[0]==v[0]==h, k[1]==d, v[1]==k[2], 그리고 m, d, t, dv가 모두 64의 배수인지 확인합니다. decode는 m=1이라 조건을 만족하지 않습니다. score chain 패턴(npu.masked_softmax)은 softmax(add(multiply(scores, scale), mask))와 scale이 없는 변형(Gemma)입니다. 코드 주석의 seq 2048 수치는 설계 근거로 남긴 과거 관측이며 이번 실험표가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W8A8 PrimFunc와 matmul이 2개 이상인 PrimFunc(또는 matmul_epilogues=False일 때 모든 matmul PrimFunc)에 op_pattern 8(kOpaque)을 붙여 경계로 둡니다. FuseOps로 영역을 만들고 FuseTIR로 결합한 뒤, entry에서 도달 가능한 Primitive 함수마다 unfused 기준을 probe하고 fused wrapper를 probe합니다. unfused probe의 실패는 unsupported 입력이나 compiler 오류이므로 숨기지 않습니다. fused가 사전식 비용에서 작을 때만 채택하고, 나머지는 inline해 다시 FuseTIR·DCE합니다. region_cost cache로 같은 영역의 중복 계산을 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options()는 attention(False/score/full) × (gqa, producers) 세 구성마다 graph_pipeline으로 source를 만들고, 이미 만든 source와 structural_equal이면 generic 3종을 검사하지 않고 건너뜁니다. E10의 256-token prefill_cache에서는 GQA fold와 producer 변환이 IR을 바꾸지 않아 9개 source 중 3개만 남고, generic off/vectors/matmul을 곱한 9개 구성이 검사 대상입니다(회색 18칸). decode를 함께 요청하는 경우에는 결과가 다를 수 있습니다. generic이 켜지면 npu_fusion.select로 후보를 만들고 이미 본 후보와 같으면 duplicate로 기록합니다. compile_all은 entry마다 EntryCache.compile을 호출하며, 완료된 entry 하나가 incumbent보다 나쁘면 나머지 entry를 건너뛰고 noncompetitive로 기록합니다. 채택 조건은 모든 entry가 비악화이고 하나 이상이 개선인 경우이며, 첫 합법 결과 뒤 graph_search_seconds 예산을 시작합니다(기본 120초, None이면 시간 제한 없음, phase 경계에서만 검사). schedule_database가 설정된 경우 후보 module마다 relax_integration.extract_tasks로 작업 종류·호출 수 목록을 진단용으로 남깁니다. 오른쪽 격자의 ✓/⏱은 과거 7-token 기록입니다: 후보 0만 legal·selected, 후보 1에서 예산 소진.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phase별 self seconds를 보면 native codegen 41.5 s, schedule probe codegen 29.3 s, residency 22.4 s, entry compile 자체 20.8 s가 큽니다. cache 통계는 schedule recipe hit 272 / miss 383, trial hit 184 / miss 248, cost probe hit 294 / miss 270, region miss 40입니다. native가 거절한 schedule은 "FP32 matrix chain interrupted" 5건입니다. 후보 1은 vectors generic fusion을 검사하던 중 예산이 끝났으므로 이후 후보(attention score/full 등)는 검사되지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그림은 tile 단위 데이터 흐름이고 아래 strip은 77-word 프로그램의 word 52~71을 그대로 옮긴 것입니다. 각 operand는 descriptor(ADDR MAIN/PARTIAL, COLS)를 설정한 뒤 LOAD로 matrix unit에 들어갑니다. 두 번째 K tile에서는 SRC1 MAIN 주소가 +256 nibbles(= 64열), SRC2가 +16384 nibbles(= 64행) 이동하고 COLS는 peephole이 생략했습니다. accumulator가 1개이고 partial spill이 금지이므로 출력 tile 하나의 K chain을 끝내고 다음 tile로 갑니다(K 최내측). 이것은 모든 하드웨어의 일반 법칙이 아니라 이 장치의 계약입니다.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그림의 각 칸은 64×64 tile입니다. X panel 하나를 한 번 올리면 모든 출력 tile이 재사용하고, W의 열 panel j가 올라오면 그 안의 K 방향 48개 tile로 M_MUL 48개를 연속 실행해 출력 tile (0, j)를 완성합니다. 출력 열 tile은 128개이므로 총 6,144 M_MUL이며 W 전체 48 MiB가 한꺼번에 SRAM에 올라가는 일은 없습니다. 같은 X/W 크기라도 W를 몇 번 다시 읽는지에 따라 DMA는 달라지고, SRAM을 가득 채우는 것이 목표가 아니라 앞 커널 출력 보관 공간과 임시값 공간이 함께 필요합니다. down projection은 반대로 W panel(8192×256, 4 MiB)을 유지하고 H는 앞 커널의 SRAM 보관값을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factors(extent, 64)는 padding한 축 길이의 64배수 약수입니다. 예를 들어 N=256이면 64/128/256, N=8192면 8개, K=3072면 10개입니다. product(m_panel, n_panel, k_chunk, outer_order, inner_order)에서 loop_spec은 항상 [outer panel 2개, inner tile 2개, k_group, k_tile] 구조를 만들어 K가 최내측입니다. 왼쪽 아래 격자는 출력 [128,256] = 2×4 tiles를 m_panel=n_panel=64로 도는 순서입니다: mn은 X 행 panel을 고정한 채 W 열 panel을 바꾸고(X 재사용), nm은 그 반대입니다. a_at/b_at는 cache stage를 넣을 loop이며, unit loop와 같은 축의 연속 loop는 실제 순회와 복사 주기가 같으면 signature로 합칩니다(다음 슬라이드). 추정 DMA는 FP16 operand bytes × 반복 횟수이며 검사 순서만 정하고 선택 기준은 실제 emission입니다. 오른쪽 아래 표의 "개선 전" 후보 수는 09-28 compile 기록이고 "현재" 수는 candidates()/prioritize()로 계산한 값입니다. 새 compile 기록이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 loop_spec은 같은 축을 panel과 tile 두 loop로 나누므로 n_panel=64/128/256은 모두 N tile을 1,2,3,4 순서로 도는 같은 순회입니다. _iteration_signature는 크기 1인 loop를 빼고 같은 축의 이웃 loop를 곱해 (m2, n4, k2) 하나로 만듭니다. cache 위치는 그 loop까지의 prefix signature로 구분하므로, b_at=n_panel이라도 n_panel=64는 tile마다, 128은 2 tile마다, 256은 한 번 복사하는 서로 다른 후보로 남습니다. toy [128,256,128]에서 loop 위치 조합 1,728개가 후보 73개가 됩니다. ② prioritize는 두 operand cache가 matrix 명령 시점에 동시에 살아 있다는 사실만 사용합니다. 두 operand가 서로 다른 함수 parameter이고 FP16, scope global/global.sram, shape가 정확히 (M,K)/(K,N), M·N·K가 모두 64배수일 때만(ordinary) 두 cache bytes 합이 (SRAM − scratch prefix)를 넘는 후보를 제외합니다. padding이나 computed producer, W8A8처럼 증명이 성립하지 않으면 footprint 추정으로 순서만 뒤로 보내고 제거하지 않습니다. 출력·scratch·epilogue 추정은 제외 근거로 쓰지 않습니다. 표의 512-down 수치는 E9 기록이고 나머지 "계산" 수치는 현재 코드의 candidates()/prioritize()를 scratch 96 KiB 가정으로 실행한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순서: schedule_database가 있으면 workload(계산 구조 + 실행 조건)로 trace를 조회해 새 Schedule에 재적용하고 공통 lowering·SRAM 배치·용량·codegen을 다시 검사합니다. reuse 모드는 여기서 끝나고(database_hit, 새 후보 0회), tune 모드는 그 결과를 incumbent로 둡니다. DB가 없거나 실패하면 legacy 규칙(A/B/B_stream/None, legal 목표 2, 시도 64)으로 incumbent를 잡습니다. 확장 탐색은 candidates()로 정규화된 pool을 만들고 prioritize로 증명된 용량 초과를 뺀 뒤 space는 추정 DMA 순으로, meta_schedule은 ReplayFunc가 sample_categorical로 뽑은 순서로 검사합니다. 각 후보는 _measure_trial(trial cache)에서 tir.Schedule 변환과 TIR 후처리(LowerInitBlock → PlanAndUpdateBufferAllocationLocation → ConvertBlocksToOpaque → CompactBufferAllocation), lower_stores, forward_output_tiles, pointwise coalescing을 거친 뒤 plan_sram으로 USMP 배치를 얻습니다. SRAM top이 용량을 넘으면 capacity_rejected, MAC chain이 끊기면 codegen_rejected입니다. words 한도는 max(schedule_probe_word_budget 100,000, 기준 words × legal 목표 8)이며 기준은 incumbent words, 없으면 첫 합법 후보 words입니다. 종료 사유와 generated/eligible/examined/legal 수, 유효 words 한도가 진단에 남습니다. 승자가 DB 기록보다 좋으면(또는 기록이 없으면) trace를 commit합니다.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schedule_matmul_sram이 적용하는 순서는 계약 검사 → 다른 producer(pad, dequant)의 cache_read/set_scope → 필요 시 pad_einsum → split(i,[None,m_panel])→split(·,[None,64]), j·k 동일 → reorder → cache_write + reverse_compute_at(출력 write-back) → fused epilogue의 reverse_compute_at/set_scope → compute_inline → operand cache_read + compute_at(a_at/b_at) → decompose_reduction(k_group) → tensorize 두 번(gemm, fill)입니다. compute_at이 주소 배치를 최적화하는 것은 아니며, buffer가 어디서 얼마나 쓰이는지 드러낸 뒤 compaction·USMP·보관 계획이 그 정보를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변환 전에는 B 전체를 만든 뒤 C 전체를 만들므로 B 4×4가 오래 살아 있습니다. split으로 i를 (2,2)로 나누고 B를 i_0 안에 compute_at하면 각 행 묶음에서 필요한 B 2행만 만들고 바로 C가 사용합니다. reverse_compute_at은 반대로 B를 만드는 loop 기준으로 소비자 C를 끌어옵니다. Matmul 뒤 add/SiLU나 SRAM 출력 복사 stage를 생산 tile 근처에 두려면 이 구분이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아래 격자는 SRAM cache buffer의 실제 크기와 한 반복에서 채워지는 영역입니다. ①에서는 4×4 전체를 한 번에 복사하고, ②에서는 i_0마다 2행만 복사하지만 buffer 선언은 여전히 4×4이며, ③ CompactBufferAllocation이 접근 범위(2×4)로 선언을 줄입니다. 이 메커니즘이 실제 matmul schedule에서 panel 크기를 결정합니다. a_at을 m_panel loop에 두면 X cache buffer가 [m_panel, K]로, k_group loop에 두면 [m_panel, k_chunk]로 compaction됩니다. USMP는 compaction된 크기와 수명을 보고 SRAM offset을 배치합니다.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description은 A,B (64,64) FP16, C (64,64) FP32, 모두 scope global.sram, strides [s,1] symbolic, offset_factor 1로 등록됩니다. symbolic stride 덕분에 64×64 view가 더 넓은 panel 안에 있을 수 있습니다. implementation은 call_extern("npu_gemm_acc", C.ptr, sc, A.ptr, sa, B.ptr, sb)입니다. fill intrinsic은 C=0을 call_extern("npu_fill_zero")로 바꾸며, codegen에서 이것은 명령을 내지 않고 새 누산 시작 상태로만 기록되어 첫 M_MUL이 MAC=0이 됩니다. register_all은 import 시 실행되고 구조 동일성 검사로 중복 등록을 막습니다.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작은 예제에서 space 후보 4개는 모두 추정 32,768 B이고, legacy incumbent ("B_stream",64)는 1,574 words, 선택된 a_at=b_at=m_panel 후보는 1,572 words로 DMA가 같고 words에서 이겼습니다. 선택 후보의 SRAM peak(85,016 nibbles)가 incumbent(68,632)보다 크지만 사전식 비교에서 SRAM은 세 번째 기준입니다. 실제 폭 MLP(M=64)는 5커널, 140,594 words, DMA 152,174,604 B, SRAM peak 7,446,540 B, compile 21.96 s로 기록되어 있으며 전체 모델 출력 검증이 아닙니다. 표의 후보 수 1,433/299는 09-28 기록의 정규화 전 공간이며, 현재 코드의 candidates()는 같은 shape에서 203개(용량 증명 제외 후 162)와 H resident 17개(제외 후 12)를 만듭니다. 기록의 선택 자체는 그대로입니다.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panel을 바깥에 유지하면 48개 X panel마다 W 전체를 열 panel로 순회하므로 X 18 MiB + W 48 MiB × 48회입니다. W panel을 바깥에 두면 32개 W panel마다 X 전체를 행 panel로 순회하므로 W 48 MiB + X 18 MiB × 32회입니다. 원래 tensor 크기는 같지만 재읽기 횟수가 다릅니다. 실제 탐색은 더 큰 panel과 다른 cache 위치도 검사하고 앞 커널의 SRAM 입력을 쓸 수 있으면 그 부분의 DRAM 읽기도 제외합니다. 그래프 전체의 tile streaming은 지원하지 않으므로 이 산술을 장문 전체 모델의 최적 실행 결과로 해석하지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emit_gemm은 C가 zeroed 집합에 있으면 이전 tile을 flush하고 pending=(C, stride)로 두어 MAC=0을 냅니다. 같은 C가 이어지면 MAC=1이고, 다른 C가 오면 "FP32 matrix chain interrupted"를 raise합니다. flush(=FP16 SAVE)는 vector op, reduction, SRAM→SRAM 이동, write-back DMA 전에, 그리고 kernel 끝에 실행되며 입력 GLOAD staging은 flush하지 않습니다. lower_stores는 FP32 buffer의 store를 copy/zero/acc+cast(fp16)만 허용하고 load는 FP16 cast 아래에서만 허용해 FP16 물리 slot으로 retype합니다. USMP는 matrix 목적지 buffer를 pin해 SAVE가 지연되는 동안 다른 buffer와 겹치지 않게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ReplayFunc 경로: TuneContext(mod=canonical PrimFunc, target=npu, space_generator=ScheduleFn(make_schedule, sch_rules=[], postprocs=[], mutator_probs={}), search_strategy=ReplayFunc(), rand_state=schedule_seed, num_threads=1)를 만들고 pre_tuning(max_trials=schedule_max_attempts, num_trials_per_iter=1)합니다. generate_measure_candidates마다 make_schedule이 sample_categorical(range(len(pool)), 균등)로 번호를 뽑아 그 mapping으로 schedule_matmul_sram을 실행합니다. 같은 번호가 다시 나오면 schedule을 다시 만들지 않고 "duplicate sample"로 시도만 소비합니다. postprocs를 비워 TVM 내부의 무제한 재시도를 막고, 거절은 공통 NPU 검사 경로에서 합니다. notify_runner_results에는 RunnerResult(None, None)을 주어 latency를 넣지 않고, 승자는 기존 (dma, words, sram) 평가기가 고릅니다. DB 경로: SelectedScheduleDatabase는 compiler source sha·TVM 버전/commit·contract·native library sha의 fingerprint로 디렉터리를 나누고 JSONDatabase(module_equality="structural")를 엽니다. workload는 global_symbol·op_pattern을 뺀 PrimFunc에 npu.selected_schedule_contract(profile에서 탐색 설정 joint_memory/beam/graph_search_seconds/candidates/trials/attempts/words/search/seed를 뺀 것 + scratch_base + slot_count + native_probe)를 붙인 module이며, 조회는 structural hash와 equal입니다. 기록은 TuningRecord(trace, workload, run_secs=None, target)이고 같은 workload의 최신 개선 기록을 사용합니다. 재사용 시 trace.apply_to_schedule → 공통 lowering → plan_sram → 용량 → probe codegen을 다시 거치며 실패하면 database_rejection을 남기고 원래 탐색으로 돌아갑니다. 작은 예제 3개에서 세 경로의 명령이 같고 C-model 출력이 bit 단위로 같았습니다. Attention 전체·일반 vector·W8A8은 DB 대상이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Walker는 innermost 축을 vector 행으로 보고 표현식 tree를 6개 scratch slot에 직렬화합니다(slot 폭 = 커널의 가장 넓은 행). 연속 load는 주소만, stride-0 load나 literal은 BROADCAST, binary op는 VLEN·ADDR·LOAD·ADDR·LOAD·OP·ADDR·SAVE 순서입니다. 그림의 각 행은 SRAM에 실제로 저장되는 FP16 128-원소 행이며 오른쪽 word가 그 단계의 실제 opcode입니다. E1 fused 프로그램의 opcode 통계가 이를 보여줍니다: SIGN_INV 32, EXP 32, ADD 96, DIV 32, MUL 32, BROADCAST 64, 주소 설정 0x80이 606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VLEN=1000이면 장치 내부에서 256+256+256+232로 처리한다는 전제이며 RTL 검증은 별도입니다. 오른쪽 위 그림: 64×64 tensor와 임시값 전체가 SRAM에 안 들어가면 32행, 16행으로 stripe를 반씩 줄이고 compute_at과 buffer compaction으로 각 묶음의 작업 공간을 줄입니다. 오른쪽 아래: 연속된 원소별 축을 표준 fuse/split으로 합쳐 64행×VLEN 64를 32행×VLEN 128로 만들면 명령 수가 절반이 됩니다(작은 예제의 npu.pointwise_vector_width=128). broadcast, 비연속 stride, 겹치는 입출력, 임시 공간 한도를 검사하고 행별 reduction은 축을 합치지 않습니다. 현재 비용 모델에는 lane 활용률이나 연산별 cycle이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그림의 각 행은 한 token·한 head의 128 원소 벡터입니다(8칸으로 축약). IR에서는 split(64) → negative → concat → multiply(cos) / multiply(sin) → add로 표현되며 모두 vector 명령입니다. rope_freqs는 base^(−2i/hd)를 만들고 linear는 factor로 나누며 llama3는 wavelength에 따라 세 구간을 적용합니다. 결과를 [freqs, freqs]로 이어 rotate_half와 맞추고, rope_inputs가 float64로 각도를 계산해 FP16 cos/sin [S,1,hd]로 내립니다. validate_rope_scaling은 default/linear/llama3만 받습니다. GQA는 op.repeat(k, 3, axis=1)이며 persistent cache는 KV head 8개로 저장됩니다. decode에서는 FoldRepeatedGemv가 repeat를 broadcast matmul로 바꾸는 후보를 만들 수 있습니다(m=1 전용).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그림의 격자 한 칸은 64×64 tile입니다(S=512로 축약). 진한 행은 현재 query block이고 회색 삼각형은 causal mask로 기여가 0인 영역입니다. schedule_attention_blocked는 query 행을 block으로 split하고 reorder(row_o, head, row_i, …)로 row block을 head loop 바깥에 둡니다. 다른 모든 block은 head loop에 compute_at되고 scores [1,block,seq], max, exp, sum, 정규화 결과, PV accumulator는 set_scope로 SRAM에 둡니다. Q/K/V cache_read는 head에, mask(head 축 1 broadcast)는 row_o에 둡니다. _fit_attention은 가장 큰 block부터 시작해 실패하면 반으로 줄이고 floor min(rows,64)에서도 실패하면 LinkError입니다. 한 block이 score 행 전체를 갖고 있어 softmax는 정확하며 online rescaling(FlashAttention)이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그림은 두 메모리의 실제 구성입니다. DRAM image에는 parameter leaf(변환된 순서), graph 상수, StaticPlanBlockMemory가 만든 storage pool(수명이 겹치지 않는 tensor가 공유), 출력 tree, literal pool이 있습니다. SRAM에는 literal·scratch, 커널의 USMP pool(buffer가 offset을 공유), 그리고 커널 사이 보관값이 위에서 아래로 예약됩니다. 세 계획은 서로 자동으로 해결되지 않습니다. USMP를 호출했다고 persistent KV cache나 전체 그래프의 보관 정책이 생기지 않습니다. compile_program 안의 실제 순서는 assign_addresses → validate_entry → scalar pool → plan_program(joint SRAM search) → 호출별 schedule/USMP/codegen → residency → peephole → baseline 비교 → compact_unused_storage → cache append 재구성입니다.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plan_pipeline은 RewriteDataflowReshape → OutputViews → ToNonDataflow → RemovePurityChecking → CallTIRRewrite → StaticPlanBlockMemory입니다. assign_addresses는 parameter(인자 순서, tuple leaf p.0.1)를 먼저, graph 상수(내용 키로 dedupe)를 다음, 그리고 binding을 프로그램 순서로 걸으며 alloc_storage→pool, alloc_tensor→pool_base+offset, builtin.alloc_tensor(함수 결과)→자체 slot, reshape/view→alias로 처리합니다. 아래 strip은 작은 예제 bundle의 실제 결과입니다: plan.address는 unit(2 B) 단위로 x 0, bias 8192, lv 8256, gv 16448이며 bytes로는 0 / 16,384 / 16,512 / 32,896입니다. 모든 allocation은 4-byte DMA cell로 반올림되고 literal pool은 linker가 마지막에 붙입니다(41,088).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G는 SiLU가 끝나면 더 이상 필요하지 않고, S는 multiply까지, U도 multiply까지, H는 down까지 필요합니다. 표는 값의 관계를 설명하며 실제 peak에는 weight 조각, scratch, 정렬, 주소 사이 빈 공간도 들어갑니다. 살아 있는 tensor 크기의 합과 최고 주소는 같지 않을 수 있습니다. 이 순서는 최신 측정의 순서이며 과거 문서의 up→gate 순서를 현재 결과에 적용하지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분석용 복사본에 LowerMatchBuffer/LowerOpaqueBlock을 적용하고 실행용 TIR은 바꾸지 않습니다. 각 Allocate에 WorkspacePoolInfo("npu_sram")를 붙여 extract_buffer_info로 충돌 정보를 얻고, offset을 buffer.data Var identity로 다시 연결합니다. gemm/fill 목적지(matmul_global.sram)와 알 수 없는 extern call의 pointer는 pinned로 모든 buffer와 충돌 처리되어 offset 0을 혼자 씁니다. 차트에서 같은 offset을 공유하는 쌍(T_add와 lv panel, compute_intermediate와 T_multiply, sigmoid 결과·bias·x panel)은 수명이 겹치지 않는 buffer들입니다. greedy_by_size와 greedy_by_conflicts를 돌려 더 작은 peak를 택하되 bump보다 좋을 때만 씁니다. 크기는 nibble(fp16=4)로 8-nibble(32-bit cell) 정렬입니다.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discover는 PrimFunc 호출마다 인자의 byte 범위와 읽기/쓰기를 얻고, 출력 tree·parameter leaf·graph 상수 범위를 보호합니다. 후보는 FP16이고, 같은 호출에서 읽지 않고(RMW 아님), compact하며, 보호 범위·같은 호출의 다른 인자와 겹치지 않는 쓰기입니다. 이후 호출을 앞으로 훑어 부분 겹침·dtype 재해석, in-place 갱신, 부분 덮어쓰기는 거절하고 전체 덮어쓰기는 버전 종료로 봅니다. 오른쪽 그림처럼 reserve는 SRAM 위에서 아래로 first-fit이며 workspace는 항상 그 아래입니다. parameter_scopes가 bound parameter를 global.sram으로 바꿔 schedule이 cache stage를 생략하고 출력 tile을 직접 쓰게 합니다. 프로그램 수준에서는 all-DRAM baseline과 (dma, words, peak)를 비교해 엄격히 작을 때만 채택합니다.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SRAM 낮은 주소에는 literal pool과 scratch(6 slots × 128 × 4 nibbles)가 있어 pool base가 nibble 3096 = byte 1548입니다. 첫 커널은 X(8192 B)를 1548에, W1(16384 B)을 9740에, H(16384 B)를 26124에 둡니다. 두 번째 커널은 Y 작업 공간이 X 자리를, W2가 W1 자리를 재사용하고 H는 유지됩니다. 전체 peak는 42,508 B이며 용량 45,056 B(44 KiB) 안입니다. 탐색 기록: H는 처음 nibble 57344에 예약되었다가 arena를 2,548 B 내려 nibble 52248(byte 26124)로 이동했고, 두 커널 모두 bump 배치(USMP가 더 줄이지 못함)였으며 시도 4회였습니다.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이전에는 별도 64×64 출력 buffer에 SAVE하고 H로 복사했습니다. 현재는 출력 parameter가 SRAM에 보관될 때 forward_output_tiles가 fill+gemm intrinsic의 view를 출력에 직접 겨냥하고 identity copy를 제거합니다. scheduled_0000.py에서 compute가 scope global.sram의 match_buffer이고 C = match_buffer(compute[0:64, i1*64:…], strides=("C_s0",1))로 나타나며 attr npu.forwarded_output_tiles=1이 붙습니다. FP32 누산이 끝난 최종 저장 위치를 바꾸는 것이지 K 중간 partial sum을 H에 내리는 것이 아닙니다. E3에서 words 85→77, bit-exact, DMA/SRAM peak는 그대로였습니다.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compact_unused_storage는 parameter leaf, 출력, const_data, literal pool, FP32 1.0, 그리고 모든 GLOAD/GSTORE의 strided span(빈틈 포함)을 반드시 남기고, cell 반올림 범위가 이들과 겹치지 않는 pool만 제거합니다. relocate는 제거된 pool 크기만큼 주소를 빼며 DMA g_addr word를 제자리에서 고치고 plan.address, pool_base, const_data, constant_base, one_fp32_base, top, 출력 offset, views, kernel_records(storage: sram/dram/unused), joint_memory, residency 기록을 갱신합니다. 오른쪽 아래 strip은 두 matmul 예제의 실제 주소입니다. npu_residency.forward는 codegen 뒤 명령 stream 위에서 GSTORE된 SRAM 사본을 추적해 커널 진입 시 GLOAD를 제거하거나 SRAM 복사로 바꾸는 write-through forwarding이며 생산자의 GSTORE는 남깁니다.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64×3072 FP16 residual이 384 KiB라는 사실만으로 반드시 보관됐다고 말할 수 없습니다. 사이의 모든 작업 공간과 비용을 봐야 합니다. KV cache는 kv라는 이름을 찾아 예외 처리하는 것이 아니라 외부 가시성 계약(출력 tree, parameter leaf)으로 보호됩니다. 현재는 빈 구간 재사용과 보관 영역 이동이 있지만 모든 조각화를 해결하는 전역 allocator는 아니며, 남은 낭비가 실제 프로그램 비용에 큰지 확인한 뒤 추가 개선을 검토합니다.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Linker가 Walker(asm, bases, SramEmitter)를 만들고 parameter를 signature 순서로 2-byte 단위 base에 바인딩하며 SRAM buffer를 nibble로 선언합니다. visit는 For를 unroll하고 IfThenElse를 compile 시점에 결정하며 LetStmt는 거절합니다. _match_nest는 loop nest 전체를 잡아 출력 행마다 vector 명령 하나를 냅니다. 그림의 strip: GLOAD W2(4 words) → K tile 0의 descriptor·LOAD·M_MUL(MAC=0) → K tile 1(MAC=1) → DST descriptor·SAVE → GSTORE Y(4 words) → HALT. 네 부류의 emission이 있습니다: tensorized matmul, elementwise(6 scratch slot 직렬화), reduction(REDUCE_SUM/MAX + BROADCAST), 복사 stage(scope가 다르면 DMA, 같으면 LOAD/COPY/SAVE 또는 BROADCAST/strided LOAD). Python walker와 C++ native walker는 같은 계약을 따르며 커널 단위로 섞일 수 있습니다. 정적 전개이므로 Llama prefill은 8.58M words가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H가 SRAM에 보관되면 GSTORE/GLOAD는 사라질 수 있지만 H를 matrix unit에 넣는 LOAD까지 없어지지는 않습니다. 한 숫자를 다른 단위로 읽으면 2배/4배 어긋난 주소가 됩니다. 0x80은 SRC1/SRC2/DST × MAIN/PARTIAL 주소의 16-bit 절반을, 0x88/0x89는 rows/cols와 dtype을, 0x82는 VLEN을 씁니다. MAIN은 전체 stride, PARTIAL은 이번 접근 영역의 시작과 크기입니다. 표의 값: SRC1 MAIN 0xCC18 = nibble 52,248 = byte 26,124(H), cols 128(행 stride 256 B); SRC2 MAIN 0x4C18 = 19,480(W2), cols 64; DST 0x0C18 = 3,096 = byte 1,548(Y). 두 번째 K tile에서 SRC1은 +0x100(64열), SRC2는 +0x4000(64행)만 바뀌고 COLS는 peephole이 생략합니다. region()은 operand 하나의 64×64 view를 위해 8 words를 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w0의 상위 24 bit는 SRAM nibble 주소(8-nibble 정렬), 하위 8 bit는 opcode입니다. 0xC18 = 3096 nibbles = byte 1548, 앞 슬라이드의 X 주소와 일치합니다. w1은 global cell 주소 0(= byte 0, X가 image 맨 앞), w2는 row stride 0x800 = 2048 cells, w3는 rows 1(상위 16 bit) / cols 0x800 = 2048 cells = 8192 bytes입니다. 1D DMA는 rows=1, cols=cells, stride=cols로 인코딩되고 0xFFFF cells/rows를 넘으면 분할됩니다. DMA는 dtype 없는 cell 이동이며 4-byte cell 경계의 부분 데이터는 이웃 값을 손상하지 않도록 별도 처리(bounce)합니다.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0-3은 상수 pool GLOAD, 4-47은 커널 0(첫 matmul: W1 GLOAD, X GLOAD, 두 출력 tile 각각 MAC=0 → H 직접 SAVE), 48-75는 커널 1(W2 GLOAD가 W1 자리에, K tile 두 개 MAC=0/1, Y SAVE, Y GSTORE), 76은 HALT입니다. strip에서 DMA packet(주황)이 4 words씩 차지하고 나머지는 descriptor(파랑)·LOAD/SAVE(청록)·M_MUL(보라) 1 word씩임을 볼 수 있습니다. Peephole 효과: 두 번째 tile(word 40)에서는 SRC1 descriptor가 통째로 사라지고 SRC2 low half만 바뀌며, 커널 1에는 0x88 word가 없습니다(rows=64가 커널 0에서 이어짐). opcode 통계는 0x42×4, 0x80×26, 0x88×6, 0x89×9, 0x90×8, 0x98×3, 0xA0×4, 0xA8×1, 0xFF×1입니다.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순서: 계약 검사(tile 64, cell 32, numeric policy) → npu_memplan.assign_addresses → scalar pool(호출되는 PrimFunc의 FP16 literal + {1.0, 2.0}, 짝수 개로 padding, DRAM constant_base와 FP32 1.0, 첫 커널 전에 SRAM nibble 0으로 GLOAD, scratch_base 계산) → binding 순서대로 커널(joint search가 미리 emit한 words / W8A8 reference emitter / GlobalVar별 cache된 recipe를 _place_sram 후 native 또는 Python walker) → HALT → residency forwarding → peephole → joint vs all-DRAM baseline 비교 → compact_unused_storage → cache append. kernel_records의 span [4,48), [48,76)이 strip의 경계입니다. Peephole은 descriptor register 상태만 정확히 추적하며 LOAD/SAVE/연산/DMA/BROADCAST는 건드리지 않습니다. Forwarding의 효과 분석은 각 명령이 어떤 주소를 쓰는지(WriteEffects) 알아야 하며, 알 수 없는 opcode는 cache 전체를 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v09_contract.py는 JSON 바이트의 sha256을 CONTRACT_HASH로, npu_codegen/generate_contract.py는 같은 hash와 kMaxVlen, op X-macro를 v09_contract.h로 씁니다. build_identity.py는 .cc/.h를 정렬 순서로 hash해 NPU_BUILD_SOURCE_HASH로 export합니다. native.load()는 .so가 없으면 Python을 쓰고 hash 불일치면 RuntimeError("rebuild")를 냅니다. 모드는 use(기본, NPU_NATIVE=0로 비활성), compare(둘 다 실행해 첫 다른 word 보고), python입니다. v09_stats.analyze는 DMA를 4-word packet으로 읽어 words와 instructions를 구분하고, dma bytes를 Σrows·cols·4로, sram_peak를 커널 top의 최댓값/2로, image를 top·unit_bytes로 계산합니다. check_counters가 C-model counters와 대조합니다.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NpuExecutable에는 words, plan, 낮춰진 module, 입력 signature(param_names)가 있습니다. export_bundle은 program_memory.bin(little-endian uint32), program.json(주소·통계·선택·출력 ABI·provenance), lowered.py(선택된 semantic IRModule), scheduled_*.py(joint-memory 경로의 호출별 TIR), values를 주면 global_memory.bin(초기 DRAM image)을 씁니다. 일반 recipe 경로의 단일 fused 커널은 자동 dump 대상이 아니므로 작은 예제 runner가 compile context의 recipe를 꺼내 07_scheduled_fused_matmul_add_silu.py로 남겼습니다. 전체 모델은 매우 큰 image와 pickle을 문서에 보관하지 않고 측정·hash를 남겼습니다.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generate(family, config, assets, token_ids, steps, capacity)는 capacity(기본 S+steps−1)마다 family.build_generate로 세 entry를 export하고 _lower(lower_and_select, entries=("prefill_cache","decode"))로 링크합니다. weight는 한 번만 읽고 bucket 사이 parameter ABI가 같아야 합니다. prefill은 run_tuple_program(host transform → build_image → v09_runtime.run → read_outputs)이고 첫 token은 logits[-1]의 FP32 argmax입니다. host가 K [L,kv,hd,C], V [L,kv,C,hd] 배열을 만들어 prefill K/V S행을 복사하고, decode loop는 DecodeSession으로 매 step embedding·cos/sin·mask만 patch합니다. 매 step 새로 링크하지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 prompt token → embedding 행(assets.embedding은 전체 table을 올리지 않고 행만 읽음), cos/sin, causal mask [1,S,S] (−1e4, 과거 per-head mask는 S=2048에서 201 MB 전송·192 MiB image였음). NPU: 28 layers → 마지막 hidden의 norm/LM head → logits [1,V] + K/V. host: argmax → 첫 생성 token. 반복: 그 token의 embedding, 현재 position의 cos/sin, valid-length mask [1,1,C+1] (−65504) → NPU decode + cache append → argmax. Persistent cache shape는 K [28,8,128,C], V [28,8,C,128]입니다.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예를 들어 C=9, L=7이면 attention 입력은 [과거 0..6 | 빈 7,8 | 현재 token 9]이고 mask는 [0…0 | −65504 | 0]입니다. 의미상 제외할 슬롯도 shape와 명령에는 남아 있습니다. mask는 기여를 막을 뿐 계산의 동적 생략이 아닙니다. AppendPlan.position은 mask에서 유효 prefix 길이를 복원하며 하나의 유효 prefix + 현재 token 형태가 아니면 거절하고, cache가 가득 차면(L ≥ C) 오류입니다. DecodeSession은 position이 순차적이어야 함을 검사합니다.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declare는 decode 함수에 {"version":1, "mask":"mask", "entries":[{"parameter":"k_cache","output":1,"axis":3}, {"parameter":"v_cache","output":2,"axis":2}]}를 붙입니다. 그림은 layer l, head h 하나의 cache입니다(28 × 8 쌍이 있음). K는 hd × C로 저장되어 slot L에 쓰는 것이 열 하나를 stride C·2 B로 쓰는 2D DMA이고, V는 C × hd라 행 하나를 연속으로 쓰는 1D DMA입니다. 행 bytes가 4의 배수가 아니면(홀수 C 등) cell RMW 경로를 씁니다. AppendPlan은 출력 tuple이 FP16이고 각 출력 shape가 cache shape에서 time 축만 1인지, source/destination이 alias하지 않는지, capacity가 일치하는지, mask가 FP16 [1,1,C+1]인지 검사합니다. parity 0/1 두 template를 미리 만들고 words(position)이 fixup으로 주소를 재배치합니다. 기록: 새 K/V 논리 크기 114,688 B, append DMA 458,752 B, decode base 7,310,801 words, 실행 stream 7,324,697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DecodeSession은 transformed weights, compile_program(residency=True), AppendPlan, build_image, PersistentTransport를 만듭니다. run은 mask에서 position을 얻어 순차성을 검사하고, cache 입력이 초기화 뒤 다시 오면 거절하며, runtime 입력의 shape/dtype을 검사해 plan.address×2 위치의 patch 목록을 만듭니다(6,676 B). tail을 HALT 앞에 넣고 transport.run(words, patches)를 부릅니다. PersistentTransport는 program_memory.bin에서 바뀐 첫 word부터만 다시 쓰고(55,568 B), global_memory.bin에 patch를 적용한 뒤 subprocess를 실행하고 saved_global_memory.bin을 rename으로 다음 입력으로 만듭니다. C-model은 여전히 호출마다 전체 image(≈6.43 GB)를 읽고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tokenizer 결과는 [128000, 9906, 11, 452, 6459, 19979, 0]의 7 tokens입니다. prefill이 358(" I")을 예측하고, decode position 7에서 2846("'m"), position 8에서 4560(" trying")을 예측합니다. 마지막 4560은 아직 입력으로 처리하지 않았으므로 이 시점 cache에는 그 token의 K/V가 없습니다. HF와 argmax가 모두 일치하고 logits cosine은 0.99999 이상, 최대 절대차는 0.024~0.039입니다. 판정 기준은 유한 logits, token 일치, cosine ≥ 0.999이며 최대 절대차는 기록만 했습니다. 실행 948.99 s는 완료된 첫 entry를 재사용한 검증이므로 cold compile 시간이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cache_buckets는 증가하는 capacity 목록이고 마지막이 capacity와 같아야 합니다. bucket(position)은 position보다 큰 첫 bucket이며 실제 필요한 bucket만 컴파일합니다(used). 그림: C=16 프로그램으로 position 15까지 진행하다가 유효 길이가 16이 되면 DecodeSession을 닫고 유효 cache prefix 16 slot을 C=32 배열로 복사해 새 session을 만듭니다. transitions에 valid_cache_bytes/input_cache_bytes를 기록합니다. 작은 context의 낭비(빈 slot 계산)를 줄이는 대신 프로그램 수, 초기 image, 전환 복사가 늘어납니다. C-model 파일 규약: program_memory.bin과 global_memory.bin을 읽고 SNAPSHOT(0xF0)마다 그리고 HALT(0xFF)에서 saved_global_memory.bin에 image를 덧붙이며 perf_counters.txt를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recipe cache는 PrimFunc 구조(global_symbol/op_pattern 제외)와 profile(joint_memory/beam/graph_search_seconds 제외, sram_bytes 포함)·scratch·slot을 키로 schedule+SRAM layout을 재사용합니다. 28 layers에서 약 32개 커널이 1,206회 호출되어 호출별 scheduling이 link 시간의 64%였던 것이 도입 이유입니다. trial cache는 mapping별 측정(실패도 _RejectedTrial로)을, probe cache는 비용만(승자는 실제 주소로 재emit·검증), region cache는 fusion 영역 비용을, EntryCache(256 MiB words / 32 entries LRU)는 graph 후보 사이에 linked entry 전체를 재사용합니다. 예산은 첫 합법 module 뒤 arm되고 phase 진입마다 검사되며, 초과 시 OptimizationBudgetExceeded가 budget_exhausted로 기록됩니다. progress 이벤트는 phase_begin/end, candidate_begin/end(status), entry_compiled/reused 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 실행 검증은 이번 문서 작업에서 현재 소스로 작은 입력을 실제 실행한 것(E1, E2)이고, 보존된 실행 검증은 기존 로그·JSON·source hash를 그대로 보존한 것(E3, E6, E7)이며, 정적 분석/기존 단일 측정은 명령·배치 분석이나 한 번의 compile wall time(E4, E5)입니다. 작은 예제와 기존 최종 검증의 compiler source SHA-256은 44694fc6…로 같습니다. 중간 개선 단계 기록은 source hash가 다르며 현재 소스의 새 benchmark로 바꾸지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off는 3커널(matmul 43 words, add 391 words, silu 2,373 words), auto는 1커널 1,572 words입니다. DMA는 41,100 B로 같고(입력·weight·bias GLOAD 4개 + 출력 GSTORE 1개), words 2,812→1,577, SRAM peak 50,700→42,508 B입니다. Fusion 전후 FP16 비트가 같고 동일 수치 grouping의 LLVM 출력과 최대 절대차는 0입니다. C-model DMA counters(dma_cells_loaded 8227, stored 2048)가 정적 해독과 일치했습니다. 이 사례가 모든 fusion의 이득을 대표하지는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KiB에서는 보관 옵션을 켜도 첫 matmul(X 8 KiB + W1 16 KiB + H 16 KiB = 40 KiB + pool)이 들어가지 않아 선택 결과가 같습니다. 44 KiB에서 보관을 켜면 H 16 KiB의 저장·재읽기 합계 32,768 B가 사라져 DMA 81,932→49,164 B, words 87→77, image 65,548→49,164 B가 되고 SRAM peak는 34,316→42,508 B로 늘어납니다. 64 KiB로 늘려도 이 예제에는 추가 이득이 없습니다. 보관 탐색 off에도 기존 후단 residency/peephole은 유지되므로 모든 메모리 최적화를 켜고 끈 실험이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E3: words 85→77, DMA 49,164 그대로, SRAM peak 42,508 그대로, image 65,548→49,164, bit-exact. E2의 보관 off/on(87→77)과 다른 비교이므로 87→77과 85→77을 섞지 않습니다. E4: 선택 커널 5개(gate→SiLU→up→multiply→down) 그대로, words 143,404→140,594, DMA 152,174,604 그대로, SRAM peak 7,446,540 그대로, image 154,927,116→151,781,388. 서로 다른 중간값이 같은 기본 DRAM pool을 재사용하므로 제거량은 4 MiB가 아니라 3 MiB입니다. 과거 fused epilogue 명령이 매우 길었던 문제를 줄였어도 최종 선택이 fusion으로 바뀌지는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M=7 실제 폭 MLP: 중복 실패 검사·시도 제한 개선으로 84.163 s → 22.073 s, TIR trial 생성 347→112회, 143,883 words와 binary hash 동일. M=64: 무제한 시도 → 64회 제한에서 21.791 s → 21.958 s, 두 경우 모두 47회 trial이므로 제한이 실제로 작동하지 않았고 140,594 words hash 동일. 모든 입력에서 일정 배율로 빨라진다는 결론은 낼 수 없습니다. 주요 개선은 invalid accumulator schedule을 native/Python에서 두 번 검사하지 않기, 동일 entry/region 비용 재사용, 실패도 포함하는 탐색 한도입니다. 전체 검증의 948.993 s는 cold compile 시간이 아닙니다(fresh_full_build_seconds=null).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기본 entry 통계: prefill_cache 8,582,352 words / DMA 6,457,527,556 B / SRAM peak 8,374,292 B / image 6,429,587,576 B, decode base 7,310,801 words / 6,438,980,676 B / 7,342,100 B / 6,427,349,032 B. Decode 실제 실행에는 append tail이 추가되므로 base 통계와 tail 포함 counters를 혼합하지 않습니다. DMA의 대부분은 layer마다 weight 192 MiB × 28 + LM head 751.5 MiB ≈ 6 GB를 panel로 읽는 것입니다. graph 탐색은 시간 한도에 도달해 unfused 기준을 선택했으며 "모든 후보 중 전역 최적"이라는 의미는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run_gate.sh는 실제 subprocess exit code, timeout, skip을 validation.json으로 기록하며 [PASS] 문자열만 찾아 성공으로 판정하지 않습니다. 가장 긴 suite는 nn_decode(207 s)이고 pipeline_extensions 68.6 s, compiler_contracts 44.6 s, priority_contracts 37.3 s, npu_target 34.8 s입니다. 선택 검사는 --tests로 일부 suite만, --require-no-skips로 skip 금지, --output으로 로그 위치를 지정합니다.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후보 정규화, 직접 FP16 입력에 한정한 SRAM 초과 사전 제외, 기준 words를 반영한 예산을 적용한 뒤 두 방식 모두 추가 합법 후보4개를 검사했습니다. Space10.586초, ReplayFunc33.264초이며 최종 binary는 같습니다. 이 후보 범위에서 기존 schedule보다 나은 정적 비용을 얻지 못했습니다. C-model은 최대 절대차0.000030517578125와 DMA counters 일치를 확인했습니다. DB reuse는 약4초이며 탐색 전략과 예산을 바꾸어도 호환되는 trace를 재사용합니다. 관련 회귀 검사34개가 통과했습니다. 전체 탐색공간의 최적성 또는 실제 장치 latency를 주장하지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off/score/full 3종과 generic off/vectors/matmul 3종입니다. 이 prefill에서는 GQA·producer 설정이 동일 IR이어서 source 중복을 제거한 뒤9개가 남습니다. 표는 일반 fusion 영역 함수 종류이며 layer별 호출 수나 최종 채택 수가 아닙니다. 영역 검사 후 풀리는 fusion과 추가 중복도 가능합니다. 분리된 커널도 SRAM 보관과 직접 출력을 사용하므로 공정하게 비교합니다. Graph 시간제한은 없지만 matmul 시도128·합법목표16·words예산10억, 메모리 beam4이므로 모든 schedule/보관 조합의 완전탐색은 아닙니다. 같은 계산·메모리 조건은 재사용합니다. HF last logits와28-layer K/V reference는 준비됐고 compile은 과도한 메모리로 중단했고 C-model 비교는 미실행입니다. 생산자 반복 배치 거절·직사각형 행 분할·길이1 DMA 처리를 수정하여 독립 검사4개와 회귀54개가 통과했습니다. 비용이나 fusion 채택, NPU token일치 결과는 아직 확정하지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정적 shape만 지원하며 FP16 matmul은 rank≥2, batch broadcast, unit/ragged 축을 처리하고 rank-1은 명시적 reshape가 필요합니다. control flow는 지원된 정적 호출을 직선 stream으로 전개하며 임의 dynamic control flow나 packed call은 거절합니다. softmax는 마지막 축 1..65504, RMSNorm은 마지막 축·FP16·정적 width·지원 epsilon, attention full-fusion은 정적 rank-3 FP16 64배수, RoPE는 default/linear/llama3, cache는 FP16 정적 capacity와 additive mask, runtime은 C-model adapter입니다. 보장하지 않는 것: 실장치 latency, 모든 동적 shape, 모든 TVM op, 모든 NaN/Inf edge semantics, 모든 HF 모델, 자동 mixed precision, quantized KV, key online softmax, 임의 inter-kernel tile streaming.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fusion auto는 합법 기준과 여러 graph 후보를 비교하지만 전역 최적을 보장하지 않습니다. fusion off는 attention/generic fusion만 끄고 메모리 최적화는 유지합니다. fusion on은 pattern/generic fusion을 요청하며 지원되지 않는 복합 kernel은 실패할 수 있습니다. joint_memory는 중간 FP16 tensor 전체 보관과 schedule을 함께 선택하고, reuse_sram은 커널 내부 수명 재사용(USMP)입니다. graph_search_seconds는 전체 compile timeout이 아니고, schedule_max_attempts는 64개의 성공 후보를 보장하지 않습니다. cache_buckets는 미리 만든 capacity별 decode 선택이지 매 step 임의 shape의 동적 실행이 아닙니다. schedule_search/schedule_seed/schedule_probe_word_budget과 compilation(schedule_database=…, schedule_database_mode=…)는 09-29에 추가·정리된 항목이며 기본 동작(space, DB 없음)을 바꾸지 않습니다. DB는 중첩 context에서 지정할 수 없고 버전 fingerprint별 하위 디렉터리를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LLVM부터 HF와 크게 다르면 모델 수식, weight 순서, mask/RoPE, 정밀도 정책을 봅니다. 작은 K는 맞고 큰 K가 틀리면 FP32 accumulator 연결과 부분합 순서, 첫 tile만 맞으면 MAIN stride·PARTIAL 주소·단위, SRAM 보관을 켤 때만 틀리면 값 버전·마지막 소비·alias·덮어쓰기, 주소 압축 후 틀리면 DMA와 output/constant/append 주소 일관성, prefill은 맞고 decode가 틀리면 현재 token·position·mask·append 슬롯, words가 너무 많으면 짧은 vector·주소 설정 반복·정적 전개, compile이 오래 걸리면 cache hit/miss·거절 이유·phase 시간·종료 한도를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항목은 현재 한계와 재개 시 먼저 확인할 것을 짝지어 둔 것입니다. 특히 vector 256/긴 VLEN은 RTL 계약 확인이 먼저이고, attention online softmax와 메모리 퇴거/부분 tile은 큰 변경이라 설계부터 분리합니다. 성능 모델은 RTL/장치 timing을 확보한 뒤 DMA→words→SRAM 비교와의 상관을 확인해야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 authored Relax 4연산 → ② graph prefix로 transpose가 host로 (prefill(x, bias, lv) + prefill_transform_params) → ③ LegalizeOps로 call_tir 3개 + PrimFunc(FP32 누산 정의) → ④ fusion 후보 비교로 fused_matmul_add_silu 채택(words 2,812→1,577) → ⑤ schedule: a_at=b_at=m_panel, X/W 16 KiB 1회 복사, M_MUL 2개(MAC 0/1), SiLU vector 전개 폭 128 → ⑥ USMP greedy_by_conflicts peak 85,016 nibbles, 보관할 중간값 없음 → ⑦ codegen/link: 1,577 words, DMA 41,100 B, 5 packets → ⑧ runtime: image 41,100 B, C-model 실행, 출력 offset 32,896에서 [64,64] FP16 읽기, LLVM reference와 최대 절대차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main은 Relax graph를 수작업 연산별 emitter로 연결하고 flat G-buffer와 host의 실행 경계를 사용하며, 같은 layer 프로그램을 host가 weight를 바꾸어 반복 실행하고, context별 정적 decode 프로그램과 host가 반환된 K/V로 배열을 확장하는 방식입니다. LM head는 K×64 packed panel로, 종료는 0xF0 snapshot입니다. 당시 결과: Llama 3.2 3B에서 같은 token [358, 2846, 4560], 최종 decode cosine 약 0.9999881, context8 decode 프로그램 453,349 words(layer 프로그램 통계). Gemma 4 E2B, Qwen3-4B도 main backend에서 HF 일치 기록이 있으나 v09 generation CLI에서 재검증된 것은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W[K,N]의 열 j마다 sW[j]=max(|W[:,j]|,tiny)/127, Wq=clip(round(W/sW),−127,127) INT8, half-to-even, zero-point 없는 대칭 양자화, weight per-output-channel, W8A8 activation per-row입니다. 양자화 rewrite는 LiftTransformParams 전에 적용되어 scale/quantize가 host로 옮겨집니다. W8A16은 DRAM INT8 W + FP16 scale → SRAM에서 FP16 복원 → 기존 FP16 GEMM chain(mixed matrix mode 미사용)입니다. W8A8은 실행 중 행별 absmax·FP32 scale·VQUANT로 INT8 X를 만들고 64개 K마다 INT32 부분합에 sW·sX를 적용해 FP32 accumulator에 더한 뒤 FP16 저장입니다. 검증: W8A16 matmul, W8A8 [64,64]@[64,64], [7,128]@[128,192] bit equality, 작은 모델 cosine ≈ 0.999998. run_nn_generate/npu_generate.generate에는 양자화 선택이 연결되어 있지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IR을 만드는 API(export_tvm, BlockBuilder, TensorStructInfo, te.placeholder/compute/reduce_axis, call_te, call_tir, tvm.script), graph pass(Sequential, CanonicalizeBindings, EliminateCommonSubexpr, RewriteDataflowReshape, LiftTransformParams, LegalizeOps, FoldConstant, AnnotateTIROpPattern, FuseOps, FuseOpsByPattern, FuseTIR, DeadCodeElimination), TIR 후처리(LowerInitBlock, PlanAndUpdateBufferAllocationLocation, ConvertBlocksToOpaque, CompactBufferAllocation, LowerMatchBuffer), 메모리(ToNonDataflow, RemovePurityChecking, CallTIRRewrite, StaticPlanBlockMemory, USMP), 검증(structural_hash/equal, relax.build llvm + VirtualMachine)로 나뉩니다. CanonicalizeAttention, FoldRepeatedGemv, 양자화 rewrite, OutputViews는 우리 모듈의 변환이며 TVM 기본 pass가 아닙니다. 선택형 MetaSchedule API(Workload/TuningRecord/JSONDatabase, Schedule.trace, TuneContext/ScheduleFn/ReplayFunc, sample_categorical, extract_tasks)는 6장 절과 같이 기존 NPU 비용 기준을 유지한 채 저장·재생과 검사 순서 변경에만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TVM 0.19.0 (commit c4dc0c29…), LLVM 18.1.8, Python 3.11.15, conda 환경 npu-tvm이 기준입니다. native build 명령은 library가 없거나 소스와 맞지 않을 때 필요합니다. reproduce.py는 작은 compile 7개 구성과 C-model 실행을 하며 전체 Llama나 checkpoint 다운로드는 하지 않습니다. export_llama_ir.py는 큰 weight를 읽거나 codegen하지 않고 IR만 만듭니다. 재현 결과는 보존된 문서 예제를 덮어쓰지 않도록 별도 디렉터리에 둡니다. 예제 출력이 달라졌을 때 문서 숫자만 먼저 바꾸지 말고 source/profile/numeric policy와 선택 후보를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질문을 받습니다. 세부 IR·API·실험 근거는 docs/README.md의 13장과 examples/, evidence/에서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1.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1.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274320"/>
          </a:xfrm>
          <a:prstGeom prst="rect">
            <a:avLst/>
          </a:prstGeom>
          <a:noFill/>
          <a:ln/>
        </p:spPr>
        <p:txBody>
          <a:bodyPr wrap="square" lIns="0" tIns="0" rIns="0" bIns="0" rtlCol="0" anchor="t"/>
          <a:lstStyle/>
          <a:p>
            <a:pPr algn="l" indent="0" marL="0">
              <a:buNone/>
            </a:pPr>
            <a:r>
              <a:rPr lang="en-US" sz="1100" b="1" spc="200" kern="0" dirty="0">
                <a:solidFill>
                  <a:srgbClr val="1F8A8A"/>
                </a:solidFill>
                <a:latin typeface="Malgun Gothic" pitchFamily="34" charset="0"/>
                <a:ea typeface="Malgun Gothic" pitchFamily="34" charset="-122"/>
                <a:cs typeface="Malgun Gothic" pitchFamily="34" charset="-120"/>
              </a:rPr>
              <a:t>NPU COMPILER  ·  V09 BACKEND  ·  TVM 0.19 RELAX / TIR</a:t>
            </a:r>
            <a:endParaRPr lang="en-US" sz="1100" dirty="0"/>
          </a:p>
        </p:txBody>
      </p:sp>
      <p:sp>
        <p:nvSpPr>
          <p:cNvPr id="3" name="Text 1"/>
          <p:cNvSpPr txBox="1"/>
          <p:nvPr/>
        </p:nvSpPr>
        <p:spPr>
          <a:xfrm>
            <a:off x="731520" y="1234440"/>
            <a:ext cx="10515600" cy="1463040"/>
          </a:xfrm>
          <a:prstGeom prst="rect">
            <a:avLst/>
          </a:prstGeom>
          <a:noFill/>
          <a:ln/>
        </p:spPr>
        <p:txBody>
          <a:bodyPr wrap="square" lIns="0" tIns="0" rIns="0" bIns="0" rtlCol="0" anchor="t"/>
          <a:lstStyle/>
          <a:p>
            <a:pPr algn="l" indent="0" marL="0">
              <a:buNone/>
            </a:pPr>
            <a:r>
              <a:rPr lang="en-US" sz="4400" b="1" dirty="0">
                <a:solidFill>
                  <a:srgbClr val="FFFFFF"/>
                </a:solidFill>
                <a:latin typeface="Malgun Gothic" pitchFamily="34" charset="0"/>
                <a:ea typeface="Malgun Gothic" pitchFamily="34" charset="-122"/>
                <a:cs typeface="Malgun Gothic" pitchFamily="34" charset="-120"/>
              </a:rPr>
              <a:t>TVM 기반 LLM NPU Compiler</a:t>
            </a:r>
            <a:endParaRPr lang="en-US" sz="4400" dirty="0"/>
          </a:p>
        </p:txBody>
      </p:sp>
      <p:sp>
        <p:nvSpPr>
          <p:cNvPr id="4" name="Text 2"/>
          <p:cNvSpPr txBox="1"/>
          <p:nvPr/>
        </p:nvSpPr>
        <p:spPr>
          <a:xfrm>
            <a:off x="731520" y="2240280"/>
            <a:ext cx="10515600" cy="822960"/>
          </a:xfrm>
          <a:prstGeom prst="rect">
            <a:avLst/>
          </a:prstGeom>
          <a:noFill/>
          <a:ln/>
        </p:spPr>
        <p:txBody>
          <a:bodyPr wrap="square" lIns="0" tIns="0" rIns="0" bIns="0" rtlCol="0" anchor="t"/>
          <a:lstStyle/>
          <a:p>
            <a:pPr algn="l" indent="0" marL="0">
              <a:buNone/>
            </a:pPr>
            <a:r>
              <a:rPr lang="en-US" sz="2000" dirty="0">
                <a:solidFill>
                  <a:srgbClr val="E6EDF5"/>
                </a:solidFill>
                <a:latin typeface="Malgun Gothic" pitchFamily="34" charset="0"/>
                <a:ea typeface="Malgun Gothic" pitchFamily="34" charset="-122"/>
                <a:cs typeface="Malgun Gothic" pitchFamily="34" charset="-120"/>
              </a:rPr>
              <a:t>모델의 계산이 NPU 명령과 다음 token이 되기까지:</a:t>
            </a:r>
            <a:endParaRPr lang="en-US" sz="2000" dirty="0"/>
          </a:p>
          <a:p>
            <a:pPr algn="l" indent="0" marL="0">
              <a:buNone/>
            </a:pPr>
            <a:r>
              <a:rPr lang="en-US" sz="2000" dirty="0">
                <a:solidFill>
                  <a:srgbClr val="E6EDF5"/>
                </a:solidFill>
                <a:latin typeface="Malgun Gothic" pitchFamily="34" charset="0"/>
                <a:ea typeface="Malgun Gothic" pitchFamily="34" charset="-122"/>
                <a:cs typeface="Malgun Gothic" pitchFamily="34" charset="-120"/>
              </a:rPr>
              <a:t>전체 compile pipeline과 runtime을 예제로 따라가기</a:t>
            </a:r>
            <a:endParaRPr lang="en-US" sz="2000" dirty="0"/>
          </a:p>
        </p:txBody>
      </p:sp>
      <p:sp>
        <p:nvSpPr>
          <p:cNvPr id="5" name="Shape 3"/>
          <p:cNvSpPr/>
          <p:nvPr/>
        </p:nvSpPr>
        <p:spPr>
          <a:xfrm>
            <a:off x="731520" y="3566160"/>
            <a:ext cx="3291840" cy="1051560"/>
          </a:xfrm>
          <a:prstGeom prst="roundRect">
            <a:avLst>
              <a:gd name="adj" fmla="val 6957"/>
            </a:avLst>
          </a:prstGeom>
          <a:solidFill>
            <a:srgbClr val="18293F"/>
          </a:solidFill>
          <a:ln w="12700">
            <a:solidFill>
              <a:srgbClr val="2B3E58"/>
            </a:solidFill>
            <a:prstDash val="solid"/>
          </a:ln>
        </p:spPr>
      </p:sp>
      <p:sp>
        <p:nvSpPr>
          <p:cNvPr id="6" name="Text 4"/>
          <p:cNvSpPr txBox="1"/>
          <p:nvPr/>
        </p:nvSpPr>
        <p:spPr>
          <a:xfrm>
            <a:off x="960120" y="3675888"/>
            <a:ext cx="2834640" cy="365760"/>
          </a:xfrm>
          <a:prstGeom prst="rect">
            <a:avLst/>
          </a:prstGeom>
          <a:noFill/>
          <a:ln/>
        </p:spPr>
        <p:txBody>
          <a:bodyPr wrap="square" lIns="0" tIns="0" rIns="0" bIns="0" rtlCol="0" anchor="t"/>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계산</a:t>
            </a:r>
            <a:endParaRPr lang="en-US" sz="1800" dirty="0"/>
          </a:p>
        </p:txBody>
      </p:sp>
      <p:sp>
        <p:nvSpPr>
          <p:cNvPr id="7" name="Text 5"/>
          <p:cNvSpPr txBox="1"/>
          <p:nvPr/>
        </p:nvSpPr>
        <p:spPr>
          <a:xfrm>
            <a:off x="960120" y="4069080"/>
            <a:ext cx="2834640" cy="457200"/>
          </a:xfrm>
          <a:prstGeom prst="rect">
            <a:avLst/>
          </a:prstGeom>
          <a:noFill/>
          <a:ln/>
        </p:spPr>
        <p:txBody>
          <a:bodyPr wrap="square" lIns="0" tIns="0" rIns="0" bIns="0" rtlCol="0" anchor="t"/>
          <a:lstStyle/>
          <a:p>
            <a:pPr algn="l" indent="0" marL="0">
              <a:buNone/>
            </a:pPr>
            <a:r>
              <a:rPr lang="en-US" sz="1200" dirty="0">
                <a:solidFill>
                  <a:srgbClr val="9FB3C8"/>
                </a:solidFill>
                <a:latin typeface="Malgun Gothic" pitchFamily="34" charset="0"/>
                <a:ea typeface="Malgun Gothic" pitchFamily="34" charset="-122"/>
                <a:cs typeface="Malgun Gothic" pitchFamily="34" charset="-120"/>
              </a:rPr>
              <a:t>Relax · semantic TIR · 수치 계약</a:t>
            </a:r>
            <a:endParaRPr lang="en-US" sz="1200" dirty="0"/>
          </a:p>
        </p:txBody>
      </p:sp>
      <p:sp>
        <p:nvSpPr>
          <p:cNvPr id="8" name="Shape 6"/>
          <p:cNvSpPr/>
          <p:nvPr/>
        </p:nvSpPr>
        <p:spPr>
          <a:xfrm>
            <a:off x="4297680" y="3566160"/>
            <a:ext cx="3291840" cy="1051560"/>
          </a:xfrm>
          <a:prstGeom prst="roundRect">
            <a:avLst>
              <a:gd name="adj" fmla="val 6957"/>
            </a:avLst>
          </a:prstGeom>
          <a:solidFill>
            <a:srgbClr val="18293F"/>
          </a:solidFill>
          <a:ln w="12700">
            <a:solidFill>
              <a:srgbClr val="2B3E58"/>
            </a:solidFill>
            <a:prstDash val="solid"/>
          </a:ln>
        </p:spPr>
      </p:sp>
      <p:sp>
        <p:nvSpPr>
          <p:cNvPr id="9" name="Text 7"/>
          <p:cNvSpPr txBox="1"/>
          <p:nvPr/>
        </p:nvSpPr>
        <p:spPr>
          <a:xfrm>
            <a:off x="4526280" y="3675888"/>
            <a:ext cx="2834640" cy="365760"/>
          </a:xfrm>
          <a:prstGeom prst="rect">
            <a:avLst/>
          </a:prstGeom>
          <a:noFill/>
          <a:ln/>
        </p:spPr>
        <p:txBody>
          <a:bodyPr wrap="square" lIns="0" tIns="0" rIns="0" bIns="0" rtlCol="0" anchor="t"/>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배치</a:t>
            </a:r>
            <a:endParaRPr lang="en-US" sz="1800" dirty="0"/>
          </a:p>
        </p:txBody>
      </p:sp>
      <p:sp>
        <p:nvSpPr>
          <p:cNvPr id="10" name="Text 8"/>
          <p:cNvSpPr txBox="1"/>
          <p:nvPr/>
        </p:nvSpPr>
        <p:spPr>
          <a:xfrm>
            <a:off x="4526280" y="4069080"/>
            <a:ext cx="2834640" cy="457200"/>
          </a:xfrm>
          <a:prstGeom prst="rect">
            <a:avLst/>
          </a:prstGeom>
          <a:noFill/>
          <a:ln/>
        </p:spPr>
        <p:txBody>
          <a:bodyPr wrap="square" lIns="0" tIns="0" rIns="0" bIns="0" rtlCol="0" anchor="t"/>
          <a:lstStyle/>
          <a:p>
            <a:pPr algn="l" indent="0" marL="0">
              <a:buNone/>
            </a:pPr>
            <a:r>
              <a:rPr lang="en-US" sz="1200" dirty="0">
                <a:solidFill>
                  <a:srgbClr val="9FB3C8"/>
                </a:solidFill>
                <a:latin typeface="Malgun Gothic" pitchFamily="34" charset="0"/>
                <a:ea typeface="Malgun Gothic" pitchFamily="34" charset="-122"/>
                <a:cs typeface="Malgun Gothic" pitchFamily="34" charset="-120"/>
              </a:rPr>
              <a:t>Schedule · SRAM/DRAM 계획</a:t>
            </a:r>
            <a:endParaRPr lang="en-US" sz="1200" dirty="0"/>
          </a:p>
        </p:txBody>
      </p:sp>
      <p:sp>
        <p:nvSpPr>
          <p:cNvPr id="11" name="Shape 9"/>
          <p:cNvSpPr/>
          <p:nvPr/>
        </p:nvSpPr>
        <p:spPr>
          <a:xfrm>
            <a:off x="7863840" y="3566160"/>
            <a:ext cx="3291840" cy="1051560"/>
          </a:xfrm>
          <a:prstGeom prst="roundRect">
            <a:avLst>
              <a:gd name="adj" fmla="val 6957"/>
            </a:avLst>
          </a:prstGeom>
          <a:solidFill>
            <a:srgbClr val="18293F"/>
          </a:solidFill>
          <a:ln w="12700">
            <a:solidFill>
              <a:srgbClr val="2B3E58"/>
            </a:solidFill>
            <a:prstDash val="solid"/>
          </a:ln>
        </p:spPr>
      </p:sp>
      <p:sp>
        <p:nvSpPr>
          <p:cNvPr id="12" name="Text 10"/>
          <p:cNvSpPr txBox="1"/>
          <p:nvPr/>
        </p:nvSpPr>
        <p:spPr>
          <a:xfrm>
            <a:off x="8092440" y="3675888"/>
            <a:ext cx="2834640" cy="365760"/>
          </a:xfrm>
          <a:prstGeom prst="rect">
            <a:avLst/>
          </a:prstGeom>
          <a:noFill/>
          <a:ln/>
        </p:spPr>
        <p:txBody>
          <a:bodyPr wrap="square" lIns="0" tIns="0" rIns="0" bIns="0" rtlCol="0" anchor="t"/>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실행</a:t>
            </a:r>
            <a:endParaRPr lang="en-US" sz="1800" dirty="0"/>
          </a:p>
        </p:txBody>
      </p:sp>
      <p:sp>
        <p:nvSpPr>
          <p:cNvPr id="13" name="Text 11"/>
          <p:cNvSpPr txBox="1"/>
          <p:nvPr/>
        </p:nvSpPr>
        <p:spPr>
          <a:xfrm>
            <a:off x="8092440" y="4069080"/>
            <a:ext cx="2834640" cy="457200"/>
          </a:xfrm>
          <a:prstGeom prst="rect">
            <a:avLst/>
          </a:prstGeom>
          <a:noFill/>
          <a:ln/>
        </p:spPr>
        <p:txBody>
          <a:bodyPr wrap="square" lIns="0" tIns="0" rIns="0" bIns="0" rtlCol="0" anchor="t"/>
          <a:lstStyle/>
          <a:p>
            <a:pPr algn="l" indent="0" marL="0">
              <a:buNone/>
            </a:pPr>
            <a:r>
              <a:rPr lang="en-US" sz="1200" dirty="0">
                <a:solidFill>
                  <a:srgbClr val="9FB3C8"/>
                </a:solidFill>
                <a:latin typeface="Malgun Gothic" pitchFamily="34" charset="0"/>
                <a:ea typeface="Malgun Gothic" pitchFamily="34" charset="-122"/>
                <a:cs typeface="Malgun Gothic" pitchFamily="34" charset="-120"/>
              </a:rPr>
              <a:t>ISA · linker · C-model runtime</a:t>
            </a:r>
            <a:endParaRPr lang="en-US" sz="1200" dirty="0"/>
          </a:p>
        </p:txBody>
      </p:sp>
      <p:sp>
        <p:nvSpPr>
          <p:cNvPr id="14" name="Text 12"/>
          <p:cNvSpPr txBox="1"/>
          <p:nvPr/>
        </p:nvSpPr>
        <p:spPr>
          <a:xfrm>
            <a:off x="731520" y="5074920"/>
            <a:ext cx="10515600" cy="822960"/>
          </a:xfrm>
          <a:prstGeom prst="rect">
            <a:avLst/>
          </a:prstGeom>
          <a:noFill/>
          <a:ln/>
        </p:spPr>
        <p:txBody>
          <a:bodyPr wrap="square" lIns="0" tIns="0" rIns="0" bIns="0" rtlCol="0" anchor="t"/>
          <a:lstStyle/>
          <a:p>
            <a:pPr algn="l" indent="0" marL="0">
              <a:buNone/>
            </a:pPr>
            <a:r>
              <a:rPr lang="en-US" sz="1200" dirty="0">
                <a:solidFill>
                  <a:srgbClr val="9FB3C8"/>
                </a:solidFill>
                <a:latin typeface="Malgun Gothic" pitchFamily="34" charset="0"/>
                <a:ea typeface="Malgun Gothic" pitchFamily="34" charset="-122"/>
                <a:cs typeface="Malgun Gothic" pitchFamily="34" charset="-120"/>
              </a:rPr>
              <a:t>예제: Llama 3.2 3B (28 layers, hidden 3072, MLP 8192, Q 24 / KV 8 heads, head 128, vocab 128256)</a:t>
            </a:r>
            <a:endParaRPr lang="en-US" sz="1200" dirty="0"/>
          </a:p>
          <a:p>
            <a:pPr algn="l" indent="0" marL="0">
              <a:buNone/>
            </a:pPr>
            <a:r>
              <a:rPr lang="en-US" sz="1200" dirty="0">
                <a:solidFill>
                  <a:srgbClr val="9FB3C8"/>
                </a:solidFill>
                <a:latin typeface="Malgun Gothic" pitchFamily="34" charset="0"/>
                <a:ea typeface="Malgun Gothic" pitchFamily="34" charset="-122"/>
                <a:cs typeface="Malgun Gothic" pitchFamily="34" charset="-120"/>
              </a:rPr>
              <a:t>작은 예제: SiLU(X[64,128]·Wᵀ+bias) 와 두 matmul X·W1·W2 (SRAM 44 KiB) · 설정: FP16 저장 / FP32 누산 · SRAM 8 MiB · tile 64×64</a:t>
            </a:r>
            <a:endParaRPr lang="en-US" sz="1200" dirty="0"/>
          </a:p>
        </p:txBody>
      </p:sp>
      <p:sp>
        <p:nvSpPr>
          <p:cNvPr id="15" name="Text 13"/>
          <p:cNvSpPr txBox="1"/>
          <p:nvPr/>
        </p:nvSpPr>
        <p:spPr>
          <a:xfrm>
            <a:off x="731520" y="6172200"/>
            <a:ext cx="10515600" cy="274320"/>
          </a:xfrm>
          <a:prstGeom prst="rect">
            <a:avLst/>
          </a:prstGeom>
          <a:noFill/>
          <a:ln/>
        </p:spPr>
        <p:txBody>
          <a:bodyPr wrap="square" lIns="0" tIns="0" rIns="0" bIns="0" rtlCol="0" anchor="t"/>
          <a:lstStyle/>
          <a:p>
            <a:pPr algn="l" indent="0" marL="0">
              <a:buNone/>
            </a:pPr>
            <a:r>
              <a:rPr lang="en-US" sz="1000" dirty="0">
                <a:solidFill>
                  <a:srgbClr val="9FB3C8"/>
                </a:solidFill>
                <a:latin typeface="Malgun Gothic" pitchFamily="34" charset="0"/>
                <a:ea typeface="Malgun Gothic" pitchFamily="34" charset="-122"/>
                <a:cs typeface="Malgun Gothic" pitchFamily="34" charset="-120"/>
              </a:rPr>
              <a:t>2026-09-29 탐색 개선 반영 · 근거: d_compiler/docs (13장, examples, evidence)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개요</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발표 구성: 계산 → 배치 → 실행, 그리고 검증</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각 파트는 "입력 → 해결할 문제 → 실제 동작 → 결과" 순서로, 같은 예제를 단계마다 다시 봅니다.</a:t>
            </a:r>
            <a:endParaRPr lang="en-US" sz="1250" dirty="0"/>
          </a:p>
        </p:txBody>
      </p:sp>
      <p:sp>
        <p:nvSpPr>
          <p:cNvPr id="5" name="Shape 3"/>
          <p:cNvSpPr/>
          <p:nvPr/>
        </p:nvSpPr>
        <p:spPr>
          <a:xfrm>
            <a:off x="457200" y="1417320"/>
            <a:ext cx="5532120" cy="676656"/>
          </a:xfrm>
          <a:prstGeom prst="roundRect">
            <a:avLst>
              <a:gd name="adj" fmla="val 8108"/>
            </a:avLst>
          </a:prstGeom>
          <a:solidFill>
            <a:srgbClr val="FFFFFF"/>
          </a:solidFill>
          <a:ln w="12700">
            <a:solidFill>
              <a:srgbClr val="C9D3DF"/>
            </a:solidFill>
            <a:prstDash val="solid"/>
          </a:ln>
        </p:spPr>
      </p:sp>
      <p:sp>
        <p:nvSpPr>
          <p:cNvPr id="6" name="Text 4"/>
          <p:cNvSpPr txBox="1"/>
          <p:nvPr/>
        </p:nvSpPr>
        <p:spPr>
          <a:xfrm>
            <a:off x="566928" y="1527048"/>
            <a:ext cx="457200" cy="457200"/>
          </a:xfrm>
          <a:prstGeom prst="rect">
            <a:avLst/>
          </a:prstGeom>
          <a:noFill/>
          <a:ln/>
        </p:spPr>
        <p:txBody>
          <a:bodyPr wrap="square" lIns="0" tIns="0" rIns="0" bIns="0" rtlCol="0" anchor="ctr"/>
          <a:lstStyle/>
          <a:p>
            <a:pPr algn="ctr" indent="0" marL="0">
              <a:buNone/>
            </a:pPr>
            <a:r>
              <a:rPr lang="en-US" sz="2000" b="1" dirty="0">
                <a:solidFill>
                  <a:srgbClr val="1F8A8A"/>
                </a:solidFill>
                <a:latin typeface="Malgun Gothic" pitchFamily="34" charset="0"/>
                <a:ea typeface="Malgun Gothic" pitchFamily="34" charset="-122"/>
                <a:cs typeface="Malgun Gothic" pitchFamily="34" charset="-120"/>
              </a:rPr>
              <a:t>1</a:t>
            </a:r>
            <a:endParaRPr lang="en-US" sz="2000" dirty="0"/>
          </a:p>
        </p:txBody>
      </p:sp>
      <p:sp>
        <p:nvSpPr>
          <p:cNvPr id="7" name="Text 5"/>
          <p:cNvSpPr txBox="1"/>
          <p:nvPr/>
        </p:nvSpPr>
        <p:spPr>
          <a:xfrm>
            <a:off x="1097280" y="1490472"/>
            <a:ext cx="4754880" cy="274320"/>
          </a:xfrm>
          <a:prstGeom prst="rect">
            <a:avLst/>
          </a:prstGeom>
          <a:noFill/>
          <a:ln/>
        </p:spPr>
        <p:txBody>
          <a:bodyPr wrap="square" lIns="0" tIns="0" rIns="0" bIns="0" rtlCol="0" anchor="t"/>
          <a:lstStyle/>
          <a:p>
            <a:pPr algn="l" indent="0" marL="0">
              <a:buNone/>
            </a:pPr>
            <a:r>
              <a:rPr lang="en-US" sz="1300" b="1" dirty="0">
                <a:solidFill>
                  <a:srgbClr val="15243B"/>
                </a:solidFill>
                <a:latin typeface="Malgun Gothic" pitchFamily="34" charset="0"/>
                <a:ea typeface="Malgun Gothic" pitchFamily="34" charset="-122"/>
                <a:cs typeface="Malgun Gothic" pitchFamily="34" charset="-120"/>
              </a:rPr>
              <a:t>전체 구조</a:t>
            </a:r>
            <a:endParaRPr lang="en-US" sz="1300" dirty="0"/>
          </a:p>
        </p:txBody>
      </p:sp>
      <p:sp>
        <p:nvSpPr>
          <p:cNvPr id="8" name="Text 6"/>
          <p:cNvSpPr txBox="1"/>
          <p:nvPr/>
        </p:nvSpPr>
        <p:spPr>
          <a:xfrm>
            <a:off x="1097280" y="1764792"/>
            <a:ext cx="4800600" cy="292608"/>
          </a:xfrm>
          <a:prstGeom prst="rect">
            <a:avLst/>
          </a:prstGeom>
          <a:noFill/>
          <a:ln/>
        </p:spPr>
        <p:txBody>
          <a:bodyPr wrap="square" lIns="0" tIns="0" rIns="0" bIns="0" rtlCol="0" anchor="t"/>
          <a:lstStyle/>
          <a:p>
            <a:pPr algn="l" indent="0" marL="0">
              <a:buNone/>
            </a:pPr>
            <a:r>
              <a:rPr lang="en-US" sz="1000" dirty="0">
                <a:solidFill>
                  <a:srgbClr val="5B6B7F"/>
                </a:solidFill>
                <a:latin typeface="Malgun Gothic" pitchFamily="34" charset="0"/>
                <a:ea typeface="Malgun Gothic" pitchFamily="34" charset="-122"/>
                <a:cs typeface="Malgun Gothic" pitchFamily="34" charset="-120"/>
              </a:rPr>
              <a:t>장치 계약, compile/load/run, 세 수준의 IR, 전체 pipeline</a:t>
            </a:r>
            <a:endParaRPr lang="en-US" sz="1000" dirty="0"/>
          </a:p>
        </p:txBody>
      </p:sp>
      <p:sp>
        <p:nvSpPr>
          <p:cNvPr id="9" name="Shape 7"/>
          <p:cNvSpPr/>
          <p:nvPr/>
        </p:nvSpPr>
        <p:spPr>
          <a:xfrm>
            <a:off x="457200" y="2203704"/>
            <a:ext cx="5532120" cy="676656"/>
          </a:xfrm>
          <a:prstGeom prst="roundRect">
            <a:avLst>
              <a:gd name="adj" fmla="val 8108"/>
            </a:avLst>
          </a:prstGeom>
          <a:solidFill>
            <a:srgbClr val="FFFFFF"/>
          </a:solidFill>
          <a:ln w="12700">
            <a:solidFill>
              <a:srgbClr val="C9D3DF"/>
            </a:solidFill>
            <a:prstDash val="solid"/>
          </a:ln>
        </p:spPr>
      </p:sp>
      <p:sp>
        <p:nvSpPr>
          <p:cNvPr id="10" name="Text 8"/>
          <p:cNvSpPr txBox="1"/>
          <p:nvPr/>
        </p:nvSpPr>
        <p:spPr>
          <a:xfrm>
            <a:off x="566928" y="2313432"/>
            <a:ext cx="457200" cy="457200"/>
          </a:xfrm>
          <a:prstGeom prst="rect">
            <a:avLst/>
          </a:prstGeom>
          <a:noFill/>
          <a:ln/>
        </p:spPr>
        <p:txBody>
          <a:bodyPr wrap="square" lIns="0" tIns="0" rIns="0" bIns="0" rtlCol="0" anchor="ctr"/>
          <a:lstStyle/>
          <a:p>
            <a:pPr algn="ctr" indent="0" marL="0">
              <a:buNone/>
            </a:pPr>
            <a:r>
              <a:rPr lang="en-US" sz="2000" b="1" dirty="0">
                <a:solidFill>
                  <a:srgbClr val="1F8A8A"/>
                </a:solidFill>
                <a:latin typeface="Malgun Gothic" pitchFamily="34" charset="0"/>
                <a:ea typeface="Malgun Gothic" pitchFamily="34" charset="-122"/>
                <a:cs typeface="Malgun Gothic" pitchFamily="34" charset="-120"/>
              </a:rPr>
              <a:t>2</a:t>
            </a:r>
            <a:endParaRPr lang="en-US" sz="2000" dirty="0"/>
          </a:p>
        </p:txBody>
      </p:sp>
      <p:sp>
        <p:nvSpPr>
          <p:cNvPr id="11" name="Text 9"/>
          <p:cNvSpPr txBox="1"/>
          <p:nvPr/>
        </p:nvSpPr>
        <p:spPr>
          <a:xfrm>
            <a:off x="1097280" y="2276856"/>
            <a:ext cx="4754880" cy="274320"/>
          </a:xfrm>
          <a:prstGeom prst="rect">
            <a:avLst/>
          </a:prstGeom>
          <a:noFill/>
          <a:ln/>
        </p:spPr>
        <p:txBody>
          <a:bodyPr wrap="square" lIns="0" tIns="0" rIns="0" bIns="0" rtlCol="0" anchor="t"/>
          <a:lstStyle/>
          <a:p>
            <a:pPr algn="l" indent="0" marL="0">
              <a:buNone/>
            </a:pPr>
            <a:r>
              <a:rPr lang="en-US" sz="1300" b="1" dirty="0">
                <a:solidFill>
                  <a:srgbClr val="15243B"/>
                </a:solidFill>
                <a:latin typeface="Malgun Gothic" pitchFamily="34" charset="0"/>
                <a:ea typeface="Malgun Gothic" pitchFamily="34" charset="-122"/>
                <a:cs typeface="Malgun Gothic" pitchFamily="34" charset="-120"/>
              </a:rPr>
              <a:t>모델 → Relax</a:t>
            </a:r>
            <a:endParaRPr lang="en-US" sz="1300" dirty="0"/>
          </a:p>
        </p:txBody>
      </p:sp>
      <p:sp>
        <p:nvSpPr>
          <p:cNvPr id="12" name="Text 10"/>
          <p:cNvSpPr txBox="1"/>
          <p:nvPr/>
        </p:nvSpPr>
        <p:spPr>
          <a:xfrm>
            <a:off x="1097280" y="2551176"/>
            <a:ext cx="4800600" cy="292608"/>
          </a:xfrm>
          <a:prstGeom prst="rect">
            <a:avLst/>
          </a:prstGeom>
          <a:noFill/>
          <a:ln/>
        </p:spPr>
        <p:txBody>
          <a:bodyPr wrap="square" lIns="0" tIns="0" rIns="0" bIns="0" rtlCol="0" anchor="t"/>
          <a:lstStyle/>
          <a:p>
            <a:pPr algn="l" indent="0" marL="0">
              <a:buNone/>
            </a:pPr>
            <a:r>
              <a:rPr lang="en-US" sz="1000" dirty="0">
                <a:solidFill>
                  <a:srgbClr val="5B6B7F"/>
                </a:solidFill>
                <a:latin typeface="Malgun Gothic" pitchFamily="34" charset="0"/>
                <a:ea typeface="Malgun Gothic" pitchFamily="34" charset="-122"/>
                <a:cs typeface="Malgun Gothic" pitchFamily="34" charset="-120"/>
              </a:rPr>
              <a:t>relax.frontend.nn Llama, 입력 명세, 작은 예제의 authored IR</a:t>
            </a:r>
            <a:endParaRPr lang="en-US" sz="1000" dirty="0"/>
          </a:p>
        </p:txBody>
      </p:sp>
      <p:sp>
        <p:nvSpPr>
          <p:cNvPr id="13" name="Shape 11"/>
          <p:cNvSpPr/>
          <p:nvPr/>
        </p:nvSpPr>
        <p:spPr>
          <a:xfrm>
            <a:off x="457200" y="2990088"/>
            <a:ext cx="5532120" cy="676656"/>
          </a:xfrm>
          <a:prstGeom prst="roundRect">
            <a:avLst>
              <a:gd name="adj" fmla="val 8108"/>
            </a:avLst>
          </a:prstGeom>
          <a:solidFill>
            <a:srgbClr val="FFFFFF"/>
          </a:solidFill>
          <a:ln w="12700">
            <a:solidFill>
              <a:srgbClr val="C9D3DF"/>
            </a:solidFill>
            <a:prstDash val="solid"/>
          </a:ln>
        </p:spPr>
      </p:sp>
      <p:sp>
        <p:nvSpPr>
          <p:cNvPr id="14" name="Text 12"/>
          <p:cNvSpPr txBox="1"/>
          <p:nvPr/>
        </p:nvSpPr>
        <p:spPr>
          <a:xfrm>
            <a:off x="566928" y="3099816"/>
            <a:ext cx="457200" cy="457200"/>
          </a:xfrm>
          <a:prstGeom prst="rect">
            <a:avLst/>
          </a:prstGeom>
          <a:noFill/>
          <a:ln/>
        </p:spPr>
        <p:txBody>
          <a:bodyPr wrap="square" lIns="0" tIns="0" rIns="0" bIns="0" rtlCol="0" anchor="ctr"/>
          <a:lstStyle/>
          <a:p>
            <a:pPr algn="ctr" indent="0" marL="0">
              <a:buNone/>
            </a:pPr>
            <a:r>
              <a:rPr lang="en-US" sz="2000" b="1" dirty="0">
                <a:solidFill>
                  <a:srgbClr val="1F8A8A"/>
                </a:solidFill>
                <a:latin typeface="Malgun Gothic" pitchFamily="34" charset="0"/>
                <a:ea typeface="Malgun Gothic" pitchFamily="34" charset="-122"/>
                <a:cs typeface="Malgun Gothic" pitchFamily="34" charset="-120"/>
              </a:rPr>
              <a:t>3</a:t>
            </a:r>
            <a:endParaRPr lang="en-US" sz="2000" dirty="0"/>
          </a:p>
        </p:txBody>
      </p:sp>
      <p:sp>
        <p:nvSpPr>
          <p:cNvPr id="15" name="Text 13"/>
          <p:cNvSpPr txBox="1"/>
          <p:nvPr/>
        </p:nvSpPr>
        <p:spPr>
          <a:xfrm>
            <a:off x="1097280" y="3063240"/>
            <a:ext cx="4754880" cy="274320"/>
          </a:xfrm>
          <a:prstGeom prst="rect">
            <a:avLst/>
          </a:prstGeom>
          <a:noFill/>
          <a:ln/>
        </p:spPr>
        <p:txBody>
          <a:bodyPr wrap="square" lIns="0" tIns="0" rIns="0" bIns="0" rtlCol="0" anchor="t"/>
          <a:lstStyle/>
          <a:p>
            <a:pPr algn="l" indent="0" marL="0">
              <a:buNone/>
            </a:pPr>
            <a:r>
              <a:rPr lang="en-US" sz="1300" b="1" dirty="0">
                <a:solidFill>
                  <a:srgbClr val="15243B"/>
                </a:solidFill>
                <a:latin typeface="Malgun Gothic" pitchFamily="34" charset="0"/>
                <a:ea typeface="Malgun Gothic" pitchFamily="34" charset="-122"/>
                <a:cs typeface="Malgun Gothic" pitchFamily="34" charset="-120"/>
              </a:rPr>
              <a:t>Graph 정리와 host</a:t>
            </a:r>
            <a:endParaRPr lang="en-US" sz="1300" dirty="0"/>
          </a:p>
        </p:txBody>
      </p:sp>
      <p:sp>
        <p:nvSpPr>
          <p:cNvPr id="16" name="Text 14"/>
          <p:cNvSpPr txBox="1"/>
          <p:nvPr/>
        </p:nvSpPr>
        <p:spPr>
          <a:xfrm>
            <a:off x="1097280" y="3337560"/>
            <a:ext cx="4800600" cy="292608"/>
          </a:xfrm>
          <a:prstGeom prst="rect">
            <a:avLst/>
          </a:prstGeom>
          <a:noFill/>
          <a:ln/>
        </p:spPr>
        <p:txBody>
          <a:bodyPr wrap="square" lIns="0" tIns="0" rIns="0" bIns="0" rtlCol="0" anchor="t"/>
          <a:lstStyle/>
          <a:p>
            <a:pPr algn="l" indent="0" marL="0">
              <a:buNone/>
            </a:pPr>
            <a:r>
              <a:rPr lang="en-US" sz="1000" dirty="0">
                <a:solidFill>
                  <a:srgbClr val="5B6B7F"/>
                </a:solidFill>
                <a:latin typeface="Malgun Gothic" pitchFamily="34" charset="0"/>
                <a:ea typeface="Malgun Gothic" pitchFamily="34" charset="-122"/>
                <a:cs typeface="Malgun Gothic" pitchFamily="34" charset="-120"/>
              </a:rPr>
              <a:t>CanonicalizeAttention, LiftTransformParams, host transform 실행</a:t>
            </a:r>
            <a:endParaRPr lang="en-US" sz="1000" dirty="0"/>
          </a:p>
        </p:txBody>
      </p:sp>
      <p:sp>
        <p:nvSpPr>
          <p:cNvPr id="17" name="Shape 15"/>
          <p:cNvSpPr/>
          <p:nvPr/>
        </p:nvSpPr>
        <p:spPr>
          <a:xfrm>
            <a:off x="457200" y="3776472"/>
            <a:ext cx="5532120" cy="676656"/>
          </a:xfrm>
          <a:prstGeom prst="roundRect">
            <a:avLst>
              <a:gd name="adj" fmla="val 8108"/>
            </a:avLst>
          </a:prstGeom>
          <a:solidFill>
            <a:srgbClr val="FFFFFF"/>
          </a:solidFill>
          <a:ln w="12700">
            <a:solidFill>
              <a:srgbClr val="C9D3DF"/>
            </a:solidFill>
            <a:prstDash val="solid"/>
          </a:ln>
        </p:spPr>
      </p:sp>
      <p:sp>
        <p:nvSpPr>
          <p:cNvPr id="18" name="Text 16"/>
          <p:cNvSpPr txBox="1"/>
          <p:nvPr/>
        </p:nvSpPr>
        <p:spPr>
          <a:xfrm>
            <a:off x="566928" y="3886200"/>
            <a:ext cx="457200" cy="457200"/>
          </a:xfrm>
          <a:prstGeom prst="rect">
            <a:avLst/>
          </a:prstGeom>
          <a:noFill/>
          <a:ln/>
        </p:spPr>
        <p:txBody>
          <a:bodyPr wrap="square" lIns="0" tIns="0" rIns="0" bIns="0" rtlCol="0" anchor="ctr"/>
          <a:lstStyle/>
          <a:p>
            <a:pPr algn="ctr" indent="0" marL="0">
              <a:buNone/>
            </a:pPr>
            <a:r>
              <a:rPr lang="en-US" sz="2000" b="1" dirty="0">
                <a:solidFill>
                  <a:srgbClr val="1F8A8A"/>
                </a:solidFill>
                <a:latin typeface="Malgun Gothic" pitchFamily="34" charset="0"/>
                <a:ea typeface="Malgun Gothic" pitchFamily="34" charset="-122"/>
                <a:cs typeface="Malgun Gothic" pitchFamily="34" charset="-120"/>
              </a:rPr>
              <a:t>4</a:t>
            </a:r>
            <a:endParaRPr lang="en-US" sz="2000" dirty="0"/>
          </a:p>
        </p:txBody>
      </p:sp>
      <p:sp>
        <p:nvSpPr>
          <p:cNvPr id="19" name="Text 17"/>
          <p:cNvSpPr txBox="1"/>
          <p:nvPr/>
        </p:nvSpPr>
        <p:spPr>
          <a:xfrm>
            <a:off x="1097280" y="3849624"/>
            <a:ext cx="4754880" cy="274320"/>
          </a:xfrm>
          <a:prstGeom prst="rect">
            <a:avLst/>
          </a:prstGeom>
          <a:noFill/>
          <a:ln/>
        </p:spPr>
        <p:txBody>
          <a:bodyPr wrap="square" lIns="0" tIns="0" rIns="0" bIns="0" rtlCol="0" anchor="t"/>
          <a:lstStyle/>
          <a:p>
            <a:pPr algn="l" indent="0" marL="0">
              <a:buNone/>
            </a:pPr>
            <a:r>
              <a:rPr lang="en-US" sz="1300" b="1" dirty="0">
                <a:solidFill>
                  <a:srgbClr val="15243B"/>
                </a:solidFill>
                <a:latin typeface="Malgun Gothic" pitchFamily="34" charset="0"/>
                <a:ea typeface="Malgun Gothic" pitchFamily="34" charset="-122"/>
                <a:cs typeface="Malgun Gothic" pitchFamily="34" charset="-120"/>
              </a:rPr>
              <a:t>LegalizeOps와 수치</a:t>
            </a:r>
            <a:endParaRPr lang="en-US" sz="1300" dirty="0"/>
          </a:p>
        </p:txBody>
      </p:sp>
      <p:sp>
        <p:nvSpPr>
          <p:cNvPr id="20" name="Text 18"/>
          <p:cNvSpPr txBox="1"/>
          <p:nvPr/>
        </p:nvSpPr>
        <p:spPr>
          <a:xfrm>
            <a:off x="1097280" y="4123944"/>
            <a:ext cx="4800600" cy="292608"/>
          </a:xfrm>
          <a:prstGeom prst="rect">
            <a:avLst/>
          </a:prstGeom>
          <a:noFill/>
          <a:ln/>
        </p:spPr>
        <p:txBody>
          <a:bodyPr wrap="square" lIns="0" tIns="0" rIns="0" bIns="0" rtlCol="0" anchor="t"/>
          <a:lstStyle/>
          <a:p>
            <a:pPr algn="l" indent="0" marL="0">
              <a:buNone/>
            </a:pPr>
            <a:r>
              <a:rPr lang="en-US" sz="1000" dirty="0">
                <a:solidFill>
                  <a:srgbClr val="5B6B7F"/>
                </a:solidFill>
                <a:latin typeface="Malgun Gothic" pitchFamily="34" charset="0"/>
                <a:ea typeface="Malgun Gothic" pitchFamily="34" charset="-122"/>
                <a:cs typeface="Malgun Gothic" pitchFamily="34" charset="-120"/>
              </a:rPr>
              <a:t>call_tir + PrimFunc, FP16 저장/FP32 누산, softmax·RMSNorm 정의</a:t>
            </a:r>
            <a:endParaRPr lang="en-US" sz="1000" dirty="0"/>
          </a:p>
        </p:txBody>
      </p:sp>
      <p:sp>
        <p:nvSpPr>
          <p:cNvPr id="21" name="Shape 19"/>
          <p:cNvSpPr/>
          <p:nvPr/>
        </p:nvSpPr>
        <p:spPr>
          <a:xfrm>
            <a:off x="457200" y="4562856"/>
            <a:ext cx="5532120" cy="676656"/>
          </a:xfrm>
          <a:prstGeom prst="roundRect">
            <a:avLst>
              <a:gd name="adj" fmla="val 8108"/>
            </a:avLst>
          </a:prstGeom>
          <a:solidFill>
            <a:srgbClr val="FFFFFF"/>
          </a:solidFill>
          <a:ln w="12700">
            <a:solidFill>
              <a:srgbClr val="C9D3DF"/>
            </a:solidFill>
            <a:prstDash val="solid"/>
          </a:ln>
        </p:spPr>
      </p:sp>
      <p:sp>
        <p:nvSpPr>
          <p:cNvPr id="22" name="Text 20"/>
          <p:cNvSpPr txBox="1"/>
          <p:nvPr/>
        </p:nvSpPr>
        <p:spPr>
          <a:xfrm>
            <a:off x="566928" y="4672584"/>
            <a:ext cx="457200" cy="457200"/>
          </a:xfrm>
          <a:prstGeom prst="rect">
            <a:avLst/>
          </a:prstGeom>
          <a:noFill/>
          <a:ln/>
        </p:spPr>
        <p:txBody>
          <a:bodyPr wrap="square" lIns="0" tIns="0" rIns="0" bIns="0" rtlCol="0" anchor="ctr"/>
          <a:lstStyle/>
          <a:p>
            <a:pPr algn="ctr" indent="0" marL="0">
              <a:buNone/>
            </a:pPr>
            <a:r>
              <a:rPr lang="en-US" sz="2000" b="1" dirty="0">
                <a:solidFill>
                  <a:srgbClr val="1F8A8A"/>
                </a:solidFill>
                <a:latin typeface="Malgun Gothic" pitchFamily="34" charset="0"/>
                <a:ea typeface="Malgun Gothic" pitchFamily="34" charset="-122"/>
                <a:cs typeface="Malgun Gothic" pitchFamily="34" charset="-120"/>
              </a:rPr>
              <a:t>5</a:t>
            </a:r>
            <a:endParaRPr lang="en-US" sz="2000" dirty="0"/>
          </a:p>
        </p:txBody>
      </p:sp>
      <p:sp>
        <p:nvSpPr>
          <p:cNvPr id="23" name="Text 21"/>
          <p:cNvSpPr txBox="1"/>
          <p:nvPr/>
        </p:nvSpPr>
        <p:spPr>
          <a:xfrm>
            <a:off x="1097280" y="4636008"/>
            <a:ext cx="4754880" cy="274320"/>
          </a:xfrm>
          <a:prstGeom prst="rect">
            <a:avLst/>
          </a:prstGeom>
          <a:noFill/>
          <a:ln/>
        </p:spPr>
        <p:txBody>
          <a:bodyPr wrap="square" lIns="0" tIns="0" rIns="0" bIns="0" rtlCol="0" anchor="t"/>
          <a:lstStyle/>
          <a:p>
            <a:pPr algn="l" indent="0" marL="0">
              <a:buNone/>
            </a:pPr>
            <a:r>
              <a:rPr lang="en-US" sz="1300" b="1" dirty="0">
                <a:solidFill>
                  <a:srgbClr val="15243B"/>
                </a:solidFill>
                <a:latin typeface="Malgun Gothic" pitchFamily="34" charset="0"/>
                <a:ea typeface="Malgun Gothic" pitchFamily="34" charset="-122"/>
                <a:cs typeface="Malgun Gothic" pitchFamily="34" charset="-120"/>
              </a:rPr>
              <a:t>Fusion 후보 선택</a:t>
            </a:r>
            <a:endParaRPr lang="en-US" sz="1300" dirty="0"/>
          </a:p>
        </p:txBody>
      </p:sp>
      <p:sp>
        <p:nvSpPr>
          <p:cNvPr id="24" name="Text 22"/>
          <p:cNvSpPr txBox="1"/>
          <p:nvPr/>
        </p:nvSpPr>
        <p:spPr>
          <a:xfrm>
            <a:off x="1097280" y="4910328"/>
            <a:ext cx="4800600" cy="292608"/>
          </a:xfrm>
          <a:prstGeom prst="rect">
            <a:avLst/>
          </a:prstGeom>
          <a:noFill/>
          <a:ln/>
        </p:spPr>
        <p:txBody>
          <a:bodyPr wrap="square" lIns="0" tIns="0" rIns="0" bIns="0" rtlCol="0" anchor="t"/>
          <a:lstStyle/>
          <a:p>
            <a:pPr algn="l" indent="0" marL="0">
              <a:buNone/>
            </a:pPr>
            <a:r>
              <a:rPr lang="en-US" sz="1000" dirty="0">
                <a:solidFill>
                  <a:srgbClr val="5B6B7F"/>
                </a:solidFill>
                <a:latin typeface="Malgun Gothic" pitchFamily="34" charset="0"/>
                <a:ea typeface="Malgun Gothic" pitchFamily="34" charset="-122"/>
                <a:cs typeface="Malgun Gothic" pitchFamily="34" charset="-120"/>
              </a:rPr>
              <a:t>op_pattern, FuseOps/FuseTIR, 영역 probe와 전체 module 비교</a:t>
            </a:r>
            <a:endParaRPr lang="en-US" sz="1000" dirty="0"/>
          </a:p>
        </p:txBody>
      </p:sp>
      <p:sp>
        <p:nvSpPr>
          <p:cNvPr id="25" name="Shape 23"/>
          <p:cNvSpPr/>
          <p:nvPr/>
        </p:nvSpPr>
        <p:spPr>
          <a:xfrm>
            <a:off x="6217920" y="1417320"/>
            <a:ext cx="5532120" cy="676656"/>
          </a:xfrm>
          <a:prstGeom prst="roundRect">
            <a:avLst>
              <a:gd name="adj" fmla="val 8108"/>
            </a:avLst>
          </a:prstGeom>
          <a:solidFill>
            <a:srgbClr val="FFFFFF"/>
          </a:solidFill>
          <a:ln w="12700">
            <a:solidFill>
              <a:srgbClr val="C9D3DF"/>
            </a:solidFill>
            <a:prstDash val="solid"/>
          </a:ln>
        </p:spPr>
      </p:sp>
      <p:sp>
        <p:nvSpPr>
          <p:cNvPr id="26" name="Text 24"/>
          <p:cNvSpPr txBox="1"/>
          <p:nvPr/>
        </p:nvSpPr>
        <p:spPr>
          <a:xfrm>
            <a:off x="6327648" y="1527048"/>
            <a:ext cx="457200" cy="457200"/>
          </a:xfrm>
          <a:prstGeom prst="rect">
            <a:avLst/>
          </a:prstGeom>
          <a:noFill/>
          <a:ln/>
        </p:spPr>
        <p:txBody>
          <a:bodyPr wrap="square" lIns="0" tIns="0" rIns="0" bIns="0" rtlCol="0" anchor="ctr"/>
          <a:lstStyle/>
          <a:p>
            <a:pPr algn="ctr" indent="0" marL="0">
              <a:buNone/>
            </a:pPr>
            <a:r>
              <a:rPr lang="en-US" sz="2000" b="1" dirty="0">
                <a:solidFill>
                  <a:srgbClr val="1F8A8A"/>
                </a:solidFill>
                <a:latin typeface="Malgun Gothic" pitchFamily="34" charset="0"/>
                <a:ea typeface="Malgun Gothic" pitchFamily="34" charset="-122"/>
                <a:cs typeface="Malgun Gothic" pitchFamily="34" charset="-120"/>
              </a:rPr>
              <a:t>6</a:t>
            </a:r>
            <a:endParaRPr lang="en-US" sz="2000" dirty="0"/>
          </a:p>
        </p:txBody>
      </p:sp>
      <p:sp>
        <p:nvSpPr>
          <p:cNvPr id="27" name="Text 25"/>
          <p:cNvSpPr txBox="1"/>
          <p:nvPr/>
        </p:nvSpPr>
        <p:spPr>
          <a:xfrm>
            <a:off x="6858000" y="1490472"/>
            <a:ext cx="4754880" cy="274320"/>
          </a:xfrm>
          <a:prstGeom prst="rect">
            <a:avLst/>
          </a:prstGeom>
          <a:noFill/>
          <a:ln/>
        </p:spPr>
        <p:txBody>
          <a:bodyPr wrap="square" lIns="0" tIns="0" rIns="0" bIns="0" rtlCol="0" anchor="t"/>
          <a:lstStyle/>
          <a:p>
            <a:pPr algn="l" indent="0" marL="0">
              <a:buNone/>
            </a:pPr>
            <a:r>
              <a:rPr lang="en-US" sz="1300" b="1" dirty="0">
                <a:solidFill>
                  <a:srgbClr val="15243B"/>
                </a:solidFill>
                <a:latin typeface="Malgun Gothic" pitchFamily="34" charset="0"/>
                <a:ea typeface="Malgun Gothic" pitchFamily="34" charset="-122"/>
                <a:cs typeface="Malgun Gothic" pitchFamily="34" charset="-120"/>
              </a:rPr>
              <a:t>Matmul scheduling</a:t>
            </a:r>
            <a:endParaRPr lang="en-US" sz="1300" dirty="0"/>
          </a:p>
        </p:txBody>
      </p:sp>
      <p:sp>
        <p:nvSpPr>
          <p:cNvPr id="28" name="Text 26"/>
          <p:cNvSpPr txBox="1"/>
          <p:nvPr/>
        </p:nvSpPr>
        <p:spPr>
          <a:xfrm>
            <a:off x="6858000" y="1764792"/>
            <a:ext cx="4800600" cy="292608"/>
          </a:xfrm>
          <a:prstGeom prst="rect">
            <a:avLst/>
          </a:prstGeom>
          <a:noFill/>
          <a:ln/>
        </p:spPr>
        <p:txBody>
          <a:bodyPr wrap="square" lIns="0" tIns="0" rIns="0" bIns="0" rtlCol="0" anchor="t"/>
          <a:lstStyle/>
          <a:p>
            <a:pPr algn="l" indent="0" marL="0">
              <a:buNone/>
            </a:pPr>
            <a:r>
              <a:rPr lang="en-US" sz="1000" dirty="0">
                <a:solidFill>
                  <a:srgbClr val="5B6B7F"/>
                </a:solidFill>
                <a:latin typeface="Malgun Gothic" pitchFamily="34" charset="0"/>
                <a:ea typeface="Malgun Gothic" pitchFamily="34" charset="-122"/>
                <a:cs typeface="Malgun Gothic" pitchFamily="34" charset="-120"/>
              </a:rPr>
              <a:t>64×64 누산 체인, panel 탐색 공간, Schedule API, tensorize</a:t>
            </a:r>
            <a:endParaRPr lang="en-US" sz="1000" dirty="0"/>
          </a:p>
        </p:txBody>
      </p:sp>
      <p:sp>
        <p:nvSpPr>
          <p:cNvPr id="29" name="Shape 27"/>
          <p:cNvSpPr/>
          <p:nvPr/>
        </p:nvSpPr>
        <p:spPr>
          <a:xfrm>
            <a:off x="6217920" y="2203704"/>
            <a:ext cx="5532120" cy="676656"/>
          </a:xfrm>
          <a:prstGeom prst="roundRect">
            <a:avLst>
              <a:gd name="adj" fmla="val 8108"/>
            </a:avLst>
          </a:prstGeom>
          <a:solidFill>
            <a:srgbClr val="FFFFFF"/>
          </a:solidFill>
          <a:ln w="12700">
            <a:solidFill>
              <a:srgbClr val="C9D3DF"/>
            </a:solidFill>
            <a:prstDash val="solid"/>
          </a:ln>
        </p:spPr>
      </p:sp>
      <p:sp>
        <p:nvSpPr>
          <p:cNvPr id="30" name="Text 28"/>
          <p:cNvSpPr txBox="1"/>
          <p:nvPr/>
        </p:nvSpPr>
        <p:spPr>
          <a:xfrm>
            <a:off x="6327648" y="2313432"/>
            <a:ext cx="457200" cy="457200"/>
          </a:xfrm>
          <a:prstGeom prst="rect">
            <a:avLst/>
          </a:prstGeom>
          <a:noFill/>
          <a:ln/>
        </p:spPr>
        <p:txBody>
          <a:bodyPr wrap="square" lIns="0" tIns="0" rIns="0" bIns="0" rtlCol="0" anchor="ctr"/>
          <a:lstStyle/>
          <a:p>
            <a:pPr algn="ctr" indent="0" marL="0">
              <a:buNone/>
            </a:pPr>
            <a:r>
              <a:rPr lang="en-US" sz="2000" b="1" dirty="0">
                <a:solidFill>
                  <a:srgbClr val="1F8A8A"/>
                </a:solidFill>
                <a:latin typeface="Malgun Gothic" pitchFamily="34" charset="0"/>
                <a:ea typeface="Malgun Gothic" pitchFamily="34" charset="-122"/>
                <a:cs typeface="Malgun Gothic" pitchFamily="34" charset="-120"/>
              </a:rPr>
              <a:t>7</a:t>
            </a:r>
            <a:endParaRPr lang="en-US" sz="2000" dirty="0"/>
          </a:p>
        </p:txBody>
      </p:sp>
      <p:sp>
        <p:nvSpPr>
          <p:cNvPr id="31" name="Text 29"/>
          <p:cNvSpPr txBox="1"/>
          <p:nvPr/>
        </p:nvSpPr>
        <p:spPr>
          <a:xfrm>
            <a:off x="6858000" y="2276856"/>
            <a:ext cx="4754880" cy="274320"/>
          </a:xfrm>
          <a:prstGeom prst="rect">
            <a:avLst/>
          </a:prstGeom>
          <a:noFill/>
          <a:ln/>
        </p:spPr>
        <p:txBody>
          <a:bodyPr wrap="square" lIns="0" tIns="0" rIns="0" bIns="0" rtlCol="0" anchor="t"/>
          <a:lstStyle/>
          <a:p>
            <a:pPr algn="l" indent="0" marL="0">
              <a:buNone/>
            </a:pPr>
            <a:r>
              <a:rPr lang="en-US" sz="1300" b="1" dirty="0">
                <a:solidFill>
                  <a:srgbClr val="15243B"/>
                </a:solidFill>
                <a:latin typeface="Malgun Gothic" pitchFamily="34" charset="0"/>
                <a:ea typeface="Malgun Gothic" pitchFamily="34" charset="-122"/>
                <a:cs typeface="Malgun Gothic" pitchFamily="34" charset="-120"/>
              </a:rPr>
              <a:t>Vector·정규화·attention</a:t>
            </a:r>
            <a:endParaRPr lang="en-US" sz="1300" dirty="0"/>
          </a:p>
        </p:txBody>
      </p:sp>
      <p:sp>
        <p:nvSpPr>
          <p:cNvPr id="32" name="Text 30"/>
          <p:cNvSpPr txBox="1"/>
          <p:nvPr/>
        </p:nvSpPr>
        <p:spPr>
          <a:xfrm>
            <a:off x="6858000" y="2551176"/>
            <a:ext cx="4800600" cy="292608"/>
          </a:xfrm>
          <a:prstGeom prst="rect">
            <a:avLst/>
          </a:prstGeom>
          <a:noFill/>
          <a:ln/>
        </p:spPr>
        <p:txBody>
          <a:bodyPr wrap="square" lIns="0" tIns="0" rIns="0" bIns="0" rtlCol="0" anchor="t"/>
          <a:lstStyle/>
          <a:p>
            <a:pPr algn="l" indent="0" marL="0">
              <a:buNone/>
            </a:pPr>
            <a:r>
              <a:rPr lang="en-US" sz="1000" dirty="0">
                <a:solidFill>
                  <a:srgbClr val="5B6B7F"/>
                </a:solidFill>
                <a:latin typeface="Malgun Gothic" pitchFamily="34" charset="0"/>
                <a:ea typeface="Malgun Gothic" pitchFamily="34" charset="-122"/>
                <a:cs typeface="Malgun Gothic" pitchFamily="34" charset="-120"/>
              </a:rPr>
              <a:t>SiLU 전개, VLEN, softmax, RMSNorm, RoPE, query-blocked attention</a:t>
            </a:r>
            <a:endParaRPr lang="en-US" sz="1000" dirty="0"/>
          </a:p>
        </p:txBody>
      </p:sp>
      <p:sp>
        <p:nvSpPr>
          <p:cNvPr id="33" name="Shape 31"/>
          <p:cNvSpPr/>
          <p:nvPr/>
        </p:nvSpPr>
        <p:spPr>
          <a:xfrm>
            <a:off x="6217920" y="2990088"/>
            <a:ext cx="5532120" cy="676656"/>
          </a:xfrm>
          <a:prstGeom prst="roundRect">
            <a:avLst>
              <a:gd name="adj" fmla="val 8108"/>
            </a:avLst>
          </a:prstGeom>
          <a:solidFill>
            <a:srgbClr val="FFFFFF"/>
          </a:solidFill>
          <a:ln w="12700">
            <a:solidFill>
              <a:srgbClr val="C9D3DF"/>
            </a:solidFill>
            <a:prstDash val="solid"/>
          </a:ln>
        </p:spPr>
      </p:sp>
      <p:sp>
        <p:nvSpPr>
          <p:cNvPr id="34" name="Text 32"/>
          <p:cNvSpPr txBox="1"/>
          <p:nvPr/>
        </p:nvSpPr>
        <p:spPr>
          <a:xfrm>
            <a:off x="6327648" y="3099816"/>
            <a:ext cx="457200" cy="457200"/>
          </a:xfrm>
          <a:prstGeom prst="rect">
            <a:avLst/>
          </a:prstGeom>
          <a:noFill/>
          <a:ln/>
        </p:spPr>
        <p:txBody>
          <a:bodyPr wrap="square" lIns="0" tIns="0" rIns="0" bIns="0" rtlCol="0" anchor="ctr"/>
          <a:lstStyle/>
          <a:p>
            <a:pPr algn="ctr" indent="0" marL="0">
              <a:buNone/>
            </a:pPr>
            <a:r>
              <a:rPr lang="en-US" sz="2000" b="1" dirty="0">
                <a:solidFill>
                  <a:srgbClr val="1F8A8A"/>
                </a:solidFill>
                <a:latin typeface="Malgun Gothic" pitchFamily="34" charset="0"/>
                <a:ea typeface="Malgun Gothic" pitchFamily="34" charset="-122"/>
                <a:cs typeface="Malgun Gothic" pitchFamily="34" charset="-120"/>
              </a:rPr>
              <a:t>8</a:t>
            </a:r>
            <a:endParaRPr lang="en-US" sz="2000" dirty="0"/>
          </a:p>
        </p:txBody>
      </p:sp>
      <p:sp>
        <p:nvSpPr>
          <p:cNvPr id="35" name="Text 33"/>
          <p:cNvSpPr txBox="1"/>
          <p:nvPr/>
        </p:nvSpPr>
        <p:spPr>
          <a:xfrm>
            <a:off x="6858000" y="3063240"/>
            <a:ext cx="4754880" cy="274320"/>
          </a:xfrm>
          <a:prstGeom prst="rect">
            <a:avLst/>
          </a:prstGeom>
          <a:noFill/>
          <a:ln/>
        </p:spPr>
        <p:txBody>
          <a:bodyPr wrap="square" lIns="0" tIns="0" rIns="0" bIns="0" rtlCol="0" anchor="t"/>
          <a:lstStyle/>
          <a:p>
            <a:pPr algn="l" indent="0" marL="0">
              <a:buNone/>
            </a:pPr>
            <a:r>
              <a:rPr lang="en-US" sz="1300" b="1" dirty="0">
                <a:solidFill>
                  <a:srgbClr val="15243B"/>
                </a:solidFill>
                <a:latin typeface="Malgun Gothic" pitchFamily="34" charset="0"/>
                <a:ea typeface="Malgun Gothic" pitchFamily="34" charset="-122"/>
                <a:cs typeface="Malgun Gothic" pitchFamily="34" charset="-120"/>
              </a:rPr>
              <a:t>메모리 계획</a:t>
            </a:r>
            <a:endParaRPr lang="en-US" sz="1300" dirty="0"/>
          </a:p>
        </p:txBody>
      </p:sp>
      <p:sp>
        <p:nvSpPr>
          <p:cNvPr id="36" name="Text 34"/>
          <p:cNvSpPr txBox="1"/>
          <p:nvPr/>
        </p:nvSpPr>
        <p:spPr>
          <a:xfrm>
            <a:off x="6858000" y="3337560"/>
            <a:ext cx="4800600" cy="292608"/>
          </a:xfrm>
          <a:prstGeom prst="rect">
            <a:avLst/>
          </a:prstGeom>
          <a:noFill/>
          <a:ln/>
        </p:spPr>
        <p:txBody>
          <a:bodyPr wrap="square" lIns="0" tIns="0" rIns="0" bIns="0" rtlCol="0" anchor="t"/>
          <a:lstStyle/>
          <a:p>
            <a:pPr algn="l" indent="0" marL="0">
              <a:buNone/>
            </a:pPr>
            <a:r>
              <a:rPr lang="en-US" sz="1000" dirty="0">
                <a:solidFill>
                  <a:srgbClr val="5B6B7F"/>
                </a:solidFill>
                <a:latin typeface="Malgun Gothic" pitchFamily="34" charset="0"/>
                <a:ea typeface="Malgun Gothic" pitchFamily="34" charset="-122"/>
                <a:cs typeface="Malgun Gothic" pitchFamily="34" charset="-120"/>
              </a:rPr>
              <a:t>DRAM pool, 수명, USMP, 커널 사이 SRAM 보관, 직접 저장, 주소 압축</a:t>
            </a:r>
            <a:endParaRPr lang="en-US" sz="1000" dirty="0"/>
          </a:p>
        </p:txBody>
      </p:sp>
      <p:sp>
        <p:nvSpPr>
          <p:cNvPr id="37" name="Shape 35"/>
          <p:cNvSpPr/>
          <p:nvPr/>
        </p:nvSpPr>
        <p:spPr>
          <a:xfrm>
            <a:off x="6217920" y="3776472"/>
            <a:ext cx="5532120" cy="676656"/>
          </a:xfrm>
          <a:prstGeom prst="roundRect">
            <a:avLst>
              <a:gd name="adj" fmla="val 8108"/>
            </a:avLst>
          </a:prstGeom>
          <a:solidFill>
            <a:srgbClr val="FFFFFF"/>
          </a:solidFill>
          <a:ln w="12700">
            <a:solidFill>
              <a:srgbClr val="C9D3DF"/>
            </a:solidFill>
            <a:prstDash val="solid"/>
          </a:ln>
        </p:spPr>
      </p:sp>
      <p:sp>
        <p:nvSpPr>
          <p:cNvPr id="38" name="Text 36"/>
          <p:cNvSpPr txBox="1"/>
          <p:nvPr/>
        </p:nvSpPr>
        <p:spPr>
          <a:xfrm>
            <a:off x="6327648" y="3886200"/>
            <a:ext cx="457200" cy="457200"/>
          </a:xfrm>
          <a:prstGeom prst="rect">
            <a:avLst/>
          </a:prstGeom>
          <a:noFill/>
          <a:ln/>
        </p:spPr>
        <p:txBody>
          <a:bodyPr wrap="square" lIns="0" tIns="0" rIns="0" bIns="0" rtlCol="0" anchor="ctr"/>
          <a:lstStyle/>
          <a:p>
            <a:pPr algn="ctr" indent="0" marL="0">
              <a:buNone/>
            </a:pPr>
            <a:r>
              <a:rPr lang="en-US" sz="2000" b="1" dirty="0">
                <a:solidFill>
                  <a:srgbClr val="1F8A8A"/>
                </a:solidFill>
                <a:latin typeface="Malgun Gothic" pitchFamily="34" charset="0"/>
                <a:ea typeface="Malgun Gothic" pitchFamily="34" charset="-122"/>
                <a:cs typeface="Malgun Gothic" pitchFamily="34" charset="-120"/>
              </a:rPr>
              <a:t>9</a:t>
            </a:r>
            <a:endParaRPr lang="en-US" sz="2000" dirty="0"/>
          </a:p>
        </p:txBody>
      </p:sp>
      <p:sp>
        <p:nvSpPr>
          <p:cNvPr id="39" name="Text 37"/>
          <p:cNvSpPr txBox="1"/>
          <p:nvPr/>
        </p:nvSpPr>
        <p:spPr>
          <a:xfrm>
            <a:off x="6858000" y="3849624"/>
            <a:ext cx="4754880" cy="274320"/>
          </a:xfrm>
          <a:prstGeom prst="rect">
            <a:avLst/>
          </a:prstGeom>
          <a:noFill/>
          <a:ln/>
        </p:spPr>
        <p:txBody>
          <a:bodyPr wrap="square" lIns="0" tIns="0" rIns="0" bIns="0" rtlCol="0" anchor="t"/>
          <a:lstStyle/>
          <a:p>
            <a:pPr algn="l" indent="0" marL="0">
              <a:buNone/>
            </a:pPr>
            <a:r>
              <a:rPr lang="en-US" sz="1300" b="1" dirty="0">
                <a:solidFill>
                  <a:srgbClr val="15243B"/>
                </a:solidFill>
                <a:latin typeface="Malgun Gothic" pitchFamily="34" charset="0"/>
                <a:ea typeface="Malgun Gothic" pitchFamily="34" charset="-122"/>
                <a:cs typeface="Malgun Gothic" pitchFamily="34" charset="-120"/>
              </a:rPr>
              <a:t>ISA·linker·runtime</a:t>
            </a:r>
            <a:endParaRPr lang="en-US" sz="1300" dirty="0"/>
          </a:p>
        </p:txBody>
      </p:sp>
      <p:sp>
        <p:nvSpPr>
          <p:cNvPr id="40" name="Text 38"/>
          <p:cNvSpPr txBox="1"/>
          <p:nvPr/>
        </p:nvSpPr>
        <p:spPr>
          <a:xfrm>
            <a:off x="6858000" y="4123944"/>
            <a:ext cx="4800600" cy="292608"/>
          </a:xfrm>
          <a:prstGeom prst="rect">
            <a:avLst/>
          </a:prstGeom>
          <a:noFill/>
          <a:ln/>
        </p:spPr>
        <p:txBody>
          <a:bodyPr wrap="square" lIns="0" tIns="0" rIns="0" bIns="0" rtlCol="0" anchor="t"/>
          <a:lstStyle/>
          <a:p>
            <a:pPr algn="l" indent="0" marL="0">
              <a:buNone/>
            </a:pPr>
            <a:r>
              <a:rPr lang="en-US" sz="1000" dirty="0">
                <a:solidFill>
                  <a:srgbClr val="5B6B7F"/>
                </a:solidFill>
                <a:latin typeface="Malgun Gothic" pitchFamily="34" charset="0"/>
                <a:ea typeface="Malgun Gothic" pitchFamily="34" charset="-122"/>
                <a:cs typeface="Malgun Gothic" pitchFamily="34" charset="-120"/>
              </a:rPr>
              <a:t>명령 인코딩 해독, linker, bundle, prefill/decode, KV append</a:t>
            </a:r>
            <a:endParaRPr lang="en-US" sz="1000" dirty="0"/>
          </a:p>
        </p:txBody>
      </p:sp>
      <p:sp>
        <p:nvSpPr>
          <p:cNvPr id="41" name="Shape 39"/>
          <p:cNvSpPr/>
          <p:nvPr/>
        </p:nvSpPr>
        <p:spPr>
          <a:xfrm>
            <a:off x="6217920" y="4562856"/>
            <a:ext cx="5532120" cy="676656"/>
          </a:xfrm>
          <a:prstGeom prst="roundRect">
            <a:avLst>
              <a:gd name="adj" fmla="val 8108"/>
            </a:avLst>
          </a:prstGeom>
          <a:solidFill>
            <a:srgbClr val="FFFFFF"/>
          </a:solidFill>
          <a:ln w="12700">
            <a:solidFill>
              <a:srgbClr val="C9D3DF"/>
            </a:solidFill>
            <a:prstDash val="solid"/>
          </a:ln>
        </p:spPr>
      </p:sp>
      <p:sp>
        <p:nvSpPr>
          <p:cNvPr id="42" name="Text 40"/>
          <p:cNvSpPr txBox="1"/>
          <p:nvPr/>
        </p:nvSpPr>
        <p:spPr>
          <a:xfrm>
            <a:off x="6327648" y="4672584"/>
            <a:ext cx="457200" cy="457200"/>
          </a:xfrm>
          <a:prstGeom prst="rect">
            <a:avLst/>
          </a:prstGeom>
          <a:noFill/>
          <a:ln/>
        </p:spPr>
        <p:txBody>
          <a:bodyPr wrap="square" lIns="0" tIns="0" rIns="0" bIns="0" rtlCol="0" anchor="ctr"/>
          <a:lstStyle/>
          <a:p>
            <a:pPr algn="ctr" indent="0" marL="0">
              <a:buNone/>
            </a:pPr>
            <a:r>
              <a:rPr lang="en-US" sz="2000" b="1" dirty="0">
                <a:solidFill>
                  <a:srgbClr val="1F8A8A"/>
                </a:solidFill>
                <a:latin typeface="Malgun Gothic" pitchFamily="34" charset="0"/>
                <a:ea typeface="Malgun Gothic" pitchFamily="34" charset="-122"/>
                <a:cs typeface="Malgun Gothic" pitchFamily="34" charset="-120"/>
              </a:rPr>
              <a:t>10</a:t>
            </a:r>
            <a:endParaRPr lang="en-US" sz="2000" dirty="0"/>
          </a:p>
        </p:txBody>
      </p:sp>
      <p:sp>
        <p:nvSpPr>
          <p:cNvPr id="43" name="Text 41"/>
          <p:cNvSpPr txBox="1"/>
          <p:nvPr/>
        </p:nvSpPr>
        <p:spPr>
          <a:xfrm>
            <a:off x="6858000" y="4636008"/>
            <a:ext cx="4754880" cy="274320"/>
          </a:xfrm>
          <a:prstGeom prst="rect">
            <a:avLst/>
          </a:prstGeom>
          <a:noFill/>
          <a:ln/>
        </p:spPr>
        <p:txBody>
          <a:bodyPr wrap="square" lIns="0" tIns="0" rIns="0" bIns="0" rtlCol="0" anchor="t"/>
          <a:lstStyle/>
          <a:p>
            <a:pPr algn="l" indent="0" marL="0">
              <a:buNone/>
            </a:pPr>
            <a:r>
              <a:rPr lang="en-US" sz="1300" b="1" dirty="0">
                <a:solidFill>
                  <a:srgbClr val="15243B"/>
                </a:solidFill>
                <a:latin typeface="Malgun Gothic" pitchFamily="34" charset="0"/>
                <a:ea typeface="Malgun Gothic" pitchFamily="34" charset="-122"/>
                <a:cs typeface="Malgun Gothic" pitchFamily="34" charset="-120"/>
              </a:rPr>
              <a:t>실험·한계·정리</a:t>
            </a:r>
            <a:endParaRPr lang="en-US" sz="1300" dirty="0"/>
          </a:p>
        </p:txBody>
      </p:sp>
      <p:sp>
        <p:nvSpPr>
          <p:cNvPr id="44" name="Text 42"/>
          <p:cNvSpPr txBox="1"/>
          <p:nvPr/>
        </p:nvSpPr>
        <p:spPr>
          <a:xfrm>
            <a:off x="6858000" y="4910328"/>
            <a:ext cx="4800600" cy="292608"/>
          </a:xfrm>
          <a:prstGeom prst="rect">
            <a:avLst/>
          </a:prstGeom>
          <a:noFill/>
          <a:ln/>
        </p:spPr>
        <p:txBody>
          <a:bodyPr wrap="square" lIns="0" tIns="0" rIns="0" bIns="0" rtlCol="0" anchor="t"/>
          <a:lstStyle/>
          <a:p>
            <a:pPr algn="l" indent="0" marL="0">
              <a:buNone/>
            </a:pPr>
            <a:r>
              <a:rPr lang="en-US" sz="1000" dirty="0">
                <a:solidFill>
                  <a:srgbClr val="5B6B7F"/>
                </a:solidFill>
                <a:latin typeface="Malgun Gothic" pitchFamily="34" charset="0"/>
                <a:ea typeface="Malgun Gothic" pitchFamily="34" charset="-122"/>
                <a:cs typeface="Malgun Gothic" pitchFamily="34" charset="-120"/>
              </a:rPr>
              <a:t>E1~E9 측정·E10 진행, 지원 경계, 남은 검토 목록, 부록(main, 양자화, API)</a:t>
            </a:r>
            <a:endParaRPr lang="en-US" sz="1000" dirty="0"/>
          </a:p>
        </p:txBody>
      </p:sp>
      <p:sp>
        <p:nvSpPr>
          <p:cNvPr id="45" name="Shape 43"/>
          <p:cNvSpPr/>
          <p:nvPr/>
        </p:nvSpPr>
        <p:spPr>
          <a:xfrm>
            <a:off x="457200" y="5486400"/>
            <a:ext cx="11274552" cy="420624"/>
          </a:xfrm>
          <a:prstGeom prst="roundRect">
            <a:avLst>
              <a:gd name="adj" fmla="val 10870"/>
            </a:avLst>
          </a:prstGeom>
          <a:solidFill>
            <a:srgbClr val="EEF2F6"/>
          </a:solidFill>
          <a:ln w="12700">
            <a:solidFill>
              <a:srgbClr val="EEF2F6"/>
            </a:solidFill>
            <a:prstDash val="solid"/>
          </a:ln>
        </p:spPr>
      </p:sp>
      <p:sp>
        <p:nvSpPr>
          <p:cNvPr id="46" name="Text 44"/>
          <p:cNvSpPr txBox="1"/>
          <p:nvPr/>
        </p:nvSpPr>
        <p:spPr>
          <a:xfrm>
            <a:off x="621792" y="55412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세 예제를 끝까지 사용: ① SiLU(X·Wᵀ+bias) [64,128]→[64,64]  ② X·W1·W2 두 matmul (SRAM 44 KiB)  ③ Llama 3.2 3B, prompt 7 tokens, capacity 9</a:t>
            </a:r>
            <a:endParaRPr lang="en-US" sz="1250" dirty="0"/>
          </a:p>
        </p:txBody>
      </p:sp>
      <p:sp>
        <p:nvSpPr>
          <p:cNvPr id="47" name="Text 4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48" name="Text 4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docs/README.md</a:t>
            </a:r>
            <a:endParaRPr lang="en-US" sz="850" dirty="0"/>
          </a:p>
        </p:txBody>
      </p:sp>
      <p:sp>
        <p:nvSpPr>
          <p:cNvPr id="49" name="Text 4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2 / 89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 · 전체 구조</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대상 장치: 세 층의 메모리와 고정된 수치 계약</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데이터가 실제로 어떻게 움직이는가: DRAM의 weight를 panel 단위로 SRAM에 올리고(GLOAD), SRAM의 64×64 tile을 연산장치에 넣고(LOAD), 결과를 SRAM에 내린 뒤(SAVE) DRAM으로 보냅니다(GSTORE).</a:t>
            </a:r>
            <a:endParaRPr lang="en-US" sz="1250" dirty="0"/>
          </a:p>
        </p:txBody>
      </p:sp>
      <p:sp>
        <p:nvSpPr>
          <p:cNvPr id="5" name="Text 3"/>
          <p:cNvSpPr txBox="1"/>
          <p:nvPr/>
        </p:nvSpPr>
        <p:spPr>
          <a:xfrm>
            <a:off x="457200" y="1371600"/>
            <a:ext cx="6492240" cy="219456"/>
          </a:xfrm>
          <a:prstGeom prst="rect">
            <a:avLst/>
          </a:prstGeom>
          <a:noFill/>
          <a:ln/>
        </p:spPr>
        <p:txBody>
          <a:bodyPr wrap="square" lIns="0" tIns="0" rIns="0" bIns="0" rtlCol="0" anchor="t"/>
          <a:lstStyle/>
          <a:p>
            <a:pPr algn="l" indent="0" marL="0">
              <a:buNone/>
            </a:pPr>
            <a:r>
              <a:rPr lang="en-US" sz="950" b="1" dirty="0">
                <a:solidFill>
                  <a:srgbClr val="D98A1E"/>
                </a:solidFill>
                <a:latin typeface="Malgun Gothic" pitchFamily="34" charset="0"/>
                <a:ea typeface="Malgun Gothic" pitchFamily="34" charset="-122"/>
                <a:cs typeface="Malgun Gothic" pitchFamily="34" charset="-120"/>
              </a:rPr>
              <a:t>DRAM / global image  (주소 단위: 32-bit cell = 4 B, DMA만 접근)</a:t>
            </a:r>
            <a:endParaRPr lang="en-US" sz="950" dirty="0"/>
          </a:p>
        </p:txBody>
      </p:sp>
      <p:sp>
        <p:nvSpPr>
          <p:cNvPr id="6" name="Shape 4"/>
          <p:cNvSpPr/>
          <p:nvPr/>
        </p:nvSpPr>
        <p:spPr>
          <a:xfrm>
            <a:off x="457200" y="1609344"/>
            <a:ext cx="6492240" cy="457200"/>
          </a:xfrm>
          <a:prstGeom prst="rect">
            <a:avLst/>
          </a:prstGeom>
          <a:solidFill>
            <a:srgbClr val="EEF2F6"/>
          </a:solidFill>
          <a:ln w="9525">
            <a:solidFill>
              <a:srgbClr val="C9D3DF"/>
            </a:solidFill>
            <a:prstDash val="solid"/>
          </a:ln>
        </p:spPr>
      </p:sp>
      <p:sp>
        <p:nvSpPr>
          <p:cNvPr id="7" name="Shape 5"/>
          <p:cNvSpPr/>
          <p:nvPr/>
        </p:nvSpPr>
        <p:spPr>
          <a:xfrm>
            <a:off x="457200" y="1609344"/>
            <a:ext cx="3375965" cy="457200"/>
          </a:xfrm>
          <a:prstGeom prst="rect">
            <a:avLst/>
          </a:prstGeom>
          <a:solidFill>
            <a:srgbClr val="FFF1DC"/>
          </a:solidFill>
          <a:ln w="12700">
            <a:solidFill>
              <a:srgbClr val="D98A1E"/>
            </a:solidFill>
            <a:prstDash val="solid"/>
          </a:ln>
        </p:spPr>
      </p:sp>
      <p:sp>
        <p:nvSpPr>
          <p:cNvPr id="8" name="Text 6"/>
          <p:cNvSpPr txBox="1"/>
          <p:nvPr/>
        </p:nvSpPr>
        <p:spPr>
          <a:xfrm>
            <a:off x="457200" y="1609344"/>
            <a:ext cx="3375965"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weight (Wᵀ, 층마다 192 MiB)</a:t>
            </a:r>
            <a:endParaRPr lang="en-US" sz="850" dirty="0"/>
          </a:p>
        </p:txBody>
      </p:sp>
      <p:sp>
        <p:nvSpPr>
          <p:cNvPr id="9" name="Text 7"/>
          <p:cNvSpPr txBox="1"/>
          <p:nvPr/>
        </p:nvSpPr>
        <p:spPr>
          <a:xfrm>
            <a:off x="457200" y="1837944"/>
            <a:ext cx="3375965"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panel 단위로 읽음</a:t>
            </a:r>
            <a:endParaRPr lang="en-US" sz="650" dirty="0"/>
          </a:p>
        </p:txBody>
      </p:sp>
      <p:sp>
        <p:nvSpPr>
          <p:cNvPr id="10" name="Shape 8"/>
          <p:cNvSpPr/>
          <p:nvPr/>
        </p:nvSpPr>
        <p:spPr>
          <a:xfrm>
            <a:off x="3833165" y="1609344"/>
            <a:ext cx="908914" cy="457200"/>
          </a:xfrm>
          <a:prstGeom prst="rect">
            <a:avLst/>
          </a:prstGeom>
          <a:solidFill>
            <a:srgbClr val="EEF1F5"/>
          </a:solidFill>
          <a:ln w="12700">
            <a:solidFill>
              <a:srgbClr val="5B6B7F"/>
            </a:solidFill>
            <a:prstDash val="solid"/>
          </a:ln>
        </p:spPr>
      </p:sp>
      <p:sp>
        <p:nvSpPr>
          <p:cNvPr id="11" name="Text 9"/>
          <p:cNvSpPr txBox="1"/>
          <p:nvPr/>
        </p:nvSpPr>
        <p:spPr>
          <a:xfrm>
            <a:off x="3833165" y="1609344"/>
            <a:ext cx="908914"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입력</a:t>
            </a:r>
            <a:endParaRPr lang="en-US" sz="850" dirty="0"/>
          </a:p>
        </p:txBody>
      </p:sp>
      <p:sp>
        <p:nvSpPr>
          <p:cNvPr id="12" name="Text 10"/>
          <p:cNvSpPr txBox="1"/>
          <p:nvPr/>
        </p:nvSpPr>
        <p:spPr>
          <a:xfrm>
            <a:off x="3833165" y="1837944"/>
            <a:ext cx="908914"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embeds·cos/sin·mask</a:t>
            </a:r>
            <a:endParaRPr lang="en-US" sz="650" dirty="0"/>
          </a:p>
        </p:txBody>
      </p:sp>
      <p:sp>
        <p:nvSpPr>
          <p:cNvPr id="13" name="Shape 11"/>
          <p:cNvSpPr/>
          <p:nvPr/>
        </p:nvSpPr>
        <p:spPr>
          <a:xfrm>
            <a:off x="4742078" y="1609344"/>
            <a:ext cx="1298448" cy="457200"/>
          </a:xfrm>
          <a:prstGeom prst="rect">
            <a:avLst/>
          </a:prstGeom>
          <a:solidFill>
            <a:srgbClr val="FFF6DB"/>
          </a:solidFill>
          <a:ln w="12700">
            <a:solidFill>
              <a:srgbClr val="B7791F"/>
            </a:solidFill>
            <a:prstDash val="solid"/>
          </a:ln>
        </p:spPr>
      </p:sp>
      <p:sp>
        <p:nvSpPr>
          <p:cNvPr id="14" name="Text 12"/>
          <p:cNvSpPr txBox="1"/>
          <p:nvPr/>
        </p:nvSpPr>
        <p:spPr>
          <a:xfrm>
            <a:off x="4742078" y="1609344"/>
            <a:ext cx="1298448"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persistent KV cache</a:t>
            </a:r>
            <a:endParaRPr lang="en-US" sz="850" dirty="0"/>
          </a:p>
        </p:txBody>
      </p:sp>
      <p:sp>
        <p:nvSpPr>
          <p:cNvPr id="15" name="Text 13"/>
          <p:cNvSpPr txBox="1"/>
          <p:nvPr/>
        </p:nvSpPr>
        <p:spPr>
          <a:xfrm>
            <a:off x="4742078" y="1837944"/>
            <a:ext cx="1298448"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[28,8,128,C]</a:t>
            </a:r>
            <a:endParaRPr lang="en-US" sz="650" dirty="0"/>
          </a:p>
        </p:txBody>
      </p:sp>
      <p:sp>
        <p:nvSpPr>
          <p:cNvPr id="16" name="Shape 14"/>
          <p:cNvSpPr/>
          <p:nvPr/>
        </p:nvSpPr>
        <p:spPr>
          <a:xfrm>
            <a:off x="6040526" y="1609344"/>
            <a:ext cx="908914" cy="457200"/>
          </a:xfrm>
          <a:prstGeom prst="rect">
            <a:avLst/>
          </a:prstGeom>
          <a:solidFill>
            <a:srgbClr val="ECE6FA"/>
          </a:solidFill>
          <a:ln w="12700">
            <a:solidFill>
              <a:srgbClr val="6C4FBF"/>
            </a:solidFill>
            <a:prstDash val="solid"/>
          </a:ln>
        </p:spPr>
      </p:sp>
      <p:sp>
        <p:nvSpPr>
          <p:cNvPr id="17" name="Text 15"/>
          <p:cNvSpPr txBox="1"/>
          <p:nvPr/>
        </p:nvSpPr>
        <p:spPr>
          <a:xfrm>
            <a:off x="6040526" y="1609344"/>
            <a:ext cx="908914"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출력</a:t>
            </a:r>
            <a:endParaRPr lang="en-US" sz="850" dirty="0"/>
          </a:p>
        </p:txBody>
      </p:sp>
      <p:sp>
        <p:nvSpPr>
          <p:cNvPr id="18" name="Text 16"/>
          <p:cNvSpPr txBox="1"/>
          <p:nvPr/>
        </p:nvSpPr>
        <p:spPr>
          <a:xfrm>
            <a:off x="6040526" y="1837944"/>
            <a:ext cx="908914"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logits·K/V_new</a:t>
            </a:r>
            <a:endParaRPr lang="en-US" sz="650" dirty="0"/>
          </a:p>
        </p:txBody>
      </p:sp>
      <p:sp>
        <p:nvSpPr>
          <p:cNvPr id="19" name="Text 17"/>
          <p:cNvSpPr txBox="1"/>
          <p:nvPr/>
        </p:nvSpPr>
        <p:spPr>
          <a:xfrm>
            <a:off x="457200" y="2743200"/>
            <a:ext cx="6492240" cy="219456"/>
          </a:xfrm>
          <a:prstGeom prst="rect">
            <a:avLst/>
          </a:prstGeom>
          <a:noFill/>
          <a:ln/>
        </p:spPr>
        <p:txBody>
          <a:bodyPr wrap="square" lIns="0" tIns="0" rIns="0" bIns="0" rtlCol="0" anchor="t"/>
          <a:lstStyle/>
          <a:p>
            <a:pPr algn="l" indent="0" marL="0">
              <a:buNone/>
            </a:pPr>
            <a:r>
              <a:rPr lang="en-US" sz="950" b="1" dirty="0">
                <a:solidFill>
                  <a:srgbClr val="1F8A8A"/>
                </a:solidFill>
                <a:latin typeface="Malgun Gothic" pitchFamily="34" charset="0"/>
                <a:ea typeface="Malgun Gothic" pitchFamily="34" charset="-122"/>
                <a:cs typeface="Malgun Gothic" pitchFamily="34" charset="-120"/>
              </a:rPr>
              <a:t>SRAM 8 MiB  (주소 단위: nibble, fp16 = 4 nibbles, 8-nibble 정렬)</a:t>
            </a:r>
            <a:endParaRPr lang="en-US" sz="950" dirty="0"/>
          </a:p>
        </p:txBody>
      </p:sp>
      <p:sp>
        <p:nvSpPr>
          <p:cNvPr id="20" name="Shape 18"/>
          <p:cNvSpPr/>
          <p:nvPr/>
        </p:nvSpPr>
        <p:spPr>
          <a:xfrm>
            <a:off x="457200" y="2980944"/>
            <a:ext cx="6492240" cy="457200"/>
          </a:xfrm>
          <a:prstGeom prst="rect">
            <a:avLst/>
          </a:prstGeom>
          <a:solidFill>
            <a:srgbClr val="EEF2F6"/>
          </a:solidFill>
          <a:ln w="9525">
            <a:solidFill>
              <a:srgbClr val="C9D3DF"/>
            </a:solidFill>
            <a:prstDash val="solid"/>
          </a:ln>
        </p:spPr>
      </p:sp>
      <p:sp>
        <p:nvSpPr>
          <p:cNvPr id="21" name="Shape 19"/>
          <p:cNvSpPr/>
          <p:nvPr/>
        </p:nvSpPr>
        <p:spPr>
          <a:xfrm>
            <a:off x="457200" y="2980944"/>
            <a:ext cx="454457" cy="457200"/>
          </a:xfrm>
          <a:prstGeom prst="rect">
            <a:avLst/>
          </a:prstGeom>
          <a:solidFill>
            <a:srgbClr val="EEF1F5"/>
          </a:solidFill>
          <a:ln w="12700">
            <a:solidFill>
              <a:srgbClr val="5B6B7F"/>
            </a:solidFill>
            <a:prstDash val="solid"/>
          </a:ln>
        </p:spPr>
      </p:sp>
      <p:sp>
        <p:nvSpPr>
          <p:cNvPr id="22" name="Text 20"/>
          <p:cNvSpPr txBox="1"/>
          <p:nvPr/>
        </p:nvSpPr>
        <p:spPr>
          <a:xfrm>
            <a:off x="457200" y="2980944"/>
            <a:ext cx="454457"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pool</a:t>
            </a:r>
            <a:endParaRPr lang="en-US" sz="850" dirty="0"/>
          </a:p>
        </p:txBody>
      </p:sp>
      <p:sp>
        <p:nvSpPr>
          <p:cNvPr id="23" name="Text 21"/>
          <p:cNvSpPr txBox="1"/>
          <p:nvPr/>
        </p:nvSpPr>
        <p:spPr>
          <a:xfrm>
            <a:off x="457200" y="3209544"/>
            <a:ext cx="454457"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literal·scratch</a:t>
            </a:r>
            <a:endParaRPr lang="en-US" sz="650" dirty="0"/>
          </a:p>
        </p:txBody>
      </p:sp>
      <p:sp>
        <p:nvSpPr>
          <p:cNvPr id="24" name="Shape 22"/>
          <p:cNvSpPr/>
          <p:nvPr/>
        </p:nvSpPr>
        <p:spPr>
          <a:xfrm>
            <a:off x="911657" y="2980944"/>
            <a:ext cx="1493215" cy="457200"/>
          </a:xfrm>
          <a:prstGeom prst="rect">
            <a:avLst/>
          </a:prstGeom>
          <a:solidFill>
            <a:srgbClr val="DDF3F0"/>
          </a:solidFill>
          <a:ln w="12700">
            <a:solidFill>
              <a:srgbClr val="1F8A8A"/>
            </a:solidFill>
            <a:prstDash val="solid"/>
          </a:ln>
        </p:spPr>
      </p:sp>
      <p:sp>
        <p:nvSpPr>
          <p:cNvPr id="25" name="Text 23"/>
          <p:cNvSpPr txBox="1"/>
          <p:nvPr/>
        </p:nvSpPr>
        <p:spPr>
          <a:xfrm>
            <a:off x="911657" y="2980944"/>
            <a:ext cx="1493215"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X panel</a:t>
            </a:r>
            <a:endParaRPr lang="en-US" sz="850" dirty="0"/>
          </a:p>
        </p:txBody>
      </p:sp>
      <p:sp>
        <p:nvSpPr>
          <p:cNvPr id="26" name="Text 24"/>
          <p:cNvSpPr txBox="1"/>
          <p:nvPr/>
        </p:nvSpPr>
        <p:spPr>
          <a:xfrm>
            <a:off x="911657" y="3209544"/>
            <a:ext cx="1493215"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입력 activation</a:t>
            </a:r>
            <a:endParaRPr lang="en-US" sz="650" dirty="0"/>
          </a:p>
        </p:txBody>
      </p:sp>
      <p:sp>
        <p:nvSpPr>
          <p:cNvPr id="27" name="Shape 25"/>
          <p:cNvSpPr/>
          <p:nvPr/>
        </p:nvSpPr>
        <p:spPr>
          <a:xfrm>
            <a:off x="2404872" y="2980944"/>
            <a:ext cx="1493215" cy="457200"/>
          </a:xfrm>
          <a:prstGeom prst="rect">
            <a:avLst/>
          </a:prstGeom>
          <a:solidFill>
            <a:srgbClr val="FFF1DC"/>
          </a:solidFill>
          <a:ln w="12700">
            <a:solidFill>
              <a:srgbClr val="D98A1E"/>
            </a:solidFill>
            <a:prstDash val="solid"/>
          </a:ln>
        </p:spPr>
      </p:sp>
      <p:sp>
        <p:nvSpPr>
          <p:cNvPr id="28" name="Text 26"/>
          <p:cNvSpPr txBox="1"/>
          <p:nvPr/>
        </p:nvSpPr>
        <p:spPr>
          <a:xfrm>
            <a:off x="2404872" y="2980944"/>
            <a:ext cx="1493215"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W panel j</a:t>
            </a:r>
            <a:endParaRPr lang="en-US" sz="850" dirty="0"/>
          </a:p>
        </p:txBody>
      </p:sp>
      <p:sp>
        <p:nvSpPr>
          <p:cNvPr id="29" name="Text 27"/>
          <p:cNvSpPr txBox="1"/>
          <p:nvPr/>
        </p:nvSpPr>
        <p:spPr>
          <a:xfrm>
            <a:off x="2404872" y="3209544"/>
            <a:ext cx="1493215"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이번에 쓰는 weight 조각</a:t>
            </a:r>
            <a:endParaRPr lang="en-US" sz="650" dirty="0"/>
          </a:p>
        </p:txBody>
      </p:sp>
      <p:sp>
        <p:nvSpPr>
          <p:cNvPr id="30" name="Shape 28"/>
          <p:cNvSpPr/>
          <p:nvPr/>
        </p:nvSpPr>
        <p:spPr>
          <a:xfrm>
            <a:off x="3898087" y="2980944"/>
            <a:ext cx="1233526" cy="457200"/>
          </a:xfrm>
          <a:prstGeom prst="rect">
            <a:avLst/>
          </a:prstGeom>
          <a:solidFill>
            <a:srgbClr val="E3EEFB"/>
          </a:solidFill>
          <a:ln w="12700">
            <a:solidFill>
              <a:srgbClr val="2F6DB5"/>
            </a:solidFill>
            <a:prstDash val="solid"/>
          </a:ln>
        </p:spPr>
      </p:sp>
      <p:sp>
        <p:nvSpPr>
          <p:cNvPr id="31" name="Text 29"/>
          <p:cNvSpPr txBox="1"/>
          <p:nvPr/>
        </p:nvSpPr>
        <p:spPr>
          <a:xfrm>
            <a:off x="3898087" y="2980944"/>
            <a:ext cx="1233526"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출력 tile · 임시</a:t>
            </a:r>
            <a:endParaRPr lang="en-US" sz="850" dirty="0"/>
          </a:p>
        </p:txBody>
      </p:sp>
      <p:sp>
        <p:nvSpPr>
          <p:cNvPr id="32" name="Text 30"/>
          <p:cNvSpPr txBox="1"/>
          <p:nvPr/>
        </p:nvSpPr>
        <p:spPr>
          <a:xfrm>
            <a:off x="3898087" y="3209544"/>
            <a:ext cx="1233526"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USMP가 offset 배치</a:t>
            </a:r>
            <a:endParaRPr lang="en-US" sz="650" dirty="0"/>
          </a:p>
        </p:txBody>
      </p:sp>
      <p:sp>
        <p:nvSpPr>
          <p:cNvPr id="33" name="Shape 31"/>
          <p:cNvSpPr/>
          <p:nvPr/>
        </p:nvSpPr>
        <p:spPr>
          <a:xfrm>
            <a:off x="5131613" y="2980944"/>
            <a:ext cx="1817827" cy="457200"/>
          </a:xfrm>
          <a:prstGeom prst="rect">
            <a:avLst/>
          </a:prstGeom>
          <a:solidFill>
            <a:srgbClr val="FFF6DB"/>
          </a:solidFill>
          <a:ln w="12700">
            <a:solidFill>
              <a:srgbClr val="B7791F"/>
            </a:solidFill>
            <a:prstDash val="solid"/>
          </a:ln>
        </p:spPr>
      </p:sp>
      <p:sp>
        <p:nvSpPr>
          <p:cNvPr id="34" name="Text 32"/>
          <p:cNvSpPr txBox="1"/>
          <p:nvPr/>
        </p:nvSpPr>
        <p:spPr>
          <a:xfrm>
            <a:off x="5131613" y="2980944"/>
            <a:ext cx="1817827"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커널 사이 보관값</a:t>
            </a:r>
            <a:endParaRPr lang="en-US" sz="850" dirty="0"/>
          </a:p>
        </p:txBody>
      </p:sp>
      <p:sp>
        <p:nvSpPr>
          <p:cNvPr id="35" name="Text 33"/>
          <p:cNvSpPr txBox="1"/>
          <p:nvPr/>
        </p:nvSpPr>
        <p:spPr>
          <a:xfrm>
            <a:off x="5131613" y="3209544"/>
            <a:ext cx="1817827"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top-down 예약 (8장)</a:t>
            </a:r>
            <a:endParaRPr lang="en-US" sz="650" dirty="0"/>
          </a:p>
        </p:txBody>
      </p:sp>
      <p:sp>
        <p:nvSpPr>
          <p:cNvPr id="36" name="Shape 34"/>
          <p:cNvSpPr/>
          <p:nvPr/>
        </p:nvSpPr>
        <p:spPr>
          <a:xfrm>
            <a:off x="594360" y="4224528"/>
            <a:ext cx="1051560" cy="1051560"/>
          </a:xfrm>
          <a:prstGeom prst="rect">
            <a:avLst/>
          </a:prstGeom>
          <a:solidFill>
            <a:srgbClr val="ECE6FA"/>
          </a:solidFill>
          <a:ln w="12700">
            <a:solidFill>
              <a:srgbClr val="6C4FBF"/>
            </a:solidFill>
            <a:prstDash val="solid"/>
          </a:ln>
        </p:spPr>
      </p:sp>
      <p:sp>
        <p:nvSpPr>
          <p:cNvPr id="37" name="Shape 35"/>
          <p:cNvSpPr/>
          <p:nvPr/>
        </p:nvSpPr>
        <p:spPr>
          <a:xfrm>
            <a:off x="725805" y="4224528"/>
            <a:ext cx="914" cy="1051560"/>
          </a:xfrm>
          <a:prstGeom prst="line">
            <a:avLst/>
          </a:prstGeom>
          <a:noFill/>
          <a:ln w="5080">
            <a:solidFill>
              <a:srgbClr val="D5DCE5"/>
            </a:solidFill>
            <a:prstDash val="solid"/>
          </a:ln>
        </p:spPr>
      </p:sp>
      <p:sp>
        <p:nvSpPr>
          <p:cNvPr id="38" name="Shape 36"/>
          <p:cNvSpPr/>
          <p:nvPr/>
        </p:nvSpPr>
        <p:spPr>
          <a:xfrm>
            <a:off x="857250" y="4224528"/>
            <a:ext cx="914" cy="1051560"/>
          </a:xfrm>
          <a:prstGeom prst="line">
            <a:avLst/>
          </a:prstGeom>
          <a:noFill/>
          <a:ln w="5080">
            <a:solidFill>
              <a:srgbClr val="D5DCE5"/>
            </a:solidFill>
            <a:prstDash val="solid"/>
          </a:ln>
        </p:spPr>
      </p:sp>
      <p:sp>
        <p:nvSpPr>
          <p:cNvPr id="39" name="Shape 37"/>
          <p:cNvSpPr/>
          <p:nvPr/>
        </p:nvSpPr>
        <p:spPr>
          <a:xfrm>
            <a:off x="988695" y="4224528"/>
            <a:ext cx="914" cy="1051560"/>
          </a:xfrm>
          <a:prstGeom prst="line">
            <a:avLst/>
          </a:prstGeom>
          <a:noFill/>
          <a:ln w="5080">
            <a:solidFill>
              <a:srgbClr val="D5DCE5"/>
            </a:solidFill>
            <a:prstDash val="solid"/>
          </a:ln>
        </p:spPr>
      </p:sp>
      <p:sp>
        <p:nvSpPr>
          <p:cNvPr id="40" name="Shape 38"/>
          <p:cNvSpPr/>
          <p:nvPr/>
        </p:nvSpPr>
        <p:spPr>
          <a:xfrm>
            <a:off x="1120140" y="4224528"/>
            <a:ext cx="914" cy="1051560"/>
          </a:xfrm>
          <a:prstGeom prst="line">
            <a:avLst/>
          </a:prstGeom>
          <a:noFill/>
          <a:ln w="5080">
            <a:solidFill>
              <a:srgbClr val="D5DCE5"/>
            </a:solidFill>
            <a:prstDash val="solid"/>
          </a:ln>
        </p:spPr>
      </p:sp>
      <p:sp>
        <p:nvSpPr>
          <p:cNvPr id="41" name="Shape 39"/>
          <p:cNvSpPr/>
          <p:nvPr/>
        </p:nvSpPr>
        <p:spPr>
          <a:xfrm>
            <a:off x="1251585" y="4224528"/>
            <a:ext cx="914" cy="1051560"/>
          </a:xfrm>
          <a:prstGeom prst="line">
            <a:avLst/>
          </a:prstGeom>
          <a:noFill/>
          <a:ln w="5080">
            <a:solidFill>
              <a:srgbClr val="D5DCE5"/>
            </a:solidFill>
            <a:prstDash val="solid"/>
          </a:ln>
        </p:spPr>
      </p:sp>
      <p:sp>
        <p:nvSpPr>
          <p:cNvPr id="42" name="Shape 40"/>
          <p:cNvSpPr/>
          <p:nvPr/>
        </p:nvSpPr>
        <p:spPr>
          <a:xfrm>
            <a:off x="1383030" y="4224528"/>
            <a:ext cx="914" cy="1051560"/>
          </a:xfrm>
          <a:prstGeom prst="line">
            <a:avLst/>
          </a:prstGeom>
          <a:noFill/>
          <a:ln w="5080">
            <a:solidFill>
              <a:srgbClr val="D5DCE5"/>
            </a:solidFill>
            <a:prstDash val="solid"/>
          </a:ln>
        </p:spPr>
      </p:sp>
      <p:sp>
        <p:nvSpPr>
          <p:cNvPr id="43" name="Shape 41"/>
          <p:cNvSpPr/>
          <p:nvPr/>
        </p:nvSpPr>
        <p:spPr>
          <a:xfrm>
            <a:off x="1514475" y="4224528"/>
            <a:ext cx="914" cy="1051560"/>
          </a:xfrm>
          <a:prstGeom prst="line">
            <a:avLst/>
          </a:prstGeom>
          <a:noFill/>
          <a:ln w="5080">
            <a:solidFill>
              <a:srgbClr val="D5DCE5"/>
            </a:solidFill>
            <a:prstDash val="solid"/>
          </a:ln>
        </p:spPr>
      </p:sp>
      <p:sp>
        <p:nvSpPr>
          <p:cNvPr id="44" name="Shape 42"/>
          <p:cNvSpPr/>
          <p:nvPr/>
        </p:nvSpPr>
        <p:spPr>
          <a:xfrm>
            <a:off x="594360" y="4355973"/>
            <a:ext cx="1051560" cy="914"/>
          </a:xfrm>
          <a:prstGeom prst="line">
            <a:avLst/>
          </a:prstGeom>
          <a:noFill/>
          <a:ln w="5080">
            <a:solidFill>
              <a:srgbClr val="D5DCE5"/>
            </a:solidFill>
            <a:prstDash val="solid"/>
          </a:ln>
        </p:spPr>
      </p:sp>
      <p:sp>
        <p:nvSpPr>
          <p:cNvPr id="45" name="Shape 43"/>
          <p:cNvSpPr/>
          <p:nvPr/>
        </p:nvSpPr>
        <p:spPr>
          <a:xfrm>
            <a:off x="594360" y="4487418"/>
            <a:ext cx="1051560" cy="914"/>
          </a:xfrm>
          <a:prstGeom prst="line">
            <a:avLst/>
          </a:prstGeom>
          <a:noFill/>
          <a:ln w="5080">
            <a:solidFill>
              <a:srgbClr val="D5DCE5"/>
            </a:solidFill>
            <a:prstDash val="solid"/>
          </a:ln>
        </p:spPr>
      </p:sp>
      <p:sp>
        <p:nvSpPr>
          <p:cNvPr id="46" name="Shape 44"/>
          <p:cNvSpPr/>
          <p:nvPr/>
        </p:nvSpPr>
        <p:spPr>
          <a:xfrm>
            <a:off x="594360" y="4618863"/>
            <a:ext cx="1051560" cy="914"/>
          </a:xfrm>
          <a:prstGeom prst="line">
            <a:avLst/>
          </a:prstGeom>
          <a:noFill/>
          <a:ln w="5080">
            <a:solidFill>
              <a:srgbClr val="D5DCE5"/>
            </a:solidFill>
            <a:prstDash val="solid"/>
          </a:ln>
        </p:spPr>
      </p:sp>
      <p:sp>
        <p:nvSpPr>
          <p:cNvPr id="47" name="Shape 45"/>
          <p:cNvSpPr/>
          <p:nvPr/>
        </p:nvSpPr>
        <p:spPr>
          <a:xfrm>
            <a:off x="594360" y="4750308"/>
            <a:ext cx="1051560" cy="914"/>
          </a:xfrm>
          <a:prstGeom prst="line">
            <a:avLst/>
          </a:prstGeom>
          <a:noFill/>
          <a:ln w="5080">
            <a:solidFill>
              <a:srgbClr val="D5DCE5"/>
            </a:solidFill>
            <a:prstDash val="solid"/>
          </a:ln>
        </p:spPr>
      </p:sp>
      <p:sp>
        <p:nvSpPr>
          <p:cNvPr id="48" name="Shape 46"/>
          <p:cNvSpPr/>
          <p:nvPr/>
        </p:nvSpPr>
        <p:spPr>
          <a:xfrm>
            <a:off x="594360" y="4881753"/>
            <a:ext cx="1051560" cy="914"/>
          </a:xfrm>
          <a:prstGeom prst="line">
            <a:avLst/>
          </a:prstGeom>
          <a:noFill/>
          <a:ln w="5080">
            <a:solidFill>
              <a:srgbClr val="D5DCE5"/>
            </a:solidFill>
            <a:prstDash val="solid"/>
          </a:ln>
        </p:spPr>
      </p:sp>
      <p:sp>
        <p:nvSpPr>
          <p:cNvPr id="49" name="Shape 47"/>
          <p:cNvSpPr/>
          <p:nvPr/>
        </p:nvSpPr>
        <p:spPr>
          <a:xfrm>
            <a:off x="594360" y="5013198"/>
            <a:ext cx="1051560" cy="914"/>
          </a:xfrm>
          <a:prstGeom prst="line">
            <a:avLst/>
          </a:prstGeom>
          <a:noFill/>
          <a:ln w="5080">
            <a:solidFill>
              <a:srgbClr val="D5DCE5"/>
            </a:solidFill>
            <a:prstDash val="solid"/>
          </a:ln>
        </p:spPr>
      </p:sp>
      <p:sp>
        <p:nvSpPr>
          <p:cNvPr id="50" name="Shape 48"/>
          <p:cNvSpPr/>
          <p:nvPr/>
        </p:nvSpPr>
        <p:spPr>
          <a:xfrm>
            <a:off x="594360" y="5144643"/>
            <a:ext cx="1051560" cy="914"/>
          </a:xfrm>
          <a:prstGeom prst="line">
            <a:avLst/>
          </a:prstGeom>
          <a:noFill/>
          <a:ln w="5080">
            <a:solidFill>
              <a:srgbClr val="D5DCE5"/>
            </a:solidFill>
            <a:prstDash val="solid"/>
          </a:ln>
        </p:spPr>
      </p:sp>
      <p:sp>
        <p:nvSpPr>
          <p:cNvPr id="51" name="Text 49"/>
          <p:cNvSpPr txBox="1"/>
          <p:nvPr/>
        </p:nvSpPr>
        <p:spPr>
          <a:xfrm>
            <a:off x="594360" y="3995928"/>
            <a:ext cx="1280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Matrix unit 64×64</a:t>
            </a:r>
            <a:endParaRPr lang="en-US" sz="850" dirty="0"/>
          </a:p>
        </p:txBody>
      </p:sp>
      <p:sp>
        <p:nvSpPr>
          <p:cNvPr id="52" name="Text 50"/>
          <p:cNvSpPr txBox="1"/>
          <p:nvPr/>
        </p:nvSpPr>
        <p:spPr>
          <a:xfrm>
            <a:off x="594360" y="5312664"/>
            <a:ext cx="292608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FP32 accumulator ×1 · M_MUL MAC bit로 K 누산</a:t>
            </a:r>
            <a:endParaRPr lang="en-US" sz="750" dirty="0"/>
          </a:p>
        </p:txBody>
      </p:sp>
      <p:sp>
        <p:nvSpPr>
          <p:cNvPr id="53" name="Shape 51"/>
          <p:cNvSpPr/>
          <p:nvPr/>
        </p:nvSpPr>
        <p:spPr>
          <a:xfrm>
            <a:off x="2651760" y="4526280"/>
            <a:ext cx="205740" cy="347472"/>
          </a:xfrm>
          <a:prstGeom prst="rect">
            <a:avLst/>
          </a:prstGeom>
          <a:solidFill>
            <a:srgbClr val="ECE6FA"/>
          </a:solidFill>
          <a:ln w="6350">
            <a:solidFill>
              <a:srgbClr val="6C4FBF"/>
            </a:solidFill>
            <a:prstDash val="solid"/>
          </a:ln>
        </p:spPr>
      </p:sp>
      <p:sp>
        <p:nvSpPr>
          <p:cNvPr id="54" name="Text 52"/>
          <p:cNvSpPr txBox="1"/>
          <p:nvPr/>
        </p:nvSpPr>
        <p:spPr>
          <a:xfrm>
            <a:off x="2651760" y="4526280"/>
            <a:ext cx="205740" cy="347472"/>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0</a:t>
            </a:r>
            <a:endParaRPr lang="en-US" sz="750" dirty="0"/>
          </a:p>
        </p:txBody>
      </p:sp>
      <p:sp>
        <p:nvSpPr>
          <p:cNvPr id="55" name="Shape 53"/>
          <p:cNvSpPr/>
          <p:nvPr/>
        </p:nvSpPr>
        <p:spPr>
          <a:xfrm>
            <a:off x="2857500" y="4526280"/>
            <a:ext cx="205740" cy="347472"/>
          </a:xfrm>
          <a:prstGeom prst="rect">
            <a:avLst/>
          </a:prstGeom>
          <a:solidFill>
            <a:srgbClr val="ECE6FA"/>
          </a:solidFill>
          <a:ln w="6350">
            <a:solidFill>
              <a:srgbClr val="6C4FBF"/>
            </a:solidFill>
            <a:prstDash val="solid"/>
          </a:ln>
        </p:spPr>
      </p:sp>
      <p:sp>
        <p:nvSpPr>
          <p:cNvPr id="56" name="Shape 54"/>
          <p:cNvSpPr/>
          <p:nvPr/>
        </p:nvSpPr>
        <p:spPr>
          <a:xfrm>
            <a:off x="3063240" y="4526280"/>
            <a:ext cx="205740" cy="347472"/>
          </a:xfrm>
          <a:prstGeom prst="rect">
            <a:avLst/>
          </a:prstGeom>
          <a:solidFill>
            <a:srgbClr val="ECE6FA"/>
          </a:solidFill>
          <a:ln w="6350">
            <a:solidFill>
              <a:srgbClr val="6C4FBF"/>
            </a:solidFill>
            <a:prstDash val="solid"/>
          </a:ln>
        </p:spPr>
      </p:sp>
      <p:sp>
        <p:nvSpPr>
          <p:cNvPr id="57" name="Shape 55"/>
          <p:cNvSpPr/>
          <p:nvPr/>
        </p:nvSpPr>
        <p:spPr>
          <a:xfrm>
            <a:off x="3268980" y="4526280"/>
            <a:ext cx="205740" cy="347472"/>
          </a:xfrm>
          <a:prstGeom prst="rect">
            <a:avLst/>
          </a:prstGeom>
          <a:solidFill>
            <a:srgbClr val="ECE6FA"/>
          </a:solidFill>
          <a:ln w="6350">
            <a:solidFill>
              <a:srgbClr val="6C4FBF"/>
            </a:solidFill>
            <a:prstDash val="solid"/>
          </a:ln>
        </p:spPr>
      </p:sp>
      <p:sp>
        <p:nvSpPr>
          <p:cNvPr id="58" name="Shape 56"/>
          <p:cNvSpPr/>
          <p:nvPr/>
        </p:nvSpPr>
        <p:spPr>
          <a:xfrm>
            <a:off x="3474720" y="4526280"/>
            <a:ext cx="205740" cy="347472"/>
          </a:xfrm>
          <a:prstGeom prst="rect">
            <a:avLst/>
          </a:prstGeom>
          <a:solidFill>
            <a:srgbClr val="ECE6FA"/>
          </a:solidFill>
          <a:ln w="6350">
            <a:solidFill>
              <a:srgbClr val="6C4FBF"/>
            </a:solidFill>
            <a:prstDash val="solid"/>
          </a:ln>
        </p:spPr>
      </p:sp>
      <p:sp>
        <p:nvSpPr>
          <p:cNvPr id="59" name="Shape 57"/>
          <p:cNvSpPr/>
          <p:nvPr/>
        </p:nvSpPr>
        <p:spPr>
          <a:xfrm>
            <a:off x="3680460" y="4526280"/>
            <a:ext cx="205740" cy="347472"/>
          </a:xfrm>
          <a:prstGeom prst="rect">
            <a:avLst/>
          </a:prstGeom>
          <a:solidFill>
            <a:srgbClr val="ECE6FA"/>
          </a:solidFill>
          <a:ln w="6350">
            <a:solidFill>
              <a:srgbClr val="6C4FBF"/>
            </a:solidFill>
            <a:prstDash val="solid"/>
          </a:ln>
        </p:spPr>
      </p:sp>
      <p:sp>
        <p:nvSpPr>
          <p:cNvPr id="60" name="Shape 58"/>
          <p:cNvSpPr/>
          <p:nvPr/>
        </p:nvSpPr>
        <p:spPr>
          <a:xfrm>
            <a:off x="3886200" y="4526280"/>
            <a:ext cx="205740" cy="347472"/>
          </a:xfrm>
          <a:prstGeom prst="rect">
            <a:avLst/>
          </a:prstGeom>
          <a:solidFill>
            <a:srgbClr val="ECE6FA"/>
          </a:solidFill>
          <a:ln w="6350">
            <a:solidFill>
              <a:srgbClr val="6C4FBF"/>
            </a:solidFill>
            <a:prstDash val="solid"/>
          </a:ln>
        </p:spPr>
      </p:sp>
      <p:sp>
        <p:nvSpPr>
          <p:cNvPr id="61" name="Shape 59"/>
          <p:cNvSpPr/>
          <p:nvPr/>
        </p:nvSpPr>
        <p:spPr>
          <a:xfrm>
            <a:off x="4091940" y="4526280"/>
            <a:ext cx="205740" cy="347472"/>
          </a:xfrm>
          <a:prstGeom prst="rect">
            <a:avLst/>
          </a:prstGeom>
          <a:solidFill>
            <a:srgbClr val="ECE6FA"/>
          </a:solidFill>
          <a:ln w="6350">
            <a:solidFill>
              <a:srgbClr val="6C4FBF"/>
            </a:solidFill>
            <a:prstDash val="solid"/>
          </a:ln>
        </p:spPr>
      </p:sp>
      <p:sp>
        <p:nvSpPr>
          <p:cNvPr id="62" name="Shape 60"/>
          <p:cNvSpPr/>
          <p:nvPr/>
        </p:nvSpPr>
        <p:spPr>
          <a:xfrm>
            <a:off x="4297680" y="4526280"/>
            <a:ext cx="205740" cy="347472"/>
          </a:xfrm>
          <a:prstGeom prst="rect">
            <a:avLst/>
          </a:prstGeom>
          <a:solidFill>
            <a:srgbClr val="ECE6FA"/>
          </a:solidFill>
          <a:ln w="6350">
            <a:solidFill>
              <a:srgbClr val="6C4FBF"/>
            </a:solidFill>
            <a:prstDash val="solid"/>
          </a:ln>
        </p:spPr>
      </p:sp>
      <p:sp>
        <p:nvSpPr>
          <p:cNvPr id="63" name="Text 61"/>
          <p:cNvSpPr txBox="1"/>
          <p:nvPr/>
        </p:nvSpPr>
        <p:spPr>
          <a:xfrm>
            <a:off x="4297680" y="4526280"/>
            <a:ext cx="205740" cy="347472"/>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a:t>
            </a:r>
            <a:endParaRPr lang="en-US" sz="750" dirty="0"/>
          </a:p>
        </p:txBody>
      </p:sp>
      <p:sp>
        <p:nvSpPr>
          <p:cNvPr id="64" name="Shape 62"/>
          <p:cNvSpPr/>
          <p:nvPr/>
        </p:nvSpPr>
        <p:spPr>
          <a:xfrm>
            <a:off x="4503420" y="4526280"/>
            <a:ext cx="205740" cy="347472"/>
          </a:xfrm>
          <a:prstGeom prst="rect">
            <a:avLst/>
          </a:prstGeom>
          <a:solidFill>
            <a:srgbClr val="ECE6FA"/>
          </a:solidFill>
          <a:ln w="6350">
            <a:solidFill>
              <a:srgbClr val="6C4FBF"/>
            </a:solidFill>
            <a:prstDash val="solid"/>
          </a:ln>
        </p:spPr>
      </p:sp>
      <p:sp>
        <p:nvSpPr>
          <p:cNvPr id="65" name="Shape 63"/>
          <p:cNvSpPr/>
          <p:nvPr/>
        </p:nvSpPr>
        <p:spPr>
          <a:xfrm>
            <a:off x="4709160" y="4526280"/>
            <a:ext cx="205740" cy="347472"/>
          </a:xfrm>
          <a:prstGeom prst="rect">
            <a:avLst/>
          </a:prstGeom>
          <a:solidFill>
            <a:srgbClr val="ECE6FA"/>
          </a:solidFill>
          <a:ln w="6350">
            <a:solidFill>
              <a:srgbClr val="6C4FBF"/>
            </a:solidFill>
            <a:prstDash val="solid"/>
          </a:ln>
        </p:spPr>
      </p:sp>
      <p:sp>
        <p:nvSpPr>
          <p:cNvPr id="66" name="Shape 64"/>
          <p:cNvSpPr/>
          <p:nvPr/>
        </p:nvSpPr>
        <p:spPr>
          <a:xfrm>
            <a:off x="4914900" y="4526280"/>
            <a:ext cx="205740" cy="347472"/>
          </a:xfrm>
          <a:prstGeom prst="rect">
            <a:avLst/>
          </a:prstGeom>
          <a:solidFill>
            <a:srgbClr val="ECE6FA"/>
          </a:solidFill>
          <a:ln w="6350">
            <a:solidFill>
              <a:srgbClr val="6C4FBF"/>
            </a:solidFill>
            <a:prstDash val="solid"/>
          </a:ln>
        </p:spPr>
      </p:sp>
      <p:sp>
        <p:nvSpPr>
          <p:cNvPr id="67" name="Shape 65"/>
          <p:cNvSpPr/>
          <p:nvPr/>
        </p:nvSpPr>
        <p:spPr>
          <a:xfrm>
            <a:off x="5120640" y="4526280"/>
            <a:ext cx="205740" cy="347472"/>
          </a:xfrm>
          <a:prstGeom prst="rect">
            <a:avLst/>
          </a:prstGeom>
          <a:solidFill>
            <a:srgbClr val="ECE6FA"/>
          </a:solidFill>
          <a:ln w="6350">
            <a:solidFill>
              <a:srgbClr val="6C4FBF"/>
            </a:solidFill>
            <a:prstDash val="solid"/>
          </a:ln>
        </p:spPr>
      </p:sp>
      <p:sp>
        <p:nvSpPr>
          <p:cNvPr id="68" name="Shape 66"/>
          <p:cNvSpPr/>
          <p:nvPr/>
        </p:nvSpPr>
        <p:spPr>
          <a:xfrm>
            <a:off x="5326380" y="4526280"/>
            <a:ext cx="205740" cy="347472"/>
          </a:xfrm>
          <a:prstGeom prst="rect">
            <a:avLst/>
          </a:prstGeom>
          <a:solidFill>
            <a:srgbClr val="ECE6FA"/>
          </a:solidFill>
          <a:ln w="6350">
            <a:solidFill>
              <a:srgbClr val="6C4FBF"/>
            </a:solidFill>
            <a:prstDash val="solid"/>
          </a:ln>
        </p:spPr>
      </p:sp>
      <p:sp>
        <p:nvSpPr>
          <p:cNvPr id="69" name="Shape 67"/>
          <p:cNvSpPr/>
          <p:nvPr/>
        </p:nvSpPr>
        <p:spPr>
          <a:xfrm>
            <a:off x="5532120" y="4526280"/>
            <a:ext cx="205740" cy="347472"/>
          </a:xfrm>
          <a:prstGeom prst="rect">
            <a:avLst/>
          </a:prstGeom>
          <a:solidFill>
            <a:srgbClr val="ECE6FA"/>
          </a:solidFill>
          <a:ln w="6350">
            <a:solidFill>
              <a:srgbClr val="6C4FBF"/>
            </a:solidFill>
            <a:prstDash val="solid"/>
          </a:ln>
        </p:spPr>
      </p:sp>
      <p:sp>
        <p:nvSpPr>
          <p:cNvPr id="70" name="Shape 68"/>
          <p:cNvSpPr/>
          <p:nvPr/>
        </p:nvSpPr>
        <p:spPr>
          <a:xfrm>
            <a:off x="5737860" y="4526280"/>
            <a:ext cx="205740" cy="347472"/>
          </a:xfrm>
          <a:prstGeom prst="rect">
            <a:avLst/>
          </a:prstGeom>
          <a:solidFill>
            <a:srgbClr val="ECE6FA"/>
          </a:solidFill>
          <a:ln w="6350">
            <a:solidFill>
              <a:srgbClr val="6C4FBF"/>
            </a:solidFill>
            <a:prstDash val="solid"/>
          </a:ln>
        </p:spPr>
      </p:sp>
      <p:sp>
        <p:nvSpPr>
          <p:cNvPr id="71" name="Text 69"/>
          <p:cNvSpPr txBox="1"/>
          <p:nvPr/>
        </p:nvSpPr>
        <p:spPr>
          <a:xfrm>
            <a:off x="5737860" y="4526280"/>
            <a:ext cx="205740" cy="347472"/>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255</a:t>
            </a:r>
            <a:endParaRPr lang="en-US" sz="750" dirty="0"/>
          </a:p>
        </p:txBody>
      </p:sp>
      <p:sp>
        <p:nvSpPr>
          <p:cNvPr id="72" name="Text 70"/>
          <p:cNvSpPr txBox="1"/>
          <p:nvPr/>
        </p:nvSpPr>
        <p:spPr>
          <a:xfrm>
            <a:off x="2651760" y="4297680"/>
            <a:ext cx="329184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Vector unit 256 lanes (물리)</a:t>
            </a:r>
            <a:endParaRPr lang="en-US" sz="850" dirty="0"/>
          </a:p>
        </p:txBody>
      </p:sp>
      <p:sp>
        <p:nvSpPr>
          <p:cNvPr id="73" name="Text 71"/>
          <p:cNvSpPr txBox="1"/>
          <p:nvPr/>
        </p:nvSpPr>
        <p:spPr>
          <a:xfrm>
            <a:off x="2651760" y="4901184"/>
            <a:ext cx="4206240" cy="384048"/>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논리 VLEN 1..65535 → 장치 내부에서 256씩 반복한다는 전제 (RTL 미확인). FP16 입력, reduction 내부 FP32.</a:t>
            </a:r>
            <a:endParaRPr lang="en-US" sz="750" dirty="0"/>
          </a:p>
        </p:txBody>
      </p:sp>
      <p:sp>
        <p:nvSpPr>
          <p:cNvPr id="74" name="Shape 72"/>
          <p:cNvSpPr/>
          <p:nvPr/>
        </p:nvSpPr>
        <p:spPr>
          <a:xfrm>
            <a:off x="2145182" y="2066544"/>
            <a:ext cx="973836" cy="914400"/>
          </a:xfrm>
          <a:prstGeom prst="line">
            <a:avLst/>
          </a:prstGeom>
          <a:noFill/>
          <a:ln w="25400">
            <a:solidFill>
              <a:srgbClr val="D98A1E"/>
            </a:solidFill>
            <a:prstDash val="solid"/>
            <a:tailEnd type="triangle"/>
          </a:ln>
        </p:spPr>
      </p:sp>
      <p:sp>
        <p:nvSpPr>
          <p:cNvPr id="75" name="Text 73"/>
          <p:cNvSpPr txBox="1"/>
          <p:nvPr/>
        </p:nvSpPr>
        <p:spPr>
          <a:xfrm>
            <a:off x="3183941" y="2240280"/>
            <a:ext cx="2377440" cy="365760"/>
          </a:xfrm>
          <a:prstGeom prst="rect">
            <a:avLst/>
          </a:prstGeom>
          <a:noFill/>
          <a:ln/>
        </p:spPr>
        <p:txBody>
          <a:bodyPr wrap="square" lIns="0" tIns="0" rIns="0" bIns="0" rtlCol="0" anchor="t"/>
          <a:lstStyle/>
          <a:p>
            <a:pPr algn="l" indent="0" marL="0">
              <a:buNone/>
            </a:pPr>
            <a:r>
              <a:rPr lang="en-US" sz="800" b="1" dirty="0">
                <a:solidFill>
                  <a:srgbClr val="D98A1E"/>
                </a:solidFill>
                <a:latin typeface="Malgun Gothic" pitchFamily="34" charset="0"/>
                <a:ea typeface="Malgun Gothic" pitchFamily="34" charset="-122"/>
                <a:cs typeface="Malgun Gothic" pitchFamily="34" charset="-120"/>
              </a:rPr>
              <a:t>GLOAD: DRAM → SRAM</a:t>
            </a:r>
            <a:endParaRPr lang="en-US" sz="800" dirty="0"/>
          </a:p>
          <a:p>
            <a:pPr algn="l" indent="0" marL="0">
              <a:buNone/>
            </a:pPr>
            <a:r>
              <a:rPr lang="en-US" sz="800" b="1" dirty="0">
                <a:solidFill>
                  <a:srgbClr val="D98A1E"/>
                </a:solidFill>
                <a:latin typeface="Malgun Gothic" pitchFamily="34" charset="0"/>
                <a:ea typeface="Malgun Gothic" pitchFamily="34" charset="-122"/>
                <a:cs typeface="Malgun Gothic" pitchFamily="34" charset="-120"/>
              </a:rPr>
              <a:t>4-word DMA packet, cell 단위</a:t>
            </a:r>
            <a:endParaRPr lang="en-US" sz="800" dirty="0"/>
          </a:p>
        </p:txBody>
      </p:sp>
      <p:sp>
        <p:nvSpPr>
          <p:cNvPr id="76" name="Shape 74"/>
          <p:cNvSpPr/>
          <p:nvPr/>
        </p:nvSpPr>
        <p:spPr>
          <a:xfrm flipV="1">
            <a:off x="4482389" y="2066544"/>
            <a:ext cx="2012594" cy="914400"/>
          </a:xfrm>
          <a:prstGeom prst="line">
            <a:avLst/>
          </a:prstGeom>
          <a:noFill/>
          <a:ln w="25400">
            <a:solidFill>
              <a:srgbClr val="D98A1E"/>
            </a:solidFill>
            <a:prstDash val="solid"/>
            <a:tailEnd type="triangle"/>
          </a:ln>
        </p:spPr>
      </p:sp>
      <p:sp>
        <p:nvSpPr>
          <p:cNvPr id="77" name="Text 75"/>
          <p:cNvSpPr txBox="1"/>
          <p:nvPr/>
        </p:nvSpPr>
        <p:spPr>
          <a:xfrm>
            <a:off x="5521147" y="2514600"/>
            <a:ext cx="1645920" cy="274320"/>
          </a:xfrm>
          <a:prstGeom prst="rect">
            <a:avLst/>
          </a:prstGeom>
          <a:noFill/>
          <a:ln/>
        </p:spPr>
        <p:txBody>
          <a:bodyPr wrap="square" lIns="0" tIns="0" rIns="0" bIns="0" rtlCol="0" anchor="t"/>
          <a:lstStyle/>
          <a:p>
            <a:pPr algn="l" indent="0" marL="0">
              <a:buNone/>
            </a:pPr>
            <a:r>
              <a:rPr lang="en-US" sz="800" b="1" dirty="0">
                <a:solidFill>
                  <a:srgbClr val="D98A1E"/>
                </a:solidFill>
                <a:latin typeface="Malgun Gothic" pitchFamily="34" charset="0"/>
                <a:ea typeface="Malgun Gothic" pitchFamily="34" charset="-122"/>
                <a:cs typeface="Malgun Gothic" pitchFamily="34" charset="-120"/>
              </a:rPr>
              <a:t>GSTORE: SRAM → DRAM</a:t>
            </a:r>
            <a:endParaRPr lang="en-US" sz="800" dirty="0"/>
          </a:p>
        </p:txBody>
      </p:sp>
      <p:sp>
        <p:nvSpPr>
          <p:cNvPr id="78" name="Shape 76"/>
          <p:cNvSpPr/>
          <p:nvPr/>
        </p:nvSpPr>
        <p:spPr>
          <a:xfrm flipH="1">
            <a:off x="1143000" y="3438144"/>
            <a:ext cx="482803" cy="786384"/>
          </a:xfrm>
          <a:prstGeom prst="line">
            <a:avLst/>
          </a:prstGeom>
          <a:noFill/>
          <a:ln w="25400">
            <a:solidFill>
              <a:srgbClr val="1F8A8A"/>
            </a:solidFill>
            <a:prstDash val="solid"/>
            <a:tailEnd type="triangle"/>
          </a:ln>
        </p:spPr>
      </p:sp>
      <p:sp>
        <p:nvSpPr>
          <p:cNvPr id="79" name="Text 77"/>
          <p:cNvSpPr txBox="1"/>
          <p:nvPr/>
        </p:nvSpPr>
        <p:spPr>
          <a:xfrm>
            <a:off x="1737360" y="3639312"/>
            <a:ext cx="2194560" cy="365760"/>
          </a:xfrm>
          <a:prstGeom prst="rect">
            <a:avLst/>
          </a:prstGeom>
          <a:noFill/>
          <a:ln/>
        </p:spPr>
        <p:txBody>
          <a:bodyPr wrap="square" lIns="0" tIns="0" rIns="0" bIns="0" rtlCol="0" anchor="t"/>
          <a:lstStyle/>
          <a:p>
            <a:pPr algn="l" indent="0" marL="0">
              <a:buNone/>
            </a:pPr>
            <a:r>
              <a:rPr lang="en-US" sz="800" b="1" dirty="0">
                <a:solidFill>
                  <a:srgbClr val="1F8A8A"/>
                </a:solidFill>
                <a:latin typeface="Malgun Gothic" pitchFamily="34" charset="0"/>
                <a:ea typeface="Malgun Gothic" pitchFamily="34" charset="-122"/>
                <a:cs typeface="Malgun Gothic" pitchFamily="34" charset="-120"/>
              </a:rPr>
              <a:t>LOAD: SRAM 64×64 tile → unit</a:t>
            </a:r>
            <a:endParaRPr lang="en-US" sz="800" dirty="0"/>
          </a:p>
          <a:p>
            <a:pPr algn="l" indent="0" marL="0">
              <a:buNone/>
            </a:pPr>
            <a:r>
              <a:rPr lang="en-US" sz="800" b="1" dirty="0">
                <a:solidFill>
                  <a:srgbClr val="1F8A8A"/>
                </a:solidFill>
                <a:latin typeface="Malgun Gothic" pitchFamily="34" charset="0"/>
                <a:ea typeface="Malgun Gothic" pitchFamily="34" charset="-122"/>
                <a:cs typeface="Malgun Gothic" pitchFamily="34" charset="-120"/>
              </a:rPr>
              <a:t>(descriptor로 주소·stride 지정)</a:t>
            </a:r>
            <a:endParaRPr lang="en-US" sz="800" dirty="0"/>
          </a:p>
        </p:txBody>
      </p:sp>
      <p:sp>
        <p:nvSpPr>
          <p:cNvPr id="80" name="Shape 78"/>
          <p:cNvSpPr/>
          <p:nvPr/>
        </p:nvSpPr>
        <p:spPr>
          <a:xfrm flipV="1">
            <a:off x="1645920" y="3438144"/>
            <a:ext cx="2836469" cy="1088136"/>
          </a:xfrm>
          <a:prstGeom prst="line">
            <a:avLst/>
          </a:prstGeom>
          <a:noFill/>
          <a:ln w="25400">
            <a:solidFill>
              <a:srgbClr val="1F8A8A"/>
            </a:solidFill>
            <a:prstDash val="solid"/>
            <a:tailEnd type="triangle"/>
          </a:ln>
        </p:spPr>
      </p:sp>
      <p:sp>
        <p:nvSpPr>
          <p:cNvPr id="81" name="Text 79"/>
          <p:cNvSpPr txBox="1"/>
          <p:nvPr/>
        </p:nvSpPr>
        <p:spPr>
          <a:xfrm>
            <a:off x="4480560" y="3675888"/>
            <a:ext cx="2194560" cy="365760"/>
          </a:xfrm>
          <a:prstGeom prst="rect">
            <a:avLst/>
          </a:prstGeom>
          <a:noFill/>
          <a:ln/>
        </p:spPr>
        <p:txBody>
          <a:bodyPr wrap="square" lIns="0" tIns="0" rIns="0" bIns="0" rtlCol="0" anchor="t"/>
          <a:lstStyle/>
          <a:p>
            <a:pPr algn="l" indent="0" marL="0">
              <a:buNone/>
            </a:pPr>
            <a:r>
              <a:rPr lang="en-US" sz="800" b="1" dirty="0">
                <a:solidFill>
                  <a:srgbClr val="1F8A8A"/>
                </a:solidFill>
                <a:latin typeface="Malgun Gothic" pitchFamily="34" charset="0"/>
                <a:ea typeface="Malgun Gothic" pitchFamily="34" charset="-122"/>
                <a:cs typeface="Malgun Gothic" pitchFamily="34" charset="-120"/>
              </a:rPr>
              <a:t>SAVE: FP16 결과 → SRAM 출력 tile</a:t>
            </a:r>
            <a:endParaRPr lang="en-US" sz="800" dirty="0"/>
          </a:p>
        </p:txBody>
      </p:sp>
      <p:sp>
        <p:nvSpPr>
          <p:cNvPr id="82" name="Text 80"/>
          <p:cNvSpPr txBox="1"/>
          <p:nvPr/>
        </p:nvSpPr>
        <p:spPr>
          <a:xfrm>
            <a:off x="457200" y="5596128"/>
            <a:ext cx="6492240" cy="310896"/>
          </a:xfrm>
          <a:prstGeom prst="rect">
            <a:avLst/>
          </a:prstGeom>
          <a:noFill/>
          <a:ln/>
        </p:spPr>
        <p:txBody>
          <a:bodyPr wrap="square" lIns="0" tIns="0" rIns="0" bIns="0" rtlCol="0" anchor="t"/>
          <a:lstStyle/>
          <a:p>
            <a:pPr algn="l" indent="0" marL="0">
              <a:buNone/>
            </a:pPr>
            <a:r>
              <a:rPr lang="en-US" sz="850" i="1" dirty="0">
                <a:solidFill>
                  <a:srgbClr val="5B6B7F"/>
                </a:solidFill>
                <a:latin typeface="Malgun Gothic" pitchFamily="34" charset="0"/>
                <a:ea typeface="Malgun Gothic" pitchFamily="34" charset="-122"/>
                <a:cs typeface="Malgun Gothic" pitchFamily="34" charset="-120"/>
              </a:rPr>
              <a:t>연산장치 내부의 FP32 accumulator는 SRAM buffer가 아닙니다. TIR의 FP32 buffer가 그대로 SRAM에 materialize된다고 읽으면 안 됩니다.</a:t>
            </a:r>
            <a:endParaRPr lang="en-US" sz="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178040" y="1371600"/>
          <a:ext cx="4553712" cy="914400"/>
        </p:xfrm>
        <a:graphic>
          <a:graphicData uri="http://schemas.openxmlformats.org/drawingml/2006/table">
            <a:tbl>
              <a:tblPr/>
              <a:tblGrid>
                <a:gridCol w="1143000"/>
                <a:gridCol w="3410712"/>
              </a:tblGrid>
              <a:tr h="329184">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항목</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현재 계약</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tile / lanes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64×64 matrix, 256 lanes (VLEN 1..65535)</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SRAM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8 MiB = 2²⁴ nibbles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DRAM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plan unit 2 B, DMA 주소 32-bit cell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수치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FP16 저장, K=64 FP32 부분합 누산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누산기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1개, partial spill 금지, K tile 64</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Activation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ISA에 있으나 자동 matmul 경로는 OFF</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DMA</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GLOAD 0xA0 / GSTORE 0xA8, 4 words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종료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HALT 0xFF, SNAPSHOT 0xF0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실행기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_poc/mysim_v09.cpp (cycle 없음)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84" name="Shape 81"/>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85" name="Text 82"/>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성능 지표는 DMA bytes → ISA words → SRAM peak 순서의 정적 비교입니다. C-model 통과가 RTL 검증을 대신하지 않습니다.</a:t>
            </a:r>
            <a:endParaRPr lang="en-US" sz="1250" dirty="0"/>
          </a:p>
        </p:txBody>
      </p:sp>
      <p:sp>
        <p:nvSpPr>
          <p:cNvPr id="86" name="Text 83"/>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87" name="Text 84"/>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docs/current/01_overview.md, reference/execution_contract.md, npu_compiler/device.py</a:t>
            </a:r>
            <a:endParaRPr lang="en-US" sz="850" dirty="0"/>
          </a:p>
        </p:txBody>
      </p:sp>
      <p:sp>
        <p:nvSpPr>
          <p:cNvPr id="88" name="Text 85"/>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3 / 89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 · 전체 구조</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Llama 3.2 3B: 발표 내내 사용할 shape와 크기</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Decode는 S=1, prefill은 prompt 길이 S. Weight는 checkpoint의 [N,K] 배치이며 계산에는 [K,N]이 필요합니다.</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120640" cy="914400"/>
        </p:xfrm>
        <a:graphic>
          <a:graphicData uri="http://schemas.openxmlformats.org/drawingml/2006/table">
            <a:tbl>
              <a:tblPr/>
              <a:tblGrid>
                <a:gridCol w="2011680"/>
                <a:gridCol w="3108960"/>
              </a:tblGrid>
              <a:tr h="329184">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설정</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값</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hidden / intermediate</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3072 / 8192</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layers</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28</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Q heads / KV heads / head_dim</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24 / 8 / 128 (GQA: Q 3개가 KV 1개 공유)</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vocabulary</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128256</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RoPE</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llama3, θ=500000, factor 32, low 1, high 4, orig 8192</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RMSNorm ε</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1e-5</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예제 shape</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prefill S=7 tokens, decode capacity C=9</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852160" y="1417320"/>
          <a:ext cx="5852160" cy="914400"/>
        </p:xfrm>
        <a:graphic>
          <a:graphicData uri="http://schemas.openxmlformats.org/drawingml/2006/table">
            <a:tbl>
              <a:tblPr/>
              <a:tblGrid>
                <a:gridCol w="1737360"/>
                <a:gridCol w="1737360"/>
                <a:gridCol w="2377440"/>
              </a:tblGrid>
              <a:tr h="329184">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Weight (FP16)</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shape [N,K]</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1000" b="1" dirty="0">
                          <a:solidFill>
                            <a:srgbClr val="FFFFFF"/>
                          </a:solidFill>
                          <a:latin typeface="Malgun Gothic" pitchFamily="34" charset="0"/>
                          <a:ea typeface="Malgun Gothic" pitchFamily="34" charset="-122"/>
                          <a:cs typeface="Malgun Gothic" pitchFamily="34" charset="-120"/>
                        </a:rPr>
                        <a:t>크기</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q_proj / o_proj</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3072 × 3072</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18 MiB 씩</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k_proj / v_proj</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1024 × 3072</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6 MiB 씩</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gate / up</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8192 × 3072</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48 MiB 씩</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down</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3072 × 8192</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48 MiB</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layer 합계</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9 tensors</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192 MiB × 28 = 5.25 GiB</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lm_head</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128256 × 3072</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751.5 MiB</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activation X (S=64)</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64 × 3072</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384 KiB</a:t>
                      </a:r>
                      <a:endParaRPr lang="en-US" sz="10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7" name="Text 3"/>
          <p:cNvSpPr txBox="1"/>
          <p:nvPr/>
        </p:nvSpPr>
        <p:spPr>
          <a:xfrm>
            <a:off x="457200" y="4343400"/>
            <a:ext cx="10972800" cy="274320"/>
          </a:xfrm>
          <a:prstGeom prst="rect">
            <a:avLst/>
          </a:prstGeom>
          <a:noFill/>
          <a:ln/>
        </p:spPr>
        <p:txBody>
          <a:bodyPr wrap="square" lIns="0" tIns="0" rIns="0" bIns="0" rtlCol="0" anchor="t"/>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Llama 한 layer에서 계산하는 것 (입력 X[S,3072])</a:t>
            </a:r>
            <a:endParaRPr lang="en-US" sz="1250" dirty="0"/>
          </a:p>
        </p:txBody>
      </p:sp>
      <p:graphicFrame>
        <p:nvGraphicFramePr>
          <p:cNvPr id="13" name="Table 2"/>
          <p:cNvGraphicFramePr>
            <a:graphicFrameLocks noGrp="1"/>
          </p:cNvGraphicFramePr>
          <p:nvPr>
            <p:extLst>
              <p:ext uri="{D42A27DB-BD31-4B8C-83A1-F6EECF244321}">
                <p14:modId xmlns:p14="http://schemas.microsoft.com/office/powerpoint/2010/main" val="1579011935"/>
              </p:ext>
            </p:extLst>
          </p:nvPr>
        </p:nvGraphicFramePr>
        <p:xfrm>
          <a:off x="457200" y="4645152"/>
          <a:ext cx="11274552" cy="914400"/>
        </p:xfrm>
        <a:graphic>
          <a:graphicData uri="http://schemas.openxmlformats.org/drawingml/2006/table">
            <a:tbl>
              <a:tblPr/>
              <a:tblGrid>
                <a:gridCol w="1127455"/>
                <a:gridCol w="1127455"/>
                <a:gridCol w="1127455"/>
                <a:gridCol w="1127455"/>
                <a:gridCol w="1127455"/>
                <a:gridCol w="1127455"/>
                <a:gridCol w="1127455"/>
                <a:gridCol w="1127455"/>
                <a:gridCol w="1127455"/>
                <a:gridCol w="1127455"/>
              </a:tblGrid>
              <a:tr h="310896">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RMSNorm</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Q proj (24 heads)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K / V proj (8 heads)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RoPE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Attention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O proj + residual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RMSNorm</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gate / up</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SiLU(gate) × up</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down + residual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[S,3072]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[S,3072]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[S,1024] 각각</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Q, K 회전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QKᵀ → scale → mask → softmax → PV</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[S,3072]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[S,3072]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[S,8192] 각각</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[S,8192]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[S,3072]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9" name="Shape 4"/>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0" name="Text 5"/>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어떤 projection weight도 8 MiB SRAM에 통째로 들어가지 않습니다 → panel 단위 streaming과 재사용 순서가 compiler의 핵심 결정입니다.</a:t>
            </a:r>
            <a:endParaRPr lang="en-US" sz="1250" dirty="0"/>
          </a:p>
        </p:txBody>
      </p:sp>
      <p:sp>
        <p:nvSpPr>
          <p:cNvPr id="11" name="Text 6"/>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2" name="Text 7"/>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docs/examples/llama_ir/summary.json, docs/current/01_overview.md</a:t>
            </a:r>
            <a:endParaRPr lang="en-US" sz="850" dirty="0"/>
          </a:p>
        </p:txBody>
      </p:sp>
      <p:sp>
        <p:nvSpPr>
          <p:cNvPr id="13" name="Text 8"/>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4 / 89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 · 전체 구조</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Compile, load(prepare), run은 서로 다른 시점의 작업</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Compile은 shape/dtype만 보고 프로그램을 확정하고, load는 weight를 변환·배치하며, run은 입력만 갱신해 같은 명령을 재실행합니다.</a:t>
            </a:r>
            <a:endParaRPr lang="en-US" sz="1250" dirty="0"/>
          </a:p>
        </p:txBody>
      </p:sp>
      <p:sp>
        <p:nvSpPr>
          <p:cNvPr id="5" name="Shape 3"/>
          <p:cNvSpPr/>
          <p:nvPr/>
        </p:nvSpPr>
        <p:spPr>
          <a:xfrm>
            <a:off x="457200" y="1463040"/>
            <a:ext cx="3611880" cy="548640"/>
          </a:xfrm>
          <a:prstGeom prst="roundRect">
            <a:avLst>
              <a:gd name="adj" fmla="val 10000"/>
            </a:avLst>
          </a:prstGeom>
          <a:solidFill>
            <a:srgbClr val="E3EEFB"/>
          </a:solidFill>
          <a:ln w="12700">
            <a:solidFill>
              <a:srgbClr val="2F6DB5"/>
            </a:solidFill>
            <a:prstDash val="solid"/>
          </a:ln>
        </p:spPr>
      </p:sp>
      <p:sp>
        <p:nvSpPr>
          <p:cNvPr id="6" name="Text 4"/>
          <p:cNvSpPr txBox="1"/>
          <p:nvPr/>
        </p:nvSpPr>
        <p:spPr>
          <a:xfrm>
            <a:off x="512064" y="1499616"/>
            <a:ext cx="3502152" cy="475488"/>
          </a:xfrm>
          <a:prstGeom prst="rect">
            <a:avLst/>
          </a:prstGeom>
          <a:noFill/>
          <a:ln/>
        </p:spPr>
        <p:txBody>
          <a:bodyPr wrap="square" lIns="0" tIns="0" rIns="0" bIns="0" rtlCol="0" anchor="ctr"/>
          <a:lstStyle/>
          <a:p>
            <a:pPr algn="ctr" indent="0" marL="0">
              <a:buNone/>
            </a:pPr>
            <a:r>
              <a:rPr lang="en-US" sz="1600" b="1" dirty="0">
                <a:solidFill>
                  <a:srgbClr val="1F2D3D"/>
                </a:solidFill>
                <a:latin typeface="Malgun Gothic" pitchFamily="34" charset="0"/>
                <a:ea typeface="Malgun Gothic" pitchFamily="34" charset="-122"/>
                <a:cs typeface="Malgun Gothic" pitchFamily="34" charset="-120"/>
              </a:rPr>
              <a:t>Compile</a:t>
            </a:r>
            <a:endParaRPr lang="en-US" sz="1600" dirty="0"/>
          </a:p>
        </p:txBody>
      </p:sp>
      <p:sp>
        <p:nvSpPr>
          <p:cNvPr id="7" name="Shape 5"/>
          <p:cNvSpPr/>
          <p:nvPr/>
        </p:nvSpPr>
        <p:spPr>
          <a:xfrm>
            <a:off x="457200" y="2057400"/>
            <a:ext cx="3611880" cy="2514600"/>
          </a:xfrm>
          <a:prstGeom prst="roundRect">
            <a:avLst>
              <a:gd name="adj" fmla="val 2182"/>
            </a:avLst>
          </a:prstGeom>
          <a:solidFill>
            <a:srgbClr val="FFFFFF"/>
          </a:solidFill>
          <a:ln w="12700">
            <a:solidFill>
              <a:srgbClr val="C9D3DF"/>
            </a:solidFill>
            <a:prstDash val="solid"/>
          </a:ln>
        </p:spPr>
      </p:sp>
      <p:sp>
        <p:nvSpPr>
          <p:cNvPr id="8" name="Text 6"/>
          <p:cNvSpPr txBox="1"/>
          <p:nvPr/>
        </p:nvSpPr>
        <p:spPr>
          <a:xfrm>
            <a:off x="594360" y="2176272"/>
            <a:ext cx="3337560" cy="2331720"/>
          </a:xfrm>
          <a:prstGeom prst="rect">
            <a:avLst/>
          </a:prstGeom>
          <a:noFill/>
          <a:ln/>
        </p:spPr>
        <p:txBody>
          <a:bodyPr wrap="square" lIns="0" tIns="0" rIns="0" bIns="0" rtlCol="0" anchor="t"/>
          <a:lstStyle/>
          <a:p>
            <a:pPr algn="l" marL="152400" indent="-152400">
              <a:spcAft>
                <a:spcPts val="500"/>
              </a:spcAft>
              <a:buSzPct val="100000"/>
              <a:buChar char="•"/>
            </a:pPr>
            <a:r>
              <a:rPr lang="en-US" sz="1050" dirty="0">
                <a:solidFill>
                  <a:srgbClr val="1F2D3D"/>
                </a:solidFill>
                <a:latin typeface="Malgun Gothic" pitchFamily="34" charset="0"/>
                <a:ea typeface="Malgun Gothic" pitchFamily="34" charset="-122"/>
                <a:cs typeface="Malgun Gothic" pitchFamily="34" charset="-120"/>
              </a:rPr>
              <a:t>입력: Relax IRModule + 정적 shape/dtype</a:t>
            </a:r>
            <a:endParaRPr lang="en-US" sz="1050" dirty="0"/>
          </a:p>
          <a:p>
            <a:pPr algn="l" marL="152400" indent="-152400">
              <a:spcAft>
                <a:spcPts val="500"/>
              </a:spcAft>
              <a:buSzPct val="100000"/>
              <a:buChar char="•"/>
            </a:pPr>
            <a:r>
              <a:rPr lang="en-US" sz="1050" dirty="0">
                <a:solidFill>
                  <a:srgbClr val="1F2D3D"/>
                </a:solidFill>
                <a:latin typeface="Malgun Gothic" pitchFamily="34" charset="0"/>
                <a:ea typeface="Malgun Gothic" pitchFamily="34" charset="-122"/>
                <a:cs typeface="Malgun Gothic" pitchFamily="34" charset="-120"/>
              </a:rPr>
              <a:t>graph 후보 선택 · schedule · SRAM/DRAM 주소 · 명령 생성</a:t>
            </a:r>
            <a:endParaRPr lang="en-US" sz="1050" dirty="0"/>
          </a:p>
          <a:p>
            <a:pPr algn="l" marL="152400" indent="-152400">
              <a:spcAft>
                <a:spcPts val="500"/>
              </a:spcAft>
              <a:buSzPct val="100000"/>
              <a:buChar char="•"/>
            </a:pPr>
            <a:r>
              <a:rPr lang="en-US" sz="1050" dirty="0">
                <a:solidFill>
                  <a:srgbClr val="1F2D3D"/>
                </a:solidFill>
                <a:latin typeface="Malgun Gothic" pitchFamily="34" charset="0"/>
                <a:ea typeface="Malgun Gothic" pitchFamily="34" charset="-122"/>
                <a:cs typeface="Malgun Gothic" pitchFamily="34" charset="-120"/>
              </a:rPr>
              <a:t>Llama: prompt 길이 S의 prefill_cache 1개 + capacity C의 decode 1개</a:t>
            </a:r>
            <a:endParaRPr lang="en-US" sz="1050" dirty="0"/>
          </a:p>
          <a:p>
            <a:pPr algn="l" marL="152400" indent="-152400">
              <a:spcAft>
                <a:spcPts val="500"/>
              </a:spcAft>
              <a:buSzPct val="100000"/>
              <a:buChar char="•"/>
            </a:pPr>
            <a:r>
              <a:rPr lang="en-US" sz="1050" dirty="0">
                <a:solidFill>
                  <a:srgbClr val="1F2D3D"/>
                </a:solidFill>
                <a:latin typeface="Malgun Gothic" pitchFamily="34" charset="0"/>
                <a:ea typeface="Malgun Gothic" pitchFamily="34" charset="-122"/>
                <a:cs typeface="Malgun Gothic" pitchFamily="34" charset="-120"/>
              </a:rPr>
              <a:t>출력: NpuExecutable = words + plan + lowered module + 입력 signature</a:t>
            </a:r>
            <a:endParaRPr lang="en-US" sz="1050" dirty="0"/>
          </a:p>
        </p:txBody>
      </p:sp>
      <p:sp>
        <p:nvSpPr>
          <p:cNvPr id="9" name="Shape 7"/>
          <p:cNvSpPr/>
          <p:nvPr/>
        </p:nvSpPr>
        <p:spPr>
          <a:xfrm>
            <a:off x="4096512" y="1737360"/>
            <a:ext cx="173736" cy="914"/>
          </a:xfrm>
          <a:prstGeom prst="line">
            <a:avLst/>
          </a:prstGeom>
          <a:noFill/>
          <a:ln w="25400">
            <a:solidFill>
              <a:srgbClr val="5B6B7F"/>
            </a:solidFill>
            <a:prstDash val="solid"/>
            <a:tailEnd type="triangle"/>
          </a:ln>
        </p:spPr>
      </p:sp>
      <p:sp>
        <p:nvSpPr>
          <p:cNvPr id="10" name="Shape 8"/>
          <p:cNvSpPr/>
          <p:nvPr/>
        </p:nvSpPr>
        <p:spPr>
          <a:xfrm>
            <a:off x="4297680" y="1463040"/>
            <a:ext cx="3611880" cy="548640"/>
          </a:xfrm>
          <a:prstGeom prst="roundRect">
            <a:avLst>
              <a:gd name="adj" fmla="val 10000"/>
            </a:avLst>
          </a:prstGeom>
          <a:solidFill>
            <a:srgbClr val="FFF1DC"/>
          </a:solidFill>
          <a:ln w="12700">
            <a:solidFill>
              <a:srgbClr val="D98A1E"/>
            </a:solidFill>
            <a:prstDash val="solid"/>
          </a:ln>
        </p:spPr>
      </p:sp>
      <p:sp>
        <p:nvSpPr>
          <p:cNvPr id="11" name="Text 9"/>
          <p:cNvSpPr txBox="1"/>
          <p:nvPr/>
        </p:nvSpPr>
        <p:spPr>
          <a:xfrm>
            <a:off x="4352544" y="1499616"/>
            <a:ext cx="3502152" cy="475488"/>
          </a:xfrm>
          <a:prstGeom prst="rect">
            <a:avLst/>
          </a:prstGeom>
          <a:noFill/>
          <a:ln/>
        </p:spPr>
        <p:txBody>
          <a:bodyPr wrap="square" lIns="0" tIns="0" rIns="0" bIns="0" rtlCol="0" anchor="ctr"/>
          <a:lstStyle/>
          <a:p>
            <a:pPr algn="ctr" indent="0" marL="0">
              <a:buNone/>
            </a:pPr>
            <a:r>
              <a:rPr lang="en-US" sz="1600" b="1" dirty="0">
                <a:solidFill>
                  <a:srgbClr val="1F2D3D"/>
                </a:solidFill>
                <a:latin typeface="Malgun Gothic" pitchFamily="34" charset="0"/>
                <a:ea typeface="Malgun Gothic" pitchFamily="34" charset="-122"/>
                <a:cs typeface="Malgun Gothic" pitchFamily="34" charset="-120"/>
              </a:rPr>
              <a:t>Load / prepare</a:t>
            </a:r>
            <a:endParaRPr lang="en-US" sz="1600" dirty="0"/>
          </a:p>
        </p:txBody>
      </p:sp>
      <p:sp>
        <p:nvSpPr>
          <p:cNvPr id="12" name="Shape 10"/>
          <p:cNvSpPr/>
          <p:nvPr/>
        </p:nvSpPr>
        <p:spPr>
          <a:xfrm>
            <a:off x="4297680" y="2057400"/>
            <a:ext cx="3611880" cy="2514600"/>
          </a:xfrm>
          <a:prstGeom prst="roundRect">
            <a:avLst>
              <a:gd name="adj" fmla="val 2182"/>
            </a:avLst>
          </a:prstGeom>
          <a:solidFill>
            <a:srgbClr val="FFFFFF"/>
          </a:solidFill>
          <a:ln w="12700">
            <a:solidFill>
              <a:srgbClr val="C9D3DF"/>
            </a:solidFill>
            <a:prstDash val="solid"/>
          </a:ln>
        </p:spPr>
      </p:sp>
      <p:sp>
        <p:nvSpPr>
          <p:cNvPr id="13" name="Text 11"/>
          <p:cNvSpPr txBox="1"/>
          <p:nvPr/>
        </p:nvSpPr>
        <p:spPr>
          <a:xfrm>
            <a:off x="4434840" y="2176272"/>
            <a:ext cx="3337560" cy="2331720"/>
          </a:xfrm>
          <a:prstGeom prst="rect">
            <a:avLst/>
          </a:prstGeom>
          <a:noFill/>
          <a:ln/>
        </p:spPr>
        <p:txBody>
          <a:bodyPr wrap="square" lIns="0" tIns="0" rIns="0" bIns="0" rtlCol="0" anchor="t"/>
          <a:lstStyle/>
          <a:p>
            <a:pPr algn="l" marL="152400" indent="-152400">
              <a:spcAft>
                <a:spcPts val="500"/>
              </a:spcAft>
              <a:buSzPct val="100000"/>
              <a:buChar char="•"/>
            </a:pPr>
            <a:r>
              <a:rPr lang="en-US" sz="1050" dirty="0">
                <a:solidFill>
                  <a:srgbClr val="1F2D3D"/>
                </a:solidFill>
                <a:latin typeface="Malgun Gothic" pitchFamily="34" charset="0"/>
                <a:ea typeface="Malgun Gothic" pitchFamily="34" charset="-122"/>
                <a:cs typeface="Malgun Gothic" pitchFamily="34" charset="-120"/>
              </a:rPr>
              <a:t>checkpoint 배열 읽기 (embedding table은 host에 유지)</a:t>
            </a:r>
            <a:endParaRPr lang="en-US" sz="1050" dirty="0"/>
          </a:p>
          <a:p>
            <a:pPr algn="l" marL="152400" indent="-152400">
              <a:spcAft>
                <a:spcPts val="500"/>
              </a:spcAft>
              <a:buSzPct val="100000"/>
              <a:buChar char="•"/>
            </a:pPr>
            <a:r>
              <a:rPr lang="en-US" sz="1050" dirty="0">
                <a:solidFill>
                  <a:srgbClr val="1F2D3D"/>
                </a:solidFill>
                <a:latin typeface="Malgun Gothic" pitchFamily="34" charset="0"/>
                <a:ea typeface="Malgun Gothic" pitchFamily="34" charset="-122"/>
                <a:cs typeface="Malgun Gothic" pitchFamily="34" charset="-120"/>
              </a:rPr>
              <a:t>host transform 실행: W transpose, (양자화 시) scale/quantize</a:t>
            </a:r>
            <a:endParaRPr lang="en-US" sz="1050" dirty="0"/>
          </a:p>
          <a:p>
            <a:pPr algn="l" marL="152400" indent="-152400">
              <a:spcAft>
                <a:spcPts val="500"/>
              </a:spcAft>
              <a:buSzPct val="100000"/>
              <a:buChar char="•"/>
            </a:pPr>
            <a:r>
              <a:rPr lang="en-US" sz="1050" dirty="0">
                <a:solidFill>
                  <a:srgbClr val="1F2D3D"/>
                </a:solidFill>
                <a:latin typeface="Malgun Gothic" pitchFamily="34" charset="0"/>
                <a:ea typeface="Malgun Gothic" pitchFamily="34" charset="-122"/>
                <a:cs typeface="Malgun Gothic" pitchFamily="34" charset="-120"/>
              </a:rPr>
              <a:t>변환된 signature 순서대로 DRAM image에 배치 (npu_link.build_image)</a:t>
            </a:r>
            <a:endParaRPr lang="en-US" sz="1050" dirty="0"/>
          </a:p>
          <a:p>
            <a:pPr algn="l" marL="152400" indent="-152400">
              <a:spcAft>
                <a:spcPts val="500"/>
              </a:spcAft>
              <a:buSzPct val="100000"/>
              <a:buChar char="•"/>
            </a:pPr>
            <a:r>
              <a:rPr lang="en-US" sz="1050" dirty="0">
                <a:solidFill>
                  <a:srgbClr val="1F2D3D"/>
                </a:solidFill>
                <a:latin typeface="Malgun Gothic" pitchFamily="34" charset="0"/>
                <a:ea typeface="Malgun Gothic" pitchFamily="34" charset="-122"/>
                <a:cs typeface="Malgun Gothic" pitchFamily="34" charset="-120"/>
              </a:rPr>
              <a:t>결과를 params-cache에 저장 (IR+weight 내용 hash 키)</a:t>
            </a:r>
            <a:endParaRPr lang="en-US" sz="1050" dirty="0"/>
          </a:p>
        </p:txBody>
      </p:sp>
      <p:sp>
        <p:nvSpPr>
          <p:cNvPr id="14" name="Shape 12"/>
          <p:cNvSpPr/>
          <p:nvPr/>
        </p:nvSpPr>
        <p:spPr>
          <a:xfrm>
            <a:off x="7936992" y="1737360"/>
            <a:ext cx="173736" cy="914"/>
          </a:xfrm>
          <a:prstGeom prst="line">
            <a:avLst/>
          </a:prstGeom>
          <a:noFill/>
          <a:ln w="25400">
            <a:solidFill>
              <a:srgbClr val="5B6B7F"/>
            </a:solidFill>
            <a:prstDash val="solid"/>
            <a:tailEnd type="triangle"/>
          </a:ln>
        </p:spPr>
      </p:sp>
      <p:sp>
        <p:nvSpPr>
          <p:cNvPr id="15" name="Shape 13"/>
          <p:cNvSpPr/>
          <p:nvPr/>
        </p:nvSpPr>
        <p:spPr>
          <a:xfrm>
            <a:off x="8138160" y="1463040"/>
            <a:ext cx="3611880" cy="548640"/>
          </a:xfrm>
          <a:prstGeom prst="roundRect">
            <a:avLst>
              <a:gd name="adj" fmla="val 10000"/>
            </a:avLst>
          </a:prstGeom>
          <a:solidFill>
            <a:srgbClr val="ECE6FA"/>
          </a:solidFill>
          <a:ln w="12700">
            <a:solidFill>
              <a:srgbClr val="6C4FBF"/>
            </a:solidFill>
            <a:prstDash val="solid"/>
          </a:ln>
        </p:spPr>
      </p:sp>
      <p:sp>
        <p:nvSpPr>
          <p:cNvPr id="16" name="Text 14"/>
          <p:cNvSpPr txBox="1"/>
          <p:nvPr/>
        </p:nvSpPr>
        <p:spPr>
          <a:xfrm>
            <a:off x="8193024" y="1499616"/>
            <a:ext cx="3502152" cy="475488"/>
          </a:xfrm>
          <a:prstGeom prst="rect">
            <a:avLst/>
          </a:prstGeom>
          <a:noFill/>
          <a:ln/>
        </p:spPr>
        <p:txBody>
          <a:bodyPr wrap="square" lIns="0" tIns="0" rIns="0" bIns="0" rtlCol="0" anchor="ctr"/>
          <a:lstStyle/>
          <a:p>
            <a:pPr algn="ctr" indent="0" marL="0">
              <a:buNone/>
            </a:pPr>
            <a:r>
              <a:rPr lang="en-US" sz="1600" b="1" dirty="0">
                <a:solidFill>
                  <a:srgbClr val="1F2D3D"/>
                </a:solidFill>
                <a:latin typeface="Malgun Gothic" pitchFamily="34" charset="0"/>
                <a:ea typeface="Malgun Gothic" pitchFamily="34" charset="-122"/>
                <a:cs typeface="Malgun Gothic" pitchFamily="34" charset="-120"/>
              </a:rPr>
              <a:t>Run</a:t>
            </a:r>
            <a:endParaRPr lang="en-US" sz="1600" dirty="0"/>
          </a:p>
        </p:txBody>
      </p:sp>
      <p:sp>
        <p:nvSpPr>
          <p:cNvPr id="17" name="Shape 15"/>
          <p:cNvSpPr/>
          <p:nvPr/>
        </p:nvSpPr>
        <p:spPr>
          <a:xfrm>
            <a:off x="8138160" y="2057400"/>
            <a:ext cx="3611880" cy="2514600"/>
          </a:xfrm>
          <a:prstGeom prst="roundRect">
            <a:avLst>
              <a:gd name="adj" fmla="val 2182"/>
            </a:avLst>
          </a:prstGeom>
          <a:solidFill>
            <a:srgbClr val="FFFFFF"/>
          </a:solidFill>
          <a:ln w="12700">
            <a:solidFill>
              <a:srgbClr val="C9D3DF"/>
            </a:solidFill>
            <a:prstDash val="solid"/>
          </a:ln>
        </p:spPr>
      </p:sp>
      <p:sp>
        <p:nvSpPr>
          <p:cNvPr id="18" name="Text 16"/>
          <p:cNvSpPr txBox="1"/>
          <p:nvPr/>
        </p:nvSpPr>
        <p:spPr>
          <a:xfrm>
            <a:off x="8275320" y="2176272"/>
            <a:ext cx="3337560" cy="2331720"/>
          </a:xfrm>
          <a:prstGeom prst="rect">
            <a:avLst/>
          </a:prstGeom>
          <a:noFill/>
          <a:ln/>
        </p:spPr>
        <p:txBody>
          <a:bodyPr wrap="square" lIns="0" tIns="0" rIns="0" bIns="0" rtlCol="0" anchor="t"/>
          <a:lstStyle/>
          <a:p>
            <a:pPr algn="l" marL="152400" indent="-152400">
              <a:spcAft>
                <a:spcPts val="500"/>
              </a:spcAft>
              <a:buSzPct val="100000"/>
              <a:buChar char="•"/>
            </a:pPr>
            <a:r>
              <a:rPr lang="en-US" sz="1050" dirty="0">
                <a:solidFill>
                  <a:srgbClr val="1F2D3D"/>
                </a:solidFill>
                <a:latin typeface="Malgun Gothic" pitchFamily="34" charset="0"/>
                <a:ea typeface="Malgun Gothic" pitchFamily="34" charset="-122"/>
                <a:cs typeface="Malgun Gothic" pitchFamily="34" charset="-120"/>
              </a:rPr>
              <a:t>host: embedding 행, cos/sin, mask 준비 → image의 정해진 주소에 patch</a:t>
            </a:r>
            <a:endParaRPr lang="en-US" sz="1050" dirty="0"/>
          </a:p>
          <a:p>
            <a:pPr algn="l" marL="152400" indent="-152400">
              <a:spcAft>
                <a:spcPts val="500"/>
              </a:spcAft>
              <a:buSzPct val="100000"/>
              <a:buChar char="•"/>
            </a:pPr>
            <a:r>
              <a:rPr lang="en-US" sz="1050" dirty="0">
                <a:solidFill>
                  <a:srgbClr val="1F2D3D"/>
                </a:solidFill>
                <a:latin typeface="Malgun Gothic" pitchFamily="34" charset="0"/>
                <a:ea typeface="Malgun Gothic" pitchFamily="34" charset="-122"/>
                <a:cs typeface="Malgun Gothic" pitchFamily="34" charset="-120"/>
              </a:rPr>
              <a:t>C-model: program_memory.bin + global_memory.bin 실행</a:t>
            </a:r>
            <a:endParaRPr lang="en-US" sz="1050" dirty="0"/>
          </a:p>
          <a:p>
            <a:pPr algn="l" marL="152400" indent="-152400">
              <a:spcAft>
                <a:spcPts val="500"/>
              </a:spcAft>
              <a:buSzPct val="100000"/>
              <a:buChar char="•"/>
            </a:pPr>
            <a:r>
              <a:rPr lang="en-US" sz="1050" dirty="0">
                <a:solidFill>
                  <a:srgbClr val="1F2D3D"/>
                </a:solidFill>
                <a:latin typeface="Malgun Gothic" pitchFamily="34" charset="0"/>
                <a:ea typeface="Malgun Gothic" pitchFamily="34" charset="-122"/>
                <a:cs typeface="Malgun Gothic" pitchFamily="34" charset="-120"/>
              </a:rPr>
              <a:t>plan.outputs의 shape/dtype/offset으로 logits, K/V 읽기</a:t>
            </a:r>
            <a:endParaRPr lang="en-US" sz="1050" dirty="0"/>
          </a:p>
          <a:p>
            <a:pPr algn="l" marL="152400" indent="-152400">
              <a:spcAft>
                <a:spcPts val="500"/>
              </a:spcAft>
              <a:buSzPct val="100000"/>
              <a:buChar char="•"/>
            </a:pPr>
            <a:r>
              <a:rPr lang="en-US" sz="1050" dirty="0">
                <a:solidFill>
                  <a:srgbClr val="1F2D3D"/>
                </a:solidFill>
                <a:latin typeface="Malgun Gothic" pitchFamily="34" charset="0"/>
                <a:ea typeface="Malgun Gothic" pitchFamily="34" charset="-122"/>
                <a:cs typeface="Malgun Gothic" pitchFamily="34" charset="-120"/>
              </a:rPr>
              <a:t>decode: argmax → 다음 token, KV append DMA tail</a:t>
            </a:r>
            <a:endParaRPr lang="en-US" sz="1050" dirty="0"/>
          </a:p>
        </p:txBody>
      </p:sp>
      <p:sp>
        <p:nvSpPr>
          <p:cNvPr id="19" name="Shape 17"/>
          <p:cNvSpPr/>
          <p:nvPr/>
        </p:nvSpPr>
        <p:spPr>
          <a:xfrm>
            <a:off x="457200" y="4754880"/>
            <a:ext cx="6766560" cy="1097280"/>
          </a:xfrm>
          <a:prstGeom prst="roundRect">
            <a:avLst>
              <a:gd name="adj" fmla="val 4167"/>
            </a:avLst>
          </a:prstGeom>
          <a:solidFill>
            <a:srgbClr val="F5F7FA"/>
          </a:solidFill>
          <a:ln w="9525">
            <a:solidFill>
              <a:srgbClr val="C9D3DF"/>
            </a:solidFill>
            <a:prstDash val="solid"/>
          </a:ln>
        </p:spPr>
      </p:sp>
      <p:sp>
        <p:nvSpPr>
          <p:cNvPr id="20" name="Text 18"/>
          <p:cNvSpPr txBox="1"/>
          <p:nvPr/>
        </p:nvSpPr>
        <p:spPr>
          <a:xfrm>
            <a:off x="566928" y="4828032"/>
            <a:ext cx="6547104" cy="950976"/>
          </a:xfrm>
          <a:prstGeom prst="rect">
            <a:avLst/>
          </a:prstGeom>
          <a:noFill/>
          <a:ln/>
        </p:spPr>
        <p:txBody>
          <a:bodyPr wrap="square" lIns="0" tIns="0" rIns="0" bIns="0" rtlCol="0" anchor="t"/>
          <a:lstStyle/>
          <a:p>
            <a:pPr algn="l" indent="0" marL="0">
              <a:lnSpc>
                <a:spcPct val="105000"/>
              </a:lnSpc>
              <a:buNone/>
            </a:pPr>
            <a:r>
              <a:rPr lang="en-US" sz="950" dirty="0">
                <a:solidFill>
                  <a:srgbClr val="1F2D3D"/>
                </a:solidFill>
                <a:latin typeface="Courier New" pitchFamily="34" charset="0"/>
                <a:ea typeface="Courier New" pitchFamily="34" charset="-122"/>
                <a:cs typeface="Courier New" pitchFamily="34" charset="-120"/>
              </a:rPr>
              <a:t>from npu_compiler import npu_target</a:t>
            </a:r>
            <a:endParaRPr lang="en-US" sz="950" dirty="0"/>
          </a:p>
          <a:p>
            <a:pPr algn="l" indent="0" marL="0">
              <a:lnSpc>
                <a:spcPct val="105000"/>
              </a:lnSpc>
              <a:buNone/>
            </a:pPr>
            <a:r>
              <a:rPr lang="en-US" sz="950" dirty="0">
                <a:solidFill>
                  <a:srgbClr val="1F2D3D"/>
                </a:solidFill>
                <a:latin typeface="Courier New" pitchFamily="34" charset="0"/>
                <a:ea typeface="Courier New" pitchFamily="34" charset="-122"/>
                <a:cs typeface="Courier New" pitchFamily="34" charset="-120"/>
              </a:rPr>
              <a:t>with compilation(progress=print):</a:t>
            </a:r>
            <a:endParaRPr lang="en-US" sz="950" dirty="0"/>
          </a:p>
          <a:p>
            <a:pPr algn="l" indent="0" marL="0">
              <a:lnSpc>
                <a:spcPct val="105000"/>
              </a:lnSpc>
              <a:buNone/>
            </a:pPr>
            <a:r>
              <a:rPr lang="en-US" sz="950" dirty="0">
                <a:solidFill>
                  <a:srgbClr val="1F2D3D"/>
                </a:solidFill>
                <a:latin typeface="Courier New" pitchFamily="34" charset="0"/>
                <a:ea typeface="Courier New" pitchFamily="34" charset="-122"/>
                <a:cs typeface="Courier New" pitchFamily="34" charset="-120"/>
              </a:rPr>
              <a:t>    exe = npu_target.build(module, func_name="prefill", fusion="auto")</a:t>
            </a:r>
            <a:endParaRPr lang="en-US" sz="950" dirty="0"/>
          </a:p>
          <a:p>
            <a:pPr algn="l" indent="0" marL="0">
              <a:lnSpc>
                <a:spcPct val="105000"/>
              </a:lnSpc>
              <a:buNone/>
            </a:pPr>
            <a:r>
              <a:rPr lang="en-US" sz="950" dirty="0">
                <a:solidFill>
                  <a:srgbClr val="1F2D3D"/>
                </a:solidFill>
                <a:latin typeface="Courier New" pitchFamily="34" charset="0"/>
                <a:ea typeface="Courier New" pitchFamily="34" charset="-122"/>
                <a:cs typeface="Courier New" pitchFamily="34" charset="-120"/>
              </a:rPr>
              <a:t>output, counters = exe.run(values)        # values: 최종 signature 이름 → 배열</a:t>
            </a:r>
            <a:endParaRPr lang="en-US" sz="950" dirty="0"/>
          </a:p>
          <a:p>
            <a:pPr algn="l" indent="0" marL="0">
              <a:lnSpc>
                <a:spcPct val="105000"/>
              </a:lnSpc>
              <a:buNone/>
            </a:pPr>
            <a:r>
              <a:rPr lang="en-US" sz="950" dirty="0">
                <a:solidFill>
                  <a:srgbClr val="1F2D3D"/>
                </a:solidFill>
                <a:latin typeface="Courier New" pitchFamily="34" charset="0"/>
                <a:ea typeface="Courier New" pitchFamily="34" charset="-122"/>
                <a:cs typeface="Courier New" pitchFamily="34" charset="-120"/>
              </a:rPr>
              <a:t>exe.export_bundle("/tmp/bundle", values)  # program_memory.bin, program.json, IR</a:t>
            </a:r>
            <a:endParaRPr lang="en-US" sz="950" dirty="0"/>
          </a:p>
        </p:txBody>
      </p:sp>
      <p:sp>
        <p:nvSpPr>
          <p:cNvPr id="21" name="Shape 19"/>
          <p:cNvSpPr/>
          <p:nvPr/>
        </p:nvSpPr>
        <p:spPr>
          <a:xfrm>
            <a:off x="7406640" y="4754880"/>
            <a:ext cx="4325112" cy="1097280"/>
          </a:xfrm>
          <a:prstGeom prst="roundRect">
            <a:avLst>
              <a:gd name="adj" fmla="val 5000"/>
            </a:avLst>
          </a:prstGeom>
          <a:solidFill>
            <a:srgbClr val="FFF6DB"/>
          </a:solidFill>
          <a:ln w="12700">
            <a:solidFill>
              <a:srgbClr val="B7791F"/>
            </a:solidFill>
            <a:prstDash val="solid"/>
          </a:ln>
        </p:spPr>
      </p:sp>
      <p:sp>
        <p:nvSpPr>
          <p:cNvPr id="22" name="Text 20"/>
          <p:cNvSpPr txBox="1"/>
          <p:nvPr/>
        </p:nvSpPr>
        <p:spPr>
          <a:xfrm>
            <a:off x="7534656" y="4809744"/>
            <a:ext cx="4069080" cy="987552"/>
          </a:xfrm>
          <a:prstGeom prst="rect">
            <a:avLst/>
          </a:prstGeom>
          <a:noFill/>
          <a:ln/>
        </p:spPr>
        <p:txBody>
          <a:bodyPr wrap="square" lIns="0" tIns="0" rIns="0" bIns="0" rtlCol="0" anchor="ctr"/>
          <a:lstStyle/>
          <a:p>
            <a:pPr algn="l" indent="0" marL="0">
              <a:buNone/>
            </a:pPr>
            <a:r>
              <a:rPr lang="en-US" sz="1100" b="1" dirty="0">
                <a:solidFill>
                  <a:srgbClr val="1F2D3D"/>
                </a:solidFill>
                <a:latin typeface="Malgun Gothic" pitchFamily="34" charset="0"/>
                <a:ea typeface="Malgun Gothic" pitchFamily="34" charset="-122"/>
                <a:cs typeface="Malgun Gothic" pitchFamily="34" charset="-120"/>
              </a:rPr>
              <a:t>재사용 조건</a:t>
            </a:r>
            <a:endParaRPr lang="en-US" sz="1100" dirty="0"/>
          </a:p>
          <a:p>
            <a:pPr algn="l" indent="0" marL="0">
              <a:buNone/>
            </a:pPr>
            <a:r>
              <a:rPr lang="en-US" sz="1050" dirty="0">
                <a:solidFill>
                  <a:srgbClr val="1F2D3D"/>
                </a:solidFill>
                <a:latin typeface="Malgun Gothic" pitchFamily="34" charset="0"/>
                <a:ea typeface="Malgun Gothic" pitchFamily="34" charset="-122"/>
                <a:cs typeface="Malgun Gothic" pitchFamily="34" charset="-120"/>
              </a:rPr>
              <a:t>weight가 parameter로 남아 있고 shape·ABI가 같으면 값만 바꿔 재사용. constant folding한 weight, 다른 S/C는 다른 프로그램.</a:t>
            </a:r>
            <a:endParaRPr lang="en-US" sz="1100" dirty="0"/>
          </a:p>
        </p:txBody>
      </p:sp>
      <p:sp>
        <p:nvSpPr>
          <p:cNvPr id="23" name="Shape 21"/>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24" name="Text 22"/>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"모델을 compile한다"에는 graph 선택 · schedule · 주소 배치 · 명령 생성이 모두 들어 있고, 모델 실행은 그 뒤의 별도 단계입니다.</a:t>
            </a:r>
            <a:endParaRPr lang="en-US" sz="1250" dirty="0"/>
          </a:p>
        </p:txBody>
      </p:sp>
      <p:sp>
        <p:nvSpPr>
          <p:cNvPr id="25" name="Text 23"/>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26" name="Text 24"/>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docs/current/01_overview.md, npu_compiler/npu_target.py, npu_generate.py</a:t>
            </a:r>
            <a:endParaRPr lang="en-US" sz="850" dirty="0"/>
          </a:p>
        </p:txBody>
      </p:sp>
      <p:sp>
        <p:nvSpPr>
          <p:cNvPr id="27" name="Text 25"/>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5 / 89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 · 전체 구조</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같은 계산을 네 수준에서 읽는다: Relax → TIR → scheduled TIR → ISA</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작은 예제 P = X[64,128] @ B[128,64]의 matmul이 각 수준에서 어떻게 보이는지. 아래 코드는 모두 실제 dump에서 발췌했습니다.</a:t>
            </a:r>
            <a:endParaRPr lang="en-US" sz="1250" dirty="0"/>
          </a:p>
        </p:txBody>
      </p:sp>
      <p:sp>
        <p:nvSpPr>
          <p:cNvPr id="5" name="Shape 3"/>
          <p:cNvSpPr/>
          <p:nvPr/>
        </p:nvSpPr>
        <p:spPr>
          <a:xfrm>
            <a:off x="457200" y="1463040"/>
            <a:ext cx="2697480" cy="566928"/>
          </a:xfrm>
          <a:prstGeom prst="roundRect">
            <a:avLst>
              <a:gd name="adj" fmla="val 9677"/>
            </a:avLst>
          </a:prstGeom>
          <a:solidFill>
            <a:srgbClr val="E3EEFB"/>
          </a:solidFill>
          <a:ln w="12700">
            <a:solidFill>
              <a:srgbClr val="2F6DB5"/>
            </a:solidFill>
            <a:prstDash val="solid"/>
          </a:ln>
        </p:spPr>
      </p:sp>
      <p:sp>
        <p:nvSpPr>
          <p:cNvPr id="6" name="Text 4"/>
          <p:cNvSpPr txBox="1"/>
          <p:nvPr/>
        </p:nvSpPr>
        <p:spPr>
          <a:xfrm>
            <a:off x="530352" y="1536192"/>
            <a:ext cx="2551176" cy="266700"/>
          </a:xfrm>
          <a:prstGeom prst="rect">
            <a:avLst/>
          </a:prstGeom>
          <a:noFill/>
          <a:ln/>
        </p:spPr>
        <p:txBody>
          <a:bodyPr wrap="square" lIns="0" tIns="0" rIns="0" bIns="0" rtlCol="0" anchor="ctr"/>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Relax</a:t>
            </a:r>
            <a:endParaRPr lang="en-US" sz="1400" dirty="0"/>
          </a:p>
        </p:txBody>
      </p:sp>
      <p:sp>
        <p:nvSpPr>
          <p:cNvPr id="7" name="Text 5"/>
          <p:cNvSpPr txBox="1"/>
          <p:nvPr/>
        </p:nvSpPr>
        <p:spPr>
          <a:xfrm>
            <a:off x="530352" y="1802892"/>
            <a:ext cx="2551176" cy="190500"/>
          </a:xfrm>
          <a:prstGeom prst="rect">
            <a:avLst/>
          </a:prstGeom>
          <a:noFill/>
          <a:ln/>
        </p:spPr>
        <p:txBody>
          <a:bodyPr wrap="square" lIns="0" tIns="0" rIns="0" bIns="0" rtlCol="0" anchor="t"/>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무엇을 계산하는가</a:t>
            </a:r>
            <a:endParaRPr lang="en-US" sz="950" dirty="0"/>
          </a:p>
        </p:txBody>
      </p:sp>
      <p:sp>
        <p:nvSpPr>
          <p:cNvPr id="8" name="Shape 6"/>
          <p:cNvSpPr/>
          <p:nvPr/>
        </p:nvSpPr>
        <p:spPr>
          <a:xfrm>
            <a:off x="457200" y="2148840"/>
            <a:ext cx="2697480" cy="1691640"/>
          </a:xfrm>
          <a:prstGeom prst="roundRect">
            <a:avLst>
              <a:gd name="adj" fmla="val 2703"/>
            </a:avLst>
          </a:prstGeom>
          <a:solidFill>
            <a:srgbClr val="F5F7FA"/>
          </a:solidFill>
          <a:ln w="9525">
            <a:solidFill>
              <a:srgbClr val="C9D3DF"/>
            </a:solidFill>
            <a:prstDash val="solid"/>
          </a:ln>
        </p:spPr>
      </p:sp>
      <p:sp>
        <p:nvSpPr>
          <p:cNvPr id="9" name="Text 7"/>
          <p:cNvSpPr txBox="1"/>
          <p:nvPr/>
        </p:nvSpPr>
        <p:spPr>
          <a:xfrm>
            <a:off x="566928" y="2221992"/>
            <a:ext cx="2478024" cy="154533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lv1 = R.matmul(x, lv)</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lv2 = R.add(lv1, bias)</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gv  = R.nn.silu(lv2)</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호출 관계, shape/dtype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TensorStructInfo</a:t>
            </a:r>
            <a:endParaRPr lang="en-US" sz="850" dirty="0"/>
          </a:p>
        </p:txBody>
      </p:sp>
      <p:sp>
        <p:nvSpPr>
          <p:cNvPr id="10" name="Shape 8"/>
          <p:cNvSpPr/>
          <p:nvPr/>
        </p:nvSpPr>
        <p:spPr>
          <a:xfrm>
            <a:off x="3172968" y="1746504"/>
            <a:ext cx="128016" cy="914"/>
          </a:xfrm>
          <a:prstGeom prst="line">
            <a:avLst/>
          </a:prstGeom>
          <a:noFill/>
          <a:ln w="25400">
            <a:solidFill>
              <a:srgbClr val="5B6B7F"/>
            </a:solidFill>
            <a:prstDash val="solid"/>
            <a:tailEnd type="triangle"/>
          </a:ln>
        </p:spPr>
      </p:sp>
      <p:sp>
        <p:nvSpPr>
          <p:cNvPr id="11" name="Shape 9"/>
          <p:cNvSpPr/>
          <p:nvPr/>
        </p:nvSpPr>
        <p:spPr>
          <a:xfrm>
            <a:off x="3319272" y="1463040"/>
            <a:ext cx="2697480" cy="566928"/>
          </a:xfrm>
          <a:prstGeom prst="roundRect">
            <a:avLst>
              <a:gd name="adj" fmla="val 9677"/>
            </a:avLst>
          </a:prstGeom>
          <a:solidFill>
            <a:srgbClr val="E3EEFB"/>
          </a:solidFill>
          <a:ln w="12700">
            <a:solidFill>
              <a:srgbClr val="2F6DB5"/>
            </a:solidFill>
            <a:prstDash val="solid"/>
          </a:ln>
        </p:spPr>
      </p:sp>
      <p:sp>
        <p:nvSpPr>
          <p:cNvPr id="12" name="Text 10"/>
          <p:cNvSpPr txBox="1"/>
          <p:nvPr/>
        </p:nvSpPr>
        <p:spPr>
          <a:xfrm>
            <a:off x="3392424" y="1536192"/>
            <a:ext cx="2551176" cy="266700"/>
          </a:xfrm>
          <a:prstGeom prst="rect">
            <a:avLst/>
          </a:prstGeom>
          <a:noFill/>
          <a:ln/>
        </p:spPr>
        <p:txBody>
          <a:bodyPr wrap="square" lIns="0" tIns="0" rIns="0" bIns="0" rtlCol="0" anchor="ctr"/>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Semantic TIR</a:t>
            </a:r>
            <a:endParaRPr lang="en-US" sz="1400" dirty="0"/>
          </a:p>
        </p:txBody>
      </p:sp>
      <p:sp>
        <p:nvSpPr>
          <p:cNvPr id="13" name="Text 11"/>
          <p:cNvSpPr txBox="1"/>
          <p:nvPr/>
        </p:nvSpPr>
        <p:spPr>
          <a:xfrm>
            <a:off x="3392424" y="1802892"/>
            <a:ext cx="2551176" cy="190500"/>
          </a:xfrm>
          <a:prstGeom prst="rect">
            <a:avLst/>
          </a:prstGeom>
          <a:noFill/>
          <a:ln/>
        </p:spPr>
        <p:txBody>
          <a:bodyPr wrap="square" lIns="0" tIns="0" rIns="0" bIns="0" rtlCol="0" anchor="t"/>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어떤 원소를 읽어 더하는가</a:t>
            </a:r>
            <a:endParaRPr lang="en-US" sz="950" dirty="0"/>
          </a:p>
        </p:txBody>
      </p:sp>
      <p:sp>
        <p:nvSpPr>
          <p:cNvPr id="14" name="Shape 12"/>
          <p:cNvSpPr/>
          <p:nvPr/>
        </p:nvSpPr>
        <p:spPr>
          <a:xfrm>
            <a:off x="3319272" y="2148840"/>
            <a:ext cx="2697480" cy="1691640"/>
          </a:xfrm>
          <a:prstGeom prst="roundRect">
            <a:avLst>
              <a:gd name="adj" fmla="val 2703"/>
            </a:avLst>
          </a:prstGeom>
          <a:solidFill>
            <a:srgbClr val="F5F7FA"/>
          </a:solidFill>
          <a:ln w="9525">
            <a:solidFill>
              <a:srgbClr val="C9D3DF"/>
            </a:solidFill>
            <a:prstDash val="solid"/>
          </a:ln>
        </p:spPr>
      </p:sp>
      <p:sp>
        <p:nvSpPr>
          <p:cNvPr id="15" name="Text 13"/>
          <p:cNvSpPr txBox="1"/>
          <p:nvPr/>
        </p:nvSpPr>
        <p:spPr>
          <a:xfrm>
            <a:off x="3429000" y="2221992"/>
            <a:ext cx="2478024" cy="154533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for i0,i1,k in T.grid(64,64,128):</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T.block("matmul"):</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T.init(): C32[i,j] = 0.0</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C32[i,j] += f32(x[i,k])</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 f32(lv[k,j])</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compute[i,j] = f16(C32[i,j])</a:t>
            </a:r>
            <a:endParaRPr lang="en-US" sz="850" dirty="0"/>
          </a:p>
        </p:txBody>
      </p:sp>
      <p:sp>
        <p:nvSpPr>
          <p:cNvPr id="16" name="Shape 14"/>
          <p:cNvSpPr/>
          <p:nvPr/>
        </p:nvSpPr>
        <p:spPr>
          <a:xfrm>
            <a:off x="6035040" y="1746504"/>
            <a:ext cx="128016" cy="914"/>
          </a:xfrm>
          <a:prstGeom prst="line">
            <a:avLst/>
          </a:prstGeom>
          <a:noFill/>
          <a:ln w="25400">
            <a:solidFill>
              <a:srgbClr val="5B6B7F"/>
            </a:solidFill>
            <a:prstDash val="solid"/>
            <a:tailEnd type="triangle"/>
          </a:ln>
        </p:spPr>
      </p:sp>
      <p:sp>
        <p:nvSpPr>
          <p:cNvPr id="17" name="Shape 15"/>
          <p:cNvSpPr/>
          <p:nvPr/>
        </p:nvSpPr>
        <p:spPr>
          <a:xfrm>
            <a:off x="6181344" y="1463040"/>
            <a:ext cx="2697480" cy="566928"/>
          </a:xfrm>
          <a:prstGeom prst="roundRect">
            <a:avLst>
              <a:gd name="adj" fmla="val 9677"/>
            </a:avLst>
          </a:prstGeom>
          <a:solidFill>
            <a:srgbClr val="DDF3F0"/>
          </a:solidFill>
          <a:ln w="12700">
            <a:solidFill>
              <a:srgbClr val="1F8A8A"/>
            </a:solidFill>
            <a:prstDash val="solid"/>
          </a:ln>
        </p:spPr>
      </p:sp>
      <p:sp>
        <p:nvSpPr>
          <p:cNvPr id="18" name="Text 16"/>
          <p:cNvSpPr txBox="1"/>
          <p:nvPr/>
        </p:nvSpPr>
        <p:spPr>
          <a:xfrm>
            <a:off x="6254496" y="1536192"/>
            <a:ext cx="2551176" cy="266700"/>
          </a:xfrm>
          <a:prstGeom prst="rect">
            <a:avLst/>
          </a:prstGeom>
          <a:noFill/>
          <a:ln/>
        </p:spPr>
        <p:txBody>
          <a:bodyPr wrap="square" lIns="0" tIns="0" rIns="0" bIns="0" rtlCol="0" anchor="ctr"/>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Scheduled TIR</a:t>
            </a:r>
            <a:endParaRPr lang="en-US" sz="1400" dirty="0"/>
          </a:p>
        </p:txBody>
      </p:sp>
      <p:sp>
        <p:nvSpPr>
          <p:cNvPr id="19" name="Text 17"/>
          <p:cNvSpPr txBox="1"/>
          <p:nvPr/>
        </p:nvSpPr>
        <p:spPr>
          <a:xfrm>
            <a:off x="6254496" y="1802892"/>
            <a:ext cx="2551176" cy="190500"/>
          </a:xfrm>
          <a:prstGeom prst="rect">
            <a:avLst/>
          </a:prstGeom>
          <a:noFill/>
          <a:ln/>
        </p:spPr>
        <p:txBody>
          <a:bodyPr wrap="square" lIns="0" tIns="0" rIns="0" bIns="0" rtlCol="0" anchor="t"/>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조각 · 위치 · 순서</a:t>
            </a:r>
            <a:endParaRPr lang="en-US" sz="950" dirty="0"/>
          </a:p>
        </p:txBody>
      </p:sp>
      <p:sp>
        <p:nvSpPr>
          <p:cNvPr id="20" name="Shape 18"/>
          <p:cNvSpPr/>
          <p:nvPr/>
        </p:nvSpPr>
        <p:spPr>
          <a:xfrm>
            <a:off x="6181344" y="2148840"/>
            <a:ext cx="2697480" cy="1691640"/>
          </a:xfrm>
          <a:prstGeom prst="roundRect">
            <a:avLst>
              <a:gd name="adj" fmla="val 2703"/>
            </a:avLst>
          </a:prstGeom>
          <a:solidFill>
            <a:srgbClr val="F5F7FA"/>
          </a:solidFill>
          <a:ln w="9525">
            <a:solidFill>
              <a:srgbClr val="C9D3DF"/>
            </a:solidFill>
            <a:prstDash val="solid"/>
          </a:ln>
        </p:spPr>
      </p:sp>
      <p:sp>
        <p:nvSpPr>
          <p:cNvPr id="21" name="Text 19"/>
          <p:cNvSpPr txBox="1"/>
          <p:nvPr/>
        </p:nvSpPr>
        <p:spPr>
          <a:xfrm>
            <a:off x="6291072" y="2221992"/>
            <a:ext cx="2478024" cy="154533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x_global_sram = alloc((64,128),</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"float16", scope="global.sram")</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for k_0 in range(2):   # K tile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npu_gemm_acc(C, A[:,k_0*64:], B)</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cache_read → compute_at →</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tensorize (64×64 intrinsic)</a:t>
            </a:r>
            <a:endParaRPr lang="en-US" sz="850" dirty="0"/>
          </a:p>
        </p:txBody>
      </p:sp>
      <p:sp>
        <p:nvSpPr>
          <p:cNvPr id="22" name="Shape 20"/>
          <p:cNvSpPr/>
          <p:nvPr/>
        </p:nvSpPr>
        <p:spPr>
          <a:xfrm>
            <a:off x="8897112" y="1746504"/>
            <a:ext cx="128016" cy="914"/>
          </a:xfrm>
          <a:prstGeom prst="line">
            <a:avLst/>
          </a:prstGeom>
          <a:noFill/>
          <a:ln w="25400">
            <a:solidFill>
              <a:srgbClr val="5B6B7F"/>
            </a:solidFill>
            <a:prstDash val="solid"/>
            <a:tailEnd type="triangle"/>
          </a:ln>
        </p:spPr>
      </p:sp>
      <p:sp>
        <p:nvSpPr>
          <p:cNvPr id="23" name="Shape 21"/>
          <p:cNvSpPr/>
          <p:nvPr/>
        </p:nvSpPr>
        <p:spPr>
          <a:xfrm>
            <a:off x="9043416" y="1463040"/>
            <a:ext cx="2697480" cy="566928"/>
          </a:xfrm>
          <a:prstGeom prst="roundRect">
            <a:avLst>
              <a:gd name="adj" fmla="val 9677"/>
            </a:avLst>
          </a:prstGeom>
          <a:solidFill>
            <a:srgbClr val="ECE6FA"/>
          </a:solidFill>
          <a:ln w="12700">
            <a:solidFill>
              <a:srgbClr val="6C4FBF"/>
            </a:solidFill>
            <a:prstDash val="solid"/>
          </a:ln>
        </p:spPr>
      </p:sp>
      <p:sp>
        <p:nvSpPr>
          <p:cNvPr id="24" name="Text 22"/>
          <p:cNvSpPr txBox="1"/>
          <p:nvPr/>
        </p:nvSpPr>
        <p:spPr>
          <a:xfrm>
            <a:off x="9116568" y="1536192"/>
            <a:ext cx="2551176" cy="266700"/>
          </a:xfrm>
          <a:prstGeom prst="rect">
            <a:avLst/>
          </a:prstGeom>
          <a:noFill/>
          <a:ln/>
        </p:spPr>
        <p:txBody>
          <a:bodyPr wrap="square" lIns="0" tIns="0" rIns="0" bIns="0" rtlCol="0" anchor="ctr"/>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ISA words</a:t>
            </a:r>
            <a:endParaRPr lang="en-US" sz="1400" dirty="0"/>
          </a:p>
        </p:txBody>
      </p:sp>
      <p:sp>
        <p:nvSpPr>
          <p:cNvPr id="25" name="Text 23"/>
          <p:cNvSpPr txBox="1"/>
          <p:nvPr/>
        </p:nvSpPr>
        <p:spPr>
          <a:xfrm>
            <a:off x="9116568" y="1802892"/>
            <a:ext cx="2551176" cy="190500"/>
          </a:xfrm>
          <a:prstGeom prst="rect">
            <a:avLst/>
          </a:prstGeom>
          <a:noFill/>
          <a:ln/>
        </p:spPr>
        <p:txBody>
          <a:bodyPr wrap="square" lIns="0" tIns="0" rIns="0" bIns="0" rtlCol="0" anchor="t"/>
          <a:lstStyle/>
          <a:p>
            <a:pPr algn="ctr" indent="0" marL="0">
              <a:buNone/>
            </a:pPr>
            <a:r>
              <a:rPr lang="en-US" sz="950" dirty="0">
                <a:solidFill>
                  <a:srgbClr val="5B6B7F"/>
                </a:solidFill>
                <a:latin typeface="Malgun Gothic" pitchFamily="34" charset="0"/>
                <a:ea typeface="Malgun Gothic" pitchFamily="34" charset="-122"/>
                <a:cs typeface="Malgun Gothic" pitchFamily="34" charset="-120"/>
              </a:rPr>
              <a:t>실제 주소와 장치 명령</a:t>
            </a:r>
            <a:endParaRPr lang="en-US" sz="950" dirty="0"/>
          </a:p>
        </p:txBody>
      </p:sp>
      <p:sp>
        <p:nvSpPr>
          <p:cNvPr id="26" name="Shape 24"/>
          <p:cNvSpPr/>
          <p:nvPr/>
        </p:nvSpPr>
        <p:spPr>
          <a:xfrm>
            <a:off x="9043416" y="2148840"/>
            <a:ext cx="2697480" cy="1691640"/>
          </a:xfrm>
          <a:prstGeom prst="roundRect">
            <a:avLst>
              <a:gd name="adj" fmla="val 2703"/>
            </a:avLst>
          </a:prstGeom>
          <a:solidFill>
            <a:srgbClr val="F5F7FA"/>
          </a:solidFill>
          <a:ln w="9525">
            <a:solidFill>
              <a:srgbClr val="C9D3DF"/>
            </a:solidFill>
            <a:prstDash val="solid"/>
          </a:ln>
        </p:spPr>
      </p:sp>
      <p:sp>
        <p:nvSpPr>
          <p:cNvPr id="27" name="Text 25"/>
          <p:cNvSpPr txBox="1"/>
          <p:nvPr/>
        </p:nvSpPr>
        <p:spPr>
          <a:xfrm>
            <a:off x="9153144" y="2221992"/>
            <a:ext cx="2478024" cy="154533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000c18a0 00000000  # GLOAD X</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00000800 00010800  #  → SRAM 1548</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404c1880 ...       # ADDR SRC2</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c0000090           # LOAD matrix</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80000042           # M_MUL MAC=0</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88000042           # M_MUL MAC=1</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4023360"/>
          <a:ext cx="11274552" cy="914400"/>
        </p:xfrm>
        <a:graphic>
          <a:graphicData uri="http://schemas.openxmlformats.org/drawingml/2006/table">
            <a:tbl>
              <a:tblPr/>
              <a:tblGrid>
                <a:gridCol w="1371600"/>
                <a:gridCol w="3931920"/>
                <a:gridCol w="2834640"/>
                <a:gridCol w="3136392"/>
              </a:tblGrid>
              <a:tr h="329184">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수준</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정하는 것</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아직 정하지 않는 것</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만드는 단계</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29184">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Relax</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연산 호출 순서, tensor shape/dtype, parameter 경계(num_input)</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원소 계산 방법, 저장 위치</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nn_models export, graph prefix</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Semantic TIR</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원소 수식, reduction 축, FP32→FP16 cast 위치</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tile 크기, SRAM 주소, DMA 순서</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LegalizeOps(custom map), FuseTIR</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Scheduled TIR</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loop 분할·순서, cache buffer와 복사 위치, intrinsic 치환</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실제 nibble/cell 주소, 명령 word</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npu_schedule + npu_intrin + USMP</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ISA</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descriptor 상태, LOAD/SAVE/M_MUL/vector op, DMA packet 주소</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실장치 cycle</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tir_codegen_v09 / v09_walker.cc + linker</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29" name="Shape 26"/>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30" name="Text 27"/>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LegalizeOps 뒤에도 Relax 함수는 남아 호출 순서를 유지하고, 각 호출의 원소 계산이 TIR PrimFunc로 정의됩니다. 하나의 IRModule에 두 종류의 함수가 공존합니다.</a:t>
            </a:r>
            <a:endParaRPr lang="en-US" sz="1250" dirty="0"/>
          </a:p>
        </p:txBody>
      </p:sp>
      <p:sp>
        <p:nvSpPr>
          <p:cNvPr id="31" name="Text 28"/>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32" name="Text 29"/>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docs/examples/pipeline/01~07, two_matmuls_recorded/program.json</a:t>
            </a:r>
            <a:endParaRPr lang="en-US" sz="850" dirty="0"/>
          </a:p>
        </p:txBody>
      </p:sp>
      <p:sp>
        <p:nvSpPr>
          <p:cNvPr id="33" name="Text 30"/>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6 / 89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 · 전체 구조</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전체 pipeline: 한 번 지나가는 직선이 아니라 비용으로 되돌아오는 탐색</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실제 호출 구조. 후보 graph마다 schedule·메모리·codegen까지 내려가 (DMA bytes, words, SRAM peak)를 얻고 그 비용으로 선택합니다.</a:t>
            </a:r>
            <a:endParaRPr lang="en-US" sz="1250" dirty="0"/>
          </a:p>
        </p:txBody>
      </p:sp>
      <p:sp>
        <p:nvSpPr>
          <p:cNvPr id="5" name="Shape 3"/>
          <p:cNvSpPr/>
          <p:nvPr/>
        </p:nvSpPr>
        <p:spPr>
          <a:xfrm>
            <a:off x="457200" y="1371600"/>
            <a:ext cx="2667762" cy="713232"/>
          </a:xfrm>
          <a:prstGeom prst="roundRect">
            <a:avLst>
              <a:gd name="adj" fmla="val 7692"/>
            </a:avLst>
          </a:prstGeom>
          <a:solidFill>
            <a:srgbClr val="EEF1F5"/>
          </a:solidFill>
          <a:ln w="12700">
            <a:solidFill>
              <a:srgbClr val="5B6B7F"/>
            </a:solidFill>
            <a:prstDash val="solid"/>
          </a:ln>
        </p:spPr>
      </p:sp>
      <p:sp>
        <p:nvSpPr>
          <p:cNvPr id="6" name="Text 4"/>
          <p:cNvSpPr txBox="1"/>
          <p:nvPr/>
        </p:nvSpPr>
        <p:spPr>
          <a:xfrm>
            <a:off x="530352" y="1444752"/>
            <a:ext cx="2521458" cy="219075"/>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모델 + 정적 shape</a:t>
            </a:r>
            <a:endParaRPr lang="en-US" sz="1150" dirty="0"/>
          </a:p>
        </p:txBody>
      </p:sp>
      <p:sp>
        <p:nvSpPr>
          <p:cNvPr id="7" name="Text 5"/>
          <p:cNvSpPr txBox="1"/>
          <p:nvPr/>
        </p:nvSpPr>
        <p:spPr>
          <a:xfrm>
            <a:off x="530352" y="1663827"/>
            <a:ext cx="2521458" cy="384429"/>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nn_models/llama.py</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relax.frontend.nn → export_tvm</a:t>
            </a:r>
            <a:endParaRPr lang="en-US" sz="800" dirty="0"/>
          </a:p>
        </p:txBody>
      </p:sp>
      <p:sp>
        <p:nvSpPr>
          <p:cNvPr id="8" name="Shape 6"/>
          <p:cNvSpPr/>
          <p:nvPr/>
        </p:nvSpPr>
        <p:spPr>
          <a:xfrm>
            <a:off x="3143250" y="1728216"/>
            <a:ext cx="164592" cy="914"/>
          </a:xfrm>
          <a:prstGeom prst="line">
            <a:avLst/>
          </a:prstGeom>
          <a:noFill/>
          <a:ln w="19050">
            <a:solidFill>
              <a:srgbClr val="5B6B7F"/>
            </a:solidFill>
            <a:prstDash val="solid"/>
            <a:tailEnd type="triangle"/>
          </a:ln>
        </p:spPr>
      </p:sp>
      <p:sp>
        <p:nvSpPr>
          <p:cNvPr id="9" name="Shape 7"/>
          <p:cNvSpPr/>
          <p:nvPr/>
        </p:nvSpPr>
        <p:spPr>
          <a:xfrm>
            <a:off x="3326130" y="1371600"/>
            <a:ext cx="2667762" cy="713232"/>
          </a:xfrm>
          <a:prstGeom prst="roundRect">
            <a:avLst>
              <a:gd name="adj" fmla="val 7692"/>
            </a:avLst>
          </a:prstGeom>
          <a:solidFill>
            <a:srgbClr val="E3EEFB"/>
          </a:solidFill>
          <a:ln w="12700">
            <a:solidFill>
              <a:srgbClr val="2F6DB5"/>
            </a:solidFill>
            <a:prstDash val="solid"/>
          </a:ln>
        </p:spPr>
      </p:sp>
      <p:sp>
        <p:nvSpPr>
          <p:cNvPr id="10" name="Text 8"/>
          <p:cNvSpPr txBox="1"/>
          <p:nvPr/>
        </p:nvSpPr>
        <p:spPr>
          <a:xfrm>
            <a:off x="3399282" y="1444752"/>
            <a:ext cx="2521458" cy="219075"/>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Graph prefix (1회)</a:t>
            </a:r>
            <a:endParaRPr lang="en-US" sz="1150" dirty="0"/>
          </a:p>
        </p:txBody>
      </p:sp>
      <p:sp>
        <p:nvSpPr>
          <p:cNvPr id="11" name="Text 9"/>
          <p:cNvSpPr txBox="1"/>
          <p:nvPr/>
        </p:nvSpPr>
        <p:spPr>
          <a:xfrm>
            <a:off x="3399282" y="1663827"/>
            <a:ext cx="2521458" cy="384429"/>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CanonicalizeAttention · CanonicalizeBindings</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EliminateCommonSubexpr · RewriteDataflowReshape · LiftTransformParams</a:t>
            </a:r>
            <a:endParaRPr lang="en-US" sz="800" dirty="0"/>
          </a:p>
        </p:txBody>
      </p:sp>
      <p:sp>
        <p:nvSpPr>
          <p:cNvPr id="12" name="Shape 10"/>
          <p:cNvSpPr/>
          <p:nvPr/>
        </p:nvSpPr>
        <p:spPr>
          <a:xfrm>
            <a:off x="6012180" y="1728216"/>
            <a:ext cx="164592" cy="914"/>
          </a:xfrm>
          <a:prstGeom prst="line">
            <a:avLst/>
          </a:prstGeom>
          <a:noFill/>
          <a:ln w="19050">
            <a:solidFill>
              <a:srgbClr val="5B6B7F"/>
            </a:solidFill>
            <a:prstDash val="solid"/>
            <a:tailEnd type="triangle"/>
          </a:ln>
        </p:spPr>
      </p:sp>
      <p:sp>
        <p:nvSpPr>
          <p:cNvPr id="13" name="Shape 11"/>
          <p:cNvSpPr/>
          <p:nvPr/>
        </p:nvSpPr>
        <p:spPr>
          <a:xfrm>
            <a:off x="6195060" y="1371600"/>
            <a:ext cx="2667762" cy="713232"/>
          </a:xfrm>
          <a:prstGeom prst="roundRect">
            <a:avLst>
              <a:gd name="adj" fmla="val 7692"/>
            </a:avLst>
          </a:prstGeom>
          <a:solidFill>
            <a:srgbClr val="E3EEFB"/>
          </a:solidFill>
          <a:ln w="12700">
            <a:solidFill>
              <a:srgbClr val="2F6DB5"/>
            </a:solidFill>
            <a:prstDash val="solid"/>
          </a:ln>
        </p:spPr>
      </p:sp>
      <p:sp>
        <p:nvSpPr>
          <p:cNvPr id="14" name="Text 12"/>
          <p:cNvSpPr txBox="1"/>
          <p:nvPr/>
        </p:nvSpPr>
        <p:spPr>
          <a:xfrm>
            <a:off x="6268212" y="1444752"/>
            <a:ext cx="2521458" cy="219075"/>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후보 graph 생성 (≤27)</a:t>
            </a:r>
            <a:endParaRPr lang="en-US" sz="1150" dirty="0"/>
          </a:p>
        </p:txBody>
      </p:sp>
      <p:sp>
        <p:nvSpPr>
          <p:cNvPr id="15" name="Text 13"/>
          <p:cNvSpPr txBox="1"/>
          <p:nvPr/>
        </p:nvSpPr>
        <p:spPr>
          <a:xfrm>
            <a:off x="6268212" y="1663827"/>
            <a:ext cx="2521458" cy="384429"/>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attention {off, score, full}</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 {gqa, producers} × generic {off, vectors, matmul}</a:t>
            </a:r>
            <a:endParaRPr lang="en-US" sz="800" dirty="0"/>
          </a:p>
        </p:txBody>
      </p:sp>
      <p:sp>
        <p:nvSpPr>
          <p:cNvPr id="16" name="Shape 14"/>
          <p:cNvSpPr/>
          <p:nvPr/>
        </p:nvSpPr>
        <p:spPr>
          <a:xfrm>
            <a:off x="8881110" y="1728216"/>
            <a:ext cx="164592" cy="914"/>
          </a:xfrm>
          <a:prstGeom prst="line">
            <a:avLst/>
          </a:prstGeom>
          <a:noFill/>
          <a:ln w="19050">
            <a:solidFill>
              <a:srgbClr val="5B6B7F"/>
            </a:solidFill>
            <a:prstDash val="solid"/>
            <a:tailEnd type="triangle"/>
          </a:ln>
        </p:spPr>
      </p:sp>
      <p:sp>
        <p:nvSpPr>
          <p:cNvPr id="17" name="Shape 15"/>
          <p:cNvSpPr/>
          <p:nvPr/>
        </p:nvSpPr>
        <p:spPr>
          <a:xfrm>
            <a:off x="9063990" y="1371600"/>
            <a:ext cx="2667762" cy="713232"/>
          </a:xfrm>
          <a:prstGeom prst="roundRect">
            <a:avLst>
              <a:gd name="adj" fmla="val 7692"/>
            </a:avLst>
          </a:prstGeom>
          <a:solidFill>
            <a:srgbClr val="E3EEFB"/>
          </a:solidFill>
          <a:ln w="12700">
            <a:solidFill>
              <a:srgbClr val="2F6DB5"/>
            </a:solidFill>
            <a:prstDash val="solid"/>
          </a:ln>
        </p:spPr>
      </p:sp>
      <p:sp>
        <p:nvSpPr>
          <p:cNvPr id="18" name="Text 16"/>
          <p:cNvSpPr txBox="1"/>
          <p:nvPr/>
        </p:nvSpPr>
        <p:spPr>
          <a:xfrm>
            <a:off x="9137142" y="1444752"/>
            <a:ext cx="2521458" cy="219075"/>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LegalizeOps → TIR</a:t>
            </a:r>
            <a:endParaRPr lang="en-US" sz="1150" dirty="0"/>
          </a:p>
        </p:txBody>
      </p:sp>
      <p:sp>
        <p:nvSpPr>
          <p:cNvPr id="19" name="Text 17"/>
          <p:cNvSpPr txBox="1"/>
          <p:nvPr/>
        </p:nvSpPr>
        <p:spPr>
          <a:xfrm>
            <a:off x="9137142" y="1663827"/>
            <a:ext cx="2521458" cy="384429"/>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custom legalize map · FoldConstants(K=64)</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AnnotateTIROpPattern · FuseOps/FuseTIR · DCE</a:t>
            </a:r>
            <a:endParaRPr lang="en-US" sz="800" dirty="0"/>
          </a:p>
        </p:txBody>
      </p:sp>
      <p:sp>
        <p:nvSpPr>
          <p:cNvPr id="20" name="Shape 18"/>
          <p:cNvSpPr/>
          <p:nvPr/>
        </p:nvSpPr>
        <p:spPr>
          <a:xfrm>
            <a:off x="457200" y="2560320"/>
            <a:ext cx="2667762" cy="713232"/>
          </a:xfrm>
          <a:prstGeom prst="roundRect">
            <a:avLst>
              <a:gd name="adj" fmla="val 7692"/>
            </a:avLst>
          </a:prstGeom>
          <a:solidFill>
            <a:srgbClr val="DDF3F0"/>
          </a:solidFill>
          <a:ln w="12700">
            <a:solidFill>
              <a:srgbClr val="1F8A8A"/>
            </a:solidFill>
            <a:prstDash val="solid"/>
          </a:ln>
        </p:spPr>
      </p:sp>
      <p:sp>
        <p:nvSpPr>
          <p:cNvPr id="21" name="Text 19"/>
          <p:cNvSpPr txBox="1"/>
          <p:nvPr/>
        </p:nvSpPr>
        <p:spPr>
          <a:xfrm>
            <a:off x="530352" y="2633472"/>
            <a:ext cx="2521458" cy="219075"/>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npu_fusion.select</a:t>
            </a:r>
            <a:endParaRPr lang="en-US" sz="1150" dirty="0"/>
          </a:p>
        </p:txBody>
      </p:sp>
      <p:sp>
        <p:nvSpPr>
          <p:cNvPr id="22" name="Text 20"/>
          <p:cNvSpPr txBox="1"/>
          <p:nvPr/>
        </p:nvSpPr>
        <p:spPr>
          <a:xfrm>
            <a:off x="530352" y="2852547"/>
            <a:ext cx="2521458" cy="384429"/>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영역(FuseOps region)마다 unfused vs fused를</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실제 codegen 비용으로 probe · 진 영역은 inline</a:t>
            </a:r>
            <a:endParaRPr lang="en-US" sz="800" dirty="0"/>
          </a:p>
        </p:txBody>
      </p:sp>
      <p:sp>
        <p:nvSpPr>
          <p:cNvPr id="23" name="Shape 21"/>
          <p:cNvSpPr/>
          <p:nvPr/>
        </p:nvSpPr>
        <p:spPr>
          <a:xfrm>
            <a:off x="3143250" y="2916936"/>
            <a:ext cx="164592" cy="914"/>
          </a:xfrm>
          <a:prstGeom prst="line">
            <a:avLst/>
          </a:prstGeom>
          <a:noFill/>
          <a:ln w="19050">
            <a:solidFill>
              <a:srgbClr val="5B6B7F"/>
            </a:solidFill>
            <a:prstDash val="solid"/>
            <a:tailEnd type="triangle"/>
          </a:ln>
        </p:spPr>
      </p:sp>
      <p:sp>
        <p:nvSpPr>
          <p:cNvPr id="24" name="Shape 22"/>
          <p:cNvSpPr/>
          <p:nvPr/>
        </p:nvSpPr>
        <p:spPr>
          <a:xfrm>
            <a:off x="3326130" y="2560320"/>
            <a:ext cx="2667762" cy="713232"/>
          </a:xfrm>
          <a:prstGeom prst="roundRect">
            <a:avLst>
              <a:gd name="adj" fmla="val 7692"/>
            </a:avLst>
          </a:prstGeom>
          <a:solidFill>
            <a:srgbClr val="DDF3F0"/>
          </a:solidFill>
          <a:ln w="12700">
            <a:solidFill>
              <a:srgbClr val="1F8A8A"/>
            </a:solidFill>
            <a:prstDash val="solid"/>
          </a:ln>
        </p:spPr>
      </p:sp>
      <p:sp>
        <p:nvSpPr>
          <p:cNvPr id="25" name="Text 23"/>
          <p:cNvSpPr txBox="1"/>
          <p:nvPr/>
        </p:nvSpPr>
        <p:spPr>
          <a:xfrm>
            <a:off x="3399282" y="2633472"/>
            <a:ext cx="2521458" cy="219075"/>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npu_link.compile_program</a:t>
            </a:r>
            <a:endParaRPr lang="en-US" sz="1150" dirty="0"/>
          </a:p>
        </p:txBody>
      </p:sp>
      <p:sp>
        <p:nvSpPr>
          <p:cNvPr id="26" name="Text 24"/>
          <p:cNvSpPr txBox="1"/>
          <p:nvPr/>
        </p:nvSpPr>
        <p:spPr>
          <a:xfrm>
            <a:off x="3399282" y="2852547"/>
            <a:ext cx="2521458" cy="384429"/>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entry(prefill_cache, decode)마다 아래 단계 실행</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EntryCache: 동일 entry는 재사용</a:t>
            </a:r>
            <a:endParaRPr lang="en-US" sz="800" dirty="0"/>
          </a:p>
        </p:txBody>
      </p:sp>
      <p:sp>
        <p:nvSpPr>
          <p:cNvPr id="27" name="Shape 25"/>
          <p:cNvSpPr/>
          <p:nvPr/>
        </p:nvSpPr>
        <p:spPr>
          <a:xfrm>
            <a:off x="6012180" y="2916936"/>
            <a:ext cx="164592" cy="914"/>
          </a:xfrm>
          <a:prstGeom prst="line">
            <a:avLst/>
          </a:prstGeom>
          <a:noFill/>
          <a:ln w="19050">
            <a:solidFill>
              <a:srgbClr val="5B6B7F"/>
            </a:solidFill>
            <a:prstDash val="solid"/>
            <a:tailEnd type="triangle"/>
          </a:ln>
        </p:spPr>
      </p:sp>
      <p:sp>
        <p:nvSpPr>
          <p:cNvPr id="28" name="Shape 26"/>
          <p:cNvSpPr/>
          <p:nvPr/>
        </p:nvSpPr>
        <p:spPr>
          <a:xfrm>
            <a:off x="6195060" y="2560320"/>
            <a:ext cx="2667762" cy="713232"/>
          </a:xfrm>
          <a:prstGeom prst="roundRect">
            <a:avLst>
              <a:gd name="adj" fmla="val 7692"/>
            </a:avLst>
          </a:prstGeom>
          <a:solidFill>
            <a:srgbClr val="FFF6DB"/>
          </a:solidFill>
          <a:ln w="12700">
            <a:solidFill>
              <a:srgbClr val="B7791F"/>
            </a:solidFill>
            <a:prstDash val="solid"/>
          </a:ln>
        </p:spPr>
      </p:sp>
      <p:sp>
        <p:nvSpPr>
          <p:cNvPr id="29" name="Text 27"/>
          <p:cNvSpPr txBox="1"/>
          <p:nvPr/>
        </p:nvSpPr>
        <p:spPr>
          <a:xfrm>
            <a:off x="6268212" y="2633472"/>
            <a:ext cx="2521458" cy="219075"/>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비용 비교 · 선택</a:t>
            </a:r>
            <a:endParaRPr lang="en-US" sz="1150" dirty="0"/>
          </a:p>
        </p:txBody>
      </p:sp>
      <p:sp>
        <p:nvSpPr>
          <p:cNvPr id="30" name="Text 28"/>
          <p:cNvSpPr txBox="1"/>
          <p:nvPr/>
        </p:nvSpPr>
        <p:spPr>
          <a:xfrm>
            <a:off x="6268212" y="2852547"/>
            <a:ext cx="2521458" cy="384429"/>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cost = (DMA bytes, words, SRAM peak) 사전식</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모든 entry 비악화 + 하나 이상 개선 시 채택</a:t>
            </a:r>
            <a:endParaRPr lang="en-US" sz="800" dirty="0"/>
          </a:p>
        </p:txBody>
      </p:sp>
      <p:sp>
        <p:nvSpPr>
          <p:cNvPr id="31" name="Shape 29"/>
          <p:cNvSpPr/>
          <p:nvPr/>
        </p:nvSpPr>
        <p:spPr>
          <a:xfrm>
            <a:off x="8881110" y="2916936"/>
            <a:ext cx="164592" cy="914"/>
          </a:xfrm>
          <a:prstGeom prst="line">
            <a:avLst/>
          </a:prstGeom>
          <a:noFill/>
          <a:ln w="19050">
            <a:solidFill>
              <a:srgbClr val="5B6B7F"/>
            </a:solidFill>
            <a:prstDash val="solid"/>
            <a:tailEnd type="triangle"/>
          </a:ln>
        </p:spPr>
      </p:sp>
      <p:sp>
        <p:nvSpPr>
          <p:cNvPr id="32" name="Shape 30"/>
          <p:cNvSpPr/>
          <p:nvPr/>
        </p:nvSpPr>
        <p:spPr>
          <a:xfrm>
            <a:off x="9063990" y="2560320"/>
            <a:ext cx="2667762" cy="713232"/>
          </a:xfrm>
          <a:prstGeom prst="roundRect">
            <a:avLst>
              <a:gd name="adj" fmla="val 7692"/>
            </a:avLst>
          </a:prstGeom>
          <a:solidFill>
            <a:srgbClr val="ECE6FA"/>
          </a:solidFill>
          <a:ln w="12700">
            <a:solidFill>
              <a:srgbClr val="6C4FBF"/>
            </a:solidFill>
            <a:prstDash val="solid"/>
          </a:ln>
        </p:spPr>
      </p:sp>
      <p:sp>
        <p:nvSpPr>
          <p:cNvPr id="33" name="Text 31"/>
          <p:cNvSpPr txBox="1"/>
          <p:nvPr/>
        </p:nvSpPr>
        <p:spPr>
          <a:xfrm>
            <a:off x="9137142" y="2633472"/>
            <a:ext cx="2521458" cy="219075"/>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NpuExecutable</a:t>
            </a:r>
            <a:endParaRPr lang="en-US" sz="1150" dirty="0"/>
          </a:p>
        </p:txBody>
      </p:sp>
      <p:sp>
        <p:nvSpPr>
          <p:cNvPr id="34" name="Text 32"/>
          <p:cNvSpPr txBox="1"/>
          <p:nvPr/>
        </p:nvSpPr>
        <p:spPr>
          <a:xfrm>
            <a:off x="9137142" y="2852547"/>
            <a:ext cx="2521458" cy="384429"/>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words + plan(주소·ABI·통계) + lowered module</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export_bundle → bin/JSON/IR</a:t>
            </a:r>
            <a:endParaRPr lang="en-US" sz="800" dirty="0"/>
          </a:p>
        </p:txBody>
      </p:sp>
      <p:sp>
        <p:nvSpPr>
          <p:cNvPr id="35" name="Shape 33"/>
          <p:cNvSpPr/>
          <p:nvPr/>
        </p:nvSpPr>
        <p:spPr>
          <a:xfrm>
            <a:off x="10397871" y="2084832"/>
            <a:ext cx="914" cy="128016"/>
          </a:xfrm>
          <a:prstGeom prst="line">
            <a:avLst/>
          </a:prstGeom>
          <a:noFill/>
          <a:ln w="19050">
            <a:solidFill>
              <a:srgbClr val="5B6B7F"/>
            </a:solidFill>
            <a:prstDash val="solid"/>
          </a:ln>
        </p:spPr>
      </p:sp>
      <p:sp>
        <p:nvSpPr>
          <p:cNvPr id="36" name="Shape 34"/>
          <p:cNvSpPr/>
          <p:nvPr/>
        </p:nvSpPr>
        <p:spPr>
          <a:xfrm flipH="1">
            <a:off x="1791081" y="2212848"/>
            <a:ext cx="8606790" cy="914"/>
          </a:xfrm>
          <a:prstGeom prst="line">
            <a:avLst/>
          </a:prstGeom>
          <a:noFill/>
          <a:ln w="19050">
            <a:solidFill>
              <a:srgbClr val="5B6B7F"/>
            </a:solidFill>
            <a:prstDash val="solid"/>
          </a:ln>
        </p:spPr>
      </p:sp>
      <p:sp>
        <p:nvSpPr>
          <p:cNvPr id="37" name="Shape 35"/>
          <p:cNvSpPr/>
          <p:nvPr/>
        </p:nvSpPr>
        <p:spPr>
          <a:xfrm>
            <a:off x="1791081" y="2212848"/>
            <a:ext cx="914" cy="347472"/>
          </a:xfrm>
          <a:prstGeom prst="line">
            <a:avLst/>
          </a:prstGeom>
          <a:noFill/>
          <a:ln w="19050">
            <a:solidFill>
              <a:srgbClr val="5B6B7F"/>
            </a:solidFill>
            <a:prstDash val="solid"/>
            <a:tailEnd type="triangle"/>
          </a:ln>
        </p:spPr>
      </p:sp>
      <p:sp>
        <p:nvSpPr>
          <p:cNvPr id="38" name="Shape 36"/>
          <p:cNvSpPr/>
          <p:nvPr/>
        </p:nvSpPr>
        <p:spPr>
          <a:xfrm>
            <a:off x="457200" y="3520440"/>
            <a:ext cx="11274552" cy="1115568"/>
          </a:xfrm>
          <a:prstGeom prst="roundRect">
            <a:avLst>
              <a:gd name="adj" fmla="val 6557"/>
            </a:avLst>
          </a:prstGeom>
          <a:solidFill>
            <a:srgbClr val="EEF2F6"/>
          </a:solidFill>
          <a:ln w="12700">
            <a:solidFill>
              <a:srgbClr val="C9D3DF"/>
            </a:solidFill>
            <a:prstDash val="solid"/>
          </a:ln>
        </p:spPr>
      </p:sp>
      <p:sp>
        <p:nvSpPr>
          <p:cNvPr id="39" name="Text 37"/>
          <p:cNvSpPr txBox="1"/>
          <p:nvPr/>
        </p:nvSpPr>
        <p:spPr>
          <a:xfrm>
            <a:off x="594360" y="3547872"/>
            <a:ext cx="5486400" cy="228600"/>
          </a:xfrm>
          <a:prstGeom prst="rect">
            <a:avLst/>
          </a:prstGeom>
          <a:noFill/>
          <a:ln/>
        </p:spPr>
        <p:txBody>
          <a:bodyPr wrap="square" lIns="0" tIns="0" rIns="0" bIns="0" rtlCol="0" anchor="t"/>
          <a:lstStyle/>
          <a:p>
            <a:pPr algn="l" indent="0" marL="0">
              <a:buNone/>
            </a:pPr>
            <a:r>
              <a:rPr lang="en-US" sz="950" b="1" dirty="0">
                <a:solidFill>
                  <a:srgbClr val="1F8A8A"/>
                </a:solidFill>
                <a:latin typeface="Malgun Gothic" pitchFamily="34" charset="0"/>
                <a:ea typeface="Malgun Gothic" pitchFamily="34" charset="-122"/>
                <a:cs typeface="Malgun Gothic" pitchFamily="34" charset="-120"/>
              </a:rPr>
              <a:t>compile_program 내부 (entry 하나)</a:t>
            </a:r>
            <a:endParaRPr lang="en-US" sz="950" dirty="0"/>
          </a:p>
        </p:txBody>
      </p:sp>
      <p:sp>
        <p:nvSpPr>
          <p:cNvPr id="40" name="Shape 38"/>
          <p:cNvSpPr/>
          <p:nvPr/>
        </p:nvSpPr>
        <p:spPr>
          <a:xfrm>
            <a:off x="594360" y="3776472"/>
            <a:ext cx="2068373" cy="749808"/>
          </a:xfrm>
          <a:prstGeom prst="roundRect">
            <a:avLst>
              <a:gd name="adj" fmla="val 7317"/>
            </a:avLst>
          </a:prstGeom>
          <a:solidFill>
            <a:srgbClr val="FFF1DC"/>
          </a:solidFill>
          <a:ln w="12700">
            <a:solidFill>
              <a:srgbClr val="D98A1E"/>
            </a:solidFill>
            <a:prstDash val="solid"/>
          </a:ln>
        </p:spPr>
      </p:sp>
      <p:sp>
        <p:nvSpPr>
          <p:cNvPr id="41" name="Text 39"/>
          <p:cNvSpPr txBox="1"/>
          <p:nvPr/>
        </p:nvSpPr>
        <p:spPr>
          <a:xfrm>
            <a:off x="667512" y="3849624"/>
            <a:ext cx="1922069"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DRAM 계획</a:t>
            </a:r>
            <a:endParaRPr lang="en-US" sz="1050" dirty="0"/>
          </a:p>
        </p:txBody>
      </p:sp>
      <p:sp>
        <p:nvSpPr>
          <p:cNvPr id="42" name="Text 40"/>
          <p:cNvSpPr txBox="1"/>
          <p:nvPr/>
        </p:nvSpPr>
        <p:spPr>
          <a:xfrm>
            <a:off x="667512" y="4049649"/>
            <a:ext cx="1922069" cy="440055"/>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npu_memplan: StaticPlanBlockMemory</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 flat pool 주소</a:t>
            </a:r>
            <a:endParaRPr lang="en-US" sz="800" dirty="0"/>
          </a:p>
        </p:txBody>
      </p:sp>
      <p:sp>
        <p:nvSpPr>
          <p:cNvPr id="43" name="Shape 41"/>
          <p:cNvSpPr/>
          <p:nvPr/>
        </p:nvSpPr>
        <p:spPr>
          <a:xfrm>
            <a:off x="2681021" y="4151376"/>
            <a:ext cx="128016" cy="914"/>
          </a:xfrm>
          <a:prstGeom prst="line">
            <a:avLst/>
          </a:prstGeom>
          <a:noFill/>
          <a:ln w="15240">
            <a:solidFill>
              <a:srgbClr val="5B6B7F"/>
            </a:solidFill>
            <a:prstDash val="solid"/>
            <a:tailEnd type="triangle"/>
          </a:ln>
        </p:spPr>
      </p:sp>
      <p:sp>
        <p:nvSpPr>
          <p:cNvPr id="44" name="Shape 42"/>
          <p:cNvSpPr/>
          <p:nvPr/>
        </p:nvSpPr>
        <p:spPr>
          <a:xfrm>
            <a:off x="2827325" y="3776472"/>
            <a:ext cx="2068373" cy="749808"/>
          </a:xfrm>
          <a:prstGeom prst="roundRect">
            <a:avLst>
              <a:gd name="adj" fmla="val 7317"/>
            </a:avLst>
          </a:prstGeom>
          <a:solidFill>
            <a:srgbClr val="DDF3F0"/>
          </a:solidFill>
          <a:ln w="12700">
            <a:solidFill>
              <a:srgbClr val="1F8A8A"/>
            </a:solidFill>
            <a:prstDash val="solid"/>
          </a:ln>
        </p:spPr>
      </p:sp>
      <p:sp>
        <p:nvSpPr>
          <p:cNvPr id="45" name="Text 43"/>
          <p:cNvSpPr txBox="1"/>
          <p:nvPr/>
        </p:nvSpPr>
        <p:spPr>
          <a:xfrm>
            <a:off x="2900477" y="3849624"/>
            <a:ext cx="1922069"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SRAM 보관 탐색</a:t>
            </a:r>
            <a:endParaRPr lang="en-US" sz="1050" dirty="0"/>
          </a:p>
        </p:txBody>
      </p:sp>
      <p:sp>
        <p:nvSpPr>
          <p:cNvPr id="46" name="Text 44"/>
          <p:cNvSpPr txBox="1"/>
          <p:nvPr/>
        </p:nvSpPr>
        <p:spPr>
          <a:xfrm>
            <a:off x="2900477" y="4049649"/>
            <a:ext cx="1922069" cy="440055"/>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npu_memory_search: beam 4</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값 보관 + 호출별 재schedule</a:t>
            </a:r>
            <a:endParaRPr lang="en-US" sz="800" dirty="0"/>
          </a:p>
        </p:txBody>
      </p:sp>
      <p:sp>
        <p:nvSpPr>
          <p:cNvPr id="47" name="Shape 45"/>
          <p:cNvSpPr/>
          <p:nvPr/>
        </p:nvSpPr>
        <p:spPr>
          <a:xfrm>
            <a:off x="4913986" y="4151376"/>
            <a:ext cx="128016" cy="914"/>
          </a:xfrm>
          <a:prstGeom prst="line">
            <a:avLst/>
          </a:prstGeom>
          <a:noFill/>
          <a:ln w="15240">
            <a:solidFill>
              <a:srgbClr val="5B6B7F"/>
            </a:solidFill>
            <a:prstDash val="solid"/>
            <a:tailEnd type="triangle"/>
          </a:ln>
        </p:spPr>
      </p:sp>
      <p:sp>
        <p:nvSpPr>
          <p:cNvPr id="48" name="Shape 46"/>
          <p:cNvSpPr/>
          <p:nvPr/>
        </p:nvSpPr>
        <p:spPr>
          <a:xfrm>
            <a:off x="5060290" y="3776472"/>
            <a:ext cx="2068373" cy="749808"/>
          </a:xfrm>
          <a:prstGeom prst="roundRect">
            <a:avLst>
              <a:gd name="adj" fmla="val 7317"/>
            </a:avLst>
          </a:prstGeom>
          <a:solidFill>
            <a:srgbClr val="DDF3F0"/>
          </a:solidFill>
          <a:ln w="12700">
            <a:solidFill>
              <a:srgbClr val="1F8A8A"/>
            </a:solidFill>
            <a:prstDash val="solid"/>
          </a:ln>
        </p:spPr>
      </p:sp>
      <p:sp>
        <p:nvSpPr>
          <p:cNvPr id="49" name="Text 47"/>
          <p:cNvSpPr txBox="1"/>
          <p:nvPr/>
        </p:nvSpPr>
        <p:spPr>
          <a:xfrm>
            <a:off x="5133442" y="3849624"/>
            <a:ext cx="1922069"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호출별 schedule</a:t>
            </a:r>
            <a:endParaRPr lang="en-US" sz="1050" dirty="0"/>
          </a:p>
        </p:txBody>
      </p:sp>
      <p:sp>
        <p:nvSpPr>
          <p:cNvPr id="50" name="Text 48"/>
          <p:cNvSpPr txBox="1"/>
          <p:nvPr/>
        </p:nvSpPr>
        <p:spPr>
          <a:xfrm>
            <a:off x="5133442" y="4049649"/>
            <a:ext cx="1922069" cy="440055"/>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npu_schedule / npu_intrin</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후보 공간 · tensorize · USMP</a:t>
            </a:r>
            <a:endParaRPr lang="en-US" sz="800" dirty="0"/>
          </a:p>
        </p:txBody>
      </p:sp>
      <p:sp>
        <p:nvSpPr>
          <p:cNvPr id="51" name="Shape 49"/>
          <p:cNvSpPr/>
          <p:nvPr/>
        </p:nvSpPr>
        <p:spPr>
          <a:xfrm>
            <a:off x="7146950" y="4151376"/>
            <a:ext cx="128016" cy="914"/>
          </a:xfrm>
          <a:prstGeom prst="line">
            <a:avLst/>
          </a:prstGeom>
          <a:noFill/>
          <a:ln w="15240">
            <a:solidFill>
              <a:srgbClr val="5B6B7F"/>
            </a:solidFill>
            <a:prstDash val="solid"/>
            <a:tailEnd type="triangle"/>
          </a:ln>
        </p:spPr>
      </p:sp>
      <p:sp>
        <p:nvSpPr>
          <p:cNvPr id="52" name="Shape 50"/>
          <p:cNvSpPr/>
          <p:nvPr/>
        </p:nvSpPr>
        <p:spPr>
          <a:xfrm>
            <a:off x="7293254" y="3776472"/>
            <a:ext cx="2068373" cy="749808"/>
          </a:xfrm>
          <a:prstGeom prst="roundRect">
            <a:avLst>
              <a:gd name="adj" fmla="val 7317"/>
            </a:avLst>
          </a:prstGeom>
          <a:solidFill>
            <a:srgbClr val="ECE6FA"/>
          </a:solidFill>
          <a:ln w="12700">
            <a:solidFill>
              <a:srgbClr val="6C4FBF"/>
            </a:solidFill>
            <a:prstDash val="solid"/>
          </a:ln>
        </p:spPr>
      </p:sp>
      <p:sp>
        <p:nvSpPr>
          <p:cNvPr id="53" name="Text 51"/>
          <p:cNvSpPr txBox="1"/>
          <p:nvPr/>
        </p:nvSpPr>
        <p:spPr>
          <a:xfrm>
            <a:off x="7366406" y="3849624"/>
            <a:ext cx="1922069"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Codegen</a:t>
            </a:r>
            <a:endParaRPr lang="en-US" sz="1050" dirty="0"/>
          </a:p>
        </p:txBody>
      </p:sp>
      <p:sp>
        <p:nvSpPr>
          <p:cNvPr id="54" name="Text 52"/>
          <p:cNvSpPr txBox="1"/>
          <p:nvPr/>
        </p:nvSpPr>
        <p:spPr>
          <a:xfrm>
            <a:off x="7366406" y="4049649"/>
            <a:ext cx="1922069" cy="440055"/>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tir_codegen_v09 (Python)</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v09_walker.cc (native)</a:t>
            </a:r>
            <a:endParaRPr lang="en-US" sz="800" dirty="0"/>
          </a:p>
        </p:txBody>
      </p:sp>
      <p:sp>
        <p:nvSpPr>
          <p:cNvPr id="55" name="Shape 53"/>
          <p:cNvSpPr/>
          <p:nvPr/>
        </p:nvSpPr>
        <p:spPr>
          <a:xfrm>
            <a:off x="9379915" y="4151376"/>
            <a:ext cx="128016" cy="914"/>
          </a:xfrm>
          <a:prstGeom prst="line">
            <a:avLst/>
          </a:prstGeom>
          <a:noFill/>
          <a:ln w="15240">
            <a:solidFill>
              <a:srgbClr val="5B6B7F"/>
            </a:solidFill>
            <a:prstDash val="solid"/>
            <a:tailEnd type="triangle"/>
          </a:ln>
        </p:spPr>
      </p:sp>
      <p:sp>
        <p:nvSpPr>
          <p:cNvPr id="56" name="Shape 54"/>
          <p:cNvSpPr/>
          <p:nvPr/>
        </p:nvSpPr>
        <p:spPr>
          <a:xfrm>
            <a:off x="9526219" y="3776472"/>
            <a:ext cx="2068373" cy="749808"/>
          </a:xfrm>
          <a:prstGeom prst="roundRect">
            <a:avLst>
              <a:gd name="adj" fmla="val 7317"/>
            </a:avLst>
          </a:prstGeom>
          <a:solidFill>
            <a:srgbClr val="ECE6FA"/>
          </a:solidFill>
          <a:ln w="12700">
            <a:solidFill>
              <a:srgbClr val="6C4FBF"/>
            </a:solidFill>
            <a:prstDash val="solid"/>
          </a:ln>
        </p:spPr>
      </p:sp>
      <p:sp>
        <p:nvSpPr>
          <p:cNvPr id="57" name="Text 55"/>
          <p:cNvSpPr txBox="1"/>
          <p:nvPr/>
        </p:nvSpPr>
        <p:spPr>
          <a:xfrm>
            <a:off x="9599371" y="3849624"/>
            <a:ext cx="1922069"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Link 마무리</a:t>
            </a:r>
            <a:endParaRPr lang="en-US" sz="1050" dirty="0"/>
          </a:p>
        </p:txBody>
      </p:sp>
      <p:sp>
        <p:nvSpPr>
          <p:cNvPr id="58" name="Text 56"/>
          <p:cNvSpPr txBox="1"/>
          <p:nvPr/>
        </p:nvSpPr>
        <p:spPr>
          <a:xfrm>
            <a:off x="9599371" y="4049649"/>
            <a:ext cx="1922069" cy="440055"/>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residency · peephole</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DRAM compaction · HALT</a:t>
            </a:r>
            <a:endParaRPr lang="en-US" sz="800" dirty="0"/>
          </a:p>
        </p:txBody>
      </p:sp>
      <p:sp>
        <p:nvSpPr>
          <p:cNvPr id="59" name="Shape 57"/>
          <p:cNvSpPr/>
          <p:nvPr/>
        </p:nvSpPr>
        <p:spPr>
          <a:xfrm flipV="1">
            <a:off x="7528941" y="2139696"/>
            <a:ext cx="914" cy="420624"/>
          </a:xfrm>
          <a:prstGeom prst="line">
            <a:avLst/>
          </a:prstGeom>
          <a:noFill/>
          <a:ln w="19050">
            <a:solidFill>
              <a:srgbClr val="B7791F"/>
            </a:solidFill>
            <a:prstDash val="dash"/>
            <a:tailEnd type="triangle"/>
          </a:ln>
        </p:spPr>
      </p:sp>
      <p:sp>
        <p:nvSpPr>
          <p:cNvPr id="60" name="Text 58"/>
          <p:cNvSpPr txBox="1"/>
          <p:nvPr/>
        </p:nvSpPr>
        <p:spPr>
          <a:xfrm>
            <a:off x="7602093" y="2267712"/>
            <a:ext cx="2377440" cy="219456"/>
          </a:xfrm>
          <a:prstGeom prst="rect">
            <a:avLst/>
          </a:prstGeom>
          <a:noFill/>
          <a:ln/>
        </p:spPr>
        <p:txBody>
          <a:bodyPr wrap="square" lIns="0" tIns="0" rIns="0" bIns="0" rtlCol="0" anchor="t"/>
          <a:lstStyle/>
          <a:p>
            <a:pPr algn="l" indent="0" marL="0">
              <a:buNone/>
            </a:pPr>
            <a:r>
              <a:rPr lang="en-US" sz="850" b="1" dirty="0">
                <a:solidFill>
                  <a:srgbClr val="B7791F"/>
                </a:solidFill>
                <a:latin typeface="Malgun Gothic" pitchFamily="34" charset="0"/>
                <a:ea typeface="Malgun Gothic" pitchFamily="34" charset="-122"/>
                <a:cs typeface="Malgun Gothic" pitchFamily="34" charset="-120"/>
              </a:rPr>
              <a:t>다음 후보 (기본 120 s / None 가능)</a:t>
            </a:r>
            <a:endParaRPr lang="en-US" sz="850" dirty="0"/>
          </a:p>
        </p:txBody>
      </p:sp>
      <p:sp>
        <p:nvSpPr>
          <p:cNvPr id="61" name="Shape 59"/>
          <p:cNvSpPr/>
          <p:nvPr/>
        </p:nvSpPr>
        <p:spPr>
          <a:xfrm>
            <a:off x="457200" y="4828032"/>
            <a:ext cx="2667762" cy="713232"/>
          </a:xfrm>
          <a:prstGeom prst="roundRect">
            <a:avLst>
              <a:gd name="adj" fmla="val 7692"/>
            </a:avLst>
          </a:prstGeom>
          <a:solidFill>
            <a:srgbClr val="EEF1F5"/>
          </a:solidFill>
          <a:ln w="12700">
            <a:solidFill>
              <a:srgbClr val="5B6B7F"/>
            </a:solidFill>
            <a:prstDash val="solid"/>
          </a:ln>
        </p:spPr>
      </p:sp>
      <p:sp>
        <p:nvSpPr>
          <p:cNvPr id="62" name="Text 60"/>
          <p:cNvSpPr txBox="1"/>
          <p:nvPr/>
        </p:nvSpPr>
        <p:spPr>
          <a:xfrm>
            <a:off x="530352" y="4901184"/>
            <a:ext cx="2521458" cy="219075"/>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Host transform 실행</a:t>
            </a:r>
            <a:endParaRPr lang="en-US" sz="1150" dirty="0"/>
          </a:p>
        </p:txBody>
      </p:sp>
      <p:sp>
        <p:nvSpPr>
          <p:cNvPr id="63" name="Text 61"/>
          <p:cNvSpPr txBox="1"/>
          <p:nvPr/>
        </p:nvSpPr>
        <p:spPr>
          <a:xfrm>
            <a:off x="530352" y="5120259"/>
            <a:ext cx="2521458" cy="384429"/>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relax.build(host,"llvm") VM → W transpose 등</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params-cache (IR+weight hash)</a:t>
            </a:r>
            <a:endParaRPr lang="en-US" sz="800" dirty="0"/>
          </a:p>
        </p:txBody>
      </p:sp>
      <p:sp>
        <p:nvSpPr>
          <p:cNvPr id="64" name="Shape 62"/>
          <p:cNvSpPr/>
          <p:nvPr/>
        </p:nvSpPr>
        <p:spPr>
          <a:xfrm>
            <a:off x="3143250" y="5184648"/>
            <a:ext cx="164592" cy="914"/>
          </a:xfrm>
          <a:prstGeom prst="line">
            <a:avLst/>
          </a:prstGeom>
          <a:noFill/>
          <a:ln w="19050">
            <a:solidFill>
              <a:srgbClr val="5B6B7F"/>
            </a:solidFill>
            <a:prstDash val="solid"/>
            <a:tailEnd type="triangle"/>
          </a:ln>
        </p:spPr>
      </p:sp>
      <p:sp>
        <p:nvSpPr>
          <p:cNvPr id="65" name="Shape 63"/>
          <p:cNvSpPr/>
          <p:nvPr/>
        </p:nvSpPr>
        <p:spPr>
          <a:xfrm>
            <a:off x="3326130" y="4828032"/>
            <a:ext cx="2667762" cy="713232"/>
          </a:xfrm>
          <a:prstGeom prst="roundRect">
            <a:avLst>
              <a:gd name="adj" fmla="val 7692"/>
            </a:avLst>
          </a:prstGeom>
          <a:solidFill>
            <a:srgbClr val="FFF1DC"/>
          </a:solidFill>
          <a:ln w="12700">
            <a:solidFill>
              <a:srgbClr val="D98A1E"/>
            </a:solidFill>
            <a:prstDash val="solid"/>
          </a:ln>
        </p:spPr>
      </p:sp>
      <p:sp>
        <p:nvSpPr>
          <p:cNvPr id="66" name="Text 64"/>
          <p:cNvSpPr txBox="1"/>
          <p:nvPr/>
        </p:nvSpPr>
        <p:spPr>
          <a:xfrm>
            <a:off x="3399282" y="4901184"/>
            <a:ext cx="2521458" cy="219075"/>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DRAM image 구성</a:t>
            </a:r>
            <a:endParaRPr lang="en-US" sz="1150" dirty="0"/>
          </a:p>
        </p:txBody>
      </p:sp>
      <p:sp>
        <p:nvSpPr>
          <p:cNvPr id="67" name="Text 65"/>
          <p:cNvSpPr txBox="1"/>
          <p:nvPr/>
        </p:nvSpPr>
        <p:spPr>
          <a:xfrm>
            <a:off x="3399282" y="5120259"/>
            <a:ext cx="2521458" cy="384429"/>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build_image: plan.address에 입력·parameter·상수</a:t>
            </a:r>
            <a:endParaRPr lang="en-US" sz="800" dirty="0"/>
          </a:p>
        </p:txBody>
      </p:sp>
      <p:sp>
        <p:nvSpPr>
          <p:cNvPr id="68" name="Shape 66"/>
          <p:cNvSpPr/>
          <p:nvPr/>
        </p:nvSpPr>
        <p:spPr>
          <a:xfrm>
            <a:off x="6012180" y="5184648"/>
            <a:ext cx="164592" cy="914"/>
          </a:xfrm>
          <a:prstGeom prst="line">
            <a:avLst/>
          </a:prstGeom>
          <a:noFill/>
          <a:ln w="19050">
            <a:solidFill>
              <a:srgbClr val="5B6B7F"/>
            </a:solidFill>
            <a:prstDash val="solid"/>
            <a:tailEnd type="triangle"/>
          </a:ln>
        </p:spPr>
      </p:sp>
      <p:sp>
        <p:nvSpPr>
          <p:cNvPr id="69" name="Shape 67"/>
          <p:cNvSpPr/>
          <p:nvPr/>
        </p:nvSpPr>
        <p:spPr>
          <a:xfrm>
            <a:off x="6195060" y="4828032"/>
            <a:ext cx="2667762" cy="713232"/>
          </a:xfrm>
          <a:prstGeom prst="roundRect">
            <a:avLst>
              <a:gd name="adj" fmla="val 7692"/>
            </a:avLst>
          </a:prstGeom>
          <a:solidFill>
            <a:srgbClr val="ECE6FA"/>
          </a:solidFill>
          <a:ln w="12700">
            <a:solidFill>
              <a:srgbClr val="6C4FBF"/>
            </a:solidFill>
            <a:prstDash val="solid"/>
          </a:ln>
        </p:spPr>
      </p:sp>
      <p:sp>
        <p:nvSpPr>
          <p:cNvPr id="70" name="Text 68"/>
          <p:cNvSpPr txBox="1"/>
          <p:nvPr/>
        </p:nvSpPr>
        <p:spPr>
          <a:xfrm>
            <a:off x="6268212" y="4901184"/>
            <a:ext cx="2521458" cy="219075"/>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C-model 실행</a:t>
            </a:r>
            <a:endParaRPr lang="en-US" sz="1150" dirty="0"/>
          </a:p>
        </p:txBody>
      </p:sp>
      <p:sp>
        <p:nvSpPr>
          <p:cNvPr id="71" name="Text 69"/>
          <p:cNvSpPr txBox="1"/>
          <p:nvPr/>
        </p:nvSpPr>
        <p:spPr>
          <a:xfrm>
            <a:off x="6268212" y="5120259"/>
            <a:ext cx="2521458" cy="384429"/>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program_memory.bin + global_memory.bin</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 saved image + perf counters</a:t>
            </a:r>
            <a:endParaRPr lang="en-US" sz="800" dirty="0"/>
          </a:p>
        </p:txBody>
      </p:sp>
      <p:sp>
        <p:nvSpPr>
          <p:cNvPr id="72" name="Shape 70"/>
          <p:cNvSpPr/>
          <p:nvPr/>
        </p:nvSpPr>
        <p:spPr>
          <a:xfrm>
            <a:off x="8881110" y="5184648"/>
            <a:ext cx="164592" cy="914"/>
          </a:xfrm>
          <a:prstGeom prst="line">
            <a:avLst/>
          </a:prstGeom>
          <a:noFill/>
          <a:ln w="19050">
            <a:solidFill>
              <a:srgbClr val="5B6B7F"/>
            </a:solidFill>
            <a:prstDash val="solid"/>
            <a:tailEnd type="triangle"/>
          </a:ln>
        </p:spPr>
      </p:sp>
      <p:sp>
        <p:nvSpPr>
          <p:cNvPr id="73" name="Shape 71"/>
          <p:cNvSpPr/>
          <p:nvPr/>
        </p:nvSpPr>
        <p:spPr>
          <a:xfrm>
            <a:off x="9063990" y="4828032"/>
            <a:ext cx="2667762" cy="713232"/>
          </a:xfrm>
          <a:prstGeom prst="roundRect">
            <a:avLst>
              <a:gd name="adj" fmla="val 7692"/>
            </a:avLst>
          </a:prstGeom>
          <a:solidFill>
            <a:srgbClr val="EEF1F5"/>
          </a:solidFill>
          <a:ln w="12700">
            <a:solidFill>
              <a:srgbClr val="5B6B7F"/>
            </a:solidFill>
            <a:prstDash val="solid"/>
          </a:ln>
        </p:spPr>
      </p:sp>
      <p:sp>
        <p:nvSpPr>
          <p:cNvPr id="74" name="Text 72"/>
          <p:cNvSpPr txBox="1"/>
          <p:nvPr/>
        </p:nvSpPr>
        <p:spPr>
          <a:xfrm>
            <a:off x="9137142" y="4901184"/>
            <a:ext cx="2521458" cy="219075"/>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출력 / 다음 step</a:t>
            </a:r>
            <a:endParaRPr lang="en-US" sz="1150" dirty="0"/>
          </a:p>
        </p:txBody>
      </p:sp>
      <p:sp>
        <p:nvSpPr>
          <p:cNvPr id="75" name="Text 73"/>
          <p:cNvSpPr txBox="1"/>
          <p:nvPr/>
        </p:nvSpPr>
        <p:spPr>
          <a:xfrm>
            <a:off x="9137142" y="5120259"/>
            <a:ext cx="2521458" cy="384429"/>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read_outputs(plan.outputs) → logits argmax</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KV append tail, 입력 patch 후 재실행</a:t>
            </a:r>
            <a:endParaRPr lang="en-US" sz="800" dirty="0"/>
          </a:p>
        </p:txBody>
      </p:sp>
      <p:sp>
        <p:nvSpPr>
          <p:cNvPr id="76" name="Text 74"/>
          <p:cNvSpPr txBox="1"/>
          <p:nvPr/>
        </p:nvSpPr>
        <p:spPr>
          <a:xfrm>
            <a:off x="457200" y="4581144"/>
            <a:ext cx="2743200" cy="228600"/>
          </a:xfrm>
          <a:prstGeom prst="rect">
            <a:avLst/>
          </a:prstGeom>
          <a:noFill/>
          <a:ln/>
        </p:spPr>
        <p:txBody>
          <a:bodyPr wrap="square" lIns="0" tIns="0" rIns="0" bIns="0" rtlCol="0" anchor="t"/>
          <a:lstStyle/>
          <a:p>
            <a:pPr algn="l" indent="0" marL="0">
              <a:buNone/>
            </a:pPr>
            <a:r>
              <a:rPr lang="en-US" sz="950" b="1" dirty="0">
                <a:solidFill>
                  <a:srgbClr val="5B6B7F"/>
                </a:solidFill>
                <a:latin typeface="Malgun Gothic" pitchFamily="34" charset="0"/>
                <a:ea typeface="Malgun Gothic" pitchFamily="34" charset="-122"/>
                <a:cs typeface="Malgun Gothic" pitchFamily="34" charset="-120"/>
              </a:rPr>
              <a:t>Runtime (npu_generate)</a:t>
            </a:r>
            <a:endParaRPr lang="en-US" sz="950" dirty="0"/>
          </a:p>
        </p:txBody>
      </p:sp>
      <p:sp>
        <p:nvSpPr>
          <p:cNvPr id="77" name="Text 7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78" name="Text 7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npu_compiler/npu_target.py, npu_build.py, npu_link.py, tvm_pipeline.py</a:t>
            </a:r>
            <a:endParaRPr lang="en-US" sz="850" dirty="0"/>
          </a:p>
        </p:txBody>
      </p:sp>
      <p:sp>
        <p:nvSpPr>
          <p:cNvPr id="79" name="Text 7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7 / 89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 · 전체 구조</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TVM 표준 기능 위에 NPU backend의 결정을 얹는다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TVM이 제공하는 것(표현·변환·분석)과 backend가 정의하는 것(장치 계약·후보·비용·명령)을 구분합니다. DLight는 미사용이며 MetaSchedule trace 재사용·ReplayFunc 탐색은 선택형입니다.</a:t>
            </a:r>
            <a:endParaRPr lang="en-US" sz="1250" dirty="0"/>
          </a:p>
        </p:txBody>
      </p:sp>
      <p:sp>
        <p:nvSpPr>
          <p:cNvPr id="5" name="Shape 3"/>
          <p:cNvSpPr/>
          <p:nvPr/>
        </p:nvSpPr>
        <p:spPr>
          <a:xfrm>
            <a:off x="457200" y="1417320"/>
            <a:ext cx="5532120" cy="502920"/>
          </a:xfrm>
          <a:prstGeom prst="roundRect">
            <a:avLst>
              <a:gd name="adj" fmla="val 10909"/>
            </a:avLst>
          </a:prstGeom>
          <a:solidFill>
            <a:srgbClr val="E3EEFB"/>
          </a:solidFill>
          <a:ln w="12700">
            <a:solidFill>
              <a:srgbClr val="2F6DB5"/>
            </a:solidFill>
            <a:prstDash val="solid"/>
          </a:ln>
        </p:spPr>
      </p:sp>
      <p:sp>
        <p:nvSpPr>
          <p:cNvPr id="6" name="Text 4"/>
          <p:cNvSpPr txBox="1"/>
          <p:nvPr/>
        </p:nvSpPr>
        <p:spPr>
          <a:xfrm>
            <a:off x="512064" y="1453896"/>
            <a:ext cx="5422392" cy="429768"/>
          </a:xfrm>
          <a:prstGeom prst="rect">
            <a:avLst/>
          </a:prstGeom>
          <a:noFill/>
          <a:ln/>
        </p:spPr>
        <p:txBody>
          <a:bodyPr wrap="square" lIns="0" tIns="0" rIns="0" bIns="0" rtlCol="0" anchor="ctr"/>
          <a:lstStyle/>
          <a:p>
            <a:pPr algn="ctr" indent="0" marL="0">
              <a:buNone/>
            </a:pPr>
            <a:r>
              <a:rPr lang="en-US" sz="1300" b="1" dirty="0">
                <a:solidFill>
                  <a:srgbClr val="1F2D3D"/>
                </a:solidFill>
                <a:latin typeface="Malgun Gothic" pitchFamily="34" charset="0"/>
                <a:ea typeface="Malgun Gothic" pitchFamily="34" charset="-122"/>
                <a:cs typeface="Malgun Gothic" pitchFamily="34" charset="-120"/>
              </a:rPr>
              <a:t>TVM 0.19이 담당 (표준 API 그대로 사용)</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5532120" cy="914400"/>
        </p:xfrm>
        <a:graphic>
          <a:graphicData uri="http://schemas.openxmlformats.org/drawingml/2006/table">
            <a:tbl>
              <a:tblPr/>
              <a:tblGrid>
                <a:gridCol w="1188720"/>
                <a:gridCol w="4343400"/>
              </a:tblGrid>
              <a:tr h="411480">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영역</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사용하는 API</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1148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모델 표현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relax.frontend.nn, export_tvm, BlockBuilder, call_te / call_tir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1148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Graph pass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CanonicalizeBindings, EliminateCommonSubexpr, RewriteDataflowReshape, LiftTransformParams, LegalizeOps, FoldConstant, AnnotateTIROpPattern, FuseOps(ByPattern), FuseTIR, DCE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1148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Loop 변환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tir.Schedule: split, reorder, cache_read/write, compute_at, reverse_compute_at, set_scope, pad_einsum, decompose_reduction, tensorize, rfactor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1148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TIR 후처리</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LowerInitBlock, PlanAndUpdateBufferAllocationLocation, ConvertBlocksToOpaque, CompactBufferAllocation, LowerMatchBuffer/LowerOpaqueBlock(분석용)</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1148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메모리 분석</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ToNonDataflow, CallTIRRewrite, StaticPlanBlockMemory, USMP extract_buffer_info + greedy 배치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1148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검증</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structural_hash/equal, relax.build(…,"llvm") + VirtualMachine (host transform, CPU reference)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1148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탐색·기록 (선택형)</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meta_schedule: TuneContext, ScheduleFn, ReplayFunc, sample_categorical, JSONDatabase, TuningRecord, Schedule.trace, relax_integration.extract_tasks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8" name="Shape 5"/>
          <p:cNvSpPr/>
          <p:nvPr/>
        </p:nvSpPr>
        <p:spPr>
          <a:xfrm>
            <a:off x="6199632" y="1417320"/>
            <a:ext cx="5532120" cy="502920"/>
          </a:xfrm>
          <a:prstGeom prst="roundRect">
            <a:avLst>
              <a:gd name="adj" fmla="val 10909"/>
            </a:avLst>
          </a:prstGeom>
          <a:solidFill>
            <a:srgbClr val="DDF3F0"/>
          </a:solidFill>
          <a:ln w="12700">
            <a:solidFill>
              <a:srgbClr val="1F8A8A"/>
            </a:solidFill>
            <a:prstDash val="solid"/>
          </a:ln>
        </p:spPr>
      </p:sp>
      <p:sp>
        <p:nvSpPr>
          <p:cNvPr id="9" name="Text 6"/>
          <p:cNvSpPr txBox="1"/>
          <p:nvPr/>
        </p:nvSpPr>
        <p:spPr>
          <a:xfrm>
            <a:off x="6254496" y="1453896"/>
            <a:ext cx="5422392" cy="429768"/>
          </a:xfrm>
          <a:prstGeom prst="rect">
            <a:avLst/>
          </a:prstGeom>
          <a:noFill/>
          <a:ln/>
        </p:spPr>
        <p:txBody>
          <a:bodyPr wrap="square" lIns="0" tIns="0" rIns="0" bIns="0" rtlCol="0" anchor="ctr"/>
          <a:lstStyle/>
          <a:p>
            <a:pPr algn="ctr" indent="0" marL="0">
              <a:buNone/>
            </a:pPr>
            <a:r>
              <a:rPr lang="en-US" sz="1300" b="1" dirty="0">
                <a:solidFill>
                  <a:srgbClr val="1F2D3D"/>
                </a:solidFill>
                <a:latin typeface="Malgun Gothic" pitchFamily="34" charset="0"/>
                <a:ea typeface="Malgun Gothic" pitchFamily="34" charset="-122"/>
                <a:cs typeface="Malgun Gothic" pitchFamily="34" charset="-120"/>
              </a:rPr>
              <a:t>NPU backend가 정의 (npu_compiler/)</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199632" y="1965960"/>
          <a:ext cx="5532120" cy="914400"/>
        </p:xfrm>
        <a:graphic>
          <a:graphicData uri="http://schemas.openxmlformats.org/drawingml/2006/table">
            <a:tbl>
              <a:tblPr/>
              <a:tblGrid>
                <a:gridCol w="1188720"/>
                <a:gridCol w="4343400"/>
              </a:tblGrid>
              <a:tr h="411480">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영역</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구현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1148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장치 계약</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device.NpuProfile, v09_contract.json (dtype/nibble/opcode/수치 정책)</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1148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수치 정의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npu_legalize: matmul(FP32 누산), softmax, RMSNorm(scaled absmax), sum/mean, split view; npu_numeric: K=64 rfactor reference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1148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후보 생성·선택</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tvm_pipeline 패턴, npu_attention, npu_graph_opt, npu_fusion.select, npu_build.lower_and_select, npu_compilation 예산/cache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1148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Schedule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npu_schedule_space(정규화·용량 필터), npu_schedule(_fit_matmul/_fit_attention), npu_intrin(TensorIntrin, schedule 함수), npu_accumulator, npu_meta_schedule(선택형 ReplayFunc·trace DB)</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1148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메모리</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npu_memplan(flat 주소), npu_sram(USMP 연결), npu_memory_search(커널 사이 보관), npu_residency, npu_abi</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1148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명령·실행</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tir_codegen_v09 / v09_walker.cc, isa_v09, isa_compute, npu_link, peephole, npu_cache, npu_generate, v09_runtime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11" name="Shape 7"/>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2" name="Text 8"/>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표준 pass를 호출했다고 장치 정책이 저절로 생기지는 않습니다. 반대로 backend 코드가 있다고 TVM 기본 pass인 것처럼 부르지도 않습니다.</a:t>
            </a:r>
            <a:endParaRPr lang="en-US" sz="1250" dirty="0"/>
          </a:p>
        </p:txBody>
      </p:sp>
      <p:sp>
        <p:nvSpPr>
          <p:cNvPr id="13" name="Text 9"/>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4" name="Text 10"/>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docs/current/01_overview.md, reference/tvm_api.md</a:t>
            </a:r>
            <a:endParaRPr lang="en-US" sz="850" dirty="0"/>
          </a:p>
        </p:txBody>
      </p:sp>
      <p:sp>
        <p:nvSpPr>
          <p:cNvPr id="15" name="Text 11"/>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8 / 89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 · 전체 구조</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코드 지도: 어느 현상이 어느 단계의 결정인지 먼저 정한다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d_compiler/npu_compiler (약 12.7k lines, Python + C++). 파일 순서로 읽기보다 관심 있는 결정을 만드는 단계부터 봅니다.</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1554480"/>
                <a:gridCol w="4206240"/>
                <a:gridCol w="5513832"/>
              </a:tblGrid>
              <a:tr h="457200">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책임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파일 (lines)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핵심 함수 / 클래스</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5720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공개 build · 결과물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npu_target.py (178)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npu_target(), build() → NpuExecutable{words, plan, module}, export_bundle()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모델 · checkpoint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nn_models/llama.py (435), hf.py (437), assets/llama.py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LlamaModel(prefill/prefill_cache/decode), get_default_spec, rope_inputs, causal_mask, Llama32Assets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Graph · 후보</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tvm_pipeline.py (169), npu_build.py (124), npu_fusion.py (161), npu_attention.py, npu_graph_opt.py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graph_prefix, graph_pipeline, lower_and_select, select(_probe), CanonicalizeAttention, FoldRepeatedGemv</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수치 · schedule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npu_legalize.py (190), npu_numeric.py, npu_schedule_space.py (78), npu_schedule.py (616), npu_intrin.py (621), npu_accumulator.py (201)</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legalize_map, tile_order_reference, candidates(), _fit_matmul / _fit_attention / _measure_trial, schedule_matmul_sram, lower_stores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메모리 · ABI</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npu_memplan.py (427), npu_sram.py (210), npu_memory_search.py (379), npu_residency.py (179), npu_abi.py (173)</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assign_addresses, compact_unused_storage, plan_sram(USMP), discover/plan_program/reserve, forward, output_tree/validate_entry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ISA · link · 실행</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npu_link.py (472), tir_codegen_v09.py (1533), npu_codegen/v09_walker.cc (1696), isa_v09.py, isa_compute.py, peephole.py, npu_cache.py, npu_generate.py (398), v09_runtime.py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compile_program, Walker.emit_gemm/flush, DMA packet 인코더, AppendPlan, generate/DecodeSession, PersistentTransport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Compile 제어</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npu_compilation.py (373), v09_stats.py, npu_provenance.py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compilation() context: recipe/trial/probe/region/Entry cache, optimization_budget, phase; analyze/cost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 name="Shape 3"/>
          <p:cNvSpPr/>
          <p:nvPr/>
        </p:nvSpPr>
        <p:spPr>
          <a:xfrm>
            <a:off x="457200" y="5806440"/>
            <a:ext cx="11274552" cy="502920"/>
          </a:xfrm>
          <a:prstGeom prst="roundRect">
            <a:avLst>
              <a:gd name="adj" fmla="val 10909"/>
            </a:avLst>
          </a:prstGeom>
          <a:solidFill>
            <a:srgbClr val="EEF2F6"/>
          </a:solidFill>
          <a:ln w="12700">
            <a:solidFill>
              <a:srgbClr val="C9D3DF"/>
            </a:solidFill>
            <a:prstDash val="solid"/>
          </a:ln>
        </p:spPr>
      </p:sp>
      <p:sp>
        <p:nvSpPr>
          <p:cNvPr id="7" name="Text 4"/>
          <p:cNvSpPr txBox="1"/>
          <p:nvPr/>
        </p:nvSpPr>
        <p:spPr>
          <a:xfrm>
            <a:off x="585216" y="5861304"/>
            <a:ext cx="11018520" cy="393192"/>
          </a:xfrm>
          <a:prstGeom prst="rect">
            <a:avLst/>
          </a:prstGeom>
          <a:noFill/>
          <a:ln/>
        </p:spPr>
        <p:txBody>
          <a:bodyPr wrap="square" lIns="0" tIns="0" rIns="0" bIns="0" rtlCol="0" anchor="ctr"/>
          <a:lstStyle/>
          <a:p>
            <a:pPr algn="l" indent="0" marL="0">
              <a:buNone/>
            </a:pPr>
            <a:r>
              <a:rPr lang="en-US" sz="1000" dirty="0">
                <a:solidFill>
                  <a:srgbClr val="1F2D3D"/>
                </a:solidFill>
                <a:latin typeface="Malgun Gothic" pitchFamily="34" charset="0"/>
                <a:ea typeface="Malgun Gothic" pitchFamily="34" charset="-122"/>
                <a:cs typeface="Malgun Gothic" pitchFamily="34" charset="-120"/>
              </a:rPr>
              <a:t>검증 도구: tests/ 17개 suite (run_gate.sh) · docs/examples/reproduce.py (작은 예제 실제 실행) · run_nn_generate.py (전체 Llama 생성) · run_nn_npu.py (prefill + HF/LLVM cosine)</a:t>
            </a:r>
            <a:endParaRPr lang="en-US" sz="1000" dirty="0"/>
          </a:p>
        </p:txBody>
      </p:sp>
      <p:sp>
        <p:nvSpPr>
          <p:cNvPr id="8" name="Text 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9" name="Text 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docs/current/12_operations_limits.md, wc -l npu_compiler/*.py npu_codegen/*.cc</a:t>
            </a:r>
            <a:endParaRPr lang="en-US" sz="850" dirty="0"/>
          </a:p>
        </p:txBody>
      </p:sp>
      <p:sp>
        <p:nvSpPr>
          <p:cNvPr id="10" name="Text 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9 / 89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2 · 모델 → Relax</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Llama는 relax.frontend.nn으로 정의하고 정적 명세로 export한다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Compiler가 보는 것은 Python의 for-loop가 아니라 export된 계산 그래프입니다. Embedding lookup은 host에 남기고 input_embeds를 device 입력으로 받습니다.</a:t>
            </a:r>
            <a:endParaRPr lang="en-US" sz="1250" dirty="0"/>
          </a:p>
        </p:txBody>
      </p:sp>
      <p:sp>
        <p:nvSpPr>
          <p:cNvPr id="5" name="Shape 3"/>
          <p:cNvSpPr/>
          <p:nvPr/>
        </p:nvSpPr>
        <p:spPr>
          <a:xfrm>
            <a:off x="457200" y="1371600"/>
            <a:ext cx="5760720" cy="3246120"/>
          </a:xfrm>
          <a:prstGeom prst="roundRect">
            <a:avLst>
              <a:gd name="adj" fmla="val 1408"/>
            </a:avLst>
          </a:prstGeom>
          <a:solidFill>
            <a:srgbClr val="F5F7FA"/>
          </a:solidFill>
          <a:ln w="9525">
            <a:solidFill>
              <a:srgbClr val="C9D3DF"/>
            </a:solidFill>
            <a:prstDash val="solid"/>
          </a:ln>
        </p:spPr>
      </p:sp>
      <p:sp>
        <p:nvSpPr>
          <p:cNvPr id="6" name="Text 4"/>
          <p:cNvSpPr txBox="1"/>
          <p:nvPr/>
        </p:nvSpPr>
        <p:spPr>
          <a:xfrm>
            <a:off x="566928" y="1444752"/>
            <a:ext cx="5541264" cy="3099816"/>
          </a:xfrm>
          <a:prstGeom prst="rect">
            <a:avLst/>
          </a:prstGeom>
          <a:noFill/>
          <a:ln/>
        </p:spPr>
        <p:txBody>
          <a:bodyPr wrap="square" lIns="0" tIns="0" rIns="0" bIns="0" rtlCol="0" anchor="t"/>
          <a:lstStyle/>
          <a:p>
            <a:pPr algn="l" indent="0" marL="0">
              <a:lnSpc>
                <a:spcPct val="105000"/>
              </a:lnSpc>
              <a:buNone/>
            </a:pPr>
            <a:r>
              <a:rPr lang="en-US" sz="900" dirty="0">
                <a:solidFill>
                  <a:srgbClr val="2F6DB5"/>
                </a:solidFill>
                <a:latin typeface="Courier New" pitchFamily="34" charset="0"/>
                <a:ea typeface="Courier New" pitchFamily="34" charset="-122"/>
                <a:cs typeface="Courier New" pitchFamily="34" charset="-120"/>
              </a:rPr>
              <a:t>class </a:t>
            </a:r>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Attention(nn.Module):        # llama.py</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q/k/v/o = nn.Linear(..., bias=False)   # k,v out = 8*128</a:t>
            </a:r>
            <a:endParaRPr lang="en-US" sz="900" dirty="0"/>
          </a:p>
          <a:p>
            <a:pPr algn="l" indent="0" marL="0">
              <a:lnSpc>
                <a:spcPct val="105000"/>
              </a:lnSpc>
              <a:buNone/>
            </a:pPr>
            <a:r>
              <a:rPr lang="en-US" sz="900" dirty="0">
                <a:solidFill>
                  <a:srgbClr val="2F6DB5"/>
                </a:solidFill>
                <a:latin typeface="Courier New" pitchFamily="34" charset="0"/>
                <a:ea typeface="Courier New" pitchFamily="34" charset="-122"/>
                <a:cs typeface="Courier New" pitchFamily="34" charset="-120"/>
              </a:rPr>
              <a:t>  def </a:t>
            </a:r>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forward(self, x, cos, sin, mask):</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q,k,v = reshape → [S,24,128], [S,8,128]</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q,k   = x*cos + rotate_half(x)*sin   # split/neg/concat</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k,v   = op.repeat(k, 3, axis=1)      # GQA: 24 Q ← 8 KV</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scores = matmul(q_h, kᵀ_h) * (1/√128) + mask</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probs  = softmax(scores)             # FP16 (FP32 sum 내부)</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return o_proj(matmul(probs, v_h))</a:t>
            </a:r>
            <a:endParaRPr lang="en-US" sz="900" dirty="0"/>
          </a:p>
          <a:p>
            <a:pPr algn="l" indent="0" marL="0">
              <a:lnSpc>
                <a:spcPct val="105000"/>
              </a:lnSpc>
              <a:buNone/>
            </a:pPr>
            <a:r>
              <a:rPr lang="en-US" sz="900" dirty="0">
                <a:solidFill>
                  <a:srgbClr val="2F6DB5"/>
                </a:solidFill>
                <a:latin typeface="Courier New" pitchFamily="34" charset="0"/>
                <a:ea typeface="Courier New" pitchFamily="34" charset="-122"/>
                <a:cs typeface="Courier New" pitchFamily="34" charset="-120"/>
              </a:rPr>
              <a:t>class </a:t>
            </a:r>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MLP:  down(silu(gate(x)) * up(x))</a:t>
            </a:r>
            <a:endParaRPr lang="en-US" sz="900" dirty="0"/>
          </a:p>
          <a:p>
            <a:pPr algn="l" indent="0" marL="0">
              <a:lnSpc>
                <a:spcPct val="105000"/>
              </a:lnSpc>
              <a:buNone/>
            </a:pPr>
            <a:r>
              <a:rPr lang="en-US" sz="900" dirty="0">
                <a:solidFill>
                  <a:srgbClr val="2F6DB5"/>
                </a:solidFill>
                <a:latin typeface="Courier New" pitchFamily="34" charset="0"/>
                <a:ea typeface="Courier New" pitchFamily="34" charset="-122"/>
                <a:cs typeface="Courier New" pitchFamily="34" charset="-120"/>
              </a:rPr>
              <a:t>class </a:t>
            </a:r>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DecoderLayer:  x + attn(norm1(x)); r + mlp(norm2(r))</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spec = get_default_spec(seq=7, decode_context=9)</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mod, params = LlamaModel(cfg).export_tvm(spec)   # packed params</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mod["decode"] = npu_cache.declare(mod["decode"],</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[("k_cache", 1, 3), ("v_cache", 2, 2)])  # npu.cache_append</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0" y="1371600"/>
          <a:ext cx="5330952" cy="914400"/>
        </p:xfrm>
        <a:graphic>
          <a:graphicData uri="http://schemas.openxmlformats.org/drawingml/2006/table">
            <a:tbl>
              <a:tblPr/>
              <a:tblGrid>
                <a:gridCol w="1051560"/>
                <a:gridCol w="2724912"/>
                <a:gridCol w="1554480"/>
              </a:tblGrid>
              <a:tr h="45720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Entry</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Device 입력 (FP16)</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반환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prefill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input_embeds [S,3072], cos/sin [S,1,128], mask [1,S,S], packed_params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logits [S,128256]</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prefill_cache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위와 같음 (num_input = 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(logits [1,V]*, K [L,8,128,S], V [L,8,S,128])</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decode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input_embeds [1,3072], cos/sin [1,1,128], k_cache [L,8,128,C], v_cache [L,8,C,128], mask [1,1,C+1], packed_params (num_input = 6)</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(logits [1,V], K_new [L,8,128,1], V_new [L,8,1,128])</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8" name="Text 5"/>
          <p:cNvSpPr txBox="1"/>
          <p:nvPr/>
        </p:nvSpPr>
        <p:spPr>
          <a:xfrm>
            <a:off x="6400800" y="3520440"/>
            <a:ext cx="5330952" cy="1188720"/>
          </a:xfrm>
          <a:prstGeom prst="rect">
            <a:avLst/>
          </a:prstGeom>
          <a:noFill/>
          <a:ln/>
        </p:spPr>
        <p:txBody>
          <a:bodyPr wrap="square" lIns="0" tIns="0" rIns="0" bIns="0" rtlCol="0" anchor="t"/>
          <a:lstStyle/>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packed_params: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9L+2개 tensor를 담은 tuple 인자 하나 (ABI 표현). 물리적으로 합쳐진 배열이 아님. weight는 HF [N,K] 그대로</a:t>
            </a:r>
            <a:endParaRPr lang="en-US" sz="950" dirty="0"/>
          </a:p>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num_input: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앞 N개 인자만 실행 입력, 나머지는 parameter라는 경계 attribute → LiftTransformParams가 사용</a:t>
            </a:r>
            <a:endParaRPr lang="en-US" sz="950" dirty="0"/>
          </a:p>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*last_logits: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generation 경로는 마지막 hidden 행만 norm/LM head에 넘겨 [1,V] logits (TE last_hidden)</a:t>
            </a:r>
            <a:endParaRPr lang="en-US" sz="950" dirty="0"/>
          </a:p>
        </p:txBody>
      </p:sp>
      <p:sp>
        <p:nvSpPr>
          <p:cNvPr id="9" name="Shape 6"/>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0" name="Text 7"/>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Cache 효과는 함수 attribute(npu.cache_append)로 선언되어 순수 tensor 계산 밖에 있습니다. layer 수나 cache 이름을 codegen에 하드코딩하지 않습니다.</a:t>
            </a:r>
            <a:endParaRPr lang="en-US" sz="1250" dirty="0"/>
          </a:p>
        </p:txBody>
      </p:sp>
      <p:sp>
        <p:nvSpPr>
          <p:cNvPr id="11" name="Text 8"/>
          <p:cNvSpPr txBox="1"/>
          <p:nvPr/>
        </p:nvSpPr>
        <p:spPr>
          <a:xfrm>
            <a:off x="457200" y="4709160"/>
            <a:ext cx="5760720" cy="1097280"/>
          </a:xfrm>
          <a:prstGeom prst="rect">
            <a:avLst/>
          </a:prstGeom>
          <a:noFill/>
          <a:ln/>
        </p:spPr>
        <p:txBody>
          <a:bodyPr wrap="square" lIns="0" tIns="0" rIns="0" bIns="0" rtlCol="0" anchor="t"/>
          <a:lstStyle/>
          <a:p>
            <a:pPr algn="l" indent="0" marL="0">
              <a:buNone/>
            </a:pPr>
            <a:r>
              <a:rPr lang="en-US" sz="1000" dirty="0">
                <a:solidFill>
                  <a:srgbClr val="5B6B7F"/>
                </a:solidFill>
                <a:latin typeface="Malgun Gothic" pitchFamily="34" charset="0"/>
                <a:ea typeface="Malgun Gothic" pitchFamily="34" charset="-122"/>
                <a:cs typeface="Malgun Gothic" pitchFamily="34" charset="-120"/>
              </a:rPr>
              <a:t>K cache는 [L, kv, hd, C]로 transposed 저장, V는 [L, kv, C, hd]입니다. decode는 cache와 현재 token의 K/V를 concat하여 C+1 길이로 attention하고, 현재 token은 임시로 slot C에 놓입니다.</a:t>
            </a:r>
            <a:endParaRPr lang="en-US" sz="1000" dirty="0"/>
          </a:p>
        </p:txBody>
      </p:sp>
      <p:sp>
        <p:nvSpPr>
          <p:cNvPr id="12" name="Text 9"/>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3" name="Text 10"/>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npu_compiler/nn_models/llama.py, docs/current/02_model_relax.md</a:t>
            </a:r>
            <a:endParaRPr lang="en-US" sz="850" dirty="0"/>
          </a:p>
        </p:txBody>
      </p:sp>
      <p:sp>
        <p:nvSpPr>
          <p:cNvPr id="14" name="Text 11"/>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10 / 89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2 · 모델 → Relax</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Llama 한 layer의 계산 그래프 (prefill, S=7): tensor의 모양으로 보기</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각 glyph는 tensor 하나이고 화살표 위 글자가 연산입니다. 겹친 glyph는 head 축(24 또는 8), 회색 삼각형은 causal mask. 두 residual과 GQA repeat, RoPE의 위치를 봅니다. 이 그래프가 28번 반복됩니다.</a:t>
            </a:r>
            <a:endParaRPr lang="en-US" sz="1250" dirty="0"/>
          </a:p>
        </p:txBody>
      </p:sp>
      <p:sp>
        <p:nvSpPr>
          <p:cNvPr id="5" name="Shape 3"/>
          <p:cNvSpPr/>
          <p:nvPr/>
        </p:nvSpPr>
        <p:spPr>
          <a:xfrm>
            <a:off x="457200" y="2194560"/>
            <a:ext cx="1097280" cy="457200"/>
          </a:xfrm>
          <a:prstGeom prst="rect">
            <a:avLst/>
          </a:prstGeom>
          <a:solidFill>
            <a:srgbClr val="EEF1F5"/>
          </a:solidFill>
          <a:ln w="12700">
            <a:solidFill>
              <a:srgbClr val="5B6B7F"/>
            </a:solidFill>
            <a:prstDash val="solid"/>
          </a:ln>
        </p:spPr>
      </p:sp>
      <p:sp>
        <p:nvSpPr>
          <p:cNvPr id="6" name="Shape 4"/>
          <p:cNvSpPr/>
          <p:nvPr/>
        </p:nvSpPr>
        <p:spPr>
          <a:xfrm>
            <a:off x="594360" y="2194560"/>
            <a:ext cx="914" cy="457200"/>
          </a:xfrm>
          <a:prstGeom prst="line">
            <a:avLst/>
          </a:prstGeom>
          <a:noFill/>
          <a:ln w="5080">
            <a:solidFill>
              <a:srgbClr val="D5DCE5"/>
            </a:solidFill>
            <a:prstDash val="solid"/>
          </a:ln>
        </p:spPr>
      </p:sp>
      <p:sp>
        <p:nvSpPr>
          <p:cNvPr id="7" name="Shape 5"/>
          <p:cNvSpPr/>
          <p:nvPr/>
        </p:nvSpPr>
        <p:spPr>
          <a:xfrm>
            <a:off x="731520" y="2194560"/>
            <a:ext cx="914" cy="457200"/>
          </a:xfrm>
          <a:prstGeom prst="line">
            <a:avLst/>
          </a:prstGeom>
          <a:noFill/>
          <a:ln w="5080">
            <a:solidFill>
              <a:srgbClr val="D5DCE5"/>
            </a:solidFill>
            <a:prstDash val="solid"/>
          </a:ln>
        </p:spPr>
      </p:sp>
      <p:sp>
        <p:nvSpPr>
          <p:cNvPr id="8" name="Shape 6"/>
          <p:cNvSpPr/>
          <p:nvPr/>
        </p:nvSpPr>
        <p:spPr>
          <a:xfrm>
            <a:off x="868680" y="2194560"/>
            <a:ext cx="914" cy="457200"/>
          </a:xfrm>
          <a:prstGeom prst="line">
            <a:avLst/>
          </a:prstGeom>
          <a:noFill/>
          <a:ln w="5080">
            <a:solidFill>
              <a:srgbClr val="D5DCE5"/>
            </a:solidFill>
            <a:prstDash val="solid"/>
          </a:ln>
        </p:spPr>
      </p:sp>
      <p:sp>
        <p:nvSpPr>
          <p:cNvPr id="9" name="Shape 7"/>
          <p:cNvSpPr/>
          <p:nvPr/>
        </p:nvSpPr>
        <p:spPr>
          <a:xfrm>
            <a:off x="1005840" y="2194560"/>
            <a:ext cx="914" cy="457200"/>
          </a:xfrm>
          <a:prstGeom prst="line">
            <a:avLst/>
          </a:prstGeom>
          <a:noFill/>
          <a:ln w="5080">
            <a:solidFill>
              <a:srgbClr val="D5DCE5"/>
            </a:solidFill>
            <a:prstDash val="solid"/>
          </a:ln>
        </p:spPr>
      </p:sp>
      <p:sp>
        <p:nvSpPr>
          <p:cNvPr id="10" name="Shape 8"/>
          <p:cNvSpPr/>
          <p:nvPr/>
        </p:nvSpPr>
        <p:spPr>
          <a:xfrm>
            <a:off x="1143000" y="2194560"/>
            <a:ext cx="914" cy="457200"/>
          </a:xfrm>
          <a:prstGeom prst="line">
            <a:avLst/>
          </a:prstGeom>
          <a:noFill/>
          <a:ln w="5080">
            <a:solidFill>
              <a:srgbClr val="D5DCE5"/>
            </a:solidFill>
            <a:prstDash val="solid"/>
          </a:ln>
        </p:spPr>
      </p:sp>
      <p:sp>
        <p:nvSpPr>
          <p:cNvPr id="11" name="Shape 9"/>
          <p:cNvSpPr/>
          <p:nvPr/>
        </p:nvSpPr>
        <p:spPr>
          <a:xfrm>
            <a:off x="1280160" y="2194560"/>
            <a:ext cx="914" cy="457200"/>
          </a:xfrm>
          <a:prstGeom prst="line">
            <a:avLst/>
          </a:prstGeom>
          <a:noFill/>
          <a:ln w="5080">
            <a:solidFill>
              <a:srgbClr val="D5DCE5"/>
            </a:solidFill>
            <a:prstDash val="solid"/>
          </a:ln>
        </p:spPr>
      </p:sp>
      <p:sp>
        <p:nvSpPr>
          <p:cNvPr id="12" name="Shape 10"/>
          <p:cNvSpPr/>
          <p:nvPr/>
        </p:nvSpPr>
        <p:spPr>
          <a:xfrm>
            <a:off x="1417320" y="2194560"/>
            <a:ext cx="914" cy="457200"/>
          </a:xfrm>
          <a:prstGeom prst="line">
            <a:avLst/>
          </a:prstGeom>
          <a:noFill/>
          <a:ln w="5080">
            <a:solidFill>
              <a:srgbClr val="D5DCE5"/>
            </a:solidFill>
            <a:prstDash val="solid"/>
          </a:ln>
        </p:spPr>
      </p:sp>
      <p:sp>
        <p:nvSpPr>
          <p:cNvPr id="13" name="Text 11"/>
          <p:cNvSpPr txBox="1"/>
          <p:nvPr/>
        </p:nvSpPr>
        <p:spPr>
          <a:xfrm>
            <a:off x="457200" y="1965960"/>
            <a:ext cx="118872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X [7,3072]</a:t>
            </a:r>
            <a:endParaRPr lang="en-US" sz="850" dirty="0"/>
          </a:p>
        </p:txBody>
      </p:sp>
      <p:sp>
        <p:nvSpPr>
          <p:cNvPr id="14" name="Shape 12"/>
          <p:cNvSpPr/>
          <p:nvPr/>
        </p:nvSpPr>
        <p:spPr>
          <a:xfrm>
            <a:off x="1572768" y="2423160"/>
            <a:ext cx="374904" cy="914"/>
          </a:xfrm>
          <a:prstGeom prst="line">
            <a:avLst/>
          </a:prstGeom>
          <a:noFill/>
          <a:ln w="15240">
            <a:solidFill>
              <a:srgbClr val="5B6B7F"/>
            </a:solidFill>
            <a:prstDash val="solid"/>
            <a:tailEnd type="triangle"/>
          </a:ln>
        </p:spPr>
      </p:sp>
      <p:sp>
        <p:nvSpPr>
          <p:cNvPr id="15" name="Text 13"/>
          <p:cNvSpPr txBox="1"/>
          <p:nvPr/>
        </p:nvSpPr>
        <p:spPr>
          <a:xfrm>
            <a:off x="1508760" y="2130552"/>
            <a:ext cx="502920" cy="274320"/>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RMSNorm</a:t>
            </a:r>
            <a:endParaRPr lang="en-US" sz="750" dirty="0"/>
          </a:p>
        </p:txBody>
      </p:sp>
      <p:sp>
        <p:nvSpPr>
          <p:cNvPr id="16" name="Shape 14"/>
          <p:cNvSpPr/>
          <p:nvPr/>
        </p:nvSpPr>
        <p:spPr>
          <a:xfrm>
            <a:off x="1965960" y="2194560"/>
            <a:ext cx="1097280" cy="457200"/>
          </a:xfrm>
          <a:prstGeom prst="rect">
            <a:avLst/>
          </a:prstGeom>
          <a:solidFill>
            <a:srgbClr val="E3EEFB"/>
          </a:solidFill>
          <a:ln w="12700">
            <a:solidFill>
              <a:srgbClr val="2F6DB5"/>
            </a:solidFill>
            <a:prstDash val="solid"/>
          </a:ln>
        </p:spPr>
      </p:sp>
      <p:sp>
        <p:nvSpPr>
          <p:cNvPr id="17" name="Shape 15"/>
          <p:cNvSpPr/>
          <p:nvPr/>
        </p:nvSpPr>
        <p:spPr>
          <a:xfrm>
            <a:off x="2103120" y="2194560"/>
            <a:ext cx="914" cy="457200"/>
          </a:xfrm>
          <a:prstGeom prst="line">
            <a:avLst/>
          </a:prstGeom>
          <a:noFill/>
          <a:ln w="5080">
            <a:solidFill>
              <a:srgbClr val="D5DCE5"/>
            </a:solidFill>
            <a:prstDash val="solid"/>
          </a:ln>
        </p:spPr>
      </p:sp>
      <p:sp>
        <p:nvSpPr>
          <p:cNvPr id="18" name="Shape 16"/>
          <p:cNvSpPr/>
          <p:nvPr/>
        </p:nvSpPr>
        <p:spPr>
          <a:xfrm>
            <a:off x="2240280" y="2194560"/>
            <a:ext cx="914" cy="457200"/>
          </a:xfrm>
          <a:prstGeom prst="line">
            <a:avLst/>
          </a:prstGeom>
          <a:noFill/>
          <a:ln w="5080">
            <a:solidFill>
              <a:srgbClr val="D5DCE5"/>
            </a:solidFill>
            <a:prstDash val="solid"/>
          </a:ln>
        </p:spPr>
      </p:sp>
      <p:sp>
        <p:nvSpPr>
          <p:cNvPr id="19" name="Shape 17"/>
          <p:cNvSpPr/>
          <p:nvPr/>
        </p:nvSpPr>
        <p:spPr>
          <a:xfrm>
            <a:off x="2377440" y="2194560"/>
            <a:ext cx="914" cy="457200"/>
          </a:xfrm>
          <a:prstGeom prst="line">
            <a:avLst/>
          </a:prstGeom>
          <a:noFill/>
          <a:ln w="5080">
            <a:solidFill>
              <a:srgbClr val="D5DCE5"/>
            </a:solidFill>
            <a:prstDash val="solid"/>
          </a:ln>
        </p:spPr>
      </p:sp>
      <p:sp>
        <p:nvSpPr>
          <p:cNvPr id="20" name="Shape 18"/>
          <p:cNvSpPr/>
          <p:nvPr/>
        </p:nvSpPr>
        <p:spPr>
          <a:xfrm>
            <a:off x="2514600" y="2194560"/>
            <a:ext cx="914" cy="457200"/>
          </a:xfrm>
          <a:prstGeom prst="line">
            <a:avLst/>
          </a:prstGeom>
          <a:noFill/>
          <a:ln w="5080">
            <a:solidFill>
              <a:srgbClr val="D5DCE5"/>
            </a:solidFill>
            <a:prstDash val="solid"/>
          </a:ln>
        </p:spPr>
      </p:sp>
      <p:sp>
        <p:nvSpPr>
          <p:cNvPr id="21" name="Shape 19"/>
          <p:cNvSpPr/>
          <p:nvPr/>
        </p:nvSpPr>
        <p:spPr>
          <a:xfrm>
            <a:off x="2651760" y="2194560"/>
            <a:ext cx="914" cy="457200"/>
          </a:xfrm>
          <a:prstGeom prst="line">
            <a:avLst/>
          </a:prstGeom>
          <a:noFill/>
          <a:ln w="5080">
            <a:solidFill>
              <a:srgbClr val="D5DCE5"/>
            </a:solidFill>
            <a:prstDash val="solid"/>
          </a:ln>
        </p:spPr>
      </p:sp>
      <p:sp>
        <p:nvSpPr>
          <p:cNvPr id="22" name="Shape 20"/>
          <p:cNvSpPr/>
          <p:nvPr/>
        </p:nvSpPr>
        <p:spPr>
          <a:xfrm>
            <a:off x="2788920" y="2194560"/>
            <a:ext cx="914" cy="457200"/>
          </a:xfrm>
          <a:prstGeom prst="line">
            <a:avLst/>
          </a:prstGeom>
          <a:noFill/>
          <a:ln w="5080">
            <a:solidFill>
              <a:srgbClr val="D5DCE5"/>
            </a:solidFill>
            <a:prstDash val="solid"/>
          </a:ln>
        </p:spPr>
      </p:sp>
      <p:sp>
        <p:nvSpPr>
          <p:cNvPr id="23" name="Shape 21"/>
          <p:cNvSpPr/>
          <p:nvPr/>
        </p:nvSpPr>
        <p:spPr>
          <a:xfrm>
            <a:off x="2926080" y="2194560"/>
            <a:ext cx="914" cy="457200"/>
          </a:xfrm>
          <a:prstGeom prst="line">
            <a:avLst/>
          </a:prstGeom>
          <a:noFill/>
          <a:ln w="5080">
            <a:solidFill>
              <a:srgbClr val="D5DCE5"/>
            </a:solidFill>
            <a:prstDash val="solid"/>
          </a:ln>
        </p:spPr>
      </p:sp>
      <p:sp>
        <p:nvSpPr>
          <p:cNvPr id="24" name="Text 22"/>
          <p:cNvSpPr txBox="1"/>
          <p:nvPr/>
        </p:nvSpPr>
        <p:spPr>
          <a:xfrm>
            <a:off x="1965960" y="1965960"/>
            <a:ext cx="1280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norm₁ [7,3072]</a:t>
            </a:r>
            <a:endParaRPr lang="en-US" sz="850" dirty="0"/>
          </a:p>
        </p:txBody>
      </p:sp>
      <p:sp>
        <p:nvSpPr>
          <p:cNvPr id="25" name="Shape 23"/>
          <p:cNvSpPr/>
          <p:nvPr/>
        </p:nvSpPr>
        <p:spPr>
          <a:xfrm>
            <a:off x="3858768" y="1673352"/>
            <a:ext cx="822960" cy="384048"/>
          </a:xfrm>
          <a:prstGeom prst="rect">
            <a:avLst/>
          </a:prstGeom>
          <a:solidFill>
            <a:srgbClr val="ECE6FA"/>
          </a:solidFill>
          <a:ln w="9525">
            <a:solidFill>
              <a:srgbClr val="6C4FBF"/>
            </a:solidFill>
            <a:prstDash val="solid"/>
          </a:ln>
        </p:spPr>
      </p:sp>
      <p:sp>
        <p:nvSpPr>
          <p:cNvPr id="26" name="Shape 24"/>
          <p:cNvSpPr/>
          <p:nvPr/>
        </p:nvSpPr>
        <p:spPr>
          <a:xfrm>
            <a:off x="3803904" y="1728216"/>
            <a:ext cx="822960" cy="384048"/>
          </a:xfrm>
          <a:prstGeom prst="rect">
            <a:avLst/>
          </a:prstGeom>
          <a:solidFill>
            <a:srgbClr val="ECE6FA"/>
          </a:solidFill>
          <a:ln w="9525">
            <a:solidFill>
              <a:srgbClr val="6C4FBF"/>
            </a:solidFill>
            <a:prstDash val="solid"/>
          </a:ln>
        </p:spPr>
      </p:sp>
      <p:sp>
        <p:nvSpPr>
          <p:cNvPr id="27" name="Shape 25"/>
          <p:cNvSpPr/>
          <p:nvPr/>
        </p:nvSpPr>
        <p:spPr>
          <a:xfrm>
            <a:off x="3749040" y="1783080"/>
            <a:ext cx="822960" cy="384048"/>
          </a:xfrm>
          <a:prstGeom prst="rect">
            <a:avLst/>
          </a:prstGeom>
          <a:solidFill>
            <a:srgbClr val="ECE6FA"/>
          </a:solidFill>
          <a:ln w="12700">
            <a:solidFill>
              <a:srgbClr val="6C4FBF"/>
            </a:solidFill>
            <a:prstDash val="solid"/>
          </a:ln>
        </p:spPr>
      </p:sp>
      <p:sp>
        <p:nvSpPr>
          <p:cNvPr id="28" name="Shape 26"/>
          <p:cNvSpPr/>
          <p:nvPr/>
        </p:nvSpPr>
        <p:spPr>
          <a:xfrm>
            <a:off x="3954780" y="1783080"/>
            <a:ext cx="914" cy="384048"/>
          </a:xfrm>
          <a:prstGeom prst="line">
            <a:avLst/>
          </a:prstGeom>
          <a:noFill/>
          <a:ln w="5080">
            <a:solidFill>
              <a:srgbClr val="D5DCE5"/>
            </a:solidFill>
            <a:prstDash val="solid"/>
          </a:ln>
        </p:spPr>
      </p:sp>
      <p:sp>
        <p:nvSpPr>
          <p:cNvPr id="29" name="Shape 27"/>
          <p:cNvSpPr/>
          <p:nvPr/>
        </p:nvSpPr>
        <p:spPr>
          <a:xfrm>
            <a:off x="4160520" y="1783080"/>
            <a:ext cx="914" cy="384048"/>
          </a:xfrm>
          <a:prstGeom prst="line">
            <a:avLst/>
          </a:prstGeom>
          <a:noFill/>
          <a:ln w="5080">
            <a:solidFill>
              <a:srgbClr val="D5DCE5"/>
            </a:solidFill>
            <a:prstDash val="solid"/>
          </a:ln>
        </p:spPr>
      </p:sp>
      <p:sp>
        <p:nvSpPr>
          <p:cNvPr id="30" name="Shape 28"/>
          <p:cNvSpPr/>
          <p:nvPr/>
        </p:nvSpPr>
        <p:spPr>
          <a:xfrm>
            <a:off x="4366260" y="1783080"/>
            <a:ext cx="914" cy="384048"/>
          </a:xfrm>
          <a:prstGeom prst="line">
            <a:avLst/>
          </a:prstGeom>
          <a:noFill/>
          <a:ln w="5080">
            <a:solidFill>
              <a:srgbClr val="D5DCE5"/>
            </a:solidFill>
            <a:prstDash val="solid"/>
          </a:ln>
        </p:spPr>
      </p:sp>
      <p:sp>
        <p:nvSpPr>
          <p:cNvPr id="31" name="Text 29"/>
          <p:cNvSpPr txBox="1"/>
          <p:nvPr/>
        </p:nvSpPr>
        <p:spPr>
          <a:xfrm>
            <a:off x="3749040" y="1554480"/>
            <a:ext cx="118872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Q [7,24,128]</a:t>
            </a:r>
            <a:endParaRPr lang="en-US" sz="850" dirty="0"/>
          </a:p>
        </p:txBody>
      </p:sp>
      <p:sp>
        <p:nvSpPr>
          <p:cNvPr id="32" name="Shape 30"/>
          <p:cNvSpPr/>
          <p:nvPr/>
        </p:nvSpPr>
        <p:spPr>
          <a:xfrm>
            <a:off x="3803904" y="2386584"/>
            <a:ext cx="822960" cy="384048"/>
          </a:xfrm>
          <a:prstGeom prst="rect">
            <a:avLst/>
          </a:prstGeom>
          <a:solidFill>
            <a:srgbClr val="ECE6FA"/>
          </a:solidFill>
          <a:ln w="9525">
            <a:solidFill>
              <a:srgbClr val="6C4FBF"/>
            </a:solidFill>
            <a:prstDash val="solid"/>
          </a:ln>
        </p:spPr>
      </p:sp>
      <p:sp>
        <p:nvSpPr>
          <p:cNvPr id="33" name="Shape 31"/>
          <p:cNvSpPr/>
          <p:nvPr/>
        </p:nvSpPr>
        <p:spPr>
          <a:xfrm>
            <a:off x="3749040" y="2441448"/>
            <a:ext cx="822960" cy="384048"/>
          </a:xfrm>
          <a:prstGeom prst="rect">
            <a:avLst/>
          </a:prstGeom>
          <a:solidFill>
            <a:srgbClr val="ECE6FA"/>
          </a:solidFill>
          <a:ln w="12700">
            <a:solidFill>
              <a:srgbClr val="6C4FBF"/>
            </a:solidFill>
            <a:prstDash val="solid"/>
          </a:ln>
        </p:spPr>
      </p:sp>
      <p:sp>
        <p:nvSpPr>
          <p:cNvPr id="34" name="Shape 32"/>
          <p:cNvSpPr/>
          <p:nvPr/>
        </p:nvSpPr>
        <p:spPr>
          <a:xfrm>
            <a:off x="3954780" y="2441448"/>
            <a:ext cx="914" cy="384048"/>
          </a:xfrm>
          <a:prstGeom prst="line">
            <a:avLst/>
          </a:prstGeom>
          <a:noFill/>
          <a:ln w="5080">
            <a:solidFill>
              <a:srgbClr val="D5DCE5"/>
            </a:solidFill>
            <a:prstDash val="solid"/>
          </a:ln>
        </p:spPr>
      </p:sp>
      <p:sp>
        <p:nvSpPr>
          <p:cNvPr id="35" name="Shape 33"/>
          <p:cNvSpPr/>
          <p:nvPr/>
        </p:nvSpPr>
        <p:spPr>
          <a:xfrm>
            <a:off x="4160520" y="2441448"/>
            <a:ext cx="914" cy="384048"/>
          </a:xfrm>
          <a:prstGeom prst="line">
            <a:avLst/>
          </a:prstGeom>
          <a:noFill/>
          <a:ln w="5080">
            <a:solidFill>
              <a:srgbClr val="D5DCE5"/>
            </a:solidFill>
            <a:prstDash val="solid"/>
          </a:ln>
        </p:spPr>
      </p:sp>
      <p:sp>
        <p:nvSpPr>
          <p:cNvPr id="36" name="Shape 34"/>
          <p:cNvSpPr/>
          <p:nvPr/>
        </p:nvSpPr>
        <p:spPr>
          <a:xfrm>
            <a:off x="4366260" y="2441448"/>
            <a:ext cx="914" cy="384048"/>
          </a:xfrm>
          <a:prstGeom prst="line">
            <a:avLst/>
          </a:prstGeom>
          <a:noFill/>
          <a:ln w="5080">
            <a:solidFill>
              <a:srgbClr val="D5DCE5"/>
            </a:solidFill>
            <a:prstDash val="solid"/>
          </a:ln>
        </p:spPr>
      </p:sp>
      <p:sp>
        <p:nvSpPr>
          <p:cNvPr id="37" name="Text 35"/>
          <p:cNvSpPr txBox="1"/>
          <p:nvPr/>
        </p:nvSpPr>
        <p:spPr>
          <a:xfrm>
            <a:off x="3749040" y="2212848"/>
            <a:ext cx="109728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K [7,8,128]</a:t>
            </a:r>
            <a:endParaRPr lang="en-US" sz="850" dirty="0"/>
          </a:p>
        </p:txBody>
      </p:sp>
      <p:sp>
        <p:nvSpPr>
          <p:cNvPr id="38" name="Shape 36"/>
          <p:cNvSpPr/>
          <p:nvPr/>
        </p:nvSpPr>
        <p:spPr>
          <a:xfrm>
            <a:off x="3803904" y="3044952"/>
            <a:ext cx="822960" cy="384048"/>
          </a:xfrm>
          <a:prstGeom prst="rect">
            <a:avLst/>
          </a:prstGeom>
          <a:solidFill>
            <a:srgbClr val="ECE6FA"/>
          </a:solidFill>
          <a:ln w="9525">
            <a:solidFill>
              <a:srgbClr val="6C4FBF"/>
            </a:solidFill>
            <a:prstDash val="solid"/>
          </a:ln>
        </p:spPr>
      </p:sp>
      <p:sp>
        <p:nvSpPr>
          <p:cNvPr id="39" name="Shape 37"/>
          <p:cNvSpPr/>
          <p:nvPr/>
        </p:nvSpPr>
        <p:spPr>
          <a:xfrm>
            <a:off x="3749040" y="3099816"/>
            <a:ext cx="822960" cy="384048"/>
          </a:xfrm>
          <a:prstGeom prst="rect">
            <a:avLst/>
          </a:prstGeom>
          <a:solidFill>
            <a:srgbClr val="ECE6FA"/>
          </a:solidFill>
          <a:ln w="12700">
            <a:solidFill>
              <a:srgbClr val="6C4FBF"/>
            </a:solidFill>
            <a:prstDash val="solid"/>
          </a:ln>
        </p:spPr>
      </p:sp>
      <p:sp>
        <p:nvSpPr>
          <p:cNvPr id="40" name="Shape 38"/>
          <p:cNvSpPr/>
          <p:nvPr/>
        </p:nvSpPr>
        <p:spPr>
          <a:xfrm>
            <a:off x="3954780" y="3099816"/>
            <a:ext cx="914" cy="384048"/>
          </a:xfrm>
          <a:prstGeom prst="line">
            <a:avLst/>
          </a:prstGeom>
          <a:noFill/>
          <a:ln w="5080">
            <a:solidFill>
              <a:srgbClr val="D5DCE5"/>
            </a:solidFill>
            <a:prstDash val="solid"/>
          </a:ln>
        </p:spPr>
      </p:sp>
      <p:sp>
        <p:nvSpPr>
          <p:cNvPr id="41" name="Shape 39"/>
          <p:cNvSpPr/>
          <p:nvPr/>
        </p:nvSpPr>
        <p:spPr>
          <a:xfrm>
            <a:off x="4160520" y="3099816"/>
            <a:ext cx="914" cy="384048"/>
          </a:xfrm>
          <a:prstGeom prst="line">
            <a:avLst/>
          </a:prstGeom>
          <a:noFill/>
          <a:ln w="5080">
            <a:solidFill>
              <a:srgbClr val="D5DCE5"/>
            </a:solidFill>
            <a:prstDash val="solid"/>
          </a:ln>
        </p:spPr>
      </p:sp>
      <p:sp>
        <p:nvSpPr>
          <p:cNvPr id="42" name="Shape 40"/>
          <p:cNvSpPr/>
          <p:nvPr/>
        </p:nvSpPr>
        <p:spPr>
          <a:xfrm>
            <a:off x="4366260" y="3099816"/>
            <a:ext cx="914" cy="384048"/>
          </a:xfrm>
          <a:prstGeom prst="line">
            <a:avLst/>
          </a:prstGeom>
          <a:noFill/>
          <a:ln w="5080">
            <a:solidFill>
              <a:srgbClr val="D5DCE5"/>
            </a:solidFill>
            <a:prstDash val="solid"/>
          </a:ln>
        </p:spPr>
      </p:sp>
      <p:sp>
        <p:nvSpPr>
          <p:cNvPr id="43" name="Text 41"/>
          <p:cNvSpPr txBox="1"/>
          <p:nvPr/>
        </p:nvSpPr>
        <p:spPr>
          <a:xfrm>
            <a:off x="3749040" y="2871216"/>
            <a:ext cx="109728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V [7,8,128]</a:t>
            </a:r>
            <a:endParaRPr lang="en-US" sz="850" dirty="0"/>
          </a:p>
        </p:txBody>
      </p:sp>
      <p:sp>
        <p:nvSpPr>
          <p:cNvPr id="44" name="Shape 42"/>
          <p:cNvSpPr/>
          <p:nvPr/>
        </p:nvSpPr>
        <p:spPr>
          <a:xfrm flipV="1">
            <a:off x="3081528" y="1975104"/>
            <a:ext cx="667512" cy="448056"/>
          </a:xfrm>
          <a:prstGeom prst="line">
            <a:avLst/>
          </a:prstGeom>
          <a:noFill/>
          <a:ln w="12700">
            <a:solidFill>
              <a:srgbClr val="5B6B7F"/>
            </a:solidFill>
            <a:prstDash val="solid"/>
            <a:tailEnd type="triangle"/>
          </a:ln>
        </p:spPr>
      </p:sp>
      <p:sp>
        <p:nvSpPr>
          <p:cNvPr id="45" name="Shape 43"/>
          <p:cNvSpPr/>
          <p:nvPr/>
        </p:nvSpPr>
        <p:spPr>
          <a:xfrm>
            <a:off x="3081528" y="2423160"/>
            <a:ext cx="667512" cy="210312"/>
          </a:xfrm>
          <a:prstGeom prst="line">
            <a:avLst/>
          </a:prstGeom>
          <a:noFill/>
          <a:ln w="12700">
            <a:solidFill>
              <a:srgbClr val="5B6B7F"/>
            </a:solidFill>
            <a:prstDash val="solid"/>
            <a:tailEnd type="triangle"/>
          </a:ln>
        </p:spPr>
      </p:sp>
      <p:sp>
        <p:nvSpPr>
          <p:cNvPr id="46" name="Shape 44"/>
          <p:cNvSpPr/>
          <p:nvPr/>
        </p:nvSpPr>
        <p:spPr>
          <a:xfrm>
            <a:off x="3081528" y="2423160"/>
            <a:ext cx="667512" cy="868680"/>
          </a:xfrm>
          <a:prstGeom prst="line">
            <a:avLst/>
          </a:prstGeom>
          <a:noFill/>
          <a:ln w="12700">
            <a:solidFill>
              <a:srgbClr val="5B6B7F"/>
            </a:solidFill>
            <a:prstDash val="solid"/>
            <a:tailEnd type="triangle"/>
          </a:ln>
        </p:spPr>
      </p:sp>
      <p:sp>
        <p:nvSpPr>
          <p:cNvPr id="47" name="Text 45"/>
          <p:cNvSpPr txBox="1"/>
          <p:nvPr/>
        </p:nvSpPr>
        <p:spPr>
          <a:xfrm>
            <a:off x="3063240" y="1691640"/>
            <a:ext cx="685800" cy="274320"/>
          </a:xfrm>
          <a:prstGeom prst="rect">
            <a:avLst/>
          </a:prstGeom>
          <a:noFill/>
          <a:ln/>
        </p:spPr>
        <p:txBody>
          <a:bodyPr wrap="square" lIns="0" tIns="0" rIns="0" bIns="0" rtlCol="0" anchor="t"/>
          <a:lstStyle/>
          <a:p>
            <a:pPr algn="ctr" indent="0" marL="0">
              <a:buNone/>
            </a:pPr>
            <a:r>
              <a:rPr lang="en-US" sz="750" b="1" dirty="0">
                <a:solidFill>
                  <a:srgbClr val="6C4FBF"/>
                </a:solidFill>
                <a:latin typeface="Malgun Gothic" pitchFamily="34" charset="0"/>
                <a:ea typeface="Malgun Gothic" pitchFamily="34" charset="-122"/>
                <a:cs typeface="Malgun Gothic" pitchFamily="34" charset="-120"/>
              </a:rPr>
              <a:t>q_proj</a:t>
            </a:r>
            <a:endParaRPr lang="en-US" sz="750" dirty="0"/>
          </a:p>
        </p:txBody>
      </p:sp>
      <p:sp>
        <p:nvSpPr>
          <p:cNvPr id="48" name="Text 46"/>
          <p:cNvSpPr txBox="1"/>
          <p:nvPr/>
        </p:nvSpPr>
        <p:spPr>
          <a:xfrm>
            <a:off x="3063240" y="2240280"/>
            <a:ext cx="685800" cy="274320"/>
          </a:xfrm>
          <a:prstGeom prst="rect">
            <a:avLst/>
          </a:prstGeom>
          <a:noFill/>
          <a:ln/>
        </p:spPr>
        <p:txBody>
          <a:bodyPr wrap="square" lIns="0" tIns="0" rIns="0" bIns="0" rtlCol="0" anchor="t"/>
          <a:lstStyle/>
          <a:p>
            <a:pPr algn="ctr" indent="0" marL="0">
              <a:buNone/>
            </a:pPr>
            <a:r>
              <a:rPr lang="en-US" sz="750" b="1" dirty="0">
                <a:solidFill>
                  <a:srgbClr val="6C4FBF"/>
                </a:solidFill>
                <a:latin typeface="Malgun Gothic" pitchFamily="34" charset="0"/>
                <a:ea typeface="Malgun Gothic" pitchFamily="34" charset="-122"/>
                <a:cs typeface="Malgun Gothic" pitchFamily="34" charset="-120"/>
              </a:rPr>
              <a:t>k_proj</a:t>
            </a:r>
            <a:endParaRPr lang="en-US" sz="750" dirty="0"/>
          </a:p>
        </p:txBody>
      </p:sp>
      <p:sp>
        <p:nvSpPr>
          <p:cNvPr id="49" name="Text 47"/>
          <p:cNvSpPr txBox="1"/>
          <p:nvPr/>
        </p:nvSpPr>
        <p:spPr>
          <a:xfrm>
            <a:off x="3063240" y="3017520"/>
            <a:ext cx="685800" cy="274320"/>
          </a:xfrm>
          <a:prstGeom prst="rect">
            <a:avLst/>
          </a:prstGeom>
          <a:noFill/>
          <a:ln/>
        </p:spPr>
        <p:txBody>
          <a:bodyPr wrap="square" lIns="0" tIns="0" rIns="0" bIns="0" rtlCol="0" anchor="t"/>
          <a:lstStyle/>
          <a:p>
            <a:pPr algn="ctr" indent="0" marL="0">
              <a:buNone/>
            </a:pPr>
            <a:r>
              <a:rPr lang="en-US" sz="750" b="1" dirty="0">
                <a:solidFill>
                  <a:srgbClr val="6C4FBF"/>
                </a:solidFill>
                <a:latin typeface="Malgun Gothic" pitchFamily="34" charset="0"/>
                <a:ea typeface="Malgun Gothic" pitchFamily="34" charset="-122"/>
                <a:cs typeface="Malgun Gothic" pitchFamily="34" charset="-120"/>
              </a:rPr>
              <a:t>v_proj</a:t>
            </a:r>
            <a:endParaRPr lang="en-US" sz="750" dirty="0"/>
          </a:p>
        </p:txBody>
      </p:sp>
      <p:sp>
        <p:nvSpPr>
          <p:cNvPr id="50" name="Text 48"/>
          <p:cNvSpPr txBox="1"/>
          <p:nvPr/>
        </p:nvSpPr>
        <p:spPr>
          <a:xfrm>
            <a:off x="4709160" y="1856232"/>
            <a:ext cx="457200" cy="237744"/>
          </a:xfrm>
          <a:prstGeom prst="roundRect">
            <a:avLst>
              <a:gd name="adj" fmla="val 50000"/>
            </a:avLst>
          </a:prstGeom>
          <a:solidFill>
            <a:srgbClr val="E3EEFB"/>
          </a:solidFill>
          <a:ln w="9525">
            <a:solidFill>
              <a:srgbClr val="2F6DB5"/>
            </a:solidFill>
          </a:ln>
        </p:spPr>
        <p:txBody>
          <a:bodyPr wrap="square" lIns="0" tIns="0" rIns="0" bIns="0" rtlCol="0" anchor="ctr"/>
          <a:lstStyle/>
          <a:p>
            <a:pPr algn="ctr" indent="0" marL="0">
              <a:buNone/>
            </a:pPr>
            <a:r>
              <a:rPr lang="en-US" sz="700" b="1" dirty="0">
                <a:solidFill>
                  <a:srgbClr val="2F6DB5"/>
                </a:solidFill>
                <a:latin typeface="Malgun Gothic" pitchFamily="34" charset="0"/>
                <a:ea typeface="Malgun Gothic" pitchFamily="34" charset="-122"/>
                <a:cs typeface="Malgun Gothic" pitchFamily="34" charset="-120"/>
              </a:rPr>
              <a:t>RoPE</a:t>
            </a:r>
            <a:endParaRPr lang="en-US" sz="700" dirty="0"/>
          </a:p>
        </p:txBody>
      </p:sp>
      <p:sp>
        <p:nvSpPr>
          <p:cNvPr id="51" name="Text 49"/>
          <p:cNvSpPr txBox="1"/>
          <p:nvPr/>
        </p:nvSpPr>
        <p:spPr>
          <a:xfrm>
            <a:off x="4709160" y="2514600"/>
            <a:ext cx="457200" cy="237744"/>
          </a:xfrm>
          <a:prstGeom prst="roundRect">
            <a:avLst>
              <a:gd name="adj" fmla="val 50000"/>
            </a:avLst>
          </a:prstGeom>
          <a:solidFill>
            <a:srgbClr val="E3EEFB"/>
          </a:solidFill>
          <a:ln w="9525">
            <a:solidFill>
              <a:srgbClr val="2F6DB5"/>
            </a:solidFill>
          </a:ln>
        </p:spPr>
        <p:txBody>
          <a:bodyPr wrap="square" lIns="0" tIns="0" rIns="0" bIns="0" rtlCol="0" anchor="ctr"/>
          <a:lstStyle/>
          <a:p>
            <a:pPr algn="ctr" indent="0" marL="0">
              <a:buNone/>
            </a:pPr>
            <a:r>
              <a:rPr lang="en-US" sz="700" b="1" dirty="0">
                <a:solidFill>
                  <a:srgbClr val="2F6DB5"/>
                </a:solidFill>
                <a:latin typeface="Malgun Gothic" pitchFamily="34" charset="0"/>
                <a:ea typeface="Malgun Gothic" pitchFamily="34" charset="-122"/>
                <a:cs typeface="Malgun Gothic" pitchFamily="34" charset="-120"/>
              </a:rPr>
              <a:t>RoPE</a:t>
            </a:r>
            <a:endParaRPr lang="en-US" sz="700" dirty="0"/>
          </a:p>
        </p:txBody>
      </p:sp>
      <p:sp>
        <p:nvSpPr>
          <p:cNvPr id="52" name="Text 50"/>
          <p:cNvSpPr txBox="1"/>
          <p:nvPr/>
        </p:nvSpPr>
        <p:spPr>
          <a:xfrm>
            <a:off x="5257800" y="2514600"/>
            <a:ext cx="685800" cy="237744"/>
          </a:xfrm>
          <a:prstGeom prst="roundRect">
            <a:avLst>
              <a:gd name="adj" fmla="val 50000"/>
            </a:avLst>
          </a:prstGeom>
          <a:solidFill>
            <a:srgbClr val="E3EEFB"/>
          </a:solidFill>
          <a:ln w="9525">
            <a:solidFill>
              <a:srgbClr val="2F6DB5"/>
            </a:solidFill>
          </a:ln>
        </p:spPr>
        <p:txBody>
          <a:bodyPr wrap="square" lIns="0" tIns="0" rIns="0" bIns="0" rtlCol="0" anchor="ctr"/>
          <a:lstStyle/>
          <a:p>
            <a:pPr algn="ctr" indent="0" marL="0">
              <a:buNone/>
            </a:pPr>
            <a:r>
              <a:rPr lang="en-US" sz="700" b="1" dirty="0">
                <a:solidFill>
                  <a:srgbClr val="2F6DB5"/>
                </a:solidFill>
                <a:latin typeface="Malgun Gothic" pitchFamily="34" charset="0"/>
                <a:ea typeface="Malgun Gothic" pitchFamily="34" charset="-122"/>
                <a:cs typeface="Malgun Gothic" pitchFamily="34" charset="-120"/>
              </a:rPr>
              <a:t>repeat ×3</a:t>
            </a:r>
            <a:endParaRPr lang="en-US" sz="700" dirty="0"/>
          </a:p>
        </p:txBody>
      </p:sp>
      <p:sp>
        <p:nvSpPr>
          <p:cNvPr id="53" name="Text 51"/>
          <p:cNvSpPr txBox="1"/>
          <p:nvPr/>
        </p:nvSpPr>
        <p:spPr>
          <a:xfrm>
            <a:off x="5257800" y="3172968"/>
            <a:ext cx="685800" cy="237744"/>
          </a:xfrm>
          <a:prstGeom prst="roundRect">
            <a:avLst>
              <a:gd name="adj" fmla="val 50000"/>
            </a:avLst>
          </a:prstGeom>
          <a:solidFill>
            <a:srgbClr val="E3EEFB"/>
          </a:solidFill>
          <a:ln w="9525">
            <a:solidFill>
              <a:srgbClr val="2F6DB5"/>
            </a:solidFill>
          </a:ln>
        </p:spPr>
        <p:txBody>
          <a:bodyPr wrap="square" lIns="0" tIns="0" rIns="0" bIns="0" rtlCol="0" anchor="ctr"/>
          <a:lstStyle/>
          <a:p>
            <a:pPr algn="ctr" indent="0" marL="0">
              <a:buNone/>
            </a:pPr>
            <a:r>
              <a:rPr lang="en-US" sz="700" b="1" dirty="0">
                <a:solidFill>
                  <a:srgbClr val="2F6DB5"/>
                </a:solidFill>
                <a:latin typeface="Malgun Gothic" pitchFamily="34" charset="0"/>
                <a:ea typeface="Malgun Gothic" pitchFamily="34" charset="-122"/>
                <a:cs typeface="Malgun Gothic" pitchFamily="34" charset="-120"/>
              </a:rPr>
              <a:t>repeat ×3</a:t>
            </a:r>
            <a:endParaRPr lang="en-US" sz="700" dirty="0"/>
          </a:p>
        </p:txBody>
      </p:sp>
      <p:sp>
        <p:nvSpPr>
          <p:cNvPr id="54" name="Shape 52"/>
          <p:cNvSpPr/>
          <p:nvPr/>
        </p:nvSpPr>
        <p:spPr>
          <a:xfrm>
            <a:off x="6373368" y="1673352"/>
            <a:ext cx="731520" cy="731520"/>
          </a:xfrm>
          <a:prstGeom prst="rect">
            <a:avLst/>
          </a:prstGeom>
          <a:solidFill>
            <a:srgbClr val="ECE6FA"/>
          </a:solidFill>
          <a:ln w="9525">
            <a:solidFill>
              <a:srgbClr val="6C4FBF"/>
            </a:solidFill>
            <a:prstDash val="solid"/>
          </a:ln>
        </p:spPr>
      </p:sp>
      <p:sp>
        <p:nvSpPr>
          <p:cNvPr id="55" name="Shape 53"/>
          <p:cNvSpPr/>
          <p:nvPr/>
        </p:nvSpPr>
        <p:spPr>
          <a:xfrm>
            <a:off x="6318504" y="1728216"/>
            <a:ext cx="731520" cy="731520"/>
          </a:xfrm>
          <a:prstGeom prst="rect">
            <a:avLst/>
          </a:prstGeom>
          <a:solidFill>
            <a:srgbClr val="ECE6FA"/>
          </a:solidFill>
          <a:ln w="9525">
            <a:solidFill>
              <a:srgbClr val="6C4FBF"/>
            </a:solidFill>
            <a:prstDash val="solid"/>
          </a:ln>
        </p:spPr>
      </p:sp>
      <p:sp>
        <p:nvSpPr>
          <p:cNvPr id="56" name="Shape 54"/>
          <p:cNvSpPr/>
          <p:nvPr/>
        </p:nvSpPr>
        <p:spPr>
          <a:xfrm>
            <a:off x="6263640" y="1783080"/>
            <a:ext cx="731520" cy="731520"/>
          </a:xfrm>
          <a:prstGeom prst="rect">
            <a:avLst/>
          </a:prstGeom>
          <a:solidFill>
            <a:srgbClr val="ECE6FA"/>
          </a:solidFill>
          <a:ln w="12700">
            <a:solidFill>
              <a:srgbClr val="6C4FBF"/>
            </a:solidFill>
            <a:prstDash val="solid"/>
          </a:ln>
        </p:spPr>
      </p:sp>
      <p:sp>
        <p:nvSpPr>
          <p:cNvPr id="57" name="Shape 55"/>
          <p:cNvSpPr/>
          <p:nvPr/>
        </p:nvSpPr>
        <p:spPr>
          <a:xfrm>
            <a:off x="6368143" y="1783080"/>
            <a:ext cx="104503" cy="104503"/>
          </a:xfrm>
          <a:prstGeom prst="rect">
            <a:avLst/>
          </a:prstGeom>
          <a:solidFill>
            <a:srgbClr val="EEF2F6"/>
          </a:solidFill>
          <a:ln w="3810">
            <a:solidFill>
              <a:srgbClr val="C9D3DF"/>
            </a:solidFill>
            <a:prstDash val="solid"/>
          </a:ln>
        </p:spPr>
      </p:sp>
      <p:sp>
        <p:nvSpPr>
          <p:cNvPr id="58" name="Shape 56"/>
          <p:cNvSpPr/>
          <p:nvPr/>
        </p:nvSpPr>
        <p:spPr>
          <a:xfrm>
            <a:off x="6472646" y="1783080"/>
            <a:ext cx="104503" cy="104503"/>
          </a:xfrm>
          <a:prstGeom prst="rect">
            <a:avLst/>
          </a:prstGeom>
          <a:solidFill>
            <a:srgbClr val="EEF2F6"/>
          </a:solidFill>
          <a:ln w="3810">
            <a:solidFill>
              <a:srgbClr val="C9D3DF"/>
            </a:solidFill>
            <a:prstDash val="solid"/>
          </a:ln>
        </p:spPr>
      </p:sp>
      <p:sp>
        <p:nvSpPr>
          <p:cNvPr id="59" name="Shape 57"/>
          <p:cNvSpPr/>
          <p:nvPr/>
        </p:nvSpPr>
        <p:spPr>
          <a:xfrm>
            <a:off x="6577149" y="1783080"/>
            <a:ext cx="104503" cy="104503"/>
          </a:xfrm>
          <a:prstGeom prst="rect">
            <a:avLst/>
          </a:prstGeom>
          <a:solidFill>
            <a:srgbClr val="EEF2F6"/>
          </a:solidFill>
          <a:ln w="3810">
            <a:solidFill>
              <a:srgbClr val="C9D3DF"/>
            </a:solidFill>
            <a:prstDash val="solid"/>
          </a:ln>
        </p:spPr>
      </p:sp>
      <p:sp>
        <p:nvSpPr>
          <p:cNvPr id="60" name="Shape 58"/>
          <p:cNvSpPr/>
          <p:nvPr/>
        </p:nvSpPr>
        <p:spPr>
          <a:xfrm>
            <a:off x="6681651" y="1783080"/>
            <a:ext cx="104503" cy="104503"/>
          </a:xfrm>
          <a:prstGeom prst="rect">
            <a:avLst/>
          </a:prstGeom>
          <a:solidFill>
            <a:srgbClr val="EEF2F6"/>
          </a:solidFill>
          <a:ln w="3810">
            <a:solidFill>
              <a:srgbClr val="C9D3DF"/>
            </a:solidFill>
            <a:prstDash val="solid"/>
          </a:ln>
        </p:spPr>
      </p:sp>
      <p:sp>
        <p:nvSpPr>
          <p:cNvPr id="61" name="Shape 59"/>
          <p:cNvSpPr/>
          <p:nvPr/>
        </p:nvSpPr>
        <p:spPr>
          <a:xfrm>
            <a:off x="6786154" y="1783080"/>
            <a:ext cx="104503" cy="104503"/>
          </a:xfrm>
          <a:prstGeom prst="rect">
            <a:avLst/>
          </a:prstGeom>
          <a:solidFill>
            <a:srgbClr val="EEF2F6"/>
          </a:solidFill>
          <a:ln w="3810">
            <a:solidFill>
              <a:srgbClr val="C9D3DF"/>
            </a:solidFill>
            <a:prstDash val="solid"/>
          </a:ln>
        </p:spPr>
      </p:sp>
      <p:sp>
        <p:nvSpPr>
          <p:cNvPr id="62" name="Shape 60"/>
          <p:cNvSpPr/>
          <p:nvPr/>
        </p:nvSpPr>
        <p:spPr>
          <a:xfrm>
            <a:off x="6890657" y="1783080"/>
            <a:ext cx="104503" cy="104503"/>
          </a:xfrm>
          <a:prstGeom prst="rect">
            <a:avLst/>
          </a:prstGeom>
          <a:solidFill>
            <a:srgbClr val="EEF2F6"/>
          </a:solidFill>
          <a:ln w="3810">
            <a:solidFill>
              <a:srgbClr val="C9D3DF"/>
            </a:solidFill>
            <a:prstDash val="solid"/>
          </a:ln>
        </p:spPr>
      </p:sp>
      <p:sp>
        <p:nvSpPr>
          <p:cNvPr id="63" name="Shape 61"/>
          <p:cNvSpPr/>
          <p:nvPr/>
        </p:nvSpPr>
        <p:spPr>
          <a:xfrm>
            <a:off x="6472646" y="1887583"/>
            <a:ext cx="104503" cy="104503"/>
          </a:xfrm>
          <a:prstGeom prst="rect">
            <a:avLst/>
          </a:prstGeom>
          <a:solidFill>
            <a:srgbClr val="EEF2F6"/>
          </a:solidFill>
          <a:ln w="3810">
            <a:solidFill>
              <a:srgbClr val="C9D3DF"/>
            </a:solidFill>
            <a:prstDash val="solid"/>
          </a:ln>
        </p:spPr>
      </p:sp>
      <p:sp>
        <p:nvSpPr>
          <p:cNvPr id="64" name="Shape 62"/>
          <p:cNvSpPr/>
          <p:nvPr/>
        </p:nvSpPr>
        <p:spPr>
          <a:xfrm>
            <a:off x="6577149" y="1887583"/>
            <a:ext cx="104503" cy="104503"/>
          </a:xfrm>
          <a:prstGeom prst="rect">
            <a:avLst/>
          </a:prstGeom>
          <a:solidFill>
            <a:srgbClr val="EEF2F6"/>
          </a:solidFill>
          <a:ln w="3810">
            <a:solidFill>
              <a:srgbClr val="C9D3DF"/>
            </a:solidFill>
            <a:prstDash val="solid"/>
          </a:ln>
        </p:spPr>
      </p:sp>
      <p:sp>
        <p:nvSpPr>
          <p:cNvPr id="65" name="Shape 63"/>
          <p:cNvSpPr/>
          <p:nvPr/>
        </p:nvSpPr>
        <p:spPr>
          <a:xfrm>
            <a:off x="6681651" y="1887583"/>
            <a:ext cx="104503" cy="104503"/>
          </a:xfrm>
          <a:prstGeom prst="rect">
            <a:avLst/>
          </a:prstGeom>
          <a:solidFill>
            <a:srgbClr val="EEF2F6"/>
          </a:solidFill>
          <a:ln w="3810">
            <a:solidFill>
              <a:srgbClr val="C9D3DF"/>
            </a:solidFill>
            <a:prstDash val="solid"/>
          </a:ln>
        </p:spPr>
      </p:sp>
      <p:sp>
        <p:nvSpPr>
          <p:cNvPr id="66" name="Shape 64"/>
          <p:cNvSpPr/>
          <p:nvPr/>
        </p:nvSpPr>
        <p:spPr>
          <a:xfrm>
            <a:off x="6786154" y="1887583"/>
            <a:ext cx="104503" cy="104503"/>
          </a:xfrm>
          <a:prstGeom prst="rect">
            <a:avLst/>
          </a:prstGeom>
          <a:solidFill>
            <a:srgbClr val="EEF2F6"/>
          </a:solidFill>
          <a:ln w="3810">
            <a:solidFill>
              <a:srgbClr val="C9D3DF"/>
            </a:solidFill>
            <a:prstDash val="solid"/>
          </a:ln>
        </p:spPr>
      </p:sp>
      <p:sp>
        <p:nvSpPr>
          <p:cNvPr id="67" name="Shape 65"/>
          <p:cNvSpPr/>
          <p:nvPr/>
        </p:nvSpPr>
        <p:spPr>
          <a:xfrm>
            <a:off x="6890657" y="1887583"/>
            <a:ext cx="104503" cy="104503"/>
          </a:xfrm>
          <a:prstGeom prst="rect">
            <a:avLst/>
          </a:prstGeom>
          <a:solidFill>
            <a:srgbClr val="EEF2F6"/>
          </a:solidFill>
          <a:ln w="3810">
            <a:solidFill>
              <a:srgbClr val="C9D3DF"/>
            </a:solidFill>
            <a:prstDash val="solid"/>
          </a:ln>
        </p:spPr>
      </p:sp>
      <p:sp>
        <p:nvSpPr>
          <p:cNvPr id="68" name="Shape 66"/>
          <p:cNvSpPr/>
          <p:nvPr/>
        </p:nvSpPr>
        <p:spPr>
          <a:xfrm>
            <a:off x="6577149" y="1992086"/>
            <a:ext cx="104503" cy="104503"/>
          </a:xfrm>
          <a:prstGeom prst="rect">
            <a:avLst/>
          </a:prstGeom>
          <a:solidFill>
            <a:srgbClr val="EEF2F6"/>
          </a:solidFill>
          <a:ln w="3810">
            <a:solidFill>
              <a:srgbClr val="C9D3DF"/>
            </a:solidFill>
            <a:prstDash val="solid"/>
          </a:ln>
        </p:spPr>
      </p:sp>
      <p:sp>
        <p:nvSpPr>
          <p:cNvPr id="69" name="Shape 67"/>
          <p:cNvSpPr/>
          <p:nvPr/>
        </p:nvSpPr>
        <p:spPr>
          <a:xfrm>
            <a:off x="6681651" y="1992086"/>
            <a:ext cx="104503" cy="104503"/>
          </a:xfrm>
          <a:prstGeom prst="rect">
            <a:avLst/>
          </a:prstGeom>
          <a:solidFill>
            <a:srgbClr val="EEF2F6"/>
          </a:solidFill>
          <a:ln w="3810">
            <a:solidFill>
              <a:srgbClr val="C9D3DF"/>
            </a:solidFill>
            <a:prstDash val="solid"/>
          </a:ln>
        </p:spPr>
      </p:sp>
      <p:sp>
        <p:nvSpPr>
          <p:cNvPr id="70" name="Shape 68"/>
          <p:cNvSpPr/>
          <p:nvPr/>
        </p:nvSpPr>
        <p:spPr>
          <a:xfrm>
            <a:off x="6786154" y="1992086"/>
            <a:ext cx="104503" cy="104503"/>
          </a:xfrm>
          <a:prstGeom prst="rect">
            <a:avLst/>
          </a:prstGeom>
          <a:solidFill>
            <a:srgbClr val="EEF2F6"/>
          </a:solidFill>
          <a:ln w="3810">
            <a:solidFill>
              <a:srgbClr val="C9D3DF"/>
            </a:solidFill>
            <a:prstDash val="solid"/>
          </a:ln>
        </p:spPr>
      </p:sp>
      <p:sp>
        <p:nvSpPr>
          <p:cNvPr id="71" name="Shape 69"/>
          <p:cNvSpPr/>
          <p:nvPr/>
        </p:nvSpPr>
        <p:spPr>
          <a:xfrm>
            <a:off x="6890657" y="1992086"/>
            <a:ext cx="104503" cy="104503"/>
          </a:xfrm>
          <a:prstGeom prst="rect">
            <a:avLst/>
          </a:prstGeom>
          <a:solidFill>
            <a:srgbClr val="EEF2F6"/>
          </a:solidFill>
          <a:ln w="3810">
            <a:solidFill>
              <a:srgbClr val="C9D3DF"/>
            </a:solidFill>
            <a:prstDash val="solid"/>
          </a:ln>
        </p:spPr>
      </p:sp>
      <p:sp>
        <p:nvSpPr>
          <p:cNvPr id="72" name="Shape 70"/>
          <p:cNvSpPr/>
          <p:nvPr/>
        </p:nvSpPr>
        <p:spPr>
          <a:xfrm>
            <a:off x="6681651" y="2096589"/>
            <a:ext cx="104503" cy="104503"/>
          </a:xfrm>
          <a:prstGeom prst="rect">
            <a:avLst/>
          </a:prstGeom>
          <a:solidFill>
            <a:srgbClr val="EEF2F6"/>
          </a:solidFill>
          <a:ln w="3810">
            <a:solidFill>
              <a:srgbClr val="C9D3DF"/>
            </a:solidFill>
            <a:prstDash val="solid"/>
          </a:ln>
        </p:spPr>
      </p:sp>
      <p:sp>
        <p:nvSpPr>
          <p:cNvPr id="73" name="Shape 71"/>
          <p:cNvSpPr/>
          <p:nvPr/>
        </p:nvSpPr>
        <p:spPr>
          <a:xfrm>
            <a:off x="6786154" y="2096589"/>
            <a:ext cx="104503" cy="104503"/>
          </a:xfrm>
          <a:prstGeom prst="rect">
            <a:avLst/>
          </a:prstGeom>
          <a:solidFill>
            <a:srgbClr val="EEF2F6"/>
          </a:solidFill>
          <a:ln w="3810">
            <a:solidFill>
              <a:srgbClr val="C9D3DF"/>
            </a:solidFill>
            <a:prstDash val="solid"/>
          </a:ln>
        </p:spPr>
      </p:sp>
      <p:sp>
        <p:nvSpPr>
          <p:cNvPr id="74" name="Shape 72"/>
          <p:cNvSpPr/>
          <p:nvPr/>
        </p:nvSpPr>
        <p:spPr>
          <a:xfrm>
            <a:off x="6890657" y="2096589"/>
            <a:ext cx="104503" cy="104503"/>
          </a:xfrm>
          <a:prstGeom prst="rect">
            <a:avLst/>
          </a:prstGeom>
          <a:solidFill>
            <a:srgbClr val="EEF2F6"/>
          </a:solidFill>
          <a:ln w="3810">
            <a:solidFill>
              <a:srgbClr val="C9D3DF"/>
            </a:solidFill>
            <a:prstDash val="solid"/>
          </a:ln>
        </p:spPr>
      </p:sp>
      <p:sp>
        <p:nvSpPr>
          <p:cNvPr id="75" name="Shape 73"/>
          <p:cNvSpPr/>
          <p:nvPr/>
        </p:nvSpPr>
        <p:spPr>
          <a:xfrm>
            <a:off x="6786154" y="2201091"/>
            <a:ext cx="104503" cy="104503"/>
          </a:xfrm>
          <a:prstGeom prst="rect">
            <a:avLst/>
          </a:prstGeom>
          <a:solidFill>
            <a:srgbClr val="EEF2F6"/>
          </a:solidFill>
          <a:ln w="3810">
            <a:solidFill>
              <a:srgbClr val="C9D3DF"/>
            </a:solidFill>
            <a:prstDash val="solid"/>
          </a:ln>
        </p:spPr>
      </p:sp>
      <p:sp>
        <p:nvSpPr>
          <p:cNvPr id="76" name="Shape 74"/>
          <p:cNvSpPr/>
          <p:nvPr/>
        </p:nvSpPr>
        <p:spPr>
          <a:xfrm>
            <a:off x="6890657" y="2201091"/>
            <a:ext cx="104503" cy="104503"/>
          </a:xfrm>
          <a:prstGeom prst="rect">
            <a:avLst/>
          </a:prstGeom>
          <a:solidFill>
            <a:srgbClr val="EEF2F6"/>
          </a:solidFill>
          <a:ln w="3810">
            <a:solidFill>
              <a:srgbClr val="C9D3DF"/>
            </a:solidFill>
            <a:prstDash val="solid"/>
          </a:ln>
        </p:spPr>
      </p:sp>
      <p:sp>
        <p:nvSpPr>
          <p:cNvPr id="77" name="Shape 75"/>
          <p:cNvSpPr/>
          <p:nvPr/>
        </p:nvSpPr>
        <p:spPr>
          <a:xfrm>
            <a:off x="6890657" y="2305594"/>
            <a:ext cx="104503" cy="104503"/>
          </a:xfrm>
          <a:prstGeom prst="rect">
            <a:avLst/>
          </a:prstGeom>
          <a:solidFill>
            <a:srgbClr val="EEF2F6"/>
          </a:solidFill>
          <a:ln w="3810">
            <a:solidFill>
              <a:srgbClr val="C9D3DF"/>
            </a:solidFill>
            <a:prstDash val="solid"/>
          </a:ln>
        </p:spPr>
      </p:sp>
      <p:sp>
        <p:nvSpPr>
          <p:cNvPr id="78" name="Shape 76"/>
          <p:cNvSpPr/>
          <p:nvPr/>
        </p:nvSpPr>
        <p:spPr>
          <a:xfrm>
            <a:off x="6368143" y="1783080"/>
            <a:ext cx="914" cy="731520"/>
          </a:xfrm>
          <a:prstGeom prst="line">
            <a:avLst/>
          </a:prstGeom>
          <a:noFill/>
          <a:ln w="5080">
            <a:solidFill>
              <a:srgbClr val="D5DCE5"/>
            </a:solidFill>
            <a:prstDash val="solid"/>
          </a:ln>
        </p:spPr>
      </p:sp>
      <p:sp>
        <p:nvSpPr>
          <p:cNvPr id="79" name="Shape 77"/>
          <p:cNvSpPr/>
          <p:nvPr/>
        </p:nvSpPr>
        <p:spPr>
          <a:xfrm>
            <a:off x="6472646" y="1783080"/>
            <a:ext cx="914" cy="731520"/>
          </a:xfrm>
          <a:prstGeom prst="line">
            <a:avLst/>
          </a:prstGeom>
          <a:noFill/>
          <a:ln w="5080">
            <a:solidFill>
              <a:srgbClr val="D5DCE5"/>
            </a:solidFill>
            <a:prstDash val="solid"/>
          </a:ln>
        </p:spPr>
      </p:sp>
      <p:sp>
        <p:nvSpPr>
          <p:cNvPr id="80" name="Shape 78"/>
          <p:cNvSpPr/>
          <p:nvPr/>
        </p:nvSpPr>
        <p:spPr>
          <a:xfrm>
            <a:off x="6577149" y="1783080"/>
            <a:ext cx="914" cy="731520"/>
          </a:xfrm>
          <a:prstGeom prst="line">
            <a:avLst/>
          </a:prstGeom>
          <a:noFill/>
          <a:ln w="5080">
            <a:solidFill>
              <a:srgbClr val="D5DCE5"/>
            </a:solidFill>
            <a:prstDash val="solid"/>
          </a:ln>
        </p:spPr>
      </p:sp>
      <p:sp>
        <p:nvSpPr>
          <p:cNvPr id="81" name="Shape 79"/>
          <p:cNvSpPr/>
          <p:nvPr/>
        </p:nvSpPr>
        <p:spPr>
          <a:xfrm>
            <a:off x="6681651" y="1783080"/>
            <a:ext cx="914" cy="731520"/>
          </a:xfrm>
          <a:prstGeom prst="line">
            <a:avLst/>
          </a:prstGeom>
          <a:noFill/>
          <a:ln w="5080">
            <a:solidFill>
              <a:srgbClr val="D5DCE5"/>
            </a:solidFill>
            <a:prstDash val="solid"/>
          </a:ln>
        </p:spPr>
      </p:sp>
      <p:sp>
        <p:nvSpPr>
          <p:cNvPr id="82" name="Shape 80"/>
          <p:cNvSpPr/>
          <p:nvPr/>
        </p:nvSpPr>
        <p:spPr>
          <a:xfrm>
            <a:off x="6786154" y="1783080"/>
            <a:ext cx="914" cy="731520"/>
          </a:xfrm>
          <a:prstGeom prst="line">
            <a:avLst/>
          </a:prstGeom>
          <a:noFill/>
          <a:ln w="5080">
            <a:solidFill>
              <a:srgbClr val="D5DCE5"/>
            </a:solidFill>
            <a:prstDash val="solid"/>
          </a:ln>
        </p:spPr>
      </p:sp>
      <p:sp>
        <p:nvSpPr>
          <p:cNvPr id="83" name="Shape 81"/>
          <p:cNvSpPr/>
          <p:nvPr/>
        </p:nvSpPr>
        <p:spPr>
          <a:xfrm>
            <a:off x="6890657" y="1783080"/>
            <a:ext cx="914" cy="731520"/>
          </a:xfrm>
          <a:prstGeom prst="line">
            <a:avLst/>
          </a:prstGeom>
          <a:noFill/>
          <a:ln w="5080">
            <a:solidFill>
              <a:srgbClr val="D5DCE5"/>
            </a:solidFill>
            <a:prstDash val="solid"/>
          </a:ln>
        </p:spPr>
      </p:sp>
      <p:sp>
        <p:nvSpPr>
          <p:cNvPr id="84" name="Shape 82"/>
          <p:cNvSpPr/>
          <p:nvPr/>
        </p:nvSpPr>
        <p:spPr>
          <a:xfrm>
            <a:off x="6263640" y="1887583"/>
            <a:ext cx="731520" cy="914"/>
          </a:xfrm>
          <a:prstGeom prst="line">
            <a:avLst/>
          </a:prstGeom>
          <a:noFill/>
          <a:ln w="5080">
            <a:solidFill>
              <a:srgbClr val="D5DCE5"/>
            </a:solidFill>
            <a:prstDash val="solid"/>
          </a:ln>
        </p:spPr>
      </p:sp>
      <p:sp>
        <p:nvSpPr>
          <p:cNvPr id="85" name="Shape 83"/>
          <p:cNvSpPr/>
          <p:nvPr/>
        </p:nvSpPr>
        <p:spPr>
          <a:xfrm>
            <a:off x="6263640" y="1992086"/>
            <a:ext cx="731520" cy="914"/>
          </a:xfrm>
          <a:prstGeom prst="line">
            <a:avLst/>
          </a:prstGeom>
          <a:noFill/>
          <a:ln w="5080">
            <a:solidFill>
              <a:srgbClr val="D5DCE5"/>
            </a:solidFill>
            <a:prstDash val="solid"/>
          </a:ln>
        </p:spPr>
      </p:sp>
      <p:sp>
        <p:nvSpPr>
          <p:cNvPr id="86" name="Shape 84"/>
          <p:cNvSpPr/>
          <p:nvPr/>
        </p:nvSpPr>
        <p:spPr>
          <a:xfrm>
            <a:off x="6263640" y="2096589"/>
            <a:ext cx="731520" cy="914"/>
          </a:xfrm>
          <a:prstGeom prst="line">
            <a:avLst/>
          </a:prstGeom>
          <a:noFill/>
          <a:ln w="5080">
            <a:solidFill>
              <a:srgbClr val="D5DCE5"/>
            </a:solidFill>
            <a:prstDash val="solid"/>
          </a:ln>
        </p:spPr>
      </p:sp>
      <p:sp>
        <p:nvSpPr>
          <p:cNvPr id="87" name="Shape 85"/>
          <p:cNvSpPr/>
          <p:nvPr/>
        </p:nvSpPr>
        <p:spPr>
          <a:xfrm>
            <a:off x="6263640" y="2201091"/>
            <a:ext cx="731520" cy="914"/>
          </a:xfrm>
          <a:prstGeom prst="line">
            <a:avLst/>
          </a:prstGeom>
          <a:noFill/>
          <a:ln w="5080">
            <a:solidFill>
              <a:srgbClr val="D5DCE5"/>
            </a:solidFill>
            <a:prstDash val="solid"/>
          </a:ln>
        </p:spPr>
      </p:sp>
      <p:sp>
        <p:nvSpPr>
          <p:cNvPr id="88" name="Shape 86"/>
          <p:cNvSpPr/>
          <p:nvPr/>
        </p:nvSpPr>
        <p:spPr>
          <a:xfrm>
            <a:off x="6263640" y="2305594"/>
            <a:ext cx="731520" cy="914"/>
          </a:xfrm>
          <a:prstGeom prst="line">
            <a:avLst/>
          </a:prstGeom>
          <a:noFill/>
          <a:ln w="5080">
            <a:solidFill>
              <a:srgbClr val="D5DCE5"/>
            </a:solidFill>
            <a:prstDash val="solid"/>
          </a:ln>
        </p:spPr>
      </p:sp>
      <p:sp>
        <p:nvSpPr>
          <p:cNvPr id="89" name="Shape 87"/>
          <p:cNvSpPr/>
          <p:nvPr/>
        </p:nvSpPr>
        <p:spPr>
          <a:xfrm>
            <a:off x="6263640" y="2410097"/>
            <a:ext cx="731520" cy="914"/>
          </a:xfrm>
          <a:prstGeom prst="line">
            <a:avLst/>
          </a:prstGeom>
          <a:noFill/>
          <a:ln w="5080">
            <a:solidFill>
              <a:srgbClr val="D5DCE5"/>
            </a:solidFill>
            <a:prstDash val="solid"/>
          </a:ln>
        </p:spPr>
      </p:sp>
      <p:sp>
        <p:nvSpPr>
          <p:cNvPr id="90" name="Text 88"/>
          <p:cNvSpPr txBox="1"/>
          <p:nvPr/>
        </p:nvSpPr>
        <p:spPr>
          <a:xfrm>
            <a:off x="6263640" y="1554480"/>
            <a:ext cx="1280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scores [24,7,7]</a:t>
            </a:r>
            <a:endParaRPr lang="en-US" sz="850" dirty="0"/>
          </a:p>
        </p:txBody>
      </p:sp>
      <p:sp>
        <p:nvSpPr>
          <p:cNvPr id="91" name="Shape 89"/>
          <p:cNvSpPr/>
          <p:nvPr/>
        </p:nvSpPr>
        <p:spPr>
          <a:xfrm flipV="1">
            <a:off x="5212080" y="1965960"/>
            <a:ext cx="1051560" cy="45720"/>
          </a:xfrm>
          <a:prstGeom prst="line">
            <a:avLst/>
          </a:prstGeom>
          <a:noFill/>
          <a:ln w="12700">
            <a:solidFill>
              <a:srgbClr val="5B6B7F"/>
            </a:solidFill>
            <a:prstDash val="solid"/>
            <a:tailEnd type="triangle"/>
          </a:ln>
        </p:spPr>
      </p:sp>
      <p:sp>
        <p:nvSpPr>
          <p:cNvPr id="92" name="Shape 90"/>
          <p:cNvSpPr/>
          <p:nvPr/>
        </p:nvSpPr>
        <p:spPr>
          <a:xfrm flipV="1">
            <a:off x="5989320" y="2286000"/>
            <a:ext cx="274320" cy="365760"/>
          </a:xfrm>
          <a:prstGeom prst="line">
            <a:avLst/>
          </a:prstGeom>
          <a:noFill/>
          <a:ln w="12700">
            <a:solidFill>
              <a:srgbClr val="5B6B7F"/>
            </a:solidFill>
            <a:prstDash val="solid"/>
            <a:tailEnd type="triangle"/>
          </a:ln>
        </p:spPr>
      </p:sp>
      <p:sp>
        <p:nvSpPr>
          <p:cNvPr id="93" name="Text 91"/>
          <p:cNvSpPr txBox="1"/>
          <p:nvPr/>
        </p:nvSpPr>
        <p:spPr>
          <a:xfrm>
            <a:off x="5166360" y="1463040"/>
            <a:ext cx="1188720" cy="274320"/>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Q · Kᵀ (batch matmul)</a:t>
            </a:r>
            <a:endParaRPr lang="en-US" sz="700" dirty="0"/>
          </a:p>
        </p:txBody>
      </p:sp>
      <p:sp>
        <p:nvSpPr>
          <p:cNvPr id="94" name="Shape 92"/>
          <p:cNvSpPr/>
          <p:nvPr/>
        </p:nvSpPr>
        <p:spPr>
          <a:xfrm>
            <a:off x="7744968" y="1673352"/>
            <a:ext cx="731520" cy="731520"/>
          </a:xfrm>
          <a:prstGeom prst="rect">
            <a:avLst/>
          </a:prstGeom>
          <a:solidFill>
            <a:srgbClr val="ECE6FA"/>
          </a:solidFill>
          <a:ln w="9525">
            <a:solidFill>
              <a:srgbClr val="6C4FBF"/>
            </a:solidFill>
            <a:prstDash val="solid"/>
          </a:ln>
        </p:spPr>
      </p:sp>
      <p:sp>
        <p:nvSpPr>
          <p:cNvPr id="95" name="Shape 93"/>
          <p:cNvSpPr/>
          <p:nvPr/>
        </p:nvSpPr>
        <p:spPr>
          <a:xfrm>
            <a:off x="7690104" y="1728216"/>
            <a:ext cx="731520" cy="731520"/>
          </a:xfrm>
          <a:prstGeom prst="rect">
            <a:avLst/>
          </a:prstGeom>
          <a:solidFill>
            <a:srgbClr val="ECE6FA"/>
          </a:solidFill>
          <a:ln w="9525">
            <a:solidFill>
              <a:srgbClr val="6C4FBF"/>
            </a:solidFill>
            <a:prstDash val="solid"/>
          </a:ln>
        </p:spPr>
      </p:sp>
      <p:sp>
        <p:nvSpPr>
          <p:cNvPr id="96" name="Shape 94"/>
          <p:cNvSpPr/>
          <p:nvPr/>
        </p:nvSpPr>
        <p:spPr>
          <a:xfrm>
            <a:off x="7635240" y="1783080"/>
            <a:ext cx="731520" cy="731520"/>
          </a:xfrm>
          <a:prstGeom prst="rect">
            <a:avLst/>
          </a:prstGeom>
          <a:solidFill>
            <a:srgbClr val="ECE6FA"/>
          </a:solidFill>
          <a:ln w="12700">
            <a:solidFill>
              <a:srgbClr val="6C4FBF"/>
            </a:solidFill>
            <a:prstDash val="solid"/>
          </a:ln>
        </p:spPr>
      </p:sp>
      <p:sp>
        <p:nvSpPr>
          <p:cNvPr id="97" name="Shape 95"/>
          <p:cNvSpPr/>
          <p:nvPr/>
        </p:nvSpPr>
        <p:spPr>
          <a:xfrm>
            <a:off x="7739743" y="1783080"/>
            <a:ext cx="104503" cy="104503"/>
          </a:xfrm>
          <a:prstGeom prst="rect">
            <a:avLst/>
          </a:prstGeom>
          <a:solidFill>
            <a:srgbClr val="EEF2F6"/>
          </a:solidFill>
          <a:ln w="3810">
            <a:solidFill>
              <a:srgbClr val="C9D3DF"/>
            </a:solidFill>
            <a:prstDash val="solid"/>
          </a:ln>
        </p:spPr>
      </p:sp>
      <p:sp>
        <p:nvSpPr>
          <p:cNvPr id="98" name="Shape 96"/>
          <p:cNvSpPr/>
          <p:nvPr/>
        </p:nvSpPr>
        <p:spPr>
          <a:xfrm>
            <a:off x="7844246" y="1783080"/>
            <a:ext cx="104503" cy="104503"/>
          </a:xfrm>
          <a:prstGeom prst="rect">
            <a:avLst/>
          </a:prstGeom>
          <a:solidFill>
            <a:srgbClr val="EEF2F6"/>
          </a:solidFill>
          <a:ln w="3810">
            <a:solidFill>
              <a:srgbClr val="C9D3DF"/>
            </a:solidFill>
            <a:prstDash val="solid"/>
          </a:ln>
        </p:spPr>
      </p:sp>
      <p:sp>
        <p:nvSpPr>
          <p:cNvPr id="99" name="Shape 97"/>
          <p:cNvSpPr/>
          <p:nvPr/>
        </p:nvSpPr>
        <p:spPr>
          <a:xfrm>
            <a:off x="7948749" y="1783080"/>
            <a:ext cx="104503" cy="104503"/>
          </a:xfrm>
          <a:prstGeom prst="rect">
            <a:avLst/>
          </a:prstGeom>
          <a:solidFill>
            <a:srgbClr val="EEF2F6"/>
          </a:solidFill>
          <a:ln w="3810">
            <a:solidFill>
              <a:srgbClr val="C9D3DF"/>
            </a:solidFill>
            <a:prstDash val="solid"/>
          </a:ln>
        </p:spPr>
      </p:sp>
      <p:sp>
        <p:nvSpPr>
          <p:cNvPr id="100" name="Shape 98"/>
          <p:cNvSpPr/>
          <p:nvPr/>
        </p:nvSpPr>
        <p:spPr>
          <a:xfrm>
            <a:off x="8053251" y="1783080"/>
            <a:ext cx="104503" cy="104503"/>
          </a:xfrm>
          <a:prstGeom prst="rect">
            <a:avLst/>
          </a:prstGeom>
          <a:solidFill>
            <a:srgbClr val="EEF2F6"/>
          </a:solidFill>
          <a:ln w="3810">
            <a:solidFill>
              <a:srgbClr val="C9D3DF"/>
            </a:solidFill>
            <a:prstDash val="solid"/>
          </a:ln>
        </p:spPr>
      </p:sp>
      <p:sp>
        <p:nvSpPr>
          <p:cNvPr id="101" name="Shape 99"/>
          <p:cNvSpPr/>
          <p:nvPr/>
        </p:nvSpPr>
        <p:spPr>
          <a:xfrm>
            <a:off x="8157754" y="1783080"/>
            <a:ext cx="104503" cy="104503"/>
          </a:xfrm>
          <a:prstGeom prst="rect">
            <a:avLst/>
          </a:prstGeom>
          <a:solidFill>
            <a:srgbClr val="EEF2F6"/>
          </a:solidFill>
          <a:ln w="3810">
            <a:solidFill>
              <a:srgbClr val="C9D3DF"/>
            </a:solidFill>
            <a:prstDash val="solid"/>
          </a:ln>
        </p:spPr>
      </p:sp>
      <p:sp>
        <p:nvSpPr>
          <p:cNvPr id="102" name="Shape 100"/>
          <p:cNvSpPr/>
          <p:nvPr/>
        </p:nvSpPr>
        <p:spPr>
          <a:xfrm>
            <a:off x="8262257" y="1783080"/>
            <a:ext cx="104503" cy="104503"/>
          </a:xfrm>
          <a:prstGeom prst="rect">
            <a:avLst/>
          </a:prstGeom>
          <a:solidFill>
            <a:srgbClr val="EEF2F6"/>
          </a:solidFill>
          <a:ln w="3810">
            <a:solidFill>
              <a:srgbClr val="C9D3DF"/>
            </a:solidFill>
            <a:prstDash val="solid"/>
          </a:ln>
        </p:spPr>
      </p:sp>
      <p:sp>
        <p:nvSpPr>
          <p:cNvPr id="103" name="Shape 101"/>
          <p:cNvSpPr/>
          <p:nvPr/>
        </p:nvSpPr>
        <p:spPr>
          <a:xfrm>
            <a:off x="7844246" y="1887583"/>
            <a:ext cx="104503" cy="104503"/>
          </a:xfrm>
          <a:prstGeom prst="rect">
            <a:avLst/>
          </a:prstGeom>
          <a:solidFill>
            <a:srgbClr val="EEF2F6"/>
          </a:solidFill>
          <a:ln w="3810">
            <a:solidFill>
              <a:srgbClr val="C9D3DF"/>
            </a:solidFill>
            <a:prstDash val="solid"/>
          </a:ln>
        </p:spPr>
      </p:sp>
      <p:sp>
        <p:nvSpPr>
          <p:cNvPr id="104" name="Shape 102"/>
          <p:cNvSpPr/>
          <p:nvPr/>
        </p:nvSpPr>
        <p:spPr>
          <a:xfrm>
            <a:off x="7948749" y="1887583"/>
            <a:ext cx="104503" cy="104503"/>
          </a:xfrm>
          <a:prstGeom prst="rect">
            <a:avLst/>
          </a:prstGeom>
          <a:solidFill>
            <a:srgbClr val="EEF2F6"/>
          </a:solidFill>
          <a:ln w="3810">
            <a:solidFill>
              <a:srgbClr val="C9D3DF"/>
            </a:solidFill>
            <a:prstDash val="solid"/>
          </a:ln>
        </p:spPr>
      </p:sp>
      <p:sp>
        <p:nvSpPr>
          <p:cNvPr id="105" name="Shape 103"/>
          <p:cNvSpPr/>
          <p:nvPr/>
        </p:nvSpPr>
        <p:spPr>
          <a:xfrm>
            <a:off x="8053251" y="1887583"/>
            <a:ext cx="104503" cy="104503"/>
          </a:xfrm>
          <a:prstGeom prst="rect">
            <a:avLst/>
          </a:prstGeom>
          <a:solidFill>
            <a:srgbClr val="EEF2F6"/>
          </a:solidFill>
          <a:ln w="3810">
            <a:solidFill>
              <a:srgbClr val="C9D3DF"/>
            </a:solidFill>
            <a:prstDash val="solid"/>
          </a:ln>
        </p:spPr>
      </p:sp>
      <p:sp>
        <p:nvSpPr>
          <p:cNvPr id="106" name="Shape 104"/>
          <p:cNvSpPr/>
          <p:nvPr/>
        </p:nvSpPr>
        <p:spPr>
          <a:xfrm>
            <a:off x="8157754" y="1887583"/>
            <a:ext cx="104503" cy="104503"/>
          </a:xfrm>
          <a:prstGeom prst="rect">
            <a:avLst/>
          </a:prstGeom>
          <a:solidFill>
            <a:srgbClr val="EEF2F6"/>
          </a:solidFill>
          <a:ln w="3810">
            <a:solidFill>
              <a:srgbClr val="C9D3DF"/>
            </a:solidFill>
            <a:prstDash val="solid"/>
          </a:ln>
        </p:spPr>
      </p:sp>
      <p:sp>
        <p:nvSpPr>
          <p:cNvPr id="107" name="Shape 105"/>
          <p:cNvSpPr/>
          <p:nvPr/>
        </p:nvSpPr>
        <p:spPr>
          <a:xfrm>
            <a:off x="8262257" y="1887583"/>
            <a:ext cx="104503" cy="104503"/>
          </a:xfrm>
          <a:prstGeom prst="rect">
            <a:avLst/>
          </a:prstGeom>
          <a:solidFill>
            <a:srgbClr val="EEF2F6"/>
          </a:solidFill>
          <a:ln w="3810">
            <a:solidFill>
              <a:srgbClr val="C9D3DF"/>
            </a:solidFill>
            <a:prstDash val="solid"/>
          </a:ln>
        </p:spPr>
      </p:sp>
      <p:sp>
        <p:nvSpPr>
          <p:cNvPr id="108" name="Shape 106"/>
          <p:cNvSpPr/>
          <p:nvPr/>
        </p:nvSpPr>
        <p:spPr>
          <a:xfrm>
            <a:off x="7948749" y="1992086"/>
            <a:ext cx="104503" cy="104503"/>
          </a:xfrm>
          <a:prstGeom prst="rect">
            <a:avLst/>
          </a:prstGeom>
          <a:solidFill>
            <a:srgbClr val="EEF2F6"/>
          </a:solidFill>
          <a:ln w="3810">
            <a:solidFill>
              <a:srgbClr val="C9D3DF"/>
            </a:solidFill>
            <a:prstDash val="solid"/>
          </a:ln>
        </p:spPr>
      </p:sp>
      <p:sp>
        <p:nvSpPr>
          <p:cNvPr id="109" name="Shape 107"/>
          <p:cNvSpPr/>
          <p:nvPr/>
        </p:nvSpPr>
        <p:spPr>
          <a:xfrm>
            <a:off x="8053251" y="1992086"/>
            <a:ext cx="104503" cy="104503"/>
          </a:xfrm>
          <a:prstGeom prst="rect">
            <a:avLst/>
          </a:prstGeom>
          <a:solidFill>
            <a:srgbClr val="EEF2F6"/>
          </a:solidFill>
          <a:ln w="3810">
            <a:solidFill>
              <a:srgbClr val="C9D3DF"/>
            </a:solidFill>
            <a:prstDash val="solid"/>
          </a:ln>
        </p:spPr>
      </p:sp>
      <p:sp>
        <p:nvSpPr>
          <p:cNvPr id="110" name="Shape 108"/>
          <p:cNvSpPr/>
          <p:nvPr/>
        </p:nvSpPr>
        <p:spPr>
          <a:xfrm>
            <a:off x="8157754" y="1992086"/>
            <a:ext cx="104503" cy="104503"/>
          </a:xfrm>
          <a:prstGeom prst="rect">
            <a:avLst/>
          </a:prstGeom>
          <a:solidFill>
            <a:srgbClr val="EEF2F6"/>
          </a:solidFill>
          <a:ln w="3810">
            <a:solidFill>
              <a:srgbClr val="C9D3DF"/>
            </a:solidFill>
            <a:prstDash val="solid"/>
          </a:ln>
        </p:spPr>
      </p:sp>
      <p:sp>
        <p:nvSpPr>
          <p:cNvPr id="111" name="Shape 109"/>
          <p:cNvSpPr/>
          <p:nvPr/>
        </p:nvSpPr>
        <p:spPr>
          <a:xfrm>
            <a:off x="8262257" y="1992086"/>
            <a:ext cx="104503" cy="104503"/>
          </a:xfrm>
          <a:prstGeom prst="rect">
            <a:avLst/>
          </a:prstGeom>
          <a:solidFill>
            <a:srgbClr val="EEF2F6"/>
          </a:solidFill>
          <a:ln w="3810">
            <a:solidFill>
              <a:srgbClr val="C9D3DF"/>
            </a:solidFill>
            <a:prstDash val="solid"/>
          </a:ln>
        </p:spPr>
      </p:sp>
      <p:sp>
        <p:nvSpPr>
          <p:cNvPr id="112" name="Shape 110"/>
          <p:cNvSpPr/>
          <p:nvPr/>
        </p:nvSpPr>
        <p:spPr>
          <a:xfrm>
            <a:off x="8053251" y="2096589"/>
            <a:ext cx="104503" cy="104503"/>
          </a:xfrm>
          <a:prstGeom prst="rect">
            <a:avLst/>
          </a:prstGeom>
          <a:solidFill>
            <a:srgbClr val="EEF2F6"/>
          </a:solidFill>
          <a:ln w="3810">
            <a:solidFill>
              <a:srgbClr val="C9D3DF"/>
            </a:solidFill>
            <a:prstDash val="solid"/>
          </a:ln>
        </p:spPr>
      </p:sp>
      <p:sp>
        <p:nvSpPr>
          <p:cNvPr id="113" name="Shape 111"/>
          <p:cNvSpPr/>
          <p:nvPr/>
        </p:nvSpPr>
        <p:spPr>
          <a:xfrm>
            <a:off x="8157754" y="2096589"/>
            <a:ext cx="104503" cy="104503"/>
          </a:xfrm>
          <a:prstGeom prst="rect">
            <a:avLst/>
          </a:prstGeom>
          <a:solidFill>
            <a:srgbClr val="EEF2F6"/>
          </a:solidFill>
          <a:ln w="3810">
            <a:solidFill>
              <a:srgbClr val="C9D3DF"/>
            </a:solidFill>
            <a:prstDash val="solid"/>
          </a:ln>
        </p:spPr>
      </p:sp>
      <p:sp>
        <p:nvSpPr>
          <p:cNvPr id="114" name="Shape 112"/>
          <p:cNvSpPr/>
          <p:nvPr/>
        </p:nvSpPr>
        <p:spPr>
          <a:xfrm>
            <a:off x="8262257" y="2096589"/>
            <a:ext cx="104503" cy="104503"/>
          </a:xfrm>
          <a:prstGeom prst="rect">
            <a:avLst/>
          </a:prstGeom>
          <a:solidFill>
            <a:srgbClr val="EEF2F6"/>
          </a:solidFill>
          <a:ln w="3810">
            <a:solidFill>
              <a:srgbClr val="C9D3DF"/>
            </a:solidFill>
            <a:prstDash val="solid"/>
          </a:ln>
        </p:spPr>
      </p:sp>
      <p:sp>
        <p:nvSpPr>
          <p:cNvPr id="115" name="Shape 113"/>
          <p:cNvSpPr/>
          <p:nvPr/>
        </p:nvSpPr>
        <p:spPr>
          <a:xfrm>
            <a:off x="8157754" y="2201091"/>
            <a:ext cx="104503" cy="104503"/>
          </a:xfrm>
          <a:prstGeom prst="rect">
            <a:avLst/>
          </a:prstGeom>
          <a:solidFill>
            <a:srgbClr val="EEF2F6"/>
          </a:solidFill>
          <a:ln w="3810">
            <a:solidFill>
              <a:srgbClr val="C9D3DF"/>
            </a:solidFill>
            <a:prstDash val="solid"/>
          </a:ln>
        </p:spPr>
      </p:sp>
      <p:sp>
        <p:nvSpPr>
          <p:cNvPr id="116" name="Shape 114"/>
          <p:cNvSpPr/>
          <p:nvPr/>
        </p:nvSpPr>
        <p:spPr>
          <a:xfrm>
            <a:off x="8262257" y="2201091"/>
            <a:ext cx="104503" cy="104503"/>
          </a:xfrm>
          <a:prstGeom prst="rect">
            <a:avLst/>
          </a:prstGeom>
          <a:solidFill>
            <a:srgbClr val="EEF2F6"/>
          </a:solidFill>
          <a:ln w="3810">
            <a:solidFill>
              <a:srgbClr val="C9D3DF"/>
            </a:solidFill>
            <a:prstDash val="solid"/>
          </a:ln>
        </p:spPr>
      </p:sp>
      <p:sp>
        <p:nvSpPr>
          <p:cNvPr id="117" name="Shape 115"/>
          <p:cNvSpPr/>
          <p:nvPr/>
        </p:nvSpPr>
        <p:spPr>
          <a:xfrm>
            <a:off x="8262257" y="2305594"/>
            <a:ext cx="104503" cy="104503"/>
          </a:xfrm>
          <a:prstGeom prst="rect">
            <a:avLst/>
          </a:prstGeom>
          <a:solidFill>
            <a:srgbClr val="EEF2F6"/>
          </a:solidFill>
          <a:ln w="3810">
            <a:solidFill>
              <a:srgbClr val="C9D3DF"/>
            </a:solidFill>
            <a:prstDash val="solid"/>
          </a:ln>
        </p:spPr>
      </p:sp>
      <p:sp>
        <p:nvSpPr>
          <p:cNvPr id="118" name="Shape 116"/>
          <p:cNvSpPr/>
          <p:nvPr/>
        </p:nvSpPr>
        <p:spPr>
          <a:xfrm>
            <a:off x="7739743" y="1783080"/>
            <a:ext cx="914" cy="731520"/>
          </a:xfrm>
          <a:prstGeom prst="line">
            <a:avLst/>
          </a:prstGeom>
          <a:noFill/>
          <a:ln w="5080">
            <a:solidFill>
              <a:srgbClr val="D5DCE5"/>
            </a:solidFill>
            <a:prstDash val="solid"/>
          </a:ln>
        </p:spPr>
      </p:sp>
      <p:sp>
        <p:nvSpPr>
          <p:cNvPr id="119" name="Shape 117"/>
          <p:cNvSpPr/>
          <p:nvPr/>
        </p:nvSpPr>
        <p:spPr>
          <a:xfrm>
            <a:off x="7844246" y="1783080"/>
            <a:ext cx="914" cy="731520"/>
          </a:xfrm>
          <a:prstGeom prst="line">
            <a:avLst/>
          </a:prstGeom>
          <a:noFill/>
          <a:ln w="5080">
            <a:solidFill>
              <a:srgbClr val="D5DCE5"/>
            </a:solidFill>
            <a:prstDash val="solid"/>
          </a:ln>
        </p:spPr>
      </p:sp>
      <p:sp>
        <p:nvSpPr>
          <p:cNvPr id="120" name="Shape 118"/>
          <p:cNvSpPr/>
          <p:nvPr/>
        </p:nvSpPr>
        <p:spPr>
          <a:xfrm>
            <a:off x="7948749" y="1783080"/>
            <a:ext cx="914" cy="731520"/>
          </a:xfrm>
          <a:prstGeom prst="line">
            <a:avLst/>
          </a:prstGeom>
          <a:noFill/>
          <a:ln w="5080">
            <a:solidFill>
              <a:srgbClr val="D5DCE5"/>
            </a:solidFill>
            <a:prstDash val="solid"/>
          </a:ln>
        </p:spPr>
      </p:sp>
      <p:sp>
        <p:nvSpPr>
          <p:cNvPr id="121" name="Shape 119"/>
          <p:cNvSpPr/>
          <p:nvPr/>
        </p:nvSpPr>
        <p:spPr>
          <a:xfrm>
            <a:off x="8053251" y="1783080"/>
            <a:ext cx="914" cy="731520"/>
          </a:xfrm>
          <a:prstGeom prst="line">
            <a:avLst/>
          </a:prstGeom>
          <a:noFill/>
          <a:ln w="5080">
            <a:solidFill>
              <a:srgbClr val="D5DCE5"/>
            </a:solidFill>
            <a:prstDash val="solid"/>
          </a:ln>
        </p:spPr>
      </p:sp>
      <p:sp>
        <p:nvSpPr>
          <p:cNvPr id="122" name="Shape 120"/>
          <p:cNvSpPr/>
          <p:nvPr/>
        </p:nvSpPr>
        <p:spPr>
          <a:xfrm>
            <a:off x="8157754" y="1783080"/>
            <a:ext cx="914" cy="731520"/>
          </a:xfrm>
          <a:prstGeom prst="line">
            <a:avLst/>
          </a:prstGeom>
          <a:noFill/>
          <a:ln w="5080">
            <a:solidFill>
              <a:srgbClr val="D5DCE5"/>
            </a:solidFill>
            <a:prstDash val="solid"/>
          </a:ln>
        </p:spPr>
      </p:sp>
      <p:sp>
        <p:nvSpPr>
          <p:cNvPr id="123" name="Shape 121"/>
          <p:cNvSpPr/>
          <p:nvPr/>
        </p:nvSpPr>
        <p:spPr>
          <a:xfrm>
            <a:off x="8262257" y="1783080"/>
            <a:ext cx="914" cy="731520"/>
          </a:xfrm>
          <a:prstGeom prst="line">
            <a:avLst/>
          </a:prstGeom>
          <a:noFill/>
          <a:ln w="5080">
            <a:solidFill>
              <a:srgbClr val="D5DCE5"/>
            </a:solidFill>
            <a:prstDash val="solid"/>
          </a:ln>
        </p:spPr>
      </p:sp>
      <p:sp>
        <p:nvSpPr>
          <p:cNvPr id="124" name="Shape 122"/>
          <p:cNvSpPr/>
          <p:nvPr/>
        </p:nvSpPr>
        <p:spPr>
          <a:xfrm>
            <a:off x="7635240" y="1887583"/>
            <a:ext cx="731520" cy="914"/>
          </a:xfrm>
          <a:prstGeom prst="line">
            <a:avLst/>
          </a:prstGeom>
          <a:noFill/>
          <a:ln w="5080">
            <a:solidFill>
              <a:srgbClr val="D5DCE5"/>
            </a:solidFill>
            <a:prstDash val="solid"/>
          </a:ln>
        </p:spPr>
      </p:sp>
      <p:sp>
        <p:nvSpPr>
          <p:cNvPr id="125" name="Shape 123"/>
          <p:cNvSpPr/>
          <p:nvPr/>
        </p:nvSpPr>
        <p:spPr>
          <a:xfrm>
            <a:off x="7635240" y="1992086"/>
            <a:ext cx="731520" cy="914"/>
          </a:xfrm>
          <a:prstGeom prst="line">
            <a:avLst/>
          </a:prstGeom>
          <a:noFill/>
          <a:ln w="5080">
            <a:solidFill>
              <a:srgbClr val="D5DCE5"/>
            </a:solidFill>
            <a:prstDash val="solid"/>
          </a:ln>
        </p:spPr>
      </p:sp>
      <p:sp>
        <p:nvSpPr>
          <p:cNvPr id="126" name="Shape 124"/>
          <p:cNvSpPr/>
          <p:nvPr/>
        </p:nvSpPr>
        <p:spPr>
          <a:xfrm>
            <a:off x="7635240" y="2096589"/>
            <a:ext cx="731520" cy="914"/>
          </a:xfrm>
          <a:prstGeom prst="line">
            <a:avLst/>
          </a:prstGeom>
          <a:noFill/>
          <a:ln w="5080">
            <a:solidFill>
              <a:srgbClr val="D5DCE5"/>
            </a:solidFill>
            <a:prstDash val="solid"/>
          </a:ln>
        </p:spPr>
      </p:sp>
      <p:sp>
        <p:nvSpPr>
          <p:cNvPr id="127" name="Shape 125"/>
          <p:cNvSpPr/>
          <p:nvPr/>
        </p:nvSpPr>
        <p:spPr>
          <a:xfrm>
            <a:off x="7635240" y="2201091"/>
            <a:ext cx="731520" cy="914"/>
          </a:xfrm>
          <a:prstGeom prst="line">
            <a:avLst/>
          </a:prstGeom>
          <a:noFill/>
          <a:ln w="5080">
            <a:solidFill>
              <a:srgbClr val="D5DCE5"/>
            </a:solidFill>
            <a:prstDash val="solid"/>
          </a:ln>
        </p:spPr>
      </p:sp>
      <p:sp>
        <p:nvSpPr>
          <p:cNvPr id="128" name="Shape 126"/>
          <p:cNvSpPr/>
          <p:nvPr/>
        </p:nvSpPr>
        <p:spPr>
          <a:xfrm>
            <a:off x="7635240" y="2305594"/>
            <a:ext cx="731520" cy="914"/>
          </a:xfrm>
          <a:prstGeom prst="line">
            <a:avLst/>
          </a:prstGeom>
          <a:noFill/>
          <a:ln w="5080">
            <a:solidFill>
              <a:srgbClr val="D5DCE5"/>
            </a:solidFill>
            <a:prstDash val="solid"/>
          </a:ln>
        </p:spPr>
      </p:sp>
      <p:sp>
        <p:nvSpPr>
          <p:cNvPr id="129" name="Shape 127"/>
          <p:cNvSpPr/>
          <p:nvPr/>
        </p:nvSpPr>
        <p:spPr>
          <a:xfrm>
            <a:off x="7635240" y="2410097"/>
            <a:ext cx="731520" cy="914"/>
          </a:xfrm>
          <a:prstGeom prst="line">
            <a:avLst/>
          </a:prstGeom>
          <a:noFill/>
          <a:ln w="5080">
            <a:solidFill>
              <a:srgbClr val="D5DCE5"/>
            </a:solidFill>
            <a:prstDash val="solid"/>
          </a:ln>
        </p:spPr>
      </p:sp>
      <p:sp>
        <p:nvSpPr>
          <p:cNvPr id="130" name="Text 128"/>
          <p:cNvSpPr txBox="1"/>
          <p:nvPr/>
        </p:nvSpPr>
        <p:spPr>
          <a:xfrm>
            <a:off x="7635240" y="1554480"/>
            <a:ext cx="109728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P [24,7,7]</a:t>
            </a:r>
            <a:endParaRPr lang="en-US" sz="850" dirty="0"/>
          </a:p>
        </p:txBody>
      </p:sp>
      <p:sp>
        <p:nvSpPr>
          <p:cNvPr id="131" name="Shape 129"/>
          <p:cNvSpPr/>
          <p:nvPr/>
        </p:nvSpPr>
        <p:spPr>
          <a:xfrm>
            <a:off x="7132320" y="2148840"/>
            <a:ext cx="502920" cy="914"/>
          </a:xfrm>
          <a:prstGeom prst="line">
            <a:avLst/>
          </a:prstGeom>
          <a:noFill/>
          <a:ln w="12700">
            <a:solidFill>
              <a:srgbClr val="5B6B7F"/>
            </a:solidFill>
            <a:prstDash val="solid"/>
            <a:tailEnd type="triangle"/>
          </a:ln>
        </p:spPr>
      </p:sp>
      <p:sp>
        <p:nvSpPr>
          <p:cNvPr id="132" name="Text 130"/>
          <p:cNvSpPr txBox="1"/>
          <p:nvPr/>
        </p:nvSpPr>
        <p:spPr>
          <a:xfrm>
            <a:off x="6949440" y="2560320"/>
            <a:ext cx="777240" cy="27432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×1/√128</a:t>
            </a:r>
            <a:endParaRPr lang="en-US" sz="650" dirty="0"/>
          </a:p>
          <a:p>
            <a:pPr algn="ctr" indent="0" marL="0">
              <a:buNone/>
            </a:pPr>
            <a:r>
              <a:rPr lang="en-US" sz="650" dirty="0">
                <a:solidFill>
                  <a:srgbClr val="5B6B7F"/>
                </a:solidFill>
                <a:latin typeface="Malgun Gothic" pitchFamily="34" charset="0"/>
                <a:ea typeface="Malgun Gothic" pitchFamily="34" charset="-122"/>
                <a:cs typeface="Malgun Gothic" pitchFamily="34" charset="-120"/>
              </a:rPr>
              <a:t>+mask</a:t>
            </a:r>
            <a:endParaRPr lang="en-US" sz="650" dirty="0"/>
          </a:p>
          <a:p>
            <a:pPr algn="ctr" indent="0" marL="0">
              <a:buNone/>
            </a:pPr>
            <a:r>
              <a:rPr lang="en-US" sz="650" dirty="0">
                <a:solidFill>
                  <a:srgbClr val="5B6B7F"/>
                </a:solidFill>
                <a:latin typeface="Malgun Gothic" pitchFamily="34" charset="0"/>
                <a:ea typeface="Malgun Gothic" pitchFamily="34" charset="-122"/>
                <a:cs typeface="Malgun Gothic" pitchFamily="34" charset="-120"/>
              </a:rPr>
              <a:t>softmax</a:t>
            </a:r>
            <a:endParaRPr lang="en-US" sz="650" dirty="0"/>
          </a:p>
        </p:txBody>
      </p:sp>
      <p:sp>
        <p:nvSpPr>
          <p:cNvPr id="133" name="Shape 131"/>
          <p:cNvSpPr/>
          <p:nvPr/>
        </p:nvSpPr>
        <p:spPr>
          <a:xfrm>
            <a:off x="9116568" y="1856232"/>
            <a:ext cx="822960" cy="384048"/>
          </a:xfrm>
          <a:prstGeom prst="rect">
            <a:avLst/>
          </a:prstGeom>
          <a:solidFill>
            <a:srgbClr val="ECE6FA"/>
          </a:solidFill>
          <a:ln w="9525">
            <a:solidFill>
              <a:srgbClr val="6C4FBF"/>
            </a:solidFill>
            <a:prstDash val="solid"/>
          </a:ln>
        </p:spPr>
      </p:sp>
      <p:sp>
        <p:nvSpPr>
          <p:cNvPr id="134" name="Shape 132"/>
          <p:cNvSpPr/>
          <p:nvPr/>
        </p:nvSpPr>
        <p:spPr>
          <a:xfrm>
            <a:off x="9061704" y="1911096"/>
            <a:ext cx="822960" cy="384048"/>
          </a:xfrm>
          <a:prstGeom prst="rect">
            <a:avLst/>
          </a:prstGeom>
          <a:solidFill>
            <a:srgbClr val="ECE6FA"/>
          </a:solidFill>
          <a:ln w="9525">
            <a:solidFill>
              <a:srgbClr val="6C4FBF"/>
            </a:solidFill>
            <a:prstDash val="solid"/>
          </a:ln>
        </p:spPr>
      </p:sp>
      <p:sp>
        <p:nvSpPr>
          <p:cNvPr id="135" name="Shape 133"/>
          <p:cNvSpPr/>
          <p:nvPr/>
        </p:nvSpPr>
        <p:spPr>
          <a:xfrm>
            <a:off x="9006840" y="1965960"/>
            <a:ext cx="822960" cy="384048"/>
          </a:xfrm>
          <a:prstGeom prst="rect">
            <a:avLst/>
          </a:prstGeom>
          <a:solidFill>
            <a:srgbClr val="ECE6FA"/>
          </a:solidFill>
          <a:ln w="12700">
            <a:solidFill>
              <a:srgbClr val="6C4FBF"/>
            </a:solidFill>
            <a:prstDash val="solid"/>
          </a:ln>
        </p:spPr>
      </p:sp>
      <p:sp>
        <p:nvSpPr>
          <p:cNvPr id="136" name="Shape 134"/>
          <p:cNvSpPr/>
          <p:nvPr/>
        </p:nvSpPr>
        <p:spPr>
          <a:xfrm>
            <a:off x="9212580" y="1965960"/>
            <a:ext cx="914" cy="384048"/>
          </a:xfrm>
          <a:prstGeom prst="line">
            <a:avLst/>
          </a:prstGeom>
          <a:noFill/>
          <a:ln w="5080">
            <a:solidFill>
              <a:srgbClr val="D5DCE5"/>
            </a:solidFill>
            <a:prstDash val="solid"/>
          </a:ln>
        </p:spPr>
      </p:sp>
      <p:sp>
        <p:nvSpPr>
          <p:cNvPr id="137" name="Shape 135"/>
          <p:cNvSpPr/>
          <p:nvPr/>
        </p:nvSpPr>
        <p:spPr>
          <a:xfrm>
            <a:off x="9418320" y="1965960"/>
            <a:ext cx="914" cy="384048"/>
          </a:xfrm>
          <a:prstGeom prst="line">
            <a:avLst/>
          </a:prstGeom>
          <a:noFill/>
          <a:ln w="5080">
            <a:solidFill>
              <a:srgbClr val="D5DCE5"/>
            </a:solidFill>
            <a:prstDash val="solid"/>
          </a:ln>
        </p:spPr>
      </p:sp>
      <p:sp>
        <p:nvSpPr>
          <p:cNvPr id="138" name="Shape 136"/>
          <p:cNvSpPr/>
          <p:nvPr/>
        </p:nvSpPr>
        <p:spPr>
          <a:xfrm>
            <a:off x="9624060" y="1965960"/>
            <a:ext cx="914" cy="384048"/>
          </a:xfrm>
          <a:prstGeom prst="line">
            <a:avLst/>
          </a:prstGeom>
          <a:noFill/>
          <a:ln w="5080">
            <a:solidFill>
              <a:srgbClr val="D5DCE5"/>
            </a:solidFill>
            <a:prstDash val="solid"/>
          </a:ln>
        </p:spPr>
      </p:sp>
      <p:sp>
        <p:nvSpPr>
          <p:cNvPr id="139" name="Text 137"/>
          <p:cNvSpPr txBox="1"/>
          <p:nvPr/>
        </p:nvSpPr>
        <p:spPr>
          <a:xfrm>
            <a:off x="9006840" y="1737360"/>
            <a:ext cx="118872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P·V [24,7,128]</a:t>
            </a:r>
            <a:endParaRPr lang="en-US" sz="850" dirty="0"/>
          </a:p>
        </p:txBody>
      </p:sp>
      <p:sp>
        <p:nvSpPr>
          <p:cNvPr id="140" name="Shape 138"/>
          <p:cNvSpPr/>
          <p:nvPr/>
        </p:nvSpPr>
        <p:spPr>
          <a:xfrm>
            <a:off x="8503920" y="2148840"/>
            <a:ext cx="502920" cy="9144"/>
          </a:xfrm>
          <a:prstGeom prst="line">
            <a:avLst/>
          </a:prstGeom>
          <a:noFill/>
          <a:ln w="12700">
            <a:solidFill>
              <a:srgbClr val="5B6B7F"/>
            </a:solidFill>
            <a:prstDash val="solid"/>
            <a:tailEnd type="triangle"/>
          </a:ln>
        </p:spPr>
      </p:sp>
      <p:sp>
        <p:nvSpPr>
          <p:cNvPr id="141" name="Shape 139"/>
          <p:cNvSpPr/>
          <p:nvPr/>
        </p:nvSpPr>
        <p:spPr>
          <a:xfrm flipV="1">
            <a:off x="5989320" y="2249424"/>
            <a:ext cx="3017520" cy="1042416"/>
          </a:xfrm>
          <a:prstGeom prst="line">
            <a:avLst/>
          </a:prstGeom>
          <a:noFill/>
          <a:ln w="12700">
            <a:solidFill>
              <a:srgbClr val="5B6B7F"/>
            </a:solidFill>
            <a:prstDash val="solid"/>
            <a:tailEnd type="triangle"/>
          </a:ln>
        </p:spPr>
      </p:sp>
      <p:sp>
        <p:nvSpPr>
          <p:cNvPr id="142" name="Text 140"/>
          <p:cNvSpPr txBox="1"/>
          <p:nvPr/>
        </p:nvSpPr>
        <p:spPr>
          <a:xfrm>
            <a:off x="6675120" y="3383280"/>
            <a:ext cx="2286000" cy="27432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V (repeat ×3) → P·V</a:t>
            </a:r>
            <a:endParaRPr lang="en-US" sz="650" dirty="0"/>
          </a:p>
        </p:txBody>
      </p:sp>
      <p:sp>
        <p:nvSpPr>
          <p:cNvPr id="143" name="Shape 141"/>
          <p:cNvSpPr/>
          <p:nvPr/>
        </p:nvSpPr>
        <p:spPr>
          <a:xfrm>
            <a:off x="10332720" y="2194560"/>
            <a:ext cx="1097280" cy="457200"/>
          </a:xfrm>
          <a:prstGeom prst="rect">
            <a:avLst/>
          </a:prstGeom>
          <a:solidFill>
            <a:srgbClr val="E3EEFB"/>
          </a:solidFill>
          <a:ln w="12700">
            <a:solidFill>
              <a:srgbClr val="2F6DB5"/>
            </a:solidFill>
            <a:prstDash val="solid"/>
          </a:ln>
        </p:spPr>
      </p:sp>
      <p:sp>
        <p:nvSpPr>
          <p:cNvPr id="144" name="Shape 142"/>
          <p:cNvSpPr/>
          <p:nvPr/>
        </p:nvSpPr>
        <p:spPr>
          <a:xfrm>
            <a:off x="10469880" y="2194560"/>
            <a:ext cx="914" cy="457200"/>
          </a:xfrm>
          <a:prstGeom prst="line">
            <a:avLst/>
          </a:prstGeom>
          <a:noFill/>
          <a:ln w="5080">
            <a:solidFill>
              <a:srgbClr val="D5DCE5"/>
            </a:solidFill>
            <a:prstDash val="solid"/>
          </a:ln>
        </p:spPr>
      </p:sp>
      <p:sp>
        <p:nvSpPr>
          <p:cNvPr id="145" name="Shape 143"/>
          <p:cNvSpPr/>
          <p:nvPr/>
        </p:nvSpPr>
        <p:spPr>
          <a:xfrm>
            <a:off x="10607040" y="2194560"/>
            <a:ext cx="914" cy="457200"/>
          </a:xfrm>
          <a:prstGeom prst="line">
            <a:avLst/>
          </a:prstGeom>
          <a:noFill/>
          <a:ln w="5080">
            <a:solidFill>
              <a:srgbClr val="D5DCE5"/>
            </a:solidFill>
            <a:prstDash val="solid"/>
          </a:ln>
        </p:spPr>
      </p:sp>
      <p:sp>
        <p:nvSpPr>
          <p:cNvPr id="146" name="Shape 144"/>
          <p:cNvSpPr/>
          <p:nvPr/>
        </p:nvSpPr>
        <p:spPr>
          <a:xfrm>
            <a:off x="10744200" y="2194560"/>
            <a:ext cx="914" cy="457200"/>
          </a:xfrm>
          <a:prstGeom prst="line">
            <a:avLst/>
          </a:prstGeom>
          <a:noFill/>
          <a:ln w="5080">
            <a:solidFill>
              <a:srgbClr val="D5DCE5"/>
            </a:solidFill>
            <a:prstDash val="solid"/>
          </a:ln>
        </p:spPr>
      </p:sp>
      <p:sp>
        <p:nvSpPr>
          <p:cNvPr id="147" name="Shape 145"/>
          <p:cNvSpPr/>
          <p:nvPr/>
        </p:nvSpPr>
        <p:spPr>
          <a:xfrm>
            <a:off x="10881360" y="2194560"/>
            <a:ext cx="914" cy="457200"/>
          </a:xfrm>
          <a:prstGeom prst="line">
            <a:avLst/>
          </a:prstGeom>
          <a:noFill/>
          <a:ln w="5080">
            <a:solidFill>
              <a:srgbClr val="D5DCE5"/>
            </a:solidFill>
            <a:prstDash val="solid"/>
          </a:ln>
        </p:spPr>
      </p:sp>
      <p:sp>
        <p:nvSpPr>
          <p:cNvPr id="148" name="Shape 146"/>
          <p:cNvSpPr/>
          <p:nvPr/>
        </p:nvSpPr>
        <p:spPr>
          <a:xfrm>
            <a:off x="11018520" y="2194560"/>
            <a:ext cx="914" cy="457200"/>
          </a:xfrm>
          <a:prstGeom prst="line">
            <a:avLst/>
          </a:prstGeom>
          <a:noFill/>
          <a:ln w="5080">
            <a:solidFill>
              <a:srgbClr val="D5DCE5"/>
            </a:solidFill>
            <a:prstDash val="solid"/>
          </a:ln>
        </p:spPr>
      </p:sp>
      <p:sp>
        <p:nvSpPr>
          <p:cNvPr id="149" name="Shape 147"/>
          <p:cNvSpPr/>
          <p:nvPr/>
        </p:nvSpPr>
        <p:spPr>
          <a:xfrm>
            <a:off x="11155680" y="2194560"/>
            <a:ext cx="914" cy="457200"/>
          </a:xfrm>
          <a:prstGeom prst="line">
            <a:avLst/>
          </a:prstGeom>
          <a:noFill/>
          <a:ln w="5080">
            <a:solidFill>
              <a:srgbClr val="D5DCE5"/>
            </a:solidFill>
            <a:prstDash val="solid"/>
          </a:ln>
        </p:spPr>
      </p:sp>
      <p:sp>
        <p:nvSpPr>
          <p:cNvPr id="150" name="Shape 148"/>
          <p:cNvSpPr/>
          <p:nvPr/>
        </p:nvSpPr>
        <p:spPr>
          <a:xfrm>
            <a:off x="11292840" y="2194560"/>
            <a:ext cx="914" cy="457200"/>
          </a:xfrm>
          <a:prstGeom prst="line">
            <a:avLst/>
          </a:prstGeom>
          <a:noFill/>
          <a:ln w="5080">
            <a:solidFill>
              <a:srgbClr val="D5DCE5"/>
            </a:solidFill>
            <a:prstDash val="solid"/>
          </a:ln>
        </p:spPr>
      </p:sp>
      <p:sp>
        <p:nvSpPr>
          <p:cNvPr id="151" name="Text 149"/>
          <p:cNvSpPr txBox="1"/>
          <p:nvPr/>
        </p:nvSpPr>
        <p:spPr>
          <a:xfrm>
            <a:off x="10332720" y="1965960"/>
            <a:ext cx="118872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attn [7,3072]</a:t>
            </a:r>
            <a:endParaRPr lang="en-US" sz="850" dirty="0"/>
          </a:p>
        </p:txBody>
      </p:sp>
      <p:sp>
        <p:nvSpPr>
          <p:cNvPr id="152" name="Shape 150"/>
          <p:cNvSpPr/>
          <p:nvPr/>
        </p:nvSpPr>
        <p:spPr>
          <a:xfrm>
            <a:off x="9966960" y="2157984"/>
            <a:ext cx="365760" cy="265176"/>
          </a:xfrm>
          <a:prstGeom prst="line">
            <a:avLst/>
          </a:prstGeom>
          <a:noFill/>
          <a:ln w="12700">
            <a:solidFill>
              <a:srgbClr val="5B6B7F"/>
            </a:solidFill>
            <a:prstDash val="solid"/>
            <a:tailEnd type="triangle"/>
          </a:ln>
        </p:spPr>
      </p:sp>
      <p:sp>
        <p:nvSpPr>
          <p:cNvPr id="153" name="Text 151"/>
          <p:cNvSpPr txBox="1"/>
          <p:nvPr/>
        </p:nvSpPr>
        <p:spPr>
          <a:xfrm>
            <a:off x="9784080" y="1618488"/>
            <a:ext cx="731520" cy="27432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reshape</a:t>
            </a:r>
            <a:endParaRPr lang="en-US" sz="650" dirty="0"/>
          </a:p>
          <a:p>
            <a:pPr algn="ctr" indent="0" marL="0">
              <a:buNone/>
            </a:pPr>
            <a:r>
              <a:rPr lang="en-US" sz="650" dirty="0">
                <a:solidFill>
                  <a:srgbClr val="5B6B7F"/>
                </a:solidFill>
                <a:latin typeface="Malgun Gothic" pitchFamily="34" charset="0"/>
                <a:ea typeface="Malgun Gothic" pitchFamily="34" charset="-122"/>
                <a:cs typeface="Malgun Gothic" pitchFamily="34" charset="-120"/>
              </a:rPr>
              <a:t>o_proj</a:t>
            </a:r>
            <a:endParaRPr lang="en-US" sz="650" dirty="0"/>
          </a:p>
        </p:txBody>
      </p:sp>
      <p:sp>
        <p:nvSpPr>
          <p:cNvPr id="154" name="Shape 152"/>
          <p:cNvSpPr/>
          <p:nvPr/>
        </p:nvSpPr>
        <p:spPr>
          <a:xfrm>
            <a:off x="11521440" y="2194560"/>
            <a:ext cx="210312" cy="457200"/>
          </a:xfrm>
          <a:prstGeom prst="roundRect">
            <a:avLst>
              <a:gd name="adj" fmla="val 26087"/>
            </a:avLst>
          </a:prstGeom>
          <a:solidFill>
            <a:srgbClr val="FFF6DB"/>
          </a:solidFill>
          <a:ln w="12700">
            <a:solidFill>
              <a:srgbClr val="B7791F"/>
            </a:solidFill>
            <a:prstDash val="solid"/>
          </a:ln>
        </p:spPr>
      </p:sp>
      <p:sp>
        <p:nvSpPr>
          <p:cNvPr id="155" name="Text 153"/>
          <p:cNvSpPr txBox="1"/>
          <p:nvPr/>
        </p:nvSpPr>
        <p:spPr>
          <a:xfrm>
            <a:off x="11576304" y="2231136"/>
            <a:ext cx="100584" cy="384048"/>
          </a:xfrm>
          <a:prstGeom prst="rect">
            <a:avLst/>
          </a:prstGeom>
          <a:noFill/>
          <a:ln/>
        </p:spPr>
        <p:txBody>
          <a:bodyPr wrap="square" lIns="0" tIns="0" rIns="0" bIns="0" rtlCol="0" anchor="ctr"/>
          <a:lstStyle/>
          <a:p>
            <a:pPr algn="ctr" indent="0" marL="0">
              <a:buNone/>
            </a:pPr>
            <a:r>
              <a:rPr lang="en-US" sz="1200" b="1" dirty="0">
                <a:solidFill>
                  <a:srgbClr val="1F2D3D"/>
                </a:solidFill>
                <a:latin typeface="Malgun Gothic" pitchFamily="34" charset="0"/>
                <a:ea typeface="Malgun Gothic" pitchFamily="34" charset="-122"/>
                <a:cs typeface="Malgun Gothic" pitchFamily="34" charset="-120"/>
              </a:rPr>
              <a:t>+</a:t>
            </a:r>
            <a:endParaRPr lang="en-US" sz="1200" dirty="0"/>
          </a:p>
        </p:txBody>
      </p:sp>
      <p:sp>
        <p:nvSpPr>
          <p:cNvPr id="156" name="Shape 154"/>
          <p:cNvSpPr/>
          <p:nvPr/>
        </p:nvSpPr>
        <p:spPr>
          <a:xfrm>
            <a:off x="11430000" y="2423160"/>
            <a:ext cx="91440" cy="914"/>
          </a:xfrm>
          <a:prstGeom prst="line">
            <a:avLst/>
          </a:prstGeom>
          <a:noFill/>
          <a:ln w="12700">
            <a:solidFill>
              <a:srgbClr val="5B6B7F"/>
            </a:solidFill>
            <a:prstDash val="solid"/>
            <a:tailEnd type="triangle"/>
          </a:ln>
        </p:spPr>
      </p:sp>
      <p:sp>
        <p:nvSpPr>
          <p:cNvPr id="157" name="Shape 155"/>
          <p:cNvSpPr/>
          <p:nvPr/>
        </p:nvSpPr>
        <p:spPr>
          <a:xfrm flipV="1">
            <a:off x="1005840" y="1581912"/>
            <a:ext cx="914" cy="612648"/>
          </a:xfrm>
          <a:prstGeom prst="line">
            <a:avLst/>
          </a:prstGeom>
          <a:noFill/>
          <a:ln w="19050">
            <a:solidFill>
              <a:srgbClr val="B7791F"/>
            </a:solidFill>
            <a:prstDash val="dash"/>
          </a:ln>
        </p:spPr>
      </p:sp>
      <p:sp>
        <p:nvSpPr>
          <p:cNvPr id="158" name="Shape 156"/>
          <p:cNvSpPr/>
          <p:nvPr/>
        </p:nvSpPr>
        <p:spPr>
          <a:xfrm>
            <a:off x="1005840" y="1581912"/>
            <a:ext cx="10620756" cy="914"/>
          </a:xfrm>
          <a:prstGeom prst="line">
            <a:avLst/>
          </a:prstGeom>
          <a:noFill/>
          <a:ln w="19050">
            <a:solidFill>
              <a:srgbClr val="B7791F"/>
            </a:solidFill>
            <a:prstDash val="dash"/>
          </a:ln>
        </p:spPr>
      </p:sp>
      <p:sp>
        <p:nvSpPr>
          <p:cNvPr id="159" name="Shape 157"/>
          <p:cNvSpPr/>
          <p:nvPr/>
        </p:nvSpPr>
        <p:spPr>
          <a:xfrm>
            <a:off x="11626596" y="1581912"/>
            <a:ext cx="914" cy="612648"/>
          </a:xfrm>
          <a:prstGeom prst="line">
            <a:avLst/>
          </a:prstGeom>
          <a:noFill/>
          <a:ln w="19050">
            <a:solidFill>
              <a:srgbClr val="B7791F"/>
            </a:solidFill>
            <a:prstDash val="dash"/>
            <a:tailEnd type="triangle"/>
          </a:ln>
        </p:spPr>
      </p:sp>
      <p:sp>
        <p:nvSpPr>
          <p:cNvPr id="160" name="Text 158"/>
          <p:cNvSpPr txBox="1"/>
          <p:nvPr/>
        </p:nvSpPr>
        <p:spPr>
          <a:xfrm>
            <a:off x="1280160" y="1389888"/>
            <a:ext cx="2194560" cy="182880"/>
          </a:xfrm>
          <a:prstGeom prst="rect">
            <a:avLst/>
          </a:prstGeom>
          <a:noFill/>
          <a:ln/>
        </p:spPr>
        <p:txBody>
          <a:bodyPr wrap="square" lIns="0" tIns="0" rIns="0" bIns="0" rtlCol="0" anchor="t"/>
          <a:lstStyle/>
          <a:p>
            <a:pPr algn="l" indent="0" marL="0">
              <a:buNone/>
            </a:pPr>
            <a:r>
              <a:rPr lang="en-US" sz="750" b="1" dirty="0">
                <a:solidFill>
                  <a:srgbClr val="B7791F"/>
                </a:solidFill>
                <a:latin typeface="Malgun Gothic" pitchFamily="34" charset="0"/>
                <a:ea typeface="Malgun Gothic" pitchFamily="34" charset="-122"/>
                <a:cs typeface="Malgun Gothic" pitchFamily="34" charset="-120"/>
              </a:rPr>
              <a:t>residual: X 유지 → R = X + attn</a:t>
            </a:r>
            <a:endParaRPr lang="en-US" sz="750" dirty="0"/>
          </a:p>
        </p:txBody>
      </p:sp>
      <p:sp>
        <p:nvSpPr>
          <p:cNvPr id="161" name="Shape 159"/>
          <p:cNvSpPr/>
          <p:nvPr/>
        </p:nvSpPr>
        <p:spPr>
          <a:xfrm>
            <a:off x="457200" y="4434840"/>
            <a:ext cx="1097280" cy="457200"/>
          </a:xfrm>
          <a:prstGeom prst="rect">
            <a:avLst/>
          </a:prstGeom>
          <a:solidFill>
            <a:srgbClr val="FFF6DB"/>
          </a:solidFill>
          <a:ln w="12700">
            <a:solidFill>
              <a:srgbClr val="B7791F"/>
            </a:solidFill>
            <a:prstDash val="solid"/>
          </a:ln>
        </p:spPr>
      </p:sp>
      <p:sp>
        <p:nvSpPr>
          <p:cNvPr id="162" name="Shape 160"/>
          <p:cNvSpPr/>
          <p:nvPr/>
        </p:nvSpPr>
        <p:spPr>
          <a:xfrm>
            <a:off x="594360" y="4434840"/>
            <a:ext cx="914" cy="457200"/>
          </a:xfrm>
          <a:prstGeom prst="line">
            <a:avLst/>
          </a:prstGeom>
          <a:noFill/>
          <a:ln w="5080">
            <a:solidFill>
              <a:srgbClr val="D5DCE5"/>
            </a:solidFill>
            <a:prstDash val="solid"/>
          </a:ln>
        </p:spPr>
      </p:sp>
      <p:sp>
        <p:nvSpPr>
          <p:cNvPr id="163" name="Shape 161"/>
          <p:cNvSpPr/>
          <p:nvPr/>
        </p:nvSpPr>
        <p:spPr>
          <a:xfrm>
            <a:off x="731520" y="4434840"/>
            <a:ext cx="914" cy="457200"/>
          </a:xfrm>
          <a:prstGeom prst="line">
            <a:avLst/>
          </a:prstGeom>
          <a:noFill/>
          <a:ln w="5080">
            <a:solidFill>
              <a:srgbClr val="D5DCE5"/>
            </a:solidFill>
            <a:prstDash val="solid"/>
          </a:ln>
        </p:spPr>
      </p:sp>
      <p:sp>
        <p:nvSpPr>
          <p:cNvPr id="164" name="Shape 162"/>
          <p:cNvSpPr/>
          <p:nvPr/>
        </p:nvSpPr>
        <p:spPr>
          <a:xfrm>
            <a:off x="868680" y="4434840"/>
            <a:ext cx="914" cy="457200"/>
          </a:xfrm>
          <a:prstGeom prst="line">
            <a:avLst/>
          </a:prstGeom>
          <a:noFill/>
          <a:ln w="5080">
            <a:solidFill>
              <a:srgbClr val="D5DCE5"/>
            </a:solidFill>
            <a:prstDash val="solid"/>
          </a:ln>
        </p:spPr>
      </p:sp>
      <p:sp>
        <p:nvSpPr>
          <p:cNvPr id="165" name="Shape 163"/>
          <p:cNvSpPr/>
          <p:nvPr/>
        </p:nvSpPr>
        <p:spPr>
          <a:xfrm>
            <a:off x="1005840" y="4434840"/>
            <a:ext cx="914" cy="457200"/>
          </a:xfrm>
          <a:prstGeom prst="line">
            <a:avLst/>
          </a:prstGeom>
          <a:noFill/>
          <a:ln w="5080">
            <a:solidFill>
              <a:srgbClr val="D5DCE5"/>
            </a:solidFill>
            <a:prstDash val="solid"/>
          </a:ln>
        </p:spPr>
      </p:sp>
      <p:sp>
        <p:nvSpPr>
          <p:cNvPr id="166" name="Shape 164"/>
          <p:cNvSpPr/>
          <p:nvPr/>
        </p:nvSpPr>
        <p:spPr>
          <a:xfrm>
            <a:off x="1143000" y="4434840"/>
            <a:ext cx="914" cy="457200"/>
          </a:xfrm>
          <a:prstGeom prst="line">
            <a:avLst/>
          </a:prstGeom>
          <a:noFill/>
          <a:ln w="5080">
            <a:solidFill>
              <a:srgbClr val="D5DCE5"/>
            </a:solidFill>
            <a:prstDash val="solid"/>
          </a:ln>
        </p:spPr>
      </p:sp>
      <p:sp>
        <p:nvSpPr>
          <p:cNvPr id="167" name="Shape 165"/>
          <p:cNvSpPr/>
          <p:nvPr/>
        </p:nvSpPr>
        <p:spPr>
          <a:xfrm>
            <a:off x="1280160" y="4434840"/>
            <a:ext cx="914" cy="457200"/>
          </a:xfrm>
          <a:prstGeom prst="line">
            <a:avLst/>
          </a:prstGeom>
          <a:noFill/>
          <a:ln w="5080">
            <a:solidFill>
              <a:srgbClr val="D5DCE5"/>
            </a:solidFill>
            <a:prstDash val="solid"/>
          </a:ln>
        </p:spPr>
      </p:sp>
      <p:sp>
        <p:nvSpPr>
          <p:cNvPr id="168" name="Shape 166"/>
          <p:cNvSpPr/>
          <p:nvPr/>
        </p:nvSpPr>
        <p:spPr>
          <a:xfrm>
            <a:off x="1417320" y="4434840"/>
            <a:ext cx="914" cy="457200"/>
          </a:xfrm>
          <a:prstGeom prst="line">
            <a:avLst/>
          </a:prstGeom>
          <a:noFill/>
          <a:ln w="5080">
            <a:solidFill>
              <a:srgbClr val="D5DCE5"/>
            </a:solidFill>
            <a:prstDash val="solid"/>
          </a:ln>
        </p:spPr>
      </p:sp>
      <p:sp>
        <p:nvSpPr>
          <p:cNvPr id="169" name="Text 167"/>
          <p:cNvSpPr txBox="1"/>
          <p:nvPr/>
        </p:nvSpPr>
        <p:spPr>
          <a:xfrm>
            <a:off x="457200" y="4206240"/>
            <a:ext cx="118872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R [7,3072]</a:t>
            </a:r>
            <a:endParaRPr lang="en-US" sz="850" dirty="0"/>
          </a:p>
        </p:txBody>
      </p:sp>
      <p:sp>
        <p:nvSpPr>
          <p:cNvPr id="170" name="Shape 168"/>
          <p:cNvSpPr/>
          <p:nvPr/>
        </p:nvSpPr>
        <p:spPr>
          <a:xfrm>
            <a:off x="11626596" y="2651760"/>
            <a:ext cx="914" cy="1280160"/>
          </a:xfrm>
          <a:prstGeom prst="line">
            <a:avLst/>
          </a:prstGeom>
          <a:noFill/>
          <a:ln w="19050">
            <a:solidFill>
              <a:srgbClr val="5B6B7F"/>
            </a:solidFill>
            <a:prstDash val="solid"/>
          </a:ln>
        </p:spPr>
      </p:sp>
      <p:sp>
        <p:nvSpPr>
          <p:cNvPr id="171" name="Shape 169"/>
          <p:cNvSpPr/>
          <p:nvPr/>
        </p:nvSpPr>
        <p:spPr>
          <a:xfrm flipH="1">
            <a:off x="1005840" y="3931920"/>
            <a:ext cx="10620756" cy="914"/>
          </a:xfrm>
          <a:prstGeom prst="line">
            <a:avLst/>
          </a:prstGeom>
          <a:noFill/>
          <a:ln w="19050">
            <a:solidFill>
              <a:srgbClr val="5B6B7F"/>
            </a:solidFill>
            <a:prstDash val="solid"/>
          </a:ln>
        </p:spPr>
      </p:sp>
      <p:sp>
        <p:nvSpPr>
          <p:cNvPr id="172" name="Shape 170"/>
          <p:cNvSpPr/>
          <p:nvPr/>
        </p:nvSpPr>
        <p:spPr>
          <a:xfrm>
            <a:off x="1005840" y="3931920"/>
            <a:ext cx="914" cy="265176"/>
          </a:xfrm>
          <a:prstGeom prst="line">
            <a:avLst/>
          </a:prstGeom>
          <a:noFill/>
          <a:ln w="19050">
            <a:solidFill>
              <a:srgbClr val="5B6B7F"/>
            </a:solidFill>
            <a:prstDash val="solid"/>
            <a:tailEnd type="triangle"/>
          </a:ln>
        </p:spPr>
      </p:sp>
      <p:sp>
        <p:nvSpPr>
          <p:cNvPr id="173" name="Shape 171"/>
          <p:cNvSpPr/>
          <p:nvPr/>
        </p:nvSpPr>
        <p:spPr>
          <a:xfrm>
            <a:off x="1572768" y="4663440"/>
            <a:ext cx="374904" cy="914"/>
          </a:xfrm>
          <a:prstGeom prst="line">
            <a:avLst/>
          </a:prstGeom>
          <a:noFill/>
          <a:ln w="15240">
            <a:solidFill>
              <a:srgbClr val="5B6B7F"/>
            </a:solidFill>
            <a:prstDash val="solid"/>
            <a:tailEnd type="triangle"/>
          </a:ln>
        </p:spPr>
      </p:sp>
      <p:sp>
        <p:nvSpPr>
          <p:cNvPr id="174" name="Text 172"/>
          <p:cNvSpPr txBox="1"/>
          <p:nvPr/>
        </p:nvSpPr>
        <p:spPr>
          <a:xfrm>
            <a:off x="1508760" y="4370832"/>
            <a:ext cx="502920" cy="274320"/>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RMSNorm</a:t>
            </a:r>
            <a:endParaRPr lang="en-US" sz="750" dirty="0"/>
          </a:p>
        </p:txBody>
      </p:sp>
      <p:sp>
        <p:nvSpPr>
          <p:cNvPr id="175" name="Shape 173"/>
          <p:cNvSpPr/>
          <p:nvPr/>
        </p:nvSpPr>
        <p:spPr>
          <a:xfrm>
            <a:off x="1965960" y="4434840"/>
            <a:ext cx="1097280" cy="457200"/>
          </a:xfrm>
          <a:prstGeom prst="rect">
            <a:avLst/>
          </a:prstGeom>
          <a:solidFill>
            <a:srgbClr val="E3EEFB"/>
          </a:solidFill>
          <a:ln w="12700">
            <a:solidFill>
              <a:srgbClr val="2F6DB5"/>
            </a:solidFill>
            <a:prstDash val="solid"/>
          </a:ln>
        </p:spPr>
      </p:sp>
      <p:sp>
        <p:nvSpPr>
          <p:cNvPr id="176" name="Shape 174"/>
          <p:cNvSpPr/>
          <p:nvPr/>
        </p:nvSpPr>
        <p:spPr>
          <a:xfrm>
            <a:off x="2103120" y="4434840"/>
            <a:ext cx="914" cy="457200"/>
          </a:xfrm>
          <a:prstGeom prst="line">
            <a:avLst/>
          </a:prstGeom>
          <a:noFill/>
          <a:ln w="5080">
            <a:solidFill>
              <a:srgbClr val="D5DCE5"/>
            </a:solidFill>
            <a:prstDash val="solid"/>
          </a:ln>
        </p:spPr>
      </p:sp>
      <p:sp>
        <p:nvSpPr>
          <p:cNvPr id="177" name="Shape 175"/>
          <p:cNvSpPr/>
          <p:nvPr/>
        </p:nvSpPr>
        <p:spPr>
          <a:xfrm>
            <a:off x="2240280" y="4434840"/>
            <a:ext cx="914" cy="457200"/>
          </a:xfrm>
          <a:prstGeom prst="line">
            <a:avLst/>
          </a:prstGeom>
          <a:noFill/>
          <a:ln w="5080">
            <a:solidFill>
              <a:srgbClr val="D5DCE5"/>
            </a:solidFill>
            <a:prstDash val="solid"/>
          </a:ln>
        </p:spPr>
      </p:sp>
      <p:sp>
        <p:nvSpPr>
          <p:cNvPr id="178" name="Shape 176"/>
          <p:cNvSpPr/>
          <p:nvPr/>
        </p:nvSpPr>
        <p:spPr>
          <a:xfrm>
            <a:off x="2377440" y="4434840"/>
            <a:ext cx="914" cy="457200"/>
          </a:xfrm>
          <a:prstGeom prst="line">
            <a:avLst/>
          </a:prstGeom>
          <a:noFill/>
          <a:ln w="5080">
            <a:solidFill>
              <a:srgbClr val="D5DCE5"/>
            </a:solidFill>
            <a:prstDash val="solid"/>
          </a:ln>
        </p:spPr>
      </p:sp>
      <p:sp>
        <p:nvSpPr>
          <p:cNvPr id="179" name="Shape 177"/>
          <p:cNvSpPr/>
          <p:nvPr/>
        </p:nvSpPr>
        <p:spPr>
          <a:xfrm>
            <a:off x="2514600" y="4434840"/>
            <a:ext cx="914" cy="457200"/>
          </a:xfrm>
          <a:prstGeom prst="line">
            <a:avLst/>
          </a:prstGeom>
          <a:noFill/>
          <a:ln w="5080">
            <a:solidFill>
              <a:srgbClr val="D5DCE5"/>
            </a:solidFill>
            <a:prstDash val="solid"/>
          </a:ln>
        </p:spPr>
      </p:sp>
      <p:sp>
        <p:nvSpPr>
          <p:cNvPr id="180" name="Shape 178"/>
          <p:cNvSpPr/>
          <p:nvPr/>
        </p:nvSpPr>
        <p:spPr>
          <a:xfrm>
            <a:off x="2651760" y="4434840"/>
            <a:ext cx="914" cy="457200"/>
          </a:xfrm>
          <a:prstGeom prst="line">
            <a:avLst/>
          </a:prstGeom>
          <a:noFill/>
          <a:ln w="5080">
            <a:solidFill>
              <a:srgbClr val="D5DCE5"/>
            </a:solidFill>
            <a:prstDash val="solid"/>
          </a:ln>
        </p:spPr>
      </p:sp>
      <p:sp>
        <p:nvSpPr>
          <p:cNvPr id="181" name="Shape 179"/>
          <p:cNvSpPr/>
          <p:nvPr/>
        </p:nvSpPr>
        <p:spPr>
          <a:xfrm>
            <a:off x="2788920" y="4434840"/>
            <a:ext cx="914" cy="457200"/>
          </a:xfrm>
          <a:prstGeom prst="line">
            <a:avLst/>
          </a:prstGeom>
          <a:noFill/>
          <a:ln w="5080">
            <a:solidFill>
              <a:srgbClr val="D5DCE5"/>
            </a:solidFill>
            <a:prstDash val="solid"/>
          </a:ln>
        </p:spPr>
      </p:sp>
      <p:sp>
        <p:nvSpPr>
          <p:cNvPr id="182" name="Shape 180"/>
          <p:cNvSpPr/>
          <p:nvPr/>
        </p:nvSpPr>
        <p:spPr>
          <a:xfrm>
            <a:off x="2926080" y="4434840"/>
            <a:ext cx="914" cy="457200"/>
          </a:xfrm>
          <a:prstGeom prst="line">
            <a:avLst/>
          </a:prstGeom>
          <a:noFill/>
          <a:ln w="5080">
            <a:solidFill>
              <a:srgbClr val="D5DCE5"/>
            </a:solidFill>
            <a:prstDash val="solid"/>
          </a:ln>
        </p:spPr>
      </p:sp>
      <p:sp>
        <p:nvSpPr>
          <p:cNvPr id="183" name="Text 181"/>
          <p:cNvSpPr txBox="1"/>
          <p:nvPr/>
        </p:nvSpPr>
        <p:spPr>
          <a:xfrm>
            <a:off x="1965960" y="4206240"/>
            <a:ext cx="1280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norm₂ [7,3072]</a:t>
            </a:r>
            <a:endParaRPr lang="en-US" sz="850" dirty="0"/>
          </a:p>
        </p:txBody>
      </p:sp>
      <p:sp>
        <p:nvSpPr>
          <p:cNvPr id="184" name="Shape 182"/>
          <p:cNvSpPr/>
          <p:nvPr/>
        </p:nvSpPr>
        <p:spPr>
          <a:xfrm>
            <a:off x="3749040" y="4023360"/>
            <a:ext cx="2377440" cy="384048"/>
          </a:xfrm>
          <a:prstGeom prst="rect">
            <a:avLst/>
          </a:prstGeom>
          <a:solidFill>
            <a:srgbClr val="ECE6FA"/>
          </a:solidFill>
          <a:ln w="12700">
            <a:solidFill>
              <a:srgbClr val="6C4FBF"/>
            </a:solidFill>
            <a:prstDash val="solid"/>
          </a:ln>
        </p:spPr>
      </p:sp>
      <p:sp>
        <p:nvSpPr>
          <p:cNvPr id="185" name="Shape 183"/>
          <p:cNvSpPr/>
          <p:nvPr/>
        </p:nvSpPr>
        <p:spPr>
          <a:xfrm>
            <a:off x="3897630" y="4023360"/>
            <a:ext cx="914" cy="384048"/>
          </a:xfrm>
          <a:prstGeom prst="line">
            <a:avLst/>
          </a:prstGeom>
          <a:noFill/>
          <a:ln w="5080">
            <a:solidFill>
              <a:srgbClr val="D5DCE5"/>
            </a:solidFill>
            <a:prstDash val="solid"/>
          </a:ln>
        </p:spPr>
      </p:sp>
      <p:sp>
        <p:nvSpPr>
          <p:cNvPr id="186" name="Shape 184"/>
          <p:cNvSpPr/>
          <p:nvPr/>
        </p:nvSpPr>
        <p:spPr>
          <a:xfrm>
            <a:off x="4046220" y="4023360"/>
            <a:ext cx="914" cy="384048"/>
          </a:xfrm>
          <a:prstGeom prst="line">
            <a:avLst/>
          </a:prstGeom>
          <a:noFill/>
          <a:ln w="5080">
            <a:solidFill>
              <a:srgbClr val="D5DCE5"/>
            </a:solidFill>
            <a:prstDash val="solid"/>
          </a:ln>
        </p:spPr>
      </p:sp>
      <p:sp>
        <p:nvSpPr>
          <p:cNvPr id="187" name="Shape 185"/>
          <p:cNvSpPr/>
          <p:nvPr/>
        </p:nvSpPr>
        <p:spPr>
          <a:xfrm>
            <a:off x="4194810" y="4023360"/>
            <a:ext cx="914" cy="384048"/>
          </a:xfrm>
          <a:prstGeom prst="line">
            <a:avLst/>
          </a:prstGeom>
          <a:noFill/>
          <a:ln w="5080">
            <a:solidFill>
              <a:srgbClr val="D5DCE5"/>
            </a:solidFill>
            <a:prstDash val="solid"/>
          </a:ln>
        </p:spPr>
      </p:sp>
      <p:sp>
        <p:nvSpPr>
          <p:cNvPr id="188" name="Shape 186"/>
          <p:cNvSpPr/>
          <p:nvPr/>
        </p:nvSpPr>
        <p:spPr>
          <a:xfrm>
            <a:off x="4343400" y="4023360"/>
            <a:ext cx="914" cy="384048"/>
          </a:xfrm>
          <a:prstGeom prst="line">
            <a:avLst/>
          </a:prstGeom>
          <a:noFill/>
          <a:ln w="5080">
            <a:solidFill>
              <a:srgbClr val="D5DCE5"/>
            </a:solidFill>
            <a:prstDash val="solid"/>
          </a:ln>
        </p:spPr>
      </p:sp>
      <p:sp>
        <p:nvSpPr>
          <p:cNvPr id="189" name="Shape 187"/>
          <p:cNvSpPr/>
          <p:nvPr/>
        </p:nvSpPr>
        <p:spPr>
          <a:xfrm>
            <a:off x="4491990" y="4023360"/>
            <a:ext cx="914" cy="384048"/>
          </a:xfrm>
          <a:prstGeom prst="line">
            <a:avLst/>
          </a:prstGeom>
          <a:noFill/>
          <a:ln w="5080">
            <a:solidFill>
              <a:srgbClr val="D5DCE5"/>
            </a:solidFill>
            <a:prstDash val="solid"/>
          </a:ln>
        </p:spPr>
      </p:sp>
      <p:sp>
        <p:nvSpPr>
          <p:cNvPr id="190" name="Shape 188"/>
          <p:cNvSpPr/>
          <p:nvPr/>
        </p:nvSpPr>
        <p:spPr>
          <a:xfrm>
            <a:off x="4640580" y="4023360"/>
            <a:ext cx="914" cy="384048"/>
          </a:xfrm>
          <a:prstGeom prst="line">
            <a:avLst/>
          </a:prstGeom>
          <a:noFill/>
          <a:ln w="5080">
            <a:solidFill>
              <a:srgbClr val="D5DCE5"/>
            </a:solidFill>
            <a:prstDash val="solid"/>
          </a:ln>
        </p:spPr>
      </p:sp>
      <p:sp>
        <p:nvSpPr>
          <p:cNvPr id="191" name="Shape 189"/>
          <p:cNvSpPr/>
          <p:nvPr/>
        </p:nvSpPr>
        <p:spPr>
          <a:xfrm>
            <a:off x="4789170" y="4023360"/>
            <a:ext cx="914" cy="384048"/>
          </a:xfrm>
          <a:prstGeom prst="line">
            <a:avLst/>
          </a:prstGeom>
          <a:noFill/>
          <a:ln w="5080">
            <a:solidFill>
              <a:srgbClr val="D5DCE5"/>
            </a:solidFill>
            <a:prstDash val="solid"/>
          </a:ln>
        </p:spPr>
      </p:sp>
      <p:sp>
        <p:nvSpPr>
          <p:cNvPr id="192" name="Shape 190"/>
          <p:cNvSpPr/>
          <p:nvPr/>
        </p:nvSpPr>
        <p:spPr>
          <a:xfrm>
            <a:off x="4937760" y="4023360"/>
            <a:ext cx="914" cy="384048"/>
          </a:xfrm>
          <a:prstGeom prst="line">
            <a:avLst/>
          </a:prstGeom>
          <a:noFill/>
          <a:ln w="5080">
            <a:solidFill>
              <a:srgbClr val="D5DCE5"/>
            </a:solidFill>
            <a:prstDash val="solid"/>
          </a:ln>
        </p:spPr>
      </p:sp>
      <p:sp>
        <p:nvSpPr>
          <p:cNvPr id="193" name="Shape 191"/>
          <p:cNvSpPr/>
          <p:nvPr/>
        </p:nvSpPr>
        <p:spPr>
          <a:xfrm>
            <a:off x="5086350" y="4023360"/>
            <a:ext cx="914" cy="384048"/>
          </a:xfrm>
          <a:prstGeom prst="line">
            <a:avLst/>
          </a:prstGeom>
          <a:noFill/>
          <a:ln w="5080">
            <a:solidFill>
              <a:srgbClr val="D5DCE5"/>
            </a:solidFill>
            <a:prstDash val="solid"/>
          </a:ln>
        </p:spPr>
      </p:sp>
      <p:sp>
        <p:nvSpPr>
          <p:cNvPr id="194" name="Shape 192"/>
          <p:cNvSpPr/>
          <p:nvPr/>
        </p:nvSpPr>
        <p:spPr>
          <a:xfrm>
            <a:off x="5234940" y="4023360"/>
            <a:ext cx="914" cy="384048"/>
          </a:xfrm>
          <a:prstGeom prst="line">
            <a:avLst/>
          </a:prstGeom>
          <a:noFill/>
          <a:ln w="5080">
            <a:solidFill>
              <a:srgbClr val="D5DCE5"/>
            </a:solidFill>
            <a:prstDash val="solid"/>
          </a:ln>
        </p:spPr>
      </p:sp>
      <p:sp>
        <p:nvSpPr>
          <p:cNvPr id="195" name="Shape 193"/>
          <p:cNvSpPr/>
          <p:nvPr/>
        </p:nvSpPr>
        <p:spPr>
          <a:xfrm>
            <a:off x="5383530" y="4023360"/>
            <a:ext cx="914" cy="384048"/>
          </a:xfrm>
          <a:prstGeom prst="line">
            <a:avLst/>
          </a:prstGeom>
          <a:noFill/>
          <a:ln w="5080">
            <a:solidFill>
              <a:srgbClr val="D5DCE5"/>
            </a:solidFill>
            <a:prstDash val="solid"/>
          </a:ln>
        </p:spPr>
      </p:sp>
      <p:sp>
        <p:nvSpPr>
          <p:cNvPr id="196" name="Shape 194"/>
          <p:cNvSpPr/>
          <p:nvPr/>
        </p:nvSpPr>
        <p:spPr>
          <a:xfrm>
            <a:off x="5532120" y="4023360"/>
            <a:ext cx="914" cy="384048"/>
          </a:xfrm>
          <a:prstGeom prst="line">
            <a:avLst/>
          </a:prstGeom>
          <a:noFill/>
          <a:ln w="5080">
            <a:solidFill>
              <a:srgbClr val="D5DCE5"/>
            </a:solidFill>
            <a:prstDash val="solid"/>
          </a:ln>
        </p:spPr>
      </p:sp>
      <p:sp>
        <p:nvSpPr>
          <p:cNvPr id="197" name="Shape 195"/>
          <p:cNvSpPr/>
          <p:nvPr/>
        </p:nvSpPr>
        <p:spPr>
          <a:xfrm>
            <a:off x="5680710" y="4023360"/>
            <a:ext cx="914" cy="384048"/>
          </a:xfrm>
          <a:prstGeom prst="line">
            <a:avLst/>
          </a:prstGeom>
          <a:noFill/>
          <a:ln w="5080">
            <a:solidFill>
              <a:srgbClr val="D5DCE5"/>
            </a:solidFill>
            <a:prstDash val="solid"/>
          </a:ln>
        </p:spPr>
      </p:sp>
      <p:sp>
        <p:nvSpPr>
          <p:cNvPr id="198" name="Shape 196"/>
          <p:cNvSpPr/>
          <p:nvPr/>
        </p:nvSpPr>
        <p:spPr>
          <a:xfrm>
            <a:off x="5829300" y="4023360"/>
            <a:ext cx="914" cy="384048"/>
          </a:xfrm>
          <a:prstGeom prst="line">
            <a:avLst/>
          </a:prstGeom>
          <a:noFill/>
          <a:ln w="5080">
            <a:solidFill>
              <a:srgbClr val="D5DCE5"/>
            </a:solidFill>
            <a:prstDash val="solid"/>
          </a:ln>
        </p:spPr>
      </p:sp>
      <p:sp>
        <p:nvSpPr>
          <p:cNvPr id="199" name="Shape 197"/>
          <p:cNvSpPr/>
          <p:nvPr/>
        </p:nvSpPr>
        <p:spPr>
          <a:xfrm>
            <a:off x="5977890" y="4023360"/>
            <a:ext cx="914" cy="384048"/>
          </a:xfrm>
          <a:prstGeom prst="line">
            <a:avLst/>
          </a:prstGeom>
          <a:noFill/>
          <a:ln w="5080">
            <a:solidFill>
              <a:srgbClr val="D5DCE5"/>
            </a:solidFill>
            <a:prstDash val="solid"/>
          </a:ln>
        </p:spPr>
      </p:sp>
      <p:sp>
        <p:nvSpPr>
          <p:cNvPr id="200" name="Text 198"/>
          <p:cNvSpPr txBox="1"/>
          <p:nvPr/>
        </p:nvSpPr>
        <p:spPr>
          <a:xfrm>
            <a:off x="3749040" y="3794760"/>
            <a:ext cx="274320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G = gate(norm₂) [7,8192]   (W 48 MiB)</a:t>
            </a:r>
            <a:endParaRPr lang="en-US" sz="850" dirty="0"/>
          </a:p>
        </p:txBody>
      </p:sp>
      <p:sp>
        <p:nvSpPr>
          <p:cNvPr id="201" name="Shape 199"/>
          <p:cNvSpPr/>
          <p:nvPr/>
        </p:nvSpPr>
        <p:spPr>
          <a:xfrm>
            <a:off x="3749040" y="4846320"/>
            <a:ext cx="2377440" cy="384048"/>
          </a:xfrm>
          <a:prstGeom prst="rect">
            <a:avLst/>
          </a:prstGeom>
          <a:solidFill>
            <a:srgbClr val="ECE6FA"/>
          </a:solidFill>
          <a:ln w="12700">
            <a:solidFill>
              <a:srgbClr val="6C4FBF"/>
            </a:solidFill>
            <a:prstDash val="solid"/>
          </a:ln>
        </p:spPr>
      </p:sp>
      <p:sp>
        <p:nvSpPr>
          <p:cNvPr id="202" name="Shape 200"/>
          <p:cNvSpPr/>
          <p:nvPr/>
        </p:nvSpPr>
        <p:spPr>
          <a:xfrm>
            <a:off x="3897630" y="4846320"/>
            <a:ext cx="914" cy="384048"/>
          </a:xfrm>
          <a:prstGeom prst="line">
            <a:avLst/>
          </a:prstGeom>
          <a:noFill/>
          <a:ln w="5080">
            <a:solidFill>
              <a:srgbClr val="D5DCE5"/>
            </a:solidFill>
            <a:prstDash val="solid"/>
          </a:ln>
        </p:spPr>
      </p:sp>
      <p:sp>
        <p:nvSpPr>
          <p:cNvPr id="203" name="Shape 201"/>
          <p:cNvSpPr/>
          <p:nvPr/>
        </p:nvSpPr>
        <p:spPr>
          <a:xfrm>
            <a:off x="4046220" y="4846320"/>
            <a:ext cx="914" cy="384048"/>
          </a:xfrm>
          <a:prstGeom prst="line">
            <a:avLst/>
          </a:prstGeom>
          <a:noFill/>
          <a:ln w="5080">
            <a:solidFill>
              <a:srgbClr val="D5DCE5"/>
            </a:solidFill>
            <a:prstDash val="solid"/>
          </a:ln>
        </p:spPr>
      </p:sp>
      <p:sp>
        <p:nvSpPr>
          <p:cNvPr id="204" name="Shape 202"/>
          <p:cNvSpPr/>
          <p:nvPr/>
        </p:nvSpPr>
        <p:spPr>
          <a:xfrm>
            <a:off x="4194810" y="4846320"/>
            <a:ext cx="914" cy="384048"/>
          </a:xfrm>
          <a:prstGeom prst="line">
            <a:avLst/>
          </a:prstGeom>
          <a:noFill/>
          <a:ln w="5080">
            <a:solidFill>
              <a:srgbClr val="D5DCE5"/>
            </a:solidFill>
            <a:prstDash val="solid"/>
          </a:ln>
        </p:spPr>
      </p:sp>
      <p:sp>
        <p:nvSpPr>
          <p:cNvPr id="205" name="Shape 203"/>
          <p:cNvSpPr/>
          <p:nvPr/>
        </p:nvSpPr>
        <p:spPr>
          <a:xfrm>
            <a:off x="4343400" y="4846320"/>
            <a:ext cx="914" cy="384048"/>
          </a:xfrm>
          <a:prstGeom prst="line">
            <a:avLst/>
          </a:prstGeom>
          <a:noFill/>
          <a:ln w="5080">
            <a:solidFill>
              <a:srgbClr val="D5DCE5"/>
            </a:solidFill>
            <a:prstDash val="solid"/>
          </a:ln>
        </p:spPr>
      </p:sp>
      <p:sp>
        <p:nvSpPr>
          <p:cNvPr id="206" name="Shape 204"/>
          <p:cNvSpPr/>
          <p:nvPr/>
        </p:nvSpPr>
        <p:spPr>
          <a:xfrm>
            <a:off x="4491990" y="4846320"/>
            <a:ext cx="914" cy="384048"/>
          </a:xfrm>
          <a:prstGeom prst="line">
            <a:avLst/>
          </a:prstGeom>
          <a:noFill/>
          <a:ln w="5080">
            <a:solidFill>
              <a:srgbClr val="D5DCE5"/>
            </a:solidFill>
            <a:prstDash val="solid"/>
          </a:ln>
        </p:spPr>
      </p:sp>
      <p:sp>
        <p:nvSpPr>
          <p:cNvPr id="207" name="Shape 205"/>
          <p:cNvSpPr/>
          <p:nvPr/>
        </p:nvSpPr>
        <p:spPr>
          <a:xfrm>
            <a:off x="4640580" y="4846320"/>
            <a:ext cx="914" cy="384048"/>
          </a:xfrm>
          <a:prstGeom prst="line">
            <a:avLst/>
          </a:prstGeom>
          <a:noFill/>
          <a:ln w="5080">
            <a:solidFill>
              <a:srgbClr val="D5DCE5"/>
            </a:solidFill>
            <a:prstDash val="solid"/>
          </a:ln>
        </p:spPr>
      </p:sp>
      <p:sp>
        <p:nvSpPr>
          <p:cNvPr id="208" name="Shape 206"/>
          <p:cNvSpPr/>
          <p:nvPr/>
        </p:nvSpPr>
        <p:spPr>
          <a:xfrm>
            <a:off x="4789170" y="4846320"/>
            <a:ext cx="914" cy="384048"/>
          </a:xfrm>
          <a:prstGeom prst="line">
            <a:avLst/>
          </a:prstGeom>
          <a:noFill/>
          <a:ln w="5080">
            <a:solidFill>
              <a:srgbClr val="D5DCE5"/>
            </a:solidFill>
            <a:prstDash val="solid"/>
          </a:ln>
        </p:spPr>
      </p:sp>
      <p:sp>
        <p:nvSpPr>
          <p:cNvPr id="209" name="Shape 207"/>
          <p:cNvSpPr/>
          <p:nvPr/>
        </p:nvSpPr>
        <p:spPr>
          <a:xfrm>
            <a:off x="4937760" y="4846320"/>
            <a:ext cx="914" cy="384048"/>
          </a:xfrm>
          <a:prstGeom prst="line">
            <a:avLst/>
          </a:prstGeom>
          <a:noFill/>
          <a:ln w="5080">
            <a:solidFill>
              <a:srgbClr val="D5DCE5"/>
            </a:solidFill>
            <a:prstDash val="solid"/>
          </a:ln>
        </p:spPr>
      </p:sp>
      <p:sp>
        <p:nvSpPr>
          <p:cNvPr id="210" name="Shape 208"/>
          <p:cNvSpPr/>
          <p:nvPr/>
        </p:nvSpPr>
        <p:spPr>
          <a:xfrm>
            <a:off x="5086350" y="4846320"/>
            <a:ext cx="914" cy="384048"/>
          </a:xfrm>
          <a:prstGeom prst="line">
            <a:avLst/>
          </a:prstGeom>
          <a:noFill/>
          <a:ln w="5080">
            <a:solidFill>
              <a:srgbClr val="D5DCE5"/>
            </a:solidFill>
            <a:prstDash val="solid"/>
          </a:ln>
        </p:spPr>
      </p:sp>
      <p:sp>
        <p:nvSpPr>
          <p:cNvPr id="211" name="Shape 209"/>
          <p:cNvSpPr/>
          <p:nvPr/>
        </p:nvSpPr>
        <p:spPr>
          <a:xfrm>
            <a:off x="5234940" y="4846320"/>
            <a:ext cx="914" cy="384048"/>
          </a:xfrm>
          <a:prstGeom prst="line">
            <a:avLst/>
          </a:prstGeom>
          <a:noFill/>
          <a:ln w="5080">
            <a:solidFill>
              <a:srgbClr val="D5DCE5"/>
            </a:solidFill>
            <a:prstDash val="solid"/>
          </a:ln>
        </p:spPr>
      </p:sp>
      <p:sp>
        <p:nvSpPr>
          <p:cNvPr id="212" name="Shape 210"/>
          <p:cNvSpPr/>
          <p:nvPr/>
        </p:nvSpPr>
        <p:spPr>
          <a:xfrm>
            <a:off x="5383530" y="4846320"/>
            <a:ext cx="914" cy="384048"/>
          </a:xfrm>
          <a:prstGeom prst="line">
            <a:avLst/>
          </a:prstGeom>
          <a:noFill/>
          <a:ln w="5080">
            <a:solidFill>
              <a:srgbClr val="D5DCE5"/>
            </a:solidFill>
            <a:prstDash val="solid"/>
          </a:ln>
        </p:spPr>
      </p:sp>
      <p:sp>
        <p:nvSpPr>
          <p:cNvPr id="213" name="Shape 211"/>
          <p:cNvSpPr/>
          <p:nvPr/>
        </p:nvSpPr>
        <p:spPr>
          <a:xfrm>
            <a:off x="5532120" y="4846320"/>
            <a:ext cx="914" cy="384048"/>
          </a:xfrm>
          <a:prstGeom prst="line">
            <a:avLst/>
          </a:prstGeom>
          <a:noFill/>
          <a:ln w="5080">
            <a:solidFill>
              <a:srgbClr val="D5DCE5"/>
            </a:solidFill>
            <a:prstDash val="solid"/>
          </a:ln>
        </p:spPr>
      </p:sp>
      <p:sp>
        <p:nvSpPr>
          <p:cNvPr id="214" name="Shape 212"/>
          <p:cNvSpPr/>
          <p:nvPr/>
        </p:nvSpPr>
        <p:spPr>
          <a:xfrm>
            <a:off x="5680710" y="4846320"/>
            <a:ext cx="914" cy="384048"/>
          </a:xfrm>
          <a:prstGeom prst="line">
            <a:avLst/>
          </a:prstGeom>
          <a:noFill/>
          <a:ln w="5080">
            <a:solidFill>
              <a:srgbClr val="D5DCE5"/>
            </a:solidFill>
            <a:prstDash val="solid"/>
          </a:ln>
        </p:spPr>
      </p:sp>
      <p:sp>
        <p:nvSpPr>
          <p:cNvPr id="215" name="Shape 213"/>
          <p:cNvSpPr/>
          <p:nvPr/>
        </p:nvSpPr>
        <p:spPr>
          <a:xfrm>
            <a:off x="5829300" y="4846320"/>
            <a:ext cx="914" cy="384048"/>
          </a:xfrm>
          <a:prstGeom prst="line">
            <a:avLst/>
          </a:prstGeom>
          <a:noFill/>
          <a:ln w="5080">
            <a:solidFill>
              <a:srgbClr val="D5DCE5"/>
            </a:solidFill>
            <a:prstDash val="solid"/>
          </a:ln>
        </p:spPr>
      </p:sp>
      <p:sp>
        <p:nvSpPr>
          <p:cNvPr id="216" name="Shape 214"/>
          <p:cNvSpPr/>
          <p:nvPr/>
        </p:nvSpPr>
        <p:spPr>
          <a:xfrm>
            <a:off x="5977890" y="4846320"/>
            <a:ext cx="914" cy="384048"/>
          </a:xfrm>
          <a:prstGeom prst="line">
            <a:avLst/>
          </a:prstGeom>
          <a:noFill/>
          <a:ln w="5080">
            <a:solidFill>
              <a:srgbClr val="D5DCE5"/>
            </a:solidFill>
            <a:prstDash val="solid"/>
          </a:ln>
        </p:spPr>
      </p:sp>
      <p:sp>
        <p:nvSpPr>
          <p:cNvPr id="217" name="Text 215"/>
          <p:cNvSpPr txBox="1"/>
          <p:nvPr/>
        </p:nvSpPr>
        <p:spPr>
          <a:xfrm>
            <a:off x="3749040" y="4617720"/>
            <a:ext cx="274320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U = up(norm₂) [7,8192]   (W 48 MiB)</a:t>
            </a:r>
            <a:endParaRPr lang="en-US" sz="850" dirty="0"/>
          </a:p>
        </p:txBody>
      </p:sp>
      <p:sp>
        <p:nvSpPr>
          <p:cNvPr id="218" name="Shape 216"/>
          <p:cNvSpPr/>
          <p:nvPr/>
        </p:nvSpPr>
        <p:spPr>
          <a:xfrm flipV="1">
            <a:off x="3081528" y="4215384"/>
            <a:ext cx="667512" cy="448056"/>
          </a:xfrm>
          <a:prstGeom prst="line">
            <a:avLst/>
          </a:prstGeom>
          <a:noFill/>
          <a:ln w="12700">
            <a:solidFill>
              <a:srgbClr val="5B6B7F"/>
            </a:solidFill>
            <a:prstDash val="solid"/>
            <a:tailEnd type="triangle"/>
          </a:ln>
        </p:spPr>
      </p:sp>
      <p:sp>
        <p:nvSpPr>
          <p:cNvPr id="219" name="Shape 217"/>
          <p:cNvSpPr/>
          <p:nvPr/>
        </p:nvSpPr>
        <p:spPr>
          <a:xfrm>
            <a:off x="3081528" y="4663440"/>
            <a:ext cx="667512" cy="374904"/>
          </a:xfrm>
          <a:prstGeom prst="line">
            <a:avLst/>
          </a:prstGeom>
          <a:noFill/>
          <a:ln w="12700">
            <a:solidFill>
              <a:srgbClr val="5B6B7F"/>
            </a:solidFill>
            <a:prstDash val="solid"/>
            <a:tailEnd type="triangle"/>
          </a:ln>
        </p:spPr>
      </p:sp>
      <p:sp>
        <p:nvSpPr>
          <p:cNvPr id="220" name="Text 218"/>
          <p:cNvSpPr txBox="1"/>
          <p:nvPr/>
        </p:nvSpPr>
        <p:spPr>
          <a:xfrm>
            <a:off x="3063240" y="3959352"/>
            <a:ext cx="685800" cy="274320"/>
          </a:xfrm>
          <a:prstGeom prst="rect">
            <a:avLst/>
          </a:prstGeom>
          <a:noFill/>
          <a:ln/>
        </p:spPr>
        <p:txBody>
          <a:bodyPr wrap="square" lIns="0" tIns="0" rIns="0" bIns="0" rtlCol="0" anchor="t"/>
          <a:lstStyle/>
          <a:p>
            <a:pPr algn="ctr" indent="0" marL="0">
              <a:buNone/>
            </a:pPr>
            <a:r>
              <a:rPr lang="en-US" sz="750" b="1" dirty="0">
                <a:solidFill>
                  <a:srgbClr val="6C4FBF"/>
                </a:solidFill>
                <a:latin typeface="Malgun Gothic" pitchFamily="34" charset="0"/>
                <a:ea typeface="Malgun Gothic" pitchFamily="34" charset="-122"/>
                <a:cs typeface="Malgun Gothic" pitchFamily="34" charset="-120"/>
              </a:rPr>
              <a:t>gate_proj</a:t>
            </a:r>
            <a:endParaRPr lang="en-US" sz="750" dirty="0"/>
          </a:p>
        </p:txBody>
      </p:sp>
      <p:sp>
        <p:nvSpPr>
          <p:cNvPr id="221" name="Text 219"/>
          <p:cNvSpPr txBox="1"/>
          <p:nvPr/>
        </p:nvSpPr>
        <p:spPr>
          <a:xfrm>
            <a:off x="3063240" y="4937760"/>
            <a:ext cx="685800" cy="274320"/>
          </a:xfrm>
          <a:prstGeom prst="rect">
            <a:avLst/>
          </a:prstGeom>
          <a:noFill/>
          <a:ln/>
        </p:spPr>
        <p:txBody>
          <a:bodyPr wrap="square" lIns="0" tIns="0" rIns="0" bIns="0" rtlCol="0" anchor="t"/>
          <a:lstStyle/>
          <a:p>
            <a:pPr algn="ctr" indent="0" marL="0">
              <a:buNone/>
            </a:pPr>
            <a:r>
              <a:rPr lang="en-US" sz="750" b="1" dirty="0">
                <a:solidFill>
                  <a:srgbClr val="6C4FBF"/>
                </a:solidFill>
                <a:latin typeface="Malgun Gothic" pitchFamily="34" charset="0"/>
                <a:ea typeface="Malgun Gothic" pitchFamily="34" charset="-122"/>
                <a:cs typeface="Malgun Gothic" pitchFamily="34" charset="-120"/>
              </a:rPr>
              <a:t>up_proj</a:t>
            </a:r>
            <a:endParaRPr lang="en-US" sz="750" dirty="0"/>
          </a:p>
        </p:txBody>
      </p:sp>
      <p:sp>
        <p:nvSpPr>
          <p:cNvPr id="222" name="Shape 220"/>
          <p:cNvSpPr/>
          <p:nvPr/>
        </p:nvSpPr>
        <p:spPr>
          <a:xfrm>
            <a:off x="6858000" y="4434840"/>
            <a:ext cx="2377440" cy="384048"/>
          </a:xfrm>
          <a:prstGeom prst="rect">
            <a:avLst/>
          </a:prstGeom>
          <a:solidFill>
            <a:srgbClr val="E3EEFB"/>
          </a:solidFill>
          <a:ln w="12700">
            <a:solidFill>
              <a:srgbClr val="2F6DB5"/>
            </a:solidFill>
            <a:prstDash val="solid"/>
          </a:ln>
        </p:spPr>
      </p:sp>
      <p:sp>
        <p:nvSpPr>
          <p:cNvPr id="223" name="Shape 221"/>
          <p:cNvSpPr/>
          <p:nvPr/>
        </p:nvSpPr>
        <p:spPr>
          <a:xfrm>
            <a:off x="7006590" y="4434840"/>
            <a:ext cx="914" cy="384048"/>
          </a:xfrm>
          <a:prstGeom prst="line">
            <a:avLst/>
          </a:prstGeom>
          <a:noFill/>
          <a:ln w="5080">
            <a:solidFill>
              <a:srgbClr val="D5DCE5"/>
            </a:solidFill>
            <a:prstDash val="solid"/>
          </a:ln>
        </p:spPr>
      </p:sp>
      <p:sp>
        <p:nvSpPr>
          <p:cNvPr id="224" name="Shape 222"/>
          <p:cNvSpPr/>
          <p:nvPr/>
        </p:nvSpPr>
        <p:spPr>
          <a:xfrm>
            <a:off x="7155180" y="4434840"/>
            <a:ext cx="914" cy="384048"/>
          </a:xfrm>
          <a:prstGeom prst="line">
            <a:avLst/>
          </a:prstGeom>
          <a:noFill/>
          <a:ln w="5080">
            <a:solidFill>
              <a:srgbClr val="D5DCE5"/>
            </a:solidFill>
            <a:prstDash val="solid"/>
          </a:ln>
        </p:spPr>
      </p:sp>
      <p:sp>
        <p:nvSpPr>
          <p:cNvPr id="225" name="Shape 223"/>
          <p:cNvSpPr/>
          <p:nvPr/>
        </p:nvSpPr>
        <p:spPr>
          <a:xfrm>
            <a:off x="7303770" y="4434840"/>
            <a:ext cx="914" cy="384048"/>
          </a:xfrm>
          <a:prstGeom prst="line">
            <a:avLst/>
          </a:prstGeom>
          <a:noFill/>
          <a:ln w="5080">
            <a:solidFill>
              <a:srgbClr val="D5DCE5"/>
            </a:solidFill>
            <a:prstDash val="solid"/>
          </a:ln>
        </p:spPr>
      </p:sp>
      <p:sp>
        <p:nvSpPr>
          <p:cNvPr id="226" name="Shape 224"/>
          <p:cNvSpPr/>
          <p:nvPr/>
        </p:nvSpPr>
        <p:spPr>
          <a:xfrm>
            <a:off x="7452360" y="4434840"/>
            <a:ext cx="914" cy="384048"/>
          </a:xfrm>
          <a:prstGeom prst="line">
            <a:avLst/>
          </a:prstGeom>
          <a:noFill/>
          <a:ln w="5080">
            <a:solidFill>
              <a:srgbClr val="D5DCE5"/>
            </a:solidFill>
            <a:prstDash val="solid"/>
          </a:ln>
        </p:spPr>
      </p:sp>
      <p:sp>
        <p:nvSpPr>
          <p:cNvPr id="227" name="Shape 225"/>
          <p:cNvSpPr/>
          <p:nvPr/>
        </p:nvSpPr>
        <p:spPr>
          <a:xfrm>
            <a:off x="7600950" y="4434840"/>
            <a:ext cx="914" cy="384048"/>
          </a:xfrm>
          <a:prstGeom prst="line">
            <a:avLst/>
          </a:prstGeom>
          <a:noFill/>
          <a:ln w="5080">
            <a:solidFill>
              <a:srgbClr val="D5DCE5"/>
            </a:solidFill>
            <a:prstDash val="solid"/>
          </a:ln>
        </p:spPr>
      </p:sp>
      <p:sp>
        <p:nvSpPr>
          <p:cNvPr id="228" name="Shape 226"/>
          <p:cNvSpPr/>
          <p:nvPr/>
        </p:nvSpPr>
        <p:spPr>
          <a:xfrm>
            <a:off x="7749540" y="4434840"/>
            <a:ext cx="914" cy="384048"/>
          </a:xfrm>
          <a:prstGeom prst="line">
            <a:avLst/>
          </a:prstGeom>
          <a:noFill/>
          <a:ln w="5080">
            <a:solidFill>
              <a:srgbClr val="D5DCE5"/>
            </a:solidFill>
            <a:prstDash val="solid"/>
          </a:ln>
        </p:spPr>
      </p:sp>
      <p:sp>
        <p:nvSpPr>
          <p:cNvPr id="229" name="Shape 227"/>
          <p:cNvSpPr/>
          <p:nvPr/>
        </p:nvSpPr>
        <p:spPr>
          <a:xfrm>
            <a:off x="7898130" y="4434840"/>
            <a:ext cx="914" cy="384048"/>
          </a:xfrm>
          <a:prstGeom prst="line">
            <a:avLst/>
          </a:prstGeom>
          <a:noFill/>
          <a:ln w="5080">
            <a:solidFill>
              <a:srgbClr val="D5DCE5"/>
            </a:solidFill>
            <a:prstDash val="solid"/>
          </a:ln>
        </p:spPr>
      </p:sp>
      <p:sp>
        <p:nvSpPr>
          <p:cNvPr id="230" name="Shape 228"/>
          <p:cNvSpPr/>
          <p:nvPr/>
        </p:nvSpPr>
        <p:spPr>
          <a:xfrm>
            <a:off x="8046720" y="4434840"/>
            <a:ext cx="914" cy="384048"/>
          </a:xfrm>
          <a:prstGeom prst="line">
            <a:avLst/>
          </a:prstGeom>
          <a:noFill/>
          <a:ln w="5080">
            <a:solidFill>
              <a:srgbClr val="D5DCE5"/>
            </a:solidFill>
            <a:prstDash val="solid"/>
          </a:ln>
        </p:spPr>
      </p:sp>
      <p:sp>
        <p:nvSpPr>
          <p:cNvPr id="231" name="Shape 229"/>
          <p:cNvSpPr/>
          <p:nvPr/>
        </p:nvSpPr>
        <p:spPr>
          <a:xfrm>
            <a:off x="8195310" y="4434840"/>
            <a:ext cx="914" cy="384048"/>
          </a:xfrm>
          <a:prstGeom prst="line">
            <a:avLst/>
          </a:prstGeom>
          <a:noFill/>
          <a:ln w="5080">
            <a:solidFill>
              <a:srgbClr val="D5DCE5"/>
            </a:solidFill>
            <a:prstDash val="solid"/>
          </a:ln>
        </p:spPr>
      </p:sp>
      <p:sp>
        <p:nvSpPr>
          <p:cNvPr id="232" name="Shape 230"/>
          <p:cNvSpPr/>
          <p:nvPr/>
        </p:nvSpPr>
        <p:spPr>
          <a:xfrm>
            <a:off x="8343900" y="4434840"/>
            <a:ext cx="914" cy="384048"/>
          </a:xfrm>
          <a:prstGeom prst="line">
            <a:avLst/>
          </a:prstGeom>
          <a:noFill/>
          <a:ln w="5080">
            <a:solidFill>
              <a:srgbClr val="D5DCE5"/>
            </a:solidFill>
            <a:prstDash val="solid"/>
          </a:ln>
        </p:spPr>
      </p:sp>
      <p:sp>
        <p:nvSpPr>
          <p:cNvPr id="233" name="Shape 231"/>
          <p:cNvSpPr/>
          <p:nvPr/>
        </p:nvSpPr>
        <p:spPr>
          <a:xfrm>
            <a:off x="8492490" y="4434840"/>
            <a:ext cx="914" cy="384048"/>
          </a:xfrm>
          <a:prstGeom prst="line">
            <a:avLst/>
          </a:prstGeom>
          <a:noFill/>
          <a:ln w="5080">
            <a:solidFill>
              <a:srgbClr val="D5DCE5"/>
            </a:solidFill>
            <a:prstDash val="solid"/>
          </a:ln>
        </p:spPr>
      </p:sp>
      <p:sp>
        <p:nvSpPr>
          <p:cNvPr id="234" name="Shape 232"/>
          <p:cNvSpPr/>
          <p:nvPr/>
        </p:nvSpPr>
        <p:spPr>
          <a:xfrm>
            <a:off x="8641080" y="4434840"/>
            <a:ext cx="914" cy="384048"/>
          </a:xfrm>
          <a:prstGeom prst="line">
            <a:avLst/>
          </a:prstGeom>
          <a:noFill/>
          <a:ln w="5080">
            <a:solidFill>
              <a:srgbClr val="D5DCE5"/>
            </a:solidFill>
            <a:prstDash val="solid"/>
          </a:ln>
        </p:spPr>
      </p:sp>
      <p:sp>
        <p:nvSpPr>
          <p:cNvPr id="235" name="Shape 233"/>
          <p:cNvSpPr/>
          <p:nvPr/>
        </p:nvSpPr>
        <p:spPr>
          <a:xfrm>
            <a:off x="8789670" y="4434840"/>
            <a:ext cx="914" cy="384048"/>
          </a:xfrm>
          <a:prstGeom prst="line">
            <a:avLst/>
          </a:prstGeom>
          <a:noFill/>
          <a:ln w="5080">
            <a:solidFill>
              <a:srgbClr val="D5DCE5"/>
            </a:solidFill>
            <a:prstDash val="solid"/>
          </a:ln>
        </p:spPr>
      </p:sp>
      <p:sp>
        <p:nvSpPr>
          <p:cNvPr id="236" name="Shape 234"/>
          <p:cNvSpPr/>
          <p:nvPr/>
        </p:nvSpPr>
        <p:spPr>
          <a:xfrm>
            <a:off x="8938260" y="4434840"/>
            <a:ext cx="914" cy="384048"/>
          </a:xfrm>
          <a:prstGeom prst="line">
            <a:avLst/>
          </a:prstGeom>
          <a:noFill/>
          <a:ln w="5080">
            <a:solidFill>
              <a:srgbClr val="D5DCE5"/>
            </a:solidFill>
            <a:prstDash val="solid"/>
          </a:ln>
        </p:spPr>
      </p:sp>
      <p:sp>
        <p:nvSpPr>
          <p:cNvPr id="237" name="Shape 235"/>
          <p:cNvSpPr/>
          <p:nvPr/>
        </p:nvSpPr>
        <p:spPr>
          <a:xfrm>
            <a:off x="9086850" y="4434840"/>
            <a:ext cx="914" cy="384048"/>
          </a:xfrm>
          <a:prstGeom prst="line">
            <a:avLst/>
          </a:prstGeom>
          <a:noFill/>
          <a:ln w="5080">
            <a:solidFill>
              <a:srgbClr val="D5DCE5"/>
            </a:solidFill>
            <a:prstDash val="solid"/>
          </a:ln>
        </p:spPr>
      </p:sp>
      <p:sp>
        <p:nvSpPr>
          <p:cNvPr id="238" name="Text 236"/>
          <p:cNvSpPr txBox="1"/>
          <p:nvPr/>
        </p:nvSpPr>
        <p:spPr>
          <a:xfrm>
            <a:off x="6858000" y="4206240"/>
            <a:ext cx="256032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H = SiLU(G) ⊙ U [7,8192]</a:t>
            </a:r>
            <a:endParaRPr lang="en-US" sz="850" dirty="0"/>
          </a:p>
        </p:txBody>
      </p:sp>
      <p:sp>
        <p:nvSpPr>
          <p:cNvPr id="239" name="Shape 237"/>
          <p:cNvSpPr/>
          <p:nvPr/>
        </p:nvSpPr>
        <p:spPr>
          <a:xfrm>
            <a:off x="6144768" y="4215384"/>
            <a:ext cx="713232" cy="365760"/>
          </a:xfrm>
          <a:prstGeom prst="line">
            <a:avLst/>
          </a:prstGeom>
          <a:noFill/>
          <a:ln w="12700">
            <a:solidFill>
              <a:srgbClr val="5B6B7F"/>
            </a:solidFill>
            <a:prstDash val="solid"/>
            <a:tailEnd type="triangle"/>
          </a:ln>
        </p:spPr>
      </p:sp>
      <p:sp>
        <p:nvSpPr>
          <p:cNvPr id="240" name="Shape 238"/>
          <p:cNvSpPr/>
          <p:nvPr/>
        </p:nvSpPr>
        <p:spPr>
          <a:xfrm flipV="1">
            <a:off x="6144768" y="4672584"/>
            <a:ext cx="713232" cy="365760"/>
          </a:xfrm>
          <a:prstGeom prst="line">
            <a:avLst/>
          </a:prstGeom>
          <a:noFill/>
          <a:ln w="12700">
            <a:solidFill>
              <a:srgbClr val="5B6B7F"/>
            </a:solidFill>
            <a:prstDash val="solid"/>
            <a:tailEnd type="triangle"/>
          </a:ln>
        </p:spPr>
      </p:sp>
      <p:sp>
        <p:nvSpPr>
          <p:cNvPr id="241" name="Text 239"/>
          <p:cNvSpPr txBox="1"/>
          <p:nvPr/>
        </p:nvSpPr>
        <p:spPr>
          <a:xfrm>
            <a:off x="6080760" y="4343400"/>
            <a:ext cx="822960" cy="274320"/>
          </a:xfrm>
          <a:prstGeom prst="rect">
            <a:avLst/>
          </a:prstGeom>
          <a:noFill/>
          <a:ln/>
        </p:spPr>
        <p:txBody>
          <a:bodyPr wrap="square" lIns="0" tIns="0" rIns="0" bIns="0" rtlCol="0" anchor="t"/>
          <a:lstStyle/>
          <a:p>
            <a:pPr algn="ctr" indent="0" marL="0">
              <a:buNone/>
            </a:pPr>
            <a:r>
              <a:rPr lang="en-US" sz="700" b="1" dirty="0">
                <a:solidFill>
                  <a:srgbClr val="2F6DB5"/>
                </a:solidFill>
                <a:latin typeface="Malgun Gothic" pitchFamily="34" charset="0"/>
                <a:ea typeface="Malgun Gothic" pitchFamily="34" charset="-122"/>
                <a:cs typeface="Malgun Gothic" pitchFamily="34" charset="-120"/>
              </a:rPr>
              <a:t>SiLU · ⊙</a:t>
            </a:r>
            <a:endParaRPr lang="en-US" sz="700" dirty="0"/>
          </a:p>
        </p:txBody>
      </p:sp>
      <p:sp>
        <p:nvSpPr>
          <p:cNvPr id="242" name="Shape 240"/>
          <p:cNvSpPr/>
          <p:nvPr/>
        </p:nvSpPr>
        <p:spPr>
          <a:xfrm>
            <a:off x="10332720" y="4434840"/>
            <a:ext cx="1097280" cy="457200"/>
          </a:xfrm>
          <a:prstGeom prst="rect">
            <a:avLst/>
          </a:prstGeom>
          <a:solidFill>
            <a:srgbClr val="ECE6FA"/>
          </a:solidFill>
          <a:ln w="12700">
            <a:solidFill>
              <a:srgbClr val="6C4FBF"/>
            </a:solidFill>
            <a:prstDash val="solid"/>
          </a:ln>
        </p:spPr>
      </p:sp>
      <p:sp>
        <p:nvSpPr>
          <p:cNvPr id="243" name="Shape 241"/>
          <p:cNvSpPr/>
          <p:nvPr/>
        </p:nvSpPr>
        <p:spPr>
          <a:xfrm>
            <a:off x="10469880" y="4434840"/>
            <a:ext cx="914" cy="457200"/>
          </a:xfrm>
          <a:prstGeom prst="line">
            <a:avLst/>
          </a:prstGeom>
          <a:noFill/>
          <a:ln w="5080">
            <a:solidFill>
              <a:srgbClr val="D5DCE5"/>
            </a:solidFill>
            <a:prstDash val="solid"/>
          </a:ln>
        </p:spPr>
      </p:sp>
      <p:sp>
        <p:nvSpPr>
          <p:cNvPr id="244" name="Shape 242"/>
          <p:cNvSpPr/>
          <p:nvPr/>
        </p:nvSpPr>
        <p:spPr>
          <a:xfrm>
            <a:off x="10607040" y="4434840"/>
            <a:ext cx="914" cy="457200"/>
          </a:xfrm>
          <a:prstGeom prst="line">
            <a:avLst/>
          </a:prstGeom>
          <a:noFill/>
          <a:ln w="5080">
            <a:solidFill>
              <a:srgbClr val="D5DCE5"/>
            </a:solidFill>
            <a:prstDash val="solid"/>
          </a:ln>
        </p:spPr>
      </p:sp>
      <p:sp>
        <p:nvSpPr>
          <p:cNvPr id="245" name="Shape 243"/>
          <p:cNvSpPr/>
          <p:nvPr/>
        </p:nvSpPr>
        <p:spPr>
          <a:xfrm>
            <a:off x="10744200" y="4434840"/>
            <a:ext cx="914" cy="457200"/>
          </a:xfrm>
          <a:prstGeom prst="line">
            <a:avLst/>
          </a:prstGeom>
          <a:noFill/>
          <a:ln w="5080">
            <a:solidFill>
              <a:srgbClr val="D5DCE5"/>
            </a:solidFill>
            <a:prstDash val="solid"/>
          </a:ln>
        </p:spPr>
      </p:sp>
      <p:sp>
        <p:nvSpPr>
          <p:cNvPr id="246" name="Shape 244"/>
          <p:cNvSpPr/>
          <p:nvPr/>
        </p:nvSpPr>
        <p:spPr>
          <a:xfrm>
            <a:off x="10881360" y="4434840"/>
            <a:ext cx="914" cy="457200"/>
          </a:xfrm>
          <a:prstGeom prst="line">
            <a:avLst/>
          </a:prstGeom>
          <a:noFill/>
          <a:ln w="5080">
            <a:solidFill>
              <a:srgbClr val="D5DCE5"/>
            </a:solidFill>
            <a:prstDash val="solid"/>
          </a:ln>
        </p:spPr>
      </p:sp>
      <p:sp>
        <p:nvSpPr>
          <p:cNvPr id="247" name="Shape 245"/>
          <p:cNvSpPr/>
          <p:nvPr/>
        </p:nvSpPr>
        <p:spPr>
          <a:xfrm>
            <a:off x="11018520" y="4434840"/>
            <a:ext cx="914" cy="457200"/>
          </a:xfrm>
          <a:prstGeom prst="line">
            <a:avLst/>
          </a:prstGeom>
          <a:noFill/>
          <a:ln w="5080">
            <a:solidFill>
              <a:srgbClr val="D5DCE5"/>
            </a:solidFill>
            <a:prstDash val="solid"/>
          </a:ln>
        </p:spPr>
      </p:sp>
      <p:sp>
        <p:nvSpPr>
          <p:cNvPr id="248" name="Shape 246"/>
          <p:cNvSpPr/>
          <p:nvPr/>
        </p:nvSpPr>
        <p:spPr>
          <a:xfrm>
            <a:off x="11155680" y="4434840"/>
            <a:ext cx="914" cy="457200"/>
          </a:xfrm>
          <a:prstGeom prst="line">
            <a:avLst/>
          </a:prstGeom>
          <a:noFill/>
          <a:ln w="5080">
            <a:solidFill>
              <a:srgbClr val="D5DCE5"/>
            </a:solidFill>
            <a:prstDash val="solid"/>
          </a:ln>
        </p:spPr>
      </p:sp>
      <p:sp>
        <p:nvSpPr>
          <p:cNvPr id="249" name="Shape 247"/>
          <p:cNvSpPr/>
          <p:nvPr/>
        </p:nvSpPr>
        <p:spPr>
          <a:xfrm>
            <a:off x="11292840" y="4434840"/>
            <a:ext cx="914" cy="457200"/>
          </a:xfrm>
          <a:prstGeom prst="line">
            <a:avLst/>
          </a:prstGeom>
          <a:noFill/>
          <a:ln w="5080">
            <a:solidFill>
              <a:srgbClr val="D5DCE5"/>
            </a:solidFill>
            <a:prstDash val="solid"/>
          </a:ln>
        </p:spPr>
      </p:sp>
      <p:sp>
        <p:nvSpPr>
          <p:cNvPr id="250" name="Text 248"/>
          <p:cNvSpPr txBox="1"/>
          <p:nvPr/>
        </p:nvSpPr>
        <p:spPr>
          <a:xfrm>
            <a:off x="10332720" y="4206240"/>
            <a:ext cx="1280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down(H) [7,3072]</a:t>
            </a:r>
            <a:endParaRPr lang="en-US" sz="850" dirty="0"/>
          </a:p>
        </p:txBody>
      </p:sp>
      <p:sp>
        <p:nvSpPr>
          <p:cNvPr id="251" name="Shape 249"/>
          <p:cNvSpPr/>
          <p:nvPr/>
        </p:nvSpPr>
        <p:spPr>
          <a:xfrm>
            <a:off x="9253728" y="4626864"/>
            <a:ext cx="1078992" cy="36576"/>
          </a:xfrm>
          <a:prstGeom prst="line">
            <a:avLst/>
          </a:prstGeom>
          <a:noFill/>
          <a:ln w="12700">
            <a:solidFill>
              <a:srgbClr val="5B6B7F"/>
            </a:solidFill>
            <a:prstDash val="solid"/>
            <a:tailEnd type="triangle"/>
          </a:ln>
        </p:spPr>
      </p:sp>
      <p:sp>
        <p:nvSpPr>
          <p:cNvPr id="252" name="Text 250"/>
          <p:cNvSpPr txBox="1"/>
          <p:nvPr/>
        </p:nvSpPr>
        <p:spPr>
          <a:xfrm>
            <a:off x="9281160" y="4160520"/>
            <a:ext cx="1005840" cy="27432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down_proj (W 48 MiB)</a:t>
            </a:r>
            <a:endParaRPr lang="en-US" sz="650" dirty="0"/>
          </a:p>
        </p:txBody>
      </p:sp>
      <p:sp>
        <p:nvSpPr>
          <p:cNvPr id="253" name="Shape 251"/>
          <p:cNvSpPr/>
          <p:nvPr/>
        </p:nvSpPr>
        <p:spPr>
          <a:xfrm>
            <a:off x="11521440" y="4434840"/>
            <a:ext cx="210312" cy="457200"/>
          </a:xfrm>
          <a:prstGeom prst="roundRect">
            <a:avLst>
              <a:gd name="adj" fmla="val 26087"/>
            </a:avLst>
          </a:prstGeom>
          <a:solidFill>
            <a:srgbClr val="FFF6DB"/>
          </a:solidFill>
          <a:ln w="12700">
            <a:solidFill>
              <a:srgbClr val="B7791F"/>
            </a:solidFill>
            <a:prstDash val="solid"/>
          </a:ln>
        </p:spPr>
      </p:sp>
      <p:sp>
        <p:nvSpPr>
          <p:cNvPr id="254" name="Text 252"/>
          <p:cNvSpPr txBox="1"/>
          <p:nvPr/>
        </p:nvSpPr>
        <p:spPr>
          <a:xfrm>
            <a:off x="11576304" y="4471416"/>
            <a:ext cx="100584" cy="384048"/>
          </a:xfrm>
          <a:prstGeom prst="rect">
            <a:avLst/>
          </a:prstGeom>
          <a:noFill/>
          <a:ln/>
        </p:spPr>
        <p:txBody>
          <a:bodyPr wrap="square" lIns="0" tIns="0" rIns="0" bIns="0" rtlCol="0" anchor="ctr"/>
          <a:lstStyle/>
          <a:p>
            <a:pPr algn="ctr" indent="0" marL="0">
              <a:buNone/>
            </a:pPr>
            <a:r>
              <a:rPr lang="en-US" sz="1200" b="1" dirty="0">
                <a:solidFill>
                  <a:srgbClr val="1F2D3D"/>
                </a:solidFill>
                <a:latin typeface="Malgun Gothic" pitchFamily="34" charset="0"/>
                <a:ea typeface="Malgun Gothic" pitchFamily="34" charset="-122"/>
                <a:cs typeface="Malgun Gothic" pitchFamily="34" charset="-120"/>
              </a:rPr>
              <a:t>+</a:t>
            </a:r>
            <a:endParaRPr lang="en-US" sz="1200" dirty="0"/>
          </a:p>
        </p:txBody>
      </p:sp>
      <p:sp>
        <p:nvSpPr>
          <p:cNvPr id="255" name="Shape 253"/>
          <p:cNvSpPr/>
          <p:nvPr/>
        </p:nvSpPr>
        <p:spPr>
          <a:xfrm>
            <a:off x="11430000" y="4663440"/>
            <a:ext cx="91440" cy="914"/>
          </a:xfrm>
          <a:prstGeom prst="line">
            <a:avLst/>
          </a:prstGeom>
          <a:noFill/>
          <a:ln w="12700">
            <a:solidFill>
              <a:srgbClr val="5B6B7F"/>
            </a:solidFill>
            <a:prstDash val="solid"/>
            <a:tailEnd type="triangle"/>
          </a:ln>
        </p:spPr>
      </p:sp>
      <p:sp>
        <p:nvSpPr>
          <p:cNvPr id="256" name="Shape 254"/>
          <p:cNvSpPr/>
          <p:nvPr/>
        </p:nvSpPr>
        <p:spPr>
          <a:xfrm>
            <a:off x="1005840" y="4892040"/>
            <a:ext cx="914" cy="566928"/>
          </a:xfrm>
          <a:prstGeom prst="line">
            <a:avLst/>
          </a:prstGeom>
          <a:noFill/>
          <a:ln w="19050">
            <a:solidFill>
              <a:srgbClr val="B7791F"/>
            </a:solidFill>
            <a:prstDash val="dash"/>
          </a:ln>
        </p:spPr>
      </p:sp>
      <p:sp>
        <p:nvSpPr>
          <p:cNvPr id="257" name="Shape 255"/>
          <p:cNvSpPr/>
          <p:nvPr/>
        </p:nvSpPr>
        <p:spPr>
          <a:xfrm>
            <a:off x="1005840" y="5458968"/>
            <a:ext cx="10620756" cy="914"/>
          </a:xfrm>
          <a:prstGeom prst="line">
            <a:avLst/>
          </a:prstGeom>
          <a:noFill/>
          <a:ln w="19050">
            <a:solidFill>
              <a:srgbClr val="B7791F"/>
            </a:solidFill>
            <a:prstDash val="dash"/>
          </a:ln>
        </p:spPr>
      </p:sp>
      <p:sp>
        <p:nvSpPr>
          <p:cNvPr id="258" name="Shape 256"/>
          <p:cNvSpPr/>
          <p:nvPr/>
        </p:nvSpPr>
        <p:spPr>
          <a:xfrm flipV="1">
            <a:off x="11626596" y="4892040"/>
            <a:ext cx="914" cy="566928"/>
          </a:xfrm>
          <a:prstGeom prst="line">
            <a:avLst/>
          </a:prstGeom>
          <a:noFill/>
          <a:ln w="19050">
            <a:solidFill>
              <a:srgbClr val="B7791F"/>
            </a:solidFill>
            <a:prstDash val="dash"/>
            <a:tailEnd type="triangle"/>
          </a:ln>
        </p:spPr>
      </p:sp>
      <p:sp>
        <p:nvSpPr>
          <p:cNvPr id="259" name="Text 257"/>
          <p:cNvSpPr txBox="1"/>
          <p:nvPr/>
        </p:nvSpPr>
        <p:spPr>
          <a:xfrm>
            <a:off x="1280160" y="5495544"/>
            <a:ext cx="3657600" cy="182880"/>
          </a:xfrm>
          <a:prstGeom prst="rect">
            <a:avLst/>
          </a:prstGeom>
          <a:noFill/>
          <a:ln/>
        </p:spPr>
        <p:txBody>
          <a:bodyPr wrap="square" lIns="0" tIns="0" rIns="0" bIns="0" rtlCol="0" anchor="t"/>
          <a:lstStyle/>
          <a:p>
            <a:pPr algn="l" indent="0" marL="0">
              <a:buNone/>
            </a:pPr>
            <a:r>
              <a:rPr lang="en-US" sz="750" b="1" dirty="0">
                <a:solidFill>
                  <a:srgbClr val="B7791F"/>
                </a:solidFill>
                <a:latin typeface="Malgun Gothic" pitchFamily="34" charset="0"/>
                <a:ea typeface="Malgun Gothic" pitchFamily="34" charset="-122"/>
                <a:cs typeface="Malgun Gothic" pitchFamily="34" charset="-120"/>
              </a:rPr>
              <a:t>residual: R 유지 → Y = R + down(H) → 다음 layer의 X</a:t>
            </a:r>
            <a:endParaRPr lang="en-US" sz="750" dirty="0"/>
          </a:p>
        </p:txBody>
      </p:sp>
      <p:sp>
        <p:nvSpPr>
          <p:cNvPr id="260" name="Shape 258"/>
          <p:cNvSpPr/>
          <p:nvPr/>
        </p:nvSpPr>
        <p:spPr>
          <a:xfrm>
            <a:off x="457200" y="5760720"/>
            <a:ext cx="11274552" cy="457200"/>
          </a:xfrm>
          <a:prstGeom prst="roundRect">
            <a:avLst>
              <a:gd name="adj" fmla="val 12000"/>
            </a:avLst>
          </a:prstGeom>
          <a:solidFill>
            <a:srgbClr val="EEF2F6"/>
          </a:solidFill>
          <a:ln w="12700">
            <a:solidFill>
              <a:srgbClr val="C9D3DF"/>
            </a:solidFill>
            <a:prstDash val="solid"/>
          </a:ln>
        </p:spPr>
      </p:sp>
      <p:sp>
        <p:nvSpPr>
          <p:cNvPr id="261" name="Text 259"/>
          <p:cNvSpPr txBox="1"/>
          <p:nvPr/>
        </p:nvSpPr>
        <p:spPr>
          <a:xfrm>
            <a:off x="585216" y="5815584"/>
            <a:ext cx="11018520" cy="34747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읽는 법: </a:t>
            </a:r>
            <a:pPr algn="l" indent="0" marL="0">
              <a:buNone/>
            </a:pPr>
            <a:r>
              <a:rPr lang="en-US" sz="950" dirty="0">
                <a:solidFill>
                  <a:srgbClr val="1F2D3D"/>
                </a:solidFill>
                <a:latin typeface="Malgun Gothic" pitchFamily="34" charset="0"/>
                <a:ea typeface="Malgun Gothic" pitchFamily="34" charset="-122"/>
                <a:cs typeface="Malgun Gothic" pitchFamily="34" charset="-120"/>
              </a:rPr>
              <a:t>보라 = matrix unit(projection·QKᵀ·PV), 파랑 = vector/정규화, 주황 = residual. glyph의 칸 수는 축약(실제 [7,3072]는 폭 48 tiles). Decode는 S=1이며 K/V 대신 cache와 현재 token을 concat한 [8,128,C+1]/[8,C+1,128]을 씁니다.</a:t>
            </a:r>
            <a:endParaRPr lang="en-US" sz="1200" dirty="0"/>
          </a:p>
        </p:txBody>
      </p:sp>
      <p:sp>
        <p:nvSpPr>
          <p:cNvPr id="262" name="Text 260"/>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263" name="Text 261"/>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docs/examples/llama_ir/01_authored_relax.py, docs/current/02_model_relax.md</a:t>
            </a:r>
            <a:endParaRPr lang="en-US" sz="850" dirty="0"/>
          </a:p>
        </p:txBody>
      </p:sp>
      <p:sp>
        <p:nvSpPr>
          <p:cNvPr id="264" name="Text 262"/>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11 / 89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2 · 모델 → Relax</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실제 authored Relax (decode, 1 layer, C=9) 발췌</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실제 3B 폭, layer 수만 28→1로 줄인 export 결과. 변수 이름은 자동 생성이지만 계산은 앞 슬라이드의 그래프와 1:1 대응합니다.</a:t>
            </a:r>
            <a:endParaRPr lang="en-US" sz="1250" dirty="0"/>
          </a:p>
        </p:txBody>
      </p:sp>
      <p:sp>
        <p:nvSpPr>
          <p:cNvPr id="5" name="Shape 3"/>
          <p:cNvSpPr/>
          <p:nvPr/>
        </p:nvSpPr>
        <p:spPr>
          <a:xfrm>
            <a:off x="457200" y="1371600"/>
            <a:ext cx="7589520" cy="4892040"/>
          </a:xfrm>
          <a:prstGeom prst="roundRect">
            <a:avLst>
              <a:gd name="adj" fmla="val 935"/>
            </a:avLst>
          </a:prstGeom>
          <a:solidFill>
            <a:srgbClr val="F5F7FA"/>
          </a:solidFill>
          <a:ln w="9525">
            <a:solidFill>
              <a:srgbClr val="C9D3DF"/>
            </a:solidFill>
            <a:prstDash val="solid"/>
          </a:ln>
        </p:spPr>
      </p:sp>
      <p:sp>
        <p:nvSpPr>
          <p:cNvPr id="6" name="Text 4"/>
          <p:cNvSpPr txBox="1"/>
          <p:nvPr/>
        </p:nvSpPr>
        <p:spPr>
          <a:xfrm>
            <a:off x="566928" y="1444752"/>
            <a:ext cx="7370064" cy="4745736"/>
          </a:xfrm>
          <a:prstGeom prst="rect">
            <a:avLst/>
          </a:prstGeom>
          <a:noFill/>
          <a:ln/>
        </p:spPr>
        <p:txBody>
          <a:bodyPr wrap="square" lIns="0" tIns="0" rIns="0" bIns="0" rtlCol="0" anchor="t"/>
          <a:lstStyle/>
          <a:p>
            <a:pPr algn="l" indent="0" marL="0">
              <a:lnSpc>
                <a:spcPct val="105000"/>
              </a:lnSpc>
              <a:buNone/>
            </a:pPr>
            <a:r>
              <a:rPr lang="en-US" sz="800" dirty="0">
                <a:solidFill>
                  <a:srgbClr val="2F6DB5"/>
                </a:solidFill>
                <a:latin typeface="Courier New" pitchFamily="34" charset="0"/>
                <a:ea typeface="Courier New" pitchFamily="34" charset="-122"/>
                <a:cs typeface="Courier New" pitchFamily="34" charset="-120"/>
              </a:rPr>
              <a:t>@R.function</a:t>
            </a:r>
            <a:endParaRPr lang="en-US" sz="800" dirty="0"/>
          </a:p>
          <a:p>
            <a:pPr algn="l" indent="0" marL="0">
              <a:lnSpc>
                <a:spcPct val="105000"/>
              </a:lnSpc>
              <a:buNone/>
            </a:pPr>
            <a:r>
              <a:rPr lang="en-US" sz="800" dirty="0">
                <a:solidFill>
                  <a:srgbClr val="2F6DB5"/>
                </a:solidFill>
                <a:latin typeface="Courier New" pitchFamily="34" charset="0"/>
                <a:ea typeface="Courier New" pitchFamily="34" charset="-122"/>
                <a:cs typeface="Courier New" pitchFamily="34" charset="-120"/>
              </a:rPr>
              <a:t>def </a:t>
            </a:r>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decode(input_embeds: R.Tensor((1, 3072), "float16"), cos: (1,1,128), sin: (1,1,128),</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k_cache: (1, 8, 128, 9), v_cache: (1, 8, 9, 128), mask: (1, 1, 10),</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packed_params: R.Tuple(11 tensors)) -&gt; (logits (1,128256), K_new (1,8,128,1), V_new (1,8,1,128)):</a:t>
            </a:r>
            <a:endParaRPr lang="en-US" sz="800" dirty="0"/>
          </a:p>
          <a:p>
            <a:pPr algn="l" indent="0" marL="0">
              <a:lnSpc>
                <a:spcPct val="105000"/>
              </a:lnSpc>
              <a:buNone/>
            </a:pPr>
            <a:r>
              <a:rPr lang="en-US" sz="800" dirty="0">
                <a:solidFill>
                  <a:srgbClr val="2E7D32"/>
                </a:solidFill>
                <a:latin typeface="Courier New" pitchFamily="34" charset="0"/>
                <a:ea typeface="Courier New" pitchFamily="34" charset="-122"/>
                <a:cs typeface="Courier New" pitchFamily="34" charset="-120"/>
              </a:rPr>
              <a:t>    R.func_attr({"npu.cache_append": '{"entries": [{"axis": 3, "output": 1, "parameter": "k_cache"}, ...]}', "num_input": 6})</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rms_norm6 = R.nn.rms_norm(input_embeds, layers_0_input_layernorm_weight2, axes=[-1], epsilon=1e-05)</a:t>
            </a:r>
            <a:endParaRPr lang="en-US" sz="800" dirty="0"/>
          </a:p>
          <a:p>
            <a:pPr algn="l" indent="0" marL="0">
              <a:lnSpc>
                <a:spcPct val="105000"/>
              </a:lnSpc>
              <a:buNone/>
            </a:pPr>
            <a:r>
              <a:rPr lang="en-US" sz="800" dirty="0">
                <a:solidFill>
                  <a:srgbClr val="5B6B7F"/>
                </a:solidFill>
                <a:latin typeface="Courier New" pitchFamily="34" charset="0"/>
                <a:ea typeface="Courier New" pitchFamily="34" charset="-122"/>
                <a:cs typeface="Courier New" pitchFamily="34" charset="-120"/>
              </a:rPr>
              <a:t>    permute_dims28 = R.permute_dims(layers_0_self_attn_q_proj_weight2)      # [3072,3072] Wᵀ → host로 이동 예정</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matmul20 = R.matmul(rms_norm6, permute_dims28)            # [1,3072]  Q</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reshape14 = R.reshape(matmul20, [1, 24, 128])</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mul12 = R.multiply(reshape14, cos);  split4 = R.split(reshape14, [64], axis=-1)</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concat6 = R.concat((R.negative(split4[1]), split4[0]), axis=-1)   # rotate_half</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add10 = R.add(mul12, R.multiply(concat6, sin))            # RoPE(Q)  (K도 동일)</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concat8 = R.concat((reshape12 /*k_cache [8,128,9]*/, permute_dims31 /*[8,128,1]*/), axis=2)   # [8,128,10]</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repeat4 = R.repeat(concat8, repeats=3, axis=0)            # [24,128,10]  GQA</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matmul23 = R.matmul(permute_dims33 /*[24,1,128]*/, repeat4)                 # scores [24,1,10]</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add12 = R.add(R.multiply(matmul23, R.const(0.08837890625, "float16")), mask)  # scale + mask</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softmax2 = R.nn.softmax(add12, axis=-1);  matmul24 = R.matmul(softmax2, repeat5)   # PV [24,1,128]</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matmul25 = R.matmul(reshape17, permute_dims35);  add13 = R.add(input_embeds, matmul25)   # O proj + residual</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rms_norm7 → matmul26 (gate) → silu2 → mul17 = silu2 * matmul27 (up) → matmul28 (down) → add14 = add13 + matmul28</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rms_norm8 = R.nn.rms_norm(add14, norm_weight2);  matmul29 = R.matmul(rms_norm8, permute_dims39)   # LM head [1,128256]</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gv2 = (matmul29, concat10 /*K_new*/, concat11 /*V_new*/)</a:t>
            </a:r>
            <a:endParaRPr lang="en-US" sz="800" dirty="0"/>
          </a:p>
          <a:p>
            <a:pPr algn="l" indent="0" marL="0">
              <a:lnSpc>
                <a:spcPct val="105000"/>
              </a:lnSpc>
              <a:buNone/>
            </a:pPr>
            <a:r>
              <a:rPr lang="en-US" sz="800" dirty="0">
                <a:solidFill>
                  <a:srgbClr val="2F6DB5"/>
                </a:solidFill>
                <a:latin typeface="Courier New" pitchFamily="34" charset="0"/>
                <a:ea typeface="Courier New" pitchFamily="34" charset="-122"/>
                <a:cs typeface="Courier New" pitchFamily="34" charset="-120"/>
              </a:rPr>
              <a:t>    return </a:t>
            </a:r>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gv2</a:t>
            </a:r>
            <a:endParaRPr lang="en-US" sz="800" dirty="0"/>
          </a:p>
        </p:txBody>
      </p:sp>
      <p:sp>
        <p:nvSpPr>
          <p:cNvPr id="7" name="Text 5"/>
          <p:cNvSpPr txBox="1"/>
          <p:nvPr/>
        </p:nvSpPr>
        <p:spPr>
          <a:xfrm>
            <a:off x="8229600" y="1371600"/>
            <a:ext cx="3502152" cy="4846320"/>
          </a:xfrm>
          <a:prstGeom prst="rect">
            <a:avLst/>
          </a:prstGeom>
          <a:noFill/>
          <a:ln/>
        </p:spPr>
        <p:txBody>
          <a:bodyPr wrap="square" lIns="0" tIns="0" rIns="0" bIns="0" rtlCol="0" anchor="t"/>
          <a:lstStyle/>
          <a:p>
            <a:pPr algn="l" marL="152400" indent="-152400">
              <a:spcAft>
                <a:spcPts val="6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num_input = 6: </a:t>
            </a:r>
            <a:pPr algn="l" indent="0" marL="0">
              <a:spcAft>
                <a:spcPts val="600"/>
              </a:spcAft>
              <a:buNone/>
            </a:pPr>
            <a:r>
              <a:rPr lang="en-US" sz="950" dirty="0">
                <a:solidFill>
                  <a:srgbClr val="1F2D3D"/>
                </a:solidFill>
                <a:latin typeface="Malgun Gothic" pitchFamily="34" charset="0"/>
                <a:ea typeface="Malgun Gothic" pitchFamily="34" charset="-122"/>
                <a:cs typeface="Malgun Gothic" pitchFamily="34" charset="-120"/>
              </a:rPr>
              <a:t>input_embeds, cos, sin, k_cache, v_cache, mask가 실행 입력. packed_params는 parameter.</a:t>
            </a:r>
            <a:endParaRPr lang="en-US" sz="950" dirty="0"/>
          </a:p>
          <a:p>
            <a:pPr algn="l" marL="152400" indent="-152400">
              <a:spcAft>
                <a:spcPts val="6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permute_dims(weight): </a:t>
            </a:r>
            <a:pPr algn="l" indent="0" marL="0">
              <a:spcAft>
                <a:spcPts val="600"/>
              </a:spcAft>
              <a:buNone/>
            </a:pPr>
            <a:r>
              <a:rPr lang="en-US" sz="950" dirty="0">
                <a:solidFill>
                  <a:srgbClr val="1F2D3D"/>
                </a:solidFill>
                <a:latin typeface="Malgun Gothic" pitchFamily="34" charset="0"/>
                <a:ea typeface="Malgun Gothic" pitchFamily="34" charset="-122"/>
                <a:cs typeface="Malgun Gothic" pitchFamily="34" charset="-120"/>
              </a:rPr>
              <a:t>parameter에만 의존 → 3장에서 host 함수로 분리. token마다 반복하지 않음.</a:t>
            </a:r>
            <a:endParaRPr lang="en-US" sz="950" dirty="0"/>
          </a:p>
          <a:p>
            <a:pPr algn="l" marL="152400" indent="-152400">
              <a:spcAft>
                <a:spcPts val="6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reshape/split/concat: </a:t>
            </a:r>
            <a:pPr algn="l" indent="0" marL="0">
              <a:spcAft>
                <a:spcPts val="600"/>
              </a:spcAft>
              <a:buNone/>
            </a:pPr>
            <a:r>
              <a:rPr lang="en-US" sz="950" dirty="0">
                <a:solidFill>
                  <a:srgbClr val="1F2D3D"/>
                </a:solidFill>
                <a:latin typeface="Malgun Gothic" pitchFamily="34" charset="0"/>
                <a:ea typeface="Malgun Gothic" pitchFamily="34" charset="-122"/>
                <a:cs typeface="Malgun Gothic" pitchFamily="34" charset="-120"/>
              </a:rPr>
              <a:t>일부는 view(zero-copy)로 처리되고 일부는 복사. 실제 여부는 lowering이 결정 (npu_views).</a:t>
            </a:r>
            <a:endParaRPr lang="en-US" sz="950" dirty="0"/>
          </a:p>
          <a:p>
            <a:pPr algn="l" marL="152400" indent="-152400">
              <a:spcAft>
                <a:spcPts val="6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scale 상수: </a:t>
            </a:r>
            <a:pPr algn="l" indent="0" marL="0">
              <a:spcAft>
                <a:spcPts val="600"/>
              </a:spcAft>
              <a:buNone/>
            </a:pPr>
            <a:r>
              <a:rPr lang="en-US" sz="950" dirty="0">
                <a:solidFill>
                  <a:srgbClr val="1F2D3D"/>
                </a:solidFill>
                <a:latin typeface="Malgun Gothic" pitchFamily="34" charset="0"/>
                <a:ea typeface="Malgun Gothic" pitchFamily="34" charset="-122"/>
                <a:cs typeface="Malgun Gothic" pitchFamily="34" charset="-120"/>
              </a:rPr>
              <a:t>1/√128 = 0.0884를 FP16 상수로 곱함. Gemma는 query에 scale을 접어 곱셈이 없음.</a:t>
            </a:r>
            <a:endParaRPr lang="en-US" sz="950" dirty="0"/>
          </a:p>
          <a:p>
            <a:pPr algn="l" marL="152400" indent="-152400">
              <a:spcAft>
                <a:spcPts val="6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mask [1,1,10]: </a:t>
            </a:r>
            <a:pPr algn="l" indent="0" marL="0">
              <a:spcAft>
                <a:spcPts val="600"/>
              </a:spcAft>
              <a:buNone/>
            </a:pPr>
            <a:r>
              <a:rPr lang="en-US" sz="950" dirty="0">
                <a:solidFill>
                  <a:srgbClr val="1F2D3D"/>
                </a:solidFill>
                <a:latin typeface="Malgun Gothic" pitchFamily="34" charset="0"/>
                <a:ea typeface="Malgun Gothic" pitchFamily="34" charset="-122"/>
                <a:cs typeface="Malgun Gothic" pitchFamily="34" charset="-120"/>
              </a:rPr>
              <a:t>capacity 9 + 현재 token 1. 유효 길이 밖 slot은 -65504 (FP16 floor).</a:t>
            </a:r>
            <a:endParaRPr lang="en-US" sz="950" dirty="0"/>
          </a:p>
          <a:p>
            <a:pPr algn="l" marL="152400" indent="-152400">
              <a:spcAft>
                <a:spcPts val="6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출력 tuple: </a:t>
            </a:r>
            <a:pPr algn="l" indent="0" marL="0">
              <a:spcAft>
                <a:spcPts val="600"/>
              </a:spcAft>
              <a:buNone/>
            </a:pPr>
            <a:r>
              <a:rPr lang="en-US" sz="950" dirty="0">
                <a:solidFill>
                  <a:srgbClr val="1F2D3D"/>
                </a:solidFill>
                <a:latin typeface="Malgun Gothic" pitchFamily="34" charset="0"/>
                <a:ea typeface="Malgun Gothic" pitchFamily="34" charset="-122"/>
                <a:cs typeface="Malgun Gothic" pitchFamily="34" charset="-120"/>
              </a:rPr>
              <a:t>3개 leaf. plan.outputs가 leaf별 shape/dtype/offset을 기록하고 runtime이 그 주소에서 읽음.</a:t>
            </a:r>
            <a:endParaRPr lang="en-US" sz="950" dirty="0"/>
          </a:p>
        </p:txBody>
      </p:sp>
      <p:sp>
        <p:nvSpPr>
          <p:cNvPr id="8" name="Text 6"/>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9" name="Text 7"/>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docs/examples/llama_ir/01_authored_relax.py (IR export만, checkpoint/실행 없음)</a:t>
            </a:r>
            <a:endParaRPr lang="en-US" sz="850" dirty="0"/>
          </a:p>
        </p:txBody>
      </p:sp>
      <p:sp>
        <p:nvSpPr>
          <p:cNvPr id="10" name="Text 8"/>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12 / 89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2 · 모델 → Relax</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작은 예제 ①: SiLU(X @ Wᵀ + bias) — 끝까지 따라갈 4개 연산</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X[64,128], checkpoint weight[64,128], bias[64]. 64×64 tile로 보면 X는 1×2, Wᵀ는 2×1, 출력은 1 tile입니다. bias는 broadcast와 fusion을 설명하기 위해 넣었고 실제 Llama projection에는 없습니다.</a:t>
            </a:r>
            <a:endParaRPr lang="en-US" sz="1250" dirty="0"/>
          </a:p>
        </p:txBody>
      </p:sp>
      <p:sp>
        <p:nvSpPr>
          <p:cNvPr id="5" name="Shape 3"/>
          <p:cNvSpPr/>
          <p:nvPr/>
        </p:nvSpPr>
        <p:spPr>
          <a:xfrm>
            <a:off x="457200" y="1371600"/>
            <a:ext cx="6583680" cy="1965960"/>
          </a:xfrm>
          <a:prstGeom prst="roundRect">
            <a:avLst>
              <a:gd name="adj" fmla="val 2326"/>
            </a:avLst>
          </a:prstGeom>
          <a:solidFill>
            <a:srgbClr val="F5F7FA"/>
          </a:solidFill>
          <a:ln w="9525">
            <a:solidFill>
              <a:srgbClr val="C9D3DF"/>
            </a:solidFill>
            <a:prstDash val="solid"/>
          </a:ln>
        </p:spPr>
      </p:sp>
      <p:sp>
        <p:nvSpPr>
          <p:cNvPr id="6" name="Text 4"/>
          <p:cNvSpPr txBox="1"/>
          <p:nvPr/>
        </p:nvSpPr>
        <p:spPr>
          <a:xfrm>
            <a:off x="566928" y="1444752"/>
            <a:ext cx="6364224" cy="1819656"/>
          </a:xfrm>
          <a:prstGeom prst="rect">
            <a:avLst/>
          </a:prstGeom>
          <a:noFill/>
          <a:ln/>
        </p:spPr>
        <p:txBody>
          <a:bodyPr wrap="square" lIns="0" tIns="0" rIns="0" bIns="0" rtlCol="0" anchor="t"/>
          <a:lstStyle/>
          <a:p>
            <a:pPr algn="l" indent="0" marL="0">
              <a:lnSpc>
                <a:spcPct val="105000"/>
              </a:lnSpc>
              <a:buNone/>
            </a:pPr>
            <a:r>
              <a:rPr lang="en-US" sz="850" dirty="0">
                <a:solidFill>
                  <a:srgbClr val="2F6DB5"/>
                </a:solidFill>
                <a:latin typeface="Courier New" pitchFamily="34" charset="0"/>
                <a:ea typeface="Courier New" pitchFamily="34" charset="-122"/>
                <a:cs typeface="Courier New" pitchFamily="34" charset="-120"/>
              </a:rPr>
              <a:t>@R.function</a:t>
            </a:r>
            <a:endParaRPr lang="en-US" sz="850" dirty="0"/>
          </a:p>
          <a:p>
            <a:pPr algn="l" indent="0" marL="0">
              <a:lnSpc>
                <a:spcPct val="105000"/>
              </a:lnSpc>
              <a:buNone/>
            </a:pPr>
            <a:r>
              <a:rPr lang="en-US" sz="850" dirty="0">
                <a:solidFill>
                  <a:srgbClr val="2F6DB5"/>
                </a:solidFill>
                <a:latin typeface="Courier New" pitchFamily="34" charset="0"/>
                <a:ea typeface="Courier New" pitchFamily="34" charset="-122"/>
                <a:cs typeface="Courier New" pitchFamily="34" charset="-120"/>
              </a:rPr>
              <a:t>def </a:t>
            </a:r>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prefill(x: R.Tensor((64, 128), "float16"), weight: R.Tensor((64, 128), "float16"),</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bias: R.Tensor((64,), "float16")) -&gt; R.Tensor((64, 64), "float16"):</a:t>
            </a:r>
            <a:endParaRPr lang="en-US" sz="850" dirty="0"/>
          </a:p>
          <a:p>
            <a:pPr algn="l" indent="0" marL="0">
              <a:lnSpc>
                <a:spcPct val="105000"/>
              </a:lnSpc>
              <a:buNone/>
            </a:pPr>
            <a:r>
              <a:rPr lang="en-US" sz="850" dirty="0">
                <a:solidFill>
                  <a:srgbClr val="2E7D32"/>
                </a:solidFill>
                <a:latin typeface="Courier New" pitchFamily="34" charset="0"/>
                <a:ea typeface="Courier New" pitchFamily="34" charset="-122"/>
                <a:cs typeface="Courier New" pitchFamily="34" charset="-120"/>
              </a:rPr>
              <a:t>    R.func_attr({"num_input": 1})      # x만 실행 입력</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R.dataflow():</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lv:  (128, 64) = R.permute_dims(weight, axes=[1, 0])   # B = Wᵀ</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lv1: (64, 64)  = R.matmul(x, lv, out_dtype="void")     # P = X @ B</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lv2: (64, 64)  = R.add(lv1, bias)                      # A = P + bias (행마다 broadcast)</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gv:  (64, 64)  = R.nn.silu(lv2)                        # Y = SiLU(A)</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R.output(gv)</a:t>
            </a:r>
            <a:endParaRPr lang="en-US" sz="850" dirty="0"/>
          </a:p>
        </p:txBody>
      </p:sp>
      <p:sp>
        <p:nvSpPr>
          <p:cNvPr id="7" name="Shape 5"/>
          <p:cNvSpPr/>
          <p:nvPr/>
        </p:nvSpPr>
        <p:spPr>
          <a:xfrm>
            <a:off x="457200" y="3931920"/>
            <a:ext cx="1463040" cy="731520"/>
          </a:xfrm>
          <a:prstGeom prst="rect">
            <a:avLst/>
          </a:prstGeom>
          <a:solidFill>
            <a:srgbClr val="EEF1F5"/>
          </a:solidFill>
          <a:ln w="12700">
            <a:solidFill>
              <a:srgbClr val="5B6B7F"/>
            </a:solidFill>
            <a:prstDash val="solid"/>
          </a:ln>
        </p:spPr>
      </p:sp>
      <p:sp>
        <p:nvSpPr>
          <p:cNvPr id="8" name="Shape 6"/>
          <p:cNvSpPr/>
          <p:nvPr/>
        </p:nvSpPr>
        <p:spPr>
          <a:xfrm>
            <a:off x="457200" y="3931920"/>
            <a:ext cx="731520" cy="731520"/>
          </a:xfrm>
          <a:prstGeom prst="rect">
            <a:avLst/>
          </a:prstGeom>
          <a:solidFill>
            <a:srgbClr val="DDF3F0"/>
          </a:solidFill>
          <a:ln w="15875">
            <a:solidFill>
              <a:srgbClr val="1F8A8A"/>
            </a:solidFill>
            <a:prstDash val="solid"/>
          </a:ln>
        </p:spPr>
      </p:sp>
      <p:sp>
        <p:nvSpPr>
          <p:cNvPr id="9" name="Shape 7"/>
          <p:cNvSpPr/>
          <p:nvPr/>
        </p:nvSpPr>
        <p:spPr>
          <a:xfrm>
            <a:off x="1188720" y="3931920"/>
            <a:ext cx="731520" cy="731520"/>
          </a:xfrm>
          <a:prstGeom prst="rect">
            <a:avLst/>
          </a:prstGeom>
          <a:solidFill>
            <a:srgbClr val="E3EEFB"/>
          </a:solidFill>
          <a:ln w="15875">
            <a:solidFill>
              <a:srgbClr val="2F6DB5"/>
            </a:solidFill>
            <a:prstDash val="solid"/>
          </a:ln>
        </p:spPr>
      </p:sp>
      <p:sp>
        <p:nvSpPr>
          <p:cNvPr id="10" name="Shape 8"/>
          <p:cNvSpPr/>
          <p:nvPr/>
        </p:nvSpPr>
        <p:spPr>
          <a:xfrm>
            <a:off x="1188720" y="3931920"/>
            <a:ext cx="914" cy="731520"/>
          </a:xfrm>
          <a:prstGeom prst="line">
            <a:avLst/>
          </a:prstGeom>
          <a:noFill/>
          <a:ln w="12700">
            <a:solidFill>
              <a:srgbClr val="5B6B7F"/>
            </a:solidFill>
            <a:prstDash val="solid"/>
          </a:ln>
        </p:spPr>
      </p:sp>
      <p:sp>
        <p:nvSpPr>
          <p:cNvPr id="11" name="Text 9"/>
          <p:cNvSpPr txBox="1"/>
          <p:nvPr/>
        </p:nvSpPr>
        <p:spPr>
          <a:xfrm>
            <a:off x="457200" y="3931920"/>
            <a:ext cx="731520" cy="7315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X₀ (k 0..63)</a:t>
            </a:r>
            <a:endParaRPr lang="en-US" sz="800" dirty="0"/>
          </a:p>
        </p:txBody>
      </p:sp>
      <p:sp>
        <p:nvSpPr>
          <p:cNvPr id="12" name="Text 10"/>
          <p:cNvSpPr txBox="1"/>
          <p:nvPr/>
        </p:nvSpPr>
        <p:spPr>
          <a:xfrm>
            <a:off x="1188720" y="3931920"/>
            <a:ext cx="731520" cy="7315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X₁ (k 64..127)</a:t>
            </a:r>
            <a:endParaRPr lang="en-US" sz="800" dirty="0"/>
          </a:p>
        </p:txBody>
      </p:sp>
      <p:sp>
        <p:nvSpPr>
          <p:cNvPr id="13" name="Text 11"/>
          <p:cNvSpPr txBox="1"/>
          <p:nvPr/>
        </p:nvSpPr>
        <p:spPr>
          <a:xfrm>
            <a:off x="457200" y="3703320"/>
            <a:ext cx="146304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X [64,128] = 1×2 tiles</a:t>
            </a:r>
            <a:endParaRPr lang="en-US" sz="850" dirty="0"/>
          </a:p>
        </p:txBody>
      </p:sp>
      <p:sp>
        <p:nvSpPr>
          <p:cNvPr id="14" name="Text 12"/>
          <p:cNvSpPr txBox="1"/>
          <p:nvPr/>
        </p:nvSpPr>
        <p:spPr>
          <a:xfrm>
            <a:off x="457200" y="4700016"/>
            <a:ext cx="146304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실행 입력 (token마다)</a:t>
            </a:r>
            <a:endParaRPr lang="en-US" sz="750" dirty="0"/>
          </a:p>
        </p:txBody>
      </p:sp>
      <p:sp>
        <p:nvSpPr>
          <p:cNvPr id="15" name="Text 13"/>
          <p:cNvSpPr txBox="1"/>
          <p:nvPr/>
        </p:nvSpPr>
        <p:spPr>
          <a:xfrm>
            <a:off x="1965960" y="4114800"/>
            <a:ext cx="274320" cy="365760"/>
          </a:xfrm>
          <a:prstGeom prst="rect">
            <a:avLst/>
          </a:prstGeom>
          <a:noFill/>
          <a:ln/>
        </p:spPr>
        <p:txBody>
          <a:bodyPr wrap="square" lIns="0" tIns="0" rIns="0" bIns="0" rtlCol="0" anchor="t"/>
          <a:lstStyle/>
          <a:p>
            <a:pPr algn="ctr" indent="0" marL="0">
              <a:buNone/>
            </a:pPr>
            <a:r>
              <a:rPr lang="en-US" sz="1600" b="1" dirty="0">
                <a:solidFill>
                  <a:srgbClr val="15243B"/>
                </a:solidFill>
                <a:latin typeface="Malgun Gothic" pitchFamily="34" charset="0"/>
                <a:ea typeface="Malgun Gothic" pitchFamily="34" charset="-122"/>
                <a:cs typeface="Malgun Gothic" pitchFamily="34" charset="-120"/>
              </a:rPr>
              <a:t>@</a:t>
            </a:r>
            <a:endParaRPr lang="en-US" sz="1600" dirty="0"/>
          </a:p>
        </p:txBody>
      </p:sp>
      <p:sp>
        <p:nvSpPr>
          <p:cNvPr id="16" name="Shape 14"/>
          <p:cNvSpPr/>
          <p:nvPr/>
        </p:nvSpPr>
        <p:spPr>
          <a:xfrm>
            <a:off x="2286000" y="3566160"/>
            <a:ext cx="731520" cy="1463040"/>
          </a:xfrm>
          <a:prstGeom prst="rect">
            <a:avLst/>
          </a:prstGeom>
          <a:solidFill>
            <a:srgbClr val="FFF1DC"/>
          </a:solidFill>
          <a:ln w="12700">
            <a:solidFill>
              <a:srgbClr val="D98A1E"/>
            </a:solidFill>
            <a:prstDash val="solid"/>
          </a:ln>
        </p:spPr>
      </p:sp>
      <p:sp>
        <p:nvSpPr>
          <p:cNvPr id="17" name="Shape 15"/>
          <p:cNvSpPr/>
          <p:nvPr/>
        </p:nvSpPr>
        <p:spPr>
          <a:xfrm>
            <a:off x="2286000" y="3566160"/>
            <a:ext cx="731520" cy="731520"/>
          </a:xfrm>
          <a:prstGeom prst="rect">
            <a:avLst/>
          </a:prstGeom>
          <a:solidFill>
            <a:srgbClr val="DDF3F0"/>
          </a:solidFill>
          <a:ln w="15875">
            <a:solidFill>
              <a:srgbClr val="1F8A8A"/>
            </a:solidFill>
            <a:prstDash val="solid"/>
          </a:ln>
        </p:spPr>
      </p:sp>
      <p:sp>
        <p:nvSpPr>
          <p:cNvPr id="18" name="Shape 16"/>
          <p:cNvSpPr/>
          <p:nvPr/>
        </p:nvSpPr>
        <p:spPr>
          <a:xfrm>
            <a:off x="2286000" y="4297680"/>
            <a:ext cx="731520" cy="731520"/>
          </a:xfrm>
          <a:prstGeom prst="rect">
            <a:avLst/>
          </a:prstGeom>
          <a:solidFill>
            <a:srgbClr val="E3EEFB"/>
          </a:solidFill>
          <a:ln w="15875">
            <a:solidFill>
              <a:srgbClr val="2F6DB5"/>
            </a:solidFill>
            <a:prstDash val="solid"/>
          </a:ln>
        </p:spPr>
      </p:sp>
      <p:sp>
        <p:nvSpPr>
          <p:cNvPr id="19" name="Shape 17"/>
          <p:cNvSpPr/>
          <p:nvPr/>
        </p:nvSpPr>
        <p:spPr>
          <a:xfrm>
            <a:off x="2286000" y="4297680"/>
            <a:ext cx="731520" cy="914"/>
          </a:xfrm>
          <a:prstGeom prst="line">
            <a:avLst/>
          </a:prstGeom>
          <a:noFill/>
          <a:ln w="12700">
            <a:solidFill>
              <a:srgbClr val="D98A1E"/>
            </a:solidFill>
            <a:prstDash val="solid"/>
          </a:ln>
        </p:spPr>
      </p:sp>
      <p:sp>
        <p:nvSpPr>
          <p:cNvPr id="20" name="Text 18"/>
          <p:cNvSpPr txBox="1"/>
          <p:nvPr/>
        </p:nvSpPr>
        <p:spPr>
          <a:xfrm>
            <a:off x="2286000" y="3566160"/>
            <a:ext cx="731520" cy="7315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B₀</a:t>
            </a:r>
            <a:endParaRPr lang="en-US" sz="800" dirty="0"/>
          </a:p>
        </p:txBody>
      </p:sp>
      <p:sp>
        <p:nvSpPr>
          <p:cNvPr id="21" name="Text 19"/>
          <p:cNvSpPr txBox="1"/>
          <p:nvPr/>
        </p:nvSpPr>
        <p:spPr>
          <a:xfrm>
            <a:off x="2286000" y="4297680"/>
            <a:ext cx="731520" cy="7315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B₁</a:t>
            </a:r>
            <a:endParaRPr lang="en-US" sz="800" dirty="0"/>
          </a:p>
        </p:txBody>
      </p:sp>
      <p:sp>
        <p:nvSpPr>
          <p:cNvPr id="22" name="Text 20"/>
          <p:cNvSpPr txBox="1"/>
          <p:nvPr/>
        </p:nvSpPr>
        <p:spPr>
          <a:xfrm>
            <a:off x="2286000" y="3337560"/>
            <a:ext cx="1280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Wᵀ [128,64]</a:t>
            </a:r>
            <a:endParaRPr lang="en-US" sz="850" dirty="0"/>
          </a:p>
        </p:txBody>
      </p:sp>
      <p:sp>
        <p:nvSpPr>
          <p:cNvPr id="23" name="Text 21"/>
          <p:cNvSpPr txBox="1"/>
          <p:nvPr/>
        </p:nvSpPr>
        <p:spPr>
          <a:xfrm>
            <a:off x="2286000" y="5065776"/>
            <a:ext cx="128016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host transpose</a:t>
            </a:r>
            <a:endParaRPr lang="en-US" sz="750" dirty="0"/>
          </a:p>
          <a:p>
            <a:pPr algn="l" indent="0" marL="0">
              <a:buNone/>
            </a:pPr>
            <a:r>
              <a:rPr lang="en-US" sz="750" dirty="0">
                <a:solidFill>
                  <a:srgbClr val="5B6B7F"/>
                </a:solidFill>
                <a:latin typeface="Malgun Gothic" pitchFamily="34" charset="0"/>
                <a:ea typeface="Malgun Gothic" pitchFamily="34" charset="-122"/>
                <a:cs typeface="Malgun Gothic" pitchFamily="34" charset="-120"/>
              </a:rPr>
              <a:t>(parameter)</a:t>
            </a:r>
            <a:endParaRPr lang="en-US" sz="750" dirty="0"/>
          </a:p>
        </p:txBody>
      </p:sp>
      <p:sp>
        <p:nvSpPr>
          <p:cNvPr id="24" name="Text 22"/>
          <p:cNvSpPr txBox="1"/>
          <p:nvPr/>
        </p:nvSpPr>
        <p:spPr>
          <a:xfrm>
            <a:off x="3063240" y="4114800"/>
            <a:ext cx="274320" cy="365760"/>
          </a:xfrm>
          <a:prstGeom prst="rect">
            <a:avLst/>
          </a:prstGeom>
          <a:noFill/>
          <a:ln/>
        </p:spPr>
        <p:txBody>
          <a:bodyPr wrap="square" lIns="0" tIns="0" rIns="0" bIns="0" rtlCol="0" anchor="t"/>
          <a:lstStyle/>
          <a:p>
            <a:pPr algn="ctr" indent="0" marL="0">
              <a:buNone/>
            </a:pPr>
            <a:r>
              <a:rPr lang="en-US" sz="1600" b="1" dirty="0">
                <a:solidFill>
                  <a:srgbClr val="15243B"/>
                </a:solidFill>
                <a:latin typeface="Malgun Gothic" pitchFamily="34" charset="0"/>
                <a:ea typeface="Malgun Gothic" pitchFamily="34" charset="-122"/>
                <a:cs typeface="Malgun Gothic" pitchFamily="34" charset="-120"/>
              </a:rPr>
              <a:t>=</a:t>
            </a:r>
            <a:endParaRPr lang="en-US" sz="1600" dirty="0"/>
          </a:p>
        </p:txBody>
      </p:sp>
      <p:sp>
        <p:nvSpPr>
          <p:cNvPr id="25" name="Shape 23"/>
          <p:cNvSpPr/>
          <p:nvPr/>
        </p:nvSpPr>
        <p:spPr>
          <a:xfrm>
            <a:off x="3383280" y="3931920"/>
            <a:ext cx="731520" cy="731520"/>
          </a:xfrm>
          <a:prstGeom prst="rect">
            <a:avLst/>
          </a:prstGeom>
          <a:solidFill>
            <a:srgbClr val="ECE6FA"/>
          </a:solidFill>
          <a:ln w="12700">
            <a:solidFill>
              <a:srgbClr val="6C4FBF"/>
            </a:solidFill>
            <a:prstDash val="solid"/>
          </a:ln>
        </p:spPr>
      </p:sp>
      <p:sp>
        <p:nvSpPr>
          <p:cNvPr id="26" name="Shape 24"/>
          <p:cNvSpPr/>
          <p:nvPr/>
        </p:nvSpPr>
        <p:spPr>
          <a:xfrm>
            <a:off x="3383280" y="3931920"/>
            <a:ext cx="731520" cy="731520"/>
          </a:xfrm>
          <a:prstGeom prst="rect">
            <a:avLst/>
          </a:prstGeom>
          <a:solidFill>
            <a:srgbClr val="ECE6FA"/>
          </a:solidFill>
          <a:ln w="15875">
            <a:solidFill>
              <a:srgbClr val="6C4FBF"/>
            </a:solidFill>
            <a:prstDash val="solid"/>
          </a:ln>
        </p:spPr>
      </p:sp>
      <p:sp>
        <p:nvSpPr>
          <p:cNvPr id="27" name="Text 25"/>
          <p:cNvSpPr txBox="1"/>
          <p:nvPr/>
        </p:nvSpPr>
        <p:spPr>
          <a:xfrm>
            <a:off x="3383280" y="3931920"/>
            <a:ext cx="731520" cy="73152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X₀B₀</a:t>
            </a:r>
            <a:endParaRPr lang="en-US" sz="750" dirty="0"/>
          </a:p>
          <a:p>
            <a:pPr algn="ctr" indent="0" marL="0">
              <a:buNone/>
            </a:pPr>
            <a:r>
              <a:rPr lang="en-US" sz="750" b="1" dirty="0">
                <a:solidFill>
                  <a:srgbClr val="1F2D3D"/>
                </a:solidFill>
                <a:latin typeface="Malgun Gothic" pitchFamily="34" charset="0"/>
                <a:ea typeface="Malgun Gothic" pitchFamily="34" charset="-122"/>
                <a:cs typeface="Malgun Gothic" pitchFamily="34" charset="-120"/>
              </a:rPr>
              <a:t>+X₁B₁</a:t>
            </a:r>
            <a:endParaRPr lang="en-US" sz="750" dirty="0"/>
          </a:p>
        </p:txBody>
      </p:sp>
      <p:sp>
        <p:nvSpPr>
          <p:cNvPr id="28" name="Text 26"/>
          <p:cNvSpPr txBox="1"/>
          <p:nvPr/>
        </p:nvSpPr>
        <p:spPr>
          <a:xfrm>
            <a:off x="3383280" y="3703320"/>
            <a:ext cx="1280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P [64,64]</a:t>
            </a:r>
            <a:endParaRPr lang="en-US" sz="850" dirty="0"/>
          </a:p>
        </p:txBody>
      </p:sp>
      <p:sp>
        <p:nvSpPr>
          <p:cNvPr id="29" name="Text 27"/>
          <p:cNvSpPr txBox="1"/>
          <p:nvPr/>
        </p:nvSpPr>
        <p:spPr>
          <a:xfrm>
            <a:off x="3383280" y="4700016"/>
            <a:ext cx="128016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K=128: 2 M_MUL</a:t>
            </a:r>
            <a:endParaRPr lang="en-US" sz="750" dirty="0"/>
          </a:p>
          <a:p>
            <a:pPr algn="l" indent="0" marL="0">
              <a:buNone/>
            </a:pPr>
            <a:r>
              <a:rPr lang="en-US" sz="750" dirty="0">
                <a:solidFill>
                  <a:srgbClr val="5B6B7F"/>
                </a:solidFill>
                <a:latin typeface="Malgun Gothic" pitchFamily="34" charset="0"/>
                <a:ea typeface="Malgun Gothic" pitchFamily="34" charset="-122"/>
                <a:cs typeface="Malgun Gothic" pitchFamily="34" charset="-120"/>
              </a:rPr>
              <a:t>(MAC 0, 1) → FP16</a:t>
            </a:r>
            <a:endParaRPr lang="en-US" sz="750" dirty="0"/>
          </a:p>
        </p:txBody>
      </p:sp>
      <p:sp>
        <p:nvSpPr>
          <p:cNvPr id="30" name="Shape 28"/>
          <p:cNvSpPr/>
          <p:nvPr/>
        </p:nvSpPr>
        <p:spPr>
          <a:xfrm>
            <a:off x="4160520" y="4297680"/>
            <a:ext cx="365760" cy="914"/>
          </a:xfrm>
          <a:prstGeom prst="line">
            <a:avLst/>
          </a:prstGeom>
          <a:noFill/>
          <a:ln w="19050">
            <a:solidFill>
              <a:srgbClr val="5B6B7F"/>
            </a:solidFill>
            <a:prstDash val="solid"/>
            <a:tailEnd type="triangle"/>
          </a:ln>
        </p:spPr>
      </p:sp>
      <p:sp>
        <p:nvSpPr>
          <p:cNvPr id="31" name="Text 29"/>
          <p:cNvSpPr txBox="1"/>
          <p:nvPr/>
        </p:nvSpPr>
        <p:spPr>
          <a:xfrm>
            <a:off x="4160520" y="4005072"/>
            <a:ext cx="457200" cy="182880"/>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 bias</a:t>
            </a:r>
            <a:endParaRPr lang="en-US" sz="750" dirty="0"/>
          </a:p>
        </p:txBody>
      </p:sp>
      <p:sp>
        <p:nvSpPr>
          <p:cNvPr id="32" name="Shape 30"/>
          <p:cNvSpPr/>
          <p:nvPr/>
        </p:nvSpPr>
        <p:spPr>
          <a:xfrm>
            <a:off x="4343400" y="3429000"/>
            <a:ext cx="137160" cy="201168"/>
          </a:xfrm>
          <a:prstGeom prst="rect">
            <a:avLst/>
          </a:prstGeom>
          <a:solidFill>
            <a:srgbClr val="FFF1DC"/>
          </a:solidFill>
          <a:ln w="6350">
            <a:solidFill>
              <a:srgbClr val="D98A1E"/>
            </a:solidFill>
            <a:prstDash val="solid"/>
          </a:ln>
        </p:spPr>
      </p:sp>
      <p:sp>
        <p:nvSpPr>
          <p:cNvPr id="33" name="Text 31"/>
          <p:cNvSpPr txBox="1"/>
          <p:nvPr/>
        </p:nvSpPr>
        <p:spPr>
          <a:xfrm>
            <a:off x="4343400" y="3429000"/>
            <a:ext cx="137160" cy="20116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b0</a:t>
            </a:r>
            <a:endParaRPr lang="en-US" sz="650" dirty="0"/>
          </a:p>
        </p:txBody>
      </p:sp>
      <p:sp>
        <p:nvSpPr>
          <p:cNvPr id="34" name="Shape 32"/>
          <p:cNvSpPr/>
          <p:nvPr/>
        </p:nvSpPr>
        <p:spPr>
          <a:xfrm>
            <a:off x="4480560" y="3429000"/>
            <a:ext cx="137160" cy="201168"/>
          </a:xfrm>
          <a:prstGeom prst="rect">
            <a:avLst/>
          </a:prstGeom>
          <a:solidFill>
            <a:srgbClr val="FFF1DC"/>
          </a:solidFill>
          <a:ln w="6350">
            <a:solidFill>
              <a:srgbClr val="D98A1E"/>
            </a:solidFill>
            <a:prstDash val="solid"/>
          </a:ln>
        </p:spPr>
      </p:sp>
      <p:sp>
        <p:nvSpPr>
          <p:cNvPr id="35" name="Text 33"/>
          <p:cNvSpPr txBox="1"/>
          <p:nvPr/>
        </p:nvSpPr>
        <p:spPr>
          <a:xfrm>
            <a:off x="4480560" y="3429000"/>
            <a:ext cx="137160" cy="20116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b1</a:t>
            </a:r>
            <a:endParaRPr lang="en-US" sz="650" dirty="0"/>
          </a:p>
        </p:txBody>
      </p:sp>
      <p:sp>
        <p:nvSpPr>
          <p:cNvPr id="36" name="Shape 34"/>
          <p:cNvSpPr/>
          <p:nvPr/>
        </p:nvSpPr>
        <p:spPr>
          <a:xfrm>
            <a:off x="4617720" y="3429000"/>
            <a:ext cx="137160" cy="201168"/>
          </a:xfrm>
          <a:prstGeom prst="rect">
            <a:avLst/>
          </a:prstGeom>
          <a:solidFill>
            <a:srgbClr val="FFF1DC"/>
          </a:solidFill>
          <a:ln w="6350">
            <a:solidFill>
              <a:srgbClr val="D98A1E"/>
            </a:solidFill>
            <a:prstDash val="solid"/>
          </a:ln>
        </p:spPr>
      </p:sp>
      <p:sp>
        <p:nvSpPr>
          <p:cNvPr id="37" name="Text 35"/>
          <p:cNvSpPr txBox="1"/>
          <p:nvPr/>
        </p:nvSpPr>
        <p:spPr>
          <a:xfrm>
            <a:off x="4617720" y="3429000"/>
            <a:ext cx="137160" cy="20116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b2</a:t>
            </a:r>
            <a:endParaRPr lang="en-US" sz="650" dirty="0"/>
          </a:p>
        </p:txBody>
      </p:sp>
      <p:sp>
        <p:nvSpPr>
          <p:cNvPr id="38" name="Shape 36"/>
          <p:cNvSpPr/>
          <p:nvPr/>
        </p:nvSpPr>
        <p:spPr>
          <a:xfrm>
            <a:off x="4754880" y="3429000"/>
            <a:ext cx="137160" cy="201168"/>
          </a:xfrm>
          <a:prstGeom prst="rect">
            <a:avLst/>
          </a:prstGeom>
          <a:solidFill>
            <a:srgbClr val="FFF1DC"/>
          </a:solidFill>
          <a:ln w="6350">
            <a:solidFill>
              <a:srgbClr val="D98A1E"/>
            </a:solidFill>
            <a:prstDash val="solid"/>
          </a:ln>
        </p:spPr>
      </p:sp>
      <p:sp>
        <p:nvSpPr>
          <p:cNvPr id="39" name="Text 37"/>
          <p:cNvSpPr txBox="1"/>
          <p:nvPr/>
        </p:nvSpPr>
        <p:spPr>
          <a:xfrm>
            <a:off x="4754880" y="3429000"/>
            <a:ext cx="137160" cy="20116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b3</a:t>
            </a:r>
            <a:endParaRPr lang="en-US" sz="650" dirty="0"/>
          </a:p>
        </p:txBody>
      </p:sp>
      <p:sp>
        <p:nvSpPr>
          <p:cNvPr id="40" name="Shape 38"/>
          <p:cNvSpPr/>
          <p:nvPr/>
        </p:nvSpPr>
        <p:spPr>
          <a:xfrm>
            <a:off x="4892040" y="3429000"/>
            <a:ext cx="137160" cy="201168"/>
          </a:xfrm>
          <a:prstGeom prst="rect">
            <a:avLst/>
          </a:prstGeom>
          <a:solidFill>
            <a:srgbClr val="FFF1DC"/>
          </a:solidFill>
          <a:ln w="6350">
            <a:solidFill>
              <a:srgbClr val="D98A1E"/>
            </a:solidFill>
            <a:prstDash val="solid"/>
          </a:ln>
        </p:spPr>
      </p:sp>
      <p:sp>
        <p:nvSpPr>
          <p:cNvPr id="41" name="Text 39"/>
          <p:cNvSpPr txBox="1"/>
          <p:nvPr/>
        </p:nvSpPr>
        <p:spPr>
          <a:xfrm>
            <a:off x="4892040" y="3429000"/>
            <a:ext cx="137160" cy="20116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b4</a:t>
            </a:r>
            <a:endParaRPr lang="en-US" sz="650" dirty="0"/>
          </a:p>
        </p:txBody>
      </p:sp>
      <p:sp>
        <p:nvSpPr>
          <p:cNvPr id="42" name="Shape 40"/>
          <p:cNvSpPr/>
          <p:nvPr/>
        </p:nvSpPr>
        <p:spPr>
          <a:xfrm>
            <a:off x="5029200" y="3429000"/>
            <a:ext cx="137160" cy="201168"/>
          </a:xfrm>
          <a:prstGeom prst="rect">
            <a:avLst/>
          </a:prstGeom>
          <a:solidFill>
            <a:srgbClr val="FFF1DC"/>
          </a:solidFill>
          <a:ln w="6350">
            <a:solidFill>
              <a:srgbClr val="D98A1E"/>
            </a:solidFill>
            <a:prstDash val="solid"/>
          </a:ln>
        </p:spPr>
      </p:sp>
      <p:sp>
        <p:nvSpPr>
          <p:cNvPr id="43" name="Text 41"/>
          <p:cNvSpPr txBox="1"/>
          <p:nvPr/>
        </p:nvSpPr>
        <p:spPr>
          <a:xfrm>
            <a:off x="5029200" y="3429000"/>
            <a:ext cx="137160" cy="20116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b5</a:t>
            </a:r>
            <a:endParaRPr lang="en-US" sz="650" dirty="0"/>
          </a:p>
        </p:txBody>
      </p:sp>
      <p:sp>
        <p:nvSpPr>
          <p:cNvPr id="44" name="Shape 42"/>
          <p:cNvSpPr/>
          <p:nvPr/>
        </p:nvSpPr>
        <p:spPr>
          <a:xfrm>
            <a:off x="5166360" y="3429000"/>
            <a:ext cx="137160" cy="201168"/>
          </a:xfrm>
          <a:prstGeom prst="rect">
            <a:avLst/>
          </a:prstGeom>
          <a:solidFill>
            <a:srgbClr val="FFF1DC"/>
          </a:solidFill>
          <a:ln w="6350">
            <a:solidFill>
              <a:srgbClr val="D98A1E"/>
            </a:solidFill>
            <a:prstDash val="solid"/>
          </a:ln>
        </p:spPr>
      </p:sp>
      <p:sp>
        <p:nvSpPr>
          <p:cNvPr id="45" name="Text 43"/>
          <p:cNvSpPr txBox="1"/>
          <p:nvPr/>
        </p:nvSpPr>
        <p:spPr>
          <a:xfrm>
            <a:off x="5166360" y="3429000"/>
            <a:ext cx="137160" cy="20116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b6</a:t>
            </a:r>
            <a:endParaRPr lang="en-US" sz="650" dirty="0"/>
          </a:p>
        </p:txBody>
      </p:sp>
      <p:sp>
        <p:nvSpPr>
          <p:cNvPr id="46" name="Shape 44"/>
          <p:cNvSpPr/>
          <p:nvPr/>
        </p:nvSpPr>
        <p:spPr>
          <a:xfrm>
            <a:off x="5303520" y="3429000"/>
            <a:ext cx="137160" cy="201168"/>
          </a:xfrm>
          <a:prstGeom prst="rect">
            <a:avLst/>
          </a:prstGeom>
          <a:solidFill>
            <a:srgbClr val="FFF1DC"/>
          </a:solidFill>
          <a:ln w="6350">
            <a:solidFill>
              <a:srgbClr val="D98A1E"/>
            </a:solidFill>
            <a:prstDash val="solid"/>
          </a:ln>
        </p:spPr>
      </p:sp>
      <p:sp>
        <p:nvSpPr>
          <p:cNvPr id="47" name="Text 45"/>
          <p:cNvSpPr txBox="1"/>
          <p:nvPr/>
        </p:nvSpPr>
        <p:spPr>
          <a:xfrm>
            <a:off x="5303520" y="3429000"/>
            <a:ext cx="137160" cy="20116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…b63</a:t>
            </a:r>
            <a:endParaRPr lang="en-US" sz="650" dirty="0"/>
          </a:p>
        </p:txBody>
      </p:sp>
      <p:sp>
        <p:nvSpPr>
          <p:cNvPr id="48" name="Text 46"/>
          <p:cNvSpPr txBox="1"/>
          <p:nvPr/>
        </p:nvSpPr>
        <p:spPr>
          <a:xfrm>
            <a:off x="4343400" y="3200400"/>
            <a:ext cx="146304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bias [64]</a:t>
            </a:r>
            <a:endParaRPr lang="en-US" sz="850" dirty="0"/>
          </a:p>
        </p:txBody>
      </p:sp>
      <p:sp>
        <p:nvSpPr>
          <p:cNvPr id="49" name="Shape 47"/>
          <p:cNvSpPr/>
          <p:nvPr/>
        </p:nvSpPr>
        <p:spPr>
          <a:xfrm>
            <a:off x="4480560" y="3630168"/>
            <a:ext cx="914" cy="320040"/>
          </a:xfrm>
          <a:prstGeom prst="line">
            <a:avLst/>
          </a:prstGeom>
          <a:noFill/>
          <a:ln w="9525">
            <a:solidFill>
              <a:srgbClr val="D98A1E"/>
            </a:solidFill>
            <a:prstDash val="solid"/>
            <a:tailEnd type="triangle"/>
          </a:ln>
        </p:spPr>
      </p:sp>
      <p:sp>
        <p:nvSpPr>
          <p:cNvPr id="50" name="Shape 48"/>
          <p:cNvSpPr/>
          <p:nvPr/>
        </p:nvSpPr>
        <p:spPr>
          <a:xfrm>
            <a:off x="4892040" y="3630168"/>
            <a:ext cx="914" cy="320040"/>
          </a:xfrm>
          <a:prstGeom prst="line">
            <a:avLst/>
          </a:prstGeom>
          <a:noFill/>
          <a:ln w="9525">
            <a:solidFill>
              <a:srgbClr val="D98A1E"/>
            </a:solidFill>
            <a:prstDash val="solid"/>
            <a:tailEnd type="triangle"/>
          </a:ln>
        </p:spPr>
      </p:sp>
      <p:sp>
        <p:nvSpPr>
          <p:cNvPr id="51" name="Shape 49"/>
          <p:cNvSpPr/>
          <p:nvPr/>
        </p:nvSpPr>
        <p:spPr>
          <a:xfrm>
            <a:off x="5303520" y="3630168"/>
            <a:ext cx="914" cy="320040"/>
          </a:xfrm>
          <a:prstGeom prst="line">
            <a:avLst/>
          </a:prstGeom>
          <a:noFill/>
          <a:ln w="9525">
            <a:solidFill>
              <a:srgbClr val="D98A1E"/>
            </a:solidFill>
            <a:prstDash val="solid"/>
            <a:tailEnd type="triangle"/>
          </a:ln>
        </p:spPr>
      </p:sp>
      <p:sp>
        <p:nvSpPr>
          <p:cNvPr id="52" name="Shape 50"/>
          <p:cNvSpPr/>
          <p:nvPr/>
        </p:nvSpPr>
        <p:spPr>
          <a:xfrm>
            <a:off x="4343400" y="3931920"/>
            <a:ext cx="731520" cy="731520"/>
          </a:xfrm>
          <a:prstGeom prst="rect">
            <a:avLst/>
          </a:prstGeom>
          <a:solidFill>
            <a:srgbClr val="E3EEFB"/>
          </a:solidFill>
          <a:ln w="12700">
            <a:solidFill>
              <a:srgbClr val="2F6DB5"/>
            </a:solidFill>
            <a:prstDash val="solid"/>
          </a:ln>
        </p:spPr>
      </p:sp>
      <p:sp>
        <p:nvSpPr>
          <p:cNvPr id="53" name="Shape 51"/>
          <p:cNvSpPr/>
          <p:nvPr/>
        </p:nvSpPr>
        <p:spPr>
          <a:xfrm>
            <a:off x="4343400" y="3931920"/>
            <a:ext cx="731520" cy="731520"/>
          </a:xfrm>
          <a:prstGeom prst="rect">
            <a:avLst/>
          </a:prstGeom>
          <a:solidFill>
            <a:srgbClr val="E3EEFB"/>
          </a:solidFill>
          <a:ln w="15875">
            <a:solidFill>
              <a:srgbClr val="2F6DB5"/>
            </a:solidFill>
            <a:prstDash val="solid"/>
          </a:ln>
        </p:spPr>
      </p:sp>
      <p:sp>
        <p:nvSpPr>
          <p:cNvPr id="54" name="Text 52"/>
          <p:cNvSpPr txBox="1"/>
          <p:nvPr/>
        </p:nvSpPr>
        <p:spPr>
          <a:xfrm>
            <a:off x="4343400" y="3931920"/>
            <a:ext cx="731520" cy="73152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A = P + b</a:t>
            </a:r>
            <a:endParaRPr lang="en-US" sz="750" dirty="0"/>
          </a:p>
        </p:txBody>
      </p:sp>
      <p:sp>
        <p:nvSpPr>
          <p:cNvPr id="55" name="Text 53"/>
          <p:cNvSpPr txBox="1"/>
          <p:nvPr/>
        </p:nvSpPr>
        <p:spPr>
          <a:xfrm>
            <a:off x="4343400" y="4700016"/>
            <a:ext cx="128016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모든 행에 같은</a:t>
            </a:r>
            <a:endParaRPr lang="en-US" sz="750" dirty="0"/>
          </a:p>
          <a:p>
            <a:pPr algn="l" indent="0" marL="0">
              <a:buNone/>
            </a:pPr>
            <a:r>
              <a:rPr lang="en-US" sz="750" dirty="0">
                <a:solidFill>
                  <a:srgbClr val="5B6B7F"/>
                </a:solidFill>
                <a:latin typeface="Malgun Gothic" pitchFamily="34" charset="0"/>
                <a:ea typeface="Malgun Gothic" pitchFamily="34" charset="-122"/>
                <a:cs typeface="Malgun Gothic" pitchFamily="34" charset="-120"/>
              </a:rPr>
              <a:t>64개 값 (broadcast)</a:t>
            </a:r>
            <a:endParaRPr lang="en-US" sz="750" dirty="0"/>
          </a:p>
        </p:txBody>
      </p:sp>
      <p:sp>
        <p:nvSpPr>
          <p:cNvPr id="56" name="Shape 54"/>
          <p:cNvSpPr/>
          <p:nvPr/>
        </p:nvSpPr>
        <p:spPr>
          <a:xfrm>
            <a:off x="5120640" y="4297680"/>
            <a:ext cx="457200" cy="914"/>
          </a:xfrm>
          <a:prstGeom prst="line">
            <a:avLst/>
          </a:prstGeom>
          <a:noFill/>
          <a:ln w="19050">
            <a:solidFill>
              <a:srgbClr val="5B6B7F"/>
            </a:solidFill>
            <a:prstDash val="solid"/>
            <a:tailEnd type="triangle"/>
          </a:ln>
        </p:spPr>
      </p:sp>
      <p:sp>
        <p:nvSpPr>
          <p:cNvPr id="57" name="Text 55"/>
          <p:cNvSpPr txBox="1"/>
          <p:nvPr/>
        </p:nvSpPr>
        <p:spPr>
          <a:xfrm>
            <a:off x="5093208" y="4005072"/>
            <a:ext cx="548640" cy="182880"/>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SiLU</a:t>
            </a:r>
            <a:endParaRPr lang="en-US" sz="750" dirty="0"/>
          </a:p>
        </p:txBody>
      </p:sp>
      <p:sp>
        <p:nvSpPr>
          <p:cNvPr id="58" name="Shape 56"/>
          <p:cNvSpPr/>
          <p:nvPr/>
        </p:nvSpPr>
        <p:spPr>
          <a:xfrm>
            <a:off x="5394960" y="3931920"/>
            <a:ext cx="731520" cy="731520"/>
          </a:xfrm>
          <a:prstGeom prst="rect">
            <a:avLst/>
          </a:prstGeom>
          <a:solidFill>
            <a:srgbClr val="E5F3E7"/>
          </a:solidFill>
          <a:ln w="12700">
            <a:solidFill>
              <a:srgbClr val="2E7D32"/>
            </a:solidFill>
            <a:prstDash val="solid"/>
          </a:ln>
        </p:spPr>
      </p:sp>
      <p:sp>
        <p:nvSpPr>
          <p:cNvPr id="59" name="Shape 57"/>
          <p:cNvSpPr/>
          <p:nvPr/>
        </p:nvSpPr>
        <p:spPr>
          <a:xfrm>
            <a:off x="5394960" y="3931920"/>
            <a:ext cx="731520" cy="731520"/>
          </a:xfrm>
          <a:prstGeom prst="rect">
            <a:avLst/>
          </a:prstGeom>
          <a:solidFill>
            <a:srgbClr val="E5F3E7"/>
          </a:solidFill>
          <a:ln w="15875">
            <a:solidFill>
              <a:srgbClr val="2E7D32"/>
            </a:solidFill>
            <a:prstDash val="solid"/>
          </a:ln>
        </p:spPr>
      </p:sp>
      <p:sp>
        <p:nvSpPr>
          <p:cNvPr id="60" name="Text 58"/>
          <p:cNvSpPr txBox="1"/>
          <p:nvPr/>
        </p:nvSpPr>
        <p:spPr>
          <a:xfrm>
            <a:off x="5394960" y="3931920"/>
            <a:ext cx="731520" cy="73152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Y = A·σ(A)</a:t>
            </a:r>
            <a:endParaRPr lang="en-US" sz="750" dirty="0"/>
          </a:p>
        </p:txBody>
      </p:sp>
      <p:sp>
        <p:nvSpPr>
          <p:cNvPr id="61" name="Text 59"/>
          <p:cNvSpPr txBox="1"/>
          <p:nvPr/>
        </p:nvSpPr>
        <p:spPr>
          <a:xfrm>
            <a:off x="5394960" y="4700016"/>
            <a:ext cx="128016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원소별 (vector unit)</a:t>
            </a:r>
            <a:endParaRPr lang="en-US" sz="750" dirty="0"/>
          </a:p>
          <a:p>
            <a:pPr algn="l" indent="0" marL="0">
              <a:buNone/>
            </a:pPr>
            <a:r>
              <a:rPr lang="en-US" sz="750" dirty="0">
                <a:solidFill>
                  <a:srgbClr val="5B6B7F"/>
                </a:solidFill>
                <a:latin typeface="Malgun Gothic" pitchFamily="34" charset="0"/>
                <a:ea typeface="Malgun Gothic" pitchFamily="34" charset="-122"/>
                <a:cs typeface="Malgun Gothic" pitchFamily="34" charset="-120"/>
              </a:rPr>
              <a:t>출력 [64,64]</a:t>
            </a:r>
            <a:endParaRPr lang="en-US" sz="750" dirty="0"/>
          </a:p>
        </p:txBody>
      </p:sp>
      <p:sp>
        <p:nvSpPr>
          <p:cNvPr id="62" name="Text 60"/>
          <p:cNvSpPr txBox="1"/>
          <p:nvPr/>
        </p:nvSpPr>
        <p:spPr>
          <a:xfrm>
            <a:off x="457200" y="5440680"/>
            <a:ext cx="6583680" cy="41148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tile = 64×64 (matrix unit 단위). 같은 출력 tile P에 X₀B₀와 X₁B₁을 누적하고(6장), bias/SiLU는 vector 명령으로 이어집니다(7장). 6장부터 이 그림의 tile이 SRAM 주소와 명령으로 바뀝니다.</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0" y="1371600"/>
          <a:ext cx="4416552" cy="914400"/>
        </p:xfrm>
        <a:graphic>
          <a:graphicData uri="http://schemas.openxmlformats.org/drawingml/2006/table">
            <a:tbl>
              <a:tblPr/>
              <a:tblGrid>
                <a:gridCol w="1828800"/>
                <a:gridCol w="2587752"/>
              </a:tblGrid>
              <a:tr h="310896">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단계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이 예제에서 볼 파일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authored Relax</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01_authored_relax.py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graph prefix (host 분리)</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02_graph_prefix.py, 05_host_transform.py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semantic TIR (unfused)</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03_unfused_semantic_tir.py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선택된 fusion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04_selected_semantic_tir.py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기본 DRAM plan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06_initial_dram_plan.py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scheduled TIR (실제 recipe)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07_scheduled_fused_matmul_add_silu.py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LLVM reference (K=64 rfactor)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08_llvm_reference.py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ISA packets / bundle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09_packets.json, bundle/program.json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입출력 · 검증</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inputs.npz, outputs.npz, stage_summary.json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4" name="Shape 61"/>
          <p:cNvSpPr/>
          <p:nvPr/>
        </p:nvSpPr>
        <p:spPr>
          <a:xfrm>
            <a:off x="7315200" y="4754880"/>
            <a:ext cx="4416552" cy="1005840"/>
          </a:xfrm>
          <a:prstGeom prst="roundRect">
            <a:avLst>
              <a:gd name="adj" fmla="val 5455"/>
            </a:avLst>
          </a:prstGeom>
          <a:solidFill>
            <a:srgbClr val="E5F3E7"/>
          </a:solidFill>
          <a:ln w="12700">
            <a:solidFill>
              <a:srgbClr val="2E7D32"/>
            </a:solidFill>
            <a:prstDash val="solid"/>
          </a:ln>
        </p:spPr>
      </p:sp>
      <p:sp>
        <p:nvSpPr>
          <p:cNvPr id="65" name="Text 62"/>
          <p:cNvSpPr txBox="1"/>
          <p:nvPr/>
        </p:nvSpPr>
        <p:spPr>
          <a:xfrm>
            <a:off x="7443216" y="4809744"/>
            <a:ext cx="4160520" cy="89611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검증 수준: </a:t>
            </a:r>
            <a:pPr algn="l" indent="0" marL="0">
              <a:buNone/>
            </a:pPr>
            <a:r>
              <a:rPr lang="en-US" sz="1000" dirty="0">
                <a:solidFill>
                  <a:srgbClr val="1F2D3D"/>
                </a:solidFill>
                <a:latin typeface="Malgun Gothic" pitchFamily="34" charset="0"/>
                <a:ea typeface="Malgun Gothic" pitchFamily="34" charset="-122"/>
                <a:cs typeface="Malgun Gothic" pitchFamily="34" charset="-120"/>
              </a:rPr>
              <a:t>이번 문서 작업에서 fusion off/auto를 실제 C-model로 실행. 두 구성의 FP16 출력이 bit-exact이고 같은 부분합 grouping의 LLVM 출력과 최대 절대차 0.</a:t>
            </a:r>
            <a:endParaRPr lang="en-US" sz="1200" dirty="0"/>
          </a:p>
        </p:txBody>
      </p:sp>
      <p:sp>
        <p:nvSpPr>
          <p:cNvPr id="66" name="Text 63"/>
          <p:cNvSpPr txBox="1"/>
          <p:nvPr/>
        </p:nvSpPr>
        <p:spPr>
          <a:xfrm>
            <a:off x="457200" y="5989320"/>
            <a:ext cx="6583680" cy="320040"/>
          </a:xfrm>
          <a:prstGeom prst="rect">
            <a:avLst/>
          </a:prstGeom>
          <a:noFill/>
          <a:ln/>
        </p:spPr>
        <p:txBody>
          <a:bodyPr wrap="square" lIns="0" tIns="0" rIns="0" bIns="0" rtlCol="0" anchor="t"/>
          <a:lstStyle/>
          <a:p>
            <a:pPr algn="l" indent="0" marL="0">
              <a:buNone/>
            </a:pPr>
            <a:r>
              <a:rPr lang="en-US" sz="900" i="1" dirty="0">
                <a:solidFill>
                  <a:srgbClr val="5B6B7F"/>
                </a:solidFill>
                <a:latin typeface="Malgun Gothic" pitchFamily="34" charset="0"/>
                <a:ea typeface="Malgun Gothic" pitchFamily="34" charset="-122"/>
                <a:cs typeface="Malgun Gothic" pitchFamily="34" charset="-120"/>
              </a:rPr>
              <a:t>작은 예제 ②(두 matmul X[64,64]·W1[64,128]·W2[128,64])는 8장 메모리 계획에서, 실제 Llama는 각 장의 "실제 폭" 기록에서 사용합니다.</a:t>
            </a:r>
            <a:endParaRPr lang="en-US" sz="900" dirty="0"/>
          </a:p>
        </p:txBody>
      </p:sp>
      <p:sp>
        <p:nvSpPr>
          <p:cNvPr id="67" name="Text 64"/>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68" name="Text 65"/>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docs/examples/pipeline/01_authored_relax.py, docs/current/02_model_relax.md</a:t>
            </a:r>
            <a:endParaRPr lang="en-US" sz="850" dirty="0"/>
          </a:p>
        </p:txBody>
      </p:sp>
      <p:sp>
        <p:nvSpPr>
          <p:cNvPr id="69" name="Text 66"/>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13 / 89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2 · 모델 → Relax</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Relax를 읽는 데 필요한 최소 용어</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Dataflow block은 순수 데이터 의존성을 표현할 뿐 하드웨어 동시 실행을 약속하지 않습니다. 실행 순서와 storage 재사용은 후속 단계가 정합니다.</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6949440" cy="914400"/>
        </p:xfrm>
        <a:graphic>
          <a:graphicData uri="http://schemas.openxmlformats.org/drawingml/2006/table">
            <a:tbl>
              <a:tblPr/>
              <a:tblGrid>
                <a:gridCol w="1554480"/>
                <a:gridCol w="2377440"/>
                <a:gridCol w="3017520"/>
              </a:tblGrid>
              <a:tr h="365760">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표현</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역할</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작은 예제에서</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65760">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IRModule</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이름 있는 함수들의 집합</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prefill, prefill_transform_params, 나중의 matmul/add/silu PrimFunc</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relax.Function</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tensor 계산의 호출 관계</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transpose → matmul → add → SiLU</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TensorStructInfo</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shape와 dtype 정보 (값 없이 추론)</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x는 [64,128] FP16, lv1은 [64,64]</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Var / binding</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값에 이름 부여</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lv1 = matmul 결과</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DataflowBlock</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순수 tensor 계산 영역</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분석·변환 범위 (with R.dataflow())</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num_input</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실행 입력 / parameter 경계 attribute</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1 → x만 입력, weight·bias는 parameter</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call_tir / GlobalVar</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TIR 함수 호출 + 결과 sinfo</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R.call_tir(cls.matmul, (x, lv), out_sinfo=…)</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BlockBuilder / call_te</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type·shape를 가진 graph 구성 · TE→PrimFunc</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legalizer가 matmul TE 정의를 PrimFunc로 변환</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structural_hash / equal</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IR 구조 동일성</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후보 dedupe, recipe/entry cache 키</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 name="Shape 3"/>
          <p:cNvSpPr/>
          <p:nvPr/>
        </p:nvSpPr>
        <p:spPr>
          <a:xfrm>
            <a:off x="7680960" y="1417320"/>
            <a:ext cx="4050792" cy="457200"/>
          </a:xfrm>
          <a:prstGeom prst="roundRect">
            <a:avLst>
              <a:gd name="adj" fmla="val 12000"/>
            </a:avLst>
          </a:prstGeom>
          <a:solidFill>
            <a:srgbClr val="15243B"/>
          </a:solidFill>
          <a:ln w="12700">
            <a:solidFill>
              <a:srgbClr val="15243B"/>
            </a:solidFill>
            <a:prstDash val="solid"/>
          </a:ln>
        </p:spPr>
      </p:sp>
      <p:sp>
        <p:nvSpPr>
          <p:cNvPr id="7" name="Text 4"/>
          <p:cNvSpPr txBox="1"/>
          <p:nvPr/>
        </p:nvSpPr>
        <p:spPr>
          <a:xfrm>
            <a:off x="7735824" y="1453896"/>
            <a:ext cx="394106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두 frontend 경로</a:t>
            </a:r>
            <a:endParaRPr lang="en-US" sz="1200" dirty="0"/>
          </a:p>
        </p:txBody>
      </p:sp>
      <p:sp>
        <p:nvSpPr>
          <p:cNvPr id="8" name="Text 5"/>
          <p:cNvSpPr txBox="1"/>
          <p:nvPr/>
        </p:nvSpPr>
        <p:spPr>
          <a:xfrm>
            <a:off x="7680960" y="2011680"/>
            <a:ext cx="4050792" cy="2103120"/>
          </a:xfrm>
          <a:prstGeom prst="rect">
            <a:avLst/>
          </a:prstGeom>
          <a:noFill/>
          <a:ln/>
        </p:spPr>
        <p:txBody>
          <a:bodyPr wrap="square" lIns="0" tIns="0" rIns="0" bIns="0" rtlCol="0" anchor="t"/>
          <a:lstStyle/>
          <a:p>
            <a:pPr algn="l" marL="152400" indent="-152400">
              <a:spcAft>
                <a:spcPts val="5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authored (본문): </a:t>
            </a:r>
            <a:pPr algn="l" indent="0" marL="0">
              <a:spcAft>
                <a:spcPts val="500"/>
              </a:spcAft>
              <a:buNone/>
            </a:pPr>
            <a:r>
              <a:rPr lang="en-US" sz="950" dirty="0">
                <a:solidFill>
                  <a:srgbClr val="1F2D3D"/>
                </a:solidFill>
                <a:latin typeface="Malgun Gothic" pitchFamily="34" charset="0"/>
                <a:ea typeface="Malgun Gothic" pitchFamily="34" charset="-122"/>
                <a:cs typeface="Malgun Gothic" pitchFamily="34" charset="-120"/>
              </a:rPr>
              <a:t>nn_models/llama.py, gemma.py, qwen3.py. 정적 S/C로 export. generation CLI는 Llama 대상.</a:t>
            </a:r>
            <a:endParaRPr lang="en-US" sz="950" dirty="0"/>
          </a:p>
          <a:p>
            <a:pPr algn="l" marL="152400" indent="-152400">
              <a:spcAft>
                <a:spcPts val="5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HF importer (prefill만): </a:t>
            </a:r>
            <a:pPr algn="l" indent="0" marL="0">
              <a:spcAft>
                <a:spcPts val="500"/>
              </a:spcAft>
              <a:buNone/>
            </a:pPr>
            <a:r>
              <a:rPr lang="en-US" sz="950" dirty="0">
                <a:solidFill>
                  <a:srgbClr val="1F2D3D"/>
                </a:solidFill>
                <a:latin typeface="Malgun Gothic" pitchFamily="34" charset="0"/>
                <a:ea typeface="Malgun Gothic" pitchFamily="34" charset="-122"/>
                <a:cs typeface="Malgun Gothic" pitchFamily="34" charset="-120"/>
              </a:rPr>
              <a:t>torch.export → HFImporter. weight·position을 상수로 fold, RMSNorm 패턴 복원, FP32 구간을 FP16으로 demote(정밀도 보존 아님), unit batch 축 제거.</a:t>
            </a:r>
            <a:endParaRPr lang="en-US" sz="950" dirty="0"/>
          </a:p>
          <a:p>
            <a:pPr algn="l" marL="152400" indent="-152400">
              <a:spcAft>
                <a:spcPts val="5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공통: </a:t>
            </a:r>
            <a:pPr algn="l" indent="0" marL="0">
              <a:spcAft>
                <a:spcPts val="500"/>
              </a:spcAft>
              <a:buNone/>
            </a:pPr>
            <a:r>
              <a:rPr lang="en-US" sz="950" dirty="0">
                <a:solidFill>
                  <a:srgbClr val="1F2D3D"/>
                </a:solidFill>
                <a:latin typeface="Malgun Gothic" pitchFamily="34" charset="0"/>
                <a:ea typeface="Malgun Gothic" pitchFamily="34" charset="-122"/>
                <a:cs typeface="Malgun Gothic" pitchFamily="34" charset="-120"/>
              </a:rPr>
              <a:t>임의 동적 control flow나 모든 HF 모델을 자동 지원하는 compiler가 아님. 지원 subset을 검사하고 밖이면 거절.</a:t>
            </a:r>
            <a:endParaRPr lang="en-US" sz="950" dirty="0"/>
          </a:p>
        </p:txBody>
      </p:sp>
      <p:sp>
        <p:nvSpPr>
          <p:cNvPr id="9" name="Shape 6"/>
          <p:cNvSpPr/>
          <p:nvPr/>
        </p:nvSpPr>
        <p:spPr>
          <a:xfrm>
            <a:off x="7680960" y="4297680"/>
            <a:ext cx="4050792" cy="1463040"/>
          </a:xfrm>
          <a:prstGeom prst="roundRect">
            <a:avLst>
              <a:gd name="adj" fmla="val 3750"/>
            </a:avLst>
          </a:prstGeom>
          <a:solidFill>
            <a:srgbClr val="EEF2F6"/>
          </a:solidFill>
          <a:ln w="12700">
            <a:solidFill>
              <a:srgbClr val="C9D3DF"/>
            </a:solidFill>
            <a:prstDash val="solid"/>
          </a:ln>
        </p:spPr>
      </p:sp>
      <p:sp>
        <p:nvSpPr>
          <p:cNvPr id="10" name="Text 7"/>
          <p:cNvSpPr txBox="1"/>
          <p:nvPr/>
        </p:nvSpPr>
        <p:spPr>
          <a:xfrm>
            <a:off x="7808976" y="4352544"/>
            <a:ext cx="3794760" cy="135331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28층 export</a:t>
            </a:r>
            <a:endParaRPr lang="en-US" sz="1200" dirty="0"/>
          </a:p>
          <a:p>
            <a:pPr algn="l" indent="0" marL="0">
              <a:buNone/>
            </a:pPr>
            <a:r>
              <a:rPr lang="en-US" sz="1000" dirty="0">
                <a:solidFill>
                  <a:srgbClr val="1F2D3D"/>
                </a:solidFill>
                <a:latin typeface="Malgun Gothic" pitchFamily="34" charset="0"/>
                <a:ea typeface="Malgun Gothic" pitchFamily="34" charset="-122"/>
                <a:cs typeface="Malgun Gothic" pitchFamily="34" charset="-120"/>
              </a:rPr>
              <a:t>호출 그래프에 모든 층의 계산이 나타납니다. 같은 shape의 계산은 schedule 판단(recipe)을 공유하지만, layer마다 다른 weight 주소와 residual 관계는 최종 프로그램에 그대로 반영됩니다.</a:t>
            </a:r>
            <a:endParaRPr lang="en-US" sz="1200" dirty="0"/>
          </a:p>
        </p:txBody>
      </p:sp>
      <p:sp>
        <p:nvSpPr>
          <p:cNvPr id="11" name="Text 8"/>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2" name="Text 9"/>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docs/current/02_model_relax.md, reference/tvm_api.md</a:t>
            </a:r>
            <a:endParaRPr lang="en-US" sz="850" dirty="0"/>
          </a:p>
        </p:txBody>
      </p:sp>
      <p:sp>
        <p:nvSpPr>
          <p:cNvPr id="13" name="Text 10"/>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14 / 89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3 · Graph 정리와 host</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Graph prefix: 후속 lowering이 이해하기 쉬운 graph로 만드는 5개 pass</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한 번만 적용됩니다(prepared=True). 1번만 NPU 전용이고 나머지는 TVM 표준 pass입니다.</a:t>
            </a:r>
            <a:endParaRPr lang="en-US" sz="1250" dirty="0"/>
          </a:p>
        </p:txBody>
      </p:sp>
      <p:sp>
        <p:nvSpPr>
          <p:cNvPr id="5" name="Shape 3"/>
          <p:cNvSpPr/>
          <p:nvPr/>
        </p:nvSpPr>
        <p:spPr>
          <a:xfrm>
            <a:off x="457200" y="1600200"/>
            <a:ext cx="2050085" cy="960120"/>
          </a:xfrm>
          <a:prstGeom prst="roundRect">
            <a:avLst>
              <a:gd name="adj" fmla="val 5714"/>
            </a:avLst>
          </a:prstGeom>
          <a:solidFill>
            <a:srgbClr val="DDF3F0"/>
          </a:solidFill>
          <a:ln w="12700">
            <a:solidFill>
              <a:srgbClr val="1F8A8A"/>
            </a:solidFill>
            <a:prstDash val="solid"/>
          </a:ln>
        </p:spPr>
      </p:sp>
      <p:sp>
        <p:nvSpPr>
          <p:cNvPr id="6" name="Text 4"/>
          <p:cNvSpPr txBox="1"/>
          <p:nvPr/>
        </p:nvSpPr>
        <p:spPr>
          <a:xfrm>
            <a:off x="530352" y="1673352"/>
            <a:ext cx="1903781"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CanonicalizeAttention</a:t>
            </a:r>
            <a:endParaRPr lang="en-US" sz="1050" dirty="0"/>
          </a:p>
        </p:txBody>
      </p:sp>
      <p:sp>
        <p:nvSpPr>
          <p:cNvPr id="7" name="Text 5"/>
          <p:cNvSpPr txBox="1"/>
          <p:nvPr/>
        </p:nvSpPr>
        <p:spPr>
          <a:xfrm>
            <a:off x="530352" y="1873377"/>
            <a:ext cx="1903781" cy="650367"/>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NPU 전용. 고수준 attention op →</a:t>
            </a:r>
            <a:endParaRPr lang="en-US" sz="850" dirty="0"/>
          </a:p>
          <a:p>
            <a:pPr algn="ctr" indent="0" marL="0">
              <a:buNone/>
            </a:pPr>
            <a:r>
              <a:rPr lang="en-US" sz="850" dirty="0">
                <a:solidFill>
                  <a:srgbClr val="5B6B7F"/>
                </a:solidFill>
                <a:latin typeface="Malgun Gothic" pitchFamily="34" charset="0"/>
                <a:ea typeface="Malgun Gothic" pitchFamily="34" charset="-122"/>
                <a:cs typeface="Malgun Gothic" pitchFamily="34" charset="-120"/>
              </a:rPr>
              <a:t>QKᵀ · scale · mask · softmax · PV</a:t>
            </a:r>
            <a:endParaRPr lang="en-US" sz="850" dirty="0"/>
          </a:p>
        </p:txBody>
      </p:sp>
      <p:sp>
        <p:nvSpPr>
          <p:cNvPr id="8" name="Text 6"/>
          <p:cNvSpPr txBox="1"/>
          <p:nvPr/>
        </p:nvSpPr>
        <p:spPr>
          <a:xfrm>
            <a:off x="530352" y="1472184"/>
            <a:ext cx="274320" cy="237744"/>
          </a:xfrm>
          <a:prstGeom prst="roundRect">
            <a:avLst>
              <a:gd name="adj" fmla="val 50000"/>
            </a:avLst>
          </a:prstGeom>
          <a:solidFill>
            <a:srgbClr val="15243B"/>
          </a:solidFill>
          <a:ln w="9525">
            <a:solidFill>
              <a:srgbClr val="15243B"/>
            </a:solid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1</a:t>
            </a:r>
            <a:endParaRPr lang="en-US" sz="850" dirty="0"/>
          </a:p>
        </p:txBody>
      </p:sp>
      <p:sp>
        <p:nvSpPr>
          <p:cNvPr id="9" name="Shape 7"/>
          <p:cNvSpPr/>
          <p:nvPr/>
        </p:nvSpPr>
        <p:spPr>
          <a:xfrm>
            <a:off x="2525573" y="2080260"/>
            <a:ext cx="219456" cy="914"/>
          </a:xfrm>
          <a:prstGeom prst="line">
            <a:avLst/>
          </a:prstGeom>
          <a:noFill/>
          <a:ln w="19050">
            <a:solidFill>
              <a:srgbClr val="5B6B7F"/>
            </a:solidFill>
            <a:prstDash val="solid"/>
            <a:tailEnd type="triangle"/>
          </a:ln>
        </p:spPr>
      </p:sp>
      <p:sp>
        <p:nvSpPr>
          <p:cNvPr id="10" name="Shape 8"/>
          <p:cNvSpPr/>
          <p:nvPr/>
        </p:nvSpPr>
        <p:spPr>
          <a:xfrm>
            <a:off x="2763317" y="1600200"/>
            <a:ext cx="2050085" cy="960120"/>
          </a:xfrm>
          <a:prstGeom prst="roundRect">
            <a:avLst>
              <a:gd name="adj" fmla="val 5714"/>
            </a:avLst>
          </a:prstGeom>
          <a:solidFill>
            <a:srgbClr val="E3EEFB"/>
          </a:solidFill>
          <a:ln w="12700">
            <a:solidFill>
              <a:srgbClr val="2F6DB5"/>
            </a:solidFill>
            <a:prstDash val="solid"/>
          </a:ln>
        </p:spPr>
      </p:sp>
      <p:sp>
        <p:nvSpPr>
          <p:cNvPr id="11" name="Text 9"/>
          <p:cNvSpPr txBox="1"/>
          <p:nvPr/>
        </p:nvSpPr>
        <p:spPr>
          <a:xfrm>
            <a:off x="2836469" y="1673352"/>
            <a:ext cx="1903781"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CanonicalizeBindings</a:t>
            </a:r>
            <a:endParaRPr lang="en-US" sz="1050" dirty="0"/>
          </a:p>
        </p:txBody>
      </p:sp>
      <p:sp>
        <p:nvSpPr>
          <p:cNvPr id="12" name="Text 10"/>
          <p:cNvSpPr txBox="1"/>
          <p:nvPr/>
        </p:nvSpPr>
        <p:spPr>
          <a:xfrm>
            <a:off x="2836469" y="1873377"/>
            <a:ext cx="1903781" cy="650367"/>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alias·binding 정리</a:t>
            </a:r>
            <a:endParaRPr lang="en-US" sz="850" dirty="0"/>
          </a:p>
          <a:p>
            <a:pPr algn="ctr" indent="0" marL="0">
              <a:buNone/>
            </a:pPr>
            <a:r>
              <a:rPr lang="en-US" sz="850" dirty="0">
                <a:solidFill>
                  <a:srgbClr val="5B6B7F"/>
                </a:solidFill>
                <a:latin typeface="Malgun Gothic" pitchFamily="34" charset="0"/>
                <a:ea typeface="Malgun Gothic" pitchFamily="34" charset="-122"/>
                <a:cs typeface="Malgun Gothic" pitchFamily="34" charset="-120"/>
              </a:rPr>
              <a:t>같은 값의 추적 단순화</a:t>
            </a:r>
            <a:endParaRPr lang="en-US" sz="850" dirty="0"/>
          </a:p>
        </p:txBody>
      </p:sp>
      <p:sp>
        <p:nvSpPr>
          <p:cNvPr id="13" name="Text 11"/>
          <p:cNvSpPr txBox="1"/>
          <p:nvPr/>
        </p:nvSpPr>
        <p:spPr>
          <a:xfrm>
            <a:off x="2836469" y="1472184"/>
            <a:ext cx="274320" cy="237744"/>
          </a:xfrm>
          <a:prstGeom prst="roundRect">
            <a:avLst>
              <a:gd name="adj" fmla="val 50000"/>
            </a:avLst>
          </a:prstGeom>
          <a:solidFill>
            <a:srgbClr val="15243B"/>
          </a:solidFill>
          <a:ln w="9525">
            <a:solidFill>
              <a:srgbClr val="15243B"/>
            </a:solid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2</a:t>
            </a:r>
            <a:endParaRPr lang="en-US" sz="850" dirty="0"/>
          </a:p>
        </p:txBody>
      </p:sp>
      <p:sp>
        <p:nvSpPr>
          <p:cNvPr id="14" name="Shape 12"/>
          <p:cNvSpPr/>
          <p:nvPr/>
        </p:nvSpPr>
        <p:spPr>
          <a:xfrm>
            <a:off x="4831690" y="2080260"/>
            <a:ext cx="219456" cy="914"/>
          </a:xfrm>
          <a:prstGeom prst="line">
            <a:avLst/>
          </a:prstGeom>
          <a:noFill/>
          <a:ln w="19050">
            <a:solidFill>
              <a:srgbClr val="5B6B7F"/>
            </a:solidFill>
            <a:prstDash val="solid"/>
            <a:tailEnd type="triangle"/>
          </a:ln>
        </p:spPr>
      </p:sp>
      <p:sp>
        <p:nvSpPr>
          <p:cNvPr id="15" name="Shape 13"/>
          <p:cNvSpPr/>
          <p:nvPr/>
        </p:nvSpPr>
        <p:spPr>
          <a:xfrm>
            <a:off x="5069434" y="1600200"/>
            <a:ext cx="2050085" cy="960120"/>
          </a:xfrm>
          <a:prstGeom prst="roundRect">
            <a:avLst>
              <a:gd name="adj" fmla="val 5714"/>
            </a:avLst>
          </a:prstGeom>
          <a:solidFill>
            <a:srgbClr val="E3EEFB"/>
          </a:solidFill>
          <a:ln w="12700">
            <a:solidFill>
              <a:srgbClr val="2F6DB5"/>
            </a:solidFill>
            <a:prstDash val="solid"/>
          </a:ln>
        </p:spPr>
      </p:sp>
      <p:sp>
        <p:nvSpPr>
          <p:cNvPr id="16" name="Text 14"/>
          <p:cNvSpPr txBox="1"/>
          <p:nvPr/>
        </p:nvSpPr>
        <p:spPr>
          <a:xfrm>
            <a:off x="5142586" y="1673352"/>
            <a:ext cx="1903781"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EliminateCommonSubexpr</a:t>
            </a:r>
            <a:endParaRPr lang="en-US" sz="1050" dirty="0"/>
          </a:p>
        </p:txBody>
      </p:sp>
      <p:sp>
        <p:nvSpPr>
          <p:cNvPr id="17" name="Text 15"/>
          <p:cNvSpPr txBox="1"/>
          <p:nvPr/>
        </p:nvSpPr>
        <p:spPr>
          <a:xfrm>
            <a:off x="5142586" y="1873377"/>
            <a:ext cx="1903781" cy="650367"/>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같은 입력의 같은 순수 계산</a:t>
            </a:r>
            <a:endParaRPr lang="en-US" sz="850" dirty="0"/>
          </a:p>
          <a:p>
            <a:pPr algn="ctr" indent="0" marL="0">
              <a:buNone/>
            </a:pPr>
            <a:r>
              <a:rPr lang="en-US" sz="850" dirty="0">
                <a:solidFill>
                  <a:srgbClr val="5B6B7F"/>
                </a:solidFill>
                <a:latin typeface="Malgun Gothic" pitchFamily="34" charset="0"/>
                <a:ea typeface="Malgun Gothic" pitchFamily="34" charset="-122"/>
                <a:cs typeface="Malgun Gothic" pitchFamily="34" charset="-120"/>
              </a:rPr>
              <a:t>결과 공유</a:t>
            </a:r>
            <a:endParaRPr lang="en-US" sz="850" dirty="0"/>
          </a:p>
        </p:txBody>
      </p:sp>
      <p:sp>
        <p:nvSpPr>
          <p:cNvPr id="18" name="Text 16"/>
          <p:cNvSpPr txBox="1"/>
          <p:nvPr/>
        </p:nvSpPr>
        <p:spPr>
          <a:xfrm>
            <a:off x="5142586" y="1472184"/>
            <a:ext cx="274320" cy="237744"/>
          </a:xfrm>
          <a:prstGeom prst="roundRect">
            <a:avLst>
              <a:gd name="adj" fmla="val 50000"/>
            </a:avLst>
          </a:prstGeom>
          <a:solidFill>
            <a:srgbClr val="15243B"/>
          </a:solidFill>
          <a:ln w="9525">
            <a:solidFill>
              <a:srgbClr val="15243B"/>
            </a:solid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3</a:t>
            </a:r>
            <a:endParaRPr lang="en-US" sz="850" dirty="0"/>
          </a:p>
        </p:txBody>
      </p:sp>
      <p:sp>
        <p:nvSpPr>
          <p:cNvPr id="19" name="Shape 17"/>
          <p:cNvSpPr/>
          <p:nvPr/>
        </p:nvSpPr>
        <p:spPr>
          <a:xfrm>
            <a:off x="7137806" y="2080260"/>
            <a:ext cx="219456" cy="914"/>
          </a:xfrm>
          <a:prstGeom prst="line">
            <a:avLst/>
          </a:prstGeom>
          <a:noFill/>
          <a:ln w="19050">
            <a:solidFill>
              <a:srgbClr val="5B6B7F"/>
            </a:solidFill>
            <a:prstDash val="solid"/>
            <a:tailEnd type="triangle"/>
          </a:ln>
        </p:spPr>
      </p:sp>
      <p:sp>
        <p:nvSpPr>
          <p:cNvPr id="20" name="Shape 18"/>
          <p:cNvSpPr/>
          <p:nvPr/>
        </p:nvSpPr>
        <p:spPr>
          <a:xfrm>
            <a:off x="7375550" y="1600200"/>
            <a:ext cx="2050085" cy="960120"/>
          </a:xfrm>
          <a:prstGeom prst="roundRect">
            <a:avLst>
              <a:gd name="adj" fmla="val 5714"/>
            </a:avLst>
          </a:prstGeom>
          <a:solidFill>
            <a:srgbClr val="E3EEFB"/>
          </a:solidFill>
          <a:ln w="12700">
            <a:solidFill>
              <a:srgbClr val="2F6DB5"/>
            </a:solidFill>
            <a:prstDash val="solid"/>
          </a:ln>
        </p:spPr>
      </p:sp>
      <p:sp>
        <p:nvSpPr>
          <p:cNvPr id="21" name="Text 19"/>
          <p:cNvSpPr txBox="1"/>
          <p:nvPr/>
        </p:nvSpPr>
        <p:spPr>
          <a:xfrm>
            <a:off x="7448702" y="1673352"/>
            <a:ext cx="1903781"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RewriteDataflowReshape</a:t>
            </a:r>
            <a:endParaRPr lang="en-US" sz="1050" dirty="0"/>
          </a:p>
        </p:txBody>
      </p:sp>
      <p:sp>
        <p:nvSpPr>
          <p:cNvPr id="22" name="Text 20"/>
          <p:cNvSpPr txBox="1"/>
          <p:nvPr/>
        </p:nvSpPr>
        <p:spPr>
          <a:xfrm>
            <a:off x="7448702" y="1873377"/>
            <a:ext cx="1903781" cy="650367"/>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지원되는 reshape를</a:t>
            </a:r>
            <a:endParaRPr lang="en-US" sz="850" dirty="0"/>
          </a:p>
          <a:p>
            <a:pPr algn="ctr" indent="0" marL="0">
              <a:buNone/>
            </a:pPr>
            <a:r>
              <a:rPr lang="en-US" sz="850" dirty="0">
                <a:solidFill>
                  <a:srgbClr val="5B6B7F"/>
                </a:solidFill>
                <a:latin typeface="Malgun Gothic" pitchFamily="34" charset="0"/>
                <a:ea typeface="Malgun Gothic" pitchFamily="34" charset="-122"/>
                <a:cs typeface="Malgun Gothic" pitchFamily="34" charset="-120"/>
              </a:rPr>
              <a:t>복사 없는 view 표현으로</a:t>
            </a:r>
            <a:endParaRPr lang="en-US" sz="850" dirty="0"/>
          </a:p>
        </p:txBody>
      </p:sp>
      <p:sp>
        <p:nvSpPr>
          <p:cNvPr id="23" name="Text 21"/>
          <p:cNvSpPr txBox="1"/>
          <p:nvPr/>
        </p:nvSpPr>
        <p:spPr>
          <a:xfrm>
            <a:off x="7448702" y="1472184"/>
            <a:ext cx="274320" cy="237744"/>
          </a:xfrm>
          <a:prstGeom prst="roundRect">
            <a:avLst>
              <a:gd name="adj" fmla="val 50000"/>
            </a:avLst>
          </a:prstGeom>
          <a:solidFill>
            <a:srgbClr val="15243B"/>
          </a:solidFill>
          <a:ln w="9525">
            <a:solidFill>
              <a:srgbClr val="15243B"/>
            </a:solid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4</a:t>
            </a:r>
            <a:endParaRPr lang="en-US" sz="850" dirty="0"/>
          </a:p>
        </p:txBody>
      </p:sp>
      <p:sp>
        <p:nvSpPr>
          <p:cNvPr id="24" name="Shape 22"/>
          <p:cNvSpPr/>
          <p:nvPr/>
        </p:nvSpPr>
        <p:spPr>
          <a:xfrm>
            <a:off x="9443923" y="2080260"/>
            <a:ext cx="219456" cy="914"/>
          </a:xfrm>
          <a:prstGeom prst="line">
            <a:avLst/>
          </a:prstGeom>
          <a:noFill/>
          <a:ln w="19050">
            <a:solidFill>
              <a:srgbClr val="5B6B7F"/>
            </a:solidFill>
            <a:prstDash val="solid"/>
            <a:tailEnd type="triangle"/>
          </a:ln>
        </p:spPr>
      </p:sp>
      <p:sp>
        <p:nvSpPr>
          <p:cNvPr id="25" name="Shape 23"/>
          <p:cNvSpPr/>
          <p:nvPr/>
        </p:nvSpPr>
        <p:spPr>
          <a:xfrm>
            <a:off x="9681667" y="1600200"/>
            <a:ext cx="2050085" cy="960120"/>
          </a:xfrm>
          <a:prstGeom prst="roundRect">
            <a:avLst>
              <a:gd name="adj" fmla="val 5714"/>
            </a:avLst>
          </a:prstGeom>
          <a:solidFill>
            <a:srgbClr val="E3EEFB"/>
          </a:solidFill>
          <a:ln w="12700">
            <a:solidFill>
              <a:srgbClr val="2F6DB5"/>
            </a:solidFill>
            <a:prstDash val="solid"/>
          </a:ln>
        </p:spPr>
      </p:sp>
      <p:sp>
        <p:nvSpPr>
          <p:cNvPr id="26" name="Text 24"/>
          <p:cNvSpPr txBox="1"/>
          <p:nvPr/>
        </p:nvSpPr>
        <p:spPr>
          <a:xfrm>
            <a:off x="9754819" y="1673352"/>
            <a:ext cx="1903781"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LiftTransformParams</a:t>
            </a:r>
            <a:endParaRPr lang="en-US" sz="1050" dirty="0"/>
          </a:p>
        </p:txBody>
      </p:sp>
      <p:sp>
        <p:nvSpPr>
          <p:cNvPr id="27" name="Text 25"/>
          <p:cNvSpPr txBox="1"/>
          <p:nvPr/>
        </p:nvSpPr>
        <p:spPr>
          <a:xfrm>
            <a:off x="9754819" y="1873377"/>
            <a:ext cx="1903781" cy="650367"/>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parameter만 의존하는 계산을</a:t>
            </a:r>
            <a:endParaRPr lang="en-US" sz="850" dirty="0"/>
          </a:p>
          <a:p>
            <a:pPr algn="ctr" indent="0" marL="0">
              <a:buNone/>
            </a:pPr>
            <a:r>
              <a:rPr lang="en-US" sz="850" dirty="0">
                <a:solidFill>
                  <a:srgbClr val="5B6B7F"/>
                </a:solidFill>
                <a:latin typeface="Malgun Gothic" pitchFamily="34" charset="0"/>
                <a:ea typeface="Malgun Gothic" pitchFamily="34" charset="-122"/>
                <a:cs typeface="Malgun Gothic" pitchFamily="34" charset="-120"/>
              </a:rPr>
              <a:t>별도 host 함수로 분리</a:t>
            </a:r>
            <a:endParaRPr lang="en-US" sz="850" dirty="0"/>
          </a:p>
        </p:txBody>
      </p:sp>
      <p:sp>
        <p:nvSpPr>
          <p:cNvPr id="28" name="Text 26"/>
          <p:cNvSpPr txBox="1"/>
          <p:nvPr/>
        </p:nvSpPr>
        <p:spPr>
          <a:xfrm>
            <a:off x="9754819" y="1472184"/>
            <a:ext cx="274320" cy="237744"/>
          </a:xfrm>
          <a:prstGeom prst="roundRect">
            <a:avLst>
              <a:gd name="adj" fmla="val 50000"/>
            </a:avLst>
          </a:prstGeom>
          <a:solidFill>
            <a:srgbClr val="15243B"/>
          </a:solidFill>
          <a:ln w="9525">
            <a:solidFill>
              <a:srgbClr val="15243B"/>
            </a:solid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5</a:t>
            </a:r>
            <a:endParaRPr lang="en-US" sz="850" dirty="0"/>
          </a:p>
        </p:txBody>
      </p:sp>
      <p:sp>
        <p:nvSpPr>
          <p:cNvPr id="29" name="Shape 27"/>
          <p:cNvSpPr/>
          <p:nvPr/>
        </p:nvSpPr>
        <p:spPr>
          <a:xfrm>
            <a:off x="457200" y="2834640"/>
            <a:ext cx="5486400" cy="1554480"/>
          </a:xfrm>
          <a:prstGeom prst="roundRect">
            <a:avLst>
              <a:gd name="adj" fmla="val 2941"/>
            </a:avLst>
          </a:prstGeom>
          <a:solidFill>
            <a:srgbClr val="F5F7FA"/>
          </a:solidFill>
          <a:ln w="9525">
            <a:solidFill>
              <a:srgbClr val="C9D3DF"/>
            </a:solidFill>
            <a:prstDash val="solid"/>
          </a:ln>
        </p:spPr>
      </p:sp>
      <p:sp>
        <p:nvSpPr>
          <p:cNvPr id="30" name="Text 28"/>
          <p:cNvSpPr txBox="1"/>
          <p:nvPr/>
        </p:nvSpPr>
        <p:spPr>
          <a:xfrm>
            <a:off x="566928" y="2907792"/>
            <a:ext cx="5266944" cy="1408176"/>
          </a:xfrm>
          <a:prstGeom prst="rect">
            <a:avLst/>
          </a:prstGeom>
          <a:noFill/>
          <a:ln/>
        </p:spPr>
        <p:txBody>
          <a:bodyPr wrap="square" lIns="0" tIns="0" rIns="0" bIns="0" rtlCol="0" anchor="t"/>
          <a:lstStyle/>
          <a:p>
            <a:pPr algn="l" indent="0" marL="0">
              <a:lnSpc>
                <a:spcPct val="105000"/>
              </a:lnSpc>
              <a:buNone/>
            </a:pPr>
            <a:r>
              <a:rPr lang="en-US" sz="900" dirty="0">
                <a:solidFill>
                  <a:srgbClr val="2F6DB5"/>
                </a:solidFill>
                <a:latin typeface="Courier New" pitchFamily="34" charset="0"/>
                <a:ea typeface="Courier New" pitchFamily="34" charset="-122"/>
                <a:cs typeface="Courier New" pitchFamily="34" charset="-120"/>
              </a:rPr>
              <a:t>def </a:t>
            </a:r>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graph_prefix(lift_params=True):        # tvm_pipeline.py</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stages = [CanonicalizeAttention(), relax.transform.CanonicalizeBindings(),</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relax.transform.EliminateCommonSubexpr(),</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relax.transform.RewriteDataflowReshape()]</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if lift_params: stages.append(relax.transform.LiftTransformParams())</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return tvm.transform.Sequential(stages, name="npu_graph_prefix")</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172200" y="2834640"/>
          <a:ext cx="5559552" cy="914400"/>
        </p:xfrm>
        <a:graphic>
          <a:graphicData uri="http://schemas.openxmlformats.org/drawingml/2006/table">
            <a:tbl>
              <a:tblPr/>
              <a:tblGrid>
                <a:gridCol w="1554480"/>
                <a:gridCol w="2743200"/>
                <a:gridCol w="1261872"/>
              </a:tblGrid>
              <a:tr h="41148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선택적 후보 (prefix 아님)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무엇을 바꾸는가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언제 채택되는가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1148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FoldRepeatedGemv</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matmul(A[24,1,K], repeat(B[8,K,N],3)) → reshape+expand_dims broadcast matmul (m=1, decode 전용)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비용 비교에서 이길 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1148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matrix_producer 패턴</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matmul(x, concat(…)) (+repeat/expand_dims)을 하나의 composite로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decode KV concat 등, 비용 비교</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1148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attention / masked_softmax 패턴</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FuseOpsByPattern으로 score chain 또는 전체 attention 그룹</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5장 fusion 후보</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32" name="Text 29"/>
          <p:cNvSpPr txBox="1"/>
          <p:nvPr/>
        </p:nvSpPr>
        <p:spPr>
          <a:xfrm>
            <a:off x="457200" y="4572000"/>
            <a:ext cx="5486400" cy="1280160"/>
          </a:xfrm>
          <a:prstGeom prst="rect">
            <a:avLst/>
          </a:prstGeom>
          <a:noFill/>
          <a:ln/>
        </p:spPr>
        <p:txBody>
          <a:bodyPr wrap="square" lIns="0" tIns="0" rIns="0" bIns="0" rtlCol="0" anchor="t"/>
          <a:lstStyle/>
          <a:p>
            <a:pPr algn="l" marL="152400" indent="-152400">
              <a:spcAft>
                <a:spcPts val="400"/>
              </a:spcAft>
              <a:buSzPct val="100000"/>
              <a:buChar char="•"/>
            </a:pPr>
            <a:r>
              <a:rPr lang="en-US" sz="1000" dirty="0">
                <a:solidFill>
                  <a:srgbClr val="1F2D3D"/>
                </a:solidFill>
                <a:latin typeface="Malgun Gothic" pitchFamily="34" charset="0"/>
                <a:ea typeface="Malgun Gothic" pitchFamily="34" charset="-122"/>
                <a:cs typeface="Malgun Gothic" pitchFamily="34" charset="-120"/>
              </a:rPr>
              <a:t>이 단계는 tile 크기, SRAM 주소, DMA 순서를 정하지 않음. Wᵀ를 host에서 준비해도 Wᵀ 전체가 SRAM에 들어가는 것은 아님</a:t>
            </a:r>
            <a:endParaRPr lang="en-US" sz="1000" dirty="0"/>
          </a:p>
          <a:p>
            <a:pPr algn="l" marL="152400" indent="-152400">
              <a:spcAft>
                <a:spcPts val="400"/>
              </a:spcAft>
              <a:buSzPct val="100000"/>
              <a:buChar char="•"/>
            </a:pPr>
            <a:r>
              <a:rPr lang="en-US" sz="1000" dirty="0">
                <a:solidFill>
                  <a:srgbClr val="1F2D3D"/>
                </a:solidFill>
                <a:latin typeface="Malgun Gothic" pitchFamily="34" charset="0"/>
                <a:ea typeface="Malgun Gothic" pitchFamily="34" charset="-122"/>
                <a:cs typeface="Malgun Gothic" pitchFamily="34" charset="-120"/>
              </a:rPr>
              <a:t>사용하지 않는 함수·값은 표준 DeadCodeElimination이 정리</a:t>
            </a:r>
            <a:endParaRPr lang="en-US" sz="1000" dirty="0"/>
          </a:p>
          <a:p>
            <a:pPr algn="l" marL="152400" indent="-152400">
              <a:spcAft>
                <a:spcPts val="400"/>
              </a:spcAft>
              <a:buSzPct val="100000"/>
              <a:buChar char="•"/>
            </a:pPr>
            <a:r>
              <a:rPr lang="en-US" sz="1000" dirty="0">
                <a:solidFill>
                  <a:srgbClr val="1F2D3D"/>
                </a:solidFill>
                <a:latin typeface="Malgun Gothic" pitchFamily="34" charset="0"/>
                <a:ea typeface="Malgun Gothic" pitchFamily="34" charset="-122"/>
                <a:cs typeface="Malgun Gothic" pitchFamily="34" charset="-120"/>
              </a:rPr>
              <a:t>Authoring한 Llama는 이미 세부 연산으로 쓰여 CanonicalizeAttention이 새로 할 일이 없을 수 있음</a:t>
            </a:r>
            <a:endParaRPr lang="en-US" sz="1000" dirty="0"/>
          </a:p>
        </p:txBody>
      </p:sp>
      <p:sp>
        <p:nvSpPr>
          <p:cNvPr id="33" name="Shape 30"/>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34" name="Text 31"/>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Prefix의 목적: 실행마다 필요한 계산과 모델 준비 시 한 번만 할 계산을 구분하고, 같은 값을 추적하기 쉬운 형태로 만드는 것.</a:t>
            </a:r>
            <a:endParaRPr lang="en-US" sz="1250" dirty="0"/>
          </a:p>
        </p:txBody>
      </p:sp>
      <p:sp>
        <p:nvSpPr>
          <p:cNvPr id="35" name="Text 32"/>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36" name="Text 33"/>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npu_compiler/tvm_pipeline.py graph_prefix(), docs/current/03_graph_host.md</a:t>
            </a:r>
            <a:endParaRPr lang="en-US" sz="850" dirty="0"/>
          </a:p>
        </p:txBody>
      </p:sp>
      <p:sp>
        <p:nvSpPr>
          <p:cNvPr id="37" name="Text 34"/>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15 / 89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3 · Graph 정리와 host</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LiftTransformParams: weight transpose는 언제, 어디서 실행되는가</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작은 예제의 실제 IR. device 함수에서 permute_dims가 사라지고 반환 tuple의 순서가 (bias, lv)로 바뀝니다. 변환된 Wᵀ는 DRAM image의 정해진 주소에 한 번 놓입니다.</a:t>
            </a:r>
            <a:endParaRPr lang="en-US" sz="1250" dirty="0"/>
          </a:p>
        </p:txBody>
      </p:sp>
      <p:sp>
        <p:nvSpPr>
          <p:cNvPr id="5" name="Text 3"/>
          <p:cNvSpPr txBox="1"/>
          <p:nvPr/>
        </p:nvSpPr>
        <p:spPr>
          <a:xfrm>
            <a:off x="45720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변환 전 (01_authored_relax)</a:t>
            </a:r>
            <a:endParaRPr lang="en-US" sz="1100" dirty="0"/>
          </a:p>
        </p:txBody>
      </p:sp>
      <p:sp>
        <p:nvSpPr>
          <p:cNvPr id="6" name="Shape 4"/>
          <p:cNvSpPr/>
          <p:nvPr/>
        </p:nvSpPr>
        <p:spPr>
          <a:xfrm>
            <a:off x="457200" y="1645920"/>
            <a:ext cx="5486400" cy="1234440"/>
          </a:xfrm>
          <a:prstGeom prst="roundRect">
            <a:avLst>
              <a:gd name="adj" fmla="val 3704"/>
            </a:avLst>
          </a:prstGeom>
          <a:solidFill>
            <a:srgbClr val="F5F7FA"/>
          </a:solidFill>
          <a:ln w="9525">
            <a:solidFill>
              <a:srgbClr val="C9D3DF"/>
            </a:solidFill>
            <a:prstDash val="solid"/>
          </a:ln>
        </p:spPr>
      </p:sp>
      <p:sp>
        <p:nvSpPr>
          <p:cNvPr id="7" name="Text 5"/>
          <p:cNvSpPr txBox="1"/>
          <p:nvPr/>
        </p:nvSpPr>
        <p:spPr>
          <a:xfrm>
            <a:off x="566928" y="1719072"/>
            <a:ext cx="5266944" cy="1088136"/>
          </a:xfrm>
          <a:prstGeom prst="rect">
            <a:avLst/>
          </a:prstGeom>
          <a:noFill/>
          <a:ln/>
        </p:spPr>
        <p:txBody>
          <a:bodyPr wrap="square" lIns="0" tIns="0" rIns="0" bIns="0" rtlCol="0" anchor="t"/>
          <a:lstStyle/>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def prefill(x, weight, bias):          # num_input = 1</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lv  = R.permute_dims(weight, [1,0]) # 매 호출마다 transpose?</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lv1 = R.matmul(x, lv)</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lv2 = R.add(lv1, bias)</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gv  = R.nn.silu(lv2)</a:t>
            </a:r>
            <a:endParaRPr lang="en-US" sz="900" dirty="0"/>
          </a:p>
        </p:txBody>
      </p:sp>
      <p:sp>
        <p:nvSpPr>
          <p:cNvPr id="8" name="Text 6"/>
          <p:cNvSpPr txBox="1"/>
          <p:nvPr/>
        </p:nvSpPr>
        <p:spPr>
          <a:xfrm>
            <a:off x="6245352"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변환 후 (02_graph_prefix) — device 함수</a:t>
            </a:r>
            <a:endParaRPr lang="en-US" sz="1100" dirty="0"/>
          </a:p>
        </p:txBody>
      </p:sp>
      <p:sp>
        <p:nvSpPr>
          <p:cNvPr id="9" name="Shape 7"/>
          <p:cNvSpPr/>
          <p:nvPr/>
        </p:nvSpPr>
        <p:spPr>
          <a:xfrm>
            <a:off x="6245352" y="1645920"/>
            <a:ext cx="5486400" cy="1234440"/>
          </a:xfrm>
          <a:prstGeom prst="roundRect">
            <a:avLst>
              <a:gd name="adj" fmla="val 3704"/>
            </a:avLst>
          </a:prstGeom>
          <a:solidFill>
            <a:srgbClr val="F5F7FA"/>
          </a:solidFill>
          <a:ln w="9525">
            <a:solidFill>
              <a:srgbClr val="C9D3DF"/>
            </a:solidFill>
            <a:prstDash val="solid"/>
          </a:ln>
        </p:spPr>
      </p:sp>
      <p:sp>
        <p:nvSpPr>
          <p:cNvPr id="10" name="Text 8"/>
          <p:cNvSpPr txBox="1"/>
          <p:nvPr/>
        </p:nvSpPr>
        <p:spPr>
          <a:xfrm>
            <a:off x="6355080" y="1719072"/>
            <a:ext cx="5266944" cy="1088136"/>
          </a:xfrm>
          <a:prstGeom prst="rect">
            <a:avLst/>
          </a:prstGeom>
          <a:noFill/>
          <a:ln/>
        </p:spPr>
        <p:txBody>
          <a:bodyPr wrap="square" lIns="0" tIns="0" rIns="0" bIns="0" rtlCol="0" anchor="t"/>
          <a:lstStyle/>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def prefill(x, bias, lv: (128,64)):    # num_input = 1</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lv1 = R.matmul(x, lv)               # transpose 없음</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lv2 = R.add(lv1, bias)</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gv  = R.nn.silu(lv2)</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 parameter 순서: (bias, lv) ← 원래 (weight, bias)와 다름</a:t>
            </a:r>
            <a:endParaRPr lang="en-US" sz="900" dirty="0"/>
          </a:p>
        </p:txBody>
      </p:sp>
      <p:sp>
        <p:nvSpPr>
          <p:cNvPr id="11" name="Text 9"/>
          <p:cNvSpPr txBox="1"/>
          <p:nvPr/>
        </p:nvSpPr>
        <p:spPr>
          <a:xfrm>
            <a:off x="6245352" y="301752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변환 후 — host 함수 (runtime 준비 단계에서 1회 실행)</a:t>
            </a:r>
            <a:endParaRPr lang="en-US" sz="1100" dirty="0"/>
          </a:p>
        </p:txBody>
      </p:sp>
      <p:sp>
        <p:nvSpPr>
          <p:cNvPr id="12" name="Shape 10"/>
          <p:cNvSpPr/>
          <p:nvPr/>
        </p:nvSpPr>
        <p:spPr>
          <a:xfrm>
            <a:off x="6245352" y="3291840"/>
            <a:ext cx="5486400" cy="1371600"/>
          </a:xfrm>
          <a:prstGeom prst="roundRect">
            <a:avLst>
              <a:gd name="adj" fmla="val 3333"/>
            </a:avLst>
          </a:prstGeom>
          <a:solidFill>
            <a:srgbClr val="F5F7FA"/>
          </a:solidFill>
          <a:ln w="9525">
            <a:solidFill>
              <a:srgbClr val="C9D3DF"/>
            </a:solidFill>
            <a:prstDash val="solid"/>
          </a:ln>
        </p:spPr>
      </p:sp>
      <p:sp>
        <p:nvSpPr>
          <p:cNvPr id="13" name="Text 11"/>
          <p:cNvSpPr txBox="1"/>
          <p:nvPr/>
        </p:nvSpPr>
        <p:spPr>
          <a:xfrm>
            <a:off x="6355080" y="3364992"/>
            <a:ext cx="5266944" cy="1225296"/>
          </a:xfrm>
          <a:prstGeom prst="rect">
            <a:avLst/>
          </a:prstGeom>
          <a:noFill/>
          <a:ln/>
        </p:spPr>
        <p:txBody>
          <a:bodyPr wrap="square" lIns="0" tIns="0" rIns="0" bIns="0" rtlCol="0" anchor="t"/>
          <a:lstStyle/>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def prefill_transform_params(model_params: R.Tuple((64,128), (64,))):</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R.func_attr({"num_input": 0})</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weight = model_params[0]</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lv = R.permute_dims(weight, axes=[1, 0])     # → call_tir(transpose)</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bias = model_params[1]</a:t>
            </a:r>
            <a:endParaRPr lang="en-US" sz="900" dirty="0"/>
          </a:p>
          <a:p>
            <a:pPr algn="l" indent="0" marL="0">
              <a:lnSpc>
                <a:spcPct val="105000"/>
              </a:lnSpc>
              <a:buNone/>
            </a:pPr>
            <a:r>
              <a:rPr lang="en-US" sz="900" dirty="0">
                <a:solidFill>
                  <a:srgbClr val="1F2D3D"/>
                </a:solidFill>
                <a:latin typeface="Courier New" pitchFamily="34" charset="0"/>
                <a:ea typeface="Courier New" pitchFamily="34" charset="-122"/>
                <a:cs typeface="Courier New" pitchFamily="34" charset="-120"/>
              </a:rPr>
              <a:t>    return (bias, lv)                            # 변환된 parameter 묶음</a:t>
            </a:r>
            <a:endParaRPr lang="en-US" sz="900" dirty="0"/>
          </a:p>
        </p:txBody>
      </p:sp>
      <p:sp>
        <p:nvSpPr>
          <p:cNvPr id="14" name="Shape 12"/>
          <p:cNvSpPr/>
          <p:nvPr/>
        </p:nvSpPr>
        <p:spPr>
          <a:xfrm>
            <a:off x="457200" y="3429000"/>
            <a:ext cx="1463040" cy="731520"/>
          </a:xfrm>
          <a:prstGeom prst="rect">
            <a:avLst/>
          </a:prstGeom>
          <a:solidFill>
            <a:srgbClr val="FFF1DC"/>
          </a:solidFill>
          <a:ln w="12700">
            <a:solidFill>
              <a:srgbClr val="D98A1E"/>
            </a:solidFill>
            <a:prstDash val="solid"/>
          </a:ln>
        </p:spPr>
      </p:sp>
      <p:sp>
        <p:nvSpPr>
          <p:cNvPr id="15" name="Shape 13"/>
          <p:cNvSpPr/>
          <p:nvPr/>
        </p:nvSpPr>
        <p:spPr>
          <a:xfrm>
            <a:off x="457200" y="3429000"/>
            <a:ext cx="731520" cy="731520"/>
          </a:xfrm>
          <a:prstGeom prst="rect">
            <a:avLst/>
          </a:prstGeom>
          <a:solidFill>
            <a:srgbClr val="FFF1DC"/>
          </a:solidFill>
          <a:ln w="15875">
            <a:solidFill>
              <a:srgbClr val="D98A1E"/>
            </a:solidFill>
            <a:prstDash val="solid"/>
          </a:ln>
        </p:spPr>
      </p:sp>
      <p:sp>
        <p:nvSpPr>
          <p:cNvPr id="16" name="Shape 14"/>
          <p:cNvSpPr/>
          <p:nvPr/>
        </p:nvSpPr>
        <p:spPr>
          <a:xfrm>
            <a:off x="1188720" y="3429000"/>
            <a:ext cx="731520" cy="731520"/>
          </a:xfrm>
          <a:prstGeom prst="rect">
            <a:avLst/>
          </a:prstGeom>
          <a:solidFill>
            <a:srgbClr val="FFF1DC"/>
          </a:solidFill>
          <a:ln w="15875">
            <a:solidFill>
              <a:srgbClr val="D98A1E"/>
            </a:solidFill>
            <a:prstDash val="solid"/>
          </a:ln>
        </p:spPr>
      </p:sp>
      <p:sp>
        <p:nvSpPr>
          <p:cNvPr id="17" name="Shape 15"/>
          <p:cNvSpPr/>
          <p:nvPr/>
        </p:nvSpPr>
        <p:spPr>
          <a:xfrm>
            <a:off x="1188720" y="3429000"/>
            <a:ext cx="914" cy="731520"/>
          </a:xfrm>
          <a:prstGeom prst="line">
            <a:avLst/>
          </a:prstGeom>
          <a:noFill/>
          <a:ln w="12700">
            <a:solidFill>
              <a:srgbClr val="D98A1E"/>
            </a:solidFill>
            <a:prstDash val="solid"/>
          </a:ln>
        </p:spPr>
      </p:sp>
      <p:sp>
        <p:nvSpPr>
          <p:cNvPr id="18" name="Text 16"/>
          <p:cNvSpPr txBox="1"/>
          <p:nvPr/>
        </p:nvSpPr>
        <p:spPr>
          <a:xfrm>
            <a:off x="457200" y="3429000"/>
            <a:ext cx="731520" cy="7315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w₀</a:t>
            </a:r>
            <a:endParaRPr lang="en-US" sz="800" dirty="0"/>
          </a:p>
        </p:txBody>
      </p:sp>
      <p:sp>
        <p:nvSpPr>
          <p:cNvPr id="19" name="Text 17"/>
          <p:cNvSpPr txBox="1"/>
          <p:nvPr/>
        </p:nvSpPr>
        <p:spPr>
          <a:xfrm>
            <a:off x="1188720" y="3429000"/>
            <a:ext cx="731520" cy="7315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w₁</a:t>
            </a:r>
            <a:endParaRPr lang="en-US" sz="800" dirty="0"/>
          </a:p>
        </p:txBody>
      </p:sp>
      <p:sp>
        <p:nvSpPr>
          <p:cNvPr id="20" name="Text 18"/>
          <p:cNvSpPr txBox="1"/>
          <p:nvPr/>
        </p:nvSpPr>
        <p:spPr>
          <a:xfrm>
            <a:off x="457200" y="3200400"/>
            <a:ext cx="146304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checkpoint weight [64,128]</a:t>
            </a:r>
            <a:endParaRPr lang="en-US" sz="850" dirty="0"/>
          </a:p>
        </p:txBody>
      </p:sp>
      <p:sp>
        <p:nvSpPr>
          <p:cNvPr id="21" name="Text 19"/>
          <p:cNvSpPr txBox="1"/>
          <p:nvPr/>
        </p:nvSpPr>
        <p:spPr>
          <a:xfrm>
            <a:off x="457200" y="4197096"/>
            <a:ext cx="146304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[N,K] 저장</a:t>
            </a:r>
            <a:endParaRPr lang="en-US" sz="750" dirty="0"/>
          </a:p>
        </p:txBody>
      </p:sp>
      <p:sp>
        <p:nvSpPr>
          <p:cNvPr id="22" name="Shape 20"/>
          <p:cNvSpPr/>
          <p:nvPr/>
        </p:nvSpPr>
        <p:spPr>
          <a:xfrm>
            <a:off x="2011680" y="3794760"/>
            <a:ext cx="914400" cy="914"/>
          </a:xfrm>
          <a:prstGeom prst="line">
            <a:avLst/>
          </a:prstGeom>
          <a:noFill/>
          <a:ln w="25400">
            <a:solidFill>
              <a:srgbClr val="5B6B7F"/>
            </a:solidFill>
            <a:prstDash val="solid"/>
            <a:tailEnd type="triangle"/>
          </a:ln>
        </p:spPr>
      </p:sp>
      <p:sp>
        <p:nvSpPr>
          <p:cNvPr id="23" name="Text 21"/>
          <p:cNvSpPr txBox="1"/>
          <p:nvPr/>
        </p:nvSpPr>
        <p:spPr>
          <a:xfrm>
            <a:off x="1965960" y="3383280"/>
            <a:ext cx="1097280" cy="365760"/>
          </a:xfrm>
          <a:prstGeom prst="rect">
            <a:avLst/>
          </a:prstGeom>
          <a:noFill/>
          <a:ln/>
        </p:spPr>
        <p:txBody>
          <a:bodyPr wrap="square" lIns="0" tIns="0" rIns="0" bIns="0" rtlCol="0" anchor="t"/>
          <a:lstStyle/>
          <a:p>
            <a:pPr algn="ctr" indent="0" marL="0">
              <a:buNone/>
            </a:pPr>
            <a:r>
              <a:rPr lang="en-US" sz="800" b="1" dirty="0">
                <a:solidFill>
                  <a:srgbClr val="5B6B7F"/>
                </a:solidFill>
                <a:latin typeface="Malgun Gothic" pitchFamily="34" charset="0"/>
                <a:ea typeface="Malgun Gothic" pitchFamily="34" charset="-122"/>
                <a:cs typeface="Malgun Gothic" pitchFamily="34" charset="-120"/>
              </a:rPr>
              <a:t>transpose</a:t>
            </a:r>
            <a:endParaRPr lang="en-US" sz="800" dirty="0"/>
          </a:p>
          <a:p>
            <a:pPr algn="ctr" indent="0" marL="0">
              <a:buNone/>
            </a:pPr>
            <a:r>
              <a:rPr lang="en-US" sz="800" b="1" dirty="0">
                <a:solidFill>
                  <a:srgbClr val="5B6B7F"/>
                </a:solidFill>
                <a:latin typeface="Malgun Gothic" pitchFamily="34" charset="0"/>
                <a:ea typeface="Malgun Gothic" pitchFamily="34" charset="-122"/>
                <a:cs typeface="Malgun Gothic" pitchFamily="34" charset="-120"/>
              </a:rPr>
              <a:t>host VM, 1회</a:t>
            </a:r>
            <a:endParaRPr lang="en-US" sz="800" dirty="0"/>
          </a:p>
        </p:txBody>
      </p:sp>
      <p:sp>
        <p:nvSpPr>
          <p:cNvPr id="24" name="Shape 22"/>
          <p:cNvSpPr/>
          <p:nvPr/>
        </p:nvSpPr>
        <p:spPr>
          <a:xfrm>
            <a:off x="3017520" y="3063240"/>
            <a:ext cx="731520" cy="1463040"/>
          </a:xfrm>
          <a:prstGeom prst="rect">
            <a:avLst/>
          </a:prstGeom>
          <a:solidFill>
            <a:srgbClr val="FFF1DC"/>
          </a:solidFill>
          <a:ln w="12700">
            <a:solidFill>
              <a:srgbClr val="D98A1E"/>
            </a:solidFill>
            <a:prstDash val="solid"/>
          </a:ln>
        </p:spPr>
      </p:sp>
      <p:sp>
        <p:nvSpPr>
          <p:cNvPr id="25" name="Shape 23"/>
          <p:cNvSpPr/>
          <p:nvPr/>
        </p:nvSpPr>
        <p:spPr>
          <a:xfrm>
            <a:off x="3017520" y="3063240"/>
            <a:ext cx="731520" cy="731520"/>
          </a:xfrm>
          <a:prstGeom prst="rect">
            <a:avLst/>
          </a:prstGeom>
          <a:solidFill>
            <a:srgbClr val="FFF1DC"/>
          </a:solidFill>
          <a:ln w="15875">
            <a:solidFill>
              <a:srgbClr val="D98A1E"/>
            </a:solidFill>
            <a:prstDash val="solid"/>
          </a:ln>
        </p:spPr>
      </p:sp>
      <p:sp>
        <p:nvSpPr>
          <p:cNvPr id="26" name="Shape 24"/>
          <p:cNvSpPr/>
          <p:nvPr/>
        </p:nvSpPr>
        <p:spPr>
          <a:xfrm>
            <a:off x="3017520" y="3794760"/>
            <a:ext cx="731520" cy="731520"/>
          </a:xfrm>
          <a:prstGeom prst="rect">
            <a:avLst/>
          </a:prstGeom>
          <a:solidFill>
            <a:srgbClr val="FFF1DC"/>
          </a:solidFill>
          <a:ln w="15875">
            <a:solidFill>
              <a:srgbClr val="D98A1E"/>
            </a:solidFill>
            <a:prstDash val="solid"/>
          </a:ln>
        </p:spPr>
      </p:sp>
      <p:sp>
        <p:nvSpPr>
          <p:cNvPr id="27" name="Shape 25"/>
          <p:cNvSpPr/>
          <p:nvPr/>
        </p:nvSpPr>
        <p:spPr>
          <a:xfrm>
            <a:off x="3017520" y="3794760"/>
            <a:ext cx="731520" cy="914"/>
          </a:xfrm>
          <a:prstGeom prst="line">
            <a:avLst/>
          </a:prstGeom>
          <a:noFill/>
          <a:ln w="12700">
            <a:solidFill>
              <a:srgbClr val="D98A1E"/>
            </a:solidFill>
            <a:prstDash val="solid"/>
          </a:ln>
        </p:spPr>
      </p:sp>
      <p:sp>
        <p:nvSpPr>
          <p:cNvPr id="28" name="Text 26"/>
          <p:cNvSpPr txBox="1"/>
          <p:nvPr/>
        </p:nvSpPr>
        <p:spPr>
          <a:xfrm>
            <a:off x="3017520" y="3063240"/>
            <a:ext cx="731520" cy="7315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w₀ᵀ</a:t>
            </a:r>
            <a:endParaRPr lang="en-US" sz="800" dirty="0"/>
          </a:p>
        </p:txBody>
      </p:sp>
      <p:sp>
        <p:nvSpPr>
          <p:cNvPr id="29" name="Text 27"/>
          <p:cNvSpPr txBox="1"/>
          <p:nvPr/>
        </p:nvSpPr>
        <p:spPr>
          <a:xfrm>
            <a:off x="3017520" y="3794760"/>
            <a:ext cx="731520" cy="7315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w₁ᵀ</a:t>
            </a:r>
            <a:endParaRPr lang="en-US" sz="800" dirty="0"/>
          </a:p>
        </p:txBody>
      </p:sp>
      <p:sp>
        <p:nvSpPr>
          <p:cNvPr id="30" name="Text 28"/>
          <p:cNvSpPr txBox="1"/>
          <p:nvPr/>
        </p:nvSpPr>
        <p:spPr>
          <a:xfrm>
            <a:off x="3017520" y="2834640"/>
            <a:ext cx="1280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lv = Wᵀ [128,64]</a:t>
            </a:r>
            <a:endParaRPr lang="en-US" sz="850" dirty="0"/>
          </a:p>
        </p:txBody>
      </p:sp>
      <p:sp>
        <p:nvSpPr>
          <p:cNvPr id="31" name="Text 29"/>
          <p:cNvSpPr txBox="1"/>
          <p:nvPr/>
        </p:nvSpPr>
        <p:spPr>
          <a:xfrm>
            <a:off x="3017520" y="4562856"/>
            <a:ext cx="128016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[K,N] 계산용</a:t>
            </a:r>
            <a:endParaRPr lang="en-US" sz="750" dirty="0"/>
          </a:p>
        </p:txBody>
      </p:sp>
      <p:sp>
        <p:nvSpPr>
          <p:cNvPr id="32" name="Shape 30"/>
          <p:cNvSpPr/>
          <p:nvPr/>
        </p:nvSpPr>
        <p:spPr>
          <a:xfrm>
            <a:off x="3840480" y="3794760"/>
            <a:ext cx="731520" cy="914"/>
          </a:xfrm>
          <a:prstGeom prst="line">
            <a:avLst/>
          </a:prstGeom>
          <a:noFill/>
          <a:ln w="25400">
            <a:solidFill>
              <a:srgbClr val="D98A1E"/>
            </a:solidFill>
            <a:prstDash val="solid"/>
            <a:tailEnd type="triangle"/>
          </a:ln>
        </p:spPr>
      </p:sp>
      <p:sp>
        <p:nvSpPr>
          <p:cNvPr id="33" name="Text 31"/>
          <p:cNvSpPr txBox="1"/>
          <p:nvPr/>
        </p:nvSpPr>
        <p:spPr>
          <a:xfrm>
            <a:off x="3794760" y="3383280"/>
            <a:ext cx="914400" cy="365760"/>
          </a:xfrm>
          <a:prstGeom prst="rect">
            <a:avLst/>
          </a:prstGeom>
          <a:noFill/>
          <a:ln/>
        </p:spPr>
        <p:txBody>
          <a:bodyPr wrap="square" lIns="0" tIns="0" rIns="0" bIns="0" rtlCol="0" anchor="t"/>
          <a:lstStyle/>
          <a:p>
            <a:pPr algn="ctr" indent="0" marL="0">
              <a:buNone/>
            </a:pPr>
            <a:r>
              <a:rPr lang="en-US" sz="800" b="1" dirty="0">
                <a:solidFill>
                  <a:srgbClr val="D98A1E"/>
                </a:solidFill>
                <a:latin typeface="Malgun Gothic" pitchFamily="34" charset="0"/>
                <a:ea typeface="Malgun Gothic" pitchFamily="34" charset="-122"/>
                <a:cs typeface="Malgun Gothic" pitchFamily="34" charset="-120"/>
              </a:rPr>
              <a:t>build_image</a:t>
            </a:r>
            <a:endParaRPr lang="en-US" sz="800" dirty="0"/>
          </a:p>
          <a:p>
            <a:pPr algn="ctr" indent="0" marL="0">
              <a:buNone/>
            </a:pPr>
            <a:r>
              <a:rPr lang="en-US" sz="800" b="1" dirty="0">
                <a:solidFill>
                  <a:srgbClr val="D98A1E"/>
                </a:solidFill>
                <a:latin typeface="Malgun Gothic" pitchFamily="34" charset="0"/>
                <a:ea typeface="Malgun Gothic" pitchFamily="34" charset="-122"/>
                <a:cs typeface="Malgun Gothic" pitchFamily="34" charset="-120"/>
              </a:rPr>
              <a:t>주소 16,512</a:t>
            </a:r>
            <a:endParaRPr lang="en-US" sz="800" dirty="0"/>
          </a:p>
        </p:txBody>
      </p:sp>
      <p:sp>
        <p:nvSpPr>
          <p:cNvPr id="34" name="Shape 32"/>
          <p:cNvSpPr/>
          <p:nvPr/>
        </p:nvSpPr>
        <p:spPr>
          <a:xfrm>
            <a:off x="4846320" y="3337560"/>
            <a:ext cx="1051560" cy="914400"/>
          </a:xfrm>
          <a:prstGeom prst="roundRect">
            <a:avLst>
              <a:gd name="adj" fmla="val 6000"/>
            </a:avLst>
          </a:prstGeom>
          <a:solidFill>
            <a:srgbClr val="FFF1DC"/>
          </a:solidFill>
          <a:ln w="12700">
            <a:solidFill>
              <a:srgbClr val="D98A1E"/>
            </a:solidFill>
            <a:prstDash val="solid"/>
          </a:ln>
        </p:spPr>
      </p:sp>
      <p:sp>
        <p:nvSpPr>
          <p:cNvPr id="35" name="Text 33"/>
          <p:cNvSpPr txBox="1"/>
          <p:nvPr/>
        </p:nvSpPr>
        <p:spPr>
          <a:xfrm>
            <a:off x="4901184" y="3374136"/>
            <a:ext cx="941832" cy="841248"/>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DRAM</a:t>
            </a:r>
            <a:endParaRPr lang="en-US" sz="1050" dirty="0"/>
          </a:p>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image</a:t>
            </a:r>
            <a:endParaRPr lang="en-US" sz="1050" dirty="0"/>
          </a:p>
        </p:txBody>
      </p:sp>
      <p:sp>
        <p:nvSpPr>
          <p:cNvPr id="36" name="Text 34"/>
          <p:cNvSpPr txBox="1"/>
          <p:nvPr/>
        </p:nvSpPr>
        <p:spPr>
          <a:xfrm>
            <a:off x="457200" y="4892040"/>
            <a:ext cx="11274552" cy="219456"/>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DRAM image (bundle/program.json 실제 주소, bytes): 변환된 signature 순서 (x, bias, lv)로 배치 · 총 41,100 B</a:t>
            </a:r>
            <a:endParaRPr lang="en-US" sz="950" dirty="0"/>
          </a:p>
        </p:txBody>
      </p:sp>
      <p:sp>
        <p:nvSpPr>
          <p:cNvPr id="37" name="Shape 35"/>
          <p:cNvSpPr/>
          <p:nvPr/>
        </p:nvSpPr>
        <p:spPr>
          <a:xfrm>
            <a:off x="457200" y="5138928"/>
            <a:ext cx="11274552" cy="457200"/>
          </a:xfrm>
          <a:prstGeom prst="rect">
            <a:avLst/>
          </a:prstGeom>
          <a:solidFill>
            <a:srgbClr val="EEF2F6"/>
          </a:solidFill>
          <a:ln w="9525">
            <a:solidFill>
              <a:srgbClr val="C9D3DF"/>
            </a:solidFill>
            <a:prstDash val="solid"/>
          </a:ln>
        </p:spPr>
      </p:sp>
      <p:sp>
        <p:nvSpPr>
          <p:cNvPr id="38" name="Shape 36"/>
          <p:cNvSpPr/>
          <p:nvPr/>
        </p:nvSpPr>
        <p:spPr>
          <a:xfrm>
            <a:off x="457200" y="5138928"/>
            <a:ext cx="4494459" cy="457200"/>
          </a:xfrm>
          <a:prstGeom prst="rect">
            <a:avLst/>
          </a:prstGeom>
          <a:solidFill>
            <a:srgbClr val="EEF1F5"/>
          </a:solidFill>
          <a:ln w="12700">
            <a:solidFill>
              <a:srgbClr val="5B6B7F"/>
            </a:solidFill>
            <a:prstDash val="solid"/>
          </a:ln>
        </p:spPr>
      </p:sp>
      <p:sp>
        <p:nvSpPr>
          <p:cNvPr id="39" name="Text 37"/>
          <p:cNvSpPr txBox="1"/>
          <p:nvPr/>
        </p:nvSpPr>
        <p:spPr>
          <a:xfrm>
            <a:off x="457200" y="5138928"/>
            <a:ext cx="4494459"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x [64,128]  16,384 B</a:t>
            </a:r>
            <a:endParaRPr lang="en-US" sz="850" dirty="0"/>
          </a:p>
        </p:txBody>
      </p:sp>
      <p:sp>
        <p:nvSpPr>
          <p:cNvPr id="40" name="Text 38"/>
          <p:cNvSpPr txBox="1"/>
          <p:nvPr/>
        </p:nvSpPr>
        <p:spPr>
          <a:xfrm>
            <a:off x="457200" y="5367528"/>
            <a:ext cx="4494459"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실행 입력 (token마다 patch)</a:t>
            </a:r>
            <a:endParaRPr lang="en-US" sz="650" dirty="0"/>
          </a:p>
        </p:txBody>
      </p:sp>
      <p:sp>
        <p:nvSpPr>
          <p:cNvPr id="41" name="Shape 39"/>
          <p:cNvSpPr/>
          <p:nvPr/>
        </p:nvSpPr>
        <p:spPr>
          <a:xfrm>
            <a:off x="4951659" y="5138928"/>
            <a:ext cx="35113" cy="457200"/>
          </a:xfrm>
          <a:prstGeom prst="rect">
            <a:avLst/>
          </a:prstGeom>
          <a:solidFill>
            <a:srgbClr val="FFF1DC"/>
          </a:solidFill>
          <a:ln w="12700">
            <a:solidFill>
              <a:srgbClr val="D98A1E"/>
            </a:solidFill>
            <a:prstDash val="solid"/>
          </a:ln>
        </p:spPr>
      </p:sp>
      <p:sp>
        <p:nvSpPr>
          <p:cNvPr id="42" name="Shape 40"/>
          <p:cNvSpPr/>
          <p:nvPr/>
        </p:nvSpPr>
        <p:spPr>
          <a:xfrm>
            <a:off x="4986772" y="5138928"/>
            <a:ext cx="4494459" cy="457200"/>
          </a:xfrm>
          <a:prstGeom prst="rect">
            <a:avLst/>
          </a:prstGeom>
          <a:solidFill>
            <a:srgbClr val="FFF1DC"/>
          </a:solidFill>
          <a:ln w="12700">
            <a:solidFill>
              <a:srgbClr val="D98A1E"/>
            </a:solidFill>
            <a:prstDash val="solid"/>
          </a:ln>
        </p:spPr>
      </p:sp>
      <p:sp>
        <p:nvSpPr>
          <p:cNvPr id="43" name="Text 41"/>
          <p:cNvSpPr txBox="1"/>
          <p:nvPr/>
        </p:nvSpPr>
        <p:spPr>
          <a:xfrm>
            <a:off x="4986772" y="5138928"/>
            <a:ext cx="4494459"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lv = Wᵀ [128,64]  16,384 B</a:t>
            </a:r>
            <a:endParaRPr lang="en-US" sz="850" dirty="0"/>
          </a:p>
        </p:txBody>
      </p:sp>
      <p:sp>
        <p:nvSpPr>
          <p:cNvPr id="44" name="Text 42"/>
          <p:cNvSpPr txBox="1"/>
          <p:nvPr/>
        </p:nvSpPr>
        <p:spPr>
          <a:xfrm>
            <a:off x="4986772" y="5367528"/>
            <a:ext cx="4494459"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host transform 결과 (1회)</a:t>
            </a:r>
            <a:endParaRPr lang="en-US" sz="650" dirty="0"/>
          </a:p>
        </p:txBody>
      </p:sp>
      <p:sp>
        <p:nvSpPr>
          <p:cNvPr id="45" name="Shape 43"/>
          <p:cNvSpPr/>
          <p:nvPr/>
        </p:nvSpPr>
        <p:spPr>
          <a:xfrm>
            <a:off x="9481231" y="5138928"/>
            <a:ext cx="2247229" cy="457200"/>
          </a:xfrm>
          <a:prstGeom prst="rect">
            <a:avLst/>
          </a:prstGeom>
          <a:solidFill>
            <a:srgbClr val="ECE6FA"/>
          </a:solidFill>
          <a:ln w="12700">
            <a:solidFill>
              <a:srgbClr val="6C4FBF"/>
            </a:solidFill>
            <a:prstDash val="solid"/>
          </a:ln>
        </p:spPr>
      </p:sp>
      <p:sp>
        <p:nvSpPr>
          <p:cNvPr id="46" name="Text 44"/>
          <p:cNvSpPr txBox="1"/>
          <p:nvPr/>
        </p:nvSpPr>
        <p:spPr>
          <a:xfrm>
            <a:off x="9481231" y="5138928"/>
            <a:ext cx="2247229"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gv 출력 [64,64]  8,192 B</a:t>
            </a:r>
            <a:endParaRPr lang="en-US" sz="850" dirty="0"/>
          </a:p>
        </p:txBody>
      </p:sp>
      <p:sp>
        <p:nvSpPr>
          <p:cNvPr id="47" name="Text 45"/>
          <p:cNvSpPr txBox="1"/>
          <p:nvPr/>
        </p:nvSpPr>
        <p:spPr>
          <a:xfrm>
            <a:off x="9481231" y="5367528"/>
            <a:ext cx="2247229"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plan.outputs.offset_bytes</a:t>
            </a:r>
            <a:endParaRPr lang="en-US" sz="650" dirty="0"/>
          </a:p>
        </p:txBody>
      </p:sp>
      <p:sp>
        <p:nvSpPr>
          <p:cNvPr id="48" name="Shape 46"/>
          <p:cNvSpPr/>
          <p:nvPr/>
        </p:nvSpPr>
        <p:spPr>
          <a:xfrm>
            <a:off x="11728460" y="5138928"/>
            <a:ext cx="3292" cy="457200"/>
          </a:xfrm>
          <a:prstGeom prst="rect">
            <a:avLst/>
          </a:prstGeom>
          <a:solidFill>
            <a:srgbClr val="EEF2F6"/>
          </a:solidFill>
          <a:ln w="12700">
            <a:solidFill>
              <a:srgbClr val="C9D3DF"/>
            </a:solidFill>
            <a:prstDash val="solid"/>
          </a:ln>
        </p:spPr>
      </p:sp>
      <p:sp>
        <p:nvSpPr>
          <p:cNvPr id="49" name="Shape 47"/>
          <p:cNvSpPr/>
          <p:nvPr/>
        </p:nvSpPr>
        <p:spPr>
          <a:xfrm>
            <a:off x="457200" y="5596128"/>
            <a:ext cx="914" cy="73152"/>
          </a:xfrm>
          <a:prstGeom prst="line">
            <a:avLst/>
          </a:prstGeom>
          <a:noFill/>
          <a:ln w="9525">
            <a:solidFill>
              <a:srgbClr val="5B6B7F"/>
            </a:solidFill>
            <a:prstDash val="solid"/>
          </a:ln>
        </p:spPr>
      </p:sp>
      <p:sp>
        <p:nvSpPr>
          <p:cNvPr id="50" name="Text 48"/>
          <p:cNvSpPr txBox="1"/>
          <p:nvPr/>
        </p:nvSpPr>
        <p:spPr>
          <a:xfrm>
            <a:off x="0" y="5678424"/>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0</a:t>
            </a:r>
            <a:endParaRPr lang="en-US" sz="800" dirty="0"/>
          </a:p>
        </p:txBody>
      </p:sp>
      <p:sp>
        <p:nvSpPr>
          <p:cNvPr id="51" name="Shape 49"/>
          <p:cNvSpPr/>
          <p:nvPr/>
        </p:nvSpPr>
        <p:spPr>
          <a:xfrm>
            <a:off x="4951659" y="5596128"/>
            <a:ext cx="914" cy="73152"/>
          </a:xfrm>
          <a:prstGeom prst="line">
            <a:avLst/>
          </a:prstGeom>
          <a:noFill/>
          <a:ln w="9525">
            <a:solidFill>
              <a:srgbClr val="5B6B7F"/>
            </a:solidFill>
            <a:prstDash val="solid"/>
          </a:ln>
        </p:spPr>
      </p:sp>
      <p:sp>
        <p:nvSpPr>
          <p:cNvPr id="52" name="Text 50"/>
          <p:cNvSpPr txBox="1"/>
          <p:nvPr/>
        </p:nvSpPr>
        <p:spPr>
          <a:xfrm>
            <a:off x="4494459" y="5678424"/>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16384</a:t>
            </a:r>
            <a:endParaRPr lang="en-US" sz="800" dirty="0"/>
          </a:p>
        </p:txBody>
      </p:sp>
      <p:sp>
        <p:nvSpPr>
          <p:cNvPr id="53" name="Shape 51"/>
          <p:cNvSpPr/>
          <p:nvPr/>
        </p:nvSpPr>
        <p:spPr>
          <a:xfrm>
            <a:off x="9481231" y="5596128"/>
            <a:ext cx="914" cy="73152"/>
          </a:xfrm>
          <a:prstGeom prst="line">
            <a:avLst/>
          </a:prstGeom>
          <a:noFill/>
          <a:ln w="9525">
            <a:solidFill>
              <a:srgbClr val="5B6B7F"/>
            </a:solidFill>
            <a:prstDash val="solid"/>
          </a:ln>
        </p:spPr>
      </p:sp>
      <p:sp>
        <p:nvSpPr>
          <p:cNvPr id="54" name="Text 52"/>
          <p:cNvSpPr txBox="1"/>
          <p:nvPr/>
        </p:nvSpPr>
        <p:spPr>
          <a:xfrm>
            <a:off x="9024031" y="5678424"/>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32896</a:t>
            </a:r>
            <a:endParaRPr lang="en-US" sz="800" dirty="0"/>
          </a:p>
        </p:txBody>
      </p:sp>
      <p:sp>
        <p:nvSpPr>
          <p:cNvPr id="55" name="Shape 53"/>
          <p:cNvSpPr/>
          <p:nvPr/>
        </p:nvSpPr>
        <p:spPr>
          <a:xfrm>
            <a:off x="11728460" y="5596128"/>
            <a:ext cx="914" cy="73152"/>
          </a:xfrm>
          <a:prstGeom prst="line">
            <a:avLst/>
          </a:prstGeom>
          <a:noFill/>
          <a:ln w="9525">
            <a:solidFill>
              <a:srgbClr val="5B6B7F"/>
            </a:solidFill>
            <a:prstDash val="solid"/>
          </a:ln>
        </p:spPr>
      </p:sp>
      <p:sp>
        <p:nvSpPr>
          <p:cNvPr id="56" name="Text 54"/>
          <p:cNvSpPr txBox="1"/>
          <p:nvPr/>
        </p:nvSpPr>
        <p:spPr>
          <a:xfrm>
            <a:off x="11271260" y="5678424"/>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41088</a:t>
            </a:r>
            <a:endParaRPr lang="en-US" sz="800" dirty="0"/>
          </a:p>
        </p:txBody>
      </p:sp>
      <p:sp>
        <p:nvSpPr>
          <p:cNvPr id="57" name="Text 55"/>
          <p:cNvSpPr txBox="1"/>
          <p:nvPr/>
        </p:nvSpPr>
        <p:spPr>
          <a:xfrm>
            <a:off x="3566160" y="5779008"/>
            <a:ext cx="3108960" cy="182880"/>
          </a:xfrm>
          <a:prstGeom prst="rect">
            <a:avLst/>
          </a:prstGeom>
          <a:noFill/>
          <a:ln/>
        </p:spPr>
        <p:txBody>
          <a:bodyPr wrap="square" lIns="0" tIns="0" rIns="0" bIns="0" rtlCol="0" anchor="t"/>
          <a:lstStyle/>
          <a:p>
            <a:pPr algn="l" indent="0" marL="0">
              <a:buNone/>
            </a:pPr>
            <a:r>
              <a:rPr lang="en-US" sz="750" b="1" dirty="0">
                <a:solidFill>
                  <a:srgbClr val="D98A1E"/>
                </a:solidFill>
                <a:latin typeface="Malgun Gothic" pitchFamily="34" charset="0"/>
                <a:ea typeface="Malgun Gothic" pitchFamily="34" charset="-122"/>
                <a:cs typeface="Malgun Gothic" pitchFamily="34" charset="-120"/>
              </a:rPr>
              <a:t>↑ bias [64] 128 B @ 16,384 – 16,512</a:t>
            </a:r>
            <a:endParaRPr lang="en-US" sz="750" dirty="0"/>
          </a:p>
        </p:txBody>
      </p:sp>
      <p:sp>
        <p:nvSpPr>
          <p:cNvPr id="58" name="Text 56"/>
          <p:cNvSpPr txBox="1"/>
          <p:nvPr/>
        </p:nvSpPr>
        <p:spPr>
          <a:xfrm>
            <a:off x="9418320" y="5779008"/>
            <a:ext cx="2286000" cy="182880"/>
          </a:xfrm>
          <a:prstGeom prst="rect">
            <a:avLst/>
          </a:prstGeom>
          <a:noFill/>
          <a:ln/>
        </p:spPr>
        <p:txBody>
          <a:bodyPr wrap="square" lIns="0" tIns="0" rIns="0" bIns="0" rtlCol="0" anchor="t"/>
          <a:lstStyle/>
          <a:p>
            <a:pPr algn="r" indent="0" marL="0">
              <a:buNone/>
            </a:pPr>
            <a:r>
              <a:rPr lang="en-US" sz="750" b="1" dirty="0">
                <a:solidFill>
                  <a:srgbClr val="5B6B7F"/>
                </a:solidFill>
                <a:latin typeface="Malgun Gothic" pitchFamily="34" charset="0"/>
                <a:ea typeface="Malgun Gothic" pitchFamily="34" charset="-122"/>
                <a:cs typeface="Malgun Gothic" pitchFamily="34" charset="-120"/>
              </a:rPr>
              <a:t>literal pool 12 B @ 41,088 ↑</a:t>
            </a:r>
            <a:endParaRPr lang="en-US" sz="750" dirty="0"/>
          </a:p>
        </p:txBody>
      </p:sp>
      <p:sp>
        <p:nvSpPr>
          <p:cNvPr id="59" name="Text 5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60" name="Text 5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docs/examples/pipeline/02_graph_prefix.py, 05_host_transform.py, bundle/program.json (memory.addresses), docs/current/03_graph_host.md</a:t>
            </a:r>
            <a:endParaRPr lang="en-US" sz="850" dirty="0"/>
          </a:p>
        </p:txBody>
      </p:sp>
      <p:sp>
        <p:nvSpPr>
          <p:cNvPr id="61" name="Text 5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16 / 89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3 · Graph 정리와 host</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CanonicalizeAttention: attention을 세부 연산으로 드러내는 이유</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고수준 relax.nn.attention을 그대로 LegalizeOps에 넘기면 표준 attention legalizer가 자체 TE 계산을 만들어, 우리가 등록한 matmul·softmax의 NPU 정의를 거치지 않습니다.</a:t>
            </a:r>
            <a:endParaRPr lang="en-US" sz="1250" dirty="0"/>
          </a:p>
        </p:txBody>
      </p:sp>
      <p:sp>
        <p:nvSpPr>
          <p:cNvPr id="5" name="Shape 3"/>
          <p:cNvSpPr/>
          <p:nvPr/>
        </p:nvSpPr>
        <p:spPr>
          <a:xfrm>
            <a:off x="457200" y="1417320"/>
            <a:ext cx="4754880" cy="566928"/>
          </a:xfrm>
          <a:prstGeom prst="roundRect">
            <a:avLst>
              <a:gd name="adj" fmla="val 9677"/>
            </a:avLst>
          </a:prstGeom>
          <a:solidFill>
            <a:srgbClr val="EEF1F5"/>
          </a:solidFill>
          <a:ln w="12700">
            <a:solidFill>
              <a:srgbClr val="5B6B7F"/>
            </a:solidFill>
            <a:prstDash val="solid"/>
          </a:ln>
        </p:spPr>
      </p:sp>
      <p:sp>
        <p:nvSpPr>
          <p:cNvPr id="6" name="Text 4"/>
          <p:cNvSpPr txBox="1"/>
          <p:nvPr/>
        </p:nvSpPr>
        <p:spPr>
          <a:xfrm>
            <a:off x="530352" y="1490472"/>
            <a:ext cx="4608576" cy="190500"/>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relax.nn.attention(Q, K, V, bias?, scale?, causal?, window?)</a:t>
            </a:r>
            <a:endParaRPr lang="en-US" sz="1000" dirty="0"/>
          </a:p>
        </p:txBody>
      </p:sp>
      <p:sp>
        <p:nvSpPr>
          <p:cNvPr id="7" name="Text 5"/>
          <p:cNvSpPr txBox="1"/>
          <p:nvPr/>
        </p:nvSpPr>
        <p:spPr>
          <a:xfrm>
            <a:off x="530352" y="1680972"/>
            <a:ext cx="4608576" cy="26670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입력 BSNH [b, s, h, d] FP16 정적 shape</a:t>
            </a:r>
            <a:endParaRPr lang="en-US" sz="800" dirty="0"/>
          </a:p>
        </p:txBody>
      </p:sp>
      <p:sp>
        <p:nvSpPr>
          <p:cNvPr id="8" name="Shape 6"/>
          <p:cNvSpPr/>
          <p:nvPr/>
        </p:nvSpPr>
        <p:spPr>
          <a:xfrm>
            <a:off x="2834640" y="1984248"/>
            <a:ext cx="914" cy="438912"/>
          </a:xfrm>
          <a:prstGeom prst="line">
            <a:avLst/>
          </a:prstGeom>
          <a:noFill/>
          <a:ln w="19050">
            <a:solidFill>
              <a:srgbClr val="5B6B7F"/>
            </a:solidFill>
            <a:prstDash val="solid"/>
            <a:tailEnd type="triangle"/>
          </a:ln>
        </p:spPr>
      </p:sp>
      <p:sp>
        <p:nvSpPr>
          <p:cNvPr id="9" name="Text 7"/>
          <p:cNvSpPr txBox="1"/>
          <p:nvPr/>
        </p:nvSpPr>
        <p:spPr>
          <a:xfrm>
            <a:off x="457200" y="2194560"/>
            <a:ext cx="4754880" cy="201168"/>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드러난 계산 (s = t = 4, d = 2인 작은 예; 회색 = causal로 정확히 0)</a:t>
            </a:r>
            <a:endParaRPr lang="en-US" sz="800" dirty="0"/>
          </a:p>
        </p:txBody>
      </p:sp>
      <p:sp>
        <p:nvSpPr>
          <p:cNvPr id="10" name="Shape 8"/>
          <p:cNvSpPr/>
          <p:nvPr/>
        </p:nvSpPr>
        <p:spPr>
          <a:xfrm>
            <a:off x="457200" y="2697480"/>
            <a:ext cx="640080" cy="1005840"/>
          </a:xfrm>
          <a:prstGeom prst="rect">
            <a:avLst/>
          </a:prstGeom>
          <a:solidFill>
            <a:srgbClr val="DDF3F0"/>
          </a:solidFill>
          <a:ln w="12700">
            <a:solidFill>
              <a:srgbClr val="1F8A8A"/>
            </a:solidFill>
            <a:prstDash val="solid"/>
          </a:ln>
        </p:spPr>
      </p:sp>
      <p:sp>
        <p:nvSpPr>
          <p:cNvPr id="11" name="Shape 9"/>
          <p:cNvSpPr/>
          <p:nvPr/>
        </p:nvSpPr>
        <p:spPr>
          <a:xfrm>
            <a:off x="777240" y="2697480"/>
            <a:ext cx="914" cy="1005840"/>
          </a:xfrm>
          <a:prstGeom prst="line">
            <a:avLst/>
          </a:prstGeom>
          <a:noFill/>
          <a:ln w="5080">
            <a:solidFill>
              <a:srgbClr val="D5DCE5"/>
            </a:solidFill>
            <a:prstDash val="solid"/>
          </a:ln>
        </p:spPr>
      </p:sp>
      <p:sp>
        <p:nvSpPr>
          <p:cNvPr id="12" name="Shape 10"/>
          <p:cNvSpPr/>
          <p:nvPr/>
        </p:nvSpPr>
        <p:spPr>
          <a:xfrm>
            <a:off x="457200" y="2948940"/>
            <a:ext cx="640080" cy="914"/>
          </a:xfrm>
          <a:prstGeom prst="line">
            <a:avLst/>
          </a:prstGeom>
          <a:noFill/>
          <a:ln w="5080">
            <a:solidFill>
              <a:srgbClr val="D5DCE5"/>
            </a:solidFill>
            <a:prstDash val="solid"/>
          </a:ln>
        </p:spPr>
      </p:sp>
      <p:sp>
        <p:nvSpPr>
          <p:cNvPr id="13" name="Shape 11"/>
          <p:cNvSpPr/>
          <p:nvPr/>
        </p:nvSpPr>
        <p:spPr>
          <a:xfrm>
            <a:off x="457200" y="3200400"/>
            <a:ext cx="640080" cy="914"/>
          </a:xfrm>
          <a:prstGeom prst="line">
            <a:avLst/>
          </a:prstGeom>
          <a:noFill/>
          <a:ln w="5080">
            <a:solidFill>
              <a:srgbClr val="D5DCE5"/>
            </a:solidFill>
            <a:prstDash val="solid"/>
          </a:ln>
        </p:spPr>
      </p:sp>
      <p:sp>
        <p:nvSpPr>
          <p:cNvPr id="14" name="Shape 12"/>
          <p:cNvSpPr/>
          <p:nvPr/>
        </p:nvSpPr>
        <p:spPr>
          <a:xfrm>
            <a:off x="457200" y="3451860"/>
            <a:ext cx="640080" cy="914"/>
          </a:xfrm>
          <a:prstGeom prst="line">
            <a:avLst/>
          </a:prstGeom>
          <a:noFill/>
          <a:ln w="5080">
            <a:solidFill>
              <a:srgbClr val="D5DCE5"/>
            </a:solidFill>
            <a:prstDash val="solid"/>
          </a:ln>
        </p:spPr>
      </p:sp>
      <p:sp>
        <p:nvSpPr>
          <p:cNvPr id="15" name="Text 13"/>
          <p:cNvSpPr txBox="1"/>
          <p:nvPr/>
        </p:nvSpPr>
        <p:spPr>
          <a:xfrm>
            <a:off x="457200" y="2468880"/>
            <a:ext cx="109728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Q [b·h, s, d]</a:t>
            </a:r>
            <a:endParaRPr lang="en-US" sz="850" dirty="0"/>
          </a:p>
        </p:txBody>
      </p:sp>
      <p:sp>
        <p:nvSpPr>
          <p:cNvPr id="16" name="Text 14"/>
          <p:cNvSpPr txBox="1"/>
          <p:nvPr/>
        </p:nvSpPr>
        <p:spPr>
          <a:xfrm>
            <a:off x="1143000" y="3017520"/>
            <a:ext cx="228600" cy="365760"/>
          </a:xfrm>
          <a:prstGeom prst="rect">
            <a:avLst/>
          </a:prstGeom>
          <a:noFill/>
          <a:ln/>
        </p:spPr>
        <p:txBody>
          <a:bodyPr wrap="square" lIns="0" tIns="0" rIns="0" bIns="0" rtlCol="0" anchor="t"/>
          <a:lstStyle/>
          <a:p>
            <a:pPr algn="ctr" indent="0" marL="0">
              <a:buNone/>
            </a:pPr>
            <a:r>
              <a:rPr lang="en-US" sz="1400" b="1" dirty="0">
                <a:solidFill>
                  <a:srgbClr val="15243B"/>
                </a:solidFill>
                <a:latin typeface="Malgun Gothic" pitchFamily="34" charset="0"/>
                <a:ea typeface="Malgun Gothic" pitchFamily="34" charset="-122"/>
                <a:cs typeface="Malgun Gothic" pitchFamily="34" charset="-120"/>
              </a:rPr>
              <a:t>×</a:t>
            </a:r>
            <a:endParaRPr lang="en-US" sz="1400" dirty="0"/>
          </a:p>
        </p:txBody>
      </p:sp>
      <p:sp>
        <p:nvSpPr>
          <p:cNvPr id="17" name="Shape 15"/>
          <p:cNvSpPr/>
          <p:nvPr/>
        </p:nvSpPr>
        <p:spPr>
          <a:xfrm>
            <a:off x="1417320" y="2926080"/>
            <a:ext cx="1005840" cy="548640"/>
          </a:xfrm>
          <a:prstGeom prst="rect">
            <a:avLst/>
          </a:prstGeom>
          <a:solidFill>
            <a:srgbClr val="DDF3F0"/>
          </a:solidFill>
          <a:ln w="12700">
            <a:solidFill>
              <a:srgbClr val="1F8A8A"/>
            </a:solidFill>
            <a:prstDash val="solid"/>
          </a:ln>
        </p:spPr>
      </p:sp>
      <p:sp>
        <p:nvSpPr>
          <p:cNvPr id="18" name="Shape 16"/>
          <p:cNvSpPr/>
          <p:nvPr/>
        </p:nvSpPr>
        <p:spPr>
          <a:xfrm>
            <a:off x="1668780" y="2926080"/>
            <a:ext cx="914" cy="548640"/>
          </a:xfrm>
          <a:prstGeom prst="line">
            <a:avLst/>
          </a:prstGeom>
          <a:noFill/>
          <a:ln w="5080">
            <a:solidFill>
              <a:srgbClr val="D5DCE5"/>
            </a:solidFill>
            <a:prstDash val="solid"/>
          </a:ln>
        </p:spPr>
      </p:sp>
      <p:sp>
        <p:nvSpPr>
          <p:cNvPr id="19" name="Shape 17"/>
          <p:cNvSpPr/>
          <p:nvPr/>
        </p:nvSpPr>
        <p:spPr>
          <a:xfrm>
            <a:off x="1920240" y="2926080"/>
            <a:ext cx="914" cy="548640"/>
          </a:xfrm>
          <a:prstGeom prst="line">
            <a:avLst/>
          </a:prstGeom>
          <a:noFill/>
          <a:ln w="5080">
            <a:solidFill>
              <a:srgbClr val="D5DCE5"/>
            </a:solidFill>
            <a:prstDash val="solid"/>
          </a:ln>
        </p:spPr>
      </p:sp>
      <p:sp>
        <p:nvSpPr>
          <p:cNvPr id="20" name="Shape 18"/>
          <p:cNvSpPr/>
          <p:nvPr/>
        </p:nvSpPr>
        <p:spPr>
          <a:xfrm>
            <a:off x="2171700" y="2926080"/>
            <a:ext cx="914" cy="548640"/>
          </a:xfrm>
          <a:prstGeom prst="line">
            <a:avLst/>
          </a:prstGeom>
          <a:noFill/>
          <a:ln w="5080">
            <a:solidFill>
              <a:srgbClr val="D5DCE5"/>
            </a:solidFill>
            <a:prstDash val="solid"/>
          </a:ln>
        </p:spPr>
      </p:sp>
      <p:sp>
        <p:nvSpPr>
          <p:cNvPr id="21" name="Shape 19"/>
          <p:cNvSpPr/>
          <p:nvPr/>
        </p:nvSpPr>
        <p:spPr>
          <a:xfrm>
            <a:off x="1417320" y="3200400"/>
            <a:ext cx="1005840" cy="914"/>
          </a:xfrm>
          <a:prstGeom prst="line">
            <a:avLst/>
          </a:prstGeom>
          <a:noFill/>
          <a:ln w="5080">
            <a:solidFill>
              <a:srgbClr val="D5DCE5"/>
            </a:solidFill>
            <a:prstDash val="solid"/>
          </a:ln>
        </p:spPr>
      </p:sp>
      <p:sp>
        <p:nvSpPr>
          <p:cNvPr id="22" name="Text 20"/>
          <p:cNvSpPr txBox="1"/>
          <p:nvPr/>
        </p:nvSpPr>
        <p:spPr>
          <a:xfrm>
            <a:off x="1417320" y="2697480"/>
            <a:ext cx="1280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Kᵀ [b·h, d, t]</a:t>
            </a:r>
            <a:endParaRPr lang="en-US" sz="850" dirty="0"/>
          </a:p>
        </p:txBody>
      </p:sp>
      <p:sp>
        <p:nvSpPr>
          <p:cNvPr id="23" name="Text 21"/>
          <p:cNvSpPr txBox="1"/>
          <p:nvPr/>
        </p:nvSpPr>
        <p:spPr>
          <a:xfrm>
            <a:off x="1417320" y="3511296"/>
            <a:ext cx="128016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미리 transpose</a:t>
            </a:r>
            <a:endParaRPr lang="en-US" sz="750" dirty="0"/>
          </a:p>
        </p:txBody>
      </p:sp>
      <p:sp>
        <p:nvSpPr>
          <p:cNvPr id="24" name="Text 22"/>
          <p:cNvSpPr txBox="1"/>
          <p:nvPr/>
        </p:nvSpPr>
        <p:spPr>
          <a:xfrm>
            <a:off x="2468880" y="3017520"/>
            <a:ext cx="228600" cy="365760"/>
          </a:xfrm>
          <a:prstGeom prst="rect">
            <a:avLst/>
          </a:prstGeom>
          <a:noFill/>
          <a:ln/>
        </p:spPr>
        <p:txBody>
          <a:bodyPr wrap="square" lIns="0" tIns="0" rIns="0" bIns="0" rtlCol="0" anchor="t"/>
          <a:lstStyle/>
          <a:p>
            <a:pPr algn="ctr" indent="0" marL="0">
              <a:buNone/>
            </a:pPr>
            <a:r>
              <a:rPr lang="en-US" sz="1400" b="1" dirty="0">
                <a:solidFill>
                  <a:srgbClr val="15243B"/>
                </a:solidFill>
                <a:latin typeface="Malgun Gothic" pitchFamily="34" charset="0"/>
                <a:ea typeface="Malgun Gothic" pitchFamily="34" charset="-122"/>
                <a:cs typeface="Malgun Gothic" pitchFamily="34" charset="-120"/>
              </a:rPr>
              <a:t>=</a:t>
            </a:r>
            <a:endParaRPr lang="en-US" sz="1400" dirty="0"/>
          </a:p>
        </p:txBody>
      </p:sp>
      <p:sp>
        <p:nvSpPr>
          <p:cNvPr id="25" name="Shape 23"/>
          <p:cNvSpPr/>
          <p:nvPr/>
        </p:nvSpPr>
        <p:spPr>
          <a:xfrm>
            <a:off x="2743200" y="2697480"/>
            <a:ext cx="1005840" cy="1005840"/>
          </a:xfrm>
          <a:prstGeom prst="rect">
            <a:avLst/>
          </a:prstGeom>
          <a:solidFill>
            <a:srgbClr val="ECE6FA"/>
          </a:solidFill>
          <a:ln w="12700">
            <a:solidFill>
              <a:srgbClr val="6C4FBF"/>
            </a:solidFill>
            <a:prstDash val="solid"/>
          </a:ln>
        </p:spPr>
      </p:sp>
      <p:sp>
        <p:nvSpPr>
          <p:cNvPr id="26" name="Shape 24"/>
          <p:cNvSpPr/>
          <p:nvPr/>
        </p:nvSpPr>
        <p:spPr>
          <a:xfrm>
            <a:off x="2994660" y="2697480"/>
            <a:ext cx="251460" cy="251460"/>
          </a:xfrm>
          <a:prstGeom prst="rect">
            <a:avLst/>
          </a:prstGeom>
          <a:solidFill>
            <a:srgbClr val="EEF2F6"/>
          </a:solidFill>
          <a:ln w="5080">
            <a:solidFill>
              <a:srgbClr val="C9D3DF"/>
            </a:solidFill>
            <a:prstDash val="solid"/>
          </a:ln>
        </p:spPr>
      </p:sp>
      <p:sp>
        <p:nvSpPr>
          <p:cNvPr id="27" name="Shape 25"/>
          <p:cNvSpPr/>
          <p:nvPr/>
        </p:nvSpPr>
        <p:spPr>
          <a:xfrm>
            <a:off x="3246120" y="2697480"/>
            <a:ext cx="251460" cy="251460"/>
          </a:xfrm>
          <a:prstGeom prst="rect">
            <a:avLst/>
          </a:prstGeom>
          <a:solidFill>
            <a:srgbClr val="EEF2F6"/>
          </a:solidFill>
          <a:ln w="5080">
            <a:solidFill>
              <a:srgbClr val="C9D3DF"/>
            </a:solidFill>
            <a:prstDash val="solid"/>
          </a:ln>
        </p:spPr>
      </p:sp>
      <p:sp>
        <p:nvSpPr>
          <p:cNvPr id="28" name="Shape 26"/>
          <p:cNvSpPr/>
          <p:nvPr/>
        </p:nvSpPr>
        <p:spPr>
          <a:xfrm>
            <a:off x="3497580" y="2697480"/>
            <a:ext cx="251460" cy="251460"/>
          </a:xfrm>
          <a:prstGeom prst="rect">
            <a:avLst/>
          </a:prstGeom>
          <a:solidFill>
            <a:srgbClr val="EEF2F6"/>
          </a:solidFill>
          <a:ln w="5080">
            <a:solidFill>
              <a:srgbClr val="C9D3DF"/>
            </a:solidFill>
            <a:prstDash val="solid"/>
          </a:ln>
        </p:spPr>
      </p:sp>
      <p:sp>
        <p:nvSpPr>
          <p:cNvPr id="29" name="Shape 27"/>
          <p:cNvSpPr/>
          <p:nvPr/>
        </p:nvSpPr>
        <p:spPr>
          <a:xfrm>
            <a:off x="3246120" y="2948940"/>
            <a:ext cx="251460" cy="251460"/>
          </a:xfrm>
          <a:prstGeom prst="rect">
            <a:avLst/>
          </a:prstGeom>
          <a:solidFill>
            <a:srgbClr val="EEF2F6"/>
          </a:solidFill>
          <a:ln w="5080">
            <a:solidFill>
              <a:srgbClr val="C9D3DF"/>
            </a:solidFill>
            <a:prstDash val="solid"/>
          </a:ln>
        </p:spPr>
      </p:sp>
      <p:sp>
        <p:nvSpPr>
          <p:cNvPr id="30" name="Shape 28"/>
          <p:cNvSpPr/>
          <p:nvPr/>
        </p:nvSpPr>
        <p:spPr>
          <a:xfrm>
            <a:off x="3497580" y="2948940"/>
            <a:ext cx="251460" cy="251460"/>
          </a:xfrm>
          <a:prstGeom prst="rect">
            <a:avLst/>
          </a:prstGeom>
          <a:solidFill>
            <a:srgbClr val="EEF2F6"/>
          </a:solidFill>
          <a:ln w="5080">
            <a:solidFill>
              <a:srgbClr val="C9D3DF"/>
            </a:solidFill>
            <a:prstDash val="solid"/>
          </a:ln>
        </p:spPr>
      </p:sp>
      <p:sp>
        <p:nvSpPr>
          <p:cNvPr id="31" name="Shape 29"/>
          <p:cNvSpPr/>
          <p:nvPr/>
        </p:nvSpPr>
        <p:spPr>
          <a:xfrm>
            <a:off x="3497580" y="3200400"/>
            <a:ext cx="251460" cy="251460"/>
          </a:xfrm>
          <a:prstGeom prst="rect">
            <a:avLst/>
          </a:prstGeom>
          <a:solidFill>
            <a:srgbClr val="EEF2F6"/>
          </a:solidFill>
          <a:ln w="5080">
            <a:solidFill>
              <a:srgbClr val="C9D3DF"/>
            </a:solidFill>
            <a:prstDash val="solid"/>
          </a:ln>
        </p:spPr>
      </p:sp>
      <p:sp>
        <p:nvSpPr>
          <p:cNvPr id="32" name="Shape 30"/>
          <p:cNvSpPr/>
          <p:nvPr/>
        </p:nvSpPr>
        <p:spPr>
          <a:xfrm>
            <a:off x="2994660" y="2697480"/>
            <a:ext cx="914" cy="1005840"/>
          </a:xfrm>
          <a:prstGeom prst="line">
            <a:avLst/>
          </a:prstGeom>
          <a:noFill/>
          <a:ln w="5080">
            <a:solidFill>
              <a:srgbClr val="D5DCE5"/>
            </a:solidFill>
            <a:prstDash val="solid"/>
          </a:ln>
        </p:spPr>
      </p:sp>
      <p:sp>
        <p:nvSpPr>
          <p:cNvPr id="33" name="Shape 31"/>
          <p:cNvSpPr/>
          <p:nvPr/>
        </p:nvSpPr>
        <p:spPr>
          <a:xfrm>
            <a:off x="3246120" y="2697480"/>
            <a:ext cx="914" cy="1005840"/>
          </a:xfrm>
          <a:prstGeom prst="line">
            <a:avLst/>
          </a:prstGeom>
          <a:noFill/>
          <a:ln w="5080">
            <a:solidFill>
              <a:srgbClr val="D5DCE5"/>
            </a:solidFill>
            <a:prstDash val="solid"/>
          </a:ln>
        </p:spPr>
      </p:sp>
      <p:sp>
        <p:nvSpPr>
          <p:cNvPr id="34" name="Shape 32"/>
          <p:cNvSpPr/>
          <p:nvPr/>
        </p:nvSpPr>
        <p:spPr>
          <a:xfrm>
            <a:off x="3497580" y="2697480"/>
            <a:ext cx="914" cy="1005840"/>
          </a:xfrm>
          <a:prstGeom prst="line">
            <a:avLst/>
          </a:prstGeom>
          <a:noFill/>
          <a:ln w="5080">
            <a:solidFill>
              <a:srgbClr val="D5DCE5"/>
            </a:solidFill>
            <a:prstDash val="solid"/>
          </a:ln>
        </p:spPr>
      </p:sp>
      <p:sp>
        <p:nvSpPr>
          <p:cNvPr id="35" name="Shape 33"/>
          <p:cNvSpPr/>
          <p:nvPr/>
        </p:nvSpPr>
        <p:spPr>
          <a:xfrm>
            <a:off x="2743200" y="2948940"/>
            <a:ext cx="1005840" cy="914"/>
          </a:xfrm>
          <a:prstGeom prst="line">
            <a:avLst/>
          </a:prstGeom>
          <a:noFill/>
          <a:ln w="5080">
            <a:solidFill>
              <a:srgbClr val="D5DCE5"/>
            </a:solidFill>
            <a:prstDash val="solid"/>
          </a:ln>
        </p:spPr>
      </p:sp>
      <p:sp>
        <p:nvSpPr>
          <p:cNvPr id="36" name="Shape 34"/>
          <p:cNvSpPr/>
          <p:nvPr/>
        </p:nvSpPr>
        <p:spPr>
          <a:xfrm>
            <a:off x="2743200" y="3200400"/>
            <a:ext cx="1005840" cy="914"/>
          </a:xfrm>
          <a:prstGeom prst="line">
            <a:avLst/>
          </a:prstGeom>
          <a:noFill/>
          <a:ln w="5080">
            <a:solidFill>
              <a:srgbClr val="D5DCE5"/>
            </a:solidFill>
            <a:prstDash val="solid"/>
          </a:ln>
        </p:spPr>
      </p:sp>
      <p:sp>
        <p:nvSpPr>
          <p:cNvPr id="37" name="Shape 35"/>
          <p:cNvSpPr/>
          <p:nvPr/>
        </p:nvSpPr>
        <p:spPr>
          <a:xfrm>
            <a:off x="2743200" y="3451860"/>
            <a:ext cx="1005840" cy="914"/>
          </a:xfrm>
          <a:prstGeom prst="line">
            <a:avLst/>
          </a:prstGeom>
          <a:noFill/>
          <a:ln w="5080">
            <a:solidFill>
              <a:srgbClr val="D5DCE5"/>
            </a:solidFill>
            <a:prstDash val="solid"/>
          </a:ln>
        </p:spPr>
      </p:sp>
      <p:sp>
        <p:nvSpPr>
          <p:cNvPr id="38" name="Text 36"/>
          <p:cNvSpPr txBox="1"/>
          <p:nvPr/>
        </p:nvSpPr>
        <p:spPr>
          <a:xfrm>
            <a:off x="2994660" y="2697480"/>
            <a:ext cx="251460" cy="251460"/>
          </a:xfrm>
          <a:prstGeom prst="rect">
            <a:avLst/>
          </a:prstGeom>
          <a:noFill/>
          <a:ln/>
        </p:spPr>
        <p:txBody>
          <a:bodyPr wrap="square" lIns="0" tIns="0" rIns="0" bIns="0" rtlCol="0" anchor="ctr"/>
          <a:lstStyle/>
          <a:p>
            <a:pPr algn="ctr" indent="0" marL="0">
              <a:buNone/>
            </a:pPr>
            <a:r>
              <a:rPr lang="en-US" sz="650" b="1" dirty="0">
                <a:solidFill>
                  <a:srgbClr val="5B6B7F"/>
                </a:solidFill>
                <a:latin typeface="Malgun Gothic" pitchFamily="34" charset="0"/>
                <a:ea typeface="Malgun Gothic" pitchFamily="34" charset="-122"/>
                <a:cs typeface="Malgun Gothic" pitchFamily="34" charset="-120"/>
              </a:rPr>
              <a:t>0</a:t>
            </a:r>
            <a:endParaRPr lang="en-US" sz="650" dirty="0"/>
          </a:p>
        </p:txBody>
      </p:sp>
      <p:sp>
        <p:nvSpPr>
          <p:cNvPr id="39" name="Text 37"/>
          <p:cNvSpPr txBox="1"/>
          <p:nvPr/>
        </p:nvSpPr>
        <p:spPr>
          <a:xfrm>
            <a:off x="3246120" y="2697480"/>
            <a:ext cx="251460" cy="251460"/>
          </a:xfrm>
          <a:prstGeom prst="rect">
            <a:avLst/>
          </a:prstGeom>
          <a:noFill/>
          <a:ln/>
        </p:spPr>
        <p:txBody>
          <a:bodyPr wrap="square" lIns="0" tIns="0" rIns="0" bIns="0" rtlCol="0" anchor="ctr"/>
          <a:lstStyle/>
          <a:p>
            <a:pPr algn="ctr" indent="0" marL="0">
              <a:buNone/>
            </a:pPr>
            <a:r>
              <a:rPr lang="en-US" sz="650" b="1" dirty="0">
                <a:solidFill>
                  <a:srgbClr val="5B6B7F"/>
                </a:solidFill>
                <a:latin typeface="Malgun Gothic" pitchFamily="34" charset="0"/>
                <a:ea typeface="Malgun Gothic" pitchFamily="34" charset="-122"/>
                <a:cs typeface="Malgun Gothic" pitchFamily="34" charset="-120"/>
              </a:rPr>
              <a:t>0</a:t>
            </a:r>
            <a:endParaRPr lang="en-US" sz="650" dirty="0"/>
          </a:p>
        </p:txBody>
      </p:sp>
      <p:sp>
        <p:nvSpPr>
          <p:cNvPr id="40" name="Text 38"/>
          <p:cNvSpPr txBox="1"/>
          <p:nvPr/>
        </p:nvSpPr>
        <p:spPr>
          <a:xfrm>
            <a:off x="3497580" y="2697480"/>
            <a:ext cx="251460" cy="251460"/>
          </a:xfrm>
          <a:prstGeom prst="rect">
            <a:avLst/>
          </a:prstGeom>
          <a:noFill/>
          <a:ln/>
        </p:spPr>
        <p:txBody>
          <a:bodyPr wrap="square" lIns="0" tIns="0" rIns="0" bIns="0" rtlCol="0" anchor="ctr"/>
          <a:lstStyle/>
          <a:p>
            <a:pPr algn="ctr" indent="0" marL="0">
              <a:buNone/>
            </a:pPr>
            <a:r>
              <a:rPr lang="en-US" sz="650" b="1" dirty="0">
                <a:solidFill>
                  <a:srgbClr val="5B6B7F"/>
                </a:solidFill>
                <a:latin typeface="Malgun Gothic" pitchFamily="34" charset="0"/>
                <a:ea typeface="Malgun Gothic" pitchFamily="34" charset="-122"/>
                <a:cs typeface="Malgun Gothic" pitchFamily="34" charset="-120"/>
              </a:rPr>
              <a:t>0</a:t>
            </a:r>
            <a:endParaRPr lang="en-US" sz="650" dirty="0"/>
          </a:p>
        </p:txBody>
      </p:sp>
      <p:sp>
        <p:nvSpPr>
          <p:cNvPr id="41" name="Text 39"/>
          <p:cNvSpPr txBox="1"/>
          <p:nvPr/>
        </p:nvSpPr>
        <p:spPr>
          <a:xfrm>
            <a:off x="3246120" y="2948940"/>
            <a:ext cx="251460" cy="251460"/>
          </a:xfrm>
          <a:prstGeom prst="rect">
            <a:avLst/>
          </a:prstGeom>
          <a:noFill/>
          <a:ln/>
        </p:spPr>
        <p:txBody>
          <a:bodyPr wrap="square" lIns="0" tIns="0" rIns="0" bIns="0" rtlCol="0" anchor="ctr"/>
          <a:lstStyle/>
          <a:p>
            <a:pPr algn="ctr" indent="0" marL="0">
              <a:buNone/>
            </a:pPr>
            <a:r>
              <a:rPr lang="en-US" sz="650" b="1" dirty="0">
                <a:solidFill>
                  <a:srgbClr val="5B6B7F"/>
                </a:solidFill>
                <a:latin typeface="Malgun Gothic" pitchFamily="34" charset="0"/>
                <a:ea typeface="Malgun Gothic" pitchFamily="34" charset="-122"/>
                <a:cs typeface="Malgun Gothic" pitchFamily="34" charset="-120"/>
              </a:rPr>
              <a:t>0</a:t>
            </a:r>
            <a:endParaRPr lang="en-US" sz="650" dirty="0"/>
          </a:p>
        </p:txBody>
      </p:sp>
      <p:sp>
        <p:nvSpPr>
          <p:cNvPr id="42" name="Text 40"/>
          <p:cNvSpPr txBox="1"/>
          <p:nvPr/>
        </p:nvSpPr>
        <p:spPr>
          <a:xfrm>
            <a:off x="3497580" y="2948940"/>
            <a:ext cx="251460" cy="251460"/>
          </a:xfrm>
          <a:prstGeom prst="rect">
            <a:avLst/>
          </a:prstGeom>
          <a:noFill/>
          <a:ln/>
        </p:spPr>
        <p:txBody>
          <a:bodyPr wrap="square" lIns="0" tIns="0" rIns="0" bIns="0" rtlCol="0" anchor="ctr"/>
          <a:lstStyle/>
          <a:p>
            <a:pPr algn="ctr" indent="0" marL="0">
              <a:buNone/>
            </a:pPr>
            <a:r>
              <a:rPr lang="en-US" sz="650" b="1" dirty="0">
                <a:solidFill>
                  <a:srgbClr val="5B6B7F"/>
                </a:solidFill>
                <a:latin typeface="Malgun Gothic" pitchFamily="34" charset="0"/>
                <a:ea typeface="Malgun Gothic" pitchFamily="34" charset="-122"/>
                <a:cs typeface="Malgun Gothic" pitchFamily="34" charset="-120"/>
              </a:rPr>
              <a:t>0</a:t>
            </a:r>
            <a:endParaRPr lang="en-US" sz="650" dirty="0"/>
          </a:p>
        </p:txBody>
      </p:sp>
      <p:sp>
        <p:nvSpPr>
          <p:cNvPr id="43" name="Text 41"/>
          <p:cNvSpPr txBox="1"/>
          <p:nvPr/>
        </p:nvSpPr>
        <p:spPr>
          <a:xfrm>
            <a:off x="3497580" y="3200400"/>
            <a:ext cx="251460" cy="251460"/>
          </a:xfrm>
          <a:prstGeom prst="rect">
            <a:avLst/>
          </a:prstGeom>
          <a:noFill/>
          <a:ln/>
        </p:spPr>
        <p:txBody>
          <a:bodyPr wrap="square" lIns="0" tIns="0" rIns="0" bIns="0" rtlCol="0" anchor="ctr"/>
          <a:lstStyle/>
          <a:p>
            <a:pPr algn="ctr" indent="0" marL="0">
              <a:buNone/>
            </a:pPr>
            <a:r>
              <a:rPr lang="en-US" sz="650" b="1" dirty="0">
                <a:solidFill>
                  <a:srgbClr val="5B6B7F"/>
                </a:solidFill>
                <a:latin typeface="Malgun Gothic" pitchFamily="34" charset="0"/>
                <a:ea typeface="Malgun Gothic" pitchFamily="34" charset="-122"/>
                <a:cs typeface="Malgun Gothic" pitchFamily="34" charset="-120"/>
              </a:rPr>
              <a:t>0</a:t>
            </a:r>
            <a:endParaRPr lang="en-US" sz="650" dirty="0"/>
          </a:p>
        </p:txBody>
      </p:sp>
      <p:sp>
        <p:nvSpPr>
          <p:cNvPr id="44" name="Text 42"/>
          <p:cNvSpPr txBox="1"/>
          <p:nvPr/>
        </p:nvSpPr>
        <p:spPr>
          <a:xfrm>
            <a:off x="2743200" y="2468880"/>
            <a:ext cx="1280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scores [s, t]</a:t>
            </a:r>
            <a:endParaRPr lang="en-US" sz="850" dirty="0"/>
          </a:p>
        </p:txBody>
      </p:sp>
      <p:sp>
        <p:nvSpPr>
          <p:cNvPr id="45" name="Text 43"/>
          <p:cNvSpPr txBox="1"/>
          <p:nvPr/>
        </p:nvSpPr>
        <p:spPr>
          <a:xfrm>
            <a:off x="2743200" y="3739896"/>
            <a:ext cx="146304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×scale, +bias, tril/triu</a:t>
            </a:r>
            <a:endParaRPr lang="en-US" sz="750" dirty="0"/>
          </a:p>
        </p:txBody>
      </p:sp>
      <p:sp>
        <p:nvSpPr>
          <p:cNvPr id="46" name="Shape 44"/>
          <p:cNvSpPr/>
          <p:nvPr/>
        </p:nvSpPr>
        <p:spPr>
          <a:xfrm>
            <a:off x="3794760" y="3200400"/>
            <a:ext cx="411480" cy="914"/>
          </a:xfrm>
          <a:prstGeom prst="line">
            <a:avLst/>
          </a:prstGeom>
          <a:noFill/>
          <a:ln w="19050">
            <a:solidFill>
              <a:srgbClr val="5B6B7F"/>
            </a:solidFill>
            <a:prstDash val="solid"/>
            <a:tailEnd type="triangle"/>
          </a:ln>
        </p:spPr>
      </p:sp>
      <p:sp>
        <p:nvSpPr>
          <p:cNvPr id="47" name="Text 45"/>
          <p:cNvSpPr txBox="1"/>
          <p:nvPr/>
        </p:nvSpPr>
        <p:spPr>
          <a:xfrm>
            <a:off x="3749040" y="2816352"/>
            <a:ext cx="548640" cy="365760"/>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softmax</a:t>
            </a:r>
            <a:endParaRPr lang="en-US" sz="700" dirty="0"/>
          </a:p>
          <a:p>
            <a:pPr algn="ctr" indent="0" marL="0">
              <a:buNone/>
            </a:pPr>
            <a:r>
              <a:rPr lang="en-US" sz="700" dirty="0">
                <a:solidFill>
                  <a:srgbClr val="5B6B7F"/>
                </a:solidFill>
                <a:latin typeface="Malgun Gothic" pitchFamily="34" charset="0"/>
                <a:ea typeface="Malgun Gothic" pitchFamily="34" charset="-122"/>
                <a:cs typeface="Malgun Gothic" pitchFamily="34" charset="-120"/>
              </a:rPr>
              <a:t>(행)</a:t>
            </a:r>
            <a:endParaRPr lang="en-US" sz="700" dirty="0"/>
          </a:p>
        </p:txBody>
      </p:sp>
      <p:sp>
        <p:nvSpPr>
          <p:cNvPr id="48" name="Shape 46"/>
          <p:cNvSpPr/>
          <p:nvPr/>
        </p:nvSpPr>
        <p:spPr>
          <a:xfrm>
            <a:off x="4251960" y="2697480"/>
            <a:ext cx="502920" cy="1005840"/>
          </a:xfrm>
          <a:prstGeom prst="rect">
            <a:avLst/>
          </a:prstGeom>
          <a:solidFill>
            <a:srgbClr val="DDF3F0"/>
          </a:solidFill>
          <a:ln w="12700">
            <a:solidFill>
              <a:srgbClr val="1F8A8A"/>
            </a:solidFill>
            <a:prstDash val="solid"/>
          </a:ln>
        </p:spPr>
      </p:sp>
      <p:sp>
        <p:nvSpPr>
          <p:cNvPr id="49" name="Shape 47"/>
          <p:cNvSpPr/>
          <p:nvPr/>
        </p:nvSpPr>
        <p:spPr>
          <a:xfrm>
            <a:off x="4503420" y="2697480"/>
            <a:ext cx="914" cy="1005840"/>
          </a:xfrm>
          <a:prstGeom prst="line">
            <a:avLst/>
          </a:prstGeom>
          <a:noFill/>
          <a:ln w="5080">
            <a:solidFill>
              <a:srgbClr val="D5DCE5"/>
            </a:solidFill>
            <a:prstDash val="solid"/>
          </a:ln>
        </p:spPr>
      </p:sp>
      <p:sp>
        <p:nvSpPr>
          <p:cNvPr id="50" name="Shape 48"/>
          <p:cNvSpPr/>
          <p:nvPr/>
        </p:nvSpPr>
        <p:spPr>
          <a:xfrm>
            <a:off x="4251960" y="2948940"/>
            <a:ext cx="502920" cy="914"/>
          </a:xfrm>
          <a:prstGeom prst="line">
            <a:avLst/>
          </a:prstGeom>
          <a:noFill/>
          <a:ln w="5080">
            <a:solidFill>
              <a:srgbClr val="D5DCE5"/>
            </a:solidFill>
            <a:prstDash val="solid"/>
          </a:ln>
        </p:spPr>
      </p:sp>
      <p:sp>
        <p:nvSpPr>
          <p:cNvPr id="51" name="Shape 49"/>
          <p:cNvSpPr/>
          <p:nvPr/>
        </p:nvSpPr>
        <p:spPr>
          <a:xfrm>
            <a:off x="4251960" y="3200400"/>
            <a:ext cx="502920" cy="914"/>
          </a:xfrm>
          <a:prstGeom prst="line">
            <a:avLst/>
          </a:prstGeom>
          <a:noFill/>
          <a:ln w="5080">
            <a:solidFill>
              <a:srgbClr val="D5DCE5"/>
            </a:solidFill>
            <a:prstDash val="solid"/>
          </a:ln>
        </p:spPr>
      </p:sp>
      <p:sp>
        <p:nvSpPr>
          <p:cNvPr id="52" name="Shape 50"/>
          <p:cNvSpPr/>
          <p:nvPr/>
        </p:nvSpPr>
        <p:spPr>
          <a:xfrm>
            <a:off x="4251960" y="3451860"/>
            <a:ext cx="502920" cy="914"/>
          </a:xfrm>
          <a:prstGeom prst="line">
            <a:avLst/>
          </a:prstGeom>
          <a:noFill/>
          <a:ln w="5080">
            <a:solidFill>
              <a:srgbClr val="D5DCE5"/>
            </a:solidFill>
            <a:prstDash val="solid"/>
          </a:ln>
        </p:spPr>
      </p:sp>
      <p:sp>
        <p:nvSpPr>
          <p:cNvPr id="53" name="Text 51"/>
          <p:cNvSpPr txBox="1"/>
          <p:nvPr/>
        </p:nvSpPr>
        <p:spPr>
          <a:xfrm>
            <a:off x="4251960" y="2468880"/>
            <a:ext cx="91440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V [t, dv]</a:t>
            </a:r>
            <a:endParaRPr lang="en-US" sz="850" dirty="0"/>
          </a:p>
        </p:txBody>
      </p:sp>
      <p:sp>
        <p:nvSpPr>
          <p:cNvPr id="54" name="Text 52"/>
          <p:cNvSpPr txBox="1"/>
          <p:nvPr/>
        </p:nvSpPr>
        <p:spPr>
          <a:xfrm>
            <a:off x="4773168" y="3017520"/>
            <a:ext cx="182880" cy="365760"/>
          </a:xfrm>
          <a:prstGeom prst="rect">
            <a:avLst/>
          </a:prstGeom>
          <a:noFill/>
          <a:ln/>
        </p:spPr>
        <p:txBody>
          <a:bodyPr wrap="square" lIns="0" tIns="0" rIns="0" bIns="0" rtlCol="0" anchor="t"/>
          <a:lstStyle/>
          <a:p>
            <a:pPr algn="ctr" indent="0" marL="0">
              <a:buNone/>
            </a:pPr>
            <a:r>
              <a:rPr lang="en-US" sz="1200" b="1" dirty="0">
                <a:solidFill>
                  <a:srgbClr val="15243B"/>
                </a:solidFill>
                <a:latin typeface="Malgun Gothic" pitchFamily="34" charset="0"/>
                <a:ea typeface="Malgun Gothic" pitchFamily="34" charset="-122"/>
                <a:cs typeface="Malgun Gothic" pitchFamily="34" charset="-120"/>
              </a:rPr>
              <a:t>→</a:t>
            </a:r>
            <a:endParaRPr lang="en-US" sz="1200" dirty="0"/>
          </a:p>
        </p:txBody>
      </p:sp>
      <p:sp>
        <p:nvSpPr>
          <p:cNvPr id="55" name="Shape 53"/>
          <p:cNvSpPr/>
          <p:nvPr/>
        </p:nvSpPr>
        <p:spPr>
          <a:xfrm>
            <a:off x="4892040" y="2697480"/>
            <a:ext cx="320040" cy="1005840"/>
          </a:xfrm>
          <a:prstGeom prst="rect">
            <a:avLst/>
          </a:prstGeom>
          <a:solidFill>
            <a:srgbClr val="E5F3E7"/>
          </a:solidFill>
          <a:ln w="12700">
            <a:solidFill>
              <a:srgbClr val="2E7D32"/>
            </a:solidFill>
            <a:prstDash val="solid"/>
          </a:ln>
        </p:spPr>
      </p:sp>
      <p:sp>
        <p:nvSpPr>
          <p:cNvPr id="56" name="Shape 54"/>
          <p:cNvSpPr/>
          <p:nvPr/>
        </p:nvSpPr>
        <p:spPr>
          <a:xfrm>
            <a:off x="4892040" y="2948940"/>
            <a:ext cx="320040" cy="914"/>
          </a:xfrm>
          <a:prstGeom prst="line">
            <a:avLst/>
          </a:prstGeom>
          <a:noFill/>
          <a:ln w="5080">
            <a:solidFill>
              <a:srgbClr val="D5DCE5"/>
            </a:solidFill>
            <a:prstDash val="solid"/>
          </a:ln>
        </p:spPr>
      </p:sp>
      <p:sp>
        <p:nvSpPr>
          <p:cNvPr id="57" name="Shape 55"/>
          <p:cNvSpPr/>
          <p:nvPr/>
        </p:nvSpPr>
        <p:spPr>
          <a:xfrm>
            <a:off x="4892040" y="3200400"/>
            <a:ext cx="320040" cy="914"/>
          </a:xfrm>
          <a:prstGeom prst="line">
            <a:avLst/>
          </a:prstGeom>
          <a:noFill/>
          <a:ln w="5080">
            <a:solidFill>
              <a:srgbClr val="D5DCE5"/>
            </a:solidFill>
            <a:prstDash val="solid"/>
          </a:ln>
        </p:spPr>
      </p:sp>
      <p:sp>
        <p:nvSpPr>
          <p:cNvPr id="58" name="Shape 56"/>
          <p:cNvSpPr/>
          <p:nvPr/>
        </p:nvSpPr>
        <p:spPr>
          <a:xfrm>
            <a:off x="4892040" y="3451860"/>
            <a:ext cx="320040" cy="914"/>
          </a:xfrm>
          <a:prstGeom prst="line">
            <a:avLst/>
          </a:prstGeom>
          <a:noFill/>
          <a:ln w="5080">
            <a:solidFill>
              <a:srgbClr val="D5DCE5"/>
            </a:solidFill>
            <a:prstDash val="solid"/>
          </a:ln>
        </p:spPr>
      </p:sp>
      <p:sp>
        <p:nvSpPr>
          <p:cNvPr id="59" name="Text 57"/>
          <p:cNvSpPr txBox="1"/>
          <p:nvPr/>
        </p:nvSpPr>
        <p:spPr>
          <a:xfrm>
            <a:off x="4892040" y="2468880"/>
            <a:ext cx="54864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out</a:t>
            </a:r>
            <a:endParaRPr lang="en-US" sz="850" dirty="0"/>
          </a:p>
        </p:txBody>
      </p:sp>
      <p:sp>
        <p:nvSpPr>
          <p:cNvPr id="60" name="Text 58"/>
          <p:cNvSpPr txBox="1"/>
          <p:nvPr/>
        </p:nvSpPr>
        <p:spPr>
          <a:xfrm>
            <a:off x="4892040" y="3739896"/>
            <a:ext cx="73152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 BSNH</a:t>
            </a:r>
            <a:endParaRPr lang="en-US" sz="750" dirty="0"/>
          </a:p>
        </p:txBody>
      </p:sp>
      <p:sp>
        <p:nvSpPr>
          <p:cNvPr id="61" name="Text 59"/>
          <p:cNvSpPr txBox="1"/>
          <p:nvPr/>
        </p:nvSpPr>
        <p:spPr>
          <a:xfrm>
            <a:off x="457200" y="4343400"/>
            <a:ext cx="4754880" cy="1508760"/>
          </a:xfrm>
          <a:prstGeom prst="rect">
            <a:avLst/>
          </a:prstGeom>
          <a:noFill/>
          <a:ln/>
        </p:spPr>
        <p:txBody>
          <a:bodyPr wrap="square" lIns="0" tIns="0" rIns="0" bIns="0" rtlCol="0" anchor="t"/>
          <a:lstStyle/>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단순히 연산 이름을 바꾸는 pass가 아님: layout·scale·bias·causal 정렬·window 의미를 유지해야 함</a:t>
            </a:r>
            <a:endParaRPr lang="en-US" sz="900" dirty="0"/>
          </a:p>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분해 후 각 연산에 NPU 수치 계약 적용 → scale+mask+softmax만 묶을지, 전체를 묶을지 5장에서 비용으로 비교</a:t>
            </a:r>
            <a:endParaRPr lang="en-US" sz="900" dirty="0"/>
          </a:p>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"분해했으므로 영원히 분리 실행"이 아님. FuseOpsByPattern이 다시 합칠 수 있음. window without causal은 LinkError</a:t>
            </a:r>
            <a:endParaRPr lang="en-US" sz="900" dirty="0"/>
          </a:p>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Authoring한 Llama는 이미 matmul/softmax를 쓰므로 이 pass가 할 일이 없을 수 있음</a:t>
            </a:r>
            <a:endParaRPr lang="en-US" sz="900" dirty="0"/>
          </a:p>
        </p:txBody>
      </p:sp>
      <p:sp>
        <p:nvSpPr>
          <p:cNvPr id="62" name="Text 60"/>
          <p:cNvSpPr txBox="1"/>
          <p:nvPr/>
        </p:nvSpPr>
        <p:spPr>
          <a:xfrm>
            <a:off x="5486400" y="1417320"/>
            <a:ext cx="621792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IR 비교 기록 (examples/attention_canonicalization, [B,S,H,D]=[1,4,2,8])</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0" y="1737360"/>
          <a:ext cx="6245352" cy="914400"/>
        </p:xfrm>
        <a:graphic>
          <a:graphicData uri="http://schemas.openxmlformats.org/drawingml/2006/table">
            <a:tbl>
              <a:tblPr/>
              <a:tblGrid>
                <a:gridCol w="2103120"/>
                <a:gridCol w="4142232"/>
              </a:tblGrid>
              <a:tr h="384048">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경로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결과 IR의 특징</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01 입력</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R.nn.attention(q, k, v) 한 호출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02 TVM DecomposeOpsForInference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attention을 그대로 둠 (이 예제에서 분해하지 않음)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03 NPU CanonicalizeAttention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permute_dims → matmul → multiply(scale) → softmax(max/exp/sum/divide) → matmul → permute_dims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04 표준 attention legalize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attention legalizer의 자체 TE: NPU matmul/softmax 정의 미사용</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05 canonical → legalize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 legalize map의 matmul(FP32 누산), softmax(FP32 sum) PrimFunc 사용</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4" name="Shape 61"/>
          <p:cNvSpPr/>
          <p:nvPr/>
        </p:nvSpPr>
        <p:spPr>
          <a:xfrm>
            <a:off x="5486400" y="4343400"/>
            <a:ext cx="6245352" cy="914400"/>
          </a:xfrm>
          <a:prstGeom prst="roundRect">
            <a:avLst>
              <a:gd name="adj" fmla="val 6000"/>
            </a:avLst>
          </a:prstGeom>
          <a:solidFill>
            <a:srgbClr val="FFF6DB"/>
          </a:solidFill>
          <a:ln w="12700">
            <a:solidFill>
              <a:srgbClr val="B7791F"/>
            </a:solidFill>
            <a:prstDash val="solid"/>
          </a:ln>
        </p:spPr>
      </p:sp>
      <p:sp>
        <p:nvSpPr>
          <p:cNvPr id="65" name="Text 62"/>
          <p:cNvSpPr txBox="1"/>
          <p:nvPr/>
        </p:nvSpPr>
        <p:spPr>
          <a:xfrm>
            <a:off x="5614416" y="4398264"/>
            <a:ext cx="5989320" cy="80467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검증 수준: </a:t>
            </a:r>
            <a:pPr algn="l" indent="0" marL="0">
              <a:buNone/>
            </a:pPr>
            <a:r>
              <a:rPr lang="en-US" sz="1000" dirty="0">
                <a:solidFill>
                  <a:srgbClr val="1F2D3D"/>
                </a:solidFill>
                <a:latin typeface="Malgun Gothic" pitchFamily="34" charset="0"/>
                <a:ea typeface="Malgun Gothic" pitchFamily="34" charset="-122"/>
                <a:cs typeface="Malgun Gothic" pitchFamily="34" charset="-120"/>
              </a:rPr>
              <a:t>IR/compile 검사이며 수치·성능 benchmark가 아닙니다. 표준 attention legalization과 NPU canonicalization 뒤 legalization의 차이는 같은 폴더의 dump에서 확인합니다.</a:t>
            </a:r>
            <a:endParaRPr lang="en-US" sz="1200" dirty="0"/>
          </a:p>
        </p:txBody>
      </p:sp>
      <p:sp>
        <p:nvSpPr>
          <p:cNvPr id="66" name="Shape 63"/>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67" name="Text 64"/>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Relax에서 먼저 계산을 드러내야 NPU의 수치 계약(FP32 누산·FP16 경계)과 fusion 후보 비교를 적용할 수 있습니다.</a:t>
            </a:r>
            <a:endParaRPr lang="en-US" sz="1250" dirty="0"/>
          </a:p>
        </p:txBody>
      </p:sp>
      <p:sp>
        <p:nvSpPr>
          <p:cNvPr id="68" name="Text 6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69" name="Text 6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npu_compiler/npu_attention.py, docs/examples/attention_canonicalization/comparison.json</a:t>
            </a:r>
            <a:endParaRPr lang="en-US" sz="850" dirty="0"/>
          </a:p>
        </p:txBody>
      </p:sp>
      <p:sp>
        <p:nvSpPr>
          <p:cNvPr id="70" name="Text 6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17 / 89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3 · Graph 정리와 host</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Runtime의 host transform 실행과 parameter cache</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IR로 표현된 변환을 그대로 실행해야 linked program의 image가 기대하는 값과 정확히 같습니다. NumPy로 재구현하면 같은 규칙이 두 곳에 생깁니다.</a:t>
            </a:r>
            <a:endParaRPr lang="en-US" sz="1250" dirty="0"/>
          </a:p>
        </p:txBody>
      </p:sp>
      <p:sp>
        <p:nvSpPr>
          <p:cNvPr id="5" name="Shape 3"/>
          <p:cNvSpPr/>
          <p:nvPr/>
        </p:nvSpPr>
        <p:spPr>
          <a:xfrm>
            <a:off x="457200" y="1600200"/>
            <a:ext cx="2050085" cy="914400"/>
          </a:xfrm>
          <a:prstGeom prst="roundRect">
            <a:avLst>
              <a:gd name="adj" fmla="val 6000"/>
            </a:avLst>
          </a:prstGeom>
          <a:solidFill>
            <a:srgbClr val="E3EEFB"/>
          </a:solidFill>
          <a:ln w="12700">
            <a:solidFill>
              <a:srgbClr val="2F6DB5"/>
            </a:solidFill>
            <a:prstDash val="solid"/>
          </a:ln>
        </p:spPr>
      </p:sp>
      <p:sp>
        <p:nvSpPr>
          <p:cNvPr id="6" name="Text 4"/>
          <p:cNvSpPr txBox="1"/>
          <p:nvPr/>
        </p:nvSpPr>
        <p:spPr>
          <a:xfrm>
            <a:off x="530352" y="1673352"/>
            <a:ext cx="1903781" cy="190500"/>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① reachable host IR</a:t>
            </a:r>
            <a:endParaRPr lang="en-US" sz="1000" dirty="0"/>
          </a:p>
        </p:txBody>
      </p:sp>
      <p:sp>
        <p:nvSpPr>
          <p:cNvPr id="7" name="Text 5"/>
          <p:cNvSpPr txBox="1"/>
          <p:nvPr/>
        </p:nvSpPr>
        <p:spPr>
          <a:xfrm>
            <a:off x="530352" y="1863852"/>
            <a:ext cx="1903781" cy="614172"/>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reachable_module(lowered,</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[entry+"_transform_params"])</a:t>
            </a:r>
            <a:endParaRPr lang="en-US" sz="800" dirty="0"/>
          </a:p>
        </p:txBody>
      </p:sp>
      <p:sp>
        <p:nvSpPr>
          <p:cNvPr id="8" name="Shape 6"/>
          <p:cNvSpPr/>
          <p:nvPr/>
        </p:nvSpPr>
        <p:spPr>
          <a:xfrm>
            <a:off x="2525573" y="2057400"/>
            <a:ext cx="219456" cy="914"/>
          </a:xfrm>
          <a:prstGeom prst="line">
            <a:avLst/>
          </a:prstGeom>
          <a:noFill/>
          <a:ln w="19050">
            <a:solidFill>
              <a:srgbClr val="5B6B7F"/>
            </a:solidFill>
            <a:prstDash val="solid"/>
            <a:tailEnd type="triangle"/>
          </a:ln>
        </p:spPr>
      </p:sp>
      <p:sp>
        <p:nvSpPr>
          <p:cNvPr id="9" name="Shape 7"/>
          <p:cNvSpPr/>
          <p:nvPr/>
        </p:nvSpPr>
        <p:spPr>
          <a:xfrm>
            <a:off x="2763317" y="1600200"/>
            <a:ext cx="2050085" cy="914400"/>
          </a:xfrm>
          <a:prstGeom prst="roundRect">
            <a:avLst>
              <a:gd name="adj" fmla="val 6000"/>
            </a:avLst>
          </a:prstGeom>
          <a:solidFill>
            <a:srgbClr val="EEF1F5"/>
          </a:solidFill>
          <a:ln w="12700">
            <a:solidFill>
              <a:srgbClr val="5B6B7F"/>
            </a:solidFill>
            <a:prstDash val="solid"/>
          </a:ln>
        </p:spPr>
      </p:sp>
      <p:sp>
        <p:nvSpPr>
          <p:cNvPr id="10" name="Text 8"/>
          <p:cNvSpPr txBox="1"/>
          <p:nvPr/>
        </p:nvSpPr>
        <p:spPr>
          <a:xfrm>
            <a:off x="2836469" y="1673352"/>
            <a:ext cx="1903781" cy="190500"/>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② relax.build → LLVM VM</a:t>
            </a:r>
            <a:endParaRPr lang="en-US" sz="1000" dirty="0"/>
          </a:p>
        </p:txBody>
      </p:sp>
      <p:sp>
        <p:nvSpPr>
          <p:cNvPr id="11" name="Text 9"/>
          <p:cNvSpPr txBox="1"/>
          <p:nvPr/>
        </p:nvSpPr>
        <p:spPr>
          <a:xfrm>
            <a:off x="2836469" y="1863852"/>
            <a:ext cx="1903781" cy="614172"/>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vm[entry_transform_params]([weights])</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 numpy 배열 목록</a:t>
            </a:r>
            <a:endParaRPr lang="en-US" sz="800" dirty="0"/>
          </a:p>
        </p:txBody>
      </p:sp>
      <p:sp>
        <p:nvSpPr>
          <p:cNvPr id="12" name="Shape 10"/>
          <p:cNvSpPr/>
          <p:nvPr/>
        </p:nvSpPr>
        <p:spPr>
          <a:xfrm>
            <a:off x="4831690" y="2057400"/>
            <a:ext cx="219456" cy="914"/>
          </a:xfrm>
          <a:prstGeom prst="line">
            <a:avLst/>
          </a:prstGeom>
          <a:noFill/>
          <a:ln w="19050">
            <a:solidFill>
              <a:srgbClr val="5B6B7F"/>
            </a:solidFill>
            <a:prstDash val="solid"/>
            <a:tailEnd type="triangle"/>
          </a:ln>
        </p:spPr>
      </p:sp>
      <p:sp>
        <p:nvSpPr>
          <p:cNvPr id="13" name="Shape 11"/>
          <p:cNvSpPr/>
          <p:nvPr/>
        </p:nvSpPr>
        <p:spPr>
          <a:xfrm>
            <a:off x="5069434" y="1600200"/>
            <a:ext cx="2050085" cy="914400"/>
          </a:xfrm>
          <a:prstGeom prst="roundRect">
            <a:avLst>
              <a:gd name="adj" fmla="val 6000"/>
            </a:avLst>
          </a:prstGeom>
          <a:solidFill>
            <a:srgbClr val="FFF1DC"/>
          </a:solidFill>
          <a:ln w="12700">
            <a:solidFill>
              <a:srgbClr val="D98A1E"/>
            </a:solidFill>
            <a:prstDash val="solid"/>
          </a:ln>
        </p:spPr>
      </p:sp>
      <p:sp>
        <p:nvSpPr>
          <p:cNvPr id="14" name="Text 12"/>
          <p:cNvSpPr txBox="1"/>
          <p:nvPr/>
        </p:nvSpPr>
        <p:spPr>
          <a:xfrm>
            <a:off x="5142586" y="1673352"/>
            <a:ext cx="1903781" cy="190500"/>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③ params-cache</a:t>
            </a:r>
            <a:endParaRPr lang="en-US" sz="1000" dirty="0"/>
          </a:p>
        </p:txBody>
      </p:sp>
      <p:sp>
        <p:nvSpPr>
          <p:cNvPr id="15" name="Text 13"/>
          <p:cNvSpPr txBox="1"/>
          <p:nvPr/>
        </p:nvSpPr>
        <p:spPr>
          <a:xfrm>
            <a:off x="5142586" y="1863852"/>
            <a:ext cx="1903781" cy="614172"/>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sha256(host IR json + 각 weight의</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shape/dtype/bytes) → 디렉터리</a:t>
            </a:r>
            <a:endParaRPr lang="en-US" sz="800" dirty="0"/>
          </a:p>
        </p:txBody>
      </p:sp>
      <p:sp>
        <p:nvSpPr>
          <p:cNvPr id="16" name="Shape 14"/>
          <p:cNvSpPr/>
          <p:nvPr/>
        </p:nvSpPr>
        <p:spPr>
          <a:xfrm>
            <a:off x="7137806" y="2057400"/>
            <a:ext cx="219456" cy="914"/>
          </a:xfrm>
          <a:prstGeom prst="line">
            <a:avLst/>
          </a:prstGeom>
          <a:noFill/>
          <a:ln w="19050">
            <a:solidFill>
              <a:srgbClr val="5B6B7F"/>
            </a:solidFill>
            <a:prstDash val="solid"/>
            <a:tailEnd type="triangle"/>
          </a:ln>
        </p:spPr>
      </p:sp>
      <p:sp>
        <p:nvSpPr>
          <p:cNvPr id="17" name="Shape 15"/>
          <p:cNvSpPr/>
          <p:nvPr/>
        </p:nvSpPr>
        <p:spPr>
          <a:xfrm>
            <a:off x="7375550" y="1600200"/>
            <a:ext cx="2050085" cy="914400"/>
          </a:xfrm>
          <a:prstGeom prst="roundRect">
            <a:avLst>
              <a:gd name="adj" fmla="val 6000"/>
            </a:avLst>
          </a:prstGeom>
          <a:solidFill>
            <a:srgbClr val="EEF1F5"/>
          </a:solidFill>
          <a:ln w="12700">
            <a:solidFill>
              <a:srgbClr val="5B6B7F"/>
            </a:solidFill>
            <a:prstDash val="solid"/>
          </a:ln>
        </p:spPr>
      </p:sp>
      <p:sp>
        <p:nvSpPr>
          <p:cNvPr id="18" name="Text 16"/>
          <p:cNvSpPr txBox="1"/>
          <p:nvPr/>
        </p:nvSpPr>
        <p:spPr>
          <a:xfrm>
            <a:off x="7448702" y="1673352"/>
            <a:ext cx="1903781" cy="190500"/>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④ _bind_inputs</a:t>
            </a:r>
            <a:endParaRPr lang="en-US" sz="1000" dirty="0"/>
          </a:p>
        </p:txBody>
      </p:sp>
      <p:sp>
        <p:nvSpPr>
          <p:cNvPr id="19" name="Text 17"/>
          <p:cNvSpPr txBox="1"/>
          <p:nvPr/>
        </p:nvSpPr>
        <p:spPr>
          <a:xfrm>
            <a:off x="7448702" y="1863852"/>
            <a:ext cx="1903781" cy="614172"/>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runtime 입력 이름 검사 +</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나머지 param을 변환 결과와 zip</a:t>
            </a:r>
            <a:endParaRPr lang="en-US" sz="800" dirty="0"/>
          </a:p>
        </p:txBody>
      </p:sp>
      <p:sp>
        <p:nvSpPr>
          <p:cNvPr id="20" name="Shape 18"/>
          <p:cNvSpPr/>
          <p:nvPr/>
        </p:nvSpPr>
        <p:spPr>
          <a:xfrm>
            <a:off x="9443923" y="2057400"/>
            <a:ext cx="219456" cy="914"/>
          </a:xfrm>
          <a:prstGeom prst="line">
            <a:avLst/>
          </a:prstGeom>
          <a:noFill/>
          <a:ln w="19050">
            <a:solidFill>
              <a:srgbClr val="5B6B7F"/>
            </a:solidFill>
            <a:prstDash val="solid"/>
            <a:tailEnd type="triangle"/>
          </a:ln>
        </p:spPr>
      </p:sp>
      <p:sp>
        <p:nvSpPr>
          <p:cNvPr id="21" name="Shape 19"/>
          <p:cNvSpPr/>
          <p:nvPr/>
        </p:nvSpPr>
        <p:spPr>
          <a:xfrm>
            <a:off x="9681667" y="1600200"/>
            <a:ext cx="2050085" cy="914400"/>
          </a:xfrm>
          <a:prstGeom prst="roundRect">
            <a:avLst>
              <a:gd name="adj" fmla="val 6000"/>
            </a:avLst>
          </a:prstGeom>
          <a:solidFill>
            <a:srgbClr val="FFF1DC"/>
          </a:solidFill>
          <a:ln w="12700">
            <a:solidFill>
              <a:srgbClr val="D98A1E"/>
            </a:solidFill>
            <a:prstDash val="solid"/>
          </a:ln>
        </p:spPr>
      </p:sp>
      <p:sp>
        <p:nvSpPr>
          <p:cNvPr id="22" name="Text 20"/>
          <p:cNvSpPr txBox="1"/>
          <p:nvPr/>
        </p:nvSpPr>
        <p:spPr>
          <a:xfrm>
            <a:off x="9754819" y="1673352"/>
            <a:ext cx="1903781" cy="190500"/>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⑤ build_image</a:t>
            </a:r>
            <a:endParaRPr lang="en-US" sz="1000" dirty="0"/>
          </a:p>
        </p:txBody>
      </p:sp>
      <p:sp>
        <p:nvSpPr>
          <p:cNvPr id="23" name="Text 21"/>
          <p:cNvSpPr txBox="1"/>
          <p:nvPr/>
        </p:nvSpPr>
        <p:spPr>
          <a:xfrm>
            <a:off x="9754819" y="1863852"/>
            <a:ext cx="1903781" cy="614172"/>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plan.address × unit_bytes에 leaf 기록</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const_data · literal pool · FP32 1.0</a:t>
            </a:r>
            <a:endParaRPr lang="en-US" sz="800" dirty="0"/>
          </a:p>
        </p:txBody>
      </p:sp>
      <p:sp>
        <p:nvSpPr>
          <p:cNvPr id="24" name="Shape 22"/>
          <p:cNvSpPr/>
          <p:nvPr/>
        </p:nvSpPr>
        <p:spPr>
          <a:xfrm>
            <a:off x="457200" y="2788920"/>
            <a:ext cx="5852160" cy="2011680"/>
          </a:xfrm>
          <a:prstGeom prst="roundRect">
            <a:avLst>
              <a:gd name="adj" fmla="val 2273"/>
            </a:avLst>
          </a:prstGeom>
          <a:solidFill>
            <a:srgbClr val="F5F7FA"/>
          </a:solidFill>
          <a:ln w="9525">
            <a:solidFill>
              <a:srgbClr val="C9D3DF"/>
            </a:solidFill>
            <a:prstDash val="solid"/>
          </a:ln>
        </p:spPr>
      </p:sp>
      <p:sp>
        <p:nvSpPr>
          <p:cNvPr id="25" name="Text 23"/>
          <p:cNvSpPr txBox="1"/>
          <p:nvPr/>
        </p:nvSpPr>
        <p:spPr>
          <a:xfrm>
            <a:off x="566928" y="2862072"/>
            <a:ext cx="5632704" cy="186537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def _run_transform(lowered, entry, weights):</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host = _host_transform_module(lowered, entry)</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vm = relax.VirtualMachine(relax.build(host, "llvm"), tvm.cpu())</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return [t.numpy() for t in vm[entry + "_transform_params"]([weights])]</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def _bind_inputs(func, inputs, transformed):</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runtime_count = len(func.params) - len(transformed)</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names = [p.name_hint for p in func.params[:runtime_count]]</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if set(inputs) != set(names): raise ValueError(...)</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return {**inputs, **dict(zip(names_of_rest, transformed))}</a:t>
            </a:r>
            <a:endParaRPr lang="en-US" sz="8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537960" y="2788920"/>
          <a:ext cx="5193792" cy="914400"/>
        </p:xfrm>
        <a:graphic>
          <a:graphicData uri="http://schemas.openxmlformats.org/drawingml/2006/table">
            <a:tbl>
              <a:tblPr/>
              <a:tblGrid>
                <a:gridCol w="2103120"/>
                <a:gridCol w="3090672"/>
              </a:tblGrid>
              <a:tr h="274320">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cache 안전장치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이유</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키에 weight 내용 포함</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파일명만 같은 다른 checkpoint 재사용 방지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키에 host IR 포함</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변환 본문·양자화 모드가 바뀌면 miss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flock + COMPLETE marker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동시 실행 시 반쯤 쓴 cache 사용 방지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tmp → os.replace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원자적 commit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배열별 sha256 재검증</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손상된 .npy 감지 ("cache is corrupt")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np.load(mmap_mode="r")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build_image가 복사만 하므로 상주 불필요</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27" name="Shape 24"/>
          <p:cNvSpPr/>
          <p:nvPr/>
        </p:nvSpPr>
        <p:spPr>
          <a:xfrm>
            <a:off x="457200" y="5029200"/>
            <a:ext cx="11274552" cy="777240"/>
          </a:xfrm>
          <a:prstGeom prst="roundRect">
            <a:avLst>
              <a:gd name="adj" fmla="val 7059"/>
            </a:avLst>
          </a:prstGeom>
          <a:solidFill>
            <a:srgbClr val="EEF2F6"/>
          </a:solidFill>
          <a:ln w="12700">
            <a:solidFill>
              <a:srgbClr val="C9D3DF"/>
            </a:solidFill>
            <a:prstDash val="solid"/>
          </a:ln>
        </p:spPr>
      </p:sp>
      <p:sp>
        <p:nvSpPr>
          <p:cNvPr id="28" name="Text 25"/>
          <p:cNvSpPr txBox="1"/>
          <p:nvPr/>
        </p:nvSpPr>
        <p:spPr>
          <a:xfrm>
            <a:off x="585216" y="5084064"/>
            <a:ext cx="11018520" cy="66751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준비 비용과 실행 비용의 분리: </a:t>
            </a:r>
            <a:pPr algn="l" indent="0" marL="0">
              <a:buNone/>
            </a:pPr>
            <a:r>
              <a:rPr lang="en-US" sz="1050" dirty="0">
                <a:solidFill>
                  <a:srgbClr val="1F2D3D"/>
                </a:solidFill>
                <a:latin typeface="Malgun Gothic" pitchFamily="34" charset="0"/>
                <a:ea typeface="Malgun Gothic" pitchFamily="34" charset="-122"/>
                <a:cs typeface="Malgun Gothic" pitchFamily="34" charset="-120"/>
              </a:rPr>
              <a:t>변환·image 구성은 모델을 준비할 때의 host 작업이고, token마다 실행되는 것은 NPU 계산과 작은 입력 patch(decode step당 6,676 bytes)뿐입니다. 이 둘을 한 표에 더해 "NPU bandwidth"로 보고하지 않습니다.</a:t>
            </a:r>
            <a:endParaRPr lang="en-US" sz="1200" dirty="0"/>
          </a:p>
        </p:txBody>
      </p:sp>
      <p:sp>
        <p:nvSpPr>
          <p:cNvPr id="29" name="Text 26"/>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30" name="Text 27"/>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npu_compiler/npu_generate.py (_run_transform, _transform, _bind_inputs), npu_link.build_image</a:t>
            </a:r>
            <a:endParaRPr lang="en-US" sz="850" dirty="0"/>
          </a:p>
        </p:txBody>
      </p:sp>
      <p:sp>
        <p:nvSpPr>
          <p:cNvPr id="31" name="Text 28"/>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18 / 89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4 · LegalizeOps와 수치</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LegalizeOps 뒤에도 Relax는 남는다: call_tir + PrimFunc</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작은 예제의 실제 unfused IR. Relax 함수는 호출 순서를, 각 PrimFunc는 원소 계산을 정의합니다. op_pattern attribute가 다음 단계 FuseOps의 입력입니다.</a:t>
            </a:r>
            <a:endParaRPr lang="en-US" sz="1250" dirty="0"/>
          </a:p>
        </p:txBody>
      </p:sp>
      <p:sp>
        <p:nvSpPr>
          <p:cNvPr id="5" name="Text 3"/>
          <p:cNvSpPr txBox="1"/>
          <p:nvPr/>
        </p:nvSpPr>
        <p:spPr>
          <a:xfrm>
            <a:off x="45720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Relax 함수 (호출 순서 유지)</a:t>
            </a:r>
            <a:endParaRPr lang="en-US" sz="1100" dirty="0"/>
          </a:p>
        </p:txBody>
      </p:sp>
      <p:sp>
        <p:nvSpPr>
          <p:cNvPr id="6" name="Shape 4"/>
          <p:cNvSpPr/>
          <p:nvPr/>
        </p:nvSpPr>
        <p:spPr>
          <a:xfrm>
            <a:off x="457200" y="1645920"/>
            <a:ext cx="5577840" cy="1600200"/>
          </a:xfrm>
          <a:prstGeom prst="roundRect">
            <a:avLst>
              <a:gd name="adj" fmla="val 2857"/>
            </a:avLst>
          </a:prstGeom>
          <a:solidFill>
            <a:srgbClr val="F5F7FA"/>
          </a:solidFill>
          <a:ln w="9525">
            <a:solidFill>
              <a:srgbClr val="C9D3DF"/>
            </a:solidFill>
            <a:prstDash val="solid"/>
          </a:ln>
        </p:spPr>
      </p:sp>
      <p:sp>
        <p:nvSpPr>
          <p:cNvPr id="7" name="Text 5"/>
          <p:cNvSpPr txBox="1"/>
          <p:nvPr/>
        </p:nvSpPr>
        <p:spPr>
          <a:xfrm>
            <a:off x="566928" y="1719072"/>
            <a:ext cx="5358384" cy="1453896"/>
          </a:xfrm>
          <a:prstGeom prst="rect">
            <a:avLst/>
          </a:prstGeom>
          <a:noFill/>
          <a:ln/>
        </p:spPr>
        <p:txBody>
          <a:bodyPr wrap="square" lIns="0" tIns="0" rIns="0" bIns="0" rtlCol="0" anchor="t"/>
          <a:lstStyle/>
          <a:p>
            <a:pPr algn="l" indent="0" marL="0">
              <a:lnSpc>
                <a:spcPct val="105000"/>
              </a:lnSpc>
              <a:buNone/>
            </a:pPr>
            <a:r>
              <a:rPr lang="en-US" sz="850" dirty="0">
                <a:solidFill>
                  <a:srgbClr val="2F6DB5"/>
                </a:solidFill>
                <a:latin typeface="Courier New" pitchFamily="34" charset="0"/>
                <a:ea typeface="Courier New" pitchFamily="34" charset="-122"/>
                <a:cs typeface="Courier New" pitchFamily="34" charset="-120"/>
              </a:rPr>
              <a:t>@R.function</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def prefill(x: (64,128), bias: (64,), lv: (128,64)) -&gt; (64,64):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R.func_attr({"num_input": 1});  cls = Module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R.dataflow():</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lv1 = R.call_tir(cls.matmul, (x, lv),  out_sinfo=R.Tensor((64,64), "float16"))</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lv2 = R.call_tir(cls.add,    (lv1, bias), out_sinfo=...)</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gv  = R.call_tir(cls.silu,   (lv2,),      out_sinfo=...)</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R.output(gv)</a:t>
            </a:r>
            <a:endParaRPr lang="en-US" sz="850" dirty="0"/>
          </a:p>
        </p:txBody>
      </p:sp>
      <p:sp>
        <p:nvSpPr>
          <p:cNvPr id="8" name="Text 6"/>
          <p:cNvSpPr txBox="1"/>
          <p:nvPr/>
        </p:nvSpPr>
        <p:spPr>
          <a:xfrm>
            <a:off x="457200" y="338328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PrimFunc 목록 (같은 IRModule 안)</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3657600"/>
          <a:ext cx="5577840" cy="914400"/>
        </p:xfrm>
        <a:graphic>
          <a:graphicData uri="http://schemas.openxmlformats.org/drawingml/2006/table">
            <a:tbl>
              <a:tblPr/>
              <a:tblGrid>
                <a:gridCol w="1005840"/>
                <a:gridCol w="1463040"/>
                <a:gridCol w="3108960"/>
              </a:tblGrid>
              <a:tr h="292608">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PrimFunc</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op_pattern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계산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matmul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4 kOutEWiseFusable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FP32 누산 + FP16 cast, npu.numeric_policy attr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add</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 kElemWise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T_add[i,j] = lv1[i,j] + bias[j] (broadcast)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silu</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 kElemWise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compute = sigmoid(x); T_multiply = x * compute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transpose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2 kInjective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host 함수용 (prefill_transform_params가 호출)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626364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matmul PrimFunc (TVM Script)</a:t>
            </a:r>
            <a:endParaRPr lang="en-US" sz="1100" dirty="0"/>
          </a:p>
        </p:txBody>
      </p:sp>
      <p:sp>
        <p:nvSpPr>
          <p:cNvPr id="11" name="Shape 8"/>
          <p:cNvSpPr/>
          <p:nvPr/>
        </p:nvSpPr>
        <p:spPr>
          <a:xfrm>
            <a:off x="6263640" y="1645920"/>
            <a:ext cx="5468112" cy="3566160"/>
          </a:xfrm>
          <a:prstGeom prst="roundRect">
            <a:avLst>
              <a:gd name="adj" fmla="val 1282"/>
            </a:avLst>
          </a:prstGeom>
          <a:solidFill>
            <a:srgbClr val="F5F7FA"/>
          </a:solidFill>
          <a:ln w="9525">
            <a:solidFill>
              <a:srgbClr val="C9D3DF"/>
            </a:solidFill>
            <a:prstDash val="solid"/>
          </a:ln>
        </p:spPr>
      </p:sp>
      <p:sp>
        <p:nvSpPr>
          <p:cNvPr id="12" name="Text 9"/>
          <p:cNvSpPr txBox="1"/>
          <p:nvPr/>
        </p:nvSpPr>
        <p:spPr>
          <a:xfrm>
            <a:off x="6373368" y="1719072"/>
            <a:ext cx="5248656" cy="3419856"/>
          </a:xfrm>
          <a:prstGeom prst="rect">
            <a:avLst/>
          </a:prstGeom>
          <a:noFill/>
          <a:ln/>
        </p:spPr>
        <p:txBody>
          <a:bodyPr wrap="square" lIns="0" tIns="0" rIns="0" bIns="0" rtlCol="0" anchor="t"/>
          <a:lstStyle/>
          <a:p>
            <a:pPr algn="l" indent="0" marL="0">
              <a:lnSpc>
                <a:spcPct val="105000"/>
              </a:lnSpc>
              <a:buNone/>
            </a:pPr>
            <a:r>
              <a:rPr lang="en-US" sz="800" dirty="0">
                <a:solidFill>
                  <a:srgbClr val="2F6DB5"/>
                </a:solidFill>
                <a:latin typeface="Courier New" pitchFamily="34" charset="0"/>
                <a:ea typeface="Courier New" pitchFamily="34" charset="-122"/>
                <a:cs typeface="Courier New" pitchFamily="34" charset="-120"/>
              </a:rPr>
              <a:t>@T.prim_func(private=True)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def matmul(x: T.Buffer((64, 128), "float16"), lv: T.Buffer((128, 64), "float16"),</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compute: T.Buffer((64, 64), "float16")):</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T.func_attr({"npu.numeric_policy": "fp16_storage_fp32_accum", "op_pattern": 4})</a:t>
            </a:r>
            <a:endParaRPr lang="en-US" sz="800" dirty="0"/>
          </a:p>
          <a:p>
            <a:pPr algn="l" indent="0" marL="0">
              <a:lnSpc>
                <a:spcPct val="105000"/>
              </a:lnSpc>
              <a:buNone/>
            </a:pPr>
            <a:r>
              <a:rPr lang="en-US" sz="800" dirty="0">
                <a:solidFill>
                  <a:srgbClr val="2E7D32"/>
                </a:solidFill>
                <a:latin typeface="Courier New" pitchFamily="34" charset="0"/>
                <a:ea typeface="Courier New" pitchFamily="34" charset="-122"/>
                <a:cs typeface="Courier New" pitchFamily="34" charset="-120"/>
              </a:rPr>
              <a:t>    matmul = T.alloc_buffer((64, 64))              # FP32 논리 buffer</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for i0, i1, k in T.grid(64, 64, 128):</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with T.block("matmul"):</a:t>
            </a:r>
            <a:endParaRPr lang="en-US" sz="800" dirty="0"/>
          </a:p>
          <a:p>
            <a:pPr algn="l" indent="0" marL="0">
              <a:lnSpc>
                <a:spcPct val="105000"/>
              </a:lnSpc>
              <a:buNone/>
            </a:pPr>
            <a:r>
              <a:rPr lang="en-US" sz="800" dirty="0">
                <a:solidFill>
                  <a:srgbClr val="2E7D32"/>
                </a:solidFill>
                <a:latin typeface="Courier New" pitchFamily="34" charset="0"/>
                <a:ea typeface="Courier New" pitchFamily="34" charset="-122"/>
                <a:cs typeface="Courier New" pitchFamily="34" charset="-120"/>
              </a:rPr>
              <a:t>            v_i0, v_i1, v_k = T.axis.remap("SSR", [i0, i1, k])   # S,S = spatial, R = reduction</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T.reads(x[v_i0, v_k], lv[v_k, v_i1]);  T.writes(matmul[v_i0, v_i1])</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with T.init():</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matmul[v_i0, v_i1] = T.float32(0.0)</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matmul[v_i0, v_i1] = matmul[v_i0, v_i1] \</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 T.Cast("float32", x[v_i0, v_k]) * T.Cast("float32", lv[v_k, v_i1])</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for i0, i1 in T.grid(64, 64):</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with T.block("compute"):</a:t>
            </a:r>
            <a:endParaRPr lang="en-US" sz="800" dirty="0"/>
          </a:p>
          <a:p>
            <a:pPr algn="l" indent="0" marL="0">
              <a:lnSpc>
                <a:spcPct val="105000"/>
              </a:lnSpc>
              <a:buNone/>
            </a:pPr>
            <a:r>
              <a:rPr lang="en-US" sz="800" dirty="0">
                <a:solidFill>
                  <a:srgbClr val="2E7D32"/>
                </a:solidFill>
                <a:latin typeface="Courier New" pitchFamily="34" charset="0"/>
                <a:ea typeface="Courier New" pitchFamily="34" charset="-122"/>
                <a:cs typeface="Courier New" pitchFamily="34" charset="-120"/>
              </a:rPr>
              <a:t>            compute[v_i0, v_i1] = T.Cast("float16", matmul[v_i0, v_i1])   # FP16 저장 경계</a:t>
            </a:r>
            <a:endParaRPr lang="en-US" sz="800" dirty="0"/>
          </a:p>
        </p:txBody>
      </p:sp>
      <p:sp>
        <p:nvSpPr>
          <p:cNvPr id="13" name="Shape 10"/>
          <p:cNvSpPr/>
          <p:nvPr/>
        </p:nvSpPr>
        <p:spPr>
          <a:xfrm>
            <a:off x="6263640" y="5349240"/>
            <a:ext cx="5468112" cy="502920"/>
          </a:xfrm>
          <a:prstGeom prst="roundRect">
            <a:avLst>
              <a:gd name="adj" fmla="val 10909"/>
            </a:avLst>
          </a:prstGeom>
          <a:solidFill>
            <a:srgbClr val="FFF6DB"/>
          </a:solidFill>
          <a:ln w="12700">
            <a:solidFill>
              <a:srgbClr val="B7791F"/>
            </a:solidFill>
            <a:prstDash val="solid"/>
          </a:ln>
        </p:spPr>
      </p:sp>
      <p:sp>
        <p:nvSpPr>
          <p:cNvPr id="14" name="Text 11"/>
          <p:cNvSpPr txBox="1"/>
          <p:nvPr/>
        </p:nvSpPr>
        <p:spPr>
          <a:xfrm>
            <a:off x="6391656" y="5404104"/>
            <a:ext cx="5212080" cy="393192"/>
          </a:xfrm>
          <a:prstGeom prst="rect">
            <a:avLst/>
          </a:prstGeom>
          <a:noFill/>
          <a:ln/>
        </p:spPr>
        <p:txBody>
          <a:bodyPr wrap="square" lIns="0" tIns="0" rIns="0" bIns="0" rtlCol="0" anchor="ct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TIR의 FP32 buffer "matmul"이 반드시 FP32 SRAM 배열로 materialize되는 것은 아닙니다. tensorize 뒤에는 장치 accumulator가 이 상태를 맡습니다.</a:t>
            </a:r>
            <a:endParaRPr lang="en-US" sz="950" dirty="0"/>
          </a:p>
        </p:txBody>
      </p:sp>
      <p:sp>
        <p:nvSpPr>
          <p:cNvPr id="15" name="Shape 12"/>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6" name="Text 13"/>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Semantic TIR에서 확인할 것: 입출력 shape/dtype, 더하는 축과 초기값, FP32→FP16 cast 위치, 아직 global인 buffer, schedule 뒤에도 같은 계산 의미인지.</a:t>
            </a:r>
            <a:endParaRPr lang="en-US" sz="1250" dirty="0"/>
          </a:p>
        </p:txBody>
      </p:sp>
      <p:sp>
        <p:nvSpPr>
          <p:cNvPr id="17" name="Text 14"/>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8" name="Text 15"/>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docs/examples/pipeline/03_unfused_semantic_tir.py, docs/current/04_semantic_tir.md</a:t>
            </a:r>
            <a:endParaRPr lang="en-US" sz="850" dirty="0"/>
          </a:p>
        </p:txBody>
      </p:sp>
      <p:sp>
        <p:nvSpPr>
          <p:cNvPr id="19" name="Text 16"/>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19 / 89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4 · LegalizeOps와 수치</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TIR 읽기: block, 축의 종류, reads/writes, TE와 call_te</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TE의 placeholder/compute/reduce_axis는 "이 원소의 값은 어떤 수식인가"를 선언하고, bb.call_te가 그 정의에서 PrimFunc와 call_tir를 만듭니다.</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760720" cy="914400"/>
        </p:xfrm>
        <a:graphic>
          <a:graphicData uri="http://schemas.openxmlformats.org/drawingml/2006/table">
            <a:tbl>
              <a:tblPr/>
              <a:tblGrid>
                <a:gridCol w="1554480"/>
                <a:gridCol w="2468880"/>
                <a:gridCol w="1737360"/>
              </a:tblGrid>
              <a:tr h="384048">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TIR 요소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뜻</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이 예제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T.block("matmul")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읽기·쓰기 영역과 iteration 관계를 가진 계산 단위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C32[i,j] += f32(x[i,k])·f32(lv[k,j])</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T.axis.remap("SSR")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 = spatial(출력 위치), R = reduction(더하는 축)</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i0, i1 spatial / k reduction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T.init()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reduction 초기값</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C32 = 0.0 (FP32)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T.reads / T.writes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block 접근 영역 → schedule 합법성 분석</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x[i,k], lv[k,j] / matmul[i,j]</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T.alloc_buffer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PrimFunc 내부 논리 buffer (scope 기본 global)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matmul (64,64) FP32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T.Cast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dtype 변환 위치 = 수치 경계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FP16→FP32 곱, FP32→FP16 저장</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scope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buffer 저장 계층 (global / global.sram / local.accumulator)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schedule이 global.sram으로 변경</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 name="Text 3"/>
          <p:cNvSpPr txBox="1"/>
          <p:nvPr/>
        </p:nvSpPr>
        <p:spPr>
          <a:xfrm>
            <a:off x="644652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TE 정의 → PrimFunc (npu_legalize._matmul_te)</a:t>
            </a:r>
            <a:endParaRPr lang="en-US" sz="1100" dirty="0"/>
          </a:p>
        </p:txBody>
      </p:sp>
      <p:sp>
        <p:nvSpPr>
          <p:cNvPr id="7" name="Shape 4"/>
          <p:cNvSpPr/>
          <p:nvPr/>
        </p:nvSpPr>
        <p:spPr>
          <a:xfrm>
            <a:off x="6446520" y="1645920"/>
            <a:ext cx="5285232" cy="2377440"/>
          </a:xfrm>
          <a:prstGeom prst="roundRect">
            <a:avLst>
              <a:gd name="adj" fmla="val 1923"/>
            </a:avLst>
          </a:prstGeom>
          <a:solidFill>
            <a:srgbClr val="F5F7FA"/>
          </a:solidFill>
          <a:ln w="9525">
            <a:solidFill>
              <a:srgbClr val="C9D3DF"/>
            </a:solidFill>
            <a:prstDash val="solid"/>
          </a:ln>
        </p:spPr>
      </p:sp>
      <p:sp>
        <p:nvSpPr>
          <p:cNvPr id="8" name="Text 5"/>
          <p:cNvSpPr txBox="1"/>
          <p:nvPr/>
        </p:nvSpPr>
        <p:spPr>
          <a:xfrm>
            <a:off x="6556248" y="1719072"/>
            <a:ext cx="5065776" cy="223113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def _matmul_te(a, b):</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  # rank&gt;=2 검사, batch broadcast shape 계산</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axis = te.reduce_axis((0, ashape[-1]), name="k")</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result = te.compute(shape, lambda *idx: te.sum(</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 idx[-2], axis].astype("float32")</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 b[..., axis, idx[-1]].astype("float32"), axis=axis),</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name="matmul")</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return topi.cast(result, "float16")</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def _legalize_matmul(bb, call):   # FP16×FP16→FP16만 NPU 정의</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return bb.call_te(_matmul_te, *call.args, primfunc_name_hint="matmul",</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primfunc_attrs={"npu.numeric_policy": NUMERIC_POLICY})</a:t>
            </a:r>
            <a:endParaRPr lang="en-US" sz="850" dirty="0"/>
          </a:p>
        </p:txBody>
      </p:sp>
      <p:sp>
        <p:nvSpPr>
          <p:cNvPr id="9" name="Text 6"/>
          <p:cNvSpPr txBox="1"/>
          <p:nvPr/>
        </p:nvSpPr>
        <p:spPr>
          <a:xfrm>
            <a:off x="6446520" y="4160520"/>
            <a:ext cx="5285232" cy="1645920"/>
          </a:xfrm>
          <a:prstGeom prst="rect">
            <a:avLst/>
          </a:prstGeom>
          <a:noFill/>
          <a:ln/>
        </p:spPr>
        <p:txBody>
          <a:bodyPr wrap="square" lIns="0" tIns="0" rIns="0" bIns="0" rtlCol="0" anchor="t"/>
          <a:lstStyle/>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matmul_te는 실행기가 아님: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수식 선언일 뿐, 손으로 쓴 ISA 생성기도 아님</a:t>
            </a:r>
            <a:endParaRPr lang="en-US" sz="950" dirty="0"/>
          </a:p>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확장 지점: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LegalizeOps(custom_legalize_map)에 matmul, sum, mean, rms_norm, softmax, split만 등록. 나머지는 TVM 기본 legalization</a:t>
            </a:r>
            <a:endParaRPr lang="en-US" sz="950" dirty="0"/>
          </a:p>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다른 dtype 조합: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FP16이 아니면 TVM 기본 _matmul로 위임 (범용 FP32 vector 실행은 별도 범위)</a:t>
            </a:r>
            <a:endParaRPr lang="en-US" sz="950" dirty="0"/>
          </a:p>
        </p:txBody>
      </p:sp>
      <p:sp>
        <p:nvSpPr>
          <p:cNvPr id="10" name="Shape 7"/>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1" name="Text 8"/>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이 파일에는 아직 최종 DMA량이 없습니다. DMA량은 cache 위치, 보관 선택, 실제 주소와 후단 명령 정리까지 적용한 뒤에야 판단합니다.</a:t>
            </a:r>
            <a:endParaRPr lang="en-US" sz="1250" dirty="0"/>
          </a:p>
        </p:txBody>
      </p:sp>
      <p:sp>
        <p:nvSpPr>
          <p:cNvPr id="12" name="Text 9"/>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3" name="Text 10"/>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docs/current/04_semantic_tir.md, reference/tvm_api.md, npu_compiler/npu_legalize.py</a:t>
            </a:r>
            <a:endParaRPr lang="en-US" sz="850" dirty="0"/>
          </a:p>
        </p:txBody>
      </p:sp>
      <p:sp>
        <p:nvSpPr>
          <p:cNvPr id="14" name="Text 11"/>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20 / 89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4 · LegalizeOps와 수치</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200" b="1" dirty="0">
                <a:solidFill>
                  <a:srgbClr val="15243B"/>
                </a:solidFill>
                <a:latin typeface="Malgun Gothic" pitchFamily="34" charset="0"/>
                <a:ea typeface="Malgun Gothic" pitchFamily="34" charset="-122"/>
                <a:cs typeface="Malgun Gothic" pitchFamily="34" charset="-120"/>
              </a:rPr>
              <a:t>NPU legalize map: 기본 lowering과 다른 dtype·저장 경계가 필요한 연산만 바꾼다</a:t>
            </a:r>
            <a:endParaRPr lang="en-US" sz="22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TVM 기본 RMSNorm은 FP32 중간값을 유지하지만 우리 vector unit은 FP16을 저장하고 내부 reduction만 FP32입니다. 그래서 per-op recipe만 교체합니다.</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1600200"/>
                <a:gridCol w="3931920"/>
                <a:gridCol w="3108960"/>
                <a:gridCol w="2633472"/>
              </a:tblGrid>
              <a:tr h="420624">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Relax op</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NPU 정의 (TE)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지원 조건 검사</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PrimFunc attr / 이름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2062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relax.matmul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FP16×FP16 → FP32 sum → FP16 cast. rank≥2, batch broadcast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FP16 입력·out_dtype void/float16. 그 외는 TVM 기본 _matmul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npu.numeric_policy = fp16_storage_fp32_accum, "matmul"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2062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relax.nn.softmax</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max → exp(x−max) → FP32 sum → FP16 sum → divide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FP16, 마지막 축, 정적 길이 1..65504 (exp≤1 → FP16 합 범위)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"softmax"</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2062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relax.nn.rms_norm</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scaled absmax: a=max(absmax,√ε), u=x/a, z=u/√D, s=FP32 Σz²→FP16, y=u·(1/√(s+(√ε/a)²))·w</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마지막 축, 1-D FP16 weight, 2⁻⁴⁸ ≤ ε ≤ 65504², 정적 D</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npu.rms_algorithm = scaled_absmax_v1</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2062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relax.sum / mean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FP32 sum → FP16 cast (mean은 ×1/count FP16)</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FP16 입력. 아니면 TVM 기본</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"sum", "mean"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2062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relax.split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axis-0 정적 split → memory.view + ensure_zero_offset (zero-copy)</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연속 view 가능한 경우만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decode cache의 layer별 분리</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2062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그 외 (add, silu, permute_dims, concat, repeat, reshape …)</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TVM 기본 legalization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op_pattern은 AnnotateTIROpPattern이 부여</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4892040"/>
            <a:ext cx="6766560" cy="1005840"/>
          </a:xfrm>
          <a:prstGeom prst="roundRect">
            <a:avLst>
              <a:gd name="adj" fmla="val 4545"/>
            </a:avLst>
          </a:prstGeom>
          <a:solidFill>
            <a:srgbClr val="F5F7FA"/>
          </a:solidFill>
          <a:ln w="9525">
            <a:solidFill>
              <a:srgbClr val="C9D3DF"/>
            </a:solidFill>
            <a:prstDash val="solid"/>
          </a:ln>
        </p:spPr>
      </p:sp>
      <p:sp>
        <p:nvSpPr>
          <p:cNvPr id="7" name="Text 4"/>
          <p:cNvSpPr txBox="1"/>
          <p:nvPr/>
        </p:nvSpPr>
        <p:spPr>
          <a:xfrm>
            <a:off x="566928" y="4965192"/>
            <a:ext cx="6547104" cy="85953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def legalize_map(numeric_policy=NUMERIC_POLICY):</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return {"relax.matmul": _legalize_matmul, "relax.split": legalize_split,</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"relax.sum": _legalize_sum, "relax.mean": _legalize_mean,</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"relax.nn.rms_norm": _legalize_rms_norm, "relax.nn.softmax": _legalize_softmax}</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stages += [relax.transform.LegalizeOps(custom_legalize), FoldConstants(), AnnotateTIROpPattern()]</a:t>
            </a:r>
            <a:endParaRPr lang="en-US" sz="850" dirty="0"/>
          </a:p>
        </p:txBody>
      </p:sp>
      <p:sp>
        <p:nvSpPr>
          <p:cNvPr id="8" name="Shape 5"/>
          <p:cNvSpPr/>
          <p:nvPr/>
        </p:nvSpPr>
        <p:spPr>
          <a:xfrm>
            <a:off x="7406640" y="4892040"/>
            <a:ext cx="4325112" cy="1005840"/>
          </a:xfrm>
          <a:prstGeom prst="roundRect">
            <a:avLst>
              <a:gd name="adj" fmla="val 5455"/>
            </a:avLst>
          </a:prstGeom>
          <a:solidFill>
            <a:srgbClr val="FFF6DB"/>
          </a:solidFill>
          <a:ln w="12700">
            <a:solidFill>
              <a:srgbClr val="B7791F"/>
            </a:solidFill>
            <a:prstDash val="solid"/>
          </a:ln>
        </p:spPr>
      </p:sp>
      <p:sp>
        <p:nvSpPr>
          <p:cNvPr id="9" name="Text 6"/>
          <p:cNvSpPr txBox="1"/>
          <p:nvPr/>
        </p:nvSpPr>
        <p:spPr>
          <a:xfrm>
            <a:off x="7534656" y="4946904"/>
            <a:ext cx="4069080" cy="89611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조용히 통과시키지 않는다: </a:t>
            </a:r>
            <a:pPr algn="l" indent="0" marL="0">
              <a:buNone/>
            </a:pPr>
            <a:r>
              <a:rPr lang="en-US" sz="1000" dirty="0">
                <a:solidFill>
                  <a:srgbClr val="1F2D3D"/>
                </a:solidFill>
                <a:latin typeface="Malgun Gothic" pitchFamily="34" charset="0"/>
                <a:ea typeface="Malgun Gothic" pitchFamily="34" charset="-122"/>
                <a:cs typeface="Malgun Gothic" pitchFamily="34" charset="-120"/>
              </a:rPr>
              <a:t>지원 subset 밖(예: 길이 70000 softmax, FP32 RMSNorm)은 ValueError로 거절. 임의로 근사하거나 fallback하지 않음.</a:t>
            </a:r>
            <a:endParaRPr lang="en-US" sz="1200" dirty="0"/>
          </a:p>
        </p:txBody>
      </p:sp>
      <p:sp>
        <p:nvSpPr>
          <p:cNvPr id="10" name="Text 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1" name="Text 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npu_compiler/npu_legalize.py legalize_map(), npu_views.legalize_split</a:t>
            </a:r>
            <a:endParaRPr lang="en-US" sz="850" dirty="0"/>
          </a:p>
        </p:txBody>
      </p:sp>
      <p:sp>
        <p:nvSpPr>
          <p:cNvPr id="12" name="Text 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21 / 89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4 · LegalizeOps와 수치</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FP16 저장 / FP32 누산: K 전체 동안 accumulator를 끊지 않는다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K=128 출력 tile 하나의 128개 곱은 64개씩 두 그룹의 FP32 부분합이 되어 같은 accumulator에 더해지고, 마지막에 한 번만 FP16으로 반올림됩니다. 중간에 FP16으로 저장했다 다시 더하면 반올림 위치가 달라집니다.</a:t>
            </a:r>
            <a:endParaRPr lang="en-US" sz="1250" dirty="0"/>
          </a:p>
        </p:txBody>
      </p:sp>
      <p:sp>
        <p:nvSpPr>
          <p:cNvPr id="5" name="Shape 3"/>
          <p:cNvSpPr/>
          <p:nvPr/>
        </p:nvSpPr>
        <p:spPr>
          <a:xfrm>
            <a:off x="1828800" y="1481328"/>
            <a:ext cx="320040" cy="292608"/>
          </a:xfrm>
          <a:prstGeom prst="rect">
            <a:avLst/>
          </a:prstGeom>
          <a:solidFill>
            <a:srgbClr val="DDF3F0"/>
          </a:solidFill>
          <a:ln w="6350">
            <a:solidFill>
              <a:srgbClr val="1F8A8A"/>
            </a:solidFill>
            <a:prstDash val="solid"/>
          </a:ln>
        </p:spPr>
      </p:sp>
      <p:sp>
        <p:nvSpPr>
          <p:cNvPr id="6" name="Text 4"/>
          <p:cNvSpPr txBox="1"/>
          <p:nvPr/>
        </p:nvSpPr>
        <p:spPr>
          <a:xfrm>
            <a:off x="1828800" y="1481328"/>
            <a:ext cx="320040" cy="29260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k=0</a:t>
            </a:r>
            <a:endParaRPr lang="en-US" sz="650" dirty="0"/>
          </a:p>
        </p:txBody>
      </p:sp>
      <p:sp>
        <p:nvSpPr>
          <p:cNvPr id="7" name="Shape 5"/>
          <p:cNvSpPr/>
          <p:nvPr/>
        </p:nvSpPr>
        <p:spPr>
          <a:xfrm>
            <a:off x="2148840" y="1481328"/>
            <a:ext cx="320040" cy="292608"/>
          </a:xfrm>
          <a:prstGeom prst="rect">
            <a:avLst/>
          </a:prstGeom>
          <a:solidFill>
            <a:srgbClr val="DDF3F0"/>
          </a:solidFill>
          <a:ln w="6350">
            <a:solidFill>
              <a:srgbClr val="1F8A8A"/>
            </a:solidFill>
            <a:prstDash val="solid"/>
          </a:ln>
        </p:spPr>
      </p:sp>
      <p:sp>
        <p:nvSpPr>
          <p:cNvPr id="8" name="Shape 6"/>
          <p:cNvSpPr/>
          <p:nvPr/>
        </p:nvSpPr>
        <p:spPr>
          <a:xfrm>
            <a:off x="2468880" y="1481328"/>
            <a:ext cx="320040" cy="292608"/>
          </a:xfrm>
          <a:prstGeom prst="rect">
            <a:avLst/>
          </a:prstGeom>
          <a:solidFill>
            <a:srgbClr val="DDF3F0"/>
          </a:solidFill>
          <a:ln w="6350">
            <a:solidFill>
              <a:srgbClr val="1F8A8A"/>
            </a:solidFill>
            <a:prstDash val="solid"/>
          </a:ln>
        </p:spPr>
      </p:sp>
      <p:sp>
        <p:nvSpPr>
          <p:cNvPr id="9" name="Shape 7"/>
          <p:cNvSpPr/>
          <p:nvPr/>
        </p:nvSpPr>
        <p:spPr>
          <a:xfrm>
            <a:off x="2788920" y="1481328"/>
            <a:ext cx="320040" cy="292608"/>
          </a:xfrm>
          <a:prstGeom prst="rect">
            <a:avLst/>
          </a:prstGeom>
          <a:solidFill>
            <a:srgbClr val="DDF3F0"/>
          </a:solidFill>
          <a:ln w="6350">
            <a:solidFill>
              <a:srgbClr val="1F8A8A"/>
            </a:solidFill>
            <a:prstDash val="solid"/>
          </a:ln>
        </p:spPr>
      </p:sp>
      <p:sp>
        <p:nvSpPr>
          <p:cNvPr id="10" name="Shape 8"/>
          <p:cNvSpPr/>
          <p:nvPr/>
        </p:nvSpPr>
        <p:spPr>
          <a:xfrm>
            <a:off x="3108960" y="1481328"/>
            <a:ext cx="320040" cy="292608"/>
          </a:xfrm>
          <a:prstGeom prst="rect">
            <a:avLst/>
          </a:prstGeom>
          <a:solidFill>
            <a:srgbClr val="DDF3F0"/>
          </a:solidFill>
          <a:ln w="6350">
            <a:solidFill>
              <a:srgbClr val="1F8A8A"/>
            </a:solidFill>
            <a:prstDash val="solid"/>
          </a:ln>
        </p:spPr>
      </p:sp>
      <p:sp>
        <p:nvSpPr>
          <p:cNvPr id="11" name="Shape 9"/>
          <p:cNvSpPr/>
          <p:nvPr/>
        </p:nvSpPr>
        <p:spPr>
          <a:xfrm>
            <a:off x="3429000" y="1481328"/>
            <a:ext cx="320040" cy="292608"/>
          </a:xfrm>
          <a:prstGeom prst="rect">
            <a:avLst/>
          </a:prstGeom>
          <a:solidFill>
            <a:srgbClr val="DDF3F0"/>
          </a:solidFill>
          <a:ln w="6350">
            <a:solidFill>
              <a:srgbClr val="1F8A8A"/>
            </a:solidFill>
            <a:prstDash val="solid"/>
          </a:ln>
        </p:spPr>
      </p:sp>
      <p:sp>
        <p:nvSpPr>
          <p:cNvPr id="12" name="Shape 10"/>
          <p:cNvSpPr/>
          <p:nvPr/>
        </p:nvSpPr>
        <p:spPr>
          <a:xfrm>
            <a:off x="3749040" y="1481328"/>
            <a:ext cx="320040" cy="292608"/>
          </a:xfrm>
          <a:prstGeom prst="rect">
            <a:avLst/>
          </a:prstGeom>
          <a:solidFill>
            <a:srgbClr val="DDF3F0"/>
          </a:solidFill>
          <a:ln w="6350">
            <a:solidFill>
              <a:srgbClr val="1F8A8A"/>
            </a:solidFill>
            <a:prstDash val="solid"/>
          </a:ln>
        </p:spPr>
      </p:sp>
      <p:sp>
        <p:nvSpPr>
          <p:cNvPr id="13" name="Shape 11"/>
          <p:cNvSpPr/>
          <p:nvPr/>
        </p:nvSpPr>
        <p:spPr>
          <a:xfrm>
            <a:off x="4069080" y="1481328"/>
            <a:ext cx="320040" cy="292608"/>
          </a:xfrm>
          <a:prstGeom prst="rect">
            <a:avLst/>
          </a:prstGeom>
          <a:solidFill>
            <a:srgbClr val="DDF3F0"/>
          </a:solidFill>
          <a:ln w="6350">
            <a:solidFill>
              <a:srgbClr val="1F8A8A"/>
            </a:solidFill>
            <a:prstDash val="solid"/>
          </a:ln>
        </p:spPr>
      </p:sp>
      <p:sp>
        <p:nvSpPr>
          <p:cNvPr id="14" name="Text 12"/>
          <p:cNvSpPr txBox="1"/>
          <p:nvPr/>
        </p:nvSpPr>
        <p:spPr>
          <a:xfrm>
            <a:off x="4069080" y="1481328"/>
            <a:ext cx="320040" cy="29260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63</a:t>
            </a:r>
            <a:endParaRPr lang="en-US" sz="650" dirty="0"/>
          </a:p>
        </p:txBody>
      </p:sp>
      <p:sp>
        <p:nvSpPr>
          <p:cNvPr id="15" name="Shape 13"/>
          <p:cNvSpPr/>
          <p:nvPr/>
        </p:nvSpPr>
        <p:spPr>
          <a:xfrm>
            <a:off x="4389120" y="1481328"/>
            <a:ext cx="320040" cy="292608"/>
          </a:xfrm>
          <a:prstGeom prst="rect">
            <a:avLst/>
          </a:prstGeom>
          <a:solidFill>
            <a:srgbClr val="E3EEFB"/>
          </a:solidFill>
          <a:ln w="6350">
            <a:solidFill>
              <a:srgbClr val="2F6DB5"/>
            </a:solidFill>
            <a:prstDash val="solid"/>
          </a:ln>
        </p:spPr>
      </p:sp>
      <p:sp>
        <p:nvSpPr>
          <p:cNvPr id="16" name="Text 14"/>
          <p:cNvSpPr txBox="1"/>
          <p:nvPr/>
        </p:nvSpPr>
        <p:spPr>
          <a:xfrm>
            <a:off x="4389120" y="1481328"/>
            <a:ext cx="320040" cy="29260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64</a:t>
            </a:r>
            <a:endParaRPr lang="en-US" sz="650" dirty="0"/>
          </a:p>
        </p:txBody>
      </p:sp>
      <p:sp>
        <p:nvSpPr>
          <p:cNvPr id="17" name="Shape 15"/>
          <p:cNvSpPr/>
          <p:nvPr/>
        </p:nvSpPr>
        <p:spPr>
          <a:xfrm>
            <a:off x="4709160" y="1481328"/>
            <a:ext cx="320040" cy="292608"/>
          </a:xfrm>
          <a:prstGeom prst="rect">
            <a:avLst/>
          </a:prstGeom>
          <a:solidFill>
            <a:srgbClr val="E3EEFB"/>
          </a:solidFill>
          <a:ln w="6350">
            <a:solidFill>
              <a:srgbClr val="2F6DB5"/>
            </a:solidFill>
            <a:prstDash val="solid"/>
          </a:ln>
        </p:spPr>
      </p:sp>
      <p:sp>
        <p:nvSpPr>
          <p:cNvPr id="18" name="Shape 16"/>
          <p:cNvSpPr/>
          <p:nvPr/>
        </p:nvSpPr>
        <p:spPr>
          <a:xfrm>
            <a:off x="5029200" y="1481328"/>
            <a:ext cx="320040" cy="292608"/>
          </a:xfrm>
          <a:prstGeom prst="rect">
            <a:avLst/>
          </a:prstGeom>
          <a:solidFill>
            <a:srgbClr val="E3EEFB"/>
          </a:solidFill>
          <a:ln w="6350">
            <a:solidFill>
              <a:srgbClr val="2F6DB5"/>
            </a:solidFill>
            <a:prstDash val="solid"/>
          </a:ln>
        </p:spPr>
      </p:sp>
      <p:sp>
        <p:nvSpPr>
          <p:cNvPr id="19" name="Shape 17"/>
          <p:cNvSpPr/>
          <p:nvPr/>
        </p:nvSpPr>
        <p:spPr>
          <a:xfrm>
            <a:off x="5349240" y="1481328"/>
            <a:ext cx="320040" cy="292608"/>
          </a:xfrm>
          <a:prstGeom prst="rect">
            <a:avLst/>
          </a:prstGeom>
          <a:solidFill>
            <a:srgbClr val="E3EEFB"/>
          </a:solidFill>
          <a:ln w="6350">
            <a:solidFill>
              <a:srgbClr val="2F6DB5"/>
            </a:solidFill>
            <a:prstDash val="solid"/>
          </a:ln>
        </p:spPr>
      </p:sp>
      <p:sp>
        <p:nvSpPr>
          <p:cNvPr id="20" name="Shape 18"/>
          <p:cNvSpPr/>
          <p:nvPr/>
        </p:nvSpPr>
        <p:spPr>
          <a:xfrm>
            <a:off x="5669280" y="1481328"/>
            <a:ext cx="320040" cy="292608"/>
          </a:xfrm>
          <a:prstGeom prst="rect">
            <a:avLst/>
          </a:prstGeom>
          <a:solidFill>
            <a:srgbClr val="E3EEFB"/>
          </a:solidFill>
          <a:ln w="6350">
            <a:solidFill>
              <a:srgbClr val="2F6DB5"/>
            </a:solidFill>
            <a:prstDash val="solid"/>
          </a:ln>
        </p:spPr>
      </p:sp>
      <p:sp>
        <p:nvSpPr>
          <p:cNvPr id="21" name="Shape 19"/>
          <p:cNvSpPr/>
          <p:nvPr/>
        </p:nvSpPr>
        <p:spPr>
          <a:xfrm>
            <a:off x="5989320" y="1481328"/>
            <a:ext cx="320040" cy="292608"/>
          </a:xfrm>
          <a:prstGeom prst="rect">
            <a:avLst/>
          </a:prstGeom>
          <a:solidFill>
            <a:srgbClr val="E3EEFB"/>
          </a:solidFill>
          <a:ln w="6350">
            <a:solidFill>
              <a:srgbClr val="2F6DB5"/>
            </a:solidFill>
            <a:prstDash val="solid"/>
          </a:ln>
        </p:spPr>
      </p:sp>
      <p:sp>
        <p:nvSpPr>
          <p:cNvPr id="22" name="Shape 20"/>
          <p:cNvSpPr/>
          <p:nvPr/>
        </p:nvSpPr>
        <p:spPr>
          <a:xfrm>
            <a:off x="6309360" y="1481328"/>
            <a:ext cx="320040" cy="292608"/>
          </a:xfrm>
          <a:prstGeom prst="rect">
            <a:avLst/>
          </a:prstGeom>
          <a:solidFill>
            <a:srgbClr val="E3EEFB"/>
          </a:solidFill>
          <a:ln w="6350">
            <a:solidFill>
              <a:srgbClr val="2F6DB5"/>
            </a:solidFill>
            <a:prstDash val="solid"/>
          </a:ln>
        </p:spPr>
      </p:sp>
      <p:sp>
        <p:nvSpPr>
          <p:cNvPr id="23" name="Shape 21"/>
          <p:cNvSpPr/>
          <p:nvPr/>
        </p:nvSpPr>
        <p:spPr>
          <a:xfrm>
            <a:off x="6629400" y="1481328"/>
            <a:ext cx="320040" cy="292608"/>
          </a:xfrm>
          <a:prstGeom prst="rect">
            <a:avLst/>
          </a:prstGeom>
          <a:solidFill>
            <a:srgbClr val="E3EEFB"/>
          </a:solidFill>
          <a:ln w="6350">
            <a:solidFill>
              <a:srgbClr val="2F6DB5"/>
            </a:solidFill>
            <a:prstDash val="solid"/>
          </a:ln>
        </p:spPr>
      </p:sp>
      <p:sp>
        <p:nvSpPr>
          <p:cNvPr id="24" name="Text 22"/>
          <p:cNvSpPr txBox="1"/>
          <p:nvPr/>
        </p:nvSpPr>
        <p:spPr>
          <a:xfrm>
            <a:off x="6629400" y="1481328"/>
            <a:ext cx="320040" cy="29260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127</a:t>
            </a:r>
            <a:endParaRPr lang="en-US" sz="650" dirty="0"/>
          </a:p>
        </p:txBody>
      </p:sp>
      <p:sp>
        <p:nvSpPr>
          <p:cNvPr id="25" name="Text 23"/>
          <p:cNvSpPr txBox="1"/>
          <p:nvPr/>
        </p:nvSpPr>
        <p:spPr>
          <a:xfrm>
            <a:off x="36576" y="1481328"/>
            <a:ext cx="1737360" cy="29260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곱 x[i,k]·b[k,j] (FP16×FP16)</a:t>
            </a:r>
            <a:endParaRPr lang="en-US" sz="800" dirty="0"/>
          </a:p>
        </p:txBody>
      </p:sp>
      <p:sp>
        <p:nvSpPr>
          <p:cNvPr id="26" name="Shape 24"/>
          <p:cNvSpPr/>
          <p:nvPr/>
        </p:nvSpPr>
        <p:spPr>
          <a:xfrm>
            <a:off x="1828800" y="2011680"/>
            <a:ext cx="2560320" cy="457200"/>
          </a:xfrm>
          <a:prstGeom prst="roundRect">
            <a:avLst>
              <a:gd name="adj" fmla="val 12000"/>
            </a:avLst>
          </a:prstGeom>
          <a:solidFill>
            <a:srgbClr val="DDF3F0"/>
          </a:solidFill>
          <a:ln w="12700">
            <a:solidFill>
              <a:srgbClr val="1F8A8A"/>
            </a:solidFill>
            <a:prstDash val="solid"/>
          </a:ln>
        </p:spPr>
      </p:sp>
      <p:sp>
        <p:nvSpPr>
          <p:cNvPr id="27" name="Text 25"/>
          <p:cNvSpPr txBox="1"/>
          <p:nvPr/>
        </p:nvSpPr>
        <p:spPr>
          <a:xfrm>
            <a:off x="1883664" y="2048256"/>
            <a:ext cx="2450592" cy="384048"/>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g₀ = Σ_{k&lt;64} (FP32 부분합)</a:t>
            </a:r>
            <a:endParaRPr lang="en-US" sz="950" dirty="0"/>
          </a:p>
        </p:txBody>
      </p:sp>
      <p:sp>
        <p:nvSpPr>
          <p:cNvPr id="28" name="Shape 26"/>
          <p:cNvSpPr/>
          <p:nvPr/>
        </p:nvSpPr>
        <p:spPr>
          <a:xfrm>
            <a:off x="4389120" y="2011680"/>
            <a:ext cx="2560320" cy="457200"/>
          </a:xfrm>
          <a:prstGeom prst="roundRect">
            <a:avLst>
              <a:gd name="adj" fmla="val 12000"/>
            </a:avLst>
          </a:prstGeom>
          <a:solidFill>
            <a:srgbClr val="E3EEFB"/>
          </a:solidFill>
          <a:ln w="12700">
            <a:solidFill>
              <a:srgbClr val="2F6DB5"/>
            </a:solidFill>
            <a:prstDash val="solid"/>
          </a:ln>
        </p:spPr>
      </p:sp>
      <p:sp>
        <p:nvSpPr>
          <p:cNvPr id="29" name="Text 27"/>
          <p:cNvSpPr txBox="1"/>
          <p:nvPr/>
        </p:nvSpPr>
        <p:spPr>
          <a:xfrm>
            <a:off x="4443984" y="2048256"/>
            <a:ext cx="2450592" cy="384048"/>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g₁ = Σ_{64≤k&lt;128} (FP32)</a:t>
            </a:r>
            <a:endParaRPr lang="en-US" sz="950" dirty="0"/>
          </a:p>
        </p:txBody>
      </p:sp>
      <p:sp>
        <p:nvSpPr>
          <p:cNvPr id="30" name="Shape 28"/>
          <p:cNvSpPr/>
          <p:nvPr/>
        </p:nvSpPr>
        <p:spPr>
          <a:xfrm>
            <a:off x="3108960" y="1773936"/>
            <a:ext cx="914" cy="237744"/>
          </a:xfrm>
          <a:prstGeom prst="line">
            <a:avLst/>
          </a:prstGeom>
          <a:noFill/>
          <a:ln w="12700">
            <a:solidFill>
              <a:srgbClr val="5B6B7F"/>
            </a:solidFill>
            <a:prstDash val="solid"/>
            <a:tailEnd type="triangle"/>
          </a:ln>
        </p:spPr>
      </p:sp>
      <p:sp>
        <p:nvSpPr>
          <p:cNvPr id="31" name="Shape 29"/>
          <p:cNvSpPr/>
          <p:nvPr/>
        </p:nvSpPr>
        <p:spPr>
          <a:xfrm>
            <a:off x="5669280" y="1773936"/>
            <a:ext cx="914" cy="237744"/>
          </a:xfrm>
          <a:prstGeom prst="line">
            <a:avLst/>
          </a:prstGeom>
          <a:noFill/>
          <a:ln w="12700">
            <a:solidFill>
              <a:srgbClr val="5B6B7F"/>
            </a:solidFill>
            <a:prstDash val="solid"/>
            <a:tailEnd type="triangle"/>
          </a:ln>
        </p:spPr>
      </p:sp>
      <p:sp>
        <p:nvSpPr>
          <p:cNvPr id="32" name="Shape 30"/>
          <p:cNvSpPr/>
          <p:nvPr/>
        </p:nvSpPr>
        <p:spPr>
          <a:xfrm>
            <a:off x="1828800" y="2697480"/>
            <a:ext cx="1600200" cy="502920"/>
          </a:xfrm>
          <a:prstGeom prst="roundRect">
            <a:avLst>
              <a:gd name="adj" fmla="val 10909"/>
            </a:avLst>
          </a:prstGeom>
          <a:solidFill>
            <a:srgbClr val="ECE6FA"/>
          </a:solidFill>
          <a:ln w="12700">
            <a:solidFill>
              <a:srgbClr val="6C4FBF"/>
            </a:solidFill>
            <a:prstDash val="solid"/>
          </a:ln>
        </p:spPr>
      </p:sp>
      <p:sp>
        <p:nvSpPr>
          <p:cNvPr id="33" name="Text 31"/>
          <p:cNvSpPr txBox="1"/>
          <p:nvPr/>
        </p:nvSpPr>
        <p:spPr>
          <a:xfrm>
            <a:off x="1901952" y="2770632"/>
            <a:ext cx="1453896" cy="190500"/>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acc = g₀</a:t>
            </a:r>
            <a:endParaRPr lang="en-US" sz="1000" dirty="0"/>
          </a:p>
        </p:txBody>
      </p:sp>
      <p:sp>
        <p:nvSpPr>
          <p:cNvPr id="34" name="Text 32"/>
          <p:cNvSpPr txBox="1"/>
          <p:nvPr/>
        </p:nvSpPr>
        <p:spPr>
          <a:xfrm>
            <a:off x="1901952" y="2961132"/>
            <a:ext cx="1453896" cy="202692"/>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M_MUL MAC=0</a:t>
            </a:r>
            <a:endParaRPr lang="en-US" sz="750" dirty="0"/>
          </a:p>
        </p:txBody>
      </p:sp>
      <p:sp>
        <p:nvSpPr>
          <p:cNvPr id="35" name="Shape 33"/>
          <p:cNvSpPr/>
          <p:nvPr/>
        </p:nvSpPr>
        <p:spPr>
          <a:xfrm>
            <a:off x="3657600" y="2697480"/>
            <a:ext cx="1600200" cy="502920"/>
          </a:xfrm>
          <a:prstGeom prst="roundRect">
            <a:avLst>
              <a:gd name="adj" fmla="val 10909"/>
            </a:avLst>
          </a:prstGeom>
          <a:solidFill>
            <a:srgbClr val="ECE6FA"/>
          </a:solidFill>
          <a:ln w="12700">
            <a:solidFill>
              <a:srgbClr val="6C4FBF"/>
            </a:solidFill>
            <a:prstDash val="solid"/>
          </a:ln>
        </p:spPr>
      </p:sp>
      <p:sp>
        <p:nvSpPr>
          <p:cNvPr id="36" name="Text 34"/>
          <p:cNvSpPr txBox="1"/>
          <p:nvPr/>
        </p:nvSpPr>
        <p:spPr>
          <a:xfrm>
            <a:off x="3730752" y="2770632"/>
            <a:ext cx="1453896" cy="190500"/>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acc += g₁</a:t>
            </a:r>
            <a:endParaRPr lang="en-US" sz="1000" dirty="0"/>
          </a:p>
        </p:txBody>
      </p:sp>
      <p:sp>
        <p:nvSpPr>
          <p:cNvPr id="37" name="Text 35"/>
          <p:cNvSpPr txBox="1"/>
          <p:nvPr/>
        </p:nvSpPr>
        <p:spPr>
          <a:xfrm>
            <a:off x="3730752" y="2961132"/>
            <a:ext cx="1453896" cy="202692"/>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M_MUL MAC=1</a:t>
            </a:r>
            <a:endParaRPr lang="en-US" sz="750" dirty="0"/>
          </a:p>
        </p:txBody>
      </p:sp>
      <p:sp>
        <p:nvSpPr>
          <p:cNvPr id="38" name="Shape 36"/>
          <p:cNvSpPr/>
          <p:nvPr/>
        </p:nvSpPr>
        <p:spPr>
          <a:xfrm>
            <a:off x="5486400" y="2697480"/>
            <a:ext cx="1463040" cy="502920"/>
          </a:xfrm>
          <a:prstGeom prst="roundRect">
            <a:avLst>
              <a:gd name="adj" fmla="val 10909"/>
            </a:avLst>
          </a:prstGeom>
          <a:solidFill>
            <a:srgbClr val="E5F3E7"/>
          </a:solidFill>
          <a:ln w="12700">
            <a:solidFill>
              <a:srgbClr val="2E7D32"/>
            </a:solidFill>
            <a:prstDash val="solid"/>
          </a:ln>
        </p:spPr>
      </p:sp>
      <p:sp>
        <p:nvSpPr>
          <p:cNvPr id="39" name="Text 37"/>
          <p:cNvSpPr txBox="1"/>
          <p:nvPr/>
        </p:nvSpPr>
        <p:spPr>
          <a:xfrm>
            <a:off x="5559552" y="2770632"/>
            <a:ext cx="1316736" cy="190500"/>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FP16 반올림 1회</a:t>
            </a:r>
            <a:endParaRPr lang="en-US" sz="1000" dirty="0"/>
          </a:p>
        </p:txBody>
      </p:sp>
      <p:sp>
        <p:nvSpPr>
          <p:cNvPr id="40" name="Text 38"/>
          <p:cNvSpPr txBox="1"/>
          <p:nvPr/>
        </p:nvSpPr>
        <p:spPr>
          <a:xfrm>
            <a:off x="5559552" y="2961132"/>
            <a:ext cx="1316736" cy="202692"/>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SAVE → SRAM</a:t>
            </a:r>
            <a:endParaRPr lang="en-US" sz="750" dirty="0"/>
          </a:p>
        </p:txBody>
      </p:sp>
      <p:sp>
        <p:nvSpPr>
          <p:cNvPr id="41" name="Shape 39"/>
          <p:cNvSpPr/>
          <p:nvPr/>
        </p:nvSpPr>
        <p:spPr>
          <a:xfrm flipH="1">
            <a:off x="2628900" y="2468880"/>
            <a:ext cx="480060" cy="228600"/>
          </a:xfrm>
          <a:prstGeom prst="line">
            <a:avLst/>
          </a:prstGeom>
          <a:noFill/>
          <a:ln w="12700">
            <a:solidFill>
              <a:srgbClr val="5B6B7F"/>
            </a:solidFill>
            <a:prstDash val="solid"/>
            <a:tailEnd type="triangle"/>
          </a:ln>
        </p:spPr>
      </p:sp>
      <p:sp>
        <p:nvSpPr>
          <p:cNvPr id="42" name="Shape 40"/>
          <p:cNvSpPr/>
          <p:nvPr/>
        </p:nvSpPr>
        <p:spPr>
          <a:xfrm flipH="1">
            <a:off x="4457700" y="2468880"/>
            <a:ext cx="1211580" cy="228600"/>
          </a:xfrm>
          <a:prstGeom prst="line">
            <a:avLst/>
          </a:prstGeom>
          <a:noFill/>
          <a:ln w="12700">
            <a:solidFill>
              <a:srgbClr val="5B6B7F"/>
            </a:solidFill>
            <a:prstDash val="solid"/>
            <a:tailEnd type="triangle"/>
          </a:ln>
        </p:spPr>
      </p:sp>
      <p:sp>
        <p:nvSpPr>
          <p:cNvPr id="43" name="Shape 41"/>
          <p:cNvSpPr/>
          <p:nvPr/>
        </p:nvSpPr>
        <p:spPr>
          <a:xfrm>
            <a:off x="3429000" y="2948940"/>
            <a:ext cx="228600" cy="914"/>
          </a:xfrm>
          <a:prstGeom prst="line">
            <a:avLst/>
          </a:prstGeom>
          <a:noFill/>
          <a:ln w="19050">
            <a:solidFill>
              <a:srgbClr val="5B6B7F"/>
            </a:solidFill>
            <a:prstDash val="solid"/>
            <a:tailEnd type="triangle"/>
          </a:ln>
        </p:spPr>
      </p:sp>
      <p:sp>
        <p:nvSpPr>
          <p:cNvPr id="44" name="Shape 42"/>
          <p:cNvSpPr/>
          <p:nvPr/>
        </p:nvSpPr>
        <p:spPr>
          <a:xfrm>
            <a:off x="5257800" y="2948940"/>
            <a:ext cx="228600" cy="914"/>
          </a:xfrm>
          <a:prstGeom prst="line">
            <a:avLst/>
          </a:prstGeom>
          <a:noFill/>
          <a:ln w="19050">
            <a:solidFill>
              <a:srgbClr val="5B6B7F"/>
            </a:solidFill>
            <a:prstDash val="solid"/>
            <a:tailEnd type="triangle"/>
          </a:ln>
        </p:spPr>
      </p:sp>
      <p:sp>
        <p:nvSpPr>
          <p:cNvPr id="45" name="Text 43"/>
          <p:cNvSpPr txBox="1"/>
          <p:nvPr/>
        </p:nvSpPr>
        <p:spPr>
          <a:xfrm>
            <a:off x="457200" y="2788920"/>
            <a:ext cx="1325880" cy="365760"/>
          </a:xfrm>
          <a:prstGeom prst="rect">
            <a:avLst/>
          </a:prstGeom>
          <a:noFill/>
          <a:ln/>
        </p:spPr>
        <p:txBody>
          <a:bodyPr wrap="square" lIns="0" tIns="0" rIns="0" bIns="0" rtlCol="0" anchor="t"/>
          <a:lstStyle/>
          <a:p>
            <a:pPr algn="l" indent="0" marL="0">
              <a:buNone/>
            </a:pPr>
            <a:r>
              <a:rPr lang="en-US" sz="850" b="1" dirty="0">
                <a:solidFill>
                  <a:srgbClr val="2E7D32"/>
                </a:solidFill>
                <a:latin typeface="Malgun Gothic" pitchFamily="34" charset="0"/>
                <a:ea typeface="Malgun Gothic" pitchFamily="34" charset="-122"/>
                <a:cs typeface="Malgun Gothic" pitchFamily="34" charset="-120"/>
              </a:rPr>
              <a:t>허용 (현재 계약)</a:t>
            </a:r>
            <a:endParaRPr lang="en-US" sz="850" dirty="0"/>
          </a:p>
        </p:txBody>
      </p:sp>
      <p:sp>
        <p:nvSpPr>
          <p:cNvPr id="46" name="Shape 44"/>
          <p:cNvSpPr/>
          <p:nvPr/>
        </p:nvSpPr>
        <p:spPr>
          <a:xfrm>
            <a:off x="1828800" y="3383280"/>
            <a:ext cx="1600200" cy="502920"/>
          </a:xfrm>
          <a:prstGeom prst="roundRect">
            <a:avLst>
              <a:gd name="adj" fmla="val 10909"/>
            </a:avLst>
          </a:prstGeom>
          <a:solidFill>
            <a:srgbClr val="FBE9E7"/>
          </a:solidFill>
          <a:ln w="12700">
            <a:solidFill>
              <a:srgbClr val="C0392B"/>
            </a:solidFill>
            <a:prstDash val="solid"/>
          </a:ln>
        </p:spPr>
      </p:sp>
      <p:sp>
        <p:nvSpPr>
          <p:cNvPr id="47" name="Text 45"/>
          <p:cNvSpPr txBox="1"/>
          <p:nvPr/>
        </p:nvSpPr>
        <p:spPr>
          <a:xfrm>
            <a:off x="1901952" y="3456432"/>
            <a:ext cx="145389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g₀ → FP16 저장</a:t>
            </a:r>
            <a:endParaRPr lang="en-US" sz="950" dirty="0"/>
          </a:p>
        </p:txBody>
      </p:sp>
      <p:sp>
        <p:nvSpPr>
          <p:cNvPr id="48" name="Text 46"/>
          <p:cNvSpPr txBox="1"/>
          <p:nvPr/>
        </p:nvSpPr>
        <p:spPr>
          <a:xfrm>
            <a:off x="1901952" y="3637407"/>
            <a:ext cx="1453896" cy="21221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중간 반올림</a:t>
            </a:r>
            <a:endParaRPr lang="en-US" sz="750" dirty="0"/>
          </a:p>
        </p:txBody>
      </p:sp>
      <p:sp>
        <p:nvSpPr>
          <p:cNvPr id="49" name="Shape 47"/>
          <p:cNvSpPr/>
          <p:nvPr/>
        </p:nvSpPr>
        <p:spPr>
          <a:xfrm>
            <a:off x="3657600" y="3383280"/>
            <a:ext cx="1600200" cy="502920"/>
          </a:xfrm>
          <a:prstGeom prst="roundRect">
            <a:avLst>
              <a:gd name="adj" fmla="val 10909"/>
            </a:avLst>
          </a:prstGeom>
          <a:solidFill>
            <a:srgbClr val="FBE9E7"/>
          </a:solidFill>
          <a:ln w="12700">
            <a:solidFill>
              <a:srgbClr val="C0392B"/>
            </a:solidFill>
            <a:prstDash val="solid"/>
          </a:ln>
        </p:spPr>
      </p:sp>
      <p:sp>
        <p:nvSpPr>
          <p:cNvPr id="50" name="Text 48"/>
          <p:cNvSpPr txBox="1"/>
          <p:nvPr/>
        </p:nvSpPr>
        <p:spPr>
          <a:xfrm>
            <a:off x="3730752" y="3456432"/>
            <a:ext cx="145389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reload + g₁</a:t>
            </a:r>
            <a:endParaRPr lang="en-US" sz="950" dirty="0"/>
          </a:p>
        </p:txBody>
      </p:sp>
      <p:sp>
        <p:nvSpPr>
          <p:cNvPr id="51" name="Text 49"/>
          <p:cNvSpPr txBox="1"/>
          <p:nvPr/>
        </p:nvSpPr>
        <p:spPr>
          <a:xfrm>
            <a:off x="3730752" y="3637407"/>
            <a:ext cx="1453896" cy="21221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누산 재개</a:t>
            </a:r>
            <a:endParaRPr lang="en-US" sz="750" dirty="0"/>
          </a:p>
        </p:txBody>
      </p:sp>
      <p:sp>
        <p:nvSpPr>
          <p:cNvPr id="52" name="Shape 50"/>
          <p:cNvSpPr/>
          <p:nvPr/>
        </p:nvSpPr>
        <p:spPr>
          <a:xfrm>
            <a:off x="5486400" y="3383280"/>
            <a:ext cx="1463040" cy="502920"/>
          </a:xfrm>
          <a:prstGeom prst="roundRect">
            <a:avLst>
              <a:gd name="adj" fmla="val 10909"/>
            </a:avLst>
          </a:prstGeom>
          <a:solidFill>
            <a:srgbClr val="FBE9E7"/>
          </a:solidFill>
          <a:ln w="12700">
            <a:solidFill>
              <a:srgbClr val="C0392B"/>
            </a:solidFill>
            <a:prstDash val="solid"/>
          </a:ln>
        </p:spPr>
      </p:sp>
      <p:sp>
        <p:nvSpPr>
          <p:cNvPr id="53" name="Text 51"/>
          <p:cNvSpPr txBox="1"/>
          <p:nvPr/>
        </p:nvSpPr>
        <p:spPr>
          <a:xfrm>
            <a:off x="5559552" y="3456432"/>
            <a:ext cx="131673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FP16 반올림 2회</a:t>
            </a:r>
            <a:endParaRPr lang="en-US" sz="950" dirty="0"/>
          </a:p>
        </p:txBody>
      </p:sp>
      <p:sp>
        <p:nvSpPr>
          <p:cNvPr id="54" name="Text 52"/>
          <p:cNvSpPr txBox="1"/>
          <p:nvPr/>
        </p:nvSpPr>
        <p:spPr>
          <a:xfrm>
            <a:off x="5559552" y="3637407"/>
            <a:ext cx="1316736" cy="21221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결과가 달라짐</a:t>
            </a:r>
            <a:endParaRPr lang="en-US" sz="750" dirty="0"/>
          </a:p>
        </p:txBody>
      </p:sp>
      <p:sp>
        <p:nvSpPr>
          <p:cNvPr id="55" name="Shape 53"/>
          <p:cNvSpPr/>
          <p:nvPr/>
        </p:nvSpPr>
        <p:spPr>
          <a:xfrm>
            <a:off x="3429000" y="3634740"/>
            <a:ext cx="228600" cy="914"/>
          </a:xfrm>
          <a:prstGeom prst="line">
            <a:avLst/>
          </a:prstGeom>
          <a:noFill/>
          <a:ln w="19050">
            <a:solidFill>
              <a:srgbClr val="C0392B"/>
            </a:solidFill>
            <a:prstDash val="dash"/>
            <a:tailEnd type="triangle"/>
          </a:ln>
        </p:spPr>
      </p:sp>
      <p:sp>
        <p:nvSpPr>
          <p:cNvPr id="56" name="Shape 54"/>
          <p:cNvSpPr/>
          <p:nvPr/>
        </p:nvSpPr>
        <p:spPr>
          <a:xfrm>
            <a:off x="5257800" y="3634740"/>
            <a:ext cx="228600" cy="914"/>
          </a:xfrm>
          <a:prstGeom prst="line">
            <a:avLst/>
          </a:prstGeom>
          <a:noFill/>
          <a:ln w="19050">
            <a:solidFill>
              <a:srgbClr val="C0392B"/>
            </a:solidFill>
            <a:prstDash val="dash"/>
            <a:tailEnd type="triangle"/>
          </a:ln>
        </p:spPr>
      </p:sp>
      <p:sp>
        <p:nvSpPr>
          <p:cNvPr id="57" name="Text 55"/>
          <p:cNvSpPr txBox="1"/>
          <p:nvPr/>
        </p:nvSpPr>
        <p:spPr>
          <a:xfrm>
            <a:off x="457200" y="3474720"/>
            <a:ext cx="1325880" cy="365760"/>
          </a:xfrm>
          <a:prstGeom prst="rect">
            <a:avLst/>
          </a:prstGeom>
          <a:noFill/>
          <a:ln/>
        </p:spPr>
        <p:txBody>
          <a:bodyPr wrap="square" lIns="0" tIns="0" rIns="0" bIns="0" rtlCol="0" anchor="t"/>
          <a:lstStyle/>
          <a:p>
            <a:pPr algn="l" indent="0" marL="0">
              <a:buNone/>
            </a:pPr>
            <a:r>
              <a:rPr lang="en-US" sz="850" b="1" dirty="0">
                <a:solidFill>
                  <a:srgbClr val="C0392B"/>
                </a:solidFill>
                <a:latin typeface="Malgun Gothic" pitchFamily="34" charset="0"/>
                <a:ea typeface="Malgun Gothic" pitchFamily="34" charset="-122"/>
                <a:cs typeface="Malgun Gothic" pitchFamily="34" charset="-120"/>
              </a:rPr>
              <a:t>거절 (chain 중단)</a:t>
            </a:r>
            <a:endParaRPr lang="en-US" sz="850" dirty="0"/>
          </a:p>
        </p:txBody>
      </p:sp>
      <p:sp>
        <p:nvSpPr>
          <p:cNvPr id="58" name="Text 56"/>
          <p:cNvSpPr txBox="1"/>
          <p:nvPr/>
        </p:nvSpPr>
        <p:spPr>
          <a:xfrm>
            <a:off x="7086600" y="3401568"/>
            <a:ext cx="4572000" cy="457200"/>
          </a:xfrm>
          <a:prstGeom prst="rect">
            <a:avLst/>
          </a:prstGeom>
          <a:noFill/>
          <a:ln/>
        </p:spPr>
        <p:txBody>
          <a:bodyPr wrap="square" lIns="0" tIns="0" rIns="0" bIns="0" rtlCol="0" anchor="t"/>
          <a:lstStyle/>
          <a:p>
            <a:pPr algn="l" indent="0" marL="0">
              <a:buNone/>
            </a:pPr>
            <a:r>
              <a:rPr lang="en-US" sz="800" i="1" dirty="0">
                <a:solidFill>
                  <a:srgbClr val="C0392B"/>
                </a:solidFill>
                <a:latin typeface="Malgun Gothic" pitchFamily="34" charset="0"/>
                <a:ea typeface="Malgun Gothic" pitchFamily="34" charset="-122"/>
                <a:cs typeface="Malgun Gothic" pitchFamily="34" charset="-120"/>
              </a:rPr>
              <a:t>"FP32 matrix chain interrupted: resuming from an FP16 store would change the reduction" (codegen_rejected)</a:t>
            </a:r>
            <a:endParaRPr lang="en-US" sz="800" dirty="0"/>
          </a:p>
        </p:txBody>
      </p:sp>
      <p:sp>
        <p:nvSpPr>
          <p:cNvPr id="59" name="Text 57"/>
          <p:cNvSpPr txBox="1"/>
          <p:nvPr/>
        </p:nvSpPr>
        <p:spPr>
          <a:xfrm>
            <a:off x="457200" y="4023360"/>
            <a:ext cx="5486400" cy="256032"/>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CPU reference: 같은 K=64 grouping (rfactor)</a:t>
            </a:r>
            <a:endParaRPr lang="en-US" sz="1050" dirty="0"/>
          </a:p>
        </p:txBody>
      </p:sp>
      <p:sp>
        <p:nvSpPr>
          <p:cNvPr id="60" name="Shape 58"/>
          <p:cNvSpPr/>
          <p:nvPr/>
        </p:nvSpPr>
        <p:spPr>
          <a:xfrm>
            <a:off x="457200" y="4297680"/>
            <a:ext cx="6492240" cy="1508760"/>
          </a:xfrm>
          <a:prstGeom prst="roundRect">
            <a:avLst>
              <a:gd name="adj" fmla="val 3030"/>
            </a:avLst>
          </a:prstGeom>
          <a:solidFill>
            <a:srgbClr val="F5F7FA"/>
          </a:solidFill>
          <a:ln w="9525">
            <a:solidFill>
              <a:srgbClr val="C9D3DF"/>
            </a:solidFill>
            <a:prstDash val="solid"/>
          </a:ln>
        </p:spPr>
      </p:sp>
      <p:sp>
        <p:nvSpPr>
          <p:cNvPr id="61" name="Text 59"/>
          <p:cNvSpPr txBox="1"/>
          <p:nvPr/>
        </p:nvSpPr>
        <p:spPr>
          <a:xfrm>
            <a:off x="566928" y="4370832"/>
            <a:ext cx="6272784" cy="1362456"/>
          </a:xfrm>
          <a:prstGeom prst="rect">
            <a:avLst/>
          </a:prstGeom>
          <a:noFill/>
          <a:ln/>
        </p:spPr>
        <p:txBody>
          <a:bodyPr wrap="square" lIns="0" tIns="0" rIns="0" bIns="0" rtlCol="0" anchor="t"/>
          <a:lstStyle/>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npu_numeric.tile_order_reference: split(k,[None,64]) + rfactor(factor_axis=0)</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matmul_rf = T.alloc_buffer((2, 64, 64))            # 64개 부분합 × 2 (g₀, g₁)</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for i0, i1, k_0, k_1 in T.grid(64, 64, 2, 64):</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matmul_rf[vk_0, i, j] += f32(x[i, vk_0*64+vk_1]) * f32(lv[vk_0*64+vk_1, j])</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for i0, i1, k_0 in T.grid(64, 64, 2):            # 부분합 2개를 FP32로 결합</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matmul[i, j] += matmul_rf[vk_0, i, j]</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compute[i, j] = T.Cast("float16", matmul[i, j])    # 마지막에 한 번 반올림</a:t>
            </a:r>
            <a:endParaRPr lang="en-US" sz="82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178040" y="1417320"/>
          <a:ext cx="4553712" cy="914400"/>
        </p:xfrm>
        <a:graphic>
          <a:graphicData uri="http://schemas.openxmlformats.org/drawingml/2006/table">
            <a:tbl>
              <a:tblPr/>
              <a:tblGrid>
                <a:gridCol w="1554480"/>
                <a:gridCol w="2999232"/>
              </a:tblGrid>
              <a:tr h="45720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수치 정책이 적용되는 곳</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방법</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장치 matmul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tensorize 64×64 intrinsic, MAC chain 1개 (matrix_partial_spill forbidden)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CPU / LLVM reference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tile_order_reference → relax.build(…,"llvm") VM</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Constant folding</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FoldConstants: reference module로 fold 후 원래 body 복원</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검증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validate_primitive: sum은 FP32 zero init, max identity는 −65504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Fusion 뒤</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matmul→add→SiLU의 FP16 저장 경계 유지 (SRAM에 둔다고 FP32가 되지 않음)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3" name="Shape 60"/>
          <p:cNvSpPr/>
          <p:nvPr/>
        </p:nvSpPr>
        <p:spPr>
          <a:xfrm>
            <a:off x="7178040" y="4297680"/>
            <a:ext cx="4553712" cy="1508760"/>
          </a:xfrm>
          <a:prstGeom prst="roundRect">
            <a:avLst>
              <a:gd name="adj" fmla="val 3636"/>
            </a:avLst>
          </a:prstGeom>
          <a:solidFill>
            <a:srgbClr val="EEF2F6"/>
          </a:solidFill>
          <a:ln w="12700">
            <a:solidFill>
              <a:srgbClr val="C9D3DF"/>
            </a:solidFill>
            <a:prstDash val="solid"/>
          </a:ln>
        </p:spPr>
      </p:sp>
      <p:sp>
        <p:nvSpPr>
          <p:cNvPr id="64" name="Text 61"/>
          <p:cNvSpPr txBox="1"/>
          <p:nvPr/>
        </p:nvSpPr>
        <p:spPr>
          <a:xfrm>
            <a:off x="7306056" y="4352544"/>
            <a:ext cx="4297680" cy="139903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정밀도 정책은 고정: </a:t>
            </a:r>
            <a:pPr algn="l" indent="0" marL="0">
              <a:buNone/>
            </a:pPr>
            <a:r>
              <a:rPr lang="en-US" sz="950" dirty="0">
                <a:solidFill>
                  <a:srgbClr val="1F2D3D"/>
                </a:solidFill>
                <a:latin typeface="Malgun Gothic" pitchFamily="34" charset="0"/>
                <a:ea typeface="Malgun Gothic" pitchFamily="34" charset="-122"/>
                <a:cs typeface="Malgun Gothic" pitchFamily="34" charset="-120"/>
              </a:rPr>
              <a:t>중간 FP16 반올림을 생략하면 수학적 기준에 더 가까워질 수도 있지만 다른 결과를 만드는 변환이므로 별도 정책이 필요합니다. 현재 compiler는 오차 예산을 받아 FP16/FP32 경계를 자동 탐색하지 않습니다. E1: 같은 grouping의 LLVM과 최대 절대차 0.</a:t>
            </a:r>
            <a:endParaRPr lang="en-US" sz="1200" dirty="0"/>
          </a:p>
        </p:txBody>
      </p:sp>
      <p:sp>
        <p:nvSpPr>
          <p:cNvPr id="65" name="Text 62"/>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66" name="Text 63"/>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docs/current/04_semantic_tir.md, npu_numeric.tile_order_reference, docs/examples/pipeline/08_llvm_reference.py</a:t>
            </a:r>
            <a:endParaRPr lang="en-US" sz="850" dirty="0"/>
          </a:p>
        </p:txBody>
      </p:sp>
      <p:sp>
        <p:nvSpPr>
          <p:cNvPr id="67" name="Text 64"/>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22 / 89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4 · LegalizeOps와 수치</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Softmax와 RMSNorm의 실제 정의: reduction과 FP16 범위</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"FP32 reduction"은 softmax 전체가 FP32라는 뜻이 아닙니다. 입력·exp·저장된 합·출력은 FP16이고 합산 내부만 FP32입니다.</a:t>
            </a:r>
            <a:endParaRPr lang="en-US" sz="1250" dirty="0"/>
          </a:p>
        </p:txBody>
      </p:sp>
      <p:sp>
        <p:nvSpPr>
          <p:cNvPr id="5" name="Text 3"/>
          <p:cNvSpPr txBox="1"/>
          <p:nvPr/>
        </p:nvSpPr>
        <p:spPr>
          <a:xfrm>
            <a:off x="457200" y="1371600"/>
            <a:ext cx="5486400" cy="274320"/>
          </a:xfrm>
          <a:prstGeom prst="rect">
            <a:avLst/>
          </a:prstGeom>
          <a:noFill/>
          <a:ln/>
        </p:spPr>
        <p:txBody>
          <a:bodyPr wrap="square" lIns="0" tIns="0" rIns="0" bIns="0" rtlCol="0" anchor="t"/>
          <a:lstStyle/>
          <a:p>
            <a:pPr algn="l" indent="0" marL="0">
              <a:buNone/>
            </a:pPr>
            <a:r>
              <a:rPr lang="en-US" sz="1150" b="1" dirty="0">
                <a:solidFill>
                  <a:srgbClr val="15243B"/>
                </a:solidFill>
                <a:latin typeface="Malgun Gothic" pitchFamily="34" charset="0"/>
                <a:ea typeface="Malgun Gothic" pitchFamily="34" charset="-122"/>
                <a:cs typeface="Malgun Gothic" pitchFamily="34" charset="-120"/>
              </a:rPr>
              <a:t>Softmax 한 행 [2, 1, 0]</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664208"/>
          <a:ext cx="5577840" cy="914400"/>
        </p:xfrm>
        <a:graphic>
          <a:graphicData uri="http://schemas.openxmlformats.org/drawingml/2006/table">
            <a:tbl>
              <a:tblPr/>
              <a:tblGrid>
                <a:gridCol w="1097280"/>
                <a:gridCol w="1554480"/>
                <a:gridCol w="2103120"/>
                <a:gridCol w="822960"/>
              </a:tblGrid>
              <a:tr h="310896">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단계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값</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장치 계산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dtype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최댓값</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REDUCE_MAX (첫 원소로 시작)</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FP16</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최댓값 빼기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 −1, −2]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BROADCAST + SUB</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FP16</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exp</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[1, 0.3679, 0.1353]</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vector EXP</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FP16 저장</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합계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1.5032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REDUCE_SUM (내부 FP32) → FP16 저장</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FP32→FP16</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나누기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[0.6652, 0.2447, 0.0900]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BROADCAST + DIV</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FP16</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7" name="Shape 4"/>
          <p:cNvSpPr/>
          <p:nvPr/>
        </p:nvSpPr>
        <p:spPr>
          <a:xfrm>
            <a:off x="457200" y="3657600"/>
            <a:ext cx="5577840" cy="1371600"/>
          </a:xfrm>
          <a:prstGeom prst="roundRect">
            <a:avLst>
              <a:gd name="adj" fmla="val 3333"/>
            </a:avLst>
          </a:prstGeom>
          <a:solidFill>
            <a:srgbClr val="F5F7FA"/>
          </a:solidFill>
          <a:ln w="9525">
            <a:solidFill>
              <a:srgbClr val="C9D3DF"/>
            </a:solidFill>
            <a:prstDash val="solid"/>
          </a:ln>
        </p:spPr>
      </p:sp>
      <p:sp>
        <p:nvSpPr>
          <p:cNvPr id="8" name="Text 5"/>
          <p:cNvSpPr txBox="1"/>
          <p:nvPr/>
        </p:nvSpPr>
        <p:spPr>
          <a:xfrm>
            <a:off x="566928" y="3730752"/>
            <a:ext cx="5358384" cy="1225296"/>
          </a:xfrm>
          <a:prstGeom prst="rect">
            <a:avLst/>
          </a:prstGeom>
          <a:noFill/>
          <a:ln/>
        </p:spPr>
        <p:txBody>
          <a:bodyPr wrap="square" lIns="0" tIns="0" rIns="0" bIns="0" rtlCol="0" anchor="t"/>
          <a:lstStyle/>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def _softmax_te(data):                       # npu_legalize.py</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maximum  = te.compute(shape[:-1], lambda *i: te.max(data[i+(k,)], axis=k))</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exponent = te.compute(shape, lambda *i: te.exp(data[i] - maximum[i[:-1]]))</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total32  = te.compute(shape[:-1], lambda *i: te.sum(exponent[i+(k,)].astype("float32"), axis=k))</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total    = te.compute(shape[:-1], lambda *i: total32[i].astype("float16"))</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return te.compute(shape, lambda *i: exponent[i] / total[i[:-1]])</a:t>
            </a:r>
            <a:endParaRPr lang="en-US" sz="800" dirty="0"/>
          </a:p>
        </p:txBody>
      </p:sp>
      <p:sp>
        <p:nvSpPr>
          <p:cNvPr id="9" name="Text 6"/>
          <p:cNvSpPr txBox="1"/>
          <p:nvPr/>
        </p:nvSpPr>
        <p:spPr>
          <a:xfrm>
            <a:off x="6263640" y="1371600"/>
            <a:ext cx="5486400" cy="274320"/>
          </a:xfrm>
          <a:prstGeom prst="rect">
            <a:avLst/>
          </a:prstGeom>
          <a:noFill/>
          <a:ln/>
        </p:spPr>
        <p:txBody>
          <a:bodyPr wrap="square" lIns="0" tIns="0" rIns="0" bIns="0" rtlCol="0" anchor="t"/>
          <a:lstStyle/>
          <a:p>
            <a:pPr algn="l" indent="0" marL="0">
              <a:buNone/>
            </a:pPr>
            <a:r>
              <a:rPr lang="en-US" sz="1150" b="1" dirty="0">
                <a:solidFill>
                  <a:srgbClr val="15243B"/>
                </a:solidFill>
                <a:latin typeface="Malgun Gothic" pitchFamily="34" charset="0"/>
                <a:ea typeface="Malgun Gothic" pitchFamily="34" charset="-122"/>
                <a:cs typeface="Malgun Gothic" pitchFamily="34" charset="-120"/>
              </a:rPr>
              <a:t>RMSNorm: scaled_absmax_v1</a:t>
            </a:r>
            <a:endParaRPr lang="en-US" sz="115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263640" y="1664208"/>
          <a:ext cx="5468112" cy="914400"/>
        </p:xfrm>
        <a:graphic>
          <a:graphicData uri="http://schemas.openxmlformats.org/drawingml/2006/table">
            <a:tbl>
              <a:tblPr/>
              <a:tblGrid>
                <a:gridCol w="548640"/>
                <a:gridCol w="2011680"/>
                <a:gridCol w="2907792"/>
              </a:tblGrid>
              <a:tr h="310896">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단계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수식</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이유</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a</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max(absmax(x), √ε)</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|x/a| ≤ 1: 제곱 overflow 방지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u</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x / a</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FP16 저장</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z</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u / √D</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합이 D에 무관하게 ≤ 1</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Σ z·z (FP32) → FP16</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FP32 reduction, FP16 저장 경계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inv</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1 / √(s + (√ε/a)²)</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ε를 같은 scale로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u · inv · weight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원래 x/√(mean(x²)+ε)·w 와 실수 수학에서 동일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6263640" y="3977640"/>
            <a:ext cx="5468112" cy="1188720"/>
          </a:xfrm>
          <a:prstGeom prst="rect">
            <a:avLst/>
          </a:prstGeom>
          <a:noFill/>
          <a:ln/>
        </p:spPr>
        <p:txBody>
          <a:bodyPr wrap="square" lIns="0" tIns="0" rIns="0" bIns="0" rtlCol="0" anchor="t"/>
          <a:lstStyle/>
          <a:p>
            <a:pPr algn="l" marL="152400" indent="-152400">
              <a:spcAft>
                <a:spcPts val="400"/>
              </a:spcAft>
              <a:buSzPct val="100000"/>
              <a:buChar char="•"/>
            </a:pPr>
            <a:r>
              <a:rPr lang="en-US" sz="950" dirty="0">
                <a:solidFill>
                  <a:srgbClr val="1F2D3D"/>
                </a:solidFill>
                <a:latin typeface="Malgun Gothic" pitchFamily="34" charset="0"/>
                <a:ea typeface="Malgun Gothic" pitchFamily="34" charset="-122"/>
                <a:cs typeface="Malgun Gothic" pitchFamily="34" charset="-120"/>
              </a:rPr>
              <a:t>원래 식 y = x/√(mean(x²)+ε)·w 를 그대로 쓰면 x=1000일 때 x²=10⁶ &gt; 65504 (FP16 overflow)</a:t>
            </a:r>
            <a:endParaRPr lang="en-US" sz="950" dirty="0"/>
          </a:p>
          <a:p>
            <a:pPr algn="l" marL="152400" indent="-152400">
              <a:spcAft>
                <a:spcPts val="400"/>
              </a:spcAft>
              <a:buSzPct val="100000"/>
              <a:buChar char="•"/>
            </a:pPr>
            <a:r>
              <a:rPr lang="en-US" sz="950" dirty="0">
                <a:solidFill>
                  <a:srgbClr val="1F2D3D"/>
                </a:solidFill>
                <a:latin typeface="Malgun Gothic" pitchFamily="34" charset="0"/>
                <a:ea typeface="Malgun Gothic" pitchFamily="34" charset="-122"/>
                <a:cs typeface="Malgun Gothic" pitchFamily="34" charset="-120"/>
              </a:rPr>
              <a:t>지원 조건: 마지막 축, 1-D FP16 weight, 정적 D, 2⁻⁴⁸ ≤ ε ≤ 65504²</a:t>
            </a:r>
            <a:endParaRPr lang="en-US" sz="950" dirty="0"/>
          </a:p>
          <a:p>
            <a:pPr algn="l" marL="152400" indent="-152400">
              <a:spcAft>
                <a:spcPts val="400"/>
              </a:spcAft>
              <a:buSzPct val="100000"/>
              <a:buChar char="•"/>
            </a:pPr>
            <a:r>
              <a:rPr lang="en-US" sz="950" dirty="0">
                <a:solidFill>
                  <a:srgbClr val="1F2D3D"/>
                </a:solidFill>
                <a:latin typeface="Malgun Gothic" pitchFamily="34" charset="0"/>
                <a:ea typeface="Malgun Gothic" pitchFamily="34" charset="-122"/>
                <a:cs typeface="Malgun Gothic" pitchFamily="34" charset="-120"/>
              </a:rPr>
              <a:t>LegalizeOps에서 정의하는 명시적 target 근사. schedule이 임의로 발명하는 변환이 아님</a:t>
            </a:r>
            <a:endParaRPr lang="en-US" sz="950" dirty="0"/>
          </a:p>
        </p:txBody>
      </p:sp>
      <p:sp>
        <p:nvSpPr>
          <p:cNvPr id="12" name="Shape 8"/>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3" name="Text 9"/>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행 수를 나누는 것과 한 행의 reduction 길이를 나누는 것은 다릅니다. 임의로 긴 softmax(&gt;65504)는 현재 계약 밖입니다.</a:t>
            </a:r>
            <a:endParaRPr lang="en-US" sz="1250" dirty="0"/>
          </a:p>
        </p:txBody>
      </p:sp>
      <p:sp>
        <p:nvSpPr>
          <p:cNvPr id="14" name="Text 10"/>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5" name="Text 11"/>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npu_compiler/npu_legalize.py (_softmax_te, _rms_norm_te), docs/current/07_operators.md</a:t>
            </a:r>
            <a:endParaRPr lang="en-US" sz="850" dirty="0"/>
          </a:p>
        </p:txBody>
      </p:sp>
      <p:sp>
        <p:nvSpPr>
          <p:cNvPr id="16" name="Text 12"/>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23 / 89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5 · Fusion 후보 선택</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Fusion: 커널 수가 줄어드는 것만으로 이득을 판단하지 않는다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작은 예제에서 분리(off)와 결합(auto)의 실제 데이터 이동. 두 구성 모두 중간 tile P·A가 SRAM에 머물러 DMA는 같고, 커널 경계의 descriptor·LOAD/SAVE 반복과 짧은 vector 행이 words와 SRAM 작업 공간을 바꿉니다.</a:t>
            </a:r>
            <a:endParaRPr lang="en-US" sz="1250" dirty="0"/>
          </a:p>
        </p:txBody>
      </p:sp>
      <p:sp>
        <p:nvSpPr>
          <p:cNvPr id="5" name="Text 3"/>
          <p:cNvSpPr txBox="1"/>
          <p:nvPr/>
        </p:nvSpPr>
        <p:spPr>
          <a:xfrm>
            <a:off x="457200" y="1554480"/>
            <a:ext cx="1188720" cy="548640"/>
          </a:xfrm>
          <a:prstGeom prst="rect">
            <a:avLst/>
          </a:prstGeom>
          <a:noFill/>
          <a:ln/>
        </p:spPr>
        <p:txBody>
          <a:bodyPr wrap="square" lIns="0" tIns="0" rIns="0" bIns="0" rtlCol="0" anchor="t"/>
          <a:lstStyle/>
          <a:p>
            <a:pPr algn="l" indent="0" marL="0">
              <a:buNone/>
            </a:pPr>
            <a:r>
              <a:rPr lang="en-US" sz="1000" b="1" dirty="0">
                <a:solidFill>
                  <a:srgbClr val="15243B"/>
                </a:solidFill>
                <a:latin typeface="Malgun Gothic" pitchFamily="34" charset="0"/>
                <a:ea typeface="Malgun Gothic" pitchFamily="34" charset="-122"/>
                <a:cs typeface="Malgun Gothic" pitchFamily="34" charset="-120"/>
              </a:rPr>
              <a:t>fusion off</a:t>
            </a:r>
            <a:endParaRPr lang="en-US" sz="1000" dirty="0"/>
          </a:p>
          <a:p>
            <a:pPr algn="l" indent="0" marL="0">
              <a:buNone/>
            </a:pPr>
            <a:r>
              <a:rPr lang="en-US" sz="1000" b="1" dirty="0">
                <a:solidFill>
                  <a:srgbClr val="15243B"/>
                </a:solidFill>
                <a:latin typeface="Malgun Gothic" pitchFamily="34" charset="0"/>
                <a:ea typeface="Malgun Gothic" pitchFamily="34" charset="-122"/>
                <a:cs typeface="Malgun Gothic" pitchFamily="34" charset="-120"/>
              </a:rPr>
              <a:t>3 kernels</a:t>
            </a:r>
            <a:endParaRPr lang="en-US" sz="1000" dirty="0"/>
          </a:p>
        </p:txBody>
      </p:sp>
      <p:sp>
        <p:nvSpPr>
          <p:cNvPr id="6" name="Shape 4"/>
          <p:cNvSpPr/>
          <p:nvPr/>
        </p:nvSpPr>
        <p:spPr>
          <a:xfrm>
            <a:off x="1645920" y="1600200"/>
            <a:ext cx="731520" cy="457200"/>
          </a:xfrm>
          <a:prstGeom prst="roundRect">
            <a:avLst>
              <a:gd name="adj" fmla="val 12000"/>
            </a:avLst>
          </a:prstGeom>
          <a:solidFill>
            <a:srgbClr val="FFF1DC"/>
          </a:solidFill>
          <a:ln w="12700">
            <a:solidFill>
              <a:srgbClr val="D98A1E"/>
            </a:solidFill>
            <a:prstDash val="solid"/>
          </a:ln>
        </p:spPr>
      </p:sp>
      <p:sp>
        <p:nvSpPr>
          <p:cNvPr id="7" name="Text 5"/>
          <p:cNvSpPr txBox="1"/>
          <p:nvPr/>
        </p:nvSpPr>
        <p:spPr>
          <a:xfrm>
            <a:off x="1719072" y="1673352"/>
            <a:ext cx="585216" cy="171450"/>
          </a:xfrm>
          <a:prstGeom prst="rect">
            <a:avLst/>
          </a:prstGeom>
          <a:noFill/>
          <a:ln/>
        </p:spPr>
        <p:txBody>
          <a:bodyPr wrap="square" lIns="0" tIns="0" rIns="0" bIns="0" rtlCol="0" anchor="ctr"/>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DRAM</a:t>
            </a:r>
            <a:endParaRPr lang="en-US" sz="900" dirty="0"/>
          </a:p>
        </p:txBody>
      </p:sp>
      <p:sp>
        <p:nvSpPr>
          <p:cNvPr id="8" name="Text 6"/>
          <p:cNvSpPr txBox="1"/>
          <p:nvPr/>
        </p:nvSpPr>
        <p:spPr>
          <a:xfrm>
            <a:off x="1719072" y="1844802"/>
            <a:ext cx="585216"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X, Wᵀ, bias</a:t>
            </a:r>
            <a:endParaRPr lang="en-US" sz="650" dirty="0"/>
          </a:p>
        </p:txBody>
      </p:sp>
      <p:sp>
        <p:nvSpPr>
          <p:cNvPr id="9" name="Shape 7"/>
          <p:cNvSpPr/>
          <p:nvPr/>
        </p:nvSpPr>
        <p:spPr>
          <a:xfrm>
            <a:off x="2395728" y="1828800"/>
            <a:ext cx="301752" cy="914"/>
          </a:xfrm>
          <a:prstGeom prst="line">
            <a:avLst/>
          </a:prstGeom>
          <a:noFill/>
          <a:ln w="15240">
            <a:solidFill>
              <a:srgbClr val="D98A1E"/>
            </a:solidFill>
            <a:prstDash val="solid"/>
            <a:tailEnd type="triangle"/>
          </a:ln>
        </p:spPr>
      </p:sp>
      <p:sp>
        <p:nvSpPr>
          <p:cNvPr id="10" name="Text 8"/>
          <p:cNvSpPr txBox="1"/>
          <p:nvPr/>
        </p:nvSpPr>
        <p:spPr>
          <a:xfrm>
            <a:off x="2331720" y="1371600"/>
            <a:ext cx="548640" cy="182880"/>
          </a:xfrm>
          <a:prstGeom prst="rect">
            <a:avLst/>
          </a:prstGeom>
          <a:noFill/>
          <a:ln/>
        </p:spPr>
        <p:txBody>
          <a:bodyPr wrap="square" lIns="0" tIns="0" rIns="0" bIns="0" rtlCol="0" anchor="t"/>
          <a:lstStyle/>
          <a:p>
            <a:pPr algn="ctr" indent="0" marL="0">
              <a:buNone/>
            </a:pPr>
            <a:r>
              <a:rPr lang="en-US" sz="650" b="1" dirty="0">
                <a:solidFill>
                  <a:srgbClr val="D98A1E"/>
                </a:solidFill>
                <a:latin typeface="Malgun Gothic" pitchFamily="34" charset="0"/>
                <a:ea typeface="Malgun Gothic" pitchFamily="34" charset="-122"/>
                <a:cs typeface="Malgun Gothic" pitchFamily="34" charset="-120"/>
              </a:rPr>
              <a:t>GLOAD</a:t>
            </a:r>
            <a:endParaRPr lang="en-US" sz="650" dirty="0"/>
          </a:p>
        </p:txBody>
      </p:sp>
      <p:sp>
        <p:nvSpPr>
          <p:cNvPr id="11" name="Shape 9"/>
          <p:cNvSpPr/>
          <p:nvPr/>
        </p:nvSpPr>
        <p:spPr>
          <a:xfrm>
            <a:off x="2743200" y="1600200"/>
            <a:ext cx="1188720" cy="457200"/>
          </a:xfrm>
          <a:prstGeom prst="roundRect">
            <a:avLst>
              <a:gd name="adj" fmla="val 12000"/>
            </a:avLst>
          </a:prstGeom>
          <a:solidFill>
            <a:srgbClr val="ECE6FA"/>
          </a:solidFill>
          <a:ln w="12700">
            <a:solidFill>
              <a:srgbClr val="6C4FBF"/>
            </a:solidFill>
            <a:prstDash val="solid"/>
          </a:ln>
        </p:spPr>
      </p:sp>
      <p:sp>
        <p:nvSpPr>
          <p:cNvPr id="12" name="Text 10"/>
          <p:cNvSpPr txBox="1"/>
          <p:nvPr/>
        </p:nvSpPr>
        <p:spPr>
          <a:xfrm>
            <a:off x="2816352" y="1673352"/>
            <a:ext cx="104241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matmul</a:t>
            </a:r>
            <a:endParaRPr lang="en-US" sz="950" dirty="0"/>
          </a:p>
        </p:txBody>
      </p:sp>
      <p:sp>
        <p:nvSpPr>
          <p:cNvPr id="13" name="Text 11"/>
          <p:cNvSpPr txBox="1"/>
          <p:nvPr/>
        </p:nvSpPr>
        <p:spPr>
          <a:xfrm>
            <a:off x="2816352" y="1854327"/>
            <a:ext cx="1042416" cy="182880"/>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43 words</a:t>
            </a:r>
            <a:endParaRPr lang="en-US" sz="700" dirty="0"/>
          </a:p>
        </p:txBody>
      </p:sp>
      <p:sp>
        <p:nvSpPr>
          <p:cNvPr id="14" name="Shape 12"/>
          <p:cNvSpPr/>
          <p:nvPr/>
        </p:nvSpPr>
        <p:spPr>
          <a:xfrm>
            <a:off x="3931920" y="1828800"/>
            <a:ext cx="274320" cy="914"/>
          </a:xfrm>
          <a:prstGeom prst="line">
            <a:avLst/>
          </a:prstGeom>
          <a:noFill/>
          <a:ln w="12700">
            <a:solidFill>
              <a:srgbClr val="5B6B7F"/>
            </a:solidFill>
            <a:prstDash val="solid"/>
            <a:tailEnd type="triangle"/>
          </a:ln>
        </p:spPr>
      </p:sp>
      <p:sp>
        <p:nvSpPr>
          <p:cNvPr id="15" name="Shape 13"/>
          <p:cNvSpPr/>
          <p:nvPr/>
        </p:nvSpPr>
        <p:spPr>
          <a:xfrm>
            <a:off x="4224528" y="1600200"/>
            <a:ext cx="457200" cy="457200"/>
          </a:xfrm>
          <a:prstGeom prst="rect">
            <a:avLst/>
          </a:prstGeom>
          <a:solidFill>
            <a:srgbClr val="DDF3F0"/>
          </a:solidFill>
          <a:ln w="12700">
            <a:solidFill>
              <a:srgbClr val="1F8A8A"/>
            </a:solidFill>
            <a:prstDash val="solid"/>
          </a:ln>
        </p:spPr>
      </p:sp>
      <p:sp>
        <p:nvSpPr>
          <p:cNvPr id="16" name="Shape 14"/>
          <p:cNvSpPr/>
          <p:nvPr/>
        </p:nvSpPr>
        <p:spPr>
          <a:xfrm>
            <a:off x="4224528" y="1600200"/>
            <a:ext cx="457200" cy="457200"/>
          </a:xfrm>
          <a:prstGeom prst="rect">
            <a:avLst/>
          </a:prstGeom>
          <a:solidFill>
            <a:srgbClr val="DDF3F0"/>
          </a:solidFill>
          <a:ln w="15875">
            <a:solidFill>
              <a:srgbClr val="1F8A8A"/>
            </a:solidFill>
            <a:prstDash val="solid"/>
          </a:ln>
        </p:spPr>
      </p:sp>
      <p:sp>
        <p:nvSpPr>
          <p:cNvPr id="17" name="Text 15"/>
          <p:cNvSpPr txBox="1"/>
          <p:nvPr/>
        </p:nvSpPr>
        <p:spPr>
          <a:xfrm>
            <a:off x="4224528" y="1600200"/>
            <a:ext cx="457200" cy="4572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P</a:t>
            </a:r>
            <a:endParaRPr lang="en-US" sz="800" dirty="0"/>
          </a:p>
        </p:txBody>
      </p:sp>
      <p:sp>
        <p:nvSpPr>
          <p:cNvPr id="18" name="Text 16"/>
          <p:cNvSpPr txBox="1"/>
          <p:nvPr/>
        </p:nvSpPr>
        <p:spPr>
          <a:xfrm>
            <a:off x="3950208" y="2084832"/>
            <a:ext cx="1005840"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SRAM 보관</a:t>
            </a:r>
            <a:endParaRPr lang="en-US" sz="650" dirty="0"/>
          </a:p>
        </p:txBody>
      </p:sp>
      <p:sp>
        <p:nvSpPr>
          <p:cNvPr id="19" name="Shape 17"/>
          <p:cNvSpPr/>
          <p:nvPr/>
        </p:nvSpPr>
        <p:spPr>
          <a:xfrm>
            <a:off x="4700016" y="1828800"/>
            <a:ext cx="256032" cy="914"/>
          </a:xfrm>
          <a:prstGeom prst="line">
            <a:avLst/>
          </a:prstGeom>
          <a:noFill/>
          <a:ln w="12700">
            <a:solidFill>
              <a:srgbClr val="5B6B7F"/>
            </a:solidFill>
            <a:prstDash val="solid"/>
            <a:tailEnd type="triangle"/>
          </a:ln>
        </p:spPr>
      </p:sp>
      <p:sp>
        <p:nvSpPr>
          <p:cNvPr id="20" name="Shape 18"/>
          <p:cNvSpPr/>
          <p:nvPr/>
        </p:nvSpPr>
        <p:spPr>
          <a:xfrm>
            <a:off x="4983480" y="1600200"/>
            <a:ext cx="1188720" cy="457200"/>
          </a:xfrm>
          <a:prstGeom prst="roundRect">
            <a:avLst>
              <a:gd name="adj" fmla="val 12000"/>
            </a:avLst>
          </a:prstGeom>
          <a:solidFill>
            <a:srgbClr val="E3EEFB"/>
          </a:solidFill>
          <a:ln w="12700">
            <a:solidFill>
              <a:srgbClr val="2F6DB5"/>
            </a:solidFill>
            <a:prstDash val="solid"/>
          </a:ln>
        </p:spPr>
      </p:sp>
      <p:sp>
        <p:nvSpPr>
          <p:cNvPr id="21" name="Text 19"/>
          <p:cNvSpPr txBox="1"/>
          <p:nvPr/>
        </p:nvSpPr>
        <p:spPr>
          <a:xfrm>
            <a:off x="5056632" y="1673352"/>
            <a:ext cx="104241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add</a:t>
            </a:r>
            <a:endParaRPr lang="en-US" sz="950" dirty="0"/>
          </a:p>
        </p:txBody>
      </p:sp>
      <p:sp>
        <p:nvSpPr>
          <p:cNvPr id="22" name="Text 20"/>
          <p:cNvSpPr txBox="1"/>
          <p:nvPr/>
        </p:nvSpPr>
        <p:spPr>
          <a:xfrm>
            <a:off x="5056632" y="1854327"/>
            <a:ext cx="1042416"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391 words (64행 × VLEN 64)</a:t>
            </a:r>
            <a:endParaRPr lang="en-US" sz="650" dirty="0"/>
          </a:p>
        </p:txBody>
      </p:sp>
      <p:sp>
        <p:nvSpPr>
          <p:cNvPr id="23" name="Shape 21"/>
          <p:cNvSpPr/>
          <p:nvPr/>
        </p:nvSpPr>
        <p:spPr>
          <a:xfrm>
            <a:off x="6172200" y="1828800"/>
            <a:ext cx="274320" cy="914"/>
          </a:xfrm>
          <a:prstGeom prst="line">
            <a:avLst/>
          </a:prstGeom>
          <a:noFill/>
          <a:ln w="12700">
            <a:solidFill>
              <a:srgbClr val="5B6B7F"/>
            </a:solidFill>
            <a:prstDash val="solid"/>
            <a:tailEnd type="triangle"/>
          </a:ln>
        </p:spPr>
      </p:sp>
      <p:sp>
        <p:nvSpPr>
          <p:cNvPr id="24" name="Shape 22"/>
          <p:cNvSpPr/>
          <p:nvPr/>
        </p:nvSpPr>
        <p:spPr>
          <a:xfrm>
            <a:off x="6464808" y="1600200"/>
            <a:ext cx="457200" cy="457200"/>
          </a:xfrm>
          <a:prstGeom prst="rect">
            <a:avLst/>
          </a:prstGeom>
          <a:solidFill>
            <a:srgbClr val="DDF3F0"/>
          </a:solidFill>
          <a:ln w="12700">
            <a:solidFill>
              <a:srgbClr val="1F8A8A"/>
            </a:solidFill>
            <a:prstDash val="solid"/>
          </a:ln>
        </p:spPr>
      </p:sp>
      <p:sp>
        <p:nvSpPr>
          <p:cNvPr id="25" name="Shape 23"/>
          <p:cNvSpPr/>
          <p:nvPr/>
        </p:nvSpPr>
        <p:spPr>
          <a:xfrm>
            <a:off x="6464808" y="1600200"/>
            <a:ext cx="457200" cy="457200"/>
          </a:xfrm>
          <a:prstGeom prst="rect">
            <a:avLst/>
          </a:prstGeom>
          <a:solidFill>
            <a:srgbClr val="DDF3F0"/>
          </a:solidFill>
          <a:ln w="15875">
            <a:solidFill>
              <a:srgbClr val="1F8A8A"/>
            </a:solidFill>
            <a:prstDash val="solid"/>
          </a:ln>
        </p:spPr>
      </p:sp>
      <p:sp>
        <p:nvSpPr>
          <p:cNvPr id="26" name="Text 24"/>
          <p:cNvSpPr txBox="1"/>
          <p:nvPr/>
        </p:nvSpPr>
        <p:spPr>
          <a:xfrm>
            <a:off x="6464808" y="1600200"/>
            <a:ext cx="457200" cy="4572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A</a:t>
            </a:r>
            <a:endParaRPr lang="en-US" sz="800" dirty="0"/>
          </a:p>
        </p:txBody>
      </p:sp>
      <p:sp>
        <p:nvSpPr>
          <p:cNvPr id="27" name="Text 25"/>
          <p:cNvSpPr txBox="1"/>
          <p:nvPr/>
        </p:nvSpPr>
        <p:spPr>
          <a:xfrm>
            <a:off x="6190488" y="2084832"/>
            <a:ext cx="1005840"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SRAM 보관</a:t>
            </a:r>
            <a:endParaRPr lang="en-US" sz="650" dirty="0"/>
          </a:p>
        </p:txBody>
      </p:sp>
      <p:sp>
        <p:nvSpPr>
          <p:cNvPr id="28" name="Shape 26"/>
          <p:cNvSpPr/>
          <p:nvPr/>
        </p:nvSpPr>
        <p:spPr>
          <a:xfrm>
            <a:off x="6940296" y="1828800"/>
            <a:ext cx="256032" cy="914"/>
          </a:xfrm>
          <a:prstGeom prst="line">
            <a:avLst/>
          </a:prstGeom>
          <a:noFill/>
          <a:ln w="12700">
            <a:solidFill>
              <a:srgbClr val="5B6B7F"/>
            </a:solidFill>
            <a:prstDash val="solid"/>
            <a:tailEnd type="triangle"/>
          </a:ln>
        </p:spPr>
      </p:sp>
      <p:sp>
        <p:nvSpPr>
          <p:cNvPr id="29" name="Shape 27"/>
          <p:cNvSpPr/>
          <p:nvPr/>
        </p:nvSpPr>
        <p:spPr>
          <a:xfrm>
            <a:off x="7223760" y="1600200"/>
            <a:ext cx="1417320" cy="457200"/>
          </a:xfrm>
          <a:prstGeom prst="roundRect">
            <a:avLst>
              <a:gd name="adj" fmla="val 12000"/>
            </a:avLst>
          </a:prstGeom>
          <a:solidFill>
            <a:srgbClr val="E3EEFB"/>
          </a:solidFill>
          <a:ln w="12700">
            <a:solidFill>
              <a:srgbClr val="2F6DB5"/>
            </a:solidFill>
            <a:prstDash val="solid"/>
          </a:ln>
        </p:spPr>
      </p:sp>
      <p:sp>
        <p:nvSpPr>
          <p:cNvPr id="30" name="Text 28"/>
          <p:cNvSpPr txBox="1"/>
          <p:nvPr/>
        </p:nvSpPr>
        <p:spPr>
          <a:xfrm>
            <a:off x="7296912" y="1673352"/>
            <a:ext cx="127101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silu</a:t>
            </a:r>
            <a:endParaRPr lang="en-US" sz="950" dirty="0"/>
          </a:p>
        </p:txBody>
      </p:sp>
      <p:sp>
        <p:nvSpPr>
          <p:cNvPr id="31" name="Text 29"/>
          <p:cNvSpPr txBox="1"/>
          <p:nvPr/>
        </p:nvSpPr>
        <p:spPr>
          <a:xfrm>
            <a:off x="7296912" y="1854327"/>
            <a:ext cx="1271016"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2,373 words (5단계 × 64행)</a:t>
            </a:r>
            <a:endParaRPr lang="en-US" sz="650" dirty="0"/>
          </a:p>
        </p:txBody>
      </p:sp>
      <p:sp>
        <p:nvSpPr>
          <p:cNvPr id="32" name="Shape 30"/>
          <p:cNvSpPr/>
          <p:nvPr/>
        </p:nvSpPr>
        <p:spPr>
          <a:xfrm>
            <a:off x="8641080" y="1828800"/>
            <a:ext cx="274320" cy="914"/>
          </a:xfrm>
          <a:prstGeom prst="line">
            <a:avLst/>
          </a:prstGeom>
          <a:noFill/>
          <a:ln w="12700">
            <a:solidFill>
              <a:srgbClr val="5B6B7F"/>
            </a:solidFill>
            <a:prstDash val="solid"/>
            <a:tailEnd type="triangle"/>
          </a:ln>
        </p:spPr>
      </p:sp>
      <p:sp>
        <p:nvSpPr>
          <p:cNvPr id="33" name="Shape 31"/>
          <p:cNvSpPr/>
          <p:nvPr/>
        </p:nvSpPr>
        <p:spPr>
          <a:xfrm>
            <a:off x="8933688" y="1600200"/>
            <a:ext cx="457200" cy="457200"/>
          </a:xfrm>
          <a:prstGeom prst="rect">
            <a:avLst/>
          </a:prstGeom>
          <a:solidFill>
            <a:srgbClr val="E5F3E7"/>
          </a:solidFill>
          <a:ln w="12700">
            <a:solidFill>
              <a:srgbClr val="2E7D32"/>
            </a:solidFill>
            <a:prstDash val="solid"/>
          </a:ln>
        </p:spPr>
      </p:sp>
      <p:sp>
        <p:nvSpPr>
          <p:cNvPr id="34" name="Shape 32"/>
          <p:cNvSpPr/>
          <p:nvPr/>
        </p:nvSpPr>
        <p:spPr>
          <a:xfrm>
            <a:off x="8933688" y="1600200"/>
            <a:ext cx="457200" cy="457200"/>
          </a:xfrm>
          <a:prstGeom prst="rect">
            <a:avLst/>
          </a:prstGeom>
          <a:solidFill>
            <a:srgbClr val="E5F3E7"/>
          </a:solidFill>
          <a:ln w="15875">
            <a:solidFill>
              <a:srgbClr val="2E7D32"/>
            </a:solidFill>
            <a:prstDash val="solid"/>
          </a:ln>
        </p:spPr>
      </p:sp>
      <p:sp>
        <p:nvSpPr>
          <p:cNvPr id="35" name="Text 33"/>
          <p:cNvSpPr txBox="1"/>
          <p:nvPr/>
        </p:nvSpPr>
        <p:spPr>
          <a:xfrm>
            <a:off x="8933688" y="1600200"/>
            <a:ext cx="457200" cy="4572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Y</a:t>
            </a:r>
            <a:endParaRPr lang="en-US" sz="800" dirty="0"/>
          </a:p>
        </p:txBody>
      </p:sp>
      <p:sp>
        <p:nvSpPr>
          <p:cNvPr id="36" name="Shape 34"/>
          <p:cNvSpPr/>
          <p:nvPr/>
        </p:nvSpPr>
        <p:spPr>
          <a:xfrm>
            <a:off x="9409176" y="1828800"/>
            <a:ext cx="256032" cy="914"/>
          </a:xfrm>
          <a:prstGeom prst="line">
            <a:avLst/>
          </a:prstGeom>
          <a:noFill/>
          <a:ln w="15240">
            <a:solidFill>
              <a:srgbClr val="D98A1E"/>
            </a:solidFill>
            <a:prstDash val="solid"/>
            <a:tailEnd type="triangle"/>
          </a:ln>
        </p:spPr>
      </p:sp>
      <p:sp>
        <p:nvSpPr>
          <p:cNvPr id="37" name="Text 35"/>
          <p:cNvSpPr txBox="1"/>
          <p:nvPr/>
        </p:nvSpPr>
        <p:spPr>
          <a:xfrm>
            <a:off x="9372600" y="1371600"/>
            <a:ext cx="640080" cy="182880"/>
          </a:xfrm>
          <a:prstGeom prst="rect">
            <a:avLst/>
          </a:prstGeom>
          <a:noFill/>
          <a:ln/>
        </p:spPr>
        <p:txBody>
          <a:bodyPr wrap="square" lIns="0" tIns="0" rIns="0" bIns="0" rtlCol="0" anchor="t"/>
          <a:lstStyle/>
          <a:p>
            <a:pPr algn="ctr" indent="0" marL="0">
              <a:buNone/>
            </a:pPr>
            <a:r>
              <a:rPr lang="en-US" sz="650" b="1" dirty="0">
                <a:solidFill>
                  <a:srgbClr val="D98A1E"/>
                </a:solidFill>
                <a:latin typeface="Malgun Gothic" pitchFamily="34" charset="0"/>
                <a:ea typeface="Malgun Gothic" pitchFamily="34" charset="-122"/>
                <a:cs typeface="Malgun Gothic" pitchFamily="34" charset="-120"/>
              </a:rPr>
              <a:t>GSTORE</a:t>
            </a:r>
            <a:endParaRPr lang="en-US" sz="650" dirty="0"/>
          </a:p>
        </p:txBody>
      </p:sp>
      <p:sp>
        <p:nvSpPr>
          <p:cNvPr id="38" name="Shape 36"/>
          <p:cNvSpPr/>
          <p:nvPr/>
        </p:nvSpPr>
        <p:spPr>
          <a:xfrm>
            <a:off x="9692640" y="1600200"/>
            <a:ext cx="731520" cy="457200"/>
          </a:xfrm>
          <a:prstGeom prst="roundRect">
            <a:avLst>
              <a:gd name="adj" fmla="val 12000"/>
            </a:avLst>
          </a:prstGeom>
          <a:solidFill>
            <a:srgbClr val="FFF1DC"/>
          </a:solidFill>
          <a:ln w="12700">
            <a:solidFill>
              <a:srgbClr val="D98A1E"/>
            </a:solidFill>
            <a:prstDash val="solid"/>
          </a:ln>
        </p:spPr>
      </p:sp>
      <p:sp>
        <p:nvSpPr>
          <p:cNvPr id="39" name="Text 37"/>
          <p:cNvSpPr txBox="1"/>
          <p:nvPr/>
        </p:nvSpPr>
        <p:spPr>
          <a:xfrm>
            <a:off x="9765792" y="1673352"/>
            <a:ext cx="585216" cy="171450"/>
          </a:xfrm>
          <a:prstGeom prst="rect">
            <a:avLst/>
          </a:prstGeom>
          <a:noFill/>
          <a:ln/>
        </p:spPr>
        <p:txBody>
          <a:bodyPr wrap="square" lIns="0" tIns="0" rIns="0" bIns="0" rtlCol="0" anchor="ctr"/>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DRAM</a:t>
            </a:r>
            <a:endParaRPr lang="en-US" sz="900" dirty="0"/>
          </a:p>
        </p:txBody>
      </p:sp>
      <p:sp>
        <p:nvSpPr>
          <p:cNvPr id="40" name="Text 38"/>
          <p:cNvSpPr txBox="1"/>
          <p:nvPr/>
        </p:nvSpPr>
        <p:spPr>
          <a:xfrm>
            <a:off x="9765792" y="1844802"/>
            <a:ext cx="585216"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Y</a:t>
            </a:r>
            <a:endParaRPr lang="en-US" sz="650" dirty="0"/>
          </a:p>
        </p:txBody>
      </p:sp>
      <p:sp>
        <p:nvSpPr>
          <p:cNvPr id="41" name="Text 39"/>
          <p:cNvSpPr txBox="1"/>
          <p:nvPr/>
        </p:nvSpPr>
        <p:spPr>
          <a:xfrm>
            <a:off x="2743200" y="2377440"/>
            <a:ext cx="7772400" cy="201168"/>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커널 경계마다: 새 descriptor 설정 + P/A를 SRAM에서 다시 LOAD/SAVE (DRAM 왕복은 없음)</a:t>
            </a:r>
            <a:endParaRPr lang="en-US" sz="800" dirty="0"/>
          </a:p>
        </p:txBody>
      </p:sp>
      <p:sp>
        <p:nvSpPr>
          <p:cNvPr id="42" name="Text 40"/>
          <p:cNvSpPr txBox="1"/>
          <p:nvPr/>
        </p:nvSpPr>
        <p:spPr>
          <a:xfrm>
            <a:off x="457200" y="3017520"/>
            <a:ext cx="1188720" cy="548640"/>
          </a:xfrm>
          <a:prstGeom prst="rect">
            <a:avLst/>
          </a:prstGeom>
          <a:noFill/>
          <a:ln/>
        </p:spPr>
        <p:txBody>
          <a:bodyPr wrap="square" lIns="0" tIns="0" rIns="0" bIns="0" rtlCol="0" anchor="t"/>
          <a:lstStyle/>
          <a:p>
            <a:pPr algn="l" indent="0" marL="0">
              <a:buNone/>
            </a:pPr>
            <a:r>
              <a:rPr lang="en-US" sz="1000" b="1" dirty="0">
                <a:solidFill>
                  <a:srgbClr val="15243B"/>
                </a:solidFill>
                <a:latin typeface="Malgun Gothic" pitchFamily="34" charset="0"/>
                <a:ea typeface="Malgun Gothic" pitchFamily="34" charset="-122"/>
                <a:cs typeface="Malgun Gothic" pitchFamily="34" charset="-120"/>
              </a:rPr>
              <a:t>fusion auto</a:t>
            </a:r>
            <a:endParaRPr lang="en-US" sz="1000" dirty="0"/>
          </a:p>
          <a:p>
            <a:pPr algn="l" indent="0" marL="0">
              <a:buNone/>
            </a:pPr>
            <a:r>
              <a:rPr lang="en-US" sz="1000" b="1" dirty="0">
                <a:solidFill>
                  <a:srgbClr val="15243B"/>
                </a:solidFill>
                <a:latin typeface="Malgun Gothic" pitchFamily="34" charset="0"/>
                <a:ea typeface="Malgun Gothic" pitchFamily="34" charset="-122"/>
                <a:cs typeface="Malgun Gothic" pitchFamily="34" charset="-120"/>
              </a:rPr>
              <a:t>1 kernel</a:t>
            </a:r>
            <a:endParaRPr lang="en-US" sz="1000" dirty="0"/>
          </a:p>
        </p:txBody>
      </p:sp>
      <p:sp>
        <p:nvSpPr>
          <p:cNvPr id="43" name="Shape 41"/>
          <p:cNvSpPr/>
          <p:nvPr/>
        </p:nvSpPr>
        <p:spPr>
          <a:xfrm>
            <a:off x="1645920" y="3063240"/>
            <a:ext cx="731520" cy="457200"/>
          </a:xfrm>
          <a:prstGeom prst="roundRect">
            <a:avLst>
              <a:gd name="adj" fmla="val 12000"/>
            </a:avLst>
          </a:prstGeom>
          <a:solidFill>
            <a:srgbClr val="FFF1DC"/>
          </a:solidFill>
          <a:ln w="12700">
            <a:solidFill>
              <a:srgbClr val="D98A1E"/>
            </a:solidFill>
            <a:prstDash val="solid"/>
          </a:ln>
        </p:spPr>
      </p:sp>
      <p:sp>
        <p:nvSpPr>
          <p:cNvPr id="44" name="Text 42"/>
          <p:cNvSpPr txBox="1"/>
          <p:nvPr/>
        </p:nvSpPr>
        <p:spPr>
          <a:xfrm>
            <a:off x="1719072" y="3136392"/>
            <a:ext cx="585216" cy="171450"/>
          </a:xfrm>
          <a:prstGeom prst="rect">
            <a:avLst/>
          </a:prstGeom>
          <a:noFill/>
          <a:ln/>
        </p:spPr>
        <p:txBody>
          <a:bodyPr wrap="square" lIns="0" tIns="0" rIns="0" bIns="0" rtlCol="0" anchor="ctr"/>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DRAM</a:t>
            </a:r>
            <a:endParaRPr lang="en-US" sz="900" dirty="0"/>
          </a:p>
        </p:txBody>
      </p:sp>
      <p:sp>
        <p:nvSpPr>
          <p:cNvPr id="45" name="Text 43"/>
          <p:cNvSpPr txBox="1"/>
          <p:nvPr/>
        </p:nvSpPr>
        <p:spPr>
          <a:xfrm>
            <a:off x="1719072" y="3307842"/>
            <a:ext cx="585216"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X, Wᵀ, bias</a:t>
            </a:r>
            <a:endParaRPr lang="en-US" sz="650" dirty="0"/>
          </a:p>
        </p:txBody>
      </p:sp>
      <p:sp>
        <p:nvSpPr>
          <p:cNvPr id="46" name="Shape 44"/>
          <p:cNvSpPr/>
          <p:nvPr/>
        </p:nvSpPr>
        <p:spPr>
          <a:xfrm>
            <a:off x="2395728" y="3291840"/>
            <a:ext cx="301752" cy="914"/>
          </a:xfrm>
          <a:prstGeom prst="line">
            <a:avLst/>
          </a:prstGeom>
          <a:noFill/>
          <a:ln w="15240">
            <a:solidFill>
              <a:srgbClr val="D98A1E"/>
            </a:solidFill>
            <a:prstDash val="solid"/>
            <a:tailEnd type="triangle"/>
          </a:ln>
        </p:spPr>
      </p:sp>
      <p:sp>
        <p:nvSpPr>
          <p:cNvPr id="47" name="Shape 45"/>
          <p:cNvSpPr/>
          <p:nvPr/>
        </p:nvSpPr>
        <p:spPr>
          <a:xfrm>
            <a:off x="2743200" y="2898648"/>
            <a:ext cx="6720840" cy="822960"/>
          </a:xfrm>
          <a:prstGeom prst="roundRect">
            <a:avLst>
              <a:gd name="adj" fmla="val 6667"/>
            </a:avLst>
          </a:prstGeom>
          <a:solidFill>
            <a:srgbClr val="EEF2F6"/>
          </a:solidFill>
          <a:ln w="12700">
            <a:solidFill>
              <a:srgbClr val="C9D3DF"/>
            </a:solidFill>
            <a:prstDash val="solid"/>
          </a:ln>
        </p:spPr>
      </p:sp>
      <p:sp>
        <p:nvSpPr>
          <p:cNvPr id="48" name="Text 46"/>
          <p:cNvSpPr txBox="1"/>
          <p:nvPr/>
        </p:nvSpPr>
        <p:spPr>
          <a:xfrm>
            <a:off x="2834640" y="2916936"/>
            <a:ext cx="3657600" cy="182880"/>
          </a:xfrm>
          <a:prstGeom prst="rect">
            <a:avLst/>
          </a:prstGeom>
          <a:noFill/>
          <a:ln/>
        </p:spPr>
        <p:txBody>
          <a:bodyPr wrap="square" lIns="0" tIns="0" rIns="0" bIns="0" rtlCol="0" anchor="t"/>
          <a:lstStyle/>
          <a:p>
            <a:pPr algn="l" indent="0" marL="0">
              <a:buNone/>
            </a:pPr>
            <a:r>
              <a:rPr lang="en-US" sz="800" b="1" dirty="0">
                <a:solidFill>
                  <a:srgbClr val="15243B"/>
                </a:solidFill>
                <a:latin typeface="Malgun Gothic" pitchFamily="34" charset="0"/>
                <a:ea typeface="Malgun Gothic" pitchFamily="34" charset="-122"/>
                <a:cs typeface="Malgun Gothic" pitchFamily="34" charset="-120"/>
              </a:rPr>
              <a:t>fused_matmul_add_silu  1,572 words</a:t>
            </a:r>
            <a:endParaRPr lang="en-US" sz="800" dirty="0"/>
          </a:p>
        </p:txBody>
      </p:sp>
      <p:sp>
        <p:nvSpPr>
          <p:cNvPr id="49" name="Shape 47"/>
          <p:cNvSpPr/>
          <p:nvPr/>
        </p:nvSpPr>
        <p:spPr>
          <a:xfrm>
            <a:off x="2834640" y="3136392"/>
            <a:ext cx="914400" cy="457200"/>
          </a:xfrm>
          <a:prstGeom prst="roundRect">
            <a:avLst>
              <a:gd name="adj" fmla="val 12000"/>
            </a:avLst>
          </a:prstGeom>
          <a:solidFill>
            <a:srgbClr val="ECE6FA"/>
          </a:solidFill>
          <a:ln w="12700">
            <a:solidFill>
              <a:srgbClr val="6C4FBF"/>
            </a:solidFill>
            <a:prstDash val="solid"/>
          </a:ln>
        </p:spPr>
      </p:sp>
      <p:sp>
        <p:nvSpPr>
          <p:cNvPr id="50" name="Text 48"/>
          <p:cNvSpPr txBox="1"/>
          <p:nvPr/>
        </p:nvSpPr>
        <p:spPr>
          <a:xfrm>
            <a:off x="2889504" y="3172968"/>
            <a:ext cx="804672" cy="384048"/>
          </a:xfrm>
          <a:prstGeom prst="rect">
            <a:avLst/>
          </a:prstGeom>
          <a:noFill/>
          <a:ln/>
        </p:spPr>
        <p:txBody>
          <a:bodyPr wrap="square" lIns="0" tIns="0" rIns="0" bIns="0" rtlCol="0" anchor="ctr"/>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matmul</a:t>
            </a:r>
            <a:endParaRPr lang="en-US" sz="900" dirty="0"/>
          </a:p>
        </p:txBody>
      </p:sp>
      <p:sp>
        <p:nvSpPr>
          <p:cNvPr id="51" name="Shape 49"/>
          <p:cNvSpPr/>
          <p:nvPr/>
        </p:nvSpPr>
        <p:spPr>
          <a:xfrm>
            <a:off x="3749040" y="3364992"/>
            <a:ext cx="228600" cy="914"/>
          </a:xfrm>
          <a:prstGeom prst="line">
            <a:avLst/>
          </a:prstGeom>
          <a:noFill/>
          <a:ln w="12700">
            <a:solidFill>
              <a:srgbClr val="5B6B7F"/>
            </a:solidFill>
            <a:prstDash val="solid"/>
            <a:tailEnd type="triangle"/>
          </a:ln>
        </p:spPr>
      </p:sp>
      <p:sp>
        <p:nvSpPr>
          <p:cNvPr id="52" name="Shape 50"/>
          <p:cNvSpPr/>
          <p:nvPr/>
        </p:nvSpPr>
        <p:spPr>
          <a:xfrm>
            <a:off x="3995928" y="3136392"/>
            <a:ext cx="457200" cy="457200"/>
          </a:xfrm>
          <a:prstGeom prst="rect">
            <a:avLst/>
          </a:prstGeom>
          <a:solidFill>
            <a:srgbClr val="DDF3F0"/>
          </a:solidFill>
          <a:ln w="12700">
            <a:solidFill>
              <a:srgbClr val="1F8A8A"/>
            </a:solidFill>
            <a:prstDash val="solid"/>
          </a:ln>
        </p:spPr>
      </p:sp>
      <p:sp>
        <p:nvSpPr>
          <p:cNvPr id="53" name="Shape 51"/>
          <p:cNvSpPr/>
          <p:nvPr/>
        </p:nvSpPr>
        <p:spPr>
          <a:xfrm>
            <a:off x="3995928" y="3136392"/>
            <a:ext cx="457200" cy="457200"/>
          </a:xfrm>
          <a:prstGeom prst="rect">
            <a:avLst/>
          </a:prstGeom>
          <a:solidFill>
            <a:srgbClr val="DDF3F0"/>
          </a:solidFill>
          <a:ln w="15875">
            <a:solidFill>
              <a:srgbClr val="1F8A8A"/>
            </a:solidFill>
            <a:prstDash val="solid"/>
          </a:ln>
        </p:spPr>
      </p:sp>
      <p:sp>
        <p:nvSpPr>
          <p:cNvPr id="54" name="Text 52"/>
          <p:cNvSpPr txBox="1"/>
          <p:nvPr/>
        </p:nvSpPr>
        <p:spPr>
          <a:xfrm>
            <a:off x="3995928" y="3136392"/>
            <a:ext cx="457200" cy="4572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P</a:t>
            </a:r>
            <a:endParaRPr lang="en-US" sz="800" dirty="0"/>
          </a:p>
        </p:txBody>
      </p:sp>
      <p:sp>
        <p:nvSpPr>
          <p:cNvPr id="55" name="Shape 53"/>
          <p:cNvSpPr/>
          <p:nvPr/>
        </p:nvSpPr>
        <p:spPr>
          <a:xfrm>
            <a:off x="4471416" y="3364992"/>
            <a:ext cx="210312" cy="914"/>
          </a:xfrm>
          <a:prstGeom prst="line">
            <a:avLst/>
          </a:prstGeom>
          <a:noFill/>
          <a:ln w="12700">
            <a:solidFill>
              <a:srgbClr val="5B6B7F"/>
            </a:solidFill>
            <a:prstDash val="solid"/>
            <a:tailEnd type="triangle"/>
          </a:ln>
        </p:spPr>
      </p:sp>
      <p:sp>
        <p:nvSpPr>
          <p:cNvPr id="56" name="Shape 54"/>
          <p:cNvSpPr/>
          <p:nvPr/>
        </p:nvSpPr>
        <p:spPr>
          <a:xfrm>
            <a:off x="4709160" y="3136392"/>
            <a:ext cx="822960" cy="457200"/>
          </a:xfrm>
          <a:prstGeom prst="roundRect">
            <a:avLst>
              <a:gd name="adj" fmla="val 12000"/>
            </a:avLst>
          </a:prstGeom>
          <a:solidFill>
            <a:srgbClr val="E3EEFB"/>
          </a:solidFill>
          <a:ln w="12700">
            <a:solidFill>
              <a:srgbClr val="2F6DB5"/>
            </a:solidFill>
            <a:prstDash val="solid"/>
          </a:ln>
        </p:spPr>
      </p:sp>
      <p:sp>
        <p:nvSpPr>
          <p:cNvPr id="57" name="Text 55"/>
          <p:cNvSpPr txBox="1"/>
          <p:nvPr/>
        </p:nvSpPr>
        <p:spPr>
          <a:xfrm>
            <a:off x="4764024" y="3172968"/>
            <a:ext cx="713232" cy="384048"/>
          </a:xfrm>
          <a:prstGeom prst="rect">
            <a:avLst/>
          </a:prstGeom>
          <a:noFill/>
          <a:ln/>
        </p:spPr>
        <p:txBody>
          <a:bodyPr wrap="square" lIns="0" tIns="0" rIns="0" bIns="0" rtlCol="0" anchor="ctr"/>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add</a:t>
            </a:r>
            <a:endParaRPr lang="en-US" sz="900" dirty="0"/>
          </a:p>
        </p:txBody>
      </p:sp>
      <p:sp>
        <p:nvSpPr>
          <p:cNvPr id="58" name="Shape 56"/>
          <p:cNvSpPr/>
          <p:nvPr/>
        </p:nvSpPr>
        <p:spPr>
          <a:xfrm>
            <a:off x="5532120" y="3364992"/>
            <a:ext cx="228600" cy="914"/>
          </a:xfrm>
          <a:prstGeom prst="line">
            <a:avLst/>
          </a:prstGeom>
          <a:noFill/>
          <a:ln w="12700">
            <a:solidFill>
              <a:srgbClr val="5B6B7F"/>
            </a:solidFill>
            <a:prstDash val="solid"/>
            <a:tailEnd type="triangle"/>
          </a:ln>
        </p:spPr>
      </p:sp>
      <p:sp>
        <p:nvSpPr>
          <p:cNvPr id="59" name="Shape 57"/>
          <p:cNvSpPr/>
          <p:nvPr/>
        </p:nvSpPr>
        <p:spPr>
          <a:xfrm>
            <a:off x="5779008" y="3136392"/>
            <a:ext cx="457200" cy="457200"/>
          </a:xfrm>
          <a:prstGeom prst="rect">
            <a:avLst/>
          </a:prstGeom>
          <a:solidFill>
            <a:srgbClr val="DDF3F0"/>
          </a:solidFill>
          <a:ln w="12700">
            <a:solidFill>
              <a:srgbClr val="1F8A8A"/>
            </a:solidFill>
            <a:prstDash val="solid"/>
          </a:ln>
        </p:spPr>
      </p:sp>
      <p:sp>
        <p:nvSpPr>
          <p:cNvPr id="60" name="Shape 58"/>
          <p:cNvSpPr/>
          <p:nvPr/>
        </p:nvSpPr>
        <p:spPr>
          <a:xfrm>
            <a:off x="5779008" y="3136392"/>
            <a:ext cx="457200" cy="457200"/>
          </a:xfrm>
          <a:prstGeom prst="rect">
            <a:avLst/>
          </a:prstGeom>
          <a:solidFill>
            <a:srgbClr val="DDF3F0"/>
          </a:solidFill>
          <a:ln w="15875">
            <a:solidFill>
              <a:srgbClr val="1F8A8A"/>
            </a:solidFill>
            <a:prstDash val="solid"/>
          </a:ln>
        </p:spPr>
      </p:sp>
      <p:sp>
        <p:nvSpPr>
          <p:cNvPr id="61" name="Text 59"/>
          <p:cNvSpPr txBox="1"/>
          <p:nvPr/>
        </p:nvSpPr>
        <p:spPr>
          <a:xfrm>
            <a:off x="5779008" y="3136392"/>
            <a:ext cx="457200" cy="4572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A</a:t>
            </a:r>
            <a:endParaRPr lang="en-US" sz="800" dirty="0"/>
          </a:p>
        </p:txBody>
      </p:sp>
      <p:sp>
        <p:nvSpPr>
          <p:cNvPr id="62" name="Shape 60"/>
          <p:cNvSpPr/>
          <p:nvPr/>
        </p:nvSpPr>
        <p:spPr>
          <a:xfrm>
            <a:off x="6254496" y="3364992"/>
            <a:ext cx="210312" cy="914"/>
          </a:xfrm>
          <a:prstGeom prst="line">
            <a:avLst/>
          </a:prstGeom>
          <a:noFill/>
          <a:ln w="12700">
            <a:solidFill>
              <a:srgbClr val="5B6B7F"/>
            </a:solidFill>
            <a:prstDash val="solid"/>
            <a:tailEnd type="triangle"/>
          </a:ln>
        </p:spPr>
      </p:sp>
      <p:sp>
        <p:nvSpPr>
          <p:cNvPr id="63" name="Shape 61"/>
          <p:cNvSpPr/>
          <p:nvPr/>
        </p:nvSpPr>
        <p:spPr>
          <a:xfrm>
            <a:off x="6492240" y="3136392"/>
            <a:ext cx="1600200" cy="457200"/>
          </a:xfrm>
          <a:prstGeom prst="roundRect">
            <a:avLst>
              <a:gd name="adj" fmla="val 12000"/>
            </a:avLst>
          </a:prstGeom>
          <a:solidFill>
            <a:srgbClr val="E3EEFB"/>
          </a:solidFill>
          <a:ln w="12700">
            <a:solidFill>
              <a:srgbClr val="2F6DB5"/>
            </a:solidFill>
            <a:prstDash val="solid"/>
          </a:ln>
        </p:spPr>
      </p:sp>
      <p:sp>
        <p:nvSpPr>
          <p:cNvPr id="64" name="Text 62"/>
          <p:cNvSpPr txBox="1"/>
          <p:nvPr/>
        </p:nvSpPr>
        <p:spPr>
          <a:xfrm>
            <a:off x="6547104" y="3172968"/>
            <a:ext cx="1490472" cy="384048"/>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silu (VLEN 128, 32행)</a:t>
            </a:r>
            <a:endParaRPr lang="en-US" sz="850" dirty="0"/>
          </a:p>
        </p:txBody>
      </p:sp>
      <p:sp>
        <p:nvSpPr>
          <p:cNvPr id="65" name="Shape 63"/>
          <p:cNvSpPr/>
          <p:nvPr/>
        </p:nvSpPr>
        <p:spPr>
          <a:xfrm>
            <a:off x="8092440" y="3364992"/>
            <a:ext cx="228600" cy="914"/>
          </a:xfrm>
          <a:prstGeom prst="line">
            <a:avLst/>
          </a:prstGeom>
          <a:noFill/>
          <a:ln w="12700">
            <a:solidFill>
              <a:srgbClr val="5B6B7F"/>
            </a:solidFill>
            <a:prstDash val="solid"/>
            <a:tailEnd type="triangle"/>
          </a:ln>
        </p:spPr>
      </p:sp>
      <p:sp>
        <p:nvSpPr>
          <p:cNvPr id="66" name="Shape 64"/>
          <p:cNvSpPr/>
          <p:nvPr/>
        </p:nvSpPr>
        <p:spPr>
          <a:xfrm>
            <a:off x="8339328" y="3136392"/>
            <a:ext cx="457200" cy="457200"/>
          </a:xfrm>
          <a:prstGeom prst="rect">
            <a:avLst/>
          </a:prstGeom>
          <a:solidFill>
            <a:srgbClr val="E5F3E7"/>
          </a:solidFill>
          <a:ln w="12700">
            <a:solidFill>
              <a:srgbClr val="2E7D32"/>
            </a:solidFill>
            <a:prstDash val="solid"/>
          </a:ln>
        </p:spPr>
      </p:sp>
      <p:sp>
        <p:nvSpPr>
          <p:cNvPr id="67" name="Shape 65"/>
          <p:cNvSpPr/>
          <p:nvPr/>
        </p:nvSpPr>
        <p:spPr>
          <a:xfrm>
            <a:off x="8339328" y="3136392"/>
            <a:ext cx="457200" cy="457200"/>
          </a:xfrm>
          <a:prstGeom prst="rect">
            <a:avLst/>
          </a:prstGeom>
          <a:solidFill>
            <a:srgbClr val="E5F3E7"/>
          </a:solidFill>
          <a:ln w="15875">
            <a:solidFill>
              <a:srgbClr val="2E7D32"/>
            </a:solidFill>
            <a:prstDash val="solid"/>
          </a:ln>
        </p:spPr>
      </p:sp>
      <p:sp>
        <p:nvSpPr>
          <p:cNvPr id="68" name="Text 66"/>
          <p:cNvSpPr txBox="1"/>
          <p:nvPr/>
        </p:nvSpPr>
        <p:spPr>
          <a:xfrm>
            <a:off x="8339328" y="3136392"/>
            <a:ext cx="457200" cy="4572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Y</a:t>
            </a:r>
            <a:endParaRPr lang="en-US" sz="800" dirty="0"/>
          </a:p>
        </p:txBody>
      </p:sp>
      <p:sp>
        <p:nvSpPr>
          <p:cNvPr id="69" name="Shape 67"/>
          <p:cNvSpPr/>
          <p:nvPr/>
        </p:nvSpPr>
        <p:spPr>
          <a:xfrm>
            <a:off x="9482328" y="3291840"/>
            <a:ext cx="301752" cy="914"/>
          </a:xfrm>
          <a:prstGeom prst="line">
            <a:avLst/>
          </a:prstGeom>
          <a:noFill/>
          <a:ln w="15240">
            <a:solidFill>
              <a:srgbClr val="D98A1E"/>
            </a:solidFill>
            <a:prstDash val="solid"/>
            <a:tailEnd type="triangle"/>
          </a:ln>
        </p:spPr>
      </p:sp>
      <p:sp>
        <p:nvSpPr>
          <p:cNvPr id="70" name="Shape 68"/>
          <p:cNvSpPr/>
          <p:nvPr/>
        </p:nvSpPr>
        <p:spPr>
          <a:xfrm>
            <a:off x="9829800" y="3063240"/>
            <a:ext cx="731520" cy="457200"/>
          </a:xfrm>
          <a:prstGeom prst="roundRect">
            <a:avLst>
              <a:gd name="adj" fmla="val 12000"/>
            </a:avLst>
          </a:prstGeom>
          <a:solidFill>
            <a:srgbClr val="FFF1DC"/>
          </a:solidFill>
          <a:ln w="12700">
            <a:solidFill>
              <a:srgbClr val="D98A1E"/>
            </a:solidFill>
            <a:prstDash val="solid"/>
          </a:ln>
        </p:spPr>
      </p:sp>
      <p:sp>
        <p:nvSpPr>
          <p:cNvPr id="71" name="Text 69"/>
          <p:cNvSpPr txBox="1"/>
          <p:nvPr/>
        </p:nvSpPr>
        <p:spPr>
          <a:xfrm>
            <a:off x="9902952" y="3136392"/>
            <a:ext cx="585216" cy="171450"/>
          </a:xfrm>
          <a:prstGeom prst="rect">
            <a:avLst/>
          </a:prstGeom>
          <a:noFill/>
          <a:ln/>
        </p:spPr>
        <p:txBody>
          <a:bodyPr wrap="square" lIns="0" tIns="0" rIns="0" bIns="0" rtlCol="0" anchor="ctr"/>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DRAM</a:t>
            </a:r>
            <a:endParaRPr lang="en-US" sz="900" dirty="0"/>
          </a:p>
        </p:txBody>
      </p:sp>
      <p:sp>
        <p:nvSpPr>
          <p:cNvPr id="72" name="Text 70"/>
          <p:cNvSpPr txBox="1"/>
          <p:nvPr/>
        </p:nvSpPr>
        <p:spPr>
          <a:xfrm>
            <a:off x="9902952" y="3307842"/>
            <a:ext cx="585216"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Y</a:t>
            </a:r>
            <a:endParaRPr lang="en-US" sz="650" dirty="0"/>
          </a:p>
        </p:txBody>
      </p:sp>
      <p:sp>
        <p:nvSpPr>
          <p:cNvPr id="73" name="Text 71"/>
          <p:cNvSpPr txBox="1"/>
          <p:nvPr/>
        </p:nvSpPr>
        <p:spPr>
          <a:xfrm>
            <a:off x="2743200" y="3840480"/>
            <a:ext cx="7772400" cy="201168"/>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한 커널 안에서 이어짐: descriptor 반복 감소, 축 결합으로 vector 행 64 → 128 (명령 수 절반), USMP offset 공유</a:t>
            </a:r>
            <a:endParaRPr lang="en-US" sz="800" dirty="0"/>
          </a:p>
        </p:txBody>
      </p:sp>
      <p:sp>
        <p:nvSpPr>
          <p:cNvPr id="74" name="Text 72"/>
          <p:cNvSpPr txBox="1"/>
          <p:nvPr/>
        </p:nvSpPr>
        <p:spPr>
          <a:xfrm>
            <a:off x="457200" y="4325112"/>
            <a:ext cx="1188720" cy="457200"/>
          </a:xfrm>
          <a:prstGeom prst="rect">
            <a:avLst/>
          </a:prstGeom>
          <a:noFill/>
          <a:ln/>
        </p:spPr>
        <p:txBody>
          <a:bodyPr wrap="square" lIns="0" tIns="0" rIns="0" bIns="0" rtlCol="0" anchor="t"/>
          <a:lstStyle/>
          <a:p>
            <a:pPr algn="l" indent="0" marL="0">
              <a:buNone/>
            </a:pPr>
            <a:r>
              <a:rPr lang="en-US" sz="1000" b="1" dirty="0">
                <a:solidFill>
                  <a:srgbClr val="15243B"/>
                </a:solidFill>
                <a:latin typeface="Malgun Gothic" pitchFamily="34" charset="0"/>
                <a:ea typeface="Malgun Gothic" pitchFamily="34" charset="-122"/>
                <a:cs typeface="Malgun Gothic" pitchFamily="34" charset="-120"/>
              </a:rPr>
              <a:t>SRAM peak</a:t>
            </a:r>
            <a:endParaRPr lang="en-US" sz="1000" dirty="0"/>
          </a:p>
        </p:txBody>
      </p:sp>
      <p:sp>
        <p:nvSpPr>
          <p:cNvPr id="75" name="Shape 73"/>
          <p:cNvSpPr/>
          <p:nvPr/>
        </p:nvSpPr>
        <p:spPr>
          <a:xfrm>
            <a:off x="1645920" y="4343400"/>
            <a:ext cx="4572000" cy="274320"/>
          </a:xfrm>
          <a:prstGeom prst="rect">
            <a:avLst/>
          </a:prstGeom>
          <a:solidFill>
            <a:srgbClr val="EEF2F6"/>
          </a:solidFill>
          <a:ln w="9525">
            <a:solidFill>
              <a:srgbClr val="C9D3DF"/>
            </a:solidFill>
            <a:prstDash val="solid"/>
          </a:ln>
        </p:spPr>
      </p:sp>
      <p:sp>
        <p:nvSpPr>
          <p:cNvPr id="76" name="Shape 74"/>
          <p:cNvSpPr/>
          <p:nvPr/>
        </p:nvSpPr>
        <p:spPr>
          <a:xfrm>
            <a:off x="1645920" y="4343400"/>
            <a:ext cx="4572000" cy="274320"/>
          </a:xfrm>
          <a:prstGeom prst="rect">
            <a:avLst/>
          </a:prstGeom>
          <a:solidFill>
            <a:srgbClr val="E3EEFB"/>
          </a:solidFill>
          <a:ln w="12700">
            <a:solidFill>
              <a:srgbClr val="2F6DB5"/>
            </a:solidFill>
            <a:prstDash val="solid"/>
          </a:ln>
        </p:spPr>
      </p:sp>
      <p:sp>
        <p:nvSpPr>
          <p:cNvPr id="77" name="Text 75"/>
          <p:cNvSpPr txBox="1"/>
          <p:nvPr/>
        </p:nvSpPr>
        <p:spPr>
          <a:xfrm>
            <a:off x="1645920" y="4343400"/>
            <a:ext cx="4572000" cy="2743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off 50,700 B</a:t>
            </a:r>
            <a:endParaRPr lang="en-US" sz="800" dirty="0"/>
          </a:p>
        </p:txBody>
      </p:sp>
      <p:sp>
        <p:nvSpPr>
          <p:cNvPr id="78" name="Shape 76"/>
          <p:cNvSpPr/>
          <p:nvPr/>
        </p:nvSpPr>
        <p:spPr>
          <a:xfrm>
            <a:off x="1645920" y="4709160"/>
            <a:ext cx="4572000" cy="274320"/>
          </a:xfrm>
          <a:prstGeom prst="rect">
            <a:avLst/>
          </a:prstGeom>
          <a:solidFill>
            <a:srgbClr val="EEF2F6"/>
          </a:solidFill>
          <a:ln w="9525">
            <a:solidFill>
              <a:srgbClr val="C9D3DF"/>
            </a:solidFill>
            <a:prstDash val="solid"/>
          </a:ln>
        </p:spPr>
      </p:sp>
      <p:sp>
        <p:nvSpPr>
          <p:cNvPr id="79" name="Shape 77"/>
          <p:cNvSpPr/>
          <p:nvPr/>
        </p:nvSpPr>
        <p:spPr>
          <a:xfrm>
            <a:off x="1645920" y="4709160"/>
            <a:ext cx="3833266" cy="274320"/>
          </a:xfrm>
          <a:prstGeom prst="rect">
            <a:avLst/>
          </a:prstGeom>
          <a:solidFill>
            <a:srgbClr val="DDF3F0"/>
          </a:solidFill>
          <a:ln w="12700">
            <a:solidFill>
              <a:srgbClr val="1F8A8A"/>
            </a:solidFill>
            <a:prstDash val="solid"/>
          </a:ln>
        </p:spPr>
      </p:sp>
      <p:sp>
        <p:nvSpPr>
          <p:cNvPr id="80" name="Text 78"/>
          <p:cNvSpPr txBox="1"/>
          <p:nvPr/>
        </p:nvSpPr>
        <p:spPr>
          <a:xfrm>
            <a:off x="1645920" y="4709160"/>
            <a:ext cx="3833266" cy="2743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auto 42,508 B</a:t>
            </a:r>
            <a:endParaRPr lang="en-US" sz="800" dirty="0"/>
          </a:p>
        </p:txBody>
      </p:sp>
      <p:sp>
        <p:nvSpPr>
          <p:cNvPr id="81" name="Text 79"/>
          <p:cNvSpPr txBox="1"/>
          <p:nvPr/>
        </p:nvSpPr>
        <p:spPr>
          <a:xfrm>
            <a:off x="6400800" y="4325112"/>
            <a:ext cx="1097280" cy="457200"/>
          </a:xfrm>
          <a:prstGeom prst="rect">
            <a:avLst/>
          </a:prstGeom>
          <a:noFill/>
          <a:ln/>
        </p:spPr>
        <p:txBody>
          <a:bodyPr wrap="square" lIns="0" tIns="0" rIns="0" bIns="0" rtlCol="0" anchor="t"/>
          <a:lstStyle/>
          <a:p>
            <a:pPr algn="l" indent="0" marL="0">
              <a:buNone/>
            </a:pPr>
            <a:r>
              <a:rPr lang="en-US" sz="1000" b="1" dirty="0">
                <a:solidFill>
                  <a:srgbClr val="15243B"/>
                </a:solidFill>
                <a:latin typeface="Malgun Gothic" pitchFamily="34" charset="0"/>
                <a:ea typeface="Malgun Gothic" pitchFamily="34" charset="-122"/>
                <a:cs typeface="Malgun Gothic" pitchFamily="34" charset="-120"/>
              </a:rPr>
              <a:t>words</a:t>
            </a:r>
            <a:endParaRPr lang="en-US" sz="1000" dirty="0"/>
          </a:p>
        </p:txBody>
      </p:sp>
      <p:sp>
        <p:nvSpPr>
          <p:cNvPr id="82" name="Shape 80"/>
          <p:cNvSpPr/>
          <p:nvPr/>
        </p:nvSpPr>
        <p:spPr>
          <a:xfrm>
            <a:off x="7223760" y="4343400"/>
            <a:ext cx="4480560" cy="274320"/>
          </a:xfrm>
          <a:prstGeom prst="rect">
            <a:avLst/>
          </a:prstGeom>
          <a:solidFill>
            <a:srgbClr val="EEF2F6"/>
          </a:solidFill>
          <a:ln w="9525">
            <a:solidFill>
              <a:srgbClr val="C9D3DF"/>
            </a:solidFill>
            <a:prstDash val="solid"/>
          </a:ln>
        </p:spPr>
      </p:sp>
      <p:sp>
        <p:nvSpPr>
          <p:cNvPr id="83" name="Shape 81"/>
          <p:cNvSpPr/>
          <p:nvPr/>
        </p:nvSpPr>
        <p:spPr>
          <a:xfrm>
            <a:off x="7223760" y="4343400"/>
            <a:ext cx="68515" cy="274320"/>
          </a:xfrm>
          <a:prstGeom prst="rect">
            <a:avLst/>
          </a:prstGeom>
          <a:solidFill>
            <a:srgbClr val="ECE6FA"/>
          </a:solidFill>
          <a:ln w="12700">
            <a:solidFill>
              <a:srgbClr val="6C4FBF"/>
            </a:solidFill>
            <a:prstDash val="solid"/>
          </a:ln>
        </p:spPr>
      </p:sp>
      <p:sp>
        <p:nvSpPr>
          <p:cNvPr id="84" name="Shape 82"/>
          <p:cNvSpPr/>
          <p:nvPr/>
        </p:nvSpPr>
        <p:spPr>
          <a:xfrm>
            <a:off x="7292275" y="4343400"/>
            <a:ext cx="623008" cy="274320"/>
          </a:xfrm>
          <a:prstGeom prst="rect">
            <a:avLst/>
          </a:prstGeom>
          <a:solidFill>
            <a:srgbClr val="E3EEFB"/>
          </a:solidFill>
          <a:ln w="12700">
            <a:solidFill>
              <a:srgbClr val="2F6DB5"/>
            </a:solidFill>
            <a:prstDash val="solid"/>
          </a:ln>
        </p:spPr>
      </p:sp>
      <p:sp>
        <p:nvSpPr>
          <p:cNvPr id="85" name="Text 83"/>
          <p:cNvSpPr txBox="1"/>
          <p:nvPr/>
        </p:nvSpPr>
        <p:spPr>
          <a:xfrm>
            <a:off x="7292275" y="4343400"/>
            <a:ext cx="623008" cy="27432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391</a:t>
            </a:r>
            <a:endParaRPr lang="en-US" sz="750" dirty="0"/>
          </a:p>
        </p:txBody>
      </p:sp>
      <p:sp>
        <p:nvSpPr>
          <p:cNvPr id="86" name="Shape 84"/>
          <p:cNvSpPr/>
          <p:nvPr/>
        </p:nvSpPr>
        <p:spPr>
          <a:xfrm>
            <a:off x="7915283" y="4343400"/>
            <a:ext cx="3781070" cy="274320"/>
          </a:xfrm>
          <a:prstGeom prst="rect">
            <a:avLst/>
          </a:prstGeom>
          <a:solidFill>
            <a:srgbClr val="E3EEFB"/>
          </a:solidFill>
          <a:ln w="12700">
            <a:solidFill>
              <a:srgbClr val="2F6DB5"/>
            </a:solidFill>
            <a:prstDash val="solid"/>
          </a:ln>
        </p:spPr>
      </p:sp>
      <p:sp>
        <p:nvSpPr>
          <p:cNvPr id="87" name="Text 85"/>
          <p:cNvSpPr txBox="1"/>
          <p:nvPr/>
        </p:nvSpPr>
        <p:spPr>
          <a:xfrm>
            <a:off x="7915283" y="4343400"/>
            <a:ext cx="3781070" cy="27432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silu 2,373</a:t>
            </a:r>
            <a:endParaRPr lang="en-US" sz="750" dirty="0"/>
          </a:p>
        </p:txBody>
      </p:sp>
      <p:sp>
        <p:nvSpPr>
          <p:cNvPr id="88" name="Shape 86"/>
          <p:cNvSpPr/>
          <p:nvPr/>
        </p:nvSpPr>
        <p:spPr>
          <a:xfrm>
            <a:off x="11696353" y="4343400"/>
            <a:ext cx="7967" cy="274320"/>
          </a:xfrm>
          <a:prstGeom prst="rect">
            <a:avLst/>
          </a:prstGeom>
          <a:solidFill>
            <a:srgbClr val="EEF2F6"/>
          </a:solidFill>
          <a:ln w="12700">
            <a:solidFill>
              <a:srgbClr val="C9D3DF"/>
            </a:solidFill>
            <a:prstDash val="solid"/>
          </a:ln>
        </p:spPr>
      </p:sp>
      <p:sp>
        <p:nvSpPr>
          <p:cNvPr id="89" name="Shape 87"/>
          <p:cNvSpPr/>
          <p:nvPr/>
        </p:nvSpPr>
        <p:spPr>
          <a:xfrm>
            <a:off x="7223760" y="4709160"/>
            <a:ext cx="4480560" cy="274320"/>
          </a:xfrm>
          <a:prstGeom prst="rect">
            <a:avLst/>
          </a:prstGeom>
          <a:solidFill>
            <a:srgbClr val="EEF2F6"/>
          </a:solidFill>
          <a:ln w="9525">
            <a:solidFill>
              <a:srgbClr val="C9D3DF"/>
            </a:solidFill>
            <a:prstDash val="solid"/>
          </a:ln>
        </p:spPr>
      </p:sp>
      <p:sp>
        <p:nvSpPr>
          <p:cNvPr id="90" name="Shape 88"/>
          <p:cNvSpPr/>
          <p:nvPr/>
        </p:nvSpPr>
        <p:spPr>
          <a:xfrm>
            <a:off x="7223760" y="4709160"/>
            <a:ext cx="2504780" cy="274320"/>
          </a:xfrm>
          <a:prstGeom prst="rect">
            <a:avLst/>
          </a:prstGeom>
          <a:solidFill>
            <a:srgbClr val="DDF3F0"/>
          </a:solidFill>
          <a:ln w="12700">
            <a:solidFill>
              <a:srgbClr val="1F8A8A"/>
            </a:solidFill>
            <a:prstDash val="solid"/>
          </a:ln>
        </p:spPr>
      </p:sp>
      <p:sp>
        <p:nvSpPr>
          <p:cNvPr id="91" name="Text 89"/>
          <p:cNvSpPr txBox="1"/>
          <p:nvPr/>
        </p:nvSpPr>
        <p:spPr>
          <a:xfrm>
            <a:off x="7223760" y="4709160"/>
            <a:ext cx="2504780" cy="27432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fused 1,572 (+5)</a:t>
            </a:r>
            <a:endParaRPr lang="en-US" sz="7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5166360"/>
          <a:ext cx="11274552" cy="914400"/>
        </p:xfrm>
        <a:graphic>
          <a:graphicData uri="http://schemas.openxmlformats.org/drawingml/2006/table">
            <a:tbl>
              <a:tblPr/>
              <a:tblGrid>
                <a:gridCol w="640080"/>
                <a:gridCol w="731520"/>
                <a:gridCol w="1005840"/>
                <a:gridCol w="914400"/>
                <a:gridCol w="914400"/>
                <a:gridCol w="1005840"/>
                <a:gridCol w="822960"/>
                <a:gridCol w="5239512"/>
              </a:tblGrid>
              <a:tr h="256032">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설정</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50" b="1" dirty="0">
                          <a:solidFill>
                            <a:srgbClr val="FFFFFF"/>
                          </a:solidFill>
                          <a:latin typeface="Malgun Gothic" pitchFamily="34" charset="0"/>
                          <a:ea typeface="Malgun Gothic" pitchFamily="34" charset="-122"/>
                          <a:cs typeface="Malgun Gothic" pitchFamily="34" charset="-120"/>
                        </a:rPr>
                        <a:t>커널 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50" b="1" dirty="0">
                          <a:solidFill>
                            <a:srgbClr val="FFFFFF"/>
                          </a:solidFill>
                          <a:latin typeface="Malgun Gothic" pitchFamily="34" charset="0"/>
                          <a:ea typeface="Malgun Gothic" pitchFamily="34" charset="-122"/>
                          <a:cs typeface="Malgun Gothic" pitchFamily="34" charset="-120"/>
                        </a:rPr>
                        <a:t>DMA bytes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50" b="1" dirty="0">
                          <a:solidFill>
                            <a:srgbClr val="FFFFFF"/>
                          </a:solidFill>
                          <a:latin typeface="Malgun Gothic" pitchFamily="34" charset="0"/>
                          <a:ea typeface="Malgun Gothic" pitchFamily="34" charset="-122"/>
                          <a:cs typeface="Malgun Gothic" pitchFamily="34" charset="-120"/>
                        </a:rPr>
                        <a:t>ISA words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50" b="1" dirty="0">
                          <a:solidFill>
                            <a:srgbClr val="FFFFFF"/>
                          </a:solidFill>
                          <a:latin typeface="Malgun Gothic" pitchFamily="34" charset="0"/>
                          <a:ea typeface="Malgun Gothic" pitchFamily="34" charset="-122"/>
                          <a:cs typeface="Malgun Gothic" pitchFamily="34" charset="-120"/>
                        </a:rPr>
                        <a:t>SRAM peak</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50" b="1" dirty="0">
                          <a:solidFill>
                            <a:srgbClr val="FFFFFF"/>
                          </a:solidFill>
                          <a:latin typeface="Malgun Gothic" pitchFamily="34" charset="0"/>
                          <a:ea typeface="Malgun Gothic" pitchFamily="34" charset="-122"/>
                          <a:cs typeface="Malgun Gothic" pitchFamily="34" charset="-120"/>
                        </a:rPr>
                        <a:t>DRAM image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출력</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Fusion이 바꾸지 않는 것</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56032">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off</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3</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41,100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2,812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50,700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41,100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bit-exact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FP16 저장 경계 (P, A 각 FP16) · vector 명령은 activation bit로 바뀌지 않음 (OFF)</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56032">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auto</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1</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41,100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1,577</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42,508</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41,100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bit-exact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수치 결과 (fused/unfused bit-exact) · 입력·출력 DMA</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93" name="Shape 90"/>
          <p:cNvSpPr/>
          <p:nvPr/>
        </p:nvSpPr>
        <p:spPr>
          <a:xfrm>
            <a:off x="457200" y="5989320"/>
            <a:ext cx="11274552" cy="420624"/>
          </a:xfrm>
          <a:prstGeom prst="roundRect">
            <a:avLst>
              <a:gd name="adj" fmla="val 10870"/>
            </a:avLst>
          </a:prstGeom>
          <a:solidFill>
            <a:srgbClr val="EEF2F6"/>
          </a:solidFill>
          <a:ln w="12700">
            <a:solidFill>
              <a:srgbClr val="EEF2F6"/>
            </a:solidFill>
            <a:prstDash val="solid"/>
          </a:ln>
        </p:spPr>
      </p:sp>
      <p:sp>
        <p:nvSpPr>
          <p:cNvPr id="94" name="Text 91"/>
          <p:cNvSpPr txBox="1"/>
          <p:nvPr/>
        </p:nvSpPr>
        <p:spPr>
          <a:xfrm>
            <a:off x="621792" y="604418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비교 기준은 커널 개수가 아니라 실제 프로그램의 (DMA bytes, ISA words, SRAM peak)입니다. E1은 전송량이 같아도 명령과 작업 공간이 줄어든 사례입니다.</a:t>
            </a:r>
            <a:endParaRPr lang="en-US" sz="1250" dirty="0"/>
          </a:p>
        </p:txBody>
      </p:sp>
      <p:sp>
        <p:nvSpPr>
          <p:cNvPr id="95" name="Text 92"/>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96" name="Text 93"/>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docs/current/05_fusion.md, docs/examples/pipeline/stage_summary.json (E1)</a:t>
            </a:r>
            <a:endParaRPr lang="en-US" sz="850" dirty="0"/>
          </a:p>
        </p:txBody>
      </p:sp>
      <p:sp>
        <p:nvSpPr>
          <p:cNvPr id="97" name="Text 94"/>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24 / 89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5 · Fusion 후보 선택</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TVM은 무엇을 보고 묶는가: op_pattern, FuseOps, FuseTIR</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AnnotateTIROpPattern이 TIR의 연산 성격을 분류하고, FuseOps가 의존 그래프·post-dominator·경로 pattern으로 영역을 만들며, FuseTIR가 TIR 계산을 한 PrimFunc로 결합합니다.</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4480560" cy="914400"/>
        </p:xfrm>
        <a:graphic>
          <a:graphicData uri="http://schemas.openxmlformats.org/drawingml/2006/table">
            <a:tbl>
              <a:tblPr/>
              <a:tblGrid>
                <a:gridCol w="457200"/>
                <a:gridCol w="1463040"/>
                <a:gridCol w="2560320"/>
              </a:tblGrid>
              <a:tr h="310896">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값</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이름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대표 의미</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kElemWise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같은 위치끼리 원소별 (add, silu)</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1</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kBroadcast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작은 입력을 여러 위치에서 사용</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kInjective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transpose 등 원소 대응이 명확한 변환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3</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kCommReduce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합/최댓값 축소 (sum, softmax 내부)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4</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kOutEWiseFusable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matmul처럼 출력 뒤 원소별 계산을 붙일 수 있음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7</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kTuple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tuple 구성 관련</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kOpaque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일반 fusion의 경계 (NPU가 W8A8·복합 matrix 영역에 부여)</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 name="Text 3"/>
          <p:cNvSpPr txBox="1"/>
          <p:nvPr/>
        </p:nvSpPr>
        <p:spPr>
          <a:xfrm>
            <a:off x="5166360" y="1371600"/>
            <a:ext cx="64008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Partitioner가 검사하는 연결 (주요 분기)</a:t>
            </a:r>
            <a:endParaRPr lang="en-US" sz="1100" dirty="0"/>
          </a:p>
        </p:txBody>
      </p:sp>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5166360" y="1664208"/>
          <a:ext cx="6565392" cy="914400"/>
        </p:xfrm>
        <a:graphic>
          <a:graphicData uri="http://schemas.openxmlformats.org/drawingml/2006/table">
            <a:tbl>
              <a:tblPr/>
              <a:tblGrid>
                <a:gridCol w="1554480"/>
                <a:gridCol w="3017520"/>
                <a:gridCol w="1993392"/>
              </a:tblGrid>
              <a:tr h="329184">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출발 group</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검사하는 경로 / 도착점</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예</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OutEWiseFusable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도착이 elemwise, 사이가 elemwise/broadcast인가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matmul 출력에 add/activation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Elemwise/Broadcast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중간이 injective 이하, 도착이 허용 pattern인가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add → SiLU</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Injective/Tuple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후속 차례에서 injective 이하 경로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reshape/transpose + 후속 계산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CommReduce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다른 복합 연산에 임의로 붙이지 않음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reduction 둘을 합치지 않음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Opaque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여기서 fusion 진행 없음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NPU가 보호한 경계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8" name="Text 4"/>
          <p:cNvSpPr txBox="1"/>
          <p:nvPr/>
        </p:nvSpPr>
        <p:spPr>
          <a:xfrm>
            <a:off x="457200" y="3931920"/>
            <a:ext cx="7315200" cy="219456"/>
          </a:xfrm>
          <a:prstGeom prst="rect">
            <a:avLst/>
          </a:prstGeom>
          <a:noFill/>
          <a:ln/>
        </p:spPr>
        <p:txBody>
          <a:bodyPr wrap="square" lIns="0" tIns="0" rIns="0" bIns="0" rtlCol="0" anchor="t"/>
          <a:lstStyle/>
          <a:p>
            <a:pPr algn="l" indent="0" marL="0">
              <a:buNone/>
            </a:pPr>
            <a:r>
              <a:rPr lang="en-US" sz="1000" b="1" dirty="0">
                <a:solidFill>
                  <a:srgbClr val="15243B"/>
                </a:solidFill>
                <a:latin typeface="Malgun Gothic" pitchFamily="34" charset="0"/>
                <a:ea typeface="Malgun Gothic" pitchFamily="34" charset="-122"/>
                <a:cs typeface="Malgun Gothic" pitchFamily="34" charset="-120"/>
              </a:rPr>
              <a:t>작은 예제의 call graph와 op_pattern → FuseOps 영역 → FuseTIR 결과</a:t>
            </a:r>
            <a:endParaRPr lang="en-US" sz="1000" dirty="0"/>
          </a:p>
        </p:txBody>
      </p:sp>
      <p:sp>
        <p:nvSpPr>
          <p:cNvPr id="9" name="Shape 5"/>
          <p:cNvSpPr/>
          <p:nvPr/>
        </p:nvSpPr>
        <p:spPr>
          <a:xfrm>
            <a:off x="2103120" y="4160520"/>
            <a:ext cx="5074920" cy="868680"/>
          </a:xfrm>
          <a:prstGeom prst="roundRect">
            <a:avLst>
              <a:gd name="adj" fmla="val 8421"/>
            </a:avLst>
          </a:prstGeom>
          <a:solidFill>
            <a:srgbClr val="DDF3F0"/>
          </a:solidFill>
          <a:ln w="15875">
            <a:solidFill>
              <a:srgbClr val="1F8A8A"/>
            </a:solidFill>
            <a:prstDash val="solid"/>
          </a:ln>
        </p:spPr>
      </p:sp>
      <p:sp>
        <p:nvSpPr>
          <p:cNvPr id="10" name="Text 6"/>
          <p:cNvSpPr txBox="1"/>
          <p:nvPr/>
        </p:nvSpPr>
        <p:spPr>
          <a:xfrm>
            <a:off x="2194560" y="4809744"/>
            <a:ext cx="4937760" cy="201168"/>
          </a:xfrm>
          <a:prstGeom prst="rect">
            <a:avLst/>
          </a:prstGeom>
          <a:noFill/>
          <a:ln/>
        </p:spPr>
        <p:txBody>
          <a:bodyPr wrap="square" lIns="0" tIns="0" rIns="0" bIns="0" rtlCol="0" anchor="t"/>
          <a:lstStyle/>
          <a:p>
            <a:pPr algn="l" indent="0" marL="0">
              <a:buNone/>
            </a:pPr>
            <a:r>
              <a:rPr lang="en-US" sz="750" b="1" dirty="0">
                <a:solidFill>
                  <a:srgbClr val="1F8A8A"/>
                </a:solidFill>
                <a:latin typeface="Malgun Gothic" pitchFamily="34" charset="0"/>
                <a:ea typeface="Malgun Gothic" pitchFamily="34" charset="-122"/>
                <a:cs typeface="Malgun Gothic" pitchFamily="34" charset="-120"/>
              </a:rPr>
              <a:t>FuseOps group (Primitive=1) → FuseTIR: fused_matmul_add_silu (중간 buffer는 아직 global)</a:t>
            </a:r>
            <a:endParaRPr lang="en-US" sz="750" dirty="0"/>
          </a:p>
        </p:txBody>
      </p:sp>
      <p:sp>
        <p:nvSpPr>
          <p:cNvPr id="11" name="Shape 7"/>
          <p:cNvSpPr/>
          <p:nvPr/>
        </p:nvSpPr>
        <p:spPr>
          <a:xfrm>
            <a:off x="457200" y="4251960"/>
            <a:ext cx="1097280" cy="502920"/>
          </a:xfrm>
          <a:prstGeom prst="roundRect">
            <a:avLst>
              <a:gd name="adj" fmla="val 10909"/>
            </a:avLst>
          </a:prstGeom>
          <a:solidFill>
            <a:srgbClr val="EEF1F5"/>
          </a:solidFill>
          <a:ln w="12700">
            <a:solidFill>
              <a:srgbClr val="5B6B7F"/>
            </a:solidFill>
            <a:prstDash val="solid"/>
          </a:ln>
        </p:spPr>
      </p:sp>
      <p:sp>
        <p:nvSpPr>
          <p:cNvPr id="12" name="Text 8"/>
          <p:cNvSpPr txBox="1"/>
          <p:nvPr/>
        </p:nvSpPr>
        <p:spPr>
          <a:xfrm>
            <a:off x="530352" y="4325112"/>
            <a:ext cx="950976" cy="171450"/>
          </a:xfrm>
          <a:prstGeom prst="rect">
            <a:avLst/>
          </a:prstGeom>
          <a:noFill/>
          <a:ln/>
        </p:spPr>
        <p:txBody>
          <a:bodyPr wrap="square" lIns="0" tIns="0" rIns="0" bIns="0" rtlCol="0" anchor="ctr"/>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x, lv, bias</a:t>
            </a:r>
            <a:endParaRPr lang="en-US" sz="900" dirty="0"/>
          </a:p>
        </p:txBody>
      </p:sp>
      <p:sp>
        <p:nvSpPr>
          <p:cNvPr id="13" name="Text 9"/>
          <p:cNvSpPr txBox="1"/>
          <p:nvPr/>
        </p:nvSpPr>
        <p:spPr>
          <a:xfrm>
            <a:off x="530352" y="4496562"/>
            <a:ext cx="950976" cy="22174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함수 입력</a:t>
            </a:r>
            <a:endParaRPr lang="en-US" sz="700" dirty="0"/>
          </a:p>
        </p:txBody>
      </p:sp>
      <p:sp>
        <p:nvSpPr>
          <p:cNvPr id="14" name="Shape 10"/>
          <p:cNvSpPr/>
          <p:nvPr/>
        </p:nvSpPr>
        <p:spPr>
          <a:xfrm>
            <a:off x="2240280" y="4251960"/>
            <a:ext cx="1371600" cy="502920"/>
          </a:xfrm>
          <a:prstGeom prst="roundRect">
            <a:avLst>
              <a:gd name="adj" fmla="val 10909"/>
            </a:avLst>
          </a:prstGeom>
          <a:solidFill>
            <a:srgbClr val="ECE6FA"/>
          </a:solidFill>
          <a:ln w="12700">
            <a:solidFill>
              <a:srgbClr val="6C4FBF"/>
            </a:solidFill>
            <a:prstDash val="solid"/>
          </a:ln>
        </p:spPr>
      </p:sp>
      <p:sp>
        <p:nvSpPr>
          <p:cNvPr id="15" name="Text 11"/>
          <p:cNvSpPr txBox="1"/>
          <p:nvPr/>
        </p:nvSpPr>
        <p:spPr>
          <a:xfrm>
            <a:off x="2313432" y="4325112"/>
            <a:ext cx="122529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matmul</a:t>
            </a:r>
            <a:endParaRPr lang="en-US" sz="950" dirty="0"/>
          </a:p>
        </p:txBody>
      </p:sp>
      <p:sp>
        <p:nvSpPr>
          <p:cNvPr id="16" name="Text 12"/>
          <p:cNvSpPr txBox="1"/>
          <p:nvPr/>
        </p:nvSpPr>
        <p:spPr>
          <a:xfrm>
            <a:off x="2313432" y="4506087"/>
            <a:ext cx="1225296" cy="21221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op_pattern 4</a:t>
            </a:r>
            <a:endParaRPr lang="en-US" sz="700" dirty="0"/>
          </a:p>
        </p:txBody>
      </p:sp>
      <p:sp>
        <p:nvSpPr>
          <p:cNvPr id="17" name="Shape 13"/>
          <p:cNvSpPr/>
          <p:nvPr/>
        </p:nvSpPr>
        <p:spPr>
          <a:xfrm>
            <a:off x="3886200" y="4251960"/>
            <a:ext cx="1280160" cy="502920"/>
          </a:xfrm>
          <a:prstGeom prst="roundRect">
            <a:avLst>
              <a:gd name="adj" fmla="val 10909"/>
            </a:avLst>
          </a:prstGeom>
          <a:solidFill>
            <a:srgbClr val="E3EEFB"/>
          </a:solidFill>
          <a:ln w="12700">
            <a:solidFill>
              <a:srgbClr val="2F6DB5"/>
            </a:solidFill>
            <a:prstDash val="solid"/>
          </a:ln>
        </p:spPr>
      </p:sp>
      <p:sp>
        <p:nvSpPr>
          <p:cNvPr id="18" name="Text 14"/>
          <p:cNvSpPr txBox="1"/>
          <p:nvPr/>
        </p:nvSpPr>
        <p:spPr>
          <a:xfrm>
            <a:off x="3959352" y="4325112"/>
            <a:ext cx="113385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add</a:t>
            </a:r>
            <a:endParaRPr lang="en-US" sz="950" dirty="0"/>
          </a:p>
        </p:txBody>
      </p:sp>
      <p:sp>
        <p:nvSpPr>
          <p:cNvPr id="19" name="Text 15"/>
          <p:cNvSpPr txBox="1"/>
          <p:nvPr/>
        </p:nvSpPr>
        <p:spPr>
          <a:xfrm>
            <a:off x="3959352" y="4506087"/>
            <a:ext cx="1133856" cy="21221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op_pattern 0</a:t>
            </a:r>
            <a:endParaRPr lang="en-US" sz="700" dirty="0"/>
          </a:p>
        </p:txBody>
      </p:sp>
      <p:sp>
        <p:nvSpPr>
          <p:cNvPr id="20" name="Shape 16"/>
          <p:cNvSpPr/>
          <p:nvPr/>
        </p:nvSpPr>
        <p:spPr>
          <a:xfrm>
            <a:off x="5440680" y="4251960"/>
            <a:ext cx="1280160" cy="502920"/>
          </a:xfrm>
          <a:prstGeom prst="roundRect">
            <a:avLst>
              <a:gd name="adj" fmla="val 10909"/>
            </a:avLst>
          </a:prstGeom>
          <a:solidFill>
            <a:srgbClr val="E3EEFB"/>
          </a:solidFill>
          <a:ln w="12700">
            <a:solidFill>
              <a:srgbClr val="2F6DB5"/>
            </a:solidFill>
            <a:prstDash val="solid"/>
          </a:ln>
        </p:spPr>
      </p:sp>
      <p:sp>
        <p:nvSpPr>
          <p:cNvPr id="21" name="Text 17"/>
          <p:cNvSpPr txBox="1"/>
          <p:nvPr/>
        </p:nvSpPr>
        <p:spPr>
          <a:xfrm>
            <a:off x="5513832" y="4325112"/>
            <a:ext cx="113385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silu</a:t>
            </a:r>
            <a:endParaRPr lang="en-US" sz="950" dirty="0"/>
          </a:p>
        </p:txBody>
      </p:sp>
      <p:sp>
        <p:nvSpPr>
          <p:cNvPr id="22" name="Text 18"/>
          <p:cNvSpPr txBox="1"/>
          <p:nvPr/>
        </p:nvSpPr>
        <p:spPr>
          <a:xfrm>
            <a:off x="5513832" y="4506087"/>
            <a:ext cx="1133856" cy="21221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op_pattern 0 (2 blocks)</a:t>
            </a:r>
            <a:endParaRPr lang="en-US" sz="700" dirty="0"/>
          </a:p>
        </p:txBody>
      </p:sp>
      <p:sp>
        <p:nvSpPr>
          <p:cNvPr id="23" name="Shape 19"/>
          <p:cNvSpPr/>
          <p:nvPr/>
        </p:nvSpPr>
        <p:spPr>
          <a:xfrm>
            <a:off x="7589520" y="4251960"/>
            <a:ext cx="914400" cy="502920"/>
          </a:xfrm>
          <a:prstGeom prst="roundRect">
            <a:avLst>
              <a:gd name="adj" fmla="val 10909"/>
            </a:avLst>
          </a:prstGeom>
          <a:solidFill>
            <a:srgbClr val="E5F3E7"/>
          </a:solidFill>
          <a:ln w="12700">
            <a:solidFill>
              <a:srgbClr val="2E7D32"/>
            </a:solidFill>
            <a:prstDash val="solid"/>
          </a:ln>
        </p:spPr>
      </p:sp>
      <p:sp>
        <p:nvSpPr>
          <p:cNvPr id="24" name="Text 20"/>
          <p:cNvSpPr txBox="1"/>
          <p:nvPr/>
        </p:nvSpPr>
        <p:spPr>
          <a:xfrm>
            <a:off x="7662672" y="4325112"/>
            <a:ext cx="76809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gv</a:t>
            </a:r>
            <a:endParaRPr lang="en-US" sz="950" dirty="0"/>
          </a:p>
        </p:txBody>
      </p:sp>
      <p:sp>
        <p:nvSpPr>
          <p:cNvPr id="25" name="Text 21"/>
          <p:cNvSpPr txBox="1"/>
          <p:nvPr/>
        </p:nvSpPr>
        <p:spPr>
          <a:xfrm>
            <a:off x="7662672" y="4506087"/>
            <a:ext cx="768096" cy="21221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출력</a:t>
            </a:r>
            <a:endParaRPr lang="en-US" sz="700" dirty="0"/>
          </a:p>
        </p:txBody>
      </p:sp>
      <p:sp>
        <p:nvSpPr>
          <p:cNvPr id="26" name="Shape 22"/>
          <p:cNvSpPr/>
          <p:nvPr/>
        </p:nvSpPr>
        <p:spPr>
          <a:xfrm>
            <a:off x="1554480" y="4503420"/>
            <a:ext cx="685800" cy="914"/>
          </a:xfrm>
          <a:prstGeom prst="line">
            <a:avLst/>
          </a:prstGeom>
          <a:noFill/>
          <a:ln w="15240">
            <a:solidFill>
              <a:srgbClr val="5B6B7F"/>
            </a:solidFill>
            <a:prstDash val="solid"/>
            <a:tailEnd type="triangle"/>
          </a:ln>
        </p:spPr>
      </p:sp>
      <p:sp>
        <p:nvSpPr>
          <p:cNvPr id="27" name="Shape 23"/>
          <p:cNvSpPr/>
          <p:nvPr/>
        </p:nvSpPr>
        <p:spPr>
          <a:xfrm>
            <a:off x="3611880" y="4503420"/>
            <a:ext cx="274320" cy="914"/>
          </a:xfrm>
          <a:prstGeom prst="line">
            <a:avLst/>
          </a:prstGeom>
          <a:noFill/>
          <a:ln w="15240">
            <a:solidFill>
              <a:srgbClr val="5B6B7F"/>
            </a:solidFill>
            <a:prstDash val="solid"/>
            <a:tailEnd type="triangle"/>
          </a:ln>
        </p:spPr>
      </p:sp>
      <p:sp>
        <p:nvSpPr>
          <p:cNvPr id="28" name="Text 24"/>
          <p:cNvSpPr txBox="1"/>
          <p:nvPr/>
        </p:nvSpPr>
        <p:spPr>
          <a:xfrm>
            <a:off x="3566160" y="4229100"/>
            <a:ext cx="365760" cy="182880"/>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lv1</a:t>
            </a:r>
            <a:endParaRPr lang="en-US" sz="700" dirty="0"/>
          </a:p>
        </p:txBody>
      </p:sp>
      <p:sp>
        <p:nvSpPr>
          <p:cNvPr id="29" name="Shape 25"/>
          <p:cNvSpPr/>
          <p:nvPr/>
        </p:nvSpPr>
        <p:spPr>
          <a:xfrm>
            <a:off x="5166360" y="4503420"/>
            <a:ext cx="274320" cy="914"/>
          </a:xfrm>
          <a:prstGeom prst="line">
            <a:avLst/>
          </a:prstGeom>
          <a:noFill/>
          <a:ln w="15240">
            <a:solidFill>
              <a:srgbClr val="5B6B7F"/>
            </a:solidFill>
            <a:prstDash val="solid"/>
            <a:tailEnd type="triangle"/>
          </a:ln>
        </p:spPr>
      </p:sp>
      <p:sp>
        <p:nvSpPr>
          <p:cNvPr id="30" name="Text 26"/>
          <p:cNvSpPr txBox="1"/>
          <p:nvPr/>
        </p:nvSpPr>
        <p:spPr>
          <a:xfrm>
            <a:off x="5120640" y="4229100"/>
            <a:ext cx="365760" cy="182880"/>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lv2</a:t>
            </a:r>
            <a:endParaRPr lang="en-US" sz="700" dirty="0"/>
          </a:p>
        </p:txBody>
      </p:sp>
      <p:sp>
        <p:nvSpPr>
          <p:cNvPr id="31" name="Shape 27"/>
          <p:cNvSpPr/>
          <p:nvPr/>
        </p:nvSpPr>
        <p:spPr>
          <a:xfrm>
            <a:off x="6720840" y="4503420"/>
            <a:ext cx="868680" cy="914"/>
          </a:xfrm>
          <a:prstGeom prst="line">
            <a:avLst/>
          </a:prstGeom>
          <a:noFill/>
          <a:ln w="15240">
            <a:solidFill>
              <a:srgbClr val="5B6B7F"/>
            </a:solidFill>
            <a:prstDash val="solid"/>
            <a:tailEnd type="triangle"/>
          </a:ln>
        </p:spPr>
      </p:sp>
      <p:sp>
        <p:nvSpPr>
          <p:cNvPr id="32" name="Text 28"/>
          <p:cNvSpPr txBox="1"/>
          <p:nvPr/>
        </p:nvSpPr>
        <p:spPr>
          <a:xfrm>
            <a:off x="8686800" y="4160520"/>
            <a:ext cx="3017520" cy="822960"/>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4(OutEWiseFusable) → 0 → 0: 출력 뒤 원소별 경로 → 한 영역. transpose(2)는 host 함수(prefill_transform_params)라 device 그래프에 없음. 영역 채택 여부는 다음 슬라이드의 비용 검사가 결정.</a:t>
            </a:r>
            <a:endParaRPr lang="en-US" sz="800" dirty="0"/>
          </a:p>
        </p:txBody>
      </p:sp>
      <p:sp>
        <p:nvSpPr>
          <p:cNvPr id="33" name="Text 29"/>
          <p:cNvSpPr txBox="1"/>
          <p:nvPr/>
        </p:nvSpPr>
        <p:spPr>
          <a:xfrm>
            <a:off x="457200" y="5166360"/>
            <a:ext cx="11274552" cy="685800"/>
          </a:xfrm>
          <a:prstGeom prst="rect">
            <a:avLst/>
          </a:prstGeom>
          <a:noFill/>
          <a:ln/>
        </p:spPr>
        <p:txBody>
          <a:bodyPr wrap="square" lIns="0" tIns="0" rIns="0" bIns="0" rtlCol="0" anchor="t"/>
          <a:lstStyle/>
          <a:p>
            <a:pPr algn="l" marL="152400" indent="-152400">
              <a:spcAft>
                <a:spcPts val="300"/>
              </a:spcAft>
              <a:buSzPct val="100000"/>
              <a:buChar char="•"/>
            </a:pPr>
            <a:r>
              <a:rPr lang="en-US" sz="950" dirty="0">
                <a:solidFill>
                  <a:srgbClr val="1F2D3D"/>
                </a:solidFill>
                <a:latin typeface="Malgun Gothic" pitchFamily="34" charset="0"/>
                <a:ea typeface="Malgun Gothic" pitchFamily="34" charset="-122"/>
                <a:cs typeface="Malgun Gothic" pitchFamily="34" charset="-120"/>
              </a:rPr>
              <a:t>FuseOps/FuseTIR만으로 중간 buffer가 SRAM에 배치되지는 않음 → 뒤의 schedule과 메모리 계획이 필요</a:t>
            </a:r>
            <a:endParaRPr lang="en-US" sz="950" dirty="0"/>
          </a:p>
          <a:p>
            <a:pPr algn="l" marL="152400" indent="-152400">
              <a:spcAft>
                <a:spcPts val="300"/>
              </a:spcAft>
              <a:buSzPct val="100000"/>
              <a:buChar char="•"/>
            </a:pPr>
            <a:r>
              <a:rPr lang="en-US" sz="950" dirty="0">
                <a:solidFill>
                  <a:srgbClr val="1F2D3D"/>
                </a:solidFill>
                <a:latin typeface="Malgun Gothic" pitchFamily="34" charset="0"/>
                <a:ea typeface="Malgun Gothic" pitchFamily="34" charset="-122"/>
                <a:cs typeface="Malgun Gothic" pitchFamily="34" charset="-120"/>
              </a:rPr>
              <a:t>Attention은 Relax pattern이 보일 때 FuseOpsByPattern으로 먼저 그룹을 정하고 LegalizeOps/FuseTIR를 적용. 두 경로는 같은 후보에 공존 가능</a:t>
            </a:r>
            <a:endParaRPr lang="en-US" sz="950" dirty="0"/>
          </a:p>
        </p:txBody>
      </p:sp>
      <p:sp>
        <p:nvSpPr>
          <p:cNvPr id="34" name="Shape 30"/>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35" name="Text 31"/>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장치에서 빠른지, SRAM에 들어가는지는 이 표준 분류만으로 알 수 없습니다. 영역 생성은 TVM, 채택 판단은 NPU 비용 검사입니다.</a:t>
            </a:r>
            <a:endParaRPr lang="en-US" sz="1250" dirty="0"/>
          </a:p>
        </p:txBody>
      </p:sp>
      <p:sp>
        <p:nvSpPr>
          <p:cNvPr id="36" name="Text 32"/>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37" name="Text 33"/>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docs/current/05_fusion.md, TVM 0.19 src/relax/transform/fuse_ops.cc, docs/examples/pipeline/03_unfused_semantic_tir.py</a:t>
            </a:r>
            <a:endParaRPr lang="en-US" sz="850" dirty="0"/>
          </a:p>
        </p:txBody>
      </p:sp>
      <p:sp>
        <p:nvSpPr>
          <p:cNvPr id="38" name="Text 34"/>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25 / 89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5 · Fusion 후보 선택</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FuseOpsByPattern: attention 전체 또는 score chain을 composite로</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패턴은 pattern 언어(is_op/wildcard)로 쓰고, supported 검사 함수가 정적 rank-3 FP16 64배수 조건을 확인합니다. 조건 밖이면 더 작은 score fusion으로 물러납니다.</a:t>
            </a:r>
            <a:endParaRPr lang="en-US" sz="1250" dirty="0"/>
          </a:p>
        </p:txBody>
      </p:sp>
      <p:sp>
        <p:nvSpPr>
          <p:cNvPr id="5" name="Shape 3"/>
          <p:cNvSpPr/>
          <p:nvPr/>
        </p:nvSpPr>
        <p:spPr>
          <a:xfrm>
            <a:off x="457200" y="1371600"/>
            <a:ext cx="6675120" cy="3017520"/>
          </a:xfrm>
          <a:prstGeom prst="roundRect">
            <a:avLst>
              <a:gd name="adj" fmla="val 1515"/>
            </a:avLst>
          </a:prstGeom>
          <a:solidFill>
            <a:srgbClr val="F5F7FA"/>
          </a:solidFill>
          <a:ln w="9525">
            <a:solidFill>
              <a:srgbClr val="C9D3DF"/>
            </a:solidFill>
            <a:prstDash val="solid"/>
          </a:ln>
        </p:spPr>
      </p:sp>
      <p:sp>
        <p:nvSpPr>
          <p:cNvPr id="6" name="Text 4"/>
          <p:cNvSpPr txBox="1"/>
          <p:nvPr/>
        </p:nvSpPr>
        <p:spPr>
          <a:xfrm>
            <a:off x="566928" y="1444752"/>
            <a:ext cx="6455664" cy="287121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def _attention_patterns(tile=64):                       # tvm_pipeline.py</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def supported(context):</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q, k, v = (shape(name) for name in ("q", "k", "v"))   # FP16, rank 3, static</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if int(exprs["softmax"].attrs.axis) not in (-1, 2): return False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h, m, d = q</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return (h &gt; 0 and k[0] == h and v[0] == h and k[1] == d and v[1] == k[2]</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and all(x &gt; 0 and x % tile == 0 for x in (m, d, k[2], v[2])))</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for scaled in (True, False):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scores = is_op("relax.matmul")(q, k)</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if scaled: scores = is_op("relax.multiply")(scores, wildcard())</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masked  = is_op("relax.add")(scores, wildcard())</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softmax = is_op("relax.nn.softmax")(masked)</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output  = is_op("relax.matmul")(softmax, v)</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patterns.append(FusionPattern("npu.attention" if scaled else "npu.attention_unscaled",</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output, {"q": q, "k": k, "v": v, "softmax": softmax}, supported))</a:t>
            </a:r>
            <a:endParaRPr lang="en-US" sz="8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315200" y="1371600"/>
          <a:ext cx="4416552" cy="914400"/>
        </p:xfrm>
        <a:graphic>
          <a:graphicData uri="http://schemas.openxmlformats.org/drawingml/2006/table">
            <a:tbl>
              <a:tblPr/>
              <a:tblGrid>
                <a:gridCol w="1600200"/>
                <a:gridCol w="2816352"/>
              </a:tblGrid>
              <a:tr h="45720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패턴 이름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모양 / 조건</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npu.attention(_unscaled)</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matmul→(mul)→add→softmax→matmul. rank-3 FP16, m·d·t·dv 64배수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npu.masked_softmax(_unscaled)</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softmax(add(mul(scores,scale),mask)). 전체 패턴이 안 될 때의 fallback</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npu.matrix_producer_{concat,repeat,expand_dims}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matmul(x, concat(…)) (+wrapper). decode KV concat 후보</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8" name="Text 5"/>
          <p:cNvSpPr txBox="1"/>
          <p:nvPr/>
        </p:nvSpPr>
        <p:spPr>
          <a:xfrm>
            <a:off x="7315200" y="3291840"/>
            <a:ext cx="4416552" cy="1188720"/>
          </a:xfrm>
          <a:prstGeom prst="rect">
            <a:avLst/>
          </a:prstGeom>
          <a:noFill/>
          <a:ln/>
        </p:spPr>
        <p:txBody>
          <a:bodyPr wrap="square" lIns="0" tIns="0" rIns="0" bIns="0" rtlCol="0" anchor="t"/>
          <a:lstStyle/>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시도 순서: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전체 attention 패턴을 먼저, 안 되면 score chain 패턴</a:t>
            </a:r>
            <a:endParaRPr lang="en-US" sz="950" dirty="0"/>
          </a:p>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decode (m=1):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64배수 조건 불만족 → full 패턴 대상 아님</a:t>
            </a:r>
            <a:endParaRPr lang="en-US" sz="950" dirty="0"/>
          </a:p>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옵션: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fuse_attention ∈ {False, "score", "full"}</a:t>
            </a:r>
            <a:endParaRPr lang="en-US" sz="950" dirty="0"/>
          </a:p>
        </p:txBody>
      </p:sp>
      <p:sp>
        <p:nvSpPr>
          <p:cNvPr id="9" name="Shape 6"/>
          <p:cNvSpPr/>
          <p:nvPr/>
        </p:nvSpPr>
        <p:spPr>
          <a:xfrm>
            <a:off x="457200" y="4572000"/>
            <a:ext cx="11274552" cy="1188720"/>
          </a:xfrm>
          <a:prstGeom prst="roundRect">
            <a:avLst>
              <a:gd name="adj" fmla="val 4615"/>
            </a:avLst>
          </a:prstGeom>
          <a:solidFill>
            <a:srgbClr val="EEF2F6"/>
          </a:solidFill>
          <a:ln w="12700">
            <a:solidFill>
              <a:srgbClr val="C9D3DF"/>
            </a:solidFill>
            <a:prstDash val="solid"/>
          </a:ln>
        </p:spPr>
      </p:sp>
      <p:sp>
        <p:nvSpPr>
          <p:cNvPr id="10" name="Text 7"/>
          <p:cNvSpPr txBox="1"/>
          <p:nvPr/>
        </p:nvSpPr>
        <p:spPr>
          <a:xfrm>
            <a:off x="585216" y="4626864"/>
            <a:ext cx="11018520" cy="107899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왜 score chain만이라도 묶는가 (코드 주석의 설계 근거): </a:t>
            </a:r>
            <a:pPr algn="l" indent="0" marL="0">
              <a:buNone/>
            </a:pPr>
            <a:r>
              <a:rPr lang="en-US" sz="1000" dirty="0">
                <a:solidFill>
                  <a:srgbClr val="1F2D3D"/>
                </a:solidFill>
                <a:latin typeface="Malgun Gothic" pitchFamily="34" charset="0"/>
                <a:ea typeface="Malgun Gothic" pitchFamily="34" charset="-122"/>
                <a:cs typeface="Malgun Gothic" pitchFamily="34" charset="-120"/>
              </a:rPr>
              <a:t>scale·mask·softmax를 분리하면 [heads, seq, seq] score tensor를 op마다 한 번씩 훑습니다. 전체를 묶고 query 행으로 block하면 score matrix가 SRAM을 떠나지 않습니다. 코드 주석의 seq 2048 관측(layer당 3.7 GB 중 1.6 GB, attention 1,057 MB → 235 MB)은 과거 설계 근거이며 이번 실험 표의 수치가 아닙니다.</a:t>
            </a:r>
            <a:endParaRPr lang="en-US" sz="1200" dirty="0"/>
          </a:p>
        </p:txBody>
      </p:sp>
      <p:sp>
        <p:nvSpPr>
          <p:cNvPr id="11" name="Shape 8"/>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2" name="Text 9"/>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구현된 후보와 실제 선택된 후보는 별개입니다. 전체 Llama 검증 기록에서는 시간 한도 내에 unfused 기준 module이 선택되었습니다.</a:t>
            </a:r>
            <a:endParaRPr lang="en-US" sz="1250" dirty="0"/>
          </a:p>
        </p:txBody>
      </p:sp>
      <p:sp>
        <p:nvSpPr>
          <p:cNvPr id="13" name="Text 10"/>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4" name="Text 11"/>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npu_compiler/tvm_pipeline.py (_attention_patterns, _masked_softmax_patterns, _matrix_producer_patterns)</a:t>
            </a:r>
            <a:endParaRPr lang="en-US" sz="850" dirty="0"/>
          </a:p>
        </p:txBody>
      </p:sp>
      <p:sp>
        <p:nvSpPr>
          <p:cNvPr id="15" name="Text 12"/>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26 / 89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5 · Fusion 후보 선택</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npu_fusion.select: 영역 하나를 실제 codegen 비용으로 검사한다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TVM이 만든 FuseOps 영역마다 unfused(기준)와 fused를 schedule·메모리·명령 생성까지 내려 비교하고, 진 영역은 inline_functions로 다시 펼칩니다.</a:t>
            </a:r>
            <a:endParaRPr lang="en-US" sz="1250" dirty="0"/>
          </a:p>
        </p:txBody>
      </p:sp>
      <p:sp>
        <p:nvSpPr>
          <p:cNvPr id="5" name="Shape 3"/>
          <p:cNvSpPr/>
          <p:nvPr/>
        </p:nvSpPr>
        <p:spPr>
          <a:xfrm>
            <a:off x="457200" y="1463040"/>
            <a:ext cx="2108606" cy="868680"/>
          </a:xfrm>
          <a:prstGeom prst="roundRect">
            <a:avLst>
              <a:gd name="adj" fmla="val 6316"/>
            </a:avLst>
          </a:prstGeom>
          <a:solidFill>
            <a:srgbClr val="FBE9E7"/>
          </a:solidFill>
          <a:ln w="12700">
            <a:solidFill>
              <a:srgbClr val="C0392B"/>
            </a:solidFill>
            <a:prstDash val="solid"/>
          </a:ln>
        </p:spPr>
      </p:sp>
      <p:sp>
        <p:nvSpPr>
          <p:cNvPr id="6" name="Text 4"/>
          <p:cNvSpPr txBox="1"/>
          <p:nvPr/>
        </p:nvSpPr>
        <p:spPr>
          <a:xfrm>
            <a:off x="530352" y="1536192"/>
            <a:ext cx="1962302"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경계 표시</a:t>
            </a:r>
            <a:endParaRPr lang="en-US" sz="1050" dirty="0"/>
          </a:p>
        </p:txBody>
      </p:sp>
      <p:sp>
        <p:nvSpPr>
          <p:cNvPr id="7" name="Text 5"/>
          <p:cNvSpPr txBox="1"/>
          <p:nvPr/>
        </p:nvSpPr>
        <p:spPr>
          <a:xfrm>
            <a:off x="530352" y="1736217"/>
            <a:ext cx="1962302" cy="5589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W8A8 · multi-matmul PrimFunc</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 op_pattern 8 (kOpaque)</a:t>
            </a:r>
            <a:endParaRPr lang="en-US" sz="800" dirty="0"/>
          </a:p>
        </p:txBody>
      </p:sp>
      <p:sp>
        <p:nvSpPr>
          <p:cNvPr id="8" name="Shape 6"/>
          <p:cNvSpPr/>
          <p:nvPr/>
        </p:nvSpPr>
        <p:spPr>
          <a:xfrm>
            <a:off x="2584094" y="1892808"/>
            <a:ext cx="146304" cy="914"/>
          </a:xfrm>
          <a:prstGeom prst="line">
            <a:avLst/>
          </a:prstGeom>
          <a:noFill/>
          <a:ln w="15240">
            <a:solidFill>
              <a:srgbClr val="5B6B7F"/>
            </a:solidFill>
            <a:prstDash val="solid"/>
            <a:tailEnd type="triangle"/>
          </a:ln>
        </p:spPr>
      </p:sp>
      <p:sp>
        <p:nvSpPr>
          <p:cNvPr id="9" name="Shape 7"/>
          <p:cNvSpPr/>
          <p:nvPr/>
        </p:nvSpPr>
        <p:spPr>
          <a:xfrm>
            <a:off x="2748686" y="1463040"/>
            <a:ext cx="2108606" cy="868680"/>
          </a:xfrm>
          <a:prstGeom prst="roundRect">
            <a:avLst>
              <a:gd name="adj" fmla="val 6316"/>
            </a:avLst>
          </a:prstGeom>
          <a:solidFill>
            <a:srgbClr val="E3EEFB"/>
          </a:solidFill>
          <a:ln w="12700">
            <a:solidFill>
              <a:srgbClr val="2F6DB5"/>
            </a:solidFill>
            <a:prstDash val="solid"/>
          </a:ln>
        </p:spPr>
      </p:sp>
      <p:sp>
        <p:nvSpPr>
          <p:cNvPr id="10" name="Text 8"/>
          <p:cNvSpPr txBox="1"/>
          <p:nvPr/>
        </p:nvSpPr>
        <p:spPr>
          <a:xfrm>
            <a:off x="2821838" y="1536192"/>
            <a:ext cx="1962302"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FuseOps → FuseTIR</a:t>
            </a:r>
            <a:endParaRPr lang="en-US" sz="1050" dirty="0"/>
          </a:p>
        </p:txBody>
      </p:sp>
      <p:sp>
        <p:nvSpPr>
          <p:cNvPr id="11" name="Text 9"/>
          <p:cNvSpPr txBox="1"/>
          <p:nvPr/>
        </p:nvSpPr>
        <p:spPr>
          <a:xfrm>
            <a:off x="2821838" y="1736217"/>
            <a:ext cx="1962302" cy="5589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outlined (영역 함수)</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fused (결합 PrimFunc)</a:t>
            </a:r>
            <a:endParaRPr lang="en-US" sz="800" dirty="0"/>
          </a:p>
        </p:txBody>
      </p:sp>
      <p:sp>
        <p:nvSpPr>
          <p:cNvPr id="12" name="Shape 10"/>
          <p:cNvSpPr/>
          <p:nvPr/>
        </p:nvSpPr>
        <p:spPr>
          <a:xfrm>
            <a:off x="4875581" y="1892808"/>
            <a:ext cx="146304" cy="914"/>
          </a:xfrm>
          <a:prstGeom prst="line">
            <a:avLst/>
          </a:prstGeom>
          <a:noFill/>
          <a:ln w="15240">
            <a:solidFill>
              <a:srgbClr val="5B6B7F"/>
            </a:solidFill>
            <a:prstDash val="solid"/>
            <a:tailEnd type="triangle"/>
          </a:ln>
        </p:spPr>
      </p:sp>
      <p:sp>
        <p:nvSpPr>
          <p:cNvPr id="13" name="Shape 11"/>
          <p:cNvSpPr/>
          <p:nvPr/>
        </p:nvSpPr>
        <p:spPr>
          <a:xfrm>
            <a:off x="5040173" y="1463040"/>
            <a:ext cx="2108606" cy="868680"/>
          </a:xfrm>
          <a:prstGeom prst="roundRect">
            <a:avLst>
              <a:gd name="adj" fmla="val 6316"/>
            </a:avLst>
          </a:prstGeom>
          <a:solidFill>
            <a:srgbClr val="DDF3F0"/>
          </a:solidFill>
          <a:ln w="12700">
            <a:solidFill>
              <a:srgbClr val="1F8A8A"/>
            </a:solidFill>
            <a:prstDash val="solid"/>
          </a:ln>
        </p:spPr>
      </p:sp>
      <p:sp>
        <p:nvSpPr>
          <p:cNvPr id="14" name="Text 12"/>
          <p:cNvSpPr txBox="1"/>
          <p:nvPr/>
        </p:nvSpPr>
        <p:spPr>
          <a:xfrm>
            <a:off x="5113325" y="1536192"/>
            <a:ext cx="1962302"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영역별 probe</a:t>
            </a:r>
            <a:endParaRPr lang="en-US" sz="1050" dirty="0"/>
          </a:p>
        </p:txBody>
      </p:sp>
      <p:sp>
        <p:nvSpPr>
          <p:cNvPr id="15" name="Text 13"/>
          <p:cNvSpPr txBox="1"/>
          <p:nvPr/>
        </p:nvSpPr>
        <p:spPr>
          <a:xfrm>
            <a:off x="5113325" y="1736217"/>
            <a:ext cx="1962302" cy="5589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unfused 기준 vs fused wrapper</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각각 compile_program → analyze</a:t>
            </a:r>
            <a:endParaRPr lang="en-US" sz="800" dirty="0"/>
          </a:p>
        </p:txBody>
      </p:sp>
      <p:sp>
        <p:nvSpPr>
          <p:cNvPr id="16" name="Shape 14"/>
          <p:cNvSpPr/>
          <p:nvPr/>
        </p:nvSpPr>
        <p:spPr>
          <a:xfrm>
            <a:off x="7167067" y="1892808"/>
            <a:ext cx="146304" cy="914"/>
          </a:xfrm>
          <a:prstGeom prst="line">
            <a:avLst/>
          </a:prstGeom>
          <a:noFill/>
          <a:ln w="15240">
            <a:solidFill>
              <a:srgbClr val="5B6B7F"/>
            </a:solidFill>
            <a:prstDash val="solid"/>
            <a:tailEnd type="triangle"/>
          </a:ln>
        </p:spPr>
      </p:sp>
      <p:sp>
        <p:nvSpPr>
          <p:cNvPr id="17" name="Shape 15"/>
          <p:cNvSpPr/>
          <p:nvPr/>
        </p:nvSpPr>
        <p:spPr>
          <a:xfrm>
            <a:off x="7331659" y="1463040"/>
            <a:ext cx="2108606" cy="868680"/>
          </a:xfrm>
          <a:prstGeom prst="roundRect">
            <a:avLst>
              <a:gd name="adj" fmla="val 6316"/>
            </a:avLst>
          </a:prstGeom>
          <a:solidFill>
            <a:srgbClr val="FFF6DB"/>
          </a:solidFill>
          <a:ln w="12700">
            <a:solidFill>
              <a:srgbClr val="B7791F"/>
            </a:solidFill>
            <a:prstDash val="solid"/>
          </a:ln>
        </p:spPr>
      </p:sp>
      <p:sp>
        <p:nvSpPr>
          <p:cNvPr id="18" name="Text 16"/>
          <p:cNvSpPr txBox="1"/>
          <p:nvPr/>
        </p:nvSpPr>
        <p:spPr>
          <a:xfrm>
            <a:off x="7404811" y="1536192"/>
            <a:ext cx="1962302"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비교 · 거절</a:t>
            </a:r>
            <a:endParaRPr lang="en-US" sz="1050" dirty="0"/>
          </a:p>
        </p:txBody>
      </p:sp>
      <p:sp>
        <p:nvSpPr>
          <p:cNvPr id="19" name="Text 17"/>
          <p:cNvSpPr txBox="1"/>
          <p:nvPr/>
        </p:nvSpPr>
        <p:spPr>
          <a:xfrm>
            <a:off x="7404811" y="1736217"/>
            <a:ext cx="1962302" cy="5589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cost(fused) &lt; cost(unfused)?</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아니면 rejected에 추가</a:t>
            </a:r>
            <a:endParaRPr lang="en-US" sz="800" dirty="0"/>
          </a:p>
        </p:txBody>
      </p:sp>
      <p:sp>
        <p:nvSpPr>
          <p:cNvPr id="20" name="Shape 18"/>
          <p:cNvSpPr/>
          <p:nvPr/>
        </p:nvSpPr>
        <p:spPr>
          <a:xfrm>
            <a:off x="9458554" y="1892808"/>
            <a:ext cx="146304" cy="914"/>
          </a:xfrm>
          <a:prstGeom prst="line">
            <a:avLst/>
          </a:prstGeom>
          <a:noFill/>
          <a:ln w="15240">
            <a:solidFill>
              <a:srgbClr val="5B6B7F"/>
            </a:solidFill>
            <a:prstDash val="solid"/>
            <a:tailEnd type="triangle"/>
          </a:ln>
        </p:spPr>
      </p:sp>
      <p:sp>
        <p:nvSpPr>
          <p:cNvPr id="21" name="Shape 19"/>
          <p:cNvSpPr/>
          <p:nvPr/>
        </p:nvSpPr>
        <p:spPr>
          <a:xfrm>
            <a:off x="9623146" y="1463040"/>
            <a:ext cx="2108606" cy="868680"/>
          </a:xfrm>
          <a:prstGeom prst="roundRect">
            <a:avLst>
              <a:gd name="adj" fmla="val 6316"/>
            </a:avLst>
          </a:prstGeom>
          <a:solidFill>
            <a:srgbClr val="E3EEFB"/>
          </a:solidFill>
          <a:ln w="12700">
            <a:solidFill>
              <a:srgbClr val="2F6DB5"/>
            </a:solidFill>
            <a:prstDash val="solid"/>
          </a:ln>
        </p:spPr>
      </p:sp>
      <p:sp>
        <p:nvSpPr>
          <p:cNvPr id="22" name="Text 20"/>
          <p:cNvSpPr txBox="1"/>
          <p:nvPr/>
        </p:nvSpPr>
        <p:spPr>
          <a:xfrm>
            <a:off x="9696298" y="1536192"/>
            <a:ext cx="1962302"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inline · 정리</a:t>
            </a:r>
            <a:endParaRPr lang="en-US" sz="1050" dirty="0"/>
          </a:p>
        </p:txBody>
      </p:sp>
      <p:sp>
        <p:nvSpPr>
          <p:cNvPr id="23" name="Text 21"/>
          <p:cNvSpPr txBox="1"/>
          <p:nvPr/>
        </p:nvSpPr>
        <p:spPr>
          <a:xfrm>
            <a:off x="9696298" y="1736217"/>
            <a:ext cx="1962302" cy="5589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fn.inline_functions(rejected)</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 FuseTIR → DCE</a:t>
            </a:r>
            <a:endParaRPr lang="en-US" sz="800" dirty="0"/>
          </a:p>
        </p:txBody>
      </p:sp>
      <p:sp>
        <p:nvSpPr>
          <p:cNvPr id="24" name="Shape 22"/>
          <p:cNvSpPr/>
          <p:nvPr/>
        </p:nvSpPr>
        <p:spPr>
          <a:xfrm>
            <a:off x="457200" y="2606040"/>
            <a:ext cx="6035040" cy="2468880"/>
          </a:xfrm>
          <a:prstGeom prst="roundRect">
            <a:avLst>
              <a:gd name="adj" fmla="val 1852"/>
            </a:avLst>
          </a:prstGeom>
          <a:solidFill>
            <a:srgbClr val="F5F7FA"/>
          </a:solidFill>
          <a:ln w="9525">
            <a:solidFill>
              <a:srgbClr val="C9D3DF"/>
            </a:solidFill>
            <a:prstDash val="solid"/>
          </a:ln>
        </p:spPr>
      </p:sp>
      <p:sp>
        <p:nvSpPr>
          <p:cNvPr id="25" name="Text 23"/>
          <p:cNvSpPr txBox="1"/>
          <p:nvPr/>
        </p:nvSpPr>
        <p:spPr>
          <a:xfrm>
            <a:off x="566928" y="2679192"/>
            <a:ext cx="5815584" cy="232257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def _probe(module, function, profile):          # 영역 하나를 프로그램으로</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mod["__npu_fusion_probe"] = function.without_attr("Primitive")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asm, plan = npu_link.compile_program(mod, "__npu_fusion_probe", ...)</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return analyze(asm.words, plan, detail=False)   # DMA/words/SRAM</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reference = _probe(outlined, fn, profile)         # unfused: 필수 기준</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candidate = _probe(fused, _wrapper(gv, fn), profile)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selected  = cost(candidate) &lt; cost(reference)      # (dma, words, sram) 사전식</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if not selected: rejected[gv] = fn</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outlined[gv] = fn.inline_functions(rejected)   # 진 영역만 펼침</a:t>
            </a:r>
            <a:endParaRPr lang="en-US" sz="850" dirty="0"/>
          </a:p>
        </p:txBody>
      </p:sp>
      <p:sp>
        <p:nvSpPr>
          <p:cNvPr id="26" name="Text 24"/>
          <p:cNvSpPr txBox="1"/>
          <p:nvPr/>
        </p:nvSpPr>
        <p:spPr>
          <a:xfrm>
            <a:off x="6675120" y="2606040"/>
            <a:ext cx="502920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작은 예제의 실제 기록 (program.json → fusion.regions)</a:t>
            </a:r>
            <a:endParaRPr lang="en-US" sz="10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75120" y="2880360"/>
          <a:ext cx="5056632" cy="914400"/>
        </p:xfrm>
        <a:graphic>
          <a:graphicData uri="http://schemas.openxmlformats.org/drawingml/2006/table">
            <a:tbl>
              <a:tblPr/>
              <a:tblGrid>
                <a:gridCol w="1325880"/>
                <a:gridCol w="1463040"/>
                <a:gridCol w="2267712"/>
              </a:tblGrid>
              <a:tr h="292608">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항목</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unfused</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fused</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region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fused_matmul_add_silu</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dma_bytes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41,100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41,100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words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2,812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1,577</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sram_peak_bytes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50,700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42,508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status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selected ("lexicographic DMA bytes, words, SRAM peak")</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28" name="Text 25"/>
          <p:cNvSpPr txBox="1"/>
          <p:nvPr/>
        </p:nvSpPr>
        <p:spPr>
          <a:xfrm>
            <a:off x="6675120" y="4663440"/>
            <a:ext cx="5056632" cy="457200"/>
          </a:xfrm>
          <a:prstGeom prst="rect">
            <a:avLst/>
          </a:prstGeom>
          <a:noFill/>
          <a:ln/>
        </p:spPr>
        <p:txBody>
          <a:bodyPr wrap="square" lIns="0" tIns="0" rIns="0" bIns="0" rtlCol="0" anchor="t"/>
          <a:lstStyle/>
          <a:p>
            <a:pPr algn="l" marL="152400" indent="-152400">
              <a:spcAft>
                <a:spcPts val="600"/>
              </a:spcAft>
              <a:buSzPct val="100000"/>
              <a:buChar char="•"/>
            </a:pPr>
            <a:r>
              <a:rPr lang="en-US" sz="950" dirty="0">
                <a:solidFill>
                  <a:srgbClr val="1F2D3D"/>
                </a:solidFill>
                <a:latin typeface="Malgun Gothic" pitchFamily="34" charset="0"/>
                <a:ea typeface="Malgun Gothic" pitchFamily="34" charset="-122"/>
                <a:cs typeface="Malgun Gothic" pitchFamily="34" charset="-120"/>
              </a:rPr>
              <a:t>unfused probe 실패 = unsupported 입력 또는 compiler 오류 → 오류를 숨기지 않음</a:t>
            </a:r>
            <a:endParaRPr lang="en-US" sz="950" dirty="0"/>
          </a:p>
        </p:txBody>
      </p:sp>
      <p:sp>
        <p:nvSpPr>
          <p:cNvPr id="29" name="Shape 26"/>
          <p:cNvSpPr/>
          <p:nvPr/>
        </p:nvSpPr>
        <p:spPr>
          <a:xfrm>
            <a:off x="457200" y="5212080"/>
            <a:ext cx="11274552" cy="594360"/>
          </a:xfrm>
          <a:prstGeom prst="roundRect">
            <a:avLst>
              <a:gd name="adj" fmla="val 9231"/>
            </a:avLst>
          </a:prstGeom>
          <a:solidFill>
            <a:srgbClr val="EEF2F6"/>
          </a:solidFill>
          <a:ln w="12700">
            <a:solidFill>
              <a:srgbClr val="C9D3DF"/>
            </a:solidFill>
            <a:prstDash val="solid"/>
          </a:ln>
        </p:spPr>
      </p:sp>
      <p:sp>
        <p:nvSpPr>
          <p:cNvPr id="30" name="Text 27"/>
          <p:cNvSpPr txBox="1"/>
          <p:nvPr/>
        </p:nvSpPr>
        <p:spPr>
          <a:xfrm>
            <a:off x="585216" y="5266944"/>
            <a:ext cx="11018520" cy="48463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부분 검사의 한계: </a:t>
            </a:r>
            <a:pPr algn="l" indent="0" marL="0">
              <a:buNone/>
            </a:pPr>
            <a:r>
              <a:rPr lang="en-US" sz="1000" dirty="0">
                <a:solidFill>
                  <a:srgbClr val="1F2D3D"/>
                </a:solidFill>
                <a:latin typeface="Malgun Gothic" pitchFamily="34" charset="0"/>
                <a:ea typeface="Malgun Gothic" pitchFamily="34" charset="-122"/>
                <a:cs typeface="Malgun Gothic" pitchFamily="34" charset="-120"/>
              </a:rPr>
              <a:t>한 영역의 fused/unfused만 봅니다. 주변 그래프의 모든 수명·다른 선택과의 조합은 모릅니다. 그래서 다음 슬라이드의 전체 module 비교가 따로 필요하고, 버린 영역을 모든 조합과 함께 재탐색하는 완전 탐색은 하지 않습니다.</a:t>
            </a:r>
            <a:endParaRPr lang="en-US" sz="1200" dirty="0"/>
          </a:p>
        </p:txBody>
      </p:sp>
      <p:sp>
        <p:nvSpPr>
          <p:cNvPr id="31" name="Text 28"/>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32" name="Text 29"/>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npu_compiler/npu_fusion.py select(), _probe(), docs/examples/pipeline/bundle/program.json fusion.regions</a:t>
            </a:r>
            <a:endParaRPr lang="en-US" sz="850" dirty="0"/>
          </a:p>
        </p:txBody>
      </p:sp>
      <p:sp>
        <p:nvSpPr>
          <p:cNvPr id="33" name="Text 30"/>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27 / 89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5 · Fusion 후보 선택</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1700" b="1" dirty="0">
                <a:solidFill>
                  <a:srgbClr val="15243B"/>
                </a:solidFill>
                <a:latin typeface="Malgun Gothic" pitchFamily="34" charset="0"/>
                <a:ea typeface="Malgun Gothic" pitchFamily="34" charset="-122"/>
                <a:cs typeface="Malgun Gothic" pitchFamily="34" charset="-120"/>
              </a:rPr>
              <a:t>npu_build.lower_and_select: 같은 IR인 source를 먼저 제거하고, 전체 entry의 비용으로 module 하나를 고른다</a:t>
            </a:r>
            <a:endParaRPr lang="en-US" sz="17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최대 27개 조합 중 structural_equal인 source는 generic fusion 검사 전에 버립니다 (E10 prefill: source 9 → 3, 후보 9). 남은 후보는 entry마다 컴파일한 (DMA, words, SRAM)을 사전식으로 비교하며, 첫 합법 module 뒤 추가 탐색은 기본 120초, None이면 제한 없음입니다.</a:t>
            </a:r>
            <a:endParaRPr lang="en-US" sz="1250" dirty="0"/>
          </a:p>
        </p:txBody>
      </p:sp>
      <p:sp>
        <p:nvSpPr>
          <p:cNvPr id="5" name="Shape 3"/>
          <p:cNvSpPr/>
          <p:nvPr/>
        </p:nvSpPr>
        <p:spPr>
          <a:xfrm>
            <a:off x="457200" y="1371600"/>
            <a:ext cx="6309360" cy="3566160"/>
          </a:xfrm>
          <a:prstGeom prst="roundRect">
            <a:avLst>
              <a:gd name="adj" fmla="val 1282"/>
            </a:avLst>
          </a:prstGeom>
          <a:solidFill>
            <a:srgbClr val="F5F7FA"/>
          </a:solidFill>
          <a:ln w="9525">
            <a:solidFill>
              <a:srgbClr val="C9D3DF"/>
            </a:solidFill>
            <a:prstDash val="solid"/>
          </a:ln>
        </p:spPr>
      </p:sp>
      <p:sp>
        <p:nvSpPr>
          <p:cNvPr id="6" name="Text 4"/>
          <p:cNvSpPr txBox="1"/>
          <p:nvPr/>
        </p:nvSpPr>
        <p:spPr>
          <a:xfrm>
            <a:off x="566928" y="1444752"/>
            <a:ext cx="6089904" cy="341985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for attention in (False, "score", "full"):                     # 3</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for gqa, producers in ((F,F), (T,F), (T,T)):                 # × 3</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source = lower(attention, gqa, producers)                  # graph_pipeline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if any(structural_equal(source, old) for old in sources): continue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for generic in (False, "vectors", "matmul"):               # × 3 = 27</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candidate, regions = select(source, ...) if generic else (source, None)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if duplicate(candidate): continue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programs, stats, regressing = compile_all(candidate, best_costs)</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costs = {entry: cost(stats[entry]) for entry in entries}</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selected = regressing is None and (best_costs is None or</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(all(costs[e] &lt;= best_costs[e] for e in entries)</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and any(costs[e] &lt;  best_costs[e] for e in entries)))</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if selected: winner, best_costs = candidate, costs; arm_budget()</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E10 (prefill_cache, S=256): source 9 → 3 (GQA/producer 변환이 같은 IR) → 후보 9</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compile_all: 완료된 entry가 incumbent보다 나쁘면 즉시 중단 (noncompetitive)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cost(stats) = (dma_bytes, words, sram_peak_bytes)   # v09_stats.cost</a:t>
            </a:r>
            <a:endParaRPr lang="en-US" sz="8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949440" y="1371600"/>
          <a:ext cx="4782312" cy="914400"/>
        </p:xfrm>
        <a:graphic>
          <a:graphicData uri="http://schemas.openxmlformats.org/drawingml/2006/table">
            <a:tbl>
              <a:tblPr/>
              <a:tblGrid>
                <a:gridCol w="1371600"/>
                <a:gridCol w="3410712"/>
              </a:tblGrid>
              <a:tr h="310896">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후보 기록 status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의미</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legal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모든 entry 컴파일 완료, 비용 기록 (Pareto 후보)</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noncompetitive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한 entry가 이미 더 나쁨 → 나머지 entry 생략</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unsupported</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LinkError / V09TirError (지원 밖 schedule 등)</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duplicate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동일 IR 후보 (structural_equal). source 중복은 기록 없이 건너뜀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budget_exhausted</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추가 탐색 예산 초과 (기본 120 s, None이면 발생하지 않음)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8" name="Text 5"/>
          <p:cNvSpPr txBox="1"/>
          <p:nvPr/>
        </p:nvSpPr>
        <p:spPr>
          <a:xfrm>
            <a:off x="6949440" y="3310128"/>
            <a:ext cx="4782312" cy="219456"/>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27 조합 격자 — 회색 18칸 = 같은 IR인 source (E10 prefill)</a:t>
            </a:r>
            <a:endParaRPr lang="en-US" sz="850" dirty="0"/>
          </a:p>
        </p:txBody>
      </p:sp>
      <p:sp>
        <p:nvSpPr>
          <p:cNvPr id="9" name="Shape 6"/>
          <p:cNvSpPr/>
          <p:nvPr/>
        </p:nvSpPr>
        <p:spPr>
          <a:xfrm>
            <a:off x="7818120" y="3703320"/>
            <a:ext cx="3913632" cy="1097280"/>
          </a:xfrm>
          <a:prstGeom prst="rect">
            <a:avLst/>
          </a:prstGeom>
          <a:solidFill>
            <a:srgbClr val="E3EEFB"/>
          </a:solidFill>
          <a:ln w="12700">
            <a:solidFill>
              <a:srgbClr val="2F6DB5"/>
            </a:solidFill>
            <a:prstDash val="solid"/>
          </a:ln>
        </p:spPr>
      </p:sp>
      <p:sp>
        <p:nvSpPr>
          <p:cNvPr id="10" name="Shape 7"/>
          <p:cNvSpPr/>
          <p:nvPr/>
        </p:nvSpPr>
        <p:spPr>
          <a:xfrm>
            <a:off x="9122664" y="3703320"/>
            <a:ext cx="2609088" cy="1097280"/>
          </a:xfrm>
          <a:prstGeom prst="rect">
            <a:avLst/>
          </a:prstGeom>
          <a:solidFill>
            <a:srgbClr val="F3F5F8"/>
          </a:solidFill>
          <a:ln w="15875">
            <a:solidFill>
              <a:srgbClr val="C9D3DF"/>
            </a:solidFill>
            <a:prstDash val="dash"/>
          </a:ln>
        </p:spPr>
      </p:sp>
      <p:sp>
        <p:nvSpPr>
          <p:cNvPr id="11" name="Shape 8"/>
          <p:cNvSpPr/>
          <p:nvPr/>
        </p:nvSpPr>
        <p:spPr>
          <a:xfrm>
            <a:off x="7818120" y="3703320"/>
            <a:ext cx="434848" cy="365760"/>
          </a:xfrm>
          <a:prstGeom prst="rect">
            <a:avLst/>
          </a:prstGeom>
          <a:solidFill>
            <a:srgbClr val="E5F3E7"/>
          </a:solidFill>
          <a:ln w="15875">
            <a:solidFill>
              <a:srgbClr val="2E7D32"/>
            </a:solidFill>
            <a:prstDash val="solid"/>
          </a:ln>
        </p:spPr>
      </p:sp>
      <p:sp>
        <p:nvSpPr>
          <p:cNvPr id="12" name="Shape 9"/>
          <p:cNvSpPr/>
          <p:nvPr/>
        </p:nvSpPr>
        <p:spPr>
          <a:xfrm>
            <a:off x="8252968" y="3703320"/>
            <a:ext cx="434848" cy="365760"/>
          </a:xfrm>
          <a:prstGeom prst="rect">
            <a:avLst/>
          </a:prstGeom>
          <a:solidFill>
            <a:srgbClr val="FFF6DB"/>
          </a:solidFill>
          <a:ln w="15875">
            <a:solidFill>
              <a:srgbClr val="B7791F"/>
            </a:solidFill>
            <a:prstDash val="solid"/>
          </a:ln>
        </p:spPr>
      </p:sp>
      <p:sp>
        <p:nvSpPr>
          <p:cNvPr id="13" name="Shape 10"/>
          <p:cNvSpPr/>
          <p:nvPr/>
        </p:nvSpPr>
        <p:spPr>
          <a:xfrm>
            <a:off x="8252968" y="3703320"/>
            <a:ext cx="914" cy="1097280"/>
          </a:xfrm>
          <a:prstGeom prst="line">
            <a:avLst/>
          </a:prstGeom>
          <a:noFill/>
          <a:ln w="5080">
            <a:solidFill>
              <a:srgbClr val="D5DCE5"/>
            </a:solidFill>
            <a:prstDash val="solid"/>
          </a:ln>
        </p:spPr>
      </p:sp>
      <p:sp>
        <p:nvSpPr>
          <p:cNvPr id="14" name="Shape 11"/>
          <p:cNvSpPr/>
          <p:nvPr/>
        </p:nvSpPr>
        <p:spPr>
          <a:xfrm>
            <a:off x="8687816" y="3703320"/>
            <a:ext cx="914" cy="1097280"/>
          </a:xfrm>
          <a:prstGeom prst="line">
            <a:avLst/>
          </a:prstGeom>
          <a:noFill/>
          <a:ln w="5080">
            <a:solidFill>
              <a:srgbClr val="D5DCE5"/>
            </a:solidFill>
            <a:prstDash val="solid"/>
          </a:ln>
        </p:spPr>
      </p:sp>
      <p:sp>
        <p:nvSpPr>
          <p:cNvPr id="15" name="Shape 12"/>
          <p:cNvSpPr/>
          <p:nvPr/>
        </p:nvSpPr>
        <p:spPr>
          <a:xfrm>
            <a:off x="9122664" y="3703320"/>
            <a:ext cx="914" cy="1097280"/>
          </a:xfrm>
          <a:prstGeom prst="line">
            <a:avLst/>
          </a:prstGeom>
          <a:noFill/>
          <a:ln w="12700">
            <a:solidFill>
              <a:srgbClr val="2F6DB5"/>
            </a:solidFill>
            <a:prstDash val="solid"/>
          </a:ln>
        </p:spPr>
      </p:sp>
      <p:sp>
        <p:nvSpPr>
          <p:cNvPr id="16" name="Shape 13"/>
          <p:cNvSpPr/>
          <p:nvPr/>
        </p:nvSpPr>
        <p:spPr>
          <a:xfrm>
            <a:off x="9557512" y="3703320"/>
            <a:ext cx="914" cy="1097280"/>
          </a:xfrm>
          <a:prstGeom prst="line">
            <a:avLst/>
          </a:prstGeom>
          <a:noFill/>
          <a:ln w="5080">
            <a:solidFill>
              <a:srgbClr val="D5DCE5"/>
            </a:solidFill>
            <a:prstDash val="solid"/>
          </a:ln>
        </p:spPr>
      </p:sp>
      <p:sp>
        <p:nvSpPr>
          <p:cNvPr id="17" name="Shape 14"/>
          <p:cNvSpPr/>
          <p:nvPr/>
        </p:nvSpPr>
        <p:spPr>
          <a:xfrm>
            <a:off x="9992360" y="3703320"/>
            <a:ext cx="914" cy="1097280"/>
          </a:xfrm>
          <a:prstGeom prst="line">
            <a:avLst/>
          </a:prstGeom>
          <a:noFill/>
          <a:ln w="5080">
            <a:solidFill>
              <a:srgbClr val="D5DCE5"/>
            </a:solidFill>
            <a:prstDash val="solid"/>
          </a:ln>
        </p:spPr>
      </p:sp>
      <p:sp>
        <p:nvSpPr>
          <p:cNvPr id="18" name="Shape 15"/>
          <p:cNvSpPr/>
          <p:nvPr/>
        </p:nvSpPr>
        <p:spPr>
          <a:xfrm>
            <a:off x="10427208" y="3703320"/>
            <a:ext cx="914" cy="1097280"/>
          </a:xfrm>
          <a:prstGeom prst="line">
            <a:avLst/>
          </a:prstGeom>
          <a:noFill/>
          <a:ln w="12700">
            <a:solidFill>
              <a:srgbClr val="2F6DB5"/>
            </a:solidFill>
            <a:prstDash val="solid"/>
          </a:ln>
        </p:spPr>
      </p:sp>
      <p:sp>
        <p:nvSpPr>
          <p:cNvPr id="19" name="Shape 16"/>
          <p:cNvSpPr/>
          <p:nvPr/>
        </p:nvSpPr>
        <p:spPr>
          <a:xfrm>
            <a:off x="10862056" y="3703320"/>
            <a:ext cx="914" cy="1097280"/>
          </a:xfrm>
          <a:prstGeom prst="line">
            <a:avLst/>
          </a:prstGeom>
          <a:noFill/>
          <a:ln w="5080">
            <a:solidFill>
              <a:srgbClr val="D5DCE5"/>
            </a:solidFill>
            <a:prstDash val="solid"/>
          </a:ln>
        </p:spPr>
      </p:sp>
      <p:sp>
        <p:nvSpPr>
          <p:cNvPr id="20" name="Shape 17"/>
          <p:cNvSpPr/>
          <p:nvPr/>
        </p:nvSpPr>
        <p:spPr>
          <a:xfrm>
            <a:off x="11296904" y="3703320"/>
            <a:ext cx="914" cy="1097280"/>
          </a:xfrm>
          <a:prstGeom prst="line">
            <a:avLst/>
          </a:prstGeom>
          <a:noFill/>
          <a:ln w="5080">
            <a:solidFill>
              <a:srgbClr val="D5DCE5"/>
            </a:solidFill>
            <a:prstDash val="solid"/>
          </a:ln>
        </p:spPr>
      </p:sp>
      <p:sp>
        <p:nvSpPr>
          <p:cNvPr id="21" name="Shape 18"/>
          <p:cNvSpPr/>
          <p:nvPr/>
        </p:nvSpPr>
        <p:spPr>
          <a:xfrm>
            <a:off x="7818120" y="4069080"/>
            <a:ext cx="3913632" cy="914"/>
          </a:xfrm>
          <a:prstGeom prst="line">
            <a:avLst/>
          </a:prstGeom>
          <a:noFill/>
          <a:ln w="5080">
            <a:solidFill>
              <a:srgbClr val="D5DCE5"/>
            </a:solidFill>
            <a:prstDash val="solid"/>
          </a:ln>
        </p:spPr>
      </p:sp>
      <p:sp>
        <p:nvSpPr>
          <p:cNvPr id="22" name="Shape 19"/>
          <p:cNvSpPr/>
          <p:nvPr/>
        </p:nvSpPr>
        <p:spPr>
          <a:xfrm>
            <a:off x="7818120" y="4434840"/>
            <a:ext cx="3913632" cy="914"/>
          </a:xfrm>
          <a:prstGeom prst="line">
            <a:avLst/>
          </a:prstGeom>
          <a:noFill/>
          <a:ln w="5080">
            <a:solidFill>
              <a:srgbClr val="D5DCE5"/>
            </a:solidFill>
            <a:prstDash val="solid"/>
          </a:ln>
        </p:spPr>
      </p:sp>
      <p:sp>
        <p:nvSpPr>
          <p:cNvPr id="23" name="Text 20"/>
          <p:cNvSpPr txBox="1"/>
          <p:nvPr/>
        </p:nvSpPr>
        <p:spPr>
          <a:xfrm>
            <a:off x="7818120" y="370332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24" name="Text 21"/>
          <p:cNvSpPr txBox="1"/>
          <p:nvPr/>
        </p:nvSpPr>
        <p:spPr>
          <a:xfrm>
            <a:off x="8252968" y="370332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25" name="Text 22"/>
          <p:cNvSpPr txBox="1"/>
          <p:nvPr/>
        </p:nvSpPr>
        <p:spPr>
          <a:xfrm>
            <a:off x="9122664" y="370332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26" name="Text 23"/>
          <p:cNvSpPr txBox="1"/>
          <p:nvPr/>
        </p:nvSpPr>
        <p:spPr>
          <a:xfrm>
            <a:off x="9557512" y="370332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27" name="Text 24"/>
          <p:cNvSpPr txBox="1"/>
          <p:nvPr/>
        </p:nvSpPr>
        <p:spPr>
          <a:xfrm>
            <a:off x="9992360" y="370332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28" name="Text 25"/>
          <p:cNvSpPr txBox="1"/>
          <p:nvPr/>
        </p:nvSpPr>
        <p:spPr>
          <a:xfrm>
            <a:off x="10427208" y="370332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29" name="Text 26"/>
          <p:cNvSpPr txBox="1"/>
          <p:nvPr/>
        </p:nvSpPr>
        <p:spPr>
          <a:xfrm>
            <a:off x="10862056" y="370332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30" name="Text 27"/>
          <p:cNvSpPr txBox="1"/>
          <p:nvPr/>
        </p:nvSpPr>
        <p:spPr>
          <a:xfrm>
            <a:off x="11296904" y="370332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31" name="Text 28"/>
          <p:cNvSpPr txBox="1"/>
          <p:nvPr/>
        </p:nvSpPr>
        <p:spPr>
          <a:xfrm>
            <a:off x="9122664" y="406908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32" name="Text 29"/>
          <p:cNvSpPr txBox="1"/>
          <p:nvPr/>
        </p:nvSpPr>
        <p:spPr>
          <a:xfrm>
            <a:off x="9557512" y="406908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33" name="Text 30"/>
          <p:cNvSpPr txBox="1"/>
          <p:nvPr/>
        </p:nvSpPr>
        <p:spPr>
          <a:xfrm>
            <a:off x="9992360" y="406908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34" name="Text 31"/>
          <p:cNvSpPr txBox="1"/>
          <p:nvPr/>
        </p:nvSpPr>
        <p:spPr>
          <a:xfrm>
            <a:off x="10427208" y="406908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35" name="Text 32"/>
          <p:cNvSpPr txBox="1"/>
          <p:nvPr/>
        </p:nvSpPr>
        <p:spPr>
          <a:xfrm>
            <a:off x="10862056" y="406908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36" name="Text 33"/>
          <p:cNvSpPr txBox="1"/>
          <p:nvPr/>
        </p:nvSpPr>
        <p:spPr>
          <a:xfrm>
            <a:off x="11296904" y="406908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37" name="Text 34"/>
          <p:cNvSpPr txBox="1"/>
          <p:nvPr/>
        </p:nvSpPr>
        <p:spPr>
          <a:xfrm>
            <a:off x="9122664" y="443484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38" name="Text 35"/>
          <p:cNvSpPr txBox="1"/>
          <p:nvPr/>
        </p:nvSpPr>
        <p:spPr>
          <a:xfrm>
            <a:off x="9557512" y="443484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39" name="Text 36"/>
          <p:cNvSpPr txBox="1"/>
          <p:nvPr/>
        </p:nvSpPr>
        <p:spPr>
          <a:xfrm>
            <a:off x="9992360" y="443484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40" name="Text 37"/>
          <p:cNvSpPr txBox="1"/>
          <p:nvPr/>
        </p:nvSpPr>
        <p:spPr>
          <a:xfrm>
            <a:off x="10427208" y="443484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41" name="Text 38"/>
          <p:cNvSpPr txBox="1"/>
          <p:nvPr/>
        </p:nvSpPr>
        <p:spPr>
          <a:xfrm>
            <a:off x="10862056" y="443484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42" name="Text 39"/>
          <p:cNvSpPr txBox="1"/>
          <p:nvPr/>
        </p:nvSpPr>
        <p:spPr>
          <a:xfrm>
            <a:off x="11296904" y="4434840"/>
            <a:ext cx="434848" cy="36576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a:t>
            </a:r>
            <a:endParaRPr lang="en-US" sz="800" dirty="0"/>
          </a:p>
        </p:txBody>
      </p:sp>
      <p:sp>
        <p:nvSpPr>
          <p:cNvPr id="43" name="Text 40"/>
          <p:cNvSpPr txBox="1"/>
          <p:nvPr/>
        </p:nvSpPr>
        <p:spPr>
          <a:xfrm>
            <a:off x="6949440" y="3703320"/>
            <a:ext cx="822960" cy="365760"/>
          </a:xfrm>
          <a:prstGeom prst="rect">
            <a:avLst/>
          </a:prstGeom>
          <a:noFill/>
          <a:ln/>
        </p:spPr>
        <p:txBody>
          <a:bodyPr wrap="square" lIns="0" tIns="0" rIns="0" bIns="0" rtlCol="0" anchor="ctr"/>
          <a:lstStyle/>
          <a:p>
            <a:pPr algn="r" indent="0" marL="0">
              <a:buNone/>
            </a:pPr>
            <a:r>
              <a:rPr lang="en-US" sz="750" dirty="0">
                <a:solidFill>
                  <a:srgbClr val="5B6B7F"/>
                </a:solidFill>
                <a:latin typeface="Malgun Gothic" pitchFamily="34" charset="0"/>
                <a:ea typeface="Malgun Gothic" pitchFamily="34" charset="-122"/>
                <a:cs typeface="Malgun Gothic" pitchFamily="34" charset="-120"/>
              </a:rPr>
              <a:t>attention off</a:t>
            </a:r>
            <a:endParaRPr lang="en-US" sz="750" dirty="0"/>
          </a:p>
        </p:txBody>
      </p:sp>
      <p:sp>
        <p:nvSpPr>
          <p:cNvPr id="44" name="Text 41"/>
          <p:cNvSpPr txBox="1"/>
          <p:nvPr/>
        </p:nvSpPr>
        <p:spPr>
          <a:xfrm>
            <a:off x="6949440" y="4069080"/>
            <a:ext cx="822960" cy="365760"/>
          </a:xfrm>
          <a:prstGeom prst="rect">
            <a:avLst/>
          </a:prstGeom>
          <a:noFill/>
          <a:ln/>
        </p:spPr>
        <p:txBody>
          <a:bodyPr wrap="square" lIns="0" tIns="0" rIns="0" bIns="0" rtlCol="0" anchor="ctr"/>
          <a:lstStyle/>
          <a:p>
            <a:pPr algn="r" indent="0" marL="0">
              <a:buNone/>
            </a:pPr>
            <a:r>
              <a:rPr lang="en-US" sz="750" dirty="0">
                <a:solidFill>
                  <a:srgbClr val="5B6B7F"/>
                </a:solidFill>
                <a:latin typeface="Malgun Gothic" pitchFamily="34" charset="0"/>
                <a:ea typeface="Malgun Gothic" pitchFamily="34" charset="-122"/>
                <a:cs typeface="Malgun Gothic" pitchFamily="34" charset="-120"/>
              </a:rPr>
              <a:t>attention score</a:t>
            </a:r>
            <a:endParaRPr lang="en-US" sz="750" dirty="0"/>
          </a:p>
        </p:txBody>
      </p:sp>
      <p:sp>
        <p:nvSpPr>
          <p:cNvPr id="45" name="Text 42"/>
          <p:cNvSpPr txBox="1"/>
          <p:nvPr/>
        </p:nvSpPr>
        <p:spPr>
          <a:xfrm>
            <a:off x="6949440" y="4434840"/>
            <a:ext cx="822960" cy="365760"/>
          </a:xfrm>
          <a:prstGeom prst="rect">
            <a:avLst/>
          </a:prstGeom>
          <a:noFill/>
          <a:ln/>
        </p:spPr>
        <p:txBody>
          <a:bodyPr wrap="square" lIns="0" tIns="0" rIns="0" bIns="0" rtlCol="0" anchor="ctr"/>
          <a:lstStyle/>
          <a:p>
            <a:pPr algn="r" indent="0" marL="0">
              <a:buNone/>
            </a:pPr>
            <a:r>
              <a:rPr lang="en-US" sz="750" dirty="0">
                <a:solidFill>
                  <a:srgbClr val="5B6B7F"/>
                </a:solidFill>
                <a:latin typeface="Malgun Gothic" pitchFamily="34" charset="0"/>
                <a:ea typeface="Malgun Gothic" pitchFamily="34" charset="-122"/>
                <a:cs typeface="Malgun Gothic" pitchFamily="34" charset="-120"/>
              </a:rPr>
              <a:t>attention full</a:t>
            </a:r>
            <a:endParaRPr lang="en-US" sz="750" dirty="0"/>
          </a:p>
        </p:txBody>
      </p:sp>
      <p:sp>
        <p:nvSpPr>
          <p:cNvPr id="46" name="Text 43"/>
          <p:cNvSpPr txBox="1"/>
          <p:nvPr/>
        </p:nvSpPr>
        <p:spPr>
          <a:xfrm>
            <a:off x="7818120" y="4828032"/>
            <a:ext cx="1304544" cy="27432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gqa off</a:t>
            </a:r>
            <a:endParaRPr lang="en-US" sz="650" dirty="0"/>
          </a:p>
          <a:p>
            <a:pPr algn="ctr" indent="0" marL="0">
              <a:buNone/>
            </a:pPr>
            <a:r>
              <a:rPr lang="en-US" sz="650" dirty="0">
                <a:solidFill>
                  <a:srgbClr val="5B6B7F"/>
                </a:solidFill>
                <a:latin typeface="Malgun Gothic" pitchFamily="34" charset="0"/>
                <a:ea typeface="Malgun Gothic" pitchFamily="34" charset="-122"/>
                <a:cs typeface="Malgun Gothic" pitchFamily="34" charset="-120"/>
              </a:rPr>
              <a:t>prod off</a:t>
            </a:r>
            <a:endParaRPr lang="en-US" sz="650" dirty="0"/>
          </a:p>
        </p:txBody>
      </p:sp>
      <p:sp>
        <p:nvSpPr>
          <p:cNvPr id="47" name="Text 44"/>
          <p:cNvSpPr txBox="1"/>
          <p:nvPr/>
        </p:nvSpPr>
        <p:spPr>
          <a:xfrm>
            <a:off x="9122664" y="4828032"/>
            <a:ext cx="1304544" cy="27432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gqa on</a:t>
            </a:r>
            <a:endParaRPr lang="en-US" sz="650" dirty="0"/>
          </a:p>
          <a:p>
            <a:pPr algn="ctr" indent="0" marL="0">
              <a:buNone/>
            </a:pPr>
            <a:r>
              <a:rPr lang="en-US" sz="650" dirty="0">
                <a:solidFill>
                  <a:srgbClr val="5B6B7F"/>
                </a:solidFill>
                <a:latin typeface="Malgun Gothic" pitchFamily="34" charset="0"/>
                <a:ea typeface="Malgun Gothic" pitchFamily="34" charset="-122"/>
                <a:cs typeface="Malgun Gothic" pitchFamily="34" charset="-120"/>
              </a:rPr>
              <a:t>prod off</a:t>
            </a:r>
            <a:endParaRPr lang="en-US" sz="650" dirty="0"/>
          </a:p>
        </p:txBody>
      </p:sp>
      <p:sp>
        <p:nvSpPr>
          <p:cNvPr id="48" name="Text 45"/>
          <p:cNvSpPr txBox="1"/>
          <p:nvPr/>
        </p:nvSpPr>
        <p:spPr>
          <a:xfrm>
            <a:off x="10427208" y="4828032"/>
            <a:ext cx="1304544" cy="27432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gqa on</a:t>
            </a:r>
            <a:endParaRPr lang="en-US" sz="650" dirty="0"/>
          </a:p>
          <a:p>
            <a:pPr algn="ctr" indent="0" marL="0">
              <a:buNone/>
            </a:pPr>
            <a:r>
              <a:rPr lang="en-US" sz="650" dirty="0">
                <a:solidFill>
                  <a:srgbClr val="5B6B7F"/>
                </a:solidFill>
                <a:latin typeface="Malgun Gothic" pitchFamily="34" charset="0"/>
                <a:ea typeface="Malgun Gothic" pitchFamily="34" charset="-122"/>
                <a:cs typeface="Malgun Gothic" pitchFamily="34" charset="-120"/>
              </a:rPr>
              <a:t>prod on</a:t>
            </a:r>
            <a:endParaRPr lang="en-US" sz="650" dirty="0"/>
          </a:p>
        </p:txBody>
      </p:sp>
      <p:sp>
        <p:nvSpPr>
          <p:cNvPr id="49" name="Text 46"/>
          <p:cNvSpPr txBox="1"/>
          <p:nvPr/>
        </p:nvSpPr>
        <p:spPr>
          <a:xfrm>
            <a:off x="7818120" y="3520440"/>
            <a:ext cx="3913632" cy="164592"/>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generic: off · vectors · matmul (3칸씩 반복) — 파란 9칸이 E10의 검사 대상</a:t>
            </a:r>
            <a:endParaRPr lang="en-US" sz="650" dirty="0"/>
          </a:p>
        </p:txBody>
      </p:sp>
      <p:sp>
        <p:nvSpPr>
          <p:cNvPr id="50" name="Text 47"/>
          <p:cNvSpPr txBox="1"/>
          <p:nvPr/>
        </p:nvSpPr>
        <p:spPr>
          <a:xfrm>
            <a:off x="6949440" y="5120640"/>
            <a:ext cx="4782312" cy="685800"/>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 후보 0 legal·selected (모두 off)  ⏱ 후보 1 (generic vectors) 검사 중 120 s 소진: 과거 7-token 기록(compile 189.7 s). ≡ E10 prefill에서 source가 같은 조합. 예산은 첫 합법 module 뒤 시작하며 phase 경계에서 검사됩니다.</a:t>
            </a:r>
            <a:endParaRPr lang="en-US" sz="800" dirty="0"/>
          </a:p>
        </p:txBody>
      </p:sp>
      <p:sp>
        <p:nvSpPr>
          <p:cNvPr id="51" name="Shape 48"/>
          <p:cNvSpPr/>
          <p:nvPr/>
        </p:nvSpPr>
        <p:spPr>
          <a:xfrm>
            <a:off x="457200" y="5120640"/>
            <a:ext cx="6309360" cy="685800"/>
          </a:xfrm>
          <a:prstGeom prst="roundRect">
            <a:avLst>
              <a:gd name="adj" fmla="val 8000"/>
            </a:avLst>
          </a:prstGeom>
          <a:solidFill>
            <a:srgbClr val="EEF2F6"/>
          </a:solidFill>
          <a:ln w="12700">
            <a:solidFill>
              <a:srgbClr val="C9D3DF"/>
            </a:solidFill>
            <a:prstDash val="solid"/>
          </a:ln>
        </p:spPr>
      </p:sp>
      <p:sp>
        <p:nvSpPr>
          <p:cNvPr id="52" name="Text 49"/>
          <p:cNvSpPr txBox="1"/>
          <p:nvPr/>
        </p:nvSpPr>
        <p:spPr>
          <a:xfrm>
            <a:off x="585216" y="5175504"/>
            <a:ext cx="6053328" cy="57607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두 단계가 다른 질문에 답합니다: </a:t>
            </a:r>
            <a:pPr algn="l" indent="0" marL="0">
              <a:buNone/>
            </a:pPr>
            <a:r>
              <a:rPr lang="en-US" sz="950" dirty="0">
                <a:solidFill>
                  <a:srgbClr val="1F2D3D"/>
                </a:solidFill>
                <a:latin typeface="Malgun Gothic" pitchFamily="34" charset="0"/>
                <a:ea typeface="Malgun Gothic" pitchFamily="34" charset="-122"/>
                <a:cs typeface="Malgun Gothic" pitchFamily="34" charset="-120"/>
              </a:rPr>
              <a:t>"이 영역을 합칠 가치가 있는가?"(npu_fusion.select)와 "주변을 포함한 프로그램을 이렇게 선택해도 좋아지는가?"(lower_and_select). 중복 계산은 region/Entry cache로 줄이고, 시간 제한을 풀어도(None) 부분 검사에서 버린 영역의 다른 조합까지 전수 탐색하지는 않습니다.</a:t>
            </a:r>
            <a:endParaRPr lang="en-US" sz="1200" dirty="0"/>
          </a:p>
        </p:txBody>
      </p:sp>
      <p:sp>
        <p:nvSpPr>
          <p:cNvPr id="53" name="Text 50"/>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54" name="Text 51"/>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npu_compiler/npu_build.py lower_and_select(), npu_compilation.optimization_budget, evidence/current/llama_selection.json (7-token 기록), llama_prefill256_full_search_progress.json (E10)</a:t>
            </a:r>
            <a:endParaRPr lang="en-US" sz="850" dirty="0"/>
          </a:p>
        </p:txBody>
      </p:sp>
      <p:sp>
        <p:nvSpPr>
          <p:cNvPr id="55" name="Text 52"/>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28 / 89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5 · Fusion 후보 선택</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과거 7-token Llama 선택 기록: 120초 안에서 unfused 기준이 선택되었다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compile 189.7 s. 후보 0(모두 off)이 legal·selected, 후보 1(generic vectors)에서 추가 탐색 예산 120 s가 소진. "모든 fusion이 더 나쁘다"는 증거가 아닙니다.</a:t>
            </a:r>
            <a:endParaRPr lang="en-US" sz="12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120640" cy="914400"/>
        </p:xfrm>
        <a:graphic>
          <a:graphicData uri="http://schemas.openxmlformats.org/drawingml/2006/table">
            <a:tbl>
              <a:tblPr/>
              <a:tblGrid>
                <a:gridCol w="548640"/>
                <a:gridCol w="914400"/>
                <a:gridCol w="1280160"/>
                <a:gridCol w="914400"/>
                <a:gridCol w="1463040"/>
              </a:tblGrid>
              <a:tr h="292608">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후보</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attention</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gqa/producers</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generic</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status</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0</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off</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off / off</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off</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legal → selected</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1</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off</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off / off</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vectors</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budget_exhausted</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2~26</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(미검사)</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예산 소진</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457200" y="2743200"/>
          <a:ext cx="5120640" cy="914400"/>
        </p:xfrm>
        <a:graphic>
          <a:graphicData uri="http://schemas.openxmlformats.org/drawingml/2006/table">
            <a:tbl>
              <a:tblPr/>
              <a:tblGrid>
                <a:gridCol w="1234440"/>
                <a:gridCol w="868680"/>
                <a:gridCol w="1143000"/>
                <a:gridCol w="777240"/>
                <a:gridCol w="1097280"/>
              </a:tblGrid>
              <a:tr h="310896">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entry (후보 0)</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00" b="1" dirty="0">
                          <a:solidFill>
                            <a:srgbClr val="FFFFFF"/>
                          </a:solidFill>
                          <a:latin typeface="Malgun Gothic" pitchFamily="34" charset="0"/>
                          <a:ea typeface="Malgun Gothic" pitchFamily="34" charset="-122"/>
                          <a:cs typeface="Malgun Gothic" pitchFamily="34" charset="-120"/>
                        </a:rPr>
                        <a:t>words</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00" b="1" dirty="0">
                          <a:solidFill>
                            <a:srgbClr val="FFFFFF"/>
                          </a:solidFill>
                          <a:latin typeface="Malgun Gothic" pitchFamily="34" charset="0"/>
                          <a:ea typeface="Malgun Gothic" pitchFamily="34" charset="-122"/>
                          <a:cs typeface="Malgun Gothic" pitchFamily="34" charset="-120"/>
                        </a:rPr>
                        <a:t>DMA bytes</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00" b="1" dirty="0">
                          <a:solidFill>
                            <a:srgbClr val="FFFFFF"/>
                          </a:solidFill>
                          <a:latin typeface="Malgun Gothic" pitchFamily="34" charset="0"/>
                          <a:ea typeface="Malgun Gothic" pitchFamily="34" charset="-122"/>
                          <a:cs typeface="Malgun Gothic" pitchFamily="34" charset="-120"/>
                        </a:rPr>
                        <a:t>SRAM peak</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00" b="1" dirty="0">
                          <a:solidFill>
                            <a:srgbClr val="FFFFFF"/>
                          </a:solidFill>
                          <a:latin typeface="Malgun Gothic" pitchFamily="34" charset="0"/>
                          <a:ea typeface="Malgun Gothic" pitchFamily="34" charset="-122"/>
                          <a:cs typeface="Malgun Gothic" pitchFamily="34" charset="-120"/>
                        </a:rPr>
                        <a:t>image bytes</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prefill_cache (S=7)</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8,582,352</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6,457,527,556</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8,374,292</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6,429,587,576</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decode (C=9)</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7,310,801</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6,438,980,676</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7,342,100</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6,427,349,032</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3886200"/>
            <a:ext cx="512064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Cache 통계 (compilation.describe)</a:t>
            </a:r>
            <a:endParaRPr lang="en-US" sz="1050" dirty="0"/>
          </a:p>
        </p:txBody>
      </p:sp>
      <p:graphicFrame>
        <p:nvGraphicFramePr>
          <p:cNvPr id="88" name="Table 2"/>
          <p:cNvGraphicFramePr>
            <a:graphicFrameLocks noGrp="1"/>
          </p:cNvGraphicFramePr>
          <p:nvPr>
            <p:extLst>
              <p:ext uri="{D42A27DB-BD31-4B8C-83A1-F6EECF244321}">
                <p14:modId xmlns:p14="http://schemas.microsoft.com/office/powerpoint/2010/main" val="1579011935"/>
              </p:ext>
            </p:extLst>
          </p:nvPr>
        </p:nvGraphicFramePr>
        <p:xfrm>
          <a:off x="457200" y="4160520"/>
          <a:ext cx="5120640" cy="914400"/>
        </p:xfrm>
        <a:graphic>
          <a:graphicData uri="http://schemas.openxmlformats.org/drawingml/2006/table">
            <a:tbl>
              <a:tblPr/>
              <a:tblGrid>
                <a:gridCol w="2743200"/>
                <a:gridCol w="1463040"/>
                <a:gridCol w="914400"/>
              </a:tblGrid>
              <a:tr h="274320">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cache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00" b="1" dirty="0">
                          <a:solidFill>
                            <a:srgbClr val="FFFFFF"/>
                          </a:solidFill>
                          <a:latin typeface="Malgun Gothic" pitchFamily="34" charset="0"/>
                          <a:ea typeface="Malgun Gothic" pitchFamily="34" charset="-122"/>
                          <a:cs typeface="Malgun Gothic" pitchFamily="34" charset="-120"/>
                        </a:rPr>
                        <a:t>hit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00" b="1" dirty="0">
                          <a:solidFill>
                            <a:srgbClr val="FFFFFF"/>
                          </a:solidFill>
                          <a:latin typeface="Malgun Gothic" pitchFamily="34" charset="0"/>
                          <a:ea typeface="Malgun Gothic" pitchFamily="34" charset="-122"/>
                          <a:cs typeface="Malgun Gothic" pitchFamily="34" charset="-120"/>
                        </a:rPr>
                        <a:t>miss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schedule recipe (PrimFunc 구조별)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272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383</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schedule trial (mapping별)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184</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248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cost probe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294</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270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region (fusion 영역)</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40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native_rejections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FP32 matrix chain interrupted</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5</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9" name="Chart 0" descr=""/>
          <p:cNvGraphicFramePr/>
          <p:nvPr/>
        </p:nvGraphicFramePr>
        <p:xfrm>
          <a:off x="5852160" y="1371600"/>
          <a:ext cx="5879592" cy="4114800"/>
        </p:xfrm>
        <a:graphic xmlns:a="http://schemas.openxmlformats.org/drawingml/2006/main">
          <a:graphicData uri="http://schemas.openxmlformats.org/drawingml/2006/chart">
            <c:chart xmlns:c="http://schemas.openxmlformats.org/drawingml/2006/chart" r:id="rId1"/>
          </a:graphicData>
        </a:graphic>
      </p:graphicFrame>
      <p:sp>
        <p:nvSpPr>
          <p:cNvPr id="10" name="Shape 4"/>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1" name="Text 5"/>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이 검증에서 채택된 것은 unfused 기준 module입니다. 비용이 큰 phase(native codegen·probe·residency)가 곧 탐색 폭을 제한하는 요인입니다.</a:t>
            </a:r>
            <a:endParaRPr lang="en-US" sz="1250" dirty="0"/>
          </a:p>
        </p:txBody>
      </p:sp>
      <p:sp>
        <p:nvSpPr>
          <p:cNvPr id="12" name="Text 6"/>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3" name="Text 7"/>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docs/evidence/current/llama_selection.json (과거 7-token 보존 기록; 새 256-token E10과 구분)</a:t>
            </a:r>
            <a:endParaRPr lang="en-US" sz="850" dirty="0"/>
          </a:p>
        </p:txBody>
      </p:sp>
      <p:sp>
        <p:nvSpPr>
          <p:cNvPr id="14" name="Text 8"/>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29 / 89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6 · Matmul scheduling</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64×64 장치로 K=128을 계산하기: 출력 tile 하나의 K 누산은 끊지 않는다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작은 예제 ② 두 번째 matmul H[64,128] @ W2[128,64]의 실제 명령 20 words. X₀·B₀로 accumulator를 시작하고(MAC=0), X₁·B₁을 같은 accumulator에 더한 뒤(MAC=1), 한 번만 FP16으로 SAVE합니다.</a:t>
            </a:r>
            <a:endParaRPr lang="en-US" sz="1250" dirty="0"/>
          </a:p>
        </p:txBody>
      </p:sp>
      <p:sp>
        <p:nvSpPr>
          <p:cNvPr id="5" name="Shape 3"/>
          <p:cNvSpPr/>
          <p:nvPr/>
        </p:nvSpPr>
        <p:spPr>
          <a:xfrm>
            <a:off x="457200" y="2057400"/>
            <a:ext cx="1463040" cy="731520"/>
          </a:xfrm>
          <a:prstGeom prst="rect">
            <a:avLst/>
          </a:prstGeom>
          <a:solidFill>
            <a:srgbClr val="DDF3F0"/>
          </a:solidFill>
          <a:ln w="12700">
            <a:solidFill>
              <a:srgbClr val="1F8A8A"/>
            </a:solidFill>
            <a:prstDash val="solid"/>
          </a:ln>
        </p:spPr>
      </p:sp>
      <p:sp>
        <p:nvSpPr>
          <p:cNvPr id="6" name="Shape 4"/>
          <p:cNvSpPr/>
          <p:nvPr/>
        </p:nvSpPr>
        <p:spPr>
          <a:xfrm>
            <a:off x="457200" y="2057400"/>
            <a:ext cx="731520" cy="731520"/>
          </a:xfrm>
          <a:prstGeom prst="rect">
            <a:avLst/>
          </a:prstGeom>
          <a:solidFill>
            <a:srgbClr val="DDF3F0"/>
          </a:solidFill>
          <a:ln w="15875">
            <a:solidFill>
              <a:srgbClr val="1F8A8A"/>
            </a:solidFill>
            <a:prstDash val="solid"/>
          </a:ln>
        </p:spPr>
      </p:sp>
      <p:sp>
        <p:nvSpPr>
          <p:cNvPr id="7" name="Shape 5"/>
          <p:cNvSpPr/>
          <p:nvPr/>
        </p:nvSpPr>
        <p:spPr>
          <a:xfrm>
            <a:off x="1188720" y="2057400"/>
            <a:ext cx="731520" cy="731520"/>
          </a:xfrm>
          <a:prstGeom prst="rect">
            <a:avLst/>
          </a:prstGeom>
          <a:solidFill>
            <a:srgbClr val="E3EEFB"/>
          </a:solidFill>
          <a:ln w="15875">
            <a:solidFill>
              <a:srgbClr val="2F6DB5"/>
            </a:solidFill>
            <a:prstDash val="solid"/>
          </a:ln>
        </p:spPr>
      </p:sp>
      <p:sp>
        <p:nvSpPr>
          <p:cNvPr id="8" name="Shape 6"/>
          <p:cNvSpPr/>
          <p:nvPr/>
        </p:nvSpPr>
        <p:spPr>
          <a:xfrm>
            <a:off x="1188720" y="2057400"/>
            <a:ext cx="914" cy="731520"/>
          </a:xfrm>
          <a:prstGeom prst="line">
            <a:avLst/>
          </a:prstGeom>
          <a:noFill/>
          <a:ln w="12700">
            <a:solidFill>
              <a:srgbClr val="1F8A8A"/>
            </a:solidFill>
            <a:prstDash val="solid"/>
          </a:ln>
        </p:spPr>
      </p:sp>
      <p:sp>
        <p:nvSpPr>
          <p:cNvPr id="9" name="Text 7"/>
          <p:cNvSpPr txBox="1"/>
          <p:nvPr/>
        </p:nvSpPr>
        <p:spPr>
          <a:xfrm>
            <a:off x="457200" y="2057400"/>
            <a:ext cx="731520" cy="7315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X₀</a:t>
            </a:r>
            <a:endParaRPr lang="en-US" sz="800" dirty="0"/>
          </a:p>
        </p:txBody>
      </p:sp>
      <p:sp>
        <p:nvSpPr>
          <p:cNvPr id="10" name="Text 8"/>
          <p:cNvSpPr txBox="1"/>
          <p:nvPr/>
        </p:nvSpPr>
        <p:spPr>
          <a:xfrm>
            <a:off x="1188720" y="2057400"/>
            <a:ext cx="731520" cy="7315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X₁</a:t>
            </a:r>
            <a:endParaRPr lang="en-US" sz="800" dirty="0"/>
          </a:p>
        </p:txBody>
      </p:sp>
      <p:sp>
        <p:nvSpPr>
          <p:cNvPr id="11" name="Text 9"/>
          <p:cNvSpPr txBox="1"/>
          <p:nvPr/>
        </p:nvSpPr>
        <p:spPr>
          <a:xfrm>
            <a:off x="457200" y="1828800"/>
            <a:ext cx="201168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A = H [64,128] (SRAM 보관값)</a:t>
            </a:r>
            <a:endParaRPr lang="en-US" sz="850" dirty="0"/>
          </a:p>
        </p:txBody>
      </p:sp>
      <p:sp>
        <p:nvSpPr>
          <p:cNvPr id="12" name="Text 10"/>
          <p:cNvSpPr txBox="1"/>
          <p:nvPr/>
        </p:nvSpPr>
        <p:spPr>
          <a:xfrm>
            <a:off x="457200" y="2825496"/>
            <a:ext cx="201168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MAIN stride 128 el, PARTIAL 64×64</a:t>
            </a:r>
            <a:endParaRPr lang="en-US" sz="750" dirty="0"/>
          </a:p>
        </p:txBody>
      </p:sp>
      <p:sp>
        <p:nvSpPr>
          <p:cNvPr id="13" name="Shape 11"/>
          <p:cNvSpPr/>
          <p:nvPr/>
        </p:nvSpPr>
        <p:spPr>
          <a:xfrm>
            <a:off x="2377440" y="1691640"/>
            <a:ext cx="731520" cy="1463040"/>
          </a:xfrm>
          <a:prstGeom prst="rect">
            <a:avLst/>
          </a:prstGeom>
          <a:solidFill>
            <a:srgbClr val="FFF1DC"/>
          </a:solidFill>
          <a:ln w="12700">
            <a:solidFill>
              <a:srgbClr val="D98A1E"/>
            </a:solidFill>
            <a:prstDash val="solid"/>
          </a:ln>
        </p:spPr>
      </p:sp>
      <p:sp>
        <p:nvSpPr>
          <p:cNvPr id="14" name="Shape 12"/>
          <p:cNvSpPr/>
          <p:nvPr/>
        </p:nvSpPr>
        <p:spPr>
          <a:xfrm>
            <a:off x="2377440" y="1691640"/>
            <a:ext cx="731520" cy="731520"/>
          </a:xfrm>
          <a:prstGeom prst="rect">
            <a:avLst/>
          </a:prstGeom>
          <a:solidFill>
            <a:srgbClr val="DDF3F0"/>
          </a:solidFill>
          <a:ln w="15875">
            <a:solidFill>
              <a:srgbClr val="1F8A8A"/>
            </a:solidFill>
            <a:prstDash val="solid"/>
          </a:ln>
        </p:spPr>
      </p:sp>
      <p:sp>
        <p:nvSpPr>
          <p:cNvPr id="15" name="Shape 13"/>
          <p:cNvSpPr/>
          <p:nvPr/>
        </p:nvSpPr>
        <p:spPr>
          <a:xfrm>
            <a:off x="2377440" y="2423160"/>
            <a:ext cx="731520" cy="731520"/>
          </a:xfrm>
          <a:prstGeom prst="rect">
            <a:avLst/>
          </a:prstGeom>
          <a:solidFill>
            <a:srgbClr val="E3EEFB"/>
          </a:solidFill>
          <a:ln w="15875">
            <a:solidFill>
              <a:srgbClr val="2F6DB5"/>
            </a:solidFill>
            <a:prstDash val="solid"/>
          </a:ln>
        </p:spPr>
      </p:sp>
      <p:sp>
        <p:nvSpPr>
          <p:cNvPr id="16" name="Shape 14"/>
          <p:cNvSpPr/>
          <p:nvPr/>
        </p:nvSpPr>
        <p:spPr>
          <a:xfrm>
            <a:off x="2377440" y="2423160"/>
            <a:ext cx="731520" cy="914"/>
          </a:xfrm>
          <a:prstGeom prst="line">
            <a:avLst/>
          </a:prstGeom>
          <a:noFill/>
          <a:ln w="12700">
            <a:solidFill>
              <a:srgbClr val="D98A1E"/>
            </a:solidFill>
            <a:prstDash val="solid"/>
          </a:ln>
        </p:spPr>
      </p:sp>
      <p:sp>
        <p:nvSpPr>
          <p:cNvPr id="17" name="Text 15"/>
          <p:cNvSpPr txBox="1"/>
          <p:nvPr/>
        </p:nvSpPr>
        <p:spPr>
          <a:xfrm>
            <a:off x="2377440" y="1691640"/>
            <a:ext cx="731520" cy="7315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B₀</a:t>
            </a:r>
            <a:endParaRPr lang="en-US" sz="800" dirty="0"/>
          </a:p>
        </p:txBody>
      </p:sp>
      <p:sp>
        <p:nvSpPr>
          <p:cNvPr id="18" name="Text 16"/>
          <p:cNvSpPr txBox="1"/>
          <p:nvPr/>
        </p:nvSpPr>
        <p:spPr>
          <a:xfrm>
            <a:off x="2377440" y="2423160"/>
            <a:ext cx="731520" cy="7315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B₁</a:t>
            </a:r>
            <a:endParaRPr lang="en-US" sz="800" dirty="0"/>
          </a:p>
        </p:txBody>
      </p:sp>
      <p:sp>
        <p:nvSpPr>
          <p:cNvPr id="19" name="Text 17"/>
          <p:cNvSpPr txBox="1"/>
          <p:nvPr/>
        </p:nvSpPr>
        <p:spPr>
          <a:xfrm>
            <a:off x="2377440" y="1463040"/>
            <a:ext cx="1280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B = W2 [128,64]</a:t>
            </a:r>
            <a:endParaRPr lang="en-US" sz="850" dirty="0"/>
          </a:p>
        </p:txBody>
      </p:sp>
      <p:sp>
        <p:nvSpPr>
          <p:cNvPr id="20" name="Text 18"/>
          <p:cNvSpPr txBox="1"/>
          <p:nvPr/>
        </p:nvSpPr>
        <p:spPr>
          <a:xfrm>
            <a:off x="2377440" y="3191256"/>
            <a:ext cx="128016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GLOAD → SRAM 9740</a:t>
            </a:r>
            <a:endParaRPr lang="en-US" sz="750" dirty="0"/>
          </a:p>
        </p:txBody>
      </p:sp>
      <p:sp>
        <p:nvSpPr>
          <p:cNvPr id="21" name="Shape 19"/>
          <p:cNvSpPr/>
          <p:nvPr/>
        </p:nvSpPr>
        <p:spPr>
          <a:xfrm>
            <a:off x="3931920" y="1600200"/>
            <a:ext cx="2834640" cy="1691640"/>
          </a:xfrm>
          <a:prstGeom prst="roundRect">
            <a:avLst>
              <a:gd name="adj" fmla="val 4324"/>
            </a:avLst>
          </a:prstGeom>
          <a:solidFill>
            <a:srgbClr val="ECE6FA"/>
          </a:solidFill>
          <a:ln w="12700">
            <a:solidFill>
              <a:srgbClr val="6C4FBF"/>
            </a:solidFill>
            <a:prstDash val="solid"/>
          </a:ln>
        </p:spPr>
      </p:sp>
      <p:sp>
        <p:nvSpPr>
          <p:cNvPr id="22" name="Text 20"/>
          <p:cNvSpPr txBox="1"/>
          <p:nvPr/>
        </p:nvSpPr>
        <p:spPr>
          <a:xfrm>
            <a:off x="4023360" y="1645920"/>
            <a:ext cx="2651760" cy="201168"/>
          </a:xfrm>
          <a:prstGeom prst="rect">
            <a:avLst/>
          </a:prstGeom>
          <a:noFill/>
          <a:ln/>
        </p:spPr>
        <p:txBody>
          <a:bodyPr wrap="square" lIns="0" tIns="0" rIns="0" bIns="0" rtlCol="0" anchor="t"/>
          <a:lstStyle/>
          <a:p>
            <a:pPr algn="l" indent="0" marL="0">
              <a:buNone/>
            </a:pPr>
            <a:r>
              <a:rPr lang="en-US" sz="950" b="1" dirty="0">
                <a:solidFill>
                  <a:srgbClr val="6C4FBF"/>
                </a:solidFill>
                <a:latin typeface="Malgun Gothic" pitchFamily="34" charset="0"/>
                <a:ea typeface="Malgun Gothic" pitchFamily="34" charset="-122"/>
                <a:cs typeface="Malgun Gothic" pitchFamily="34" charset="-120"/>
              </a:rPr>
              <a:t>Matrix unit</a:t>
            </a:r>
            <a:endParaRPr lang="en-US" sz="950" dirty="0"/>
          </a:p>
        </p:txBody>
      </p:sp>
      <p:sp>
        <p:nvSpPr>
          <p:cNvPr id="23" name="Text 21"/>
          <p:cNvSpPr txBox="1"/>
          <p:nvPr/>
        </p:nvSpPr>
        <p:spPr>
          <a:xfrm>
            <a:off x="4023360" y="1874520"/>
            <a:ext cx="1600200" cy="868680"/>
          </a:xfrm>
          <a:prstGeom prst="rect">
            <a:avLst/>
          </a:prstGeom>
          <a:noFill/>
          <a:ln/>
        </p:spPr>
        <p:txBody>
          <a:bodyPr wrap="square" lIns="0" tIns="0" rIns="0" bIns="0" rtlCol="0" anchor="t"/>
          <a:lstStyle/>
          <a:p>
            <a:pPr algn="l" indent="0" marL="0">
              <a:buNone/>
            </a:pPr>
            <a:r>
              <a:rPr lang="en-US" sz="800" dirty="0">
                <a:solidFill>
                  <a:srgbClr val="1F2D3D"/>
                </a:solidFill>
                <a:latin typeface="Courier New" pitchFamily="34" charset="0"/>
                <a:ea typeface="Courier New" pitchFamily="34" charset="-122"/>
                <a:cs typeface="Courier New" pitchFamily="34" charset="-120"/>
              </a:rPr>
              <a:t>① LOAD X₀ → SRC1</a:t>
            </a:r>
            <a:endParaRPr lang="en-US" sz="800" dirty="0"/>
          </a:p>
          <a:p>
            <a:pPr algn="l" indent="0" marL="0">
              <a:buNone/>
            </a:pPr>
            <a:r>
              <a:rPr lang="en-US" sz="800" dirty="0">
                <a:solidFill>
                  <a:srgbClr val="1F2D3D"/>
                </a:solidFill>
                <a:latin typeface="Courier New" pitchFamily="34" charset="0"/>
                <a:ea typeface="Courier New" pitchFamily="34" charset="-122"/>
                <a:cs typeface="Courier New" pitchFamily="34" charset="-120"/>
              </a:rPr>
              <a:t>   LOAD B₀ → SRC2</a:t>
            </a:r>
            <a:endParaRPr lang="en-US" sz="800" dirty="0"/>
          </a:p>
          <a:p>
            <a:pPr algn="l" indent="0" marL="0">
              <a:buNone/>
            </a:pPr>
            <a:r>
              <a:rPr lang="en-US" sz="800" dirty="0">
                <a:solidFill>
                  <a:srgbClr val="1F2D3D"/>
                </a:solidFill>
                <a:latin typeface="Courier New" pitchFamily="34" charset="0"/>
                <a:ea typeface="Courier New" pitchFamily="34" charset="-122"/>
                <a:cs typeface="Courier New" pitchFamily="34" charset="-120"/>
              </a:rPr>
              <a:t>   M_MUL MAC=0</a:t>
            </a:r>
            <a:endParaRPr lang="en-US" sz="800" dirty="0"/>
          </a:p>
          <a:p>
            <a:pPr algn="l" indent="0" marL="0">
              <a:buNone/>
            </a:pPr>
            <a:r>
              <a:rPr lang="en-US" sz="800" dirty="0">
                <a:solidFill>
                  <a:srgbClr val="1F2D3D"/>
                </a:solidFill>
                <a:latin typeface="Courier New" pitchFamily="34" charset="0"/>
                <a:ea typeface="Courier New" pitchFamily="34" charset="-122"/>
                <a:cs typeface="Courier New" pitchFamily="34" charset="-120"/>
              </a:rPr>
              <a:t>② LOAD X₁, B₁</a:t>
            </a:r>
            <a:endParaRPr lang="en-US" sz="800" dirty="0"/>
          </a:p>
          <a:p>
            <a:pPr algn="l" indent="0" marL="0">
              <a:buNone/>
            </a:pPr>
            <a:r>
              <a:rPr lang="en-US" sz="800" dirty="0">
                <a:solidFill>
                  <a:srgbClr val="1F2D3D"/>
                </a:solidFill>
                <a:latin typeface="Courier New" pitchFamily="34" charset="0"/>
                <a:ea typeface="Courier New" pitchFamily="34" charset="-122"/>
                <a:cs typeface="Courier New" pitchFamily="34" charset="-120"/>
              </a:rPr>
              <a:t>   M_MUL MAC=1</a:t>
            </a:r>
            <a:endParaRPr lang="en-US" sz="800" dirty="0"/>
          </a:p>
        </p:txBody>
      </p:sp>
      <p:sp>
        <p:nvSpPr>
          <p:cNvPr id="24" name="Shape 22"/>
          <p:cNvSpPr/>
          <p:nvPr/>
        </p:nvSpPr>
        <p:spPr>
          <a:xfrm>
            <a:off x="5760720" y="1920240"/>
            <a:ext cx="868680" cy="868680"/>
          </a:xfrm>
          <a:prstGeom prst="rect">
            <a:avLst/>
          </a:prstGeom>
          <a:solidFill>
            <a:srgbClr val="F3EFFC"/>
          </a:solidFill>
          <a:ln w="12700">
            <a:solidFill>
              <a:srgbClr val="6C4FBF"/>
            </a:solidFill>
            <a:prstDash val="solid"/>
          </a:ln>
        </p:spPr>
      </p:sp>
      <p:sp>
        <p:nvSpPr>
          <p:cNvPr id="25" name="Shape 23"/>
          <p:cNvSpPr/>
          <p:nvPr/>
        </p:nvSpPr>
        <p:spPr>
          <a:xfrm>
            <a:off x="5760720" y="1920240"/>
            <a:ext cx="868680" cy="868680"/>
          </a:xfrm>
          <a:prstGeom prst="rect">
            <a:avLst/>
          </a:prstGeom>
          <a:solidFill>
            <a:srgbClr val="DCD3F5"/>
          </a:solidFill>
          <a:ln w="12700">
            <a:solidFill>
              <a:srgbClr val="6C4FBF"/>
            </a:solidFill>
            <a:prstDash val="solid"/>
          </a:ln>
        </p:spPr>
      </p:sp>
      <p:sp>
        <p:nvSpPr>
          <p:cNvPr id="26" name="Shape 24"/>
          <p:cNvSpPr/>
          <p:nvPr/>
        </p:nvSpPr>
        <p:spPr>
          <a:xfrm>
            <a:off x="5977890" y="1920240"/>
            <a:ext cx="914" cy="868680"/>
          </a:xfrm>
          <a:prstGeom prst="line">
            <a:avLst/>
          </a:prstGeom>
          <a:noFill/>
          <a:ln w="5080">
            <a:solidFill>
              <a:srgbClr val="D5DCE5"/>
            </a:solidFill>
            <a:prstDash val="solid"/>
          </a:ln>
        </p:spPr>
      </p:sp>
      <p:sp>
        <p:nvSpPr>
          <p:cNvPr id="27" name="Shape 25"/>
          <p:cNvSpPr/>
          <p:nvPr/>
        </p:nvSpPr>
        <p:spPr>
          <a:xfrm>
            <a:off x="6195060" y="1920240"/>
            <a:ext cx="914" cy="868680"/>
          </a:xfrm>
          <a:prstGeom prst="line">
            <a:avLst/>
          </a:prstGeom>
          <a:noFill/>
          <a:ln w="5080">
            <a:solidFill>
              <a:srgbClr val="D5DCE5"/>
            </a:solidFill>
            <a:prstDash val="solid"/>
          </a:ln>
        </p:spPr>
      </p:sp>
      <p:sp>
        <p:nvSpPr>
          <p:cNvPr id="28" name="Shape 26"/>
          <p:cNvSpPr/>
          <p:nvPr/>
        </p:nvSpPr>
        <p:spPr>
          <a:xfrm>
            <a:off x="6412230" y="1920240"/>
            <a:ext cx="914" cy="868680"/>
          </a:xfrm>
          <a:prstGeom prst="line">
            <a:avLst/>
          </a:prstGeom>
          <a:noFill/>
          <a:ln w="5080">
            <a:solidFill>
              <a:srgbClr val="D5DCE5"/>
            </a:solidFill>
            <a:prstDash val="solid"/>
          </a:ln>
        </p:spPr>
      </p:sp>
      <p:sp>
        <p:nvSpPr>
          <p:cNvPr id="29" name="Shape 27"/>
          <p:cNvSpPr/>
          <p:nvPr/>
        </p:nvSpPr>
        <p:spPr>
          <a:xfrm>
            <a:off x="5760720" y="2137410"/>
            <a:ext cx="868680" cy="914"/>
          </a:xfrm>
          <a:prstGeom prst="line">
            <a:avLst/>
          </a:prstGeom>
          <a:noFill/>
          <a:ln w="5080">
            <a:solidFill>
              <a:srgbClr val="D5DCE5"/>
            </a:solidFill>
            <a:prstDash val="solid"/>
          </a:ln>
        </p:spPr>
      </p:sp>
      <p:sp>
        <p:nvSpPr>
          <p:cNvPr id="30" name="Shape 28"/>
          <p:cNvSpPr/>
          <p:nvPr/>
        </p:nvSpPr>
        <p:spPr>
          <a:xfrm>
            <a:off x="5760720" y="2354580"/>
            <a:ext cx="868680" cy="914"/>
          </a:xfrm>
          <a:prstGeom prst="line">
            <a:avLst/>
          </a:prstGeom>
          <a:noFill/>
          <a:ln w="5080">
            <a:solidFill>
              <a:srgbClr val="D5DCE5"/>
            </a:solidFill>
            <a:prstDash val="solid"/>
          </a:ln>
        </p:spPr>
      </p:sp>
      <p:sp>
        <p:nvSpPr>
          <p:cNvPr id="31" name="Shape 29"/>
          <p:cNvSpPr/>
          <p:nvPr/>
        </p:nvSpPr>
        <p:spPr>
          <a:xfrm>
            <a:off x="5760720" y="2571750"/>
            <a:ext cx="868680" cy="914"/>
          </a:xfrm>
          <a:prstGeom prst="line">
            <a:avLst/>
          </a:prstGeom>
          <a:noFill/>
          <a:ln w="5080">
            <a:solidFill>
              <a:srgbClr val="D5DCE5"/>
            </a:solidFill>
            <a:prstDash val="solid"/>
          </a:ln>
        </p:spPr>
      </p:sp>
      <p:sp>
        <p:nvSpPr>
          <p:cNvPr id="32" name="Text 30"/>
          <p:cNvSpPr txBox="1"/>
          <p:nvPr/>
        </p:nvSpPr>
        <p:spPr>
          <a:xfrm>
            <a:off x="5760720" y="1920240"/>
            <a:ext cx="868680" cy="86868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X₀B₀</a:t>
            </a:r>
            <a:endParaRPr lang="en-US" sz="750" dirty="0"/>
          </a:p>
          <a:p>
            <a:pPr algn="ctr" indent="0" marL="0">
              <a:buNone/>
            </a:pPr>
            <a:r>
              <a:rPr lang="en-US" sz="750" b="1" dirty="0">
                <a:solidFill>
                  <a:srgbClr val="1F2D3D"/>
                </a:solidFill>
                <a:latin typeface="Malgun Gothic" pitchFamily="34" charset="0"/>
                <a:ea typeface="Malgun Gothic" pitchFamily="34" charset="-122"/>
                <a:cs typeface="Malgun Gothic" pitchFamily="34" charset="-120"/>
              </a:rPr>
              <a:t>+X₁B₁</a:t>
            </a:r>
            <a:endParaRPr lang="en-US" sz="750" dirty="0"/>
          </a:p>
        </p:txBody>
      </p:sp>
      <p:sp>
        <p:nvSpPr>
          <p:cNvPr id="33" name="Text 31"/>
          <p:cNvSpPr txBox="1"/>
          <p:nvPr/>
        </p:nvSpPr>
        <p:spPr>
          <a:xfrm>
            <a:off x="5760720" y="1691640"/>
            <a:ext cx="91440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acc FP32</a:t>
            </a:r>
            <a:endParaRPr lang="en-US" sz="850" dirty="0"/>
          </a:p>
        </p:txBody>
      </p:sp>
      <p:sp>
        <p:nvSpPr>
          <p:cNvPr id="34" name="Text 32"/>
          <p:cNvSpPr txBox="1"/>
          <p:nvPr/>
        </p:nvSpPr>
        <p:spPr>
          <a:xfrm>
            <a:off x="5669280" y="2834640"/>
            <a:ext cx="1051560" cy="36576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64×64 × 1개</a:t>
            </a:r>
            <a:endParaRPr lang="en-US" sz="650" dirty="0"/>
          </a:p>
          <a:p>
            <a:pPr algn="ctr" indent="0" marL="0">
              <a:buNone/>
            </a:pPr>
            <a:r>
              <a:rPr lang="en-US" sz="650" dirty="0">
                <a:solidFill>
                  <a:srgbClr val="5B6B7F"/>
                </a:solidFill>
                <a:latin typeface="Malgun Gothic" pitchFamily="34" charset="0"/>
                <a:ea typeface="Malgun Gothic" pitchFamily="34" charset="-122"/>
                <a:cs typeface="Malgun Gothic" pitchFamily="34" charset="-120"/>
              </a:rPr>
              <a:t>(SRAM 아님)</a:t>
            </a:r>
            <a:endParaRPr lang="en-US" sz="650" dirty="0"/>
          </a:p>
        </p:txBody>
      </p:sp>
      <p:sp>
        <p:nvSpPr>
          <p:cNvPr id="35" name="Shape 33"/>
          <p:cNvSpPr/>
          <p:nvPr/>
        </p:nvSpPr>
        <p:spPr>
          <a:xfrm flipV="1">
            <a:off x="822960" y="2011680"/>
            <a:ext cx="3108960" cy="45720"/>
          </a:xfrm>
          <a:prstGeom prst="line">
            <a:avLst/>
          </a:prstGeom>
          <a:noFill/>
          <a:ln w="19050">
            <a:solidFill>
              <a:srgbClr val="1F8A8A"/>
            </a:solidFill>
            <a:prstDash val="solid"/>
            <a:tailEnd type="triangle"/>
          </a:ln>
        </p:spPr>
      </p:sp>
      <p:sp>
        <p:nvSpPr>
          <p:cNvPr id="36" name="Shape 34"/>
          <p:cNvSpPr/>
          <p:nvPr/>
        </p:nvSpPr>
        <p:spPr>
          <a:xfrm>
            <a:off x="1554480" y="2057400"/>
            <a:ext cx="2377440" cy="502920"/>
          </a:xfrm>
          <a:prstGeom prst="line">
            <a:avLst/>
          </a:prstGeom>
          <a:noFill/>
          <a:ln w="19050">
            <a:solidFill>
              <a:srgbClr val="2F6DB5"/>
            </a:solidFill>
            <a:prstDash val="dash"/>
            <a:tailEnd type="triangle"/>
          </a:ln>
        </p:spPr>
      </p:sp>
      <p:sp>
        <p:nvSpPr>
          <p:cNvPr id="37" name="Shape 35"/>
          <p:cNvSpPr/>
          <p:nvPr/>
        </p:nvSpPr>
        <p:spPr>
          <a:xfrm>
            <a:off x="3108960" y="2057400"/>
            <a:ext cx="822960" cy="91440"/>
          </a:xfrm>
          <a:prstGeom prst="line">
            <a:avLst/>
          </a:prstGeom>
          <a:noFill/>
          <a:ln w="19050">
            <a:solidFill>
              <a:srgbClr val="1F8A8A"/>
            </a:solidFill>
            <a:prstDash val="solid"/>
            <a:tailEnd type="triangle"/>
          </a:ln>
        </p:spPr>
      </p:sp>
      <p:sp>
        <p:nvSpPr>
          <p:cNvPr id="38" name="Shape 36"/>
          <p:cNvSpPr/>
          <p:nvPr/>
        </p:nvSpPr>
        <p:spPr>
          <a:xfrm flipV="1">
            <a:off x="3108960" y="2697480"/>
            <a:ext cx="822960" cy="91440"/>
          </a:xfrm>
          <a:prstGeom prst="line">
            <a:avLst/>
          </a:prstGeom>
          <a:noFill/>
          <a:ln w="19050">
            <a:solidFill>
              <a:srgbClr val="2F6DB5"/>
            </a:solidFill>
            <a:prstDash val="dash"/>
            <a:tailEnd type="triangle"/>
          </a:ln>
        </p:spPr>
      </p:sp>
      <p:sp>
        <p:nvSpPr>
          <p:cNvPr id="39" name="Shape 37"/>
          <p:cNvSpPr/>
          <p:nvPr/>
        </p:nvSpPr>
        <p:spPr>
          <a:xfrm>
            <a:off x="7589520" y="2057400"/>
            <a:ext cx="731520" cy="731520"/>
          </a:xfrm>
          <a:prstGeom prst="rect">
            <a:avLst/>
          </a:prstGeom>
          <a:solidFill>
            <a:srgbClr val="E5F3E7"/>
          </a:solidFill>
          <a:ln w="12700">
            <a:solidFill>
              <a:srgbClr val="2E7D32"/>
            </a:solidFill>
            <a:prstDash val="solid"/>
          </a:ln>
        </p:spPr>
      </p:sp>
      <p:sp>
        <p:nvSpPr>
          <p:cNvPr id="40" name="Shape 38"/>
          <p:cNvSpPr/>
          <p:nvPr/>
        </p:nvSpPr>
        <p:spPr>
          <a:xfrm>
            <a:off x="7589520" y="2057400"/>
            <a:ext cx="731520" cy="731520"/>
          </a:xfrm>
          <a:prstGeom prst="rect">
            <a:avLst/>
          </a:prstGeom>
          <a:solidFill>
            <a:srgbClr val="E5F3E7"/>
          </a:solidFill>
          <a:ln w="15875">
            <a:solidFill>
              <a:srgbClr val="2E7D32"/>
            </a:solidFill>
            <a:prstDash val="solid"/>
          </a:ln>
        </p:spPr>
      </p:sp>
      <p:sp>
        <p:nvSpPr>
          <p:cNvPr id="41" name="Text 39"/>
          <p:cNvSpPr txBox="1"/>
          <p:nvPr/>
        </p:nvSpPr>
        <p:spPr>
          <a:xfrm>
            <a:off x="7589520" y="2057400"/>
            <a:ext cx="731520" cy="7315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f16(acc)</a:t>
            </a:r>
            <a:endParaRPr lang="en-US" sz="800" dirty="0"/>
          </a:p>
        </p:txBody>
      </p:sp>
      <p:sp>
        <p:nvSpPr>
          <p:cNvPr id="42" name="Text 40"/>
          <p:cNvSpPr txBox="1"/>
          <p:nvPr/>
        </p:nvSpPr>
        <p:spPr>
          <a:xfrm>
            <a:off x="7589520" y="1828800"/>
            <a:ext cx="17373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Y [64,64] (SRAM 1548)</a:t>
            </a:r>
            <a:endParaRPr lang="en-US" sz="850" dirty="0"/>
          </a:p>
        </p:txBody>
      </p:sp>
      <p:sp>
        <p:nvSpPr>
          <p:cNvPr id="43" name="Text 41"/>
          <p:cNvSpPr txBox="1"/>
          <p:nvPr/>
        </p:nvSpPr>
        <p:spPr>
          <a:xfrm>
            <a:off x="7589520" y="2825496"/>
            <a:ext cx="201168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③ SAVE 1회 → 이후 GSTORE</a:t>
            </a:r>
            <a:endParaRPr lang="en-US" sz="750" dirty="0"/>
          </a:p>
        </p:txBody>
      </p:sp>
      <p:sp>
        <p:nvSpPr>
          <p:cNvPr id="44" name="Shape 42"/>
          <p:cNvSpPr/>
          <p:nvPr/>
        </p:nvSpPr>
        <p:spPr>
          <a:xfrm flipV="1">
            <a:off x="6766560" y="2423160"/>
            <a:ext cx="822960" cy="914"/>
          </a:xfrm>
          <a:prstGeom prst="line">
            <a:avLst/>
          </a:prstGeom>
          <a:noFill/>
          <a:ln w="25400">
            <a:solidFill>
              <a:srgbClr val="2E7D32"/>
            </a:solidFill>
            <a:prstDash val="solid"/>
            <a:tailEnd type="triangle"/>
          </a:ln>
        </p:spPr>
      </p:sp>
      <p:sp>
        <p:nvSpPr>
          <p:cNvPr id="45" name="Text 43"/>
          <p:cNvSpPr txBox="1"/>
          <p:nvPr/>
        </p:nvSpPr>
        <p:spPr>
          <a:xfrm>
            <a:off x="9464040" y="1600200"/>
            <a:ext cx="2267712" cy="173736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K 반복이 출력 tile 반복 안에 있음(K 최내측). M/N이 크면 출력 tile마다 ①②③를 반복하고 panel 내부 순서는 inner_order가 정합니다. npu_fill_zero는 명령을 내지 않고 "새 누산 시작"만 기록해 첫 M_MUL이 MAC=0이 됩니다. activation bit는 자동 경로에서 OFF입니다.</a:t>
            </a:r>
            <a:endParaRPr lang="en-US" sz="850" dirty="0"/>
          </a:p>
        </p:txBody>
      </p:sp>
      <p:sp>
        <p:nvSpPr>
          <p:cNvPr id="46" name="Text 44"/>
          <p:cNvSpPr txBox="1"/>
          <p:nvPr/>
        </p:nvSpPr>
        <p:spPr>
          <a:xfrm>
            <a:off x="457200" y="3749040"/>
            <a:ext cx="10972800" cy="219456"/>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실제 명령 (program_memory.bin word 52–71, 20 words = 이 matmul 전체)</a:t>
            </a:r>
            <a:endParaRPr lang="en-US" sz="950" dirty="0"/>
          </a:p>
        </p:txBody>
      </p:sp>
      <p:sp>
        <p:nvSpPr>
          <p:cNvPr id="47" name="Shape 45"/>
          <p:cNvSpPr/>
          <p:nvPr/>
        </p:nvSpPr>
        <p:spPr>
          <a:xfrm>
            <a:off x="457200" y="4160520"/>
            <a:ext cx="563728" cy="384048"/>
          </a:xfrm>
          <a:prstGeom prst="rect">
            <a:avLst/>
          </a:prstGeom>
          <a:solidFill>
            <a:srgbClr val="E3EEFB"/>
          </a:solidFill>
          <a:ln w="6350">
            <a:solidFill>
              <a:srgbClr val="2F6DB5"/>
            </a:solidFill>
            <a:prstDash val="solid"/>
          </a:ln>
        </p:spPr>
      </p:sp>
      <p:sp>
        <p:nvSpPr>
          <p:cNvPr id="48" name="Text 46"/>
          <p:cNvSpPr txBox="1"/>
          <p:nvPr/>
        </p:nvSpPr>
        <p:spPr>
          <a:xfrm>
            <a:off x="457200" y="416052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SRC1 M</a:t>
            </a:r>
            <a:endParaRPr lang="en-US" sz="650" dirty="0"/>
          </a:p>
        </p:txBody>
      </p:sp>
      <p:sp>
        <p:nvSpPr>
          <p:cNvPr id="49" name="Text 47"/>
          <p:cNvSpPr txBox="1"/>
          <p:nvPr/>
        </p:nvSpPr>
        <p:spPr>
          <a:xfrm>
            <a:off x="228600" y="4562856"/>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52</a:t>
            </a:r>
            <a:endParaRPr lang="en-US" sz="650" dirty="0"/>
          </a:p>
        </p:txBody>
      </p:sp>
      <p:sp>
        <p:nvSpPr>
          <p:cNvPr id="50" name="Text 48"/>
          <p:cNvSpPr txBox="1"/>
          <p:nvPr/>
        </p:nvSpPr>
        <p:spPr>
          <a:xfrm>
            <a:off x="182880" y="3977640"/>
            <a:ext cx="1112368" cy="164592"/>
          </a:xfrm>
          <a:prstGeom prst="rect">
            <a:avLst/>
          </a:prstGeom>
          <a:noFill/>
          <a:ln/>
        </p:spPr>
        <p:txBody>
          <a:bodyPr wrap="square" lIns="0" tIns="0" rIns="0" bIns="0" rtlCol="0" anchor="t"/>
          <a:lstStyle/>
          <a:p>
            <a:pPr algn="ctr" indent="0" marL="0">
              <a:buNone/>
            </a:pPr>
            <a:r>
              <a:rPr lang="en-US" sz="700" b="1" dirty="0">
                <a:solidFill>
                  <a:srgbClr val="15243B"/>
                </a:solidFill>
                <a:latin typeface="Malgun Gothic" pitchFamily="34" charset="0"/>
                <a:ea typeface="Malgun Gothic" pitchFamily="34" charset="-122"/>
                <a:cs typeface="Malgun Gothic" pitchFamily="34" charset="-120"/>
              </a:rPr>
              <a:t>① X₀ → SRC1</a:t>
            </a:r>
            <a:endParaRPr lang="en-US" sz="700" dirty="0"/>
          </a:p>
        </p:txBody>
      </p:sp>
      <p:sp>
        <p:nvSpPr>
          <p:cNvPr id="51" name="Shape 49"/>
          <p:cNvSpPr/>
          <p:nvPr/>
        </p:nvSpPr>
        <p:spPr>
          <a:xfrm>
            <a:off x="1020928" y="4160520"/>
            <a:ext cx="563728" cy="384048"/>
          </a:xfrm>
          <a:prstGeom prst="rect">
            <a:avLst/>
          </a:prstGeom>
          <a:solidFill>
            <a:srgbClr val="EEF1F5"/>
          </a:solidFill>
          <a:ln w="6350">
            <a:solidFill>
              <a:srgbClr val="5B6B7F"/>
            </a:solidFill>
            <a:prstDash val="solid"/>
          </a:ln>
        </p:spPr>
      </p:sp>
      <p:sp>
        <p:nvSpPr>
          <p:cNvPr id="52" name="Text 50"/>
          <p:cNvSpPr txBox="1"/>
          <p:nvPr/>
        </p:nvSpPr>
        <p:spPr>
          <a:xfrm>
            <a:off x="1020928" y="416052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COLS</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128</a:t>
            </a:r>
            <a:endParaRPr lang="en-US" sz="650" dirty="0"/>
          </a:p>
        </p:txBody>
      </p:sp>
      <p:sp>
        <p:nvSpPr>
          <p:cNvPr id="53" name="Shape 51"/>
          <p:cNvSpPr/>
          <p:nvPr/>
        </p:nvSpPr>
        <p:spPr>
          <a:xfrm>
            <a:off x="1584655" y="4160520"/>
            <a:ext cx="563728" cy="384048"/>
          </a:xfrm>
          <a:prstGeom prst="rect">
            <a:avLst/>
          </a:prstGeom>
          <a:solidFill>
            <a:srgbClr val="E3EEFB"/>
          </a:solidFill>
          <a:ln w="6350">
            <a:solidFill>
              <a:srgbClr val="2F6DB5"/>
            </a:solidFill>
            <a:prstDash val="solid"/>
          </a:ln>
        </p:spPr>
      </p:sp>
      <p:sp>
        <p:nvSpPr>
          <p:cNvPr id="54" name="Text 52"/>
          <p:cNvSpPr txBox="1"/>
          <p:nvPr/>
        </p:nvSpPr>
        <p:spPr>
          <a:xfrm>
            <a:off x="1584655" y="416052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SRC1 P</a:t>
            </a:r>
            <a:endParaRPr lang="en-US" sz="650" dirty="0"/>
          </a:p>
        </p:txBody>
      </p:sp>
      <p:sp>
        <p:nvSpPr>
          <p:cNvPr id="55" name="Shape 53"/>
          <p:cNvSpPr/>
          <p:nvPr/>
        </p:nvSpPr>
        <p:spPr>
          <a:xfrm>
            <a:off x="2148383" y="4160520"/>
            <a:ext cx="563728" cy="384048"/>
          </a:xfrm>
          <a:prstGeom prst="rect">
            <a:avLst/>
          </a:prstGeom>
          <a:solidFill>
            <a:srgbClr val="DDF3F0"/>
          </a:solidFill>
          <a:ln w="6350">
            <a:solidFill>
              <a:srgbClr val="1F8A8A"/>
            </a:solidFill>
            <a:prstDash val="solid"/>
          </a:ln>
        </p:spPr>
      </p:sp>
      <p:sp>
        <p:nvSpPr>
          <p:cNvPr id="56" name="Text 54"/>
          <p:cNvSpPr txBox="1"/>
          <p:nvPr/>
        </p:nvSpPr>
        <p:spPr>
          <a:xfrm>
            <a:off x="2148383" y="416052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LOAD</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SRC1</a:t>
            </a:r>
            <a:endParaRPr lang="en-US" sz="650" dirty="0"/>
          </a:p>
        </p:txBody>
      </p:sp>
      <p:sp>
        <p:nvSpPr>
          <p:cNvPr id="57" name="Shape 55"/>
          <p:cNvSpPr/>
          <p:nvPr/>
        </p:nvSpPr>
        <p:spPr>
          <a:xfrm>
            <a:off x="2712110" y="4160520"/>
            <a:ext cx="563728" cy="384048"/>
          </a:xfrm>
          <a:prstGeom prst="rect">
            <a:avLst/>
          </a:prstGeom>
          <a:solidFill>
            <a:srgbClr val="E3EEFB"/>
          </a:solidFill>
          <a:ln w="6350">
            <a:solidFill>
              <a:srgbClr val="2F6DB5"/>
            </a:solidFill>
            <a:prstDash val="solid"/>
          </a:ln>
        </p:spPr>
      </p:sp>
      <p:sp>
        <p:nvSpPr>
          <p:cNvPr id="58" name="Text 56"/>
          <p:cNvSpPr txBox="1"/>
          <p:nvPr/>
        </p:nvSpPr>
        <p:spPr>
          <a:xfrm>
            <a:off x="2712110" y="416052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SRC2 M</a:t>
            </a:r>
            <a:endParaRPr lang="en-US" sz="650" dirty="0"/>
          </a:p>
        </p:txBody>
      </p:sp>
      <p:sp>
        <p:nvSpPr>
          <p:cNvPr id="59" name="Text 57"/>
          <p:cNvSpPr txBox="1"/>
          <p:nvPr/>
        </p:nvSpPr>
        <p:spPr>
          <a:xfrm>
            <a:off x="2437790" y="3977640"/>
            <a:ext cx="1112368" cy="164592"/>
          </a:xfrm>
          <a:prstGeom prst="rect">
            <a:avLst/>
          </a:prstGeom>
          <a:noFill/>
          <a:ln/>
        </p:spPr>
        <p:txBody>
          <a:bodyPr wrap="square" lIns="0" tIns="0" rIns="0" bIns="0" rtlCol="0" anchor="t"/>
          <a:lstStyle/>
          <a:p>
            <a:pPr algn="ctr" indent="0" marL="0">
              <a:buNone/>
            </a:pPr>
            <a:r>
              <a:rPr lang="en-US" sz="700" b="1" dirty="0">
                <a:solidFill>
                  <a:srgbClr val="15243B"/>
                </a:solidFill>
                <a:latin typeface="Malgun Gothic" pitchFamily="34" charset="0"/>
                <a:ea typeface="Malgun Gothic" pitchFamily="34" charset="-122"/>
                <a:cs typeface="Malgun Gothic" pitchFamily="34" charset="-120"/>
              </a:rPr>
              <a:t>B₀ → SRC2</a:t>
            </a:r>
            <a:endParaRPr lang="en-US" sz="700" dirty="0"/>
          </a:p>
        </p:txBody>
      </p:sp>
      <p:sp>
        <p:nvSpPr>
          <p:cNvPr id="60" name="Shape 58"/>
          <p:cNvSpPr/>
          <p:nvPr/>
        </p:nvSpPr>
        <p:spPr>
          <a:xfrm>
            <a:off x="3275838" y="4160520"/>
            <a:ext cx="563728" cy="384048"/>
          </a:xfrm>
          <a:prstGeom prst="rect">
            <a:avLst/>
          </a:prstGeom>
          <a:solidFill>
            <a:srgbClr val="EEF1F5"/>
          </a:solidFill>
          <a:ln w="6350">
            <a:solidFill>
              <a:srgbClr val="5B6B7F"/>
            </a:solidFill>
            <a:prstDash val="solid"/>
          </a:ln>
        </p:spPr>
      </p:sp>
      <p:sp>
        <p:nvSpPr>
          <p:cNvPr id="61" name="Text 59"/>
          <p:cNvSpPr txBox="1"/>
          <p:nvPr/>
        </p:nvSpPr>
        <p:spPr>
          <a:xfrm>
            <a:off x="3275838" y="416052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COLS</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64</a:t>
            </a:r>
            <a:endParaRPr lang="en-US" sz="650" dirty="0"/>
          </a:p>
        </p:txBody>
      </p:sp>
      <p:sp>
        <p:nvSpPr>
          <p:cNvPr id="62" name="Shape 60"/>
          <p:cNvSpPr/>
          <p:nvPr/>
        </p:nvSpPr>
        <p:spPr>
          <a:xfrm>
            <a:off x="3839566" y="4160520"/>
            <a:ext cx="563728" cy="384048"/>
          </a:xfrm>
          <a:prstGeom prst="rect">
            <a:avLst/>
          </a:prstGeom>
          <a:solidFill>
            <a:srgbClr val="E3EEFB"/>
          </a:solidFill>
          <a:ln w="6350">
            <a:solidFill>
              <a:srgbClr val="2F6DB5"/>
            </a:solidFill>
            <a:prstDash val="solid"/>
          </a:ln>
        </p:spPr>
      </p:sp>
      <p:sp>
        <p:nvSpPr>
          <p:cNvPr id="63" name="Text 61"/>
          <p:cNvSpPr txBox="1"/>
          <p:nvPr/>
        </p:nvSpPr>
        <p:spPr>
          <a:xfrm>
            <a:off x="3839566" y="416052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SRC2 P</a:t>
            </a:r>
            <a:endParaRPr lang="en-US" sz="650" dirty="0"/>
          </a:p>
        </p:txBody>
      </p:sp>
      <p:sp>
        <p:nvSpPr>
          <p:cNvPr id="64" name="Shape 62"/>
          <p:cNvSpPr/>
          <p:nvPr/>
        </p:nvSpPr>
        <p:spPr>
          <a:xfrm>
            <a:off x="4403293" y="4160520"/>
            <a:ext cx="563728" cy="384048"/>
          </a:xfrm>
          <a:prstGeom prst="rect">
            <a:avLst/>
          </a:prstGeom>
          <a:solidFill>
            <a:srgbClr val="DDF3F0"/>
          </a:solidFill>
          <a:ln w="6350">
            <a:solidFill>
              <a:srgbClr val="1F8A8A"/>
            </a:solidFill>
            <a:prstDash val="solid"/>
          </a:ln>
        </p:spPr>
      </p:sp>
      <p:sp>
        <p:nvSpPr>
          <p:cNvPr id="65" name="Text 63"/>
          <p:cNvSpPr txBox="1"/>
          <p:nvPr/>
        </p:nvSpPr>
        <p:spPr>
          <a:xfrm>
            <a:off x="4403293" y="416052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LOAD</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SRC2</a:t>
            </a:r>
            <a:endParaRPr lang="en-US" sz="650" dirty="0"/>
          </a:p>
        </p:txBody>
      </p:sp>
      <p:sp>
        <p:nvSpPr>
          <p:cNvPr id="66" name="Shape 64"/>
          <p:cNvSpPr/>
          <p:nvPr/>
        </p:nvSpPr>
        <p:spPr>
          <a:xfrm>
            <a:off x="4967021" y="4160520"/>
            <a:ext cx="563728" cy="384048"/>
          </a:xfrm>
          <a:prstGeom prst="rect">
            <a:avLst/>
          </a:prstGeom>
          <a:solidFill>
            <a:srgbClr val="ECE6FA"/>
          </a:solidFill>
          <a:ln w="6350">
            <a:solidFill>
              <a:srgbClr val="6C4FBF"/>
            </a:solidFill>
            <a:prstDash val="solid"/>
          </a:ln>
        </p:spPr>
      </p:sp>
      <p:sp>
        <p:nvSpPr>
          <p:cNvPr id="67" name="Text 65"/>
          <p:cNvSpPr txBox="1"/>
          <p:nvPr/>
        </p:nvSpPr>
        <p:spPr>
          <a:xfrm>
            <a:off x="4967021" y="416052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M_MUL</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MAC=0</a:t>
            </a:r>
            <a:endParaRPr lang="en-US" sz="650" dirty="0"/>
          </a:p>
        </p:txBody>
      </p:sp>
      <p:sp>
        <p:nvSpPr>
          <p:cNvPr id="68" name="Text 66"/>
          <p:cNvSpPr txBox="1"/>
          <p:nvPr/>
        </p:nvSpPr>
        <p:spPr>
          <a:xfrm>
            <a:off x="4738421" y="4562856"/>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60</a:t>
            </a:r>
            <a:endParaRPr lang="en-US" sz="650" dirty="0"/>
          </a:p>
        </p:txBody>
      </p:sp>
      <p:sp>
        <p:nvSpPr>
          <p:cNvPr id="69" name="Shape 67"/>
          <p:cNvSpPr/>
          <p:nvPr/>
        </p:nvSpPr>
        <p:spPr>
          <a:xfrm>
            <a:off x="5530748" y="4160520"/>
            <a:ext cx="563728" cy="384048"/>
          </a:xfrm>
          <a:prstGeom prst="rect">
            <a:avLst/>
          </a:prstGeom>
          <a:solidFill>
            <a:srgbClr val="E3EEFB"/>
          </a:solidFill>
          <a:ln w="6350">
            <a:solidFill>
              <a:srgbClr val="2F6DB5"/>
            </a:solidFill>
            <a:prstDash val="solid"/>
          </a:ln>
        </p:spPr>
      </p:sp>
      <p:sp>
        <p:nvSpPr>
          <p:cNvPr id="70" name="Text 68"/>
          <p:cNvSpPr txBox="1"/>
          <p:nvPr/>
        </p:nvSpPr>
        <p:spPr>
          <a:xfrm>
            <a:off x="5530748" y="416052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SRC1 M</a:t>
            </a:r>
            <a:endParaRPr lang="en-US" sz="650" dirty="0"/>
          </a:p>
        </p:txBody>
      </p:sp>
      <p:sp>
        <p:nvSpPr>
          <p:cNvPr id="71" name="Text 69"/>
          <p:cNvSpPr txBox="1"/>
          <p:nvPr/>
        </p:nvSpPr>
        <p:spPr>
          <a:xfrm>
            <a:off x="5256428" y="3977640"/>
            <a:ext cx="1112368" cy="164592"/>
          </a:xfrm>
          <a:prstGeom prst="rect">
            <a:avLst/>
          </a:prstGeom>
          <a:noFill/>
          <a:ln/>
        </p:spPr>
        <p:txBody>
          <a:bodyPr wrap="square" lIns="0" tIns="0" rIns="0" bIns="0" rtlCol="0" anchor="t"/>
          <a:lstStyle/>
          <a:p>
            <a:pPr algn="ctr" indent="0" marL="0">
              <a:buNone/>
            </a:pPr>
            <a:r>
              <a:rPr lang="en-US" sz="700" b="1" dirty="0">
                <a:solidFill>
                  <a:srgbClr val="15243B"/>
                </a:solidFill>
                <a:latin typeface="Malgun Gothic" pitchFamily="34" charset="0"/>
                <a:ea typeface="Malgun Gothic" pitchFamily="34" charset="-122"/>
                <a:cs typeface="Malgun Gothic" pitchFamily="34" charset="-120"/>
              </a:rPr>
              <a:t>② X₁ (+256 nib)</a:t>
            </a:r>
            <a:endParaRPr lang="en-US" sz="700" dirty="0"/>
          </a:p>
        </p:txBody>
      </p:sp>
      <p:sp>
        <p:nvSpPr>
          <p:cNvPr id="72" name="Shape 70"/>
          <p:cNvSpPr/>
          <p:nvPr/>
        </p:nvSpPr>
        <p:spPr>
          <a:xfrm>
            <a:off x="6094476" y="4160520"/>
            <a:ext cx="563728" cy="384048"/>
          </a:xfrm>
          <a:prstGeom prst="rect">
            <a:avLst/>
          </a:prstGeom>
          <a:solidFill>
            <a:srgbClr val="E3EEFB"/>
          </a:solidFill>
          <a:ln w="6350">
            <a:solidFill>
              <a:srgbClr val="2F6DB5"/>
            </a:solidFill>
            <a:prstDash val="solid"/>
          </a:ln>
        </p:spPr>
      </p:sp>
      <p:sp>
        <p:nvSpPr>
          <p:cNvPr id="73" name="Text 71"/>
          <p:cNvSpPr txBox="1"/>
          <p:nvPr/>
        </p:nvSpPr>
        <p:spPr>
          <a:xfrm>
            <a:off x="6094476" y="416052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SRC1 P</a:t>
            </a:r>
            <a:endParaRPr lang="en-US" sz="650" dirty="0"/>
          </a:p>
        </p:txBody>
      </p:sp>
      <p:sp>
        <p:nvSpPr>
          <p:cNvPr id="74" name="Shape 72"/>
          <p:cNvSpPr/>
          <p:nvPr/>
        </p:nvSpPr>
        <p:spPr>
          <a:xfrm>
            <a:off x="6658204" y="4160520"/>
            <a:ext cx="563728" cy="384048"/>
          </a:xfrm>
          <a:prstGeom prst="rect">
            <a:avLst/>
          </a:prstGeom>
          <a:solidFill>
            <a:srgbClr val="DDF3F0"/>
          </a:solidFill>
          <a:ln w="6350">
            <a:solidFill>
              <a:srgbClr val="1F8A8A"/>
            </a:solidFill>
            <a:prstDash val="solid"/>
          </a:ln>
        </p:spPr>
      </p:sp>
      <p:sp>
        <p:nvSpPr>
          <p:cNvPr id="75" name="Text 73"/>
          <p:cNvSpPr txBox="1"/>
          <p:nvPr/>
        </p:nvSpPr>
        <p:spPr>
          <a:xfrm>
            <a:off x="6658204" y="416052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LOAD</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SRC1</a:t>
            </a:r>
            <a:endParaRPr lang="en-US" sz="650" dirty="0"/>
          </a:p>
        </p:txBody>
      </p:sp>
      <p:sp>
        <p:nvSpPr>
          <p:cNvPr id="76" name="Shape 74"/>
          <p:cNvSpPr/>
          <p:nvPr/>
        </p:nvSpPr>
        <p:spPr>
          <a:xfrm>
            <a:off x="7221931" y="4160520"/>
            <a:ext cx="563728" cy="384048"/>
          </a:xfrm>
          <a:prstGeom prst="rect">
            <a:avLst/>
          </a:prstGeom>
          <a:solidFill>
            <a:srgbClr val="E3EEFB"/>
          </a:solidFill>
          <a:ln w="6350">
            <a:solidFill>
              <a:srgbClr val="2F6DB5"/>
            </a:solidFill>
            <a:prstDash val="solid"/>
          </a:ln>
        </p:spPr>
      </p:sp>
      <p:sp>
        <p:nvSpPr>
          <p:cNvPr id="77" name="Text 75"/>
          <p:cNvSpPr txBox="1"/>
          <p:nvPr/>
        </p:nvSpPr>
        <p:spPr>
          <a:xfrm>
            <a:off x="7221931" y="416052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SRC2 M</a:t>
            </a:r>
            <a:endParaRPr lang="en-US" sz="650" dirty="0"/>
          </a:p>
        </p:txBody>
      </p:sp>
      <p:sp>
        <p:nvSpPr>
          <p:cNvPr id="78" name="Text 76"/>
          <p:cNvSpPr txBox="1"/>
          <p:nvPr/>
        </p:nvSpPr>
        <p:spPr>
          <a:xfrm>
            <a:off x="6947611" y="3977640"/>
            <a:ext cx="1112368" cy="164592"/>
          </a:xfrm>
          <a:prstGeom prst="rect">
            <a:avLst/>
          </a:prstGeom>
          <a:noFill/>
          <a:ln/>
        </p:spPr>
        <p:txBody>
          <a:bodyPr wrap="square" lIns="0" tIns="0" rIns="0" bIns="0" rtlCol="0" anchor="t"/>
          <a:lstStyle/>
          <a:p>
            <a:pPr algn="ctr" indent="0" marL="0">
              <a:buNone/>
            </a:pPr>
            <a:r>
              <a:rPr lang="en-US" sz="700" b="1" dirty="0">
                <a:solidFill>
                  <a:srgbClr val="15243B"/>
                </a:solidFill>
                <a:latin typeface="Malgun Gothic" pitchFamily="34" charset="0"/>
                <a:ea typeface="Malgun Gothic" pitchFamily="34" charset="-122"/>
                <a:cs typeface="Malgun Gothic" pitchFamily="34" charset="-120"/>
              </a:rPr>
              <a:t>B₁ (+16384 nib)</a:t>
            </a:r>
            <a:endParaRPr lang="en-US" sz="700" dirty="0"/>
          </a:p>
        </p:txBody>
      </p:sp>
      <p:sp>
        <p:nvSpPr>
          <p:cNvPr id="79" name="Shape 77"/>
          <p:cNvSpPr/>
          <p:nvPr/>
        </p:nvSpPr>
        <p:spPr>
          <a:xfrm>
            <a:off x="7785659" y="4160520"/>
            <a:ext cx="563728" cy="384048"/>
          </a:xfrm>
          <a:prstGeom prst="rect">
            <a:avLst/>
          </a:prstGeom>
          <a:solidFill>
            <a:srgbClr val="E3EEFB"/>
          </a:solidFill>
          <a:ln w="6350">
            <a:solidFill>
              <a:srgbClr val="2F6DB5"/>
            </a:solidFill>
            <a:prstDash val="solid"/>
          </a:ln>
        </p:spPr>
      </p:sp>
      <p:sp>
        <p:nvSpPr>
          <p:cNvPr id="80" name="Text 78"/>
          <p:cNvSpPr txBox="1"/>
          <p:nvPr/>
        </p:nvSpPr>
        <p:spPr>
          <a:xfrm>
            <a:off x="7785659" y="416052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SRC2 P</a:t>
            </a:r>
            <a:endParaRPr lang="en-US" sz="650" dirty="0"/>
          </a:p>
        </p:txBody>
      </p:sp>
      <p:sp>
        <p:nvSpPr>
          <p:cNvPr id="81" name="Shape 79"/>
          <p:cNvSpPr/>
          <p:nvPr/>
        </p:nvSpPr>
        <p:spPr>
          <a:xfrm>
            <a:off x="8349386" y="4160520"/>
            <a:ext cx="563728" cy="384048"/>
          </a:xfrm>
          <a:prstGeom prst="rect">
            <a:avLst/>
          </a:prstGeom>
          <a:solidFill>
            <a:srgbClr val="DDF3F0"/>
          </a:solidFill>
          <a:ln w="6350">
            <a:solidFill>
              <a:srgbClr val="1F8A8A"/>
            </a:solidFill>
            <a:prstDash val="solid"/>
          </a:ln>
        </p:spPr>
      </p:sp>
      <p:sp>
        <p:nvSpPr>
          <p:cNvPr id="82" name="Text 80"/>
          <p:cNvSpPr txBox="1"/>
          <p:nvPr/>
        </p:nvSpPr>
        <p:spPr>
          <a:xfrm>
            <a:off x="8349386" y="416052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LOAD</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SRC2</a:t>
            </a:r>
            <a:endParaRPr lang="en-US" sz="650" dirty="0"/>
          </a:p>
        </p:txBody>
      </p:sp>
      <p:sp>
        <p:nvSpPr>
          <p:cNvPr id="83" name="Shape 81"/>
          <p:cNvSpPr/>
          <p:nvPr/>
        </p:nvSpPr>
        <p:spPr>
          <a:xfrm>
            <a:off x="8913114" y="4160520"/>
            <a:ext cx="563728" cy="384048"/>
          </a:xfrm>
          <a:prstGeom prst="rect">
            <a:avLst/>
          </a:prstGeom>
          <a:solidFill>
            <a:srgbClr val="ECE6FA"/>
          </a:solidFill>
          <a:ln w="6350">
            <a:solidFill>
              <a:srgbClr val="6C4FBF"/>
            </a:solidFill>
            <a:prstDash val="solid"/>
          </a:ln>
        </p:spPr>
      </p:sp>
      <p:sp>
        <p:nvSpPr>
          <p:cNvPr id="84" name="Text 82"/>
          <p:cNvSpPr txBox="1"/>
          <p:nvPr/>
        </p:nvSpPr>
        <p:spPr>
          <a:xfrm>
            <a:off x="8913114" y="416052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M_MUL</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MAC=1</a:t>
            </a:r>
            <a:endParaRPr lang="en-US" sz="650" dirty="0"/>
          </a:p>
        </p:txBody>
      </p:sp>
      <p:sp>
        <p:nvSpPr>
          <p:cNvPr id="85" name="Text 83"/>
          <p:cNvSpPr txBox="1"/>
          <p:nvPr/>
        </p:nvSpPr>
        <p:spPr>
          <a:xfrm>
            <a:off x="8684514" y="4562856"/>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67</a:t>
            </a:r>
            <a:endParaRPr lang="en-US" sz="650" dirty="0"/>
          </a:p>
        </p:txBody>
      </p:sp>
      <p:sp>
        <p:nvSpPr>
          <p:cNvPr id="86" name="Shape 84"/>
          <p:cNvSpPr/>
          <p:nvPr/>
        </p:nvSpPr>
        <p:spPr>
          <a:xfrm>
            <a:off x="9476842" y="4160520"/>
            <a:ext cx="563728" cy="384048"/>
          </a:xfrm>
          <a:prstGeom prst="rect">
            <a:avLst/>
          </a:prstGeom>
          <a:solidFill>
            <a:srgbClr val="E3EEFB"/>
          </a:solidFill>
          <a:ln w="6350">
            <a:solidFill>
              <a:srgbClr val="2F6DB5"/>
            </a:solidFill>
            <a:prstDash val="solid"/>
          </a:ln>
        </p:spPr>
      </p:sp>
      <p:sp>
        <p:nvSpPr>
          <p:cNvPr id="87" name="Text 85"/>
          <p:cNvSpPr txBox="1"/>
          <p:nvPr/>
        </p:nvSpPr>
        <p:spPr>
          <a:xfrm>
            <a:off x="9476842" y="416052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DST M</a:t>
            </a:r>
            <a:endParaRPr lang="en-US" sz="650" dirty="0"/>
          </a:p>
        </p:txBody>
      </p:sp>
      <p:sp>
        <p:nvSpPr>
          <p:cNvPr id="88" name="Text 86"/>
          <p:cNvSpPr txBox="1"/>
          <p:nvPr/>
        </p:nvSpPr>
        <p:spPr>
          <a:xfrm>
            <a:off x="9202522" y="3977640"/>
            <a:ext cx="1112368" cy="164592"/>
          </a:xfrm>
          <a:prstGeom prst="rect">
            <a:avLst/>
          </a:prstGeom>
          <a:noFill/>
          <a:ln/>
        </p:spPr>
        <p:txBody>
          <a:bodyPr wrap="square" lIns="0" tIns="0" rIns="0" bIns="0" rtlCol="0" anchor="t"/>
          <a:lstStyle/>
          <a:p>
            <a:pPr algn="ctr" indent="0" marL="0">
              <a:buNone/>
            </a:pPr>
            <a:r>
              <a:rPr lang="en-US" sz="700" b="1" dirty="0">
                <a:solidFill>
                  <a:srgbClr val="15243B"/>
                </a:solidFill>
                <a:latin typeface="Malgun Gothic" pitchFamily="34" charset="0"/>
                <a:ea typeface="Malgun Gothic" pitchFamily="34" charset="-122"/>
                <a:cs typeface="Malgun Gothic" pitchFamily="34" charset="-120"/>
              </a:rPr>
              <a:t>③ Y 저장</a:t>
            </a:r>
            <a:endParaRPr lang="en-US" sz="700" dirty="0"/>
          </a:p>
        </p:txBody>
      </p:sp>
      <p:sp>
        <p:nvSpPr>
          <p:cNvPr id="89" name="Shape 87"/>
          <p:cNvSpPr/>
          <p:nvPr/>
        </p:nvSpPr>
        <p:spPr>
          <a:xfrm>
            <a:off x="10040569" y="4160520"/>
            <a:ext cx="563728" cy="384048"/>
          </a:xfrm>
          <a:prstGeom prst="rect">
            <a:avLst/>
          </a:prstGeom>
          <a:solidFill>
            <a:srgbClr val="EEF1F5"/>
          </a:solidFill>
          <a:ln w="6350">
            <a:solidFill>
              <a:srgbClr val="5B6B7F"/>
            </a:solidFill>
            <a:prstDash val="solid"/>
          </a:ln>
        </p:spPr>
      </p:sp>
      <p:sp>
        <p:nvSpPr>
          <p:cNvPr id="90" name="Text 88"/>
          <p:cNvSpPr txBox="1"/>
          <p:nvPr/>
        </p:nvSpPr>
        <p:spPr>
          <a:xfrm>
            <a:off x="10040569" y="416052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COLS</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64</a:t>
            </a:r>
            <a:endParaRPr lang="en-US" sz="650" dirty="0"/>
          </a:p>
        </p:txBody>
      </p:sp>
      <p:sp>
        <p:nvSpPr>
          <p:cNvPr id="91" name="Shape 89"/>
          <p:cNvSpPr/>
          <p:nvPr/>
        </p:nvSpPr>
        <p:spPr>
          <a:xfrm>
            <a:off x="10604297" y="4160520"/>
            <a:ext cx="563728" cy="384048"/>
          </a:xfrm>
          <a:prstGeom prst="rect">
            <a:avLst/>
          </a:prstGeom>
          <a:solidFill>
            <a:srgbClr val="E3EEFB"/>
          </a:solidFill>
          <a:ln w="6350">
            <a:solidFill>
              <a:srgbClr val="2F6DB5"/>
            </a:solidFill>
            <a:prstDash val="solid"/>
          </a:ln>
        </p:spPr>
      </p:sp>
      <p:sp>
        <p:nvSpPr>
          <p:cNvPr id="92" name="Text 90"/>
          <p:cNvSpPr txBox="1"/>
          <p:nvPr/>
        </p:nvSpPr>
        <p:spPr>
          <a:xfrm>
            <a:off x="10604297" y="416052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DST P</a:t>
            </a:r>
            <a:endParaRPr lang="en-US" sz="650" dirty="0"/>
          </a:p>
        </p:txBody>
      </p:sp>
      <p:sp>
        <p:nvSpPr>
          <p:cNvPr id="93" name="Shape 91"/>
          <p:cNvSpPr/>
          <p:nvPr/>
        </p:nvSpPr>
        <p:spPr>
          <a:xfrm>
            <a:off x="11168024" y="4160520"/>
            <a:ext cx="563728" cy="384048"/>
          </a:xfrm>
          <a:prstGeom prst="rect">
            <a:avLst/>
          </a:prstGeom>
          <a:solidFill>
            <a:srgbClr val="E5F3E7"/>
          </a:solidFill>
          <a:ln w="6350">
            <a:solidFill>
              <a:srgbClr val="2E7D32"/>
            </a:solidFill>
            <a:prstDash val="solid"/>
          </a:ln>
        </p:spPr>
      </p:sp>
      <p:sp>
        <p:nvSpPr>
          <p:cNvPr id="94" name="Text 92"/>
          <p:cNvSpPr txBox="1"/>
          <p:nvPr/>
        </p:nvSpPr>
        <p:spPr>
          <a:xfrm>
            <a:off x="11168024" y="416052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SAVE</a:t>
            </a:r>
            <a:endParaRPr lang="en-US" sz="650" dirty="0"/>
          </a:p>
        </p:txBody>
      </p:sp>
      <p:sp>
        <p:nvSpPr>
          <p:cNvPr id="95" name="Text 93"/>
          <p:cNvSpPr txBox="1"/>
          <p:nvPr/>
        </p:nvSpPr>
        <p:spPr>
          <a:xfrm>
            <a:off x="10939424" y="4562856"/>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71</a:t>
            </a:r>
            <a:endParaRPr lang="en-US" sz="650" dirty="0"/>
          </a:p>
        </p:txBody>
      </p:sp>
      <p:sp>
        <p:nvSpPr>
          <p:cNvPr id="96" name="Text 94"/>
          <p:cNvSpPr txBox="1"/>
          <p:nvPr/>
        </p:nvSpPr>
        <p:spPr>
          <a:xfrm>
            <a:off x="457200" y="4754880"/>
            <a:ext cx="11274552" cy="365760"/>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두 번째 K tile에서 COLS(0x89)가 없는 이유: rows/cols가 바뀌지 않아 peephole이 생략. SRC1 MAIN 0xCC18 → 0xCD18 (+64열), SRC2 MAIN 0x4C18 → 0x8C18 (+64행 × 64열). DST 0x0C18 = byte 1548 (X 자리 재사용).</a:t>
            </a:r>
            <a:endParaRPr lang="en-US" sz="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5212080"/>
          <a:ext cx="11274552" cy="914400"/>
        </p:xfrm>
        <a:graphic>
          <a:graphicData uri="http://schemas.openxmlformats.org/drawingml/2006/table">
            <a:tbl>
              <a:tblPr/>
              <a:tblGrid>
                <a:gridCol w="1828800"/>
                <a:gridCol w="9445752"/>
              </a:tblGrid>
              <a:tr h="237744">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질문</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답</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3774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왜 K가 최내측인가?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accumulator가 1개이고 partial spill 금지 → 출력 tile 하나의 K chain을 끝내고 다음 tile. M, N이 크면 tile마다 ①②③ 반복</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98" name="Shape 95"/>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99" name="Text 96"/>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Schedule의 자유도는 tile 안이 아니라 tile 바깥에 있습니다: 어떤 panel을 SRAM에 얼마나 오래 두고, 어떤 순서로 출력 tile을 돌 것인가.</a:t>
            </a:r>
            <a:endParaRPr lang="en-US" sz="1250" dirty="0"/>
          </a:p>
        </p:txBody>
      </p:sp>
      <p:sp>
        <p:nvSpPr>
          <p:cNvPr id="100" name="Text 9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01" name="Text 9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docs/examples/two_matmuls_recorded/program.json (words 52–71), scheduled_0001.py, docs/current/06_matmul_schedule.md</a:t>
            </a:r>
            <a:endParaRPr lang="en-US" sz="850" dirty="0"/>
          </a:p>
        </p:txBody>
      </p:sp>
      <p:sp>
        <p:nvSpPr>
          <p:cNvPr id="102" name="Text 9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30 / 89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6 · Matmul scheduling</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SRAM에 올리는 panel은 matrix tile보다 크다: 실제 폭 gate projection</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X[64,3072] @ W[3072,8192]. W는 48 MiB = 48×128 tiles라 SRAM에 들어가지 않으므로 X(1×48 tiles, 384 KiB)를 상주시키고 W의 열 panel j(48×1 tiles, 384 KiB)를 128번 교체합니다.</a:t>
            </a:r>
            <a:endParaRPr lang="en-US" sz="1250" dirty="0"/>
          </a:p>
        </p:txBody>
      </p:sp>
      <p:sp>
        <p:nvSpPr>
          <p:cNvPr id="5" name="Shape 3"/>
          <p:cNvSpPr/>
          <p:nvPr/>
        </p:nvSpPr>
        <p:spPr>
          <a:xfrm>
            <a:off x="457200" y="1691640"/>
            <a:ext cx="3931920" cy="1463040"/>
          </a:xfrm>
          <a:prstGeom prst="rect">
            <a:avLst/>
          </a:prstGeom>
          <a:solidFill>
            <a:srgbClr val="FFF1DC"/>
          </a:solidFill>
          <a:ln w="12700">
            <a:solidFill>
              <a:srgbClr val="D98A1E"/>
            </a:solidFill>
            <a:prstDash val="solid"/>
          </a:ln>
        </p:spPr>
      </p:sp>
      <p:sp>
        <p:nvSpPr>
          <p:cNvPr id="6" name="Shape 4"/>
          <p:cNvSpPr/>
          <p:nvPr/>
        </p:nvSpPr>
        <p:spPr>
          <a:xfrm>
            <a:off x="1194435" y="1691640"/>
            <a:ext cx="245745" cy="1463040"/>
          </a:xfrm>
          <a:prstGeom prst="rect">
            <a:avLst/>
          </a:prstGeom>
          <a:solidFill>
            <a:srgbClr val="DDF3F0"/>
          </a:solidFill>
          <a:ln w="15875">
            <a:solidFill>
              <a:srgbClr val="1F8A8A"/>
            </a:solidFill>
            <a:prstDash val="solid"/>
          </a:ln>
        </p:spPr>
      </p:sp>
      <p:sp>
        <p:nvSpPr>
          <p:cNvPr id="7" name="Shape 5"/>
          <p:cNvSpPr/>
          <p:nvPr/>
        </p:nvSpPr>
        <p:spPr>
          <a:xfrm>
            <a:off x="702945" y="1691640"/>
            <a:ext cx="914" cy="1463040"/>
          </a:xfrm>
          <a:prstGeom prst="line">
            <a:avLst/>
          </a:prstGeom>
          <a:noFill/>
          <a:ln w="5080">
            <a:solidFill>
              <a:srgbClr val="D5DCE5"/>
            </a:solidFill>
            <a:prstDash val="solid"/>
          </a:ln>
        </p:spPr>
      </p:sp>
      <p:sp>
        <p:nvSpPr>
          <p:cNvPr id="8" name="Shape 6"/>
          <p:cNvSpPr/>
          <p:nvPr/>
        </p:nvSpPr>
        <p:spPr>
          <a:xfrm>
            <a:off x="948690" y="1691640"/>
            <a:ext cx="914" cy="1463040"/>
          </a:xfrm>
          <a:prstGeom prst="line">
            <a:avLst/>
          </a:prstGeom>
          <a:noFill/>
          <a:ln w="5080">
            <a:solidFill>
              <a:srgbClr val="D5DCE5"/>
            </a:solidFill>
            <a:prstDash val="solid"/>
          </a:ln>
        </p:spPr>
      </p:sp>
      <p:sp>
        <p:nvSpPr>
          <p:cNvPr id="9" name="Shape 7"/>
          <p:cNvSpPr/>
          <p:nvPr/>
        </p:nvSpPr>
        <p:spPr>
          <a:xfrm>
            <a:off x="1194435" y="1691640"/>
            <a:ext cx="914" cy="1463040"/>
          </a:xfrm>
          <a:prstGeom prst="line">
            <a:avLst/>
          </a:prstGeom>
          <a:noFill/>
          <a:ln w="5080">
            <a:solidFill>
              <a:srgbClr val="D5DCE5"/>
            </a:solidFill>
            <a:prstDash val="solid"/>
          </a:ln>
        </p:spPr>
      </p:sp>
      <p:sp>
        <p:nvSpPr>
          <p:cNvPr id="10" name="Shape 8"/>
          <p:cNvSpPr/>
          <p:nvPr/>
        </p:nvSpPr>
        <p:spPr>
          <a:xfrm>
            <a:off x="1440180" y="1691640"/>
            <a:ext cx="914" cy="1463040"/>
          </a:xfrm>
          <a:prstGeom prst="line">
            <a:avLst/>
          </a:prstGeom>
          <a:noFill/>
          <a:ln w="5080">
            <a:solidFill>
              <a:srgbClr val="D5DCE5"/>
            </a:solidFill>
            <a:prstDash val="solid"/>
          </a:ln>
        </p:spPr>
      </p:sp>
      <p:sp>
        <p:nvSpPr>
          <p:cNvPr id="11" name="Shape 9"/>
          <p:cNvSpPr/>
          <p:nvPr/>
        </p:nvSpPr>
        <p:spPr>
          <a:xfrm>
            <a:off x="1685925" y="1691640"/>
            <a:ext cx="914" cy="1463040"/>
          </a:xfrm>
          <a:prstGeom prst="line">
            <a:avLst/>
          </a:prstGeom>
          <a:noFill/>
          <a:ln w="5080">
            <a:solidFill>
              <a:srgbClr val="D5DCE5"/>
            </a:solidFill>
            <a:prstDash val="solid"/>
          </a:ln>
        </p:spPr>
      </p:sp>
      <p:sp>
        <p:nvSpPr>
          <p:cNvPr id="12" name="Shape 10"/>
          <p:cNvSpPr/>
          <p:nvPr/>
        </p:nvSpPr>
        <p:spPr>
          <a:xfrm>
            <a:off x="1931670" y="1691640"/>
            <a:ext cx="914" cy="1463040"/>
          </a:xfrm>
          <a:prstGeom prst="line">
            <a:avLst/>
          </a:prstGeom>
          <a:noFill/>
          <a:ln w="5080">
            <a:solidFill>
              <a:srgbClr val="D5DCE5"/>
            </a:solidFill>
            <a:prstDash val="solid"/>
          </a:ln>
        </p:spPr>
      </p:sp>
      <p:sp>
        <p:nvSpPr>
          <p:cNvPr id="13" name="Shape 11"/>
          <p:cNvSpPr/>
          <p:nvPr/>
        </p:nvSpPr>
        <p:spPr>
          <a:xfrm>
            <a:off x="2177415" y="1691640"/>
            <a:ext cx="914" cy="1463040"/>
          </a:xfrm>
          <a:prstGeom prst="line">
            <a:avLst/>
          </a:prstGeom>
          <a:noFill/>
          <a:ln w="5080">
            <a:solidFill>
              <a:srgbClr val="D5DCE5"/>
            </a:solidFill>
            <a:prstDash val="solid"/>
          </a:ln>
        </p:spPr>
      </p:sp>
      <p:sp>
        <p:nvSpPr>
          <p:cNvPr id="14" name="Shape 12"/>
          <p:cNvSpPr/>
          <p:nvPr/>
        </p:nvSpPr>
        <p:spPr>
          <a:xfrm>
            <a:off x="2423160" y="1691640"/>
            <a:ext cx="914" cy="1463040"/>
          </a:xfrm>
          <a:prstGeom prst="line">
            <a:avLst/>
          </a:prstGeom>
          <a:noFill/>
          <a:ln w="5080">
            <a:solidFill>
              <a:srgbClr val="D5DCE5"/>
            </a:solidFill>
            <a:prstDash val="solid"/>
          </a:ln>
        </p:spPr>
      </p:sp>
      <p:sp>
        <p:nvSpPr>
          <p:cNvPr id="15" name="Shape 13"/>
          <p:cNvSpPr/>
          <p:nvPr/>
        </p:nvSpPr>
        <p:spPr>
          <a:xfrm>
            <a:off x="2668905" y="1691640"/>
            <a:ext cx="914" cy="1463040"/>
          </a:xfrm>
          <a:prstGeom prst="line">
            <a:avLst/>
          </a:prstGeom>
          <a:noFill/>
          <a:ln w="5080">
            <a:solidFill>
              <a:srgbClr val="D5DCE5"/>
            </a:solidFill>
            <a:prstDash val="solid"/>
          </a:ln>
        </p:spPr>
      </p:sp>
      <p:sp>
        <p:nvSpPr>
          <p:cNvPr id="16" name="Shape 14"/>
          <p:cNvSpPr/>
          <p:nvPr/>
        </p:nvSpPr>
        <p:spPr>
          <a:xfrm>
            <a:off x="2914650" y="1691640"/>
            <a:ext cx="914" cy="1463040"/>
          </a:xfrm>
          <a:prstGeom prst="line">
            <a:avLst/>
          </a:prstGeom>
          <a:noFill/>
          <a:ln w="5080">
            <a:solidFill>
              <a:srgbClr val="D5DCE5"/>
            </a:solidFill>
            <a:prstDash val="solid"/>
          </a:ln>
        </p:spPr>
      </p:sp>
      <p:sp>
        <p:nvSpPr>
          <p:cNvPr id="17" name="Shape 15"/>
          <p:cNvSpPr/>
          <p:nvPr/>
        </p:nvSpPr>
        <p:spPr>
          <a:xfrm>
            <a:off x="3160395" y="1691640"/>
            <a:ext cx="914" cy="1463040"/>
          </a:xfrm>
          <a:prstGeom prst="line">
            <a:avLst/>
          </a:prstGeom>
          <a:noFill/>
          <a:ln w="5080">
            <a:solidFill>
              <a:srgbClr val="D5DCE5"/>
            </a:solidFill>
            <a:prstDash val="solid"/>
          </a:ln>
        </p:spPr>
      </p:sp>
      <p:sp>
        <p:nvSpPr>
          <p:cNvPr id="18" name="Shape 16"/>
          <p:cNvSpPr/>
          <p:nvPr/>
        </p:nvSpPr>
        <p:spPr>
          <a:xfrm>
            <a:off x="3406140" y="1691640"/>
            <a:ext cx="914" cy="1463040"/>
          </a:xfrm>
          <a:prstGeom prst="line">
            <a:avLst/>
          </a:prstGeom>
          <a:noFill/>
          <a:ln w="5080">
            <a:solidFill>
              <a:srgbClr val="D5DCE5"/>
            </a:solidFill>
            <a:prstDash val="solid"/>
          </a:ln>
        </p:spPr>
      </p:sp>
      <p:sp>
        <p:nvSpPr>
          <p:cNvPr id="19" name="Shape 17"/>
          <p:cNvSpPr/>
          <p:nvPr/>
        </p:nvSpPr>
        <p:spPr>
          <a:xfrm>
            <a:off x="3651885" y="1691640"/>
            <a:ext cx="914" cy="1463040"/>
          </a:xfrm>
          <a:prstGeom prst="line">
            <a:avLst/>
          </a:prstGeom>
          <a:noFill/>
          <a:ln w="5080">
            <a:solidFill>
              <a:srgbClr val="D5DCE5"/>
            </a:solidFill>
            <a:prstDash val="solid"/>
          </a:ln>
        </p:spPr>
      </p:sp>
      <p:sp>
        <p:nvSpPr>
          <p:cNvPr id="20" name="Shape 18"/>
          <p:cNvSpPr/>
          <p:nvPr/>
        </p:nvSpPr>
        <p:spPr>
          <a:xfrm>
            <a:off x="3897630" y="1691640"/>
            <a:ext cx="914" cy="1463040"/>
          </a:xfrm>
          <a:prstGeom prst="line">
            <a:avLst/>
          </a:prstGeom>
          <a:noFill/>
          <a:ln w="5080">
            <a:solidFill>
              <a:srgbClr val="D5DCE5"/>
            </a:solidFill>
            <a:prstDash val="solid"/>
          </a:ln>
        </p:spPr>
      </p:sp>
      <p:sp>
        <p:nvSpPr>
          <p:cNvPr id="21" name="Shape 19"/>
          <p:cNvSpPr/>
          <p:nvPr/>
        </p:nvSpPr>
        <p:spPr>
          <a:xfrm>
            <a:off x="4143375" y="1691640"/>
            <a:ext cx="914" cy="1463040"/>
          </a:xfrm>
          <a:prstGeom prst="line">
            <a:avLst/>
          </a:prstGeom>
          <a:noFill/>
          <a:ln w="5080">
            <a:solidFill>
              <a:srgbClr val="D5DCE5"/>
            </a:solidFill>
            <a:prstDash val="solid"/>
          </a:ln>
        </p:spPr>
      </p:sp>
      <p:sp>
        <p:nvSpPr>
          <p:cNvPr id="22" name="Shape 20"/>
          <p:cNvSpPr/>
          <p:nvPr/>
        </p:nvSpPr>
        <p:spPr>
          <a:xfrm>
            <a:off x="457200" y="1935480"/>
            <a:ext cx="3931920" cy="914"/>
          </a:xfrm>
          <a:prstGeom prst="line">
            <a:avLst/>
          </a:prstGeom>
          <a:noFill/>
          <a:ln w="5080">
            <a:solidFill>
              <a:srgbClr val="D5DCE5"/>
            </a:solidFill>
            <a:prstDash val="solid"/>
          </a:ln>
        </p:spPr>
      </p:sp>
      <p:sp>
        <p:nvSpPr>
          <p:cNvPr id="23" name="Shape 21"/>
          <p:cNvSpPr/>
          <p:nvPr/>
        </p:nvSpPr>
        <p:spPr>
          <a:xfrm>
            <a:off x="457200" y="2179320"/>
            <a:ext cx="3931920" cy="914"/>
          </a:xfrm>
          <a:prstGeom prst="line">
            <a:avLst/>
          </a:prstGeom>
          <a:noFill/>
          <a:ln w="5080">
            <a:solidFill>
              <a:srgbClr val="D5DCE5"/>
            </a:solidFill>
            <a:prstDash val="solid"/>
          </a:ln>
        </p:spPr>
      </p:sp>
      <p:sp>
        <p:nvSpPr>
          <p:cNvPr id="24" name="Shape 22"/>
          <p:cNvSpPr/>
          <p:nvPr/>
        </p:nvSpPr>
        <p:spPr>
          <a:xfrm>
            <a:off x="457200" y="2423160"/>
            <a:ext cx="3931920" cy="914"/>
          </a:xfrm>
          <a:prstGeom prst="line">
            <a:avLst/>
          </a:prstGeom>
          <a:noFill/>
          <a:ln w="5080">
            <a:solidFill>
              <a:srgbClr val="D5DCE5"/>
            </a:solidFill>
            <a:prstDash val="solid"/>
          </a:ln>
        </p:spPr>
      </p:sp>
      <p:sp>
        <p:nvSpPr>
          <p:cNvPr id="25" name="Shape 23"/>
          <p:cNvSpPr/>
          <p:nvPr/>
        </p:nvSpPr>
        <p:spPr>
          <a:xfrm>
            <a:off x="457200" y="2667000"/>
            <a:ext cx="3931920" cy="914"/>
          </a:xfrm>
          <a:prstGeom prst="line">
            <a:avLst/>
          </a:prstGeom>
          <a:noFill/>
          <a:ln w="5080">
            <a:solidFill>
              <a:srgbClr val="D5DCE5"/>
            </a:solidFill>
            <a:prstDash val="solid"/>
          </a:ln>
        </p:spPr>
      </p:sp>
      <p:sp>
        <p:nvSpPr>
          <p:cNvPr id="26" name="Shape 24"/>
          <p:cNvSpPr/>
          <p:nvPr/>
        </p:nvSpPr>
        <p:spPr>
          <a:xfrm>
            <a:off x="457200" y="2910840"/>
            <a:ext cx="3931920" cy="914"/>
          </a:xfrm>
          <a:prstGeom prst="line">
            <a:avLst/>
          </a:prstGeom>
          <a:noFill/>
          <a:ln w="5080">
            <a:solidFill>
              <a:srgbClr val="D5DCE5"/>
            </a:solidFill>
            <a:prstDash val="solid"/>
          </a:ln>
        </p:spPr>
      </p:sp>
      <p:sp>
        <p:nvSpPr>
          <p:cNvPr id="27" name="Text 25"/>
          <p:cNvSpPr txBox="1"/>
          <p:nvPr/>
        </p:nvSpPr>
        <p:spPr>
          <a:xfrm>
            <a:off x="1194435" y="1691640"/>
            <a:ext cx="245745" cy="146304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j</a:t>
            </a:r>
            <a:endParaRPr lang="en-US" sz="700" dirty="0"/>
          </a:p>
        </p:txBody>
      </p:sp>
      <p:sp>
        <p:nvSpPr>
          <p:cNvPr id="28" name="Text 26"/>
          <p:cNvSpPr txBox="1"/>
          <p:nvPr/>
        </p:nvSpPr>
        <p:spPr>
          <a:xfrm>
            <a:off x="457200" y="1463040"/>
            <a:ext cx="420624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DRAM: W [3072,8192] = 48 × 128 tiles (48 MiB) — 그림은 6×16으로 축약</a:t>
            </a:r>
            <a:endParaRPr lang="en-US" sz="850" dirty="0"/>
          </a:p>
        </p:txBody>
      </p:sp>
      <p:sp>
        <p:nvSpPr>
          <p:cNvPr id="29" name="Text 27"/>
          <p:cNvSpPr txBox="1"/>
          <p:nvPr/>
        </p:nvSpPr>
        <p:spPr>
          <a:xfrm>
            <a:off x="457200" y="3191256"/>
            <a:ext cx="402336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열 panel j = 48 tiles = 384 KiB. j = 0 … 127 순서로 GLOAD</a:t>
            </a:r>
            <a:endParaRPr lang="en-US" sz="750" dirty="0"/>
          </a:p>
        </p:txBody>
      </p:sp>
      <p:sp>
        <p:nvSpPr>
          <p:cNvPr id="30" name="Shape 28"/>
          <p:cNvSpPr/>
          <p:nvPr/>
        </p:nvSpPr>
        <p:spPr>
          <a:xfrm>
            <a:off x="4892040" y="1463040"/>
            <a:ext cx="3840480" cy="2148840"/>
          </a:xfrm>
          <a:prstGeom prst="roundRect">
            <a:avLst>
              <a:gd name="adj" fmla="val 3404"/>
            </a:avLst>
          </a:prstGeom>
          <a:solidFill>
            <a:srgbClr val="EEF8F6"/>
          </a:solidFill>
          <a:ln w="12700">
            <a:solidFill>
              <a:srgbClr val="1F8A8A"/>
            </a:solidFill>
            <a:prstDash val="solid"/>
          </a:ln>
        </p:spPr>
      </p:sp>
      <p:sp>
        <p:nvSpPr>
          <p:cNvPr id="31" name="Text 29"/>
          <p:cNvSpPr txBox="1"/>
          <p:nvPr/>
        </p:nvSpPr>
        <p:spPr>
          <a:xfrm>
            <a:off x="4983480" y="1481328"/>
            <a:ext cx="3657600" cy="201168"/>
          </a:xfrm>
          <a:prstGeom prst="rect">
            <a:avLst/>
          </a:prstGeom>
          <a:noFill/>
          <a:ln/>
        </p:spPr>
        <p:txBody>
          <a:bodyPr wrap="square" lIns="0" tIns="0" rIns="0" bIns="0" rtlCol="0" anchor="t"/>
          <a:lstStyle/>
          <a:p>
            <a:pPr algn="l" indent="0" marL="0">
              <a:buNone/>
            </a:pPr>
            <a:r>
              <a:rPr lang="en-US" sz="950" b="1" dirty="0">
                <a:solidFill>
                  <a:srgbClr val="1F8A8A"/>
                </a:solidFill>
                <a:latin typeface="Malgun Gothic" pitchFamily="34" charset="0"/>
                <a:ea typeface="Malgun Gothic" pitchFamily="34" charset="-122"/>
                <a:cs typeface="Malgun Gothic" pitchFamily="34" charset="-120"/>
              </a:rPr>
              <a:t>SRAM (8 MiB 중 일부)</a:t>
            </a:r>
            <a:endParaRPr lang="en-US" sz="950" dirty="0"/>
          </a:p>
        </p:txBody>
      </p:sp>
      <p:sp>
        <p:nvSpPr>
          <p:cNvPr id="32" name="Shape 30"/>
          <p:cNvSpPr/>
          <p:nvPr/>
        </p:nvSpPr>
        <p:spPr>
          <a:xfrm>
            <a:off x="5029200" y="1920240"/>
            <a:ext cx="3566160" cy="256032"/>
          </a:xfrm>
          <a:prstGeom prst="rect">
            <a:avLst/>
          </a:prstGeom>
          <a:solidFill>
            <a:srgbClr val="DDF3F0"/>
          </a:solidFill>
          <a:ln w="12700">
            <a:solidFill>
              <a:srgbClr val="1F8A8A"/>
            </a:solidFill>
            <a:prstDash val="solid"/>
          </a:ln>
        </p:spPr>
      </p:sp>
      <p:sp>
        <p:nvSpPr>
          <p:cNvPr id="33" name="Shape 31"/>
          <p:cNvSpPr/>
          <p:nvPr/>
        </p:nvSpPr>
        <p:spPr>
          <a:xfrm>
            <a:off x="5029200" y="1920240"/>
            <a:ext cx="3566160" cy="256032"/>
          </a:xfrm>
          <a:prstGeom prst="rect">
            <a:avLst/>
          </a:prstGeom>
          <a:solidFill>
            <a:srgbClr val="DDF3F0"/>
          </a:solidFill>
          <a:ln w="15875">
            <a:solidFill>
              <a:srgbClr val="1F8A8A"/>
            </a:solidFill>
            <a:prstDash val="solid"/>
          </a:ln>
        </p:spPr>
      </p:sp>
      <p:sp>
        <p:nvSpPr>
          <p:cNvPr id="34" name="Shape 32"/>
          <p:cNvSpPr/>
          <p:nvPr/>
        </p:nvSpPr>
        <p:spPr>
          <a:xfrm>
            <a:off x="5326380" y="1920240"/>
            <a:ext cx="914" cy="256032"/>
          </a:xfrm>
          <a:prstGeom prst="line">
            <a:avLst/>
          </a:prstGeom>
          <a:noFill/>
          <a:ln w="5080">
            <a:solidFill>
              <a:srgbClr val="D5DCE5"/>
            </a:solidFill>
            <a:prstDash val="solid"/>
          </a:ln>
        </p:spPr>
      </p:sp>
      <p:sp>
        <p:nvSpPr>
          <p:cNvPr id="35" name="Shape 33"/>
          <p:cNvSpPr/>
          <p:nvPr/>
        </p:nvSpPr>
        <p:spPr>
          <a:xfrm>
            <a:off x="5623560" y="1920240"/>
            <a:ext cx="914" cy="256032"/>
          </a:xfrm>
          <a:prstGeom prst="line">
            <a:avLst/>
          </a:prstGeom>
          <a:noFill/>
          <a:ln w="5080">
            <a:solidFill>
              <a:srgbClr val="D5DCE5"/>
            </a:solidFill>
            <a:prstDash val="solid"/>
          </a:ln>
        </p:spPr>
      </p:sp>
      <p:sp>
        <p:nvSpPr>
          <p:cNvPr id="36" name="Shape 34"/>
          <p:cNvSpPr/>
          <p:nvPr/>
        </p:nvSpPr>
        <p:spPr>
          <a:xfrm>
            <a:off x="5920740" y="1920240"/>
            <a:ext cx="914" cy="256032"/>
          </a:xfrm>
          <a:prstGeom prst="line">
            <a:avLst/>
          </a:prstGeom>
          <a:noFill/>
          <a:ln w="5080">
            <a:solidFill>
              <a:srgbClr val="D5DCE5"/>
            </a:solidFill>
            <a:prstDash val="solid"/>
          </a:ln>
        </p:spPr>
      </p:sp>
      <p:sp>
        <p:nvSpPr>
          <p:cNvPr id="37" name="Shape 35"/>
          <p:cNvSpPr/>
          <p:nvPr/>
        </p:nvSpPr>
        <p:spPr>
          <a:xfrm>
            <a:off x="6217920" y="1920240"/>
            <a:ext cx="914" cy="256032"/>
          </a:xfrm>
          <a:prstGeom prst="line">
            <a:avLst/>
          </a:prstGeom>
          <a:noFill/>
          <a:ln w="5080">
            <a:solidFill>
              <a:srgbClr val="D5DCE5"/>
            </a:solidFill>
            <a:prstDash val="solid"/>
          </a:ln>
        </p:spPr>
      </p:sp>
      <p:sp>
        <p:nvSpPr>
          <p:cNvPr id="38" name="Shape 36"/>
          <p:cNvSpPr/>
          <p:nvPr/>
        </p:nvSpPr>
        <p:spPr>
          <a:xfrm>
            <a:off x="6515100" y="1920240"/>
            <a:ext cx="914" cy="256032"/>
          </a:xfrm>
          <a:prstGeom prst="line">
            <a:avLst/>
          </a:prstGeom>
          <a:noFill/>
          <a:ln w="5080">
            <a:solidFill>
              <a:srgbClr val="D5DCE5"/>
            </a:solidFill>
            <a:prstDash val="solid"/>
          </a:ln>
        </p:spPr>
      </p:sp>
      <p:sp>
        <p:nvSpPr>
          <p:cNvPr id="39" name="Shape 37"/>
          <p:cNvSpPr/>
          <p:nvPr/>
        </p:nvSpPr>
        <p:spPr>
          <a:xfrm>
            <a:off x="6812280" y="1920240"/>
            <a:ext cx="914" cy="256032"/>
          </a:xfrm>
          <a:prstGeom prst="line">
            <a:avLst/>
          </a:prstGeom>
          <a:noFill/>
          <a:ln w="5080">
            <a:solidFill>
              <a:srgbClr val="D5DCE5"/>
            </a:solidFill>
            <a:prstDash val="solid"/>
          </a:ln>
        </p:spPr>
      </p:sp>
      <p:sp>
        <p:nvSpPr>
          <p:cNvPr id="40" name="Shape 38"/>
          <p:cNvSpPr/>
          <p:nvPr/>
        </p:nvSpPr>
        <p:spPr>
          <a:xfrm>
            <a:off x="7109460" y="1920240"/>
            <a:ext cx="914" cy="256032"/>
          </a:xfrm>
          <a:prstGeom prst="line">
            <a:avLst/>
          </a:prstGeom>
          <a:noFill/>
          <a:ln w="5080">
            <a:solidFill>
              <a:srgbClr val="D5DCE5"/>
            </a:solidFill>
            <a:prstDash val="solid"/>
          </a:ln>
        </p:spPr>
      </p:sp>
      <p:sp>
        <p:nvSpPr>
          <p:cNvPr id="41" name="Shape 39"/>
          <p:cNvSpPr/>
          <p:nvPr/>
        </p:nvSpPr>
        <p:spPr>
          <a:xfrm>
            <a:off x="7406640" y="1920240"/>
            <a:ext cx="914" cy="256032"/>
          </a:xfrm>
          <a:prstGeom prst="line">
            <a:avLst/>
          </a:prstGeom>
          <a:noFill/>
          <a:ln w="5080">
            <a:solidFill>
              <a:srgbClr val="D5DCE5"/>
            </a:solidFill>
            <a:prstDash val="solid"/>
          </a:ln>
        </p:spPr>
      </p:sp>
      <p:sp>
        <p:nvSpPr>
          <p:cNvPr id="42" name="Shape 40"/>
          <p:cNvSpPr/>
          <p:nvPr/>
        </p:nvSpPr>
        <p:spPr>
          <a:xfrm>
            <a:off x="7703820" y="1920240"/>
            <a:ext cx="914" cy="256032"/>
          </a:xfrm>
          <a:prstGeom prst="line">
            <a:avLst/>
          </a:prstGeom>
          <a:noFill/>
          <a:ln w="5080">
            <a:solidFill>
              <a:srgbClr val="D5DCE5"/>
            </a:solidFill>
            <a:prstDash val="solid"/>
          </a:ln>
        </p:spPr>
      </p:sp>
      <p:sp>
        <p:nvSpPr>
          <p:cNvPr id="43" name="Shape 41"/>
          <p:cNvSpPr/>
          <p:nvPr/>
        </p:nvSpPr>
        <p:spPr>
          <a:xfrm>
            <a:off x="8001000" y="1920240"/>
            <a:ext cx="914" cy="256032"/>
          </a:xfrm>
          <a:prstGeom prst="line">
            <a:avLst/>
          </a:prstGeom>
          <a:noFill/>
          <a:ln w="5080">
            <a:solidFill>
              <a:srgbClr val="D5DCE5"/>
            </a:solidFill>
            <a:prstDash val="solid"/>
          </a:ln>
        </p:spPr>
      </p:sp>
      <p:sp>
        <p:nvSpPr>
          <p:cNvPr id="44" name="Shape 42"/>
          <p:cNvSpPr/>
          <p:nvPr/>
        </p:nvSpPr>
        <p:spPr>
          <a:xfrm>
            <a:off x="8298180" y="1920240"/>
            <a:ext cx="914" cy="256032"/>
          </a:xfrm>
          <a:prstGeom prst="line">
            <a:avLst/>
          </a:prstGeom>
          <a:noFill/>
          <a:ln w="5080">
            <a:solidFill>
              <a:srgbClr val="D5DCE5"/>
            </a:solidFill>
            <a:prstDash val="solid"/>
          </a:ln>
        </p:spPr>
      </p:sp>
      <p:sp>
        <p:nvSpPr>
          <p:cNvPr id="45" name="Text 43"/>
          <p:cNvSpPr txBox="1"/>
          <p:nvPr/>
        </p:nvSpPr>
        <p:spPr>
          <a:xfrm>
            <a:off x="5029200" y="1920240"/>
            <a:ext cx="3566160" cy="256032"/>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k = 0 … 47</a:t>
            </a:r>
            <a:endParaRPr lang="en-US" sz="700" dirty="0"/>
          </a:p>
        </p:txBody>
      </p:sp>
      <p:sp>
        <p:nvSpPr>
          <p:cNvPr id="46" name="Text 44"/>
          <p:cNvSpPr txBox="1"/>
          <p:nvPr/>
        </p:nvSpPr>
        <p:spPr>
          <a:xfrm>
            <a:off x="5029200" y="1691640"/>
            <a:ext cx="3657600" cy="201168"/>
          </a:xfrm>
          <a:prstGeom prst="rect">
            <a:avLst/>
          </a:prstGeom>
          <a:noFill/>
          <a:ln/>
        </p:spPr>
        <p:txBody>
          <a:bodyPr wrap="square" lIns="0" tIns="0" rIns="0" bIns="0" rtlCol="0" anchor="t"/>
          <a:lstStyle/>
          <a:p>
            <a:pPr algn="l" indent="0" marL="0">
              <a:buNone/>
            </a:pPr>
            <a:r>
              <a:rPr lang="en-US" sz="750" b="1" dirty="0">
                <a:solidFill>
                  <a:srgbClr val="15243B"/>
                </a:solidFill>
                <a:latin typeface="Malgun Gothic" pitchFamily="34" charset="0"/>
                <a:ea typeface="Malgun Gothic" pitchFamily="34" charset="-122"/>
                <a:cs typeface="Malgun Gothic" pitchFamily="34" charset="-120"/>
              </a:rPr>
              <a:t>X [64,3072] = 1×48 tiles 상주 (384 KiB), a_at = m_panel</a:t>
            </a:r>
            <a:endParaRPr lang="en-US" sz="750" dirty="0"/>
          </a:p>
        </p:txBody>
      </p:sp>
      <p:sp>
        <p:nvSpPr>
          <p:cNvPr id="47" name="Shape 45"/>
          <p:cNvSpPr/>
          <p:nvPr/>
        </p:nvSpPr>
        <p:spPr>
          <a:xfrm>
            <a:off x="5029200" y="2514600"/>
            <a:ext cx="256032" cy="1005840"/>
          </a:xfrm>
          <a:prstGeom prst="rect">
            <a:avLst/>
          </a:prstGeom>
          <a:solidFill>
            <a:srgbClr val="DDF3F0"/>
          </a:solidFill>
          <a:ln w="12700">
            <a:solidFill>
              <a:srgbClr val="1F8A8A"/>
            </a:solidFill>
            <a:prstDash val="solid"/>
          </a:ln>
        </p:spPr>
      </p:sp>
      <p:sp>
        <p:nvSpPr>
          <p:cNvPr id="48" name="Shape 46"/>
          <p:cNvSpPr/>
          <p:nvPr/>
        </p:nvSpPr>
        <p:spPr>
          <a:xfrm>
            <a:off x="5029200" y="2514600"/>
            <a:ext cx="256032" cy="1005840"/>
          </a:xfrm>
          <a:prstGeom prst="rect">
            <a:avLst/>
          </a:prstGeom>
          <a:solidFill>
            <a:srgbClr val="FFF1DC"/>
          </a:solidFill>
          <a:ln w="12700">
            <a:solidFill>
              <a:srgbClr val="D98A1E"/>
            </a:solidFill>
            <a:prstDash val="solid"/>
          </a:ln>
        </p:spPr>
      </p:sp>
      <p:sp>
        <p:nvSpPr>
          <p:cNvPr id="49" name="Shape 47"/>
          <p:cNvSpPr/>
          <p:nvPr/>
        </p:nvSpPr>
        <p:spPr>
          <a:xfrm>
            <a:off x="5029200" y="2640330"/>
            <a:ext cx="256032" cy="914"/>
          </a:xfrm>
          <a:prstGeom prst="line">
            <a:avLst/>
          </a:prstGeom>
          <a:noFill/>
          <a:ln w="5080">
            <a:solidFill>
              <a:srgbClr val="D5DCE5"/>
            </a:solidFill>
            <a:prstDash val="solid"/>
          </a:ln>
        </p:spPr>
      </p:sp>
      <p:sp>
        <p:nvSpPr>
          <p:cNvPr id="50" name="Shape 48"/>
          <p:cNvSpPr/>
          <p:nvPr/>
        </p:nvSpPr>
        <p:spPr>
          <a:xfrm>
            <a:off x="5029200" y="2766060"/>
            <a:ext cx="256032" cy="914"/>
          </a:xfrm>
          <a:prstGeom prst="line">
            <a:avLst/>
          </a:prstGeom>
          <a:noFill/>
          <a:ln w="5080">
            <a:solidFill>
              <a:srgbClr val="D5DCE5"/>
            </a:solidFill>
            <a:prstDash val="solid"/>
          </a:ln>
        </p:spPr>
      </p:sp>
      <p:sp>
        <p:nvSpPr>
          <p:cNvPr id="51" name="Shape 49"/>
          <p:cNvSpPr/>
          <p:nvPr/>
        </p:nvSpPr>
        <p:spPr>
          <a:xfrm>
            <a:off x="5029200" y="2891790"/>
            <a:ext cx="256032" cy="914"/>
          </a:xfrm>
          <a:prstGeom prst="line">
            <a:avLst/>
          </a:prstGeom>
          <a:noFill/>
          <a:ln w="5080">
            <a:solidFill>
              <a:srgbClr val="D5DCE5"/>
            </a:solidFill>
            <a:prstDash val="solid"/>
          </a:ln>
        </p:spPr>
      </p:sp>
      <p:sp>
        <p:nvSpPr>
          <p:cNvPr id="52" name="Shape 50"/>
          <p:cNvSpPr/>
          <p:nvPr/>
        </p:nvSpPr>
        <p:spPr>
          <a:xfrm>
            <a:off x="5029200" y="3017520"/>
            <a:ext cx="256032" cy="914"/>
          </a:xfrm>
          <a:prstGeom prst="line">
            <a:avLst/>
          </a:prstGeom>
          <a:noFill/>
          <a:ln w="5080">
            <a:solidFill>
              <a:srgbClr val="D5DCE5"/>
            </a:solidFill>
            <a:prstDash val="solid"/>
          </a:ln>
        </p:spPr>
      </p:sp>
      <p:sp>
        <p:nvSpPr>
          <p:cNvPr id="53" name="Shape 51"/>
          <p:cNvSpPr/>
          <p:nvPr/>
        </p:nvSpPr>
        <p:spPr>
          <a:xfrm>
            <a:off x="5029200" y="3143250"/>
            <a:ext cx="256032" cy="914"/>
          </a:xfrm>
          <a:prstGeom prst="line">
            <a:avLst/>
          </a:prstGeom>
          <a:noFill/>
          <a:ln w="5080">
            <a:solidFill>
              <a:srgbClr val="D5DCE5"/>
            </a:solidFill>
            <a:prstDash val="solid"/>
          </a:ln>
        </p:spPr>
      </p:sp>
      <p:sp>
        <p:nvSpPr>
          <p:cNvPr id="54" name="Shape 52"/>
          <p:cNvSpPr/>
          <p:nvPr/>
        </p:nvSpPr>
        <p:spPr>
          <a:xfrm>
            <a:off x="5029200" y="3268980"/>
            <a:ext cx="256032" cy="914"/>
          </a:xfrm>
          <a:prstGeom prst="line">
            <a:avLst/>
          </a:prstGeom>
          <a:noFill/>
          <a:ln w="5080">
            <a:solidFill>
              <a:srgbClr val="D5DCE5"/>
            </a:solidFill>
            <a:prstDash val="solid"/>
          </a:ln>
        </p:spPr>
      </p:sp>
      <p:sp>
        <p:nvSpPr>
          <p:cNvPr id="55" name="Shape 53"/>
          <p:cNvSpPr/>
          <p:nvPr/>
        </p:nvSpPr>
        <p:spPr>
          <a:xfrm>
            <a:off x="5029200" y="3394710"/>
            <a:ext cx="256032" cy="914"/>
          </a:xfrm>
          <a:prstGeom prst="line">
            <a:avLst/>
          </a:prstGeom>
          <a:noFill/>
          <a:ln w="5080">
            <a:solidFill>
              <a:srgbClr val="D5DCE5"/>
            </a:solidFill>
            <a:prstDash val="solid"/>
          </a:ln>
        </p:spPr>
      </p:sp>
      <p:sp>
        <p:nvSpPr>
          <p:cNvPr id="56" name="Text 54"/>
          <p:cNvSpPr txBox="1"/>
          <p:nvPr/>
        </p:nvSpPr>
        <p:spPr>
          <a:xfrm>
            <a:off x="5349240" y="2514600"/>
            <a:ext cx="1554480" cy="548640"/>
          </a:xfrm>
          <a:prstGeom prst="rect">
            <a:avLst/>
          </a:prstGeom>
          <a:noFill/>
          <a:ln/>
        </p:spPr>
        <p:txBody>
          <a:bodyPr wrap="square" lIns="0" tIns="0" rIns="0" bIns="0" rtlCol="0" anchor="t"/>
          <a:lstStyle/>
          <a:p>
            <a:pPr algn="l" indent="0" marL="0">
              <a:buNone/>
            </a:pPr>
            <a:r>
              <a:rPr lang="en-US" sz="750" dirty="0">
                <a:solidFill>
                  <a:srgbClr val="D98A1E"/>
                </a:solidFill>
                <a:latin typeface="Malgun Gothic" pitchFamily="34" charset="0"/>
                <a:ea typeface="Malgun Gothic" pitchFamily="34" charset="-122"/>
                <a:cs typeface="Malgun Gothic" pitchFamily="34" charset="-120"/>
              </a:rPr>
              <a:t>W panel j</a:t>
            </a:r>
            <a:endParaRPr lang="en-US" sz="750" dirty="0"/>
          </a:p>
          <a:p>
            <a:pPr algn="l" indent="0" marL="0">
              <a:buNone/>
            </a:pPr>
            <a:r>
              <a:rPr lang="en-US" sz="750" dirty="0">
                <a:solidFill>
                  <a:srgbClr val="D98A1E"/>
                </a:solidFill>
                <a:latin typeface="Malgun Gothic" pitchFamily="34" charset="0"/>
                <a:ea typeface="Malgun Gothic" pitchFamily="34" charset="-122"/>
                <a:cs typeface="Malgun Gothic" pitchFamily="34" charset="-120"/>
              </a:rPr>
              <a:t>48×1 tiles 384 KiB</a:t>
            </a:r>
            <a:endParaRPr lang="en-US" sz="750" dirty="0"/>
          </a:p>
          <a:p>
            <a:pPr algn="l" indent="0" marL="0">
              <a:buNone/>
            </a:pPr>
            <a:r>
              <a:rPr lang="en-US" sz="750" dirty="0">
                <a:solidFill>
                  <a:srgbClr val="D98A1E"/>
                </a:solidFill>
                <a:latin typeface="Malgun Gothic" pitchFamily="34" charset="0"/>
                <a:ea typeface="Malgun Gothic" pitchFamily="34" charset="-122"/>
                <a:cs typeface="Malgun Gothic" pitchFamily="34" charset="-120"/>
              </a:rPr>
              <a:t>(b_at = n_panel)</a:t>
            </a:r>
            <a:endParaRPr lang="en-US" sz="750" dirty="0"/>
          </a:p>
        </p:txBody>
      </p:sp>
      <p:sp>
        <p:nvSpPr>
          <p:cNvPr id="57" name="Shape 55"/>
          <p:cNvSpPr/>
          <p:nvPr/>
        </p:nvSpPr>
        <p:spPr>
          <a:xfrm>
            <a:off x="1317307" y="1691640"/>
            <a:ext cx="3757613" cy="822960"/>
          </a:xfrm>
          <a:prstGeom prst="line">
            <a:avLst/>
          </a:prstGeom>
          <a:noFill/>
          <a:ln w="19050">
            <a:solidFill>
              <a:srgbClr val="D98A1E"/>
            </a:solidFill>
            <a:prstDash val="dash"/>
            <a:tailEnd type="triangle"/>
          </a:ln>
        </p:spPr>
      </p:sp>
      <p:sp>
        <p:nvSpPr>
          <p:cNvPr id="58" name="Text 56"/>
          <p:cNvSpPr txBox="1"/>
          <p:nvPr/>
        </p:nvSpPr>
        <p:spPr>
          <a:xfrm>
            <a:off x="2926080" y="2011680"/>
            <a:ext cx="1463040" cy="201168"/>
          </a:xfrm>
          <a:prstGeom prst="rect">
            <a:avLst/>
          </a:prstGeom>
          <a:noFill/>
          <a:ln/>
        </p:spPr>
        <p:txBody>
          <a:bodyPr wrap="square" lIns="0" tIns="0" rIns="0" bIns="0" rtlCol="0" anchor="t"/>
          <a:lstStyle/>
          <a:p>
            <a:pPr algn="ctr" indent="0" marL="0">
              <a:buNone/>
            </a:pPr>
            <a:r>
              <a:rPr lang="en-US" sz="750" b="1" dirty="0">
                <a:solidFill>
                  <a:srgbClr val="D98A1E"/>
                </a:solidFill>
                <a:latin typeface="Malgun Gothic" pitchFamily="34" charset="0"/>
                <a:ea typeface="Malgun Gothic" pitchFamily="34" charset="-122"/>
                <a:cs typeface="Malgun Gothic" pitchFamily="34" charset="-120"/>
              </a:rPr>
              <a:t>GLOAD panel j</a:t>
            </a:r>
            <a:endParaRPr lang="en-US" sz="750" dirty="0"/>
          </a:p>
        </p:txBody>
      </p:sp>
      <p:sp>
        <p:nvSpPr>
          <p:cNvPr id="59" name="Shape 57"/>
          <p:cNvSpPr/>
          <p:nvPr/>
        </p:nvSpPr>
        <p:spPr>
          <a:xfrm>
            <a:off x="7589520" y="2697480"/>
            <a:ext cx="548640" cy="548640"/>
          </a:xfrm>
          <a:prstGeom prst="rect">
            <a:avLst/>
          </a:prstGeom>
          <a:solidFill>
            <a:srgbClr val="ECE6FA"/>
          </a:solidFill>
          <a:ln w="12700">
            <a:solidFill>
              <a:srgbClr val="6C4FBF"/>
            </a:solidFill>
            <a:prstDash val="solid"/>
          </a:ln>
        </p:spPr>
      </p:sp>
      <p:sp>
        <p:nvSpPr>
          <p:cNvPr id="60" name="Shape 58"/>
          <p:cNvSpPr/>
          <p:nvPr/>
        </p:nvSpPr>
        <p:spPr>
          <a:xfrm>
            <a:off x="7589520" y="2697480"/>
            <a:ext cx="548640" cy="548640"/>
          </a:xfrm>
          <a:prstGeom prst="rect">
            <a:avLst/>
          </a:prstGeom>
          <a:solidFill>
            <a:srgbClr val="ECE6FA"/>
          </a:solidFill>
          <a:ln w="15875">
            <a:solidFill>
              <a:srgbClr val="6C4FBF"/>
            </a:solidFill>
            <a:prstDash val="solid"/>
          </a:ln>
        </p:spPr>
      </p:sp>
      <p:sp>
        <p:nvSpPr>
          <p:cNvPr id="61" name="Text 59"/>
          <p:cNvSpPr txBox="1"/>
          <p:nvPr/>
        </p:nvSpPr>
        <p:spPr>
          <a:xfrm>
            <a:off x="7589520" y="2697480"/>
            <a:ext cx="548640" cy="54864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48</a:t>
            </a:r>
            <a:endParaRPr lang="en-US" sz="700" dirty="0"/>
          </a:p>
          <a:p>
            <a:pPr algn="ctr" indent="0" marL="0">
              <a:buNone/>
            </a:pPr>
            <a:r>
              <a:rPr lang="en-US" sz="700" b="1" dirty="0">
                <a:solidFill>
                  <a:srgbClr val="1F2D3D"/>
                </a:solidFill>
                <a:latin typeface="Malgun Gothic" pitchFamily="34" charset="0"/>
                <a:ea typeface="Malgun Gothic" pitchFamily="34" charset="-122"/>
                <a:cs typeface="Malgun Gothic" pitchFamily="34" charset="-120"/>
              </a:rPr>
              <a:t>M_MUL</a:t>
            </a:r>
            <a:endParaRPr lang="en-US" sz="700" dirty="0"/>
          </a:p>
        </p:txBody>
      </p:sp>
      <p:sp>
        <p:nvSpPr>
          <p:cNvPr id="62" name="Text 60"/>
          <p:cNvSpPr txBox="1"/>
          <p:nvPr/>
        </p:nvSpPr>
        <p:spPr>
          <a:xfrm>
            <a:off x="7589520" y="2468880"/>
            <a:ext cx="1280160" cy="201168"/>
          </a:xfrm>
          <a:prstGeom prst="rect">
            <a:avLst/>
          </a:prstGeom>
          <a:noFill/>
          <a:ln/>
        </p:spPr>
        <p:txBody>
          <a:bodyPr wrap="square" lIns="0" tIns="0" rIns="0" bIns="0" rtlCol="0" anchor="t"/>
          <a:lstStyle/>
          <a:p>
            <a:pPr algn="l" indent="0" marL="0">
              <a:buNone/>
            </a:pPr>
            <a:r>
              <a:rPr lang="en-US" sz="750" b="1" dirty="0">
                <a:solidFill>
                  <a:srgbClr val="15243B"/>
                </a:solidFill>
                <a:latin typeface="Malgun Gothic" pitchFamily="34" charset="0"/>
                <a:ea typeface="Malgun Gothic" pitchFamily="34" charset="-122"/>
                <a:cs typeface="Malgun Gothic" pitchFamily="34" charset="-120"/>
              </a:rPr>
              <a:t>출력 tile (0, j)</a:t>
            </a:r>
            <a:endParaRPr lang="en-US" sz="750" dirty="0"/>
          </a:p>
        </p:txBody>
      </p:sp>
      <p:sp>
        <p:nvSpPr>
          <p:cNvPr id="63" name="Shape 61"/>
          <p:cNvSpPr/>
          <p:nvPr/>
        </p:nvSpPr>
        <p:spPr>
          <a:xfrm flipV="1">
            <a:off x="5330952" y="2971800"/>
            <a:ext cx="2258568" cy="45720"/>
          </a:xfrm>
          <a:prstGeom prst="line">
            <a:avLst/>
          </a:prstGeom>
          <a:noFill/>
          <a:ln w="19050">
            <a:solidFill>
              <a:srgbClr val="6C4FBF"/>
            </a:solidFill>
            <a:prstDash val="solid"/>
            <a:tailEnd type="triangle"/>
          </a:ln>
        </p:spPr>
      </p:sp>
      <p:sp>
        <p:nvSpPr>
          <p:cNvPr id="64" name="Shape 62"/>
          <p:cNvSpPr/>
          <p:nvPr/>
        </p:nvSpPr>
        <p:spPr>
          <a:xfrm>
            <a:off x="6812280" y="2176272"/>
            <a:ext cx="1051560" cy="521208"/>
          </a:xfrm>
          <a:prstGeom prst="line">
            <a:avLst/>
          </a:prstGeom>
          <a:noFill/>
          <a:ln w="19050">
            <a:solidFill>
              <a:srgbClr val="6C4FBF"/>
            </a:solidFill>
            <a:prstDash val="solid"/>
            <a:tailEnd type="triangle"/>
          </a:ln>
        </p:spPr>
      </p:sp>
      <p:sp>
        <p:nvSpPr>
          <p:cNvPr id="65" name="Text 63"/>
          <p:cNvSpPr txBox="1"/>
          <p:nvPr/>
        </p:nvSpPr>
        <p:spPr>
          <a:xfrm>
            <a:off x="6035040" y="3200400"/>
            <a:ext cx="1554480" cy="365760"/>
          </a:xfrm>
          <a:prstGeom prst="rect">
            <a:avLst/>
          </a:prstGeom>
          <a:noFill/>
          <a:ln/>
        </p:spPr>
        <p:txBody>
          <a:bodyPr wrap="square" lIns="0" tIns="0" rIns="0" bIns="0" rtlCol="0" anchor="t"/>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X tile k × W tile k</a:t>
            </a:r>
            <a:endParaRPr lang="en-US" sz="700" dirty="0"/>
          </a:p>
          <a:p>
            <a:pPr algn="l" indent="0" marL="0">
              <a:buNone/>
            </a:pPr>
            <a:r>
              <a:rPr lang="en-US" sz="700" dirty="0">
                <a:solidFill>
                  <a:srgbClr val="5B6B7F"/>
                </a:solidFill>
                <a:latin typeface="Malgun Gothic" pitchFamily="34" charset="0"/>
                <a:ea typeface="Malgun Gothic" pitchFamily="34" charset="-122"/>
                <a:cs typeface="Malgun Gothic" pitchFamily="34" charset="-120"/>
              </a:rPr>
              <a:t>k = 0..47 (MAC 0,1,1,…)</a:t>
            </a:r>
            <a:endParaRPr lang="en-US" sz="700" dirty="0"/>
          </a:p>
        </p:txBody>
      </p:sp>
      <p:sp>
        <p:nvSpPr>
          <p:cNvPr id="66" name="Shape 64"/>
          <p:cNvSpPr/>
          <p:nvPr/>
        </p:nvSpPr>
        <p:spPr>
          <a:xfrm>
            <a:off x="457200" y="3977640"/>
            <a:ext cx="8275320" cy="292608"/>
          </a:xfrm>
          <a:prstGeom prst="rect">
            <a:avLst/>
          </a:prstGeom>
          <a:solidFill>
            <a:srgbClr val="EEF2F6"/>
          </a:solidFill>
          <a:ln w="12700">
            <a:solidFill>
              <a:srgbClr val="C9D3DF"/>
            </a:solidFill>
            <a:prstDash val="solid"/>
          </a:ln>
        </p:spPr>
      </p:sp>
      <p:sp>
        <p:nvSpPr>
          <p:cNvPr id="67" name="Shape 65"/>
          <p:cNvSpPr/>
          <p:nvPr/>
        </p:nvSpPr>
        <p:spPr>
          <a:xfrm>
            <a:off x="2267426" y="3977640"/>
            <a:ext cx="258604" cy="292608"/>
          </a:xfrm>
          <a:prstGeom prst="rect">
            <a:avLst/>
          </a:prstGeom>
          <a:solidFill>
            <a:srgbClr val="ECE6FA"/>
          </a:solidFill>
          <a:ln w="15875">
            <a:solidFill>
              <a:srgbClr val="6C4FBF"/>
            </a:solidFill>
            <a:prstDash val="solid"/>
          </a:ln>
        </p:spPr>
      </p:sp>
      <p:sp>
        <p:nvSpPr>
          <p:cNvPr id="68" name="Shape 66"/>
          <p:cNvSpPr/>
          <p:nvPr/>
        </p:nvSpPr>
        <p:spPr>
          <a:xfrm>
            <a:off x="457200" y="3977640"/>
            <a:ext cx="1810226" cy="292608"/>
          </a:xfrm>
          <a:prstGeom prst="rect">
            <a:avLst/>
          </a:prstGeom>
          <a:solidFill>
            <a:srgbClr val="E5F3E7"/>
          </a:solidFill>
          <a:ln w="15875">
            <a:solidFill>
              <a:srgbClr val="2E7D32"/>
            </a:solidFill>
            <a:prstDash val="solid"/>
          </a:ln>
        </p:spPr>
      </p:sp>
      <p:sp>
        <p:nvSpPr>
          <p:cNvPr id="69" name="Shape 67"/>
          <p:cNvSpPr/>
          <p:nvPr/>
        </p:nvSpPr>
        <p:spPr>
          <a:xfrm>
            <a:off x="715804" y="3977640"/>
            <a:ext cx="914" cy="292608"/>
          </a:xfrm>
          <a:prstGeom prst="line">
            <a:avLst/>
          </a:prstGeom>
          <a:noFill/>
          <a:ln w="5080">
            <a:solidFill>
              <a:srgbClr val="D5DCE5"/>
            </a:solidFill>
            <a:prstDash val="solid"/>
          </a:ln>
        </p:spPr>
      </p:sp>
      <p:sp>
        <p:nvSpPr>
          <p:cNvPr id="70" name="Shape 68"/>
          <p:cNvSpPr/>
          <p:nvPr/>
        </p:nvSpPr>
        <p:spPr>
          <a:xfrm>
            <a:off x="974408" y="3977640"/>
            <a:ext cx="914" cy="292608"/>
          </a:xfrm>
          <a:prstGeom prst="line">
            <a:avLst/>
          </a:prstGeom>
          <a:noFill/>
          <a:ln w="5080">
            <a:solidFill>
              <a:srgbClr val="D5DCE5"/>
            </a:solidFill>
            <a:prstDash val="solid"/>
          </a:ln>
        </p:spPr>
      </p:sp>
      <p:sp>
        <p:nvSpPr>
          <p:cNvPr id="71" name="Shape 69"/>
          <p:cNvSpPr/>
          <p:nvPr/>
        </p:nvSpPr>
        <p:spPr>
          <a:xfrm>
            <a:off x="1233011" y="3977640"/>
            <a:ext cx="914" cy="292608"/>
          </a:xfrm>
          <a:prstGeom prst="line">
            <a:avLst/>
          </a:prstGeom>
          <a:noFill/>
          <a:ln w="5080">
            <a:solidFill>
              <a:srgbClr val="D5DCE5"/>
            </a:solidFill>
            <a:prstDash val="solid"/>
          </a:ln>
        </p:spPr>
      </p:sp>
      <p:sp>
        <p:nvSpPr>
          <p:cNvPr id="72" name="Shape 70"/>
          <p:cNvSpPr/>
          <p:nvPr/>
        </p:nvSpPr>
        <p:spPr>
          <a:xfrm>
            <a:off x="1491615" y="3977640"/>
            <a:ext cx="914" cy="292608"/>
          </a:xfrm>
          <a:prstGeom prst="line">
            <a:avLst/>
          </a:prstGeom>
          <a:noFill/>
          <a:ln w="5080">
            <a:solidFill>
              <a:srgbClr val="D5DCE5"/>
            </a:solidFill>
            <a:prstDash val="solid"/>
          </a:ln>
        </p:spPr>
      </p:sp>
      <p:sp>
        <p:nvSpPr>
          <p:cNvPr id="73" name="Shape 71"/>
          <p:cNvSpPr/>
          <p:nvPr/>
        </p:nvSpPr>
        <p:spPr>
          <a:xfrm>
            <a:off x="1750219" y="3977640"/>
            <a:ext cx="914" cy="292608"/>
          </a:xfrm>
          <a:prstGeom prst="line">
            <a:avLst/>
          </a:prstGeom>
          <a:noFill/>
          <a:ln w="5080">
            <a:solidFill>
              <a:srgbClr val="D5DCE5"/>
            </a:solidFill>
            <a:prstDash val="solid"/>
          </a:ln>
        </p:spPr>
      </p:sp>
      <p:sp>
        <p:nvSpPr>
          <p:cNvPr id="74" name="Shape 72"/>
          <p:cNvSpPr/>
          <p:nvPr/>
        </p:nvSpPr>
        <p:spPr>
          <a:xfrm>
            <a:off x="2008823" y="3977640"/>
            <a:ext cx="914" cy="292608"/>
          </a:xfrm>
          <a:prstGeom prst="line">
            <a:avLst/>
          </a:prstGeom>
          <a:noFill/>
          <a:ln w="5080">
            <a:solidFill>
              <a:srgbClr val="D5DCE5"/>
            </a:solidFill>
            <a:prstDash val="solid"/>
          </a:ln>
        </p:spPr>
      </p:sp>
      <p:sp>
        <p:nvSpPr>
          <p:cNvPr id="75" name="Shape 73"/>
          <p:cNvSpPr/>
          <p:nvPr/>
        </p:nvSpPr>
        <p:spPr>
          <a:xfrm>
            <a:off x="2267426" y="3977640"/>
            <a:ext cx="914" cy="292608"/>
          </a:xfrm>
          <a:prstGeom prst="line">
            <a:avLst/>
          </a:prstGeom>
          <a:noFill/>
          <a:ln w="5080">
            <a:solidFill>
              <a:srgbClr val="D5DCE5"/>
            </a:solidFill>
            <a:prstDash val="solid"/>
          </a:ln>
        </p:spPr>
      </p:sp>
      <p:sp>
        <p:nvSpPr>
          <p:cNvPr id="76" name="Shape 74"/>
          <p:cNvSpPr/>
          <p:nvPr/>
        </p:nvSpPr>
        <p:spPr>
          <a:xfrm>
            <a:off x="2526030" y="3977640"/>
            <a:ext cx="914" cy="292608"/>
          </a:xfrm>
          <a:prstGeom prst="line">
            <a:avLst/>
          </a:prstGeom>
          <a:noFill/>
          <a:ln w="5080">
            <a:solidFill>
              <a:srgbClr val="D5DCE5"/>
            </a:solidFill>
            <a:prstDash val="solid"/>
          </a:ln>
        </p:spPr>
      </p:sp>
      <p:sp>
        <p:nvSpPr>
          <p:cNvPr id="77" name="Shape 75"/>
          <p:cNvSpPr/>
          <p:nvPr/>
        </p:nvSpPr>
        <p:spPr>
          <a:xfrm>
            <a:off x="2784634" y="3977640"/>
            <a:ext cx="914" cy="292608"/>
          </a:xfrm>
          <a:prstGeom prst="line">
            <a:avLst/>
          </a:prstGeom>
          <a:noFill/>
          <a:ln w="5080">
            <a:solidFill>
              <a:srgbClr val="D5DCE5"/>
            </a:solidFill>
            <a:prstDash val="solid"/>
          </a:ln>
        </p:spPr>
      </p:sp>
      <p:sp>
        <p:nvSpPr>
          <p:cNvPr id="78" name="Shape 76"/>
          <p:cNvSpPr/>
          <p:nvPr/>
        </p:nvSpPr>
        <p:spPr>
          <a:xfrm>
            <a:off x="3043238" y="3977640"/>
            <a:ext cx="914" cy="292608"/>
          </a:xfrm>
          <a:prstGeom prst="line">
            <a:avLst/>
          </a:prstGeom>
          <a:noFill/>
          <a:ln w="5080">
            <a:solidFill>
              <a:srgbClr val="D5DCE5"/>
            </a:solidFill>
            <a:prstDash val="solid"/>
          </a:ln>
        </p:spPr>
      </p:sp>
      <p:sp>
        <p:nvSpPr>
          <p:cNvPr id="79" name="Shape 77"/>
          <p:cNvSpPr/>
          <p:nvPr/>
        </p:nvSpPr>
        <p:spPr>
          <a:xfrm>
            <a:off x="3301841" y="3977640"/>
            <a:ext cx="914" cy="292608"/>
          </a:xfrm>
          <a:prstGeom prst="line">
            <a:avLst/>
          </a:prstGeom>
          <a:noFill/>
          <a:ln w="5080">
            <a:solidFill>
              <a:srgbClr val="D5DCE5"/>
            </a:solidFill>
            <a:prstDash val="solid"/>
          </a:ln>
        </p:spPr>
      </p:sp>
      <p:sp>
        <p:nvSpPr>
          <p:cNvPr id="80" name="Shape 78"/>
          <p:cNvSpPr/>
          <p:nvPr/>
        </p:nvSpPr>
        <p:spPr>
          <a:xfrm>
            <a:off x="3560445" y="3977640"/>
            <a:ext cx="914" cy="292608"/>
          </a:xfrm>
          <a:prstGeom prst="line">
            <a:avLst/>
          </a:prstGeom>
          <a:noFill/>
          <a:ln w="5080">
            <a:solidFill>
              <a:srgbClr val="D5DCE5"/>
            </a:solidFill>
            <a:prstDash val="solid"/>
          </a:ln>
        </p:spPr>
      </p:sp>
      <p:sp>
        <p:nvSpPr>
          <p:cNvPr id="81" name="Shape 79"/>
          <p:cNvSpPr/>
          <p:nvPr/>
        </p:nvSpPr>
        <p:spPr>
          <a:xfrm>
            <a:off x="3819049" y="3977640"/>
            <a:ext cx="914" cy="292608"/>
          </a:xfrm>
          <a:prstGeom prst="line">
            <a:avLst/>
          </a:prstGeom>
          <a:noFill/>
          <a:ln w="5080">
            <a:solidFill>
              <a:srgbClr val="D5DCE5"/>
            </a:solidFill>
            <a:prstDash val="solid"/>
          </a:ln>
        </p:spPr>
      </p:sp>
      <p:sp>
        <p:nvSpPr>
          <p:cNvPr id="82" name="Shape 80"/>
          <p:cNvSpPr/>
          <p:nvPr/>
        </p:nvSpPr>
        <p:spPr>
          <a:xfrm>
            <a:off x="4077653" y="3977640"/>
            <a:ext cx="914" cy="292608"/>
          </a:xfrm>
          <a:prstGeom prst="line">
            <a:avLst/>
          </a:prstGeom>
          <a:noFill/>
          <a:ln w="5080">
            <a:solidFill>
              <a:srgbClr val="D5DCE5"/>
            </a:solidFill>
            <a:prstDash val="solid"/>
          </a:ln>
        </p:spPr>
      </p:sp>
      <p:sp>
        <p:nvSpPr>
          <p:cNvPr id="83" name="Shape 81"/>
          <p:cNvSpPr/>
          <p:nvPr/>
        </p:nvSpPr>
        <p:spPr>
          <a:xfrm>
            <a:off x="4336256" y="3977640"/>
            <a:ext cx="914" cy="292608"/>
          </a:xfrm>
          <a:prstGeom prst="line">
            <a:avLst/>
          </a:prstGeom>
          <a:noFill/>
          <a:ln w="5080">
            <a:solidFill>
              <a:srgbClr val="D5DCE5"/>
            </a:solidFill>
            <a:prstDash val="solid"/>
          </a:ln>
        </p:spPr>
      </p:sp>
      <p:sp>
        <p:nvSpPr>
          <p:cNvPr id="84" name="Shape 82"/>
          <p:cNvSpPr/>
          <p:nvPr/>
        </p:nvSpPr>
        <p:spPr>
          <a:xfrm>
            <a:off x="4594860" y="3977640"/>
            <a:ext cx="914" cy="292608"/>
          </a:xfrm>
          <a:prstGeom prst="line">
            <a:avLst/>
          </a:prstGeom>
          <a:noFill/>
          <a:ln w="5080">
            <a:solidFill>
              <a:srgbClr val="D5DCE5"/>
            </a:solidFill>
            <a:prstDash val="solid"/>
          </a:ln>
        </p:spPr>
      </p:sp>
      <p:sp>
        <p:nvSpPr>
          <p:cNvPr id="85" name="Shape 83"/>
          <p:cNvSpPr/>
          <p:nvPr/>
        </p:nvSpPr>
        <p:spPr>
          <a:xfrm>
            <a:off x="4853464" y="3977640"/>
            <a:ext cx="914" cy="292608"/>
          </a:xfrm>
          <a:prstGeom prst="line">
            <a:avLst/>
          </a:prstGeom>
          <a:noFill/>
          <a:ln w="5080">
            <a:solidFill>
              <a:srgbClr val="D5DCE5"/>
            </a:solidFill>
            <a:prstDash val="solid"/>
          </a:ln>
        </p:spPr>
      </p:sp>
      <p:sp>
        <p:nvSpPr>
          <p:cNvPr id="86" name="Shape 84"/>
          <p:cNvSpPr/>
          <p:nvPr/>
        </p:nvSpPr>
        <p:spPr>
          <a:xfrm>
            <a:off x="5112068" y="3977640"/>
            <a:ext cx="914" cy="292608"/>
          </a:xfrm>
          <a:prstGeom prst="line">
            <a:avLst/>
          </a:prstGeom>
          <a:noFill/>
          <a:ln w="5080">
            <a:solidFill>
              <a:srgbClr val="D5DCE5"/>
            </a:solidFill>
            <a:prstDash val="solid"/>
          </a:ln>
        </p:spPr>
      </p:sp>
      <p:sp>
        <p:nvSpPr>
          <p:cNvPr id="87" name="Shape 85"/>
          <p:cNvSpPr/>
          <p:nvPr/>
        </p:nvSpPr>
        <p:spPr>
          <a:xfrm>
            <a:off x="5370671" y="3977640"/>
            <a:ext cx="914" cy="292608"/>
          </a:xfrm>
          <a:prstGeom prst="line">
            <a:avLst/>
          </a:prstGeom>
          <a:noFill/>
          <a:ln w="5080">
            <a:solidFill>
              <a:srgbClr val="D5DCE5"/>
            </a:solidFill>
            <a:prstDash val="solid"/>
          </a:ln>
        </p:spPr>
      </p:sp>
      <p:sp>
        <p:nvSpPr>
          <p:cNvPr id="88" name="Shape 86"/>
          <p:cNvSpPr/>
          <p:nvPr/>
        </p:nvSpPr>
        <p:spPr>
          <a:xfrm>
            <a:off x="5629275" y="3977640"/>
            <a:ext cx="914" cy="292608"/>
          </a:xfrm>
          <a:prstGeom prst="line">
            <a:avLst/>
          </a:prstGeom>
          <a:noFill/>
          <a:ln w="5080">
            <a:solidFill>
              <a:srgbClr val="D5DCE5"/>
            </a:solidFill>
            <a:prstDash val="solid"/>
          </a:ln>
        </p:spPr>
      </p:sp>
      <p:sp>
        <p:nvSpPr>
          <p:cNvPr id="89" name="Shape 87"/>
          <p:cNvSpPr/>
          <p:nvPr/>
        </p:nvSpPr>
        <p:spPr>
          <a:xfrm>
            <a:off x="5887879" y="3977640"/>
            <a:ext cx="914" cy="292608"/>
          </a:xfrm>
          <a:prstGeom prst="line">
            <a:avLst/>
          </a:prstGeom>
          <a:noFill/>
          <a:ln w="5080">
            <a:solidFill>
              <a:srgbClr val="D5DCE5"/>
            </a:solidFill>
            <a:prstDash val="solid"/>
          </a:ln>
        </p:spPr>
      </p:sp>
      <p:sp>
        <p:nvSpPr>
          <p:cNvPr id="90" name="Shape 88"/>
          <p:cNvSpPr/>
          <p:nvPr/>
        </p:nvSpPr>
        <p:spPr>
          <a:xfrm>
            <a:off x="6146483" y="3977640"/>
            <a:ext cx="914" cy="292608"/>
          </a:xfrm>
          <a:prstGeom prst="line">
            <a:avLst/>
          </a:prstGeom>
          <a:noFill/>
          <a:ln w="5080">
            <a:solidFill>
              <a:srgbClr val="D5DCE5"/>
            </a:solidFill>
            <a:prstDash val="solid"/>
          </a:ln>
        </p:spPr>
      </p:sp>
      <p:sp>
        <p:nvSpPr>
          <p:cNvPr id="91" name="Shape 89"/>
          <p:cNvSpPr/>
          <p:nvPr/>
        </p:nvSpPr>
        <p:spPr>
          <a:xfrm>
            <a:off x="6405086" y="3977640"/>
            <a:ext cx="914" cy="292608"/>
          </a:xfrm>
          <a:prstGeom prst="line">
            <a:avLst/>
          </a:prstGeom>
          <a:noFill/>
          <a:ln w="5080">
            <a:solidFill>
              <a:srgbClr val="D5DCE5"/>
            </a:solidFill>
            <a:prstDash val="solid"/>
          </a:ln>
        </p:spPr>
      </p:sp>
      <p:sp>
        <p:nvSpPr>
          <p:cNvPr id="92" name="Shape 90"/>
          <p:cNvSpPr/>
          <p:nvPr/>
        </p:nvSpPr>
        <p:spPr>
          <a:xfrm>
            <a:off x="6663690" y="3977640"/>
            <a:ext cx="914" cy="292608"/>
          </a:xfrm>
          <a:prstGeom prst="line">
            <a:avLst/>
          </a:prstGeom>
          <a:noFill/>
          <a:ln w="5080">
            <a:solidFill>
              <a:srgbClr val="D5DCE5"/>
            </a:solidFill>
            <a:prstDash val="solid"/>
          </a:ln>
        </p:spPr>
      </p:sp>
      <p:sp>
        <p:nvSpPr>
          <p:cNvPr id="93" name="Shape 91"/>
          <p:cNvSpPr/>
          <p:nvPr/>
        </p:nvSpPr>
        <p:spPr>
          <a:xfrm>
            <a:off x="6922294" y="3977640"/>
            <a:ext cx="914" cy="292608"/>
          </a:xfrm>
          <a:prstGeom prst="line">
            <a:avLst/>
          </a:prstGeom>
          <a:noFill/>
          <a:ln w="5080">
            <a:solidFill>
              <a:srgbClr val="D5DCE5"/>
            </a:solidFill>
            <a:prstDash val="solid"/>
          </a:ln>
        </p:spPr>
      </p:sp>
      <p:sp>
        <p:nvSpPr>
          <p:cNvPr id="94" name="Shape 92"/>
          <p:cNvSpPr/>
          <p:nvPr/>
        </p:nvSpPr>
        <p:spPr>
          <a:xfrm>
            <a:off x="7180898" y="3977640"/>
            <a:ext cx="914" cy="292608"/>
          </a:xfrm>
          <a:prstGeom prst="line">
            <a:avLst/>
          </a:prstGeom>
          <a:noFill/>
          <a:ln w="5080">
            <a:solidFill>
              <a:srgbClr val="D5DCE5"/>
            </a:solidFill>
            <a:prstDash val="solid"/>
          </a:ln>
        </p:spPr>
      </p:sp>
      <p:sp>
        <p:nvSpPr>
          <p:cNvPr id="95" name="Shape 93"/>
          <p:cNvSpPr/>
          <p:nvPr/>
        </p:nvSpPr>
        <p:spPr>
          <a:xfrm>
            <a:off x="7439501" y="3977640"/>
            <a:ext cx="914" cy="292608"/>
          </a:xfrm>
          <a:prstGeom prst="line">
            <a:avLst/>
          </a:prstGeom>
          <a:noFill/>
          <a:ln w="5080">
            <a:solidFill>
              <a:srgbClr val="D5DCE5"/>
            </a:solidFill>
            <a:prstDash val="solid"/>
          </a:ln>
        </p:spPr>
      </p:sp>
      <p:sp>
        <p:nvSpPr>
          <p:cNvPr id="96" name="Shape 94"/>
          <p:cNvSpPr/>
          <p:nvPr/>
        </p:nvSpPr>
        <p:spPr>
          <a:xfrm>
            <a:off x="7698105" y="3977640"/>
            <a:ext cx="914" cy="292608"/>
          </a:xfrm>
          <a:prstGeom prst="line">
            <a:avLst/>
          </a:prstGeom>
          <a:noFill/>
          <a:ln w="5080">
            <a:solidFill>
              <a:srgbClr val="D5DCE5"/>
            </a:solidFill>
            <a:prstDash val="solid"/>
          </a:ln>
        </p:spPr>
      </p:sp>
      <p:sp>
        <p:nvSpPr>
          <p:cNvPr id="97" name="Shape 95"/>
          <p:cNvSpPr/>
          <p:nvPr/>
        </p:nvSpPr>
        <p:spPr>
          <a:xfrm>
            <a:off x="7956709" y="3977640"/>
            <a:ext cx="914" cy="292608"/>
          </a:xfrm>
          <a:prstGeom prst="line">
            <a:avLst/>
          </a:prstGeom>
          <a:noFill/>
          <a:ln w="5080">
            <a:solidFill>
              <a:srgbClr val="D5DCE5"/>
            </a:solidFill>
            <a:prstDash val="solid"/>
          </a:ln>
        </p:spPr>
      </p:sp>
      <p:sp>
        <p:nvSpPr>
          <p:cNvPr id="98" name="Shape 96"/>
          <p:cNvSpPr/>
          <p:nvPr/>
        </p:nvSpPr>
        <p:spPr>
          <a:xfrm>
            <a:off x="8215313" y="3977640"/>
            <a:ext cx="914" cy="292608"/>
          </a:xfrm>
          <a:prstGeom prst="line">
            <a:avLst/>
          </a:prstGeom>
          <a:noFill/>
          <a:ln w="5080">
            <a:solidFill>
              <a:srgbClr val="D5DCE5"/>
            </a:solidFill>
            <a:prstDash val="solid"/>
          </a:ln>
        </p:spPr>
      </p:sp>
      <p:sp>
        <p:nvSpPr>
          <p:cNvPr id="99" name="Shape 97"/>
          <p:cNvSpPr/>
          <p:nvPr/>
        </p:nvSpPr>
        <p:spPr>
          <a:xfrm>
            <a:off x="8473916" y="3977640"/>
            <a:ext cx="914" cy="292608"/>
          </a:xfrm>
          <a:prstGeom prst="line">
            <a:avLst/>
          </a:prstGeom>
          <a:noFill/>
          <a:ln w="5080">
            <a:solidFill>
              <a:srgbClr val="D5DCE5"/>
            </a:solidFill>
            <a:prstDash val="solid"/>
          </a:ln>
        </p:spPr>
      </p:sp>
      <p:sp>
        <p:nvSpPr>
          <p:cNvPr id="100" name="Text 98"/>
          <p:cNvSpPr txBox="1"/>
          <p:nvPr/>
        </p:nvSpPr>
        <p:spPr>
          <a:xfrm>
            <a:off x="2267426" y="3977640"/>
            <a:ext cx="258604" cy="292608"/>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j</a:t>
            </a:r>
            <a:endParaRPr lang="en-US" sz="700" dirty="0"/>
          </a:p>
        </p:txBody>
      </p:sp>
      <p:sp>
        <p:nvSpPr>
          <p:cNvPr id="101" name="Text 99"/>
          <p:cNvSpPr txBox="1"/>
          <p:nvPr/>
        </p:nvSpPr>
        <p:spPr>
          <a:xfrm>
            <a:off x="457200" y="3977640"/>
            <a:ext cx="1810226" cy="292608"/>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완료</a:t>
            </a:r>
            <a:endParaRPr lang="en-US" sz="700" dirty="0"/>
          </a:p>
        </p:txBody>
      </p:sp>
      <p:sp>
        <p:nvSpPr>
          <p:cNvPr id="102" name="Text 100"/>
          <p:cNvSpPr txBox="1"/>
          <p:nvPr/>
        </p:nvSpPr>
        <p:spPr>
          <a:xfrm>
            <a:off x="457200" y="3749040"/>
            <a:ext cx="827532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출력 [64,8192] = 1 × 128 tiles (그림 32칸): tile j 완성(FP16 SAVE) → 다음 panel j+1</a:t>
            </a:r>
            <a:endParaRPr lang="en-US" sz="850" dirty="0"/>
          </a:p>
        </p:txBody>
      </p:sp>
      <p:sp>
        <p:nvSpPr>
          <p:cNvPr id="103" name="Shape 101"/>
          <p:cNvSpPr/>
          <p:nvPr/>
        </p:nvSpPr>
        <p:spPr>
          <a:xfrm flipH="1">
            <a:off x="2396728" y="3246120"/>
            <a:ext cx="5467112" cy="731520"/>
          </a:xfrm>
          <a:prstGeom prst="line">
            <a:avLst/>
          </a:prstGeom>
          <a:noFill/>
          <a:ln w="19050">
            <a:solidFill>
              <a:srgbClr val="6C4FBF"/>
            </a:solidFill>
            <a:prstDash val="solid"/>
            <a:tailEnd type="triangle"/>
          </a:ln>
        </p:spPr>
      </p:sp>
      <p:sp>
        <p:nvSpPr>
          <p:cNvPr id="104" name="Text 102"/>
          <p:cNvSpPr txBox="1"/>
          <p:nvPr/>
        </p:nvSpPr>
        <p:spPr>
          <a:xfrm>
            <a:off x="9098280" y="1463040"/>
            <a:ext cx="2633472" cy="2834640"/>
          </a:xfrm>
          <a:prstGeom prst="rect">
            <a:avLst/>
          </a:prstGeom>
          <a:noFill/>
          <a:ln/>
        </p:spPr>
        <p:txBody>
          <a:bodyPr wrap="square" lIns="0" tIns="0" rIns="0" bIns="0" rtlCol="0" anchor="t"/>
          <a:lstStyle/>
          <a:p>
            <a:pPr algn="l" marL="152400" indent="-152400">
              <a:spcAft>
                <a:spcPts val="400"/>
              </a:spcAft>
              <a:buSzPct val="100000"/>
              <a:buChar char="•"/>
            </a:pPr>
            <a:r>
              <a:rPr lang="en-US" sz="850" b="1" dirty="0">
                <a:solidFill>
                  <a:srgbClr val="1F2D3D"/>
                </a:solidFill>
                <a:latin typeface="Malgun Gothic" pitchFamily="34" charset="0"/>
                <a:ea typeface="Malgun Gothic" pitchFamily="34" charset="-122"/>
                <a:cs typeface="Malgun Gothic" pitchFamily="34" charset="-120"/>
              </a:rPr>
              <a:t>출력 tile 하나: </a:t>
            </a:r>
            <a:pPr algn="l" indent="0" marL="0">
              <a:spcAft>
                <a:spcPts val="400"/>
              </a:spcAft>
              <a:buNone/>
            </a:pPr>
            <a:r>
              <a:rPr lang="en-US" sz="850" dirty="0">
                <a:solidFill>
                  <a:srgbClr val="1F2D3D"/>
                </a:solidFill>
                <a:latin typeface="Malgun Gothic" pitchFamily="34" charset="0"/>
                <a:ea typeface="Malgun Gothic" pitchFamily="34" charset="-122"/>
                <a:cs typeface="Malgun Gothic" pitchFamily="34" charset="-120"/>
              </a:rPr>
              <a:t>M_MUL 48개 (K tile 48)</a:t>
            </a:r>
            <a:endParaRPr lang="en-US" sz="850" dirty="0"/>
          </a:p>
          <a:p>
            <a:pPr algn="l" marL="152400" indent="-152400">
              <a:spcAft>
                <a:spcPts val="400"/>
              </a:spcAft>
              <a:buSzPct val="100000"/>
              <a:buChar char="•"/>
            </a:pPr>
            <a:r>
              <a:rPr lang="en-US" sz="850" b="1" dirty="0">
                <a:solidFill>
                  <a:srgbClr val="1F2D3D"/>
                </a:solidFill>
                <a:latin typeface="Malgun Gothic" pitchFamily="34" charset="0"/>
                <a:ea typeface="Malgun Gothic" pitchFamily="34" charset="-122"/>
                <a:cs typeface="Malgun Gothic" pitchFamily="34" charset="-120"/>
              </a:rPr>
              <a:t>출력 열 tile: </a:t>
            </a:r>
            <a:pPr algn="l" indent="0" marL="0">
              <a:spcAft>
                <a:spcPts val="400"/>
              </a:spcAft>
              <a:buNone/>
            </a:pPr>
            <a:r>
              <a:rPr lang="en-US" sz="850" dirty="0">
                <a:solidFill>
                  <a:srgbClr val="1F2D3D"/>
                </a:solidFill>
                <a:latin typeface="Malgun Gothic" pitchFamily="34" charset="0"/>
                <a:ea typeface="Malgun Gothic" pitchFamily="34" charset="-122"/>
                <a:cs typeface="Malgun Gothic" pitchFamily="34" charset="-120"/>
              </a:rPr>
              <a:t>8192/64 = 128 → 총 6,144 M_MUL</a:t>
            </a:r>
            <a:endParaRPr lang="en-US" sz="850" dirty="0"/>
          </a:p>
          <a:p>
            <a:pPr algn="l" marL="152400" indent="-152400">
              <a:spcAft>
                <a:spcPts val="400"/>
              </a:spcAft>
              <a:buSzPct val="100000"/>
              <a:buChar char="•"/>
            </a:pPr>
            <a:r>
              <a:rPr lang="en-US" sz="850" b="1" dirty="0">
                <a:solidFill>
                  <a:srgbClr val="1F2D3D"/>
                </a:solidFill>
                <a:latin typeface="Malgun Gothic" pitchFamily="34" charset="0"/>
                <a:ea typeface="Malgun Gothic" pitchFamily="34" charset="-122"/>
                <a:cs typeface="Malgun Gothic" pitchFamily="34" charset="-120"/>
              </a:rPr>
              <a:t>W 전송: </a:t>
            </a:r>
            <a:pPr algn="l" indent="0" marL="0">
              <a:spcAft>
                <a:spcPts val="400"/>
              </a:spcAft>
              <a:buNone/>
            </a:pPr>
            <a:r>
              <a:rPr lang="en-US" sz="850" dirty="0">
                <a:solidFill>
                  <a:srgbClr val="1F2D3D"/>
                </a:solidFill>
                <a:latin typeface="Malgun Gothic" pitchFamily="34" charset="0"/>
                <a:ea typeface="Malgun Gothic" pitchFamily="34" charset="-122"/>
                <a:cs typeface="Malgun Gothic" pitchFamily="34" charset="-120"/>
              </a:rPr>
              <a:t>128 panel × 384 KiB = 48 MiB, 각 1회</a:t>
            </a:r>
            <a:endParaRPr lang="en-US" sz="850" dirty="0"/>
          </a:p>
          <a:p>
            <a:pPr algn="l" marL="152400" indent="-152400">
              <a:spcAft>
                <a:spcPts val="400"/>
              </a:spcAft>
              <a:buSzPct val="100000"/>
              <a:buChar char="•"/>
            </a:pPr>
            <a:r>
              <a:rPr lang="en-US" sz="850" b="1" dirty="0">
                <a:solidFill>
                  <a:srgbClr val="1F2D3D"/>
                </a:solidFill>
                <a:latin typeface="Malgun Gothic" pitchFamily="34" charset="0"/>
                <a:ea typeface="Malgun Gothic" pitchFamily="34" charset="-122"/>
                <a:cs typeface="Malgun Gothic" pitchFamily="34" charset="-120"/>
              </a:rPr>
              <a:t>X 전송: </a:t>
            </a:r>
            <a:pPr algn="l" indent="0" marL="0">
              <a:spcAft>
                <a:spcPts val="400"/>
              </a:spcAft>
              <a:buNone/>
            </a:pPr>
            <a:r>
              <a:rPr lang="en-US" sz="850" dirty="0">
                <a:solidFill>
                  <a:srgbClr val="1F2D3D"/>
                </a:solidFill>
                <a:latin typeface="Malgun Gothic" pitchFamily="34" charset="0"/>
                <a:ea typeface="Malgun Gothic" pitchFamily="34" charset="-122"/>
                <a:cs typeface="Malgun Gothic" pitchFamily="34" charset="-120"/>
              </a:rPr>
              <a:t>384 KiB 1회</a:t>
            </a:r>
            <a:endParaRPr lang="en-US" sz="850" dirty="0"/>
          </a:p>
          <a:p>
            <a:pPr algn="l" marL="152400" indent="-152400">
              <a:spcAft>
                <a:spcPts val="400"/>
              </a:spcAft>
              <a:buSzPct val="100000"/>
              <a:buChar char="•"/>
            </a:pPr>
            <a:r>
              <a:rPr lang="en-US" sz="850" b="1" dirty="0">
                <a:solidFill>
                  <a:srgbClr val="1F2D3D"/>
                </a:solidFill>
                <a:latin typeface="Malgun Gothic" pitchFamily="34" charset="0"/>
                <a:ea typeface="Malgun Gothic" pitchFamily="34" charset="-122"/>
                <a:cs typeface="Malgun Gothic" pitchFamily="34" charset="-120"/>
              </a:rPr>
              <a:t>SRAM: </a:t>
            </a:r>
            <a:pPr algn="l" indent="0" marL="0">
              <a:spcAft>
                <a:spcPts val="400"/>
              </a:spcAft>
              <a:buNone/>
            </a:pPr>
            <a:r>
              <a:rPr lang="en-US" sz="850" dirty="0">
                <a:solidFill>
                  <a:srgbClr val="1F2D3D"/>
                </a:solidFill>
                <a:latin typeface="Malgun Gothic" pitchFamily="34" charset="0"/>
                <a:ea typeface="Malgun Gothic" pitchFamily="34" charset="-122"/>
                <a:cs typeface="Malgun Gothic" pitchFamily="34" charset="-120"/>
              </a:rPr>
              <a:t>X 384 KiB + W panel 384 KiB + 출력 tile + 임시 (나머지는 보관값·작업 공간)</a:t>
            </a:r>
            <a:endParaRPr lang="en-US" sz="8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4572000"/>
          <a:ext cx="11274552" cy="914400"/>
        </p:xfrm>
        <a:graphic>
          <a:graphicData uri="http://schemas.openxmlformats.org/drawingml/2006/table">
            <a:tbl>
              <a:tblPr/>
              <a:tblGrid>
                <a:gridCol w="914400"/>
                <a:gridCol w="1828800"/>
                <a:gridCol w="1920240"/>
                <a:gridCol w="4572000"/>
                <a:gridCol w="2039112"/>
              </a:tblGrid>
              <a:tr h="36576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Projection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계산</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보존된 선택 (M=64)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입력 배치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M_MUL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6576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gate / up</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[64,3072] × [3072,8192]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("A", 64): input-stationary</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X 384 KiB 유지, W [3072,64] 384 KiB × 128회 교체</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6,144 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down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[64,8192] × [8192,3072]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("B", 256): weight-stationary</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W [8192,256] 4 MiB 유지, 출력 64열 tile 4개 계산. H는 앞 커널 SRAM 보관값</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12 panel × 4 tile × 128 K = 6,144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106" name="Shape 103"/>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07" name="Text 104"/>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K chunk 숫자만 보고 DMA 크기를 판단하면 안 됩니다. cache stage가 어느 loop에 있는지(a_at/b_at)가 실제 전송 영역과 재읽기 횟수를 정합니다.</a:t>
            </a:r>
            <a:endParaRPr lang="en-US" sz="1250" dirty="0"/>
          </a:p>
        </p:txBody>
      </p:sp>
      <p:sp>
        <p:nvSpPr>
          <p:cNvPr id="108" name="Text 10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09" name="Text 10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docs/current/06_matmul_schedule.md, evidence/current/refinement.json (M=64 MLP 정적 compile 기록)</a:t>
            </a:r>
            <a:endParaRPr lang="en-US" sz="850" dirty="0"/>
          </a:p>
        </p:txBody>
      </p:sp>
      <p:sp>
        <p:nvSpPr>
          <p:cNvPr id="110" name="Text 10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31 / 89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6 · Matmul scheduling</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탐색 공간: m/n panel, K chunk, loop 순서, 그리고 두 operand의 cache 위치</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npu_schedule_space.candidates: 64×64 명령과 끊기지 않는 K chain은 제약이지 mapping 템플릿이 아닙니다. 출력 tile을 도는 순서와 각 operand의 cache 위치가 재읽기 횟수를 정합니다.</a:t>
            </a:r>
            <a:endParaRPr lang="en-US" sz="12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937760" cy="914400"/>
        </p:xfrm>
        <a:graphic>
          <a:graphicData uri="http://schemas.openxmlformats.org/drawingml/2006/table">
            <a:tbl>
              <a:tblPr/>
              <a:tblGrid>
                <a:gridCol w="1280160"/>
                <a:gridCol w="3657600"/>
              </a:tblGrid>
              <a:tr h="347472">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설정</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의미</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47472">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m_panel / n_panel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바깥에서 묶는 출력 행/열 수. 그 안은 64 단위 tile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47472">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k_chunk</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K를 묶는 크기. 그 안에서 64개씩 M_MUL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47472">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outer_order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M panel과 N panel 중 무엇을 먼저 반복</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47472">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inner_order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panel 내부 M/N tile 순서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47472">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a_at / b_at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X/W 복사 stage를 넣을 loop. 그 안에서 반복 사용하는 영역이 SRAM에 올라감</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47472">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resident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이미 SRAM에 있는 operand: cache stage 없음, 위치 선택 1개로 축소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623560" y="1371600"/>
            <a:ext cx="59436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loop_spec: 항상 이 구조 (K 최내측)</a:t>
            </a:r>
            <a:endParaRPr lang="en-US" sz="1100" dirty="0"/>
          </a:p>
        </p:txBody>
      </p:sp>
      <p:sp>
        <p:nvSpPr>
          <p:cNvPr id="7" name="Shape 4"/>
          <p:cNvSpPr/>
          <p:nvPr/>
        </p:nvSpPr>
        <p:spPr>
          <a:xfrm>
            <a:off x="5623560" y="1691640"/>
            <a:ext cx="6080760" cy="292608"/>
          </a:xfrm>
          <a:prstGeom prst="roundRect">
            <a:avLst>
              <a:gd name="adj" fmla="val 9375"/>
            </a:avLst>
          </a:prstGeom>
          <a:solidFill>
            <a:srgbClr val="E3EEFB"/>
          </a:solidFill>
          <a:ln w="12700">
            <a:solidFill>
              <a:srgbClr val="2F6DB5"/>
            </a:solidFill>
            <a:prstDash val="solid"/>
          </a:ln>
        </p:spPr>
      </p:sp>
      <p:sp>
        <p:nvSpPr>
          <p:cNvPr id="8" name="Text 5"/>
          <p:cNvSpPr txBox="1"/>
          <p:nvPr/>
        </p:nvSpPr>
        <p:spPr>
          <a:xfrm>
            <a:off x="5715000" y="1737360"/>
            <a:ext cx="4114800" cy="228600"/>
          </a:xfrm>
          <a:prstGeom prst="rect">
            <a:avLst/>
          </a:prstGeom>
          <a:noFill/>
          <a:ln/>
        </p:spPr>
        <p:txBody>
          <a:bodyPr wrap="square" lIns="0" tIns="0" rIns="0" bIns="0" rtlCol="0" anchor="t"/>
          <a:lstStyle/>
          <a:p>
            <a:pPr algn="l" indent="0" marL="0">
              <a:buNone/>
            </a:pPr>
            <a:r>
              <a:rPr lang="en-US" sz="950" b="1" dirty="0">
                <a:solidFill>
                  <a:srgbClr val="1F2D3D"/>
                </a:solidFill>
                <a:latin typeface="Courier New" pitchFamily="34" charset="0"/>
                <a:ea typeface="Courier New" pitchFamily="34" charset="-122"/>
                <a:cs typeface="Courier New" pitchFamily="34" charset="-120"/>
              </a:rPr>
              <a:t>for m_panel / n_panel:</a:t>
            </a:r>
            <a:endParaRPr lang="en-US" sz="950" dirty="0"/>
          </a:p>
        </p:txBody>
      </p:sp>
      <p:sp>
        <p:nvSpPr>
          <p:cNvPr id="9" name="Text 6"/>
          <p:cNvSpPr txBox="1"/>
          <p:nvPr/>
        </p:nvSpPr>
        <p:spPr>
          <a:xfrm>
            <a:off x="9738360" y="1737360"/>
            <a:ext cx="1828800"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outer_order</a:t>
            </a:r>
            <a:endParaRPr lang="en-US" sz="850" dirty="0"/>
          </a:p>
        </p:txBody>
      </p:sp>
      <p:sp>
        <p:nvSpPr>
          <p:cNvPr id="10" name="Shape 7"/>
          <p:cNvSpPr/>
          <p:nvPr/>
        </p:nvSpPr>
        <p:spPr>
          <a:xfrm>
            <a:off x="5879592" y="2020824"/>
            <a:ext cx="5824728" cy="292608"/>
          </a:xfrm>
          <a:prstGeom prst="roundRect">
            <a:avLst>
              <a:gd name="adj" fmla="val 9375"/>
            </a:avLst>
          </a:prstGeom>
          <a:solidFill>
            <a:srgbClr val="E3EEFB"/>
          </a:solidFill>
          <a:ln w="12700">
            <a:solidFill>
              <a:srgbClr val="2F6DB5"/>
            </a:solidFill>
            <a:prstDash val="solid"/>
          </a:ln>
        </p:spPr>
      </p:sp>
      <p:sp>
        <p:nvSpPr>
          <p:cNvPr id="11" name="Text 8"/>
          <p:cNvSpPr txBox="1"/>
          <p:nvPr/>
        </p:nvSpPr>
        <p:spPr>
          <a:xfrm>
            <a:off x="5971032" y="2066544"/>
            <a:ext cx="4114800" cy="228600"/>
          </a:xfrm>
          <a:prstGeom prst="rect">
            <a:avLst/>
          </a:prstGeom>
          <a:noFill/>
          <a:ln/>
        </p:spPr>
        <p:txBody>
          <a:bodyPr wrap="square" lIns="0" tIns="0" rIns="0" bIns="0" rtlCol="0" anchor="t"/>
          <a:lstStyle/>
          <a:p>
            <a:pPr algn="l" indent="0" marL="0">
              <a:buNone/>
            </a:pPr>
            <a:r>
              <a:rPr lang="en-US" sz="950" b="1" dirty="0">
                <a:solidFill>
                  <a:srgbClr val="1F2D3D"/>
                </a:solidFill>
                <a:latin typeface="Courier New" pitchFamily="34" charset="0"/>
                <a:ea typeface="Courier New" pitchFamily="34" charset="-122"/>
                <a:cs typeface="Courier New" pitchFamily="34" charset="-120"/>
              </a:rPr>
              <a:t>for n_panel / m_panel:</a:t>
            </a:r>
            <a:endParaRPr lang="en-US" sz="950" dirty="0"/>
          </a:p>
        </p:txBody>
      </p:sp>
      <p:sp>
        <p:nvSpPr>
          <p:cNvPr id="12" name="Shape 9"/>
          <p:cNvSpPr/>
          <p:nvPr/>
        </p:nvSpPr>
        <p:spPr>
          <a:xfrm>
            <a:off x="6135624" y="2350008"/>
            <a:ext cx="5568696" cy="292608"/>
          </a:xfrm>
          <a:prstGeom prst="roundRect">
            <a:avLst>
              <a:gd name="adj" fmla="val 9375"/>
            </a:avLst>
          </a:prstGeom>
          <a:solidFill>
            <a:srgbClr val="DDF3F0"/>
          </a:solidFill>
          <a:ln w="12700">
            <a:solidFill>
              <a:srgbClr val="1F8A8A"/>
            </a:solidFill>
            <a:prstDash val="solid"/>
          </a:ln>
        </p:spPr>
      </p:sp>
      <p:sp>
        <p:nvSpPr>
          <p:cNvPr id="13" name="Text 10"/>
          <p:cNvSpPr txBox="1"/>
          <p:nvPr/>
        </p:nvSpPr>
        <p:spPr>
          <a:xfrm>
            <a:off x="6227064" y="2395728"/>
            <a:ext cx="4114800" cy="228600"/>
          </a:xfrm>
          <a:prstGeom prst="rect">
            <a:avLst/>
          </a:prstGeom>
          <a:noFill/>
          <a:ln/>
        </p:spPr>
        <p:txBody>
          <a:bodyPr wrap="square" lIns="0" tIns="0" rIns="0" bIns="0" rtlCol="0" anchor="t"/>
          <a:lstStyle/>
          <a:p>
            <a:pPr algn="l" indent="0" marL="0">
              <a:buNone/>
            </a:pPr>
            <a:r>
              <a:rPr lang="en-US" sz="950" b="1" dirty="0">
                <a:solidFill>
                  <a:srgbClr val="1F2D3D"/>
                </a:solidFill>
                <a:latin typeface="Courier New" pitchFamily="34" charset="0"/>
                <a:ea typeface="Courier New" pitchFamily="34" charset="-122"/>
                <a:cs typeface="Courier New" pitchFamily="34" charset="-120"/>
              </a:rPr>
              <a:t>for m_tile (64):</a:t>
            </a:r>
            <a:endParaRPr lang="en-US" sz="950" dirty="0"/>
          </a:p>
        </p:txBody>
      </p:sp>
      <p:sp>
        <p:nvSpPr>
          <p:cNvPr id="14" name="Text 11"/>
          <p:cNvSpPr txBox="1"/>
          <p:nvPr/>
        </p:nvSpPr>
        <p:spPr>
          <a:xfrm>
            <a:off x="10250424" y="2395728"/>
            <a:ext cx="1828800"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inner_order</a:t>
            </a:r>
            <a:endParaRPr lang="en-US" sz="850" dirty="0"/>
          </a:p>
        </p:txBody>
      </p:sp>
      <p:sp>
        <p:nvSpPr>
          <p:cNvPr id="15" name="Shape 12"/>
          <p:cNvSpPr/>
          <p:nvPr/>
        </p:nvSpPr>
        <p:spPr>
          <a:xfrm>
            <a:off x="6391656" y="2679192"/>
            <a:ext cx="5312664" cy="292608"/>
          </a:xfrm>
          <a:prstGeom prst="roundRect">
            <a:avLst>
              <a:gd name="adj" fmla="val 9375"/>
            </a:avLst>
          </a:prstGeom>
          <a:solidFill>
            <a:srgbClr val="DDF3F0"/>
          </a:solidFill>
          <a:ln w="12700">
            <a:solidFill>
              <a:srgbClr val="1F8A8A"/>
            </a:solidFill>
            <a:prstDash val="solid"/>
          </a:ln>
        </p:spPr>
      </p:sp>
      <p:sp>
        <p:nvSpPr>
          <p:cNvPr id="16" name="Text 13"/>
          <p:cNvSpPr txBox="1"/>
          <p:nvPr/>
        </p:nvSpPr>
        <p:spPr>
          <a:xfrm>
            <a:off x="6483096" y="2724912"/>
            <a:ext cx="4114800" cy="228600"/>
          </a:xfrm>
          <a:prstGeom prst="rect">
            <a:avLst/>
          </a:prstGeom>
          <a:noFill/>
          <a:ln/>
        </p:spPr>
        <p:txBody>
          <a:bodyPr wrap="square" lIns="0" tIns="0" rIns="0" bIns="0" rtlCol="0" anchor="t"/>
          <a:lstStyle/>
          <a:p>
            <a:pPr algn="l" indent="0" marL="0">
              <a:buNone/>
            </a:pPr>
            <a:r>
              <a:rPr lang="en-US" sz="950" b="1" dirty="0">
                <a:solidFill>
                  <a:srgbClr val="1F2D3D"/>
                </a:solidFill>
                <a:latin typeface="Courier New" pitchFamily="34" charset="0"/>
                <a:ea typeface="Courier New" pitchFamily="34" charset="-122"/>
                <a:cs typeface="Courier New" pitchFamily="34" charset="-120"/>
              </a:rPr>
              <a:t>for n_tile (64):</a:t>
            </a:r>
            <a:endParaRPr lang="en-US" sz="950" dirty="0"/>
          </a:p>
        </p:txBody>
      </p:sp>
      <p:sp>
        <p:nvSpPr>
          <p:cNvPr id="17" name="Shape 14"/>
          <p:cNvSpPr/>
          <p:nvPr/>
        </p:nvSpPr>
        <p:spPr>
          <a:xfrm>
            <a:off x="6647688" y="3008376"/>
            <a:ext cx="5056632" cy="292608"/>
          </a:xfrm>
          <a:prstGeom prst="roundRect">
            <a:avLst>
              <a:gd name="adj" fmla="val 9375"/>
            </a:avLst>
          </a:prstGeom>
          <a:solidFill>
            <a:srgbClr val="ECE6FA"/>
          </a:solidFill>
          <a:ln w="12700">
            <a:solidFill>
              <a:srgbClr val="6C4FBF"/>
            </a:solidFill>
            <a:prstDash val="solid"/>
          </a:ln>
        </p:spPr>
      </p:sp>
      <p:sp>
        <p:nvSpPr>
          <p:cNvPr id="18" name="Text 15"/>
          <p:cNvSpPr txBox="1"/>
          <p:nvPr/>
        </p:nvSpPr>
        <p:spPr>
          <a:xfrm>
            <a:off x="6739128" y="3054096"/>
            <a:ext cx="4114800" cy="228600"/>
          </a:xfrm>
          <a:prstGeom prst="rect">
            <a:avLst/>
          </a:prstGeom>
          <a:noFill/>
          <a:ln/>
        </p:spPr>
        <p:txBody>
          <a:bodyPr wrap="square" lIns="0" tIns="0" rIns="0" bIns="0" rtlCol="0" anchor="t"/>
          <a:lstStyle/>
          <a:p>
            <a:pPr algn="l" indent="0" marL="0">
              <a:buNone/>
            </a:pPr>
            <a:r>
              <a:rPr lang="en-US" sz="950" b="1" dirty="0">
                <a:solidFill>
                  <a:srgbClr val="1F2D3D"/>
                </a:solidFill>
                <a:latin typeface="Courier New" pitchFamily="34" charset="0"/>
                <a:ea typeface="Courier New" pitchFamily="34" charset="-122"/>
                <a:cs typeface="Courier New" pitchFamily="34" charset="-120"/>
              </a:rPr>
              <a:t>for k_group (k_chunk):</a:t>
            </a:r>
            <a:endParaRPr lang="en-US" sz="950" dirty="0"/>
          </a:p>
        </p:txBody>
      </p:sp>
      <p:sp>
        <p:nvSpPr>
          <p:cNvPr id="19" name="Shape 16"/>
          <p:cNvSpPr/>
          <p:nvPr/>
        </p:nvSpPr>
        <p:spPr>
          <a:xfrm>
            <a:off x="6903720" y="3337560"/>
            <a:ext cx="4800600" cy="292608"/>
          </a:xfrm>
          <a:prstGeom prst="roundRect">
            <a:avLst>
              <a:gd name="adj" fmla="val 9375"/>
            </a:avLst>
          </a:prstGeom>
          <a:solidFill>
            <a:srgbClr val="ECE6FA"/>
          </a:solidFill>
          <a:ln w="12700">
            <a:solidFill>
              <a:srgbClr val="6C4FBF"/>
            </a:solidFill>
            <a:prstDash val="solid"/>
          </a:ln>
        </p:spPr>
      </p:sp>
      <p:sp>
        <p:nvSpPr>
          <p:cNvPr id="20" name="Text 17"/>
          <p:cNvSpPr txBox="1"/>
          <p:nvPr/>
        </p:nvSpPr>
        <p:spPr>
          <a:xfrm>
            <a:off x="6995160" y="3383280"/>
            <a:ext cx="4114800" cy="228600"/>
          </a:xfrm>
          <a:prstGeom prst="rect">
            <a:avLst/>
          </a:prstGeom>
          <a:noFill/>
          <a:ln/>
        </p:spPr>
        <p:txBody>
          <a:bodyPr wrap="square" lIns="0" tIns="0" rIns="0" bIns="0" rtlCol="0" anchor="t"/>
          <a:lstStyle/>
          <a:p>
            <a:pPr algn="l" indent="0" marL="0">
              <a:buNone/>
            </a:pPr>
            <a:r>
              <a:rPr lang="en-US" sz="950" b="1" dirty="0">
                <a:solidFill>
                  <a:srgbClr val="1F2D3D"/>
                </a:solidFill>
                <a:latin typeface="Courier New" pitchFamily="34" charset="0"/>
                <a:ea typeface="Courier New" pitchFamily="34" charset="-122"/>
                <a:cs typeface="Courier New" pitchFamily="34" charset="-120"/>
              </a:rPr>
              <a:t>for k_tile (64) → M_MUL:</a:t>
            </a:r>
            <a:endParaRPr lang="en-US" sz="950" dirty="0"/>
          </a:p>
        </p:txBody>
      </p:sp>
      <p:sp>
        <p:nvSpPr>
          <p:cNvPr id="21" name="Text 18"/>
          <p:cNvSpPr txBox="1"/>
          <p:nvPr/>
        </p:nvSpPr>
        <p:spPr>
          <a:xfrm>
            <a:off x="11018520" y="3383280"/>
            <a:ext cx="1828800"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MAC chain</a:t>
            </a:r>
            <a:endParaRPr lang="en-US" sz="850" dirty="0"/>
          </a:p>
        </p:txBody>
      </p:sp>
      <p:sp>
        <p:nvSpPr>
          <p:cNvPr id="22" name="Text 19"/>
          <p:cNvSpPr txBox="1"/>
          <p:nvPr/>
        </p:nvSpPr>
        <p:spPr>
          <a:xfrm>
            <a:off x="5623560" y="3749040"/>
            <a:ext cx="6080760" cy="457200"/>
          </a:xfrm>
          <a:prstGeom prst="rect">
            <a:avLst/>
          </a:prstGeom>
          <a:noFill/>
          <a:ln/>
        </p:spPr>
        <p:txBody>
          <a:bodyPr wrap="square" lIns="0" tIns="0" rIns="0" bIns="0" rtlCol="0" anchor="t"/>
          <a:lstStyle/>
          <a:p>
            <a:pPr algn="l" indent="0" marL="0">
              <a:buNone/>
            </a:pPr>
            <a:r>
              <a:rPr lang="en-US" sz="950" dirty="0">
                <a:solidFill>
                  <a:srgbClr val="5B6B7F"/>
                </a:solidFill>
                <a:latin typeface="Malgun Gothic" pitchFamily="34" charset="0"/>
                <a:ea typeface="Malgun Gothic" pitchFamily="34" charset="-122"/>
                <a:cs typeface="Malgun Gothic" pitchFamily="34" charset="-120"/>
              </a:rPr>
              <a:t>a_at = "m_panel" 이면 X 복사 stage가 m_panel loop 안, 즉 그 panel의 X 행 전체(K 전체 포함)를 한 번 올림. b_at = "k_group"이면 W는 K chunk마다 다시 올림.</a:t>
            </a:r>
            <a:endParaRPr lang="en-US" sz="950" dirty="0"/>
          </a:p>
        </p:txBody>
      </p:sp>
      <p:sp>
        <p:nvSpPr>
          <p:cNvPr id="23" name="Text 20"/>
          <p:cNvSpPr txBox="1"/>
          <p:nvPr/>
        </p:nvSpPr>
        <p:spPr>
          <a:xfrm>
            <a:off x="457200" y="3977640"/>
            <a:ext cx="4937760"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출력 [128,256] = 2×4 tiles (panel 64)를 도는 순서 — 무엇이 SRAM에 남아 재사용되는가</a:t>
            </a:r>
            <a:endParaRPr lang="en-US" sz="900" dirty="0"/>
          </a:p>
        </p:txBody>
      </p:sp>
      <p:sp>
        <p:nvSpPr>
          <p:cNvPr id="24" name="Shape 21"/>
          <p:cNvSpPr/>
          <p:nvPr/>
        </p:nvSpPr>
        <p:spPr>
          <a:xfrm>
            <a:off x="457200" y="4251960"/>
            <a:ext cx="502920" cy="502920"/>
          </a:xfrm>
          <a:prstGeom prst="rect">
            <a:avLst/>
          </a:prstGeom>
          <a:solidFill>
            <a:srgbClr val="EEF2F6"/>
          </a:solidFill>
          <a:ln w="6350">
            <a:solidFill>
              <a:srgbClr val="C9D3DF"/>
            </a:solidFill>
            <a:prstDash val="solid"/>
          </a:ln>
        </p:spPr>
      </p:sp>
      <p:sp>
        <p:nvSpPr>
          <p:cNvPr id="25" name="Text 22"/>
          <p:cNvSpPr txBox="1"/>
          <p:nvPr/>
        </p:nvSpPr>
        <p:spPr>
          <a:xfrm>
            <a:off x="457200" y="425196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1</a:t>
            </a:r>
            <a:endParaRPr lang="en-US" sz="900" dirty="0"/>
          </a:p>
        </p:txBody>
      </p:sp>
      <p:sp>
        <p:nvSpPr>
          <p:cNvPr id="26" name="Shape 23"/>
          <p:cNvSpPr/>
          <p:nvPr/>
        </p:nvSpPr>
        <p:spPr>
          <a:xfrm>
            <a:off x="960120" y="4251960"/>
            <a:ext cx="502920" cy="502920"/>
          </a:xfrm>
          <a:prstGeom prst="rect">
            <a:avLst/>
          </a:prstGeom>
          <a:solidFill>
            <a:srgbClr val="EEF2F6"/>
          </a:solidFill>
          <a:ln w="6350">
            <a:solidFill>
              <a:srgbClr val="C9D3DF"/>
            </a:solidFill>
            <a:prstDash val="solid"/>
          </a:ln>
        </p:spPr>
      </p:sp>
      <p:sp>
        <p:nvSpPr>
          <p:cNvPr id="27" name="Text 24"/>
          <p:cNvSpPr txBox="1"/>
          <p:nvPr/>
        </p:nvSpPr>
        <p:spPr>
          <a:xfrm>
            <a:off x="960120" y="425196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2</a:t>
            </a:r>
            <a:endParaRPr lang="en-US" sz="900" dirty="0"/>
          </a:p>
        </p:txBody>
      </p:sp>
      <p:sp>
        <p:nvSpPr>
          <p:cNvPr id="28" name="Shape 25"/>
          <p:cNvSpPr/>
          <p:nvPr/>
        </p:nvSpPr>
        <p:spPr>
          <a:xfrm>
            <a:off x="1463040" y="4251960"/>
            <a:ext cx="502920" cy="502920"/>
          </a:xfrm>
          <a:prstGeom prst="rect">
            <a:avLst/>
          </a:prstGeom>
          <a:solidFill>
            <a:srgbClr val="EEF2F6"/>
          </a:solidFill>
          <a:ln w="6350">
            <a:solidFill>
              <a:srgbClr val="C9D3DF"/>
            </a:solidFill>
            <a:prstDash val="solid"/>
          </a:ln>
        </p:spPr>
      </p:sp>
      <p:sp>
        <p:nvSpPr>
          <p:cNvPr id="29" name="Text 26"/>
          <p:cNvSpPr txBox="1"/>
          <p:nvPr/>
        </p:nvSpPr>
        <p:spPr>
          <a:xfrm>
            <a:off x="1463040" y="425196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3</a:t>
            </a:r>
            <a:endParaRPr lang="en-US" sz="900" dirty="0"/>
          </a:p>
        </p:txBody>
      </p:sp>
      <p:sp>
        <p:nvSpPr>
          <p:cNvPr id="30" name="Shape 27"/>
          <p:cNvSpPr/>
          <p:nvPr/>
        </p:nvSpPr>
        <p:spPr>
          <a:xfrm>
            <a:off x="1965960" y="4251960"/>
            <a:ext cx="502920" cy="502920"/>
          </a:xfrm>
          <a:prstGeom prst="rect">
            <a:avLst/>
          </a:prstGeom>
          <a:solidFill>
            <a:srgbClr val="EEF2F6"/>
          </a:solidFill>
          <a:ln w="6350">
            <a:solidFill>
              <a:srgbClr val="C9D3DF"/>
            </a:solidFill>
            <a:prstDash val="solid"/>
          </a:ln>
        </p:spPr>
      </p:sp>
      <p:sp>
        <p:nvSpPr>
          <p:cNvPr id="31" name="Text 28"/>
          <p:cNvSpPr txBox="1"/>
          <p:nvPr/>
        </p:nvSpPr>
        <p:spPr>
          <a:xfrm>
            <a:off x="1965960" y="425196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4</a:t>
            </a:r>
            <a:endParaRPr lang="en-US" sz="900" dirty="0"/>
          </a:p>
        </p:txBody>
      </p:sp>
      <p:sp>
        <p:nvSpPr>
          <p:cNvPr id="32" name="Shape 29"/>
          <p:cNvSpPr/>
          <p:nvPr/>
        </p:nvSpPr>
        <p:spPr>
          <a:xfrm>
            <a:off x="457200" y="4754880"/>
            <a:ext cx="502920" cy="502920"/>
          </a:xfrm>
          <a:prstGeom prst="rect">
            <a:avLst/>
          </a:prstGeom>
          <a:solidFill>
            <a:srgbClr val="EEF2F6"/>
          </a:solidFill>
          <a:ln w="6350">
            <a:solidFill>
              <a:srgbClr val="C9D3DF"/>
            </a:solidFill>
            <a:prstDash val="solid"/>
          </a:ln>
        </p:spPr>
      </p:sp>
      <p:sp>
        <p:nvSpPr>
          <p:cNvPr id="33" name="Text 30"/>
          <p:cNvSpPr txBox="1"/>
          <p:nvPr/>
        </p:nvSpPr>
        <p:spPr>
          <a:xfrm>
            <a:off x="457200" y="475488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5</a:t>
            </a:r>
            <a:endParaRPr lang="en-US" sz="900" dirty="0"/>
          </a:p>
        </p:txBody>
      </p:sp>
      <p:sp>
        <p:nvSpPr>
          <p:cNvPr id="34" name="Shape 31"/>
          <p:cNvSpPr/>
          <p:nvPr/>
        </p:nvSpPr>
        <p:spPr>
          <a:xfrm>
            <a:off x="960120" y="4754880"/>
            <a:ext cx="502920" cy="502920"/>
          </a:xfrm>
          <a:prstGeom prst="rect">
            <a:avLst/>
          </a:prstGeom>
          <a:solidFill>
            <a:srgbClr val="EEF2F6"/>
          </a:solidFill>
          <a:ln w="6350">
            <a:solidFill>
              <a:srgbClr val="C9D3DF"/>
            </a:solidFill>
            <a:prstDash val="solid"/>
          </a:ln>
        </p:spPr>
      </p:sp>
      <p:sp>
        <p:nvSpPr>
          <p:cNvPr id="35" name="Text 32"/>
          <p:cNvSpPr txBox="1"/>
          <p:nvPr/>
        </p:nvSpPr>
        <p:spPr>
          <a:xfrm>
            <a:off x="960120" y="475488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6</a:t>
            </a:r>
            <a:endParaRPr lang="en-US" sz="900" dirty="0"/>
          </a:p>
        </p:txBody>
      </p:sp>
      <p:sp>
        <p:nvSpPr>
          <p:cNvPr id="36" name="Shape 33"/>
          <p:cNvSpPr/>
          <p:nvPr/>
        </p:nvSpPr>
        <p:spPr>
          <a:xfrm>
            <a:off x="1463040" y="4754880"/>
            <a:ext cx="502920" cy="502920"/>
          </a:xfrm>
          <a:prstGeom prst="rect">
            <a:avLst/>
          </a:prstGeom>
          <a:solidFill>
            <a:srgbClr val="EEF2F6"/>
          </a:solidFill>
          <a:ln w="6350">
            <a:solidFill>
              <a:srgbClr val="C9D3DF"/>
            </a:solidFill>
            <a:prstDash val="solid"/>
          </a:ln>
        </p:spPr>
      </p:sp>
      <p:sp>
        <p:nvSpPr>
          <p:cNvPr id="37" name="Text 34"/>
          <p:cNvSpPr txBox="1"/>
          <p:nvPr/>
        </p:nvSpPr>
        <p:spPr>
          <a:xfrm>
            <a:off x="1463040" y="475488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7</a:t>
            </a:r>
            <a:endParaRPr lang="en-US" sz="900" dirty="0"/>
          </a:p>
        </p:txBody>
      </p:sp>
      <p:sp>
        <p:nvSpPr>
          <p:cNvPr id="38" name="Shape 35"/>
          <p:cNvSpPr/>
          <p:nvPr/>
        </p:nvSpPr>
        <p:spPr>
          <a:xfrm>
            <a:off x="1965960" y="4754880"/>
            <a:ext cx="502920" cy="502920"/>
          </a:xfrm>
          <a:prstGeom prst="rect">
            <a:avLst/>
          </a:prstGeom>
          <a:solidFill>
            <a:srgbClr val="EEF2F6"/>
          </a:solidFill>
          <a:ln w="6350">
            <a:solidFill>
              <a:srgbClr val="C9D3DF"/>
            </a:solidFill>
            <a:prstDash val="solid"/>
          </a:ln>
        </p:spPr>
      </p:sp>
      <p:sp>
        <p:nvSpPr>
          <p:cNvPr id="39" name="Text 36"/>
          <p:cNvSpPr txBox="1"/>
          <p:nvPr/>
        </p:nvSpPr>
        <p:spPr>
          <a:xfrm>
            <a:off x="1965960" y="475488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8</a:t>
            </a:r>
            <a:endParaRPr lang="en-US" sz="900" dirty="0"/>
          </a:p>
        </p:txBody>
      </p:sp>
      <p:sp>
        <p:nvSpPr>
          <p:cNvPr id="40" name="Text 37"/>
          <p:cNvSpPr txBox="1"/>
          <p:nvPr/>
        </p:nvSpPr>
        <p:spPr>
          <a:xfrm>
            <a:off x="457200" y="5285232"/>
            <a:ext cx="2011680" cy="411480"/>
          </a:xfrm>
          <a:prstGeom prst="rect">
            <a:avLst/>
          </a:prstGeom>
          <a:noFill/>
          <a:ln/>
        </p:spPr>
        <p:txBody>
          <a:bodyPr wrap="square" lIns="0" tIns="0" rIns="0" bIns="0" rtlCol="0" anchor="t"/>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outer_order = mn: X 행 panel 고정, W 열 panel 교체 → X 재사용, W는 M panel 수만큼 재읽기</a:t>
            </a:r>
            <a:endParaRPr lang="en-US" sz="700" dirty="0"/>
          </a:p>
        </p:txBody>
      </p:sp>
      <p:sp>
        <p:nvSpPr>
          <p:cNvPr id="41" name="Shape 38"/>
          <p:cNvSpPr/>
          <p:nvPr/>
        </p:nvSpPr>
        <p:spPr>
          <a:xfrm>
            <a:off x="2834640" y="4251960"/>
            <a:ext cx="502920" cy="502920"/>
          </a:xfrm>
          <a:prstGeom prst="rect">
            <a:avLst/>
          </a:prstGeom>
          <a:solidFill>
            <a:srgbClr val="EEF2F6"/>
          </a:solidFill>
          <a:ln w="6350">
            <a:solidFill>
              <a:srgbClr val="C9D3DF"/>
            </a:solidFill>
            <a:prstDash val="solid"/>
          </a:ln>
        </p:spPr>
      </p:sp>
      <p:sp>
        <p:nvSpPr>
          <p:cNvPr id="42" name="Text 39"/>
          <p:cNvSpPr txBox="1"/>
          <p:nvPr/>
        </p:nvSpPr>
        <p:spPr>
          <a:xfrm>
            <a:off x="2834640" y="425196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1</a:t>
            </a:r>
            <a:endParaRPr lang="en-US" sz="900" dirty="0"/>
          </a:p>
        </p:txBody>
      </p:sp>
      <p:sp>
        <p:nvSpPr>
          <p:cNvPr id="43" name="Shape 40"/>
          <p:cNvSpPr/>
          <p:nvPr/>
        </p:nvSpPr>
        <p:spPr>
          <a:xfrm>
            <a:off x="3337560" y="4251960"/>
            <a:ext cx="502920" cy="502920"/>
          </a:xfrm>
          <a:prstGeom prst="rect">
            <a:avLst/>
          </a:prstGeom>
          <a:solidFill>
            <a:srgbClr val="EEF2F6"/>
          </a:solidFill>
          <a:ln w="6350">
            <a:solidFill>
              <a:srgbClr val="C9D3DF"/>
            </a:solidFill>
            <a:prstDash val="solid"/>
          </a:ln>
        </p:spPr>
      </p:sp>
      <p:sp>
        <p:nvSpPr>
          <p:cNvPr id="44" name="Text 41"/>
          <p:cNvSpPr txBox="1"/>
          <p:nvPr/>
        </p:nvSpPr>
        <p:spPr>
          <a:xfrm>
            <a:off x="3337560" y="425196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3</a:t>
            </a:r>
            <a:endParaRPr lang="en-US" sz="900" dirty="0"/>
          </a:p>
        </p:txBody>
      </p:sp>
      <p:sp>
        <p:nvSpPr>
          <p:cNvPr id="45" name="Shape 42"/>
          <p:cNvSpPr/>
          <p:nvPr/>
        </p:nvSpPr>
        <p:spPr>
          <a:xfrm>
            <a:off x="3840480" y="4251960"/>
            <a:ext cx="502920" cy="502920"/>
          </a:xfrm>
          <a:prstGeom prst="rect">
            <a:avLst/>
          </a:prstGeom>
          <a:solidFill>
            <a:srgbClr val="EEF2F6"/>
          </a:solidFill>
          <a:ln w="6350">
            <a:solidFill>
              <a:srgbClr val="C9D3DF"/>
            </a:solidFill>
            <a:prstDash val="solid"/>
          </a:ln>
        </p:spPr>
      </p:sp>
      <p:sp>
        <p:nvSpPr>
          <p:cNvPr id="46" name="Text 43"/>
          <p:cNvSpPr txBox="1"/>
          <p:nvPr/>
        </p:nvSpPr>
        <p:spPr>
          <a:xfrm>
            <a:off x="3840480" y="425196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5</a:t>
            </a:r>
            <a:endParaRPr lang="en-US" sz="900" dirty="0"/>
          </a:p>
        </p:txBody>
      </p:sp>
      <p:sp>
        <p:nvSpPr>
          <p:cNvPr id="47" name="Shape 44"/>
          <p:cNvSpPr/>
          <p:nvPr/>
        </p:nvSpPr>
        <p:spPr>
          <a:xfrm>
            <a:off x="4343400" y="4251960"/>
            <a:ext cx="502920" cy="502920"/>
          </a:xfrm>
          <a:prstGeom prst="rect">
            <a:avLst/>
          </a:prstGeom>
          <a:solidFill>
            <a:srgbClr val="EEF2F6"/>
          </a:solidFill>
          <a:ln w="6350">
            <a:solidFill>
              <a:srgbClr val="C9D3DF"/>
            </a:solidFill>
            <a:prstDash val="solid"/>
          </a:ln>
        </p:spPr>
      </p:sp>
      <p:sp>
        <p:nvSpPr>
          <p:cNvPr id="48" name="Text 45"/>
          <p:cNvSpPr txBox="1"/>
          <p:nvPr/>
        </p:nvSpPr>
        <p:spPr>
          <a:xfrm>
            <a:off x="4343400" y="425196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7</a:t>
            </a:r>
            <a:endParaRPr lang="en-US" sz="900" dirty="0"/>
          </a:p>
        </p:txBody>
      </p:sp>
      <p:sp>
        <p:nvSpPr>
          <p:cNvPr id="49" name="Shape 46"/>
          <p:cNvSpPr/>
          <p:nvPr/>
        </p:nvSpPr>
        <p:spPr>
          <a:xfrm>
            <a:off x="2834640" y="4754880"/>
            <a:ext cx="502920" cy="502920"/>
          </a:xfrm>
          <a:prstGeom prst="rect">
            <a:avLst/>
          </a:prstGeom>
          <a:solidFill>
            <a:srgbClr val="EEF2F6"/>
          </a:solidFill>
          <a:ln w="6350">
            <a:solidFill>
              <a:srgbClr val="C9D3DF"/>
            </a:solidFill>
            <a:prstDash val="solid"/>
          </a:ln>
        </p:spPr>
      </p:sp>
      <p:sp>
        <p:nvSpPr>
          <p:cNvPr id="50" name="Text 47"/>
          <p:cNvSpPr txBox="1"/>
          <p:nvPr/>
        </p:nvSpPr>
        <p:spPr>
          <a:xfrm>
            <a:off x="2834640" y="475488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2</a:t>
            </a:r>
            <a:endParaRPr lang="en-US" sz="900" dirty="0"/>
          </a:p>
        </p:txBody>
      </p:sp>
      <p:sp>
        <p:nvSpPr>
          <p:cNvPr id="51" name="Shape 48"/>
          <p:cNvSpPr/>
          <p:nvPr/>
        </p:nvSpPr>
        <p:spPr>
          <a:xfrm>
            <a:off x="3337560" y="4754880"/>
            <a:ext cx="502920" cy="502920"/>
          </a:xfrm>
          <a:prstGeom prst="rect">
            <a:avLst/>
          </a:prstGeom>
          <a:solidFill>
            <a:srgbClr val="EEF2F6"/>
          </a:solidFill>
          <a:ln w="6350">
            <a:solidFill>
              <a:srgbClr val="C9D3DF"/>
            </a:solidFill>
            <a:prstDash val="solid"/>
          </a:ln>
        </p:spPr>
      </p:sp>
      <p:sp>
        <p:nvSpPr>
          <p:cNvPr id="52" name="Text 49"/>
          <p:cNvSpPr txBox="1"/>
          <p:nvPr/>
        </p:nvSpPr>
        <p:spPr>
          <a:xfrm>
            <a:off x="3337560" y="475488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4</a:t>
            </a:r>
            <a:endParaRPr lang="en-US" sz="900" dirty="0"/>
          </a:p>
        </p:txBody>
      </p:sp>
      <p:sp>
        <p:nvSpPr>
          <p:cNvPr id="53" name="Shape 50"/>
          <p:cNvSpPr/>
          <p:nvPr/>
        </p:nvSpPr>
        <p:spPr>
          <a:xfrm>
            <a:off x="3840480" y="4754880"/>
            <a:ext cx="502920" cy="502920"/>
          </a:xfrm>
          <a:prstGeom prst="rect">
            <a:avLst/>
          </a:prstGeom>
          <a:solidFill>
            <a:srgbClr val="EEF2F6"/>
          </a:solidFill>
          <a:ln w="6350">
            <a:solidFill>
              <a:srgbClr val="C9D3DF"/>
            </a:solidFill>
            <a:prstDash val="solid"/>
          </a:ln>
        </p:spPr>
      </p:sp>
      <p:sp>
        <p:nvSpPr>
          <p:cNvPr id="54" name="Text 51"/>
          <p:cNvSpPr txBox="1"/>
          <p:nvPr/>
        </p:nvSpPr>
        <p:spPr>
          <a:xfrm>
            <a:off x="3840480" y="475488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6</a:t>
            </a:r>
            <a:endParaRPr lang="en-US" sz="900" dirty="0"/>
          </a:p>
        </p:txBody>
      </p:sp>
      <p:sp>
        <p:nvSpPr>
          <p:cNvPr id="55" name="Shape 52"/>
          <p:cNvSpPr/>
          <p:nvPr/>
        </p:nvSpPr>
        <p:spPr>
          <a:xfrm>
            <a:off x="4343400" y="4754880"/>
            <a:ext cx="502920" cy="502920"/>
          </a:xfrm>
          <a:prstGeom prst="rect">
            <a:avLst/>
          </a:prstGeom>
          <a:solidFill>
            <a:srgbClr val="EEF2F6"/>
          </a:solidFill>
          <a:ln w="6350">
            <a:solidFill>
              <a:srgbClr val="C9D3DF"/>
            </a:solidFill>
            <a:prstDash val="solid"/>
          </a:ln>
        </p:spPr>
      </p:sp>
      <p:sp>
        <p:nvSpPr>
          <p:cNvPr id="56" name="Text 53"/>
          <p:cNvSpPr txBox="1"/>
          <p:nvPr/>
        </p:nvSpPr>
        <p:spPr>
          <a:xfrm>
            <a:off x="4343400" y="4754880"/>
            <a:ext cx="50292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8</a:t>
            </a:r>
            <a:endParaRPr lang="en-US" sz="900" dirty="0"/>
          </a:p>
        </p:txBody>
      </p:sp>
      <p:sp>
        <p:nvSpPr>
          <p:cNvPr id="57" name="Text 54"/>
          <p:cNvSpPr txBox="1"/>
          <p:nvPr/>
        </p:nvSpPr>
        <p:spPr>
          <a:xfrm>
            <a:off x="2834640" y="5285232"/>
            <a:ext cx="2011680" cy="411480"/>
          </a:xfrm>
          <a:prstGeom prst="rect">
            <a:avLst/>
          </a:prstGeom>
          <a:noFill/>
          <a:ln/>
        </p:spPr>
        <p:txBody>
          <a:bodyPr wrap="square" lIns="0" tIns="0" rIns="0" bIns="0" rtlCol="0" anchor="t"/>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outer_order = nm: W 열 panel 고정, X 행 panel 교체 → W 재사용, X는 N panel 수만큼 재읽기</a:t>
            </a:r>
            <a:endParaRPr lang="en-US" sz="700" dirty="0"/>
          </a:p>
        </p:txBody>
      </p:sp>
      <p:sp>
        <p:nvSpPr>
          <p:cNvPr id="58" name="Text 55"/>
          <p:cNvSpPr txBox="1"/>
          <p:nvPr/>
        </p:nvSpPr>
        <p:spPr>
          <a:xfrm>
            <a:off x="4983480" y="4251960"/>
            <a:ext cx="411480" cy="1005840"/>
          </a:xfrm>
          <a:prstGeom prst="rect">
            <a:avLst/>
          </a:prstGeom>
          <a:noFill/>
          <a:ln/>
        </p:spPr>
        <p:txBody>
          <a:bodyPr wrap="square" lIns="0" tIns="0" rIns="0" bIns="0" rtlCol="0" anchor="ctr"/>
          <a:lstStyle/>
          <a:p>
            <a:pPr algn="ctr" indent="0" marL="0">
              <a:buNone/>
            </a:pPr>
            <a:r>
              <a:rPr lang="en-US" sz="1200" dirty="0">
                <a:solidFill>
                  <a:srgbClr val="5B6B7F"/>
                </a:solidFill>
                <a:latin typeface="Malgun Gothic" pitchFamily="34" charset="0"/>
                <a:ea typeface="Malgun Gothic" pitchFamily="34" charset="-122"/>
                <a:cs typeface="Malgun Gothic" pitchFamily="34" charset="-120"/>
              </a:rPr>
              <a:t>→</a:t>
            </a:r>
            <a:endParaRPr lang="en-US" sz="1200" dirty="0"/>
          </a:p>
        </p:txBody>
      </p:sp>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5623560" y="4297680"/>
          <a:ext cx="6108192" cy="914400"/>
        </p:xfrm>
        <a:graphic>
          <a:graphicData uri="http://schemas.openxmlformats.org/drawingml/2006/table">
            <a:tbl>
              <a:tblPr/>
              <a:tblGrid>
                <a:gridCol w="2240280"/>
                <a:gridCol w="960120"/>
                <a:gridCol w="1417320"/>
                <a:gridCol w="1490472"/>
              </a:tblGrid>
              <a:tr h="329184">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실제 폭 예</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개선 전 후보 (기록)</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현재 정규화 공간 (계산)</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기록의 선택</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29184">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gate/up [64,3072]×[3072,8192]</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1,433</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203 → 증명 제외 41 → 162</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합법 2개 뒤 word 예산 → incumbent ("A",64)</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down [64,8192]×[8192,3072], H resident</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299</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17 → 제외 5 → 12</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("B",256) 선택, 43,410 words</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작은 예제 [64,128]×[128,64]</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4</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4 (모두 추정 32,768 B)</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a_at = b_at = m_panel 선택</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0" name="Text 56"/>
          <p:cNvSpPr txBox="1"/>
          <p:nvPr/>
        </p:nvSpPr>
        <p:spPr>
          <a:xfrm>
            <a:off x="457200" y="5715000"/>
            <a:ext cx="4937760" cy="228600"/>
          </a:xfrm>
          <a:prstGeom prst="rect">
            <a:avLst/>
          </a:prstGeom>
          <a:noFill/>
          <a:ln/>
        </p:spPr>
        <p:txBody>
          <a:bodyPr wrap="square" lIns="0" tIns="0" rIns="0" bIns="0" rtlCol="0" anchor="t"/>
          <a:lstStyle/>
          <a:p>
            <a:pPr algn="l" indent="0" marL="0">
              <a:buNone/>
            </a:pPr>
            <a:r>
              <a:rPr lang="en-US" sz="750" dirty="0">
                <a:solidFill>
                  <a:srgbClr val="5B6B7F"/>
                </a:solidFill>
                <a:latin typeface="Courier New" pitchFamily="34" charset="0"/>
                <a:ea typeface="Courier New" pitchFamily="34" charset="-122"/>
                <a:cs typeface="Courier New" pitchFamily="34" charset="-120"/>
              </a:rPr>
              <a:t>추정 DMA = Σ 2·K·(M|N)·repeats (operand가 쓰지 않는 축의 바깥 loop 반복 곱) → 검사 순서만 결정</a:t>
            </a:r>
            <a:endParaRPr lang="en-US" sz="750" dirty="0"/>
          </a:p>
        </p:txBody>
      </p:sp>
      <p:sp>
        <p:nvSpPr>
          <p:cNvPr id="61" name="Text 57"/>
          <p:cNvSpPr txBox="1"/>
          <p:nvPr/>
        </p:nvSpPr>
        <p:spPr>
          <a:xfrm>
            <a:off x="5623560" y="5650992"/>
            <a:ext cx="6108192" cy="27432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"개선 전"은 09-28 compile 기록(refinement.json), "현재"는 candidates()/prioritize() 계산값(새 compile 기록 아님).</a:t>
            </a:r>
            <a:endParaRPr lang="en-US" sz="750" dirty="0"/>
          </a:p>
        </p:txBody>
      </p:sp>
      <p:sp>
        <p:nvSpPr>
          <p:cNvPr id="62" name="Shape 58"/>
          <p:cNvSpPr/>
          <p:nvPr/>
        </p:nvSpPr>
        <p:spPr>
          <a:xfrm>
            <a:off x="457200" y="5989320"/>
            <a:ext cx="11274552" cy="420624"/>
          </a:xfrm>
          <a:prstGeom prst="roundRect">
            <a:avLst>
              <a:gd name="adj" fmla="val 10870"/>
            </a:avLst>
          </a:prstGeom>
          <a:solidFill>
            <a:srgbClr val="EEF2F6"/>
          </a:solidFill>
          <a:ln w="12700">
            <a:solidFill>
              <a:srgbClr val="EEF2F6"/>
            </a:solidFill>
            <a:prstDash val="solid"/>
          </a:ln>
        </p:spPr>
      </p:sp>
      <p:sp>
        <p:nvSpPr>
          <p:cNvPr id="63" name="Text 59"/>
          <p:cNvSpPr txBox="1"/>
          <p:nvPr/>
        </p:nvSpPr>
        <p:spPr>
          <a:xfrm>
            <a:off x="621792" y="604418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Factor는 padding한 축 길이의 64배수 약수에서 만듭니다 (N=256 → 64/128/256). 같은 순회의 다른 표기는 합치고, 증명된 용량 초과만 미리 빼며, 나머지는 예산으로 제한합니다(다음 두 슬라이드).</a:t>
            </a:r>
            <a:endParaRPr lang="en-US" sz="1250" dirty="0"/>
          </a:p>
        </p:txBody>
      </p:sp>
      <p:sp>
        <p:nvSpPr>
          <p:cNvPr id="64" name="Text 60"/>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65" name="Text 61"/>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npu_compiler/npu_schedule_space.py (factors, loop_spec, candidates), evidence/current/refinement.json (09-28 기록)</a:t>
            </a:r>
            <a:endParaRPr lang="en-US" sz="850" dirty="0"/>
          </a:p>
        </p:txBody>
      </p:sp>
      <p:sp>
        <p:nvSpPr>
          <p:cNvPr id="66" name="Text 62"/>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32 / 89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6 · Matmul scheduling</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1800" b="1" dirty="0">
                <a:solidFill>
                  <a:srgbClr val="15243B"/>
                </a:solidFill>
                <a:latin typeface="Malgun Gothic" pitchFamily="34" charset="0"/>
                <a:ea typeface="Malgun Gothic" pitchFamily="34" charset="-122"/>
                <a:cs typeface="Malgun Gothic" pitchFamily="34" charset="-120"/>
              </a:rPr>
              <a:t>후보 정규화와 용량 필터: 같은 tile 순회·복사 주기는 한 후보로, 증명 가능한 SRAM 초과만 미리 제외</a:t>
            </a:r>
            <a:endParaRPr lang="en-US" sz="18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npu_schedule_space.candidates / prioritize (09-29 개선). 512-token down [512,8192]×[8192,3072]: 22,236 → 5,034 후보, 그중 1,596은 두 입력 cache의 합만으로 8 MiB를 넘어 제외, 3,438을 검사 목록에 남김 (E9 기록).</a:t>
            </a:r>
            <a:endParaRPr lang="en-US" sz="1250" dirty="0"/>
          </a:p>
        </p:txBody>
      </p:sp>
      <p:sp>
        <p:nvSpPr>
          <p:cNvPr id="5" name="Text 3"/>
          <p:cNvSpPr txBox="1"/>
          <p:nvPr/>
        </p:nvSpPr>
        <p:spPr>
          <a:xfrm>
            <a:off x="457200" y="1371600"/>
            <a:ext cx="5577840" cy="237744"/>
          </a:xfrm>
          <a:prstGeom prst="rect">
            <a:avLst/>
          </a:prstGeom>
          <a:noFill/>
          <a:ln/>
        </p:spPr>
        <p:txBody>
          <a:bodyPr wrap="square" lIns="0" tIns="0" rIns="0" bIns="0" rtlCol="0" anchor="t"/>
          <a:lstStyle/>
          <a:p>
            <a:pPr algn="l" indent="0" marL="0">
              <a:buNone/>
            </a:pPr>
            <a:r>
              <a:rPr lang="en-US" sz="1000" b="1" dirty="0">
                <a:solidFill>
                  <a:srgbClr val="15243B"/>
                </a:solidFill>
                <a:latin typeface="Malgun Gothic" pitchFamily="34" charset="0"/>
                <a:ea typeface="Malgun Gothic" pitchFamily="34" charset="-122"/>
                <a:cs typeface="Malgun Gothic" pitchFamily="34" charset="-120"/>
              </a:rPr>
              <a:t>① 같은 순회의 다른 표기는 signature 하나로 — toy [128,256]×K128 (2×4 tiles), N 축의 세 표기</a:t>
            </a:r>
            <a:endParaRPr lang="en-US" sz="1000" dirty="0"/>
          </a:p>
        </p:txBody>
      </p:sp>
      <p:sp>
        <p:nvSpPr>
          <p:cNvPr id="6" name="Shape 4"/>
          <p:cNvSpPr/>
          <p:nvPr/>
        </p:nvSpPr>
        <p:spPr>
          <a:xfrm>
            <a:off x="1417320" y="1691640"/>
            <a:ext cx="609600" cy="265176"/>
          </a:xfrm>
          <a:prstGeom prst="rect">
            <a:avLst/>
          </a:prstGeom>
          <a:solidFill>
            <a:srgbClr val="E3EEFB"/>
          </a:solidFill>
          <a:ln w="6350">
            <a:solidFill>
              <a:srgbClr val="2F6DB5"/>
            </a:solidFill>
            <a:prstDash val="solid"/>
          </a:ln>
        </p:spPr>
      </p:sp>
      <p:sp>
        <p:nvSpPr>
          <p:cNvPr id="7" name="Text 5"/>
          <p:cNvSpPr txBox="1"/>
          <p:nvPr/>
        </p:nvSpPr>
        <p:spPr>
          <a:xfrm>
            <a:off x="1417320" y="1691640"/>
            <a:ext cx="609600" cy="265176"/>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m_panel 2</a:t>
            </a:r>
            <a:endParaRPr lang="en-US" sz="700" dirty="0"/>
          </a:p>
        </p:txBody>
      </p:sp>
      <p:sp>
        <p:nvSpPr>
          <p:cNvPr id="8" name="Shape 6"/>
          <p:cNvSpPr/>
          <p:nvPr/>
        </p:nvSpPr>
        <p:spPr>
          <a:xfrm>
            <a:off x="2026920" y="1691640"/>
            <a:ext cx="609600" cy="265176"/>
          </a:xfrm>
          <a:prstGeom prst="rect">
            <a:avLst/>
          </a:prstGeom>
          <a:solidFill>
            <a:srgbClr val="DDF3F0"/>
          </a:solidFill>
          <a:ln w="6350">
            <a:solidFill>
              <a:srgbClr val="1F8A8A"/>
            </a:solidFill>
            <a:prstDash val="solid"/>
          </a:ln>
        </p:spPr>
      </p:sp>
      <p:sp>
        <p:nvSpPr>
          <p:cNvPr id="9" name="Text 7"/>
          <p:cNvSpPr txBox="1"/>
          <p:nvPr/>
        </p:nvSpPr>
        <p:spPr>
          <a:xfrm>
            <a:off x="2026920" y="1691640"/>
            <a:ext cx="609600" cy="265176"/>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n_panel 4</a:t>
            </a:r>
            <a:endParaRPr lang="en-US" sz="700" dirty="0"/>
          </a:p>
        </p:txBody>
      </p:sp>
      <p:sp>
        <p:nvSpPr>
          <p:cNvPr id="10" name="Shape 8"/>
          <p:cNvSpPr/>
          <p:nvPr/>
        </p:nvSpPr>
        <p:spPr>
          <a:xfrm>
            <a:off x="2636520" y="1691640"/>
            <a:ext cx="609600" cy="265176"/>
          </a:xfrm>
          <a:prstGeom prst="rect">
            <a:avLst/>
          </a:prstGeom>
          <a:solidFill>
            <a:srgbClr val="EEF2F6"/>
          </a:solidFill>
          <a:ln w="6350">
            <a:solidFill>
              <a:srgbClr val="C9D3DF"/>
            </a:solidFill>
            <a:prstDash val="solid"/>
          </a:ln>
        </p:spPr>
      </p:sp>
      <p:sp>
        <p:nvSpPr>
          <p:cNvPr id="11" name="Text 9"/>
          <p:cNvSpPr txBox="1"/>
          <p:nvPr/>
        </p:nvSpPr>
        <p:spPr>
          <a:xfrm>
            <a:off x="2636520" y="1691640"/>
            <a:ext cx="609600" cy="265176"/>
          </a:xfrm>
          <a:prstGeom prst="rect">
            <a:avLst/>
          </a:prstGeom>
          <a:noFill/>
          <a:ln/>
        </p:spPr>
        <p:txBody>
          <a:bodyPr wrap="square" lIns="0" tIns="0" rIns="0" bIns="0" rtlCol="0" anchor="ctr"/>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m_tile 1</a:t>
            </a:r>
            <a:endParaRPr lang="en-US" sz="700" dirty="0"/>
          </a:p>
        </p:txBody>
      </p:sp>
      <p:sp>
        <p:nvSpPr>
          <p:cNvPr id="12" name="Shape 10"/>
          <p:cNvSpPr/>
          <p:nvPr/>
        </p:nvSpPr>
        <p:spPr>
          <a:xfrm>
            <a:off x="3246120" y="1691640"/>
            <a:ext cx="609600" cy="265176"/>
          </a:xfrm>
          <a:prstGeom prst="rect">
            <a:avLst/>
          </a:prstGeom>
          <a:solidFill>
            <a:srgbClr val="EEF2F6"/>
          </a:solidFill>
          <a:ln w="6350">
            <a:solidFill>
              <a:srgbClr val="C9D3DF"/>
            </a:solidFill>
            <a:prstDash val="solid"/>
          </a:ln>
        </p:spPr>
      </p:sp>
      <p:sp>
        <p:nvSpPr>
          <p:cNvPr id="13" name="Text 11"/>
          <p:cNvSpPr txBox="1"/>
          <p:nvPr/>
        </p:nvSpPr>
        <p:spPr>
          <a:xfrm>
            <a:off x="3246120" y="1691640"/>
            <a:ext cx="609600" cy="265176"/>
          </a:xfrm>
          <a:prstGeom prst="rect">
            <a:avLst/>
          </a:prstGeom>
          <a:noFill/>
          <a:ln/>
        </p:spPr>
        <p:txBody>
          <a:bodyPr wrap="square" lIns="0" tIns="0" rIns="0" bIns="0" rtlCol="0" anchor="ctr"/>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n_tile 1</a:t>
            </a:r>
            <a:endParaRPr lang="en-US" sz="700" dirty="0"/>
          </a:p>
        </p:txBody>
      </p:sp>
      <p:sp>
        <p:nvSpPr>
          <p:cNvPr id="14" name="Shape 12"/>
          <p:cNvSpPr/>
          <p:nvPr/>
        </p:nvSpPr>
        <p:spPr>
          <a:xfrm>
            <a:off x="3855720" y="1691640"/>
            <a:ext cx="609600" cy="265176"/>
          </a:xfrm>
          <a:prstGeom prst="rect">
            <a:avLst/>
          </a:prstGeom>
          <a:solidFill>
            <a:srgbClr val="ECE6FA"/>
          </a:solidFill>
          <a:ln w="6350">
            <a:solidFill>
              <a:srgbClr val="6C4FBF"/>
            </a:solidFill>
            <a:prstDash val="solid"/>
          </a:ln>
        </p:spPr>
      </p:sp>
      <p:sp>
        <p:nvSpPr>
          <p:cNvPr id="15" name="Text 13"/>
          <p:cNvSpPr txBox="1"/>
          <p:nvPr/>
        </p:nvSpPr>
        <p:spPr>
          <a:xfrm>
            <a:off x="3855720" y="1691640"/>
            <a:ext cx="609600" cy="265176"/>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k_group 2</a:t>
            </a:r>
            <a:endParaRPr lang="en-US" sz="700" dirty="0"/>
          </a:p>
        </p:txBody>
      </p:sp>
      <p:sp>
        <p:nvSpPr>
          <p:cNvPr id="16" name="Shape 14"/>
          <p:cNvSpPr/>
          <p:nvPr/>
        </p:nvSpPr>
        <p:spPr>
          <a:xfrm>
            <a:off x="4465320" y="1691640"/>
            <a:ext cx="609600" cy="265176"/>
          </a:xfrm>
          <a:prstGeom prst="rect">
            <a:avLst/>
          </a:prstGeom>
          <a:solidFill>
            <a:srgbClr val="EEF2F6"/>
          </a:solidFill>
          <a:ln w="6350">
            <a:solidFill>
              <a:srgbClr val="C9D3DF"/>
            </a:solidFill>
            <a:prstDash val="solid"/>
          </a:ln>
        </p:spPr>
      </p:sp>
      <p:sp>
        <p:nvSpPr>
          <p:cNvPr id="17" name="Text 15"/>
          <p:cNvSpPr txBox="1"/>
          <p:nvPr/>
        </p:nvSpPr>
        <p:spPr>
          <a:xfrm>
            <a:off x="4465320" y="1691640"/>
            <a:ext cx="609600" cy="265176"/>
          </a:xfrm>
          <a:prstGeom prst="rect">
            <a:avLst/>
          </a:prstGeom>
          <a:noFill/>
          <a:ln/>
        </p:spPr>
        <p:txBody>
          <a:bodyPr wrap="square" lIns="0" tIns="0" rIns="0" bIns="0" rtlCol="0" anchor="ctr"/>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k_tile 1</a:t>
            </a:r>
            <a:endParaRPr lang="en-US" sz="700" dirty="0"/>
          </a:p>
        </p:txBody>
      </p:sp>
      <p:sp>
        <p:nvSpPr>
          <p:cNvPr id="18" name="Text 16"/>
          <p:cNvSpPr txBox="1"/>
          <p:nvPr/>
        </p:nvSpPr>
        <p:spPr>
          <a:xfrm>
            <a:off x="448056" y="1691640"/>
            <a:ext cx="914400" cy="265176"/>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n_panel=64</a:t>
            </a:r>
            <a:endParaRPr lang="en-US" sz="800" dirty="0"/>
          </a:p>
        </p:txBody>
      </p:sp>
      <p:sp>
        <p:nvSpPr>
          <p:cNvPr id="19" name="Shape 17"/>
          <p:cNvSpPr/>
          <p:nvPr/>
        </p:nvSpPr>
        <p:spPr>
          <a:xfrm>
            <a:off x="1417320" y="2020824"/>
            <a:ext cx="609600" cy="265176"/>
          </a:xfrm>
          <a:prstGeom prst="rect">
            <a:avLst/>
          </a:prstGeom>
          <a:solidFill>
            <a:srgbClr val="E3EEFB"/>
          </a:solidFill>
          <a:ln w="6350">
            <a:solidFill>
              <a:srgbClr val="2F6DB5"/>
            </a:solidFill>
            <a:prstDash val="solid"/>
          </a:ln>
        </p:spPr>
      </p:sp>
      <p:sp>
        <p:nvSpPr>
          <p:cNvPr id="20" name="Text 18"/>
          <p:cNvSpPr txBox="1"/>
          <p:nvPr/>
        </p:nvSpPr>
        <p:spPr>
          <a:xfrm>
            <a:off x="1417320" y="2020824"/>
            <a:ext cx="609600" cy="265176"/>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m_panel 2</a:t>
            </a:r>
            <a:endParaRPr lang="en-US" sz="700" dirty="0"/>
          </a:p>
        </p:txBody>
      </p:sp>
      <p:sp>
        <p:nvSpPr>
          <p:cNvPr id="21" name="Shape 19"/>
          <p:cNvSpPr/>
          <p:nvPr/>
        </p:nvSpPr>
        <p:spPr>
          <a:xfrm>
            <a:off x="2026920" y="2020824"/>
            <a:ext cx="609600" cy="265176"/>
          </a:xfrm>
          <a:prstGeom prst="rect">
            <a:avLst/>
          </a:prstGeom>
          <a:solidFill>
            <a:srgbClr val="DDF3F0"/>
          </a:solidFill>
          <a:ln w="6350">
            <a:solidFill>
              <a:srgbClr val="1F8A8A"/>
            </a:solidFill>
            <a:prstDash val="solid"/>
          </a:ln>
        </p:spPr>
      </p:sp>
      <p:sp>
        <p:nvSpPr>
          <p:cNvPr id="22" name="Text 20"/>
          <p:cNvSpPr txBox="1"/>
          <p:nvPr/>
        </p:nvSpPr>
        <p:spPr>
          <a:xfrm>
            <a:off x="2026920" y="2020824"/>
            <a:ext cx="609600" cy="265176"/>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n_panel 2</a:t>
            </a:r>
            <a:endParaRPr lang="en-US" sz="700" dirty="0"/>
          </a:p>
        </p:txBody>
      </p:sp>
      <p:sp>
        <p:nvSpPr>
          <p:cNvPr id="23" name="Shape 21"/>
          <p:cNvSpPr/>
          <p:nvPr/>
        </p:nvSpPr>
        <p:spPr>
          <a:xfrm>
            <a:off x="2636520" y="2020824"/>
            <a:ext cx="609600" cy="265176"/>
          </a:xfrm>
          <a:prstGeom prst="rect">
            <a:avLst/>
          </a:prstGeom>
          <a:solidFill>
            <a:srgbClr val="EEF2F6"/>
          </a:solidFill>
          <a:ln w="6350">
            <a:solidFill>
              <a:srgbClr val="C9D3DF"/>
            </a:solidFill>
            <a:prstDash val="solid"/>
          </a:ln>
        </p:spPr>
      </p:sp>
      <p:sp>
        <p:nvSpPr>
          <p:cNvPr id="24" name="Text 22"/>
          <p:cNvSpPr txBox="1"/>
          <p:nvPr/>
        </p:nvSpPr>
        <p:spPr>
          <a:xfrm>
            <a:off x="2636520" y="2020824"/>
            <a:ext cx="609600" cy="265176"/>
          </a:xfrm>
          <a:prstGeom prst="rect">
            <a:avLst/>
          </a:prstGeom>
          <a:noFill/>
          <a:ln/>
        </p:spPr>
        <p:txBody>
          <a:bodyPr wrap="square" lIns="0" tIns="0" rIns="0" bIns="0" rtlCol="0" anchor="ctr"/>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m_tile 1</a:t>
            </a:r>
            <a:endParaRPr lang="en-US" sz="700" dirty="0"/>
          </a:p>
        </p:txBody>
      </p:sp>
      <p:sp>
        <p:nvSpPr>
          <p:cNvPr id="25" name="Shape 23"/>
          <p:cNvSpPr/>
          <p:nvPr/>
        </p:nvSpPr>
        <p:spPr>
          <a:xfrm>
            <a:off x="3246120" y="2020824"/>
            <a:ext cx="609600" cy="265176"/>
          </a:xfrm>
          <a:prstGeom prst="rect">
            <a:avLst/>
          </a:prstGeom>
          <a:solidFill>
            <a:srgbClr val="DDF3F0"/>
          </a:solidFill>
          <a:ln w="6350">
            <a:solidFill>
              <a:srgbClr val="1F8A8A"/>
            </a:solidFill>
            <a:prstDash val="solid"/>
          </a:ln>
        </p:spPr>
      </p:sp>
      <p:sp>
        <p:nvSpPr>
          <p:cNvPr id="26" name="Text 24"/>
          <p:cNvSpPr txBox="1"/>
          <p:nvPr/>
        </p:nvSpPr>
        <p:spPr>
          <a:xfrm>
            <a:off x="3246120" y="2020824"/>
            <a:ext cx="609600" cy="265176"/>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n_tile 2</a:t>
            </a:r>
            <a:endParaRPr lang="en-US" sz="700" dirty="0"/>
          </a:p>
        </p:txBody>
      </p:sp>
      <p:sp>
        <p:nvSpPr>
          <p:cNvPr id="27" name="Shape 25"/>
          <p:cNvSpPr/>
          <p:nvPr/>
        </p:nvSpPr>
        <p:spPr>
          <a:xfrm>
            <a:off x="3855720" y="2020824"/>
            <a:ext cx="609600" cy="265176"/>
          </a:xfrm>
          <a:prstGeom prst="rect">
            <a:avLst/>
          </a:prstGeom>
          <a:solidFill>
            <a:srgbClr val="ECE6FA"/>
          </a:solidFill>
          <a:ln w="6350">
            <a:solidFill>
              <a:srgbClr val="6C4FBF"/>
            </a:solidFill>
            <a:prstDash val="solid"/>
          </a:ln>
        </p:spPr>
      </p:sp>
      <p:sp>
        <p:nvSpPr>
          <p:cNvPr id="28" name="Text 26"/>
          <p:cNvSpPr txBox="1"/>
          <p:nvPr/>
        </p:nvSpPr>
        <p:spPr>
          <a:xfrm>
            <a:off x="3855720" y="2020824"/>
            <a:ext cx="609600" cy="265176"/>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k_group 2</a:t>
            </a:r>
            <a:endParaRPr lang="en-US" sz="700" dirty="0"/>
          </a:p>
        </p:txBody>
      </p:sp>
      <p:sp>
        <p:nvSpPr>
          <p:cNvPr id="29" name="Shape 27"/>
          <p:cNvSpPr/>
          <p:nvPr/>
        </p:nvSpPr>
        <p:spPr>
          <a:xfrm>
            <a:off x="4465320" y="2020824"/>
            <a:ext cx="609600" cy="265176"/>
          </a:xfrm>
          <a:prstGeom prst="rect">
            <a:avLst/>
          </a:prstGeom>
          <a:solidFill>
            <a:srgbClr val="EEF2F6"/>
          </a:solidFill>
          <a:ln w="6350">
            <a:solidFill>
              <a:srgbClr val="C9D3DF"/>
            </a:solidFill>
            <a:prstDash val="solid"/>
          </a:ln>
        </p:spPr>
      </p:sp>
      <p:sp>
        <p:nvSpPr>
          <p:cNvPr id="30" name="Text 28"/>
          <p:cNvSpPr txBox="1"/>
          <p:nvPr/>
        </p:nvSpPr>
        <p:spPr>
          <a:xfrm>
            <a:off x="4465320" y="2020824"/>
            <a:ext cx="609600" cy="265176"/>
          </a:xfrm>
          <a:prstGeom prst="rect">
            <a:avLst/>
          </a:prstGeom>
          <a:noFill/>
          <a:ln/>
        </p:spPr>
        <p:txBody>
          <a:bodyPr wrap="square" lIns="0" tIns="0" rIns="0" bIns="0" rtlCol="0" anchor="ctr"/>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k_tile 1</a:t>
            </a:r>
            <a:endParaRPr lang="en-US" sz="700" dirty="0"/>
          </a:p>
        </p:txBody>
      </p:sp>
      <p:sp>
        <p:nvSpPr>
          <p:cNvPr id="31" name="Text 29"/>
          <p:cNvSpPr txBox="1"/>
          <p:nvPr/>
        </p:nvSpPr>
        <p:spPr>
          <a:xfrm>
            <a:off x="448056" y="2020824"/>
            <a:ext cx="914400" cy="265176"/>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n_panel=128</a:t>
            </a:r>
            <a:endParaRPr lang="en-US" sz="800" dirty="0"/>
          </a:p>
        </p:txBody>
      </p:sp>
      <p:sp>
        <p:nvSpPr>
          <p:cNvPr id="32" name="Shape 30"/>
          <p:cNvSpPr/>
          <p:nvPr/>
        </p:nvSpPr>
        <p:spPr>
          <a:xfrm>
            <a:off x="1417320" y="2350008"/>
            <a:ext cx="609600" cy="265176"/>
          </a:xfrm>
          <a:prstGeom prst="rect">
            <a:avLst/>
          </a:prstGeom>
          <a:solidFill>
            <a:srgbClr val="E3EEFB"/>
          </a:solidFill>
          <a:ln w="6350">
            <a:solidFill>
              <a:srgbClr val="2F6DB5"/>
            </a:solidFill>
            <a:prstDash val="solid"/>
          </a:ln>
        </p:spPr>
      </p:sp>
      <p:sp>
        <p:nvSpPr>
          <p:cNvPr id="33" name="Text 31"/>
          <p:cNvSpPr txBox="1"/>
          <p:nvPr/>
        </p:nvSpPr>
        <p:spPr>
          <a:xfrm>
            <a:off x="1417320" y="2350008"/>
            <a:ext cx="609600" cy="265176"/>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m_panel 2</a:t>
            </a:r>
            <a:endParaRPr lang="en-US" sz="700" dirty="0"/>
          </a:p>
        </p:txBody>
      </p:sp>
      <p:sp>
        <p:nvSpPr>
          <p:cNvPr id="34" name="Shape 32"/>
          <p:cNvSpPr/>
          <p:nvPr/>
        </p:nvSpPr>
        <p:spPr>
          <a:xfrm>
            <a:off x="2026920" y="2350008"/>
            <a:ext cx="609600" cy="265176"/>
          </a:xfrm>
          <a:prstGeom prst="rect">
            <a:avLst/>
          </a:prstGeom>
          <a:solidFill>
            <a:srgbClr val="EEF2F6"/>
          </a:solidFill>
          <a:ln w="6350">
            <a:solidFill>
              <a:srgbClr val="C9D3DF"/>
            </a:solidFill>
            <a:prstDash val="solid"/>
          </a:ln>
        </p:spPr>
      </p:sp>
      <p:sp>
        <p:nvSpPr>
          <p:cNvPr id="35" name="Text 33"/>
          <p:cNvSpPr txBox="1"/>
          <p:nvPr/>
        </p:nvSpPr>
        <p:spPr>
          <a:xfrm>
            <a:off x="2026920" y="2350008"/>
            <a:ext cx="609600" cy="265176"/>
          </a:xfrm>
          <a:prstGeom prst="rect">
            <a:avLst/>
          </a:prstGeom>
          <a:noFill/>
          <a:ln/>
        </p:spPr>
        <p:txBody>
          <a:bodyPr wrap="square" lIns="0" tIns="0" rIns="0" bIns="0" rtlCol="0" anchor="ctr"/>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n_panel 1</a:t>
            </a:r>
            <a:endParaRPr lang="en-US" sz="700" dirty="0"/>
          </a:p>
        </p:txBody>
      </p:sp>
      <p:sp>
        <p:nvSpPr>
          <p:cNvPr id="36" name="Shape 34"/>
          <p:cNvSpPr/>
          <p:nvPr/>
        </p:nvSpPr>
        <p:spPr>
          <a:xfrm>
            <a:off x="2636520" y="2350008"/>
            <a:ext cx="609600" cy="265176"/>
          </a:xfrm>
          <a:prstGeom prst="rect">
            <a:avLst/>
          </a:prstGeom>
          <a:solidFill>
            <a:srgbClr val="EEF2F6"/>
          </a:solidFill>
          <a:ln w="6350">
            <a:solidFill>
              <a:srgbClr val="C9D3DF"/>
            </a:solidFill>
            <a:prstDash val="solid"/>
          </a:ln>
        </p:spPr>
      </p:sp>
      <p:sp>
        <p:nvSpPr>
          <p:cNvPr id="37" name="Text 35"/>
          <p:cNvSpPr txBox="1"/>
          <p:nvPr/>
        </p:nvSpPr>
        <p:spPr>
          <a:xfrm>
            <a:off x="2636520" y="2350008"/>
            <a:ext cx="609600" cy="265176"/>
          </a:xfrm>
          <a:prstGeom prst="rect">
            <a:avLst/>
          </a:prstGeom>
          <a:noFill/>
          <a:ln/>
        </p:spPr>
        <p:txBody>
          <a:bodyPr wrap="square" lIns="0" tIns="0" rIns="0" bIns="0" rtlCol="0" anchor="ctr"/>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m_tile 1</a:t>
            </a:r>
            <a:endParaRPr lang="en-US" sz="700" dirty="0"/>
          </a:p>
        </p:txBody>
      </p:sp>
      <p:sp>
        <p:nvSpPr>
          <p:cNvPr id="38" name="Shape 36"/>
          <p:cNvSpPr/>
          <p:nvPr/>
        </p:nvSpPr>
        <p:spPr>
          <a:xfrm>
            <a:off x="3246120" y="2350008"/>
            <a:ext cx="609600" cy="265176"/>
          </a:xfrm>
          <a:prstGeom prst="rect">
            <a:avLst/>
          </a:prstGeom>
          <a:solidFill>
            <a:srgbClr val="DDF3F0"/>
          </a:solidFill>
          <a:ln w="6350">
            <a:solidFill>
              <a:srgbClr val="1F8A8A"/>
            </a:solidFill>
            <a:prstDash val="solid"/>
          </a:ln>
        </p:spPr>
      </p:sp>
      <p:sp>
        <p:nvSpPr>
          <p:cNvPr id="39" name="Text 37"/>
          <p:cNvSpPr txBox="1"/>
          <p:nvPr/>
        </p:nvSpPr>
        <p:spPr>
          <a:xfrm>
            <a:off x="3246120" y="2350008"/>
            <a:ext cx="609600" cy="265176"/>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n_tile 4</a:t>
            </a:r>
            <a:endParaRPr lang="en-US" sz="700" dirty="0"/>
          </a:p>
        </p:txBody>
      </p:sp>
      <p:sp>
        <p:nvSpPr>
          <p:cNvPr id="40" name="Shape 38"/>
          <p:cNvSpPr/>
          <p:nvPr/>
        </p:nvSpPr>
        <p:spPr>
          <a:xfrm>
            <a:off x="3855720" y="2350008"/>
            <a:ext cx="609600" cy="265176"/>
          </a:xfrm>
          <a:prstGeom prst="rect">
            <a:avLst/>
          </a:prstGeom>
          <a:solidFill>
            <a:srgbClr val="ECE6FA"/>
          </a:solidFill>
          <a:ln w="6350">
            <a:solidFill>
              <a:srgbClr val="6C4FBF"/>
            </a:solidFill>
            <a:prstDash val="solid"/>
          </a:ln>
        </p:spPr>
      </p:sp>
      <p:sp>
        <p:nvSpPr>
          <p:cNvPr id="41" name="Text 39"/>
          <p:cNvSpPr txBox="1"/>
          <p:nvPr/>
        </p:nvSpPr>
        <p:spPr>
          <a:xfrm>
            <a:off x="3855720" y="2350008"/>
            <a:ext cx="609600" cy="265176"/>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k_group 2</a:t>
            </a:r>
            <a:endParaRPr lang="en-US" sz="700" dirty="0"/>
          </a:p>
        </p:txBody>
      </p:sp>
      <p:sp>
        <p:nvSpPr>
          <p:cNvPr id="42" name="Shape 40"/>
          <p:cNvSpPr/>
          <p:nvPr/>
        </p:nvSpPr>
        <p:spPr>
          <a:xfrm>
            <a:off x="4465320" y="2350008"/>
            <a:ext cx="609600" cy="265176"/>
          </a:xfrm>
          <a:prstGeom prst="rect">
            <a:avLst/>
          </a:prstGeom>
          <a:solidFill>
            <a:srgbClr val="EEF2F6"/>
          </a:solidFill>
          <a:ln w="6350">
            <a:solidFill>
              <a:srgbClr val="C9D3DF"/>
            </a:solidFill>
            <a:prstDash val="solid"/>
          </a:ln>
        </p:spPr>
      </p:sp>
      <p:sp>
        <p:nvSpPr>
          <p:cNvPr id="43" name="Text 41"/>
          <p:cNvSpPr txBox="1"/>
          <p:nvPr/>
        </p:nvSpPr>
        <p:spPr>
          <a:xfrm>
            <a:off x="4465320" y="2350008"/>
            <a:ext cx="609600" cy="265176"/>
          </a:xfrm>
          <a:prstGeom prst="rect">
            <a:avLst/>
          </a:prstGeom>
          <a:noFill/>
          <a:ln/>
        </p:spPr>
        <p:txBody>
          <a:bodyPr wrap="square" lIns="0" tIns="0" rIns="0" bIns="0" rtlCol="0" anchor="ctr"/>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k_tile 1</a:t>
            </a:r>
            <a:endParaRPr lang="en-US" sz="700" dirty="0"/>
          </a:p>
        </p:txBody>
      </p:sp>
      <p:sp>
        <p:nvSpPr>
          <p:cNvPr id="44" name="Text 42"/>
          <p:cNvSpPr txBox="1"/>
          <p:nvPr/>
        </p:nvSpPr>
        <p:spPr>
          <a:xfrm>
            <a:off x="448056" y="2350008"/>
            <a:ext cx="914400" cy="265176"/>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n_panel=256</a:t>
            </a:r>
            <a:endParaRPr lang="en-US" sz="800" dirty="0"/>
          </a:p>
        </p:txBody>
      </p:sp>
      <p:sp>
        <p:nvSpPr>
          <p:cNvPr id="45" name="Text 43"/>
          <p:cNvSpPr txBox="1"/>
          <p:nvPr/>
        </p:nvSpPr>
        <p:spPr>
          <a:xfrm>
            <a:off x="5138928" y="1691640"/>
            <a:ext cx="914400" cy="914400"/>
          </a:xfrm>
          <a:prstGeom prst="rect">
            <a:avLst/>
          </a:prstGeom>
          <a:noFill/>
          <a:ln/>
        </p:spPr>
        <p:txBody>
          <a:bodyPr wrap="square" lIns="0" tIns="0" rIns="0" bIns="0" rtlCol="0" anchor="ctr"/>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 N tile 순서</a:t>
            </a:r>
            <a:endParaRPr lang="en-US" sz="700" dirty="0"/>
          </a:p>
          <a:p>
            <a:pPr algn="l" indent="0" marL="0">
              <a:buNone/>
            </a:pPr>
            <a:r>
              <a:rPr lang="en-US" sz="700" dirty="0">
                <a:solidFill>
                  <a:srgbClr val="5B6B7F"/>
                </a:solidFill>
                <a:latin typeface="Malgun Gothic" pitchFamily="34" charset="0"/>
                <a:ea typeface="Malgun Gothic" pitchFamily="34" charset="-122"/>
                <a:cs typeface="Malgun Gothic" pitchFamily="34" charset="-120"/>
              </a:rPr>
              <a:t>1 2 3 4 동일</a:t>
            </a:r>
            <a:endParaRPr lang="en-US" sz="700" dirty="0"/>
          </a:p>
          <a:p>
            <a:pPr algn="l" indent="0" marL="0">
              <a:buNone/>
            </a:pPr>
            <a:r>
              <a:rPr lang="en-US" sz="700" dirty="0">
                <a:solidFill>
                  <a:srgbClr val="5B6B7F"/>
                </a:solidFill>
                <a:latin typeface="Malgun Gothic" pitchFamily="34" charset="0"/>
                <a:ea typeface="Malgun Gothic" pitchFamily="34" charset="-122"/>
                <a:cs typeface="Malgun Gothic" pitchFamily="34" charset="-120"/>
              </a:rPr>
              <a:t>(unit loop는</a:t>
            </a:r>
            <a:endParaRPr lang="en-US" sz="700" dirty="0"/>
          </a:p>
          <a:p>
            <a:pPr algn="l" indent="0" marL="0">
              <a:buNone/>
            </a:pPr>
            <a:r>
              <a:rPr lang="en-US" sz="700" dirty="0">
                <a:solidFill>
                  <a:srgbClr val="5B6B7F"/>
                </a:solidFill>
                <a:latin typeface="Malgun Gothic" pitchFamily="34" charset="0"/>
                <a:ea typeface="Malgun Gothic" pitchFamily="34" charset="-122"/>
                <a:cs typeface="Malgun Gothic" pitchFamily="34" charset="-120"/>
              </a:rPr>
              <a:t>순회를 안 바꿈)</a:t>
            </a:r>
            <a:endParaRPr lang="en-US" sz="700" dirty="0"/>
          </a:p>
        </p:txBody>
      </p:sp>
      <p:sp>
        <p:nvSpPr>
          <p:cNvPr id="46" name="Shape 44"/>
          <p:cNvSpPr/>
          <p:nvPr/>
        </p:nvSpPr>
        <p:spPr>
          <a:xfrm>
            <a:off x="1417320" y="2999232"/>
            <a:ext cx="1463040" cy="274320"/>
          </a:xfrm>
          <a:prstGeom prst="rect">
            <a:avLst/>
          </a:prstGeom>
          <a:solidFill>
            <a:srgbClr val="DDF3F0"/>
          </a:solidFill>
          <a:ln w="12700">
            <a:solidFill>
              <a:srgbClr val="1F8A8A"/>
            </a:solidFill>
            <a:prstDash val="solid"/>
          </a:ln>
        </p:spPr>
      </p:sp>
      <p:sp>
        <p:nvSpPr>
          <p:cNvPr id="47" name="Shape 45"/>
          <p:cNvSpPr/>
          <p:nvPr/>
        </p:nvSpPr>
        <p:spPr>
          <a:xfrm>
            <a:off x="1783080" y="2999232"/>
            <a:ext cx="914" cy="274320"/>
          </a:xfrm>
          <a:prstGeom prst="line">
            <a:avLst/>
          </a:prstGeom>
          <a:noFill/>
          <a:ln w="5080">
            <a:solidFill>
              <a:srgbClr val="D5DCE5"/>
            </a:solidFill>
            <a:prstDash val="solid"/>
          </a:ln>
        </p:spPr>
      </p:sp>
      <p:sp>
        <p:nvSpPr>
          <p:cNvPr id="48" name="Shape 46"/>
          <p:cNvSpPr/>
          <p:nvPr/>
        </p:nvSpPr>
        <p:spPr>
          <a:xfrm>
            <a:off x="2148840" y="2999232"/>
            <a:ext cx="914" cy="274320"/>
          </a:xfrm>
          <a:prstGeom prst="line">
            <a:avLst/>
          </a:prstGeom>
          <a:noFill/>
          <a:ln w="5080">
            <a:solidFill>
              <a:srgbClr val="D5DCE5"/>
            </a:solidFill>
            <a:prstDash val="solid"/>
          </a:ln>
        </p:spPr>
      </p:sp>
      <p:sp>
        <p:nvSpPr>
          <p:cNvPr id="49" name="Shape 47"/>
          <p:cNvSpPr/>
          <p:nvPr/>
        </p:nvSpPr>
        <p:spPr>
          <a:xfrm>
            <a:off x="2514600" y="2999232"/>
            <a:ext cx="914" cy="274320"/>
          </a:xfrm>
          <a:prstGeom prst="line">
            <a:avLst/>
          </a:prstGeom>
          <a:noFill/>
          <a:ln w="5080">
            <a:solidFill>
              <a:srgbClr val="D5DCE5"/>
            </a:solidFill>
            <a:prstDash val="solid"/>
          </a:ln>
        </p:spPr>
      </p:sp>
      <p:sp>
        <p:nvSpPr>
          <p:cNvPr id="50" name="Text 48"/>
          <p:cNvSpPr txBox="1"/>
          <p:nvPr/>
        </p:nvSpPr>
        <p:spPr>
          <a:xfrm>
            <a:off x="1417320" y="2999232"/>
            <a:ext cx="365760" cy="27432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1</a:t>
            </a:r>
            <a:endParaRPr lang="en-US" sz="800" dirty="0"/>
          </a:p>
        </p:txBody>
      </p:sp>
      <p:sp>
        <p:nvSpPr>
          <p:cNvPr id="51" name="Text 49"/>
          <p:cNvSpPr txBox="1"/>
          <p:nvPr/>
        </p:nvSpPr>
        <p:spPr>
          <a:xfrm>
            <a:off x="1783080" y="2999232"/>
            <a:ext cx="365760" cy="27432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2</a:t>
            </a:r>
            <a:endParaRPr lang="en-US" sz="800" dirty="0"/>
          </a:p>
        </p:txBody>
      </p:sp>
      <p:sp>
        <p:nvSpPr>
          <p:cNvPr id="52" name="Text 50"/>
          <p:cNvSpPr txBox="1"/>
          <p:nvPr/>
        </p:nvSpPr>
        <p:spPr>
          <a:xfrm>
            <a:off x="2148840" y="2999232"/>
            <a:ext cx="365760" cy="27432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3</a:t>
            </a:r>
            <a:endParaRPr lang="en-US" sz="800" dirty="0"/>
          </a:p>
        </p:txBody>
      </p:sp>
      <p:sp>
        <p:nvSpPr>
          <p:cNvPr id="53" name="Text 51"/>
          <p:cNvSpPr txBox="1"/>
          <p:nvPr/>
        </p:nvSpPr>
        <p:spPr>
          <a:xfrm>
            <a:off x="2514600" y="2999232"/>
            <a:ext cx="365760" cy="274320"/>
          </a:xfrm>
          <a:prstGeom prst="rect">
            <a:avLst/>
          </a:prstGeom>
          <a:noFill/>
          <a:ln/>
        </p:spPr>
        <p:txBody>
          <a:bodyPr wrap="square" lIns="0" tIns="0" rIns="0" bIns="0" rtlCol="0" anchor="ctr"/>
          <a:lstStyle/>
          <a:p>
            <a:pPr algn="ctr" indent="0" marL="0">
              <a:buNone/>
            </a:pPr>
            <a:r>
              <a:rPr lang="en-US" sz="800" dirty="0">
                <a:solidFill>
                  <a:srgbClr val="1F2D3D"/>
                </a:solidFill>
                <a:latin typeface="Malgun Gothic" pitchFamily="34" charset="0"/>
                <a:ea typeface="Malgun Gothic" pitchFamily="34" charset="-122"/>
                <a:cs typeface="Malgun Gothic" pitchFamily="34" charset="-120"/>
              </a:rPr>
              <a:t>4</a:t>
            </a:r>
            <a:endParaRPr lang="en-US" sz="800" dirty="0"/>
          </a:p>
        </p:txBody>
      </p:sp>
      <p:sp>
        <p:nvSpPr>
          <p:cNvPr id="54" name="Text 52"/>
          <p:cNvSpPr txBox="1"/>
          <p:nvPr/>
        </p:nvSpPr>
        <p:spPr>
          <a:xfrm>
            <a:off x="1417320" y="2770632"/>
            <a:ext cx="2926080" cy="201168"/>
          </a:xfrm>
          <a:prstGeom prst="rect">
            <a:avLst/>
          </a:prstGeom>
          <a:noFill/>
          <a:ln/>
        </p:spPr>
        <p:txBody>
          <a:bodyPr wrap="square" lIns="0" tIns="0" rIns="0" bIns="0" rtlCol="0" anchor="t"/>
          <a:lstStyle/>
          <a:p>
            <a:pPr algn="l" indent="0" marL="0">
              <a:buNone/>
            </a:pPr>
            <a:r>
              <a:rPr lang="en-US" sz="750" b="1" dirty="0">
                <a:solidFill>
                  <a:srgbClr val="15243B"/>
                </a:solidFill>
                <a:latin typeface="Malgun Gothic" pitchFamily="34" charset="0"/>
                <a:ea typeface="Malgun Gothic" pitchFamily="34" charset="-122"/>
                <a:cs typeface="Malgun Gothic" pitchFamily="34" charset="-120"/>
              </a:rPr>
              <a:t>실제 순회 (m 2회 × n 4 tiles × k 2회)</a:t>
            </a:r>
            <a:endParaRPr lang="en-US" sz="750" dirty="0"/>
          </a:p>
        </p:txBody>
      </p:sp>
      <p:sp>
        <p:nvSpPr>
          <p:cNvPr id="55" name="Shape 53"/>
          <p:cNvSpPr/>
          <p:nvPr/>
        </p:nvSpPr>
        <p:spPr>
          <a:xfrm>
            <a:off x="2926080" y="3136392"/>
            <a:ext cx="274320" cy="914"/>
          </a:xfrm>
          <a:prstGeom prst="line">
            <a:avLst/>
          </a:prstGeom>
          <a:noFill/>
          <a:ln w="15240">
            <a:solidFill>
              <a:srgbClr val="5B6B7F"/>
            </a:solidFill>
            <a:prstDash val="solid"/>
            <a:tailEnd type="triangle"/>
          </a:ln>
        </p:spPr>
      </p:sp>
      <p:sp>
        <p:nvSpPr>
          <p:cNvPr id="56" name="Text 54"/>
          <p:cNvSpPr txBox="1"/>
          <p:nvPr/>
        </p:nvSpPr>
        <p:spPr>
          <a:xfrm>
            <a:off x="3246120" y="3017520"/>
            <a:ext cx="1737360" cy="237744"/>
          </a:xfrm>
          <a:prstGeom prst="roundRect">
            <a:avLst>
              <a:gd name="adj" fmla="val 50000"/>
            </a:avLst>
          </a:prstGeom>
          <a:solidFill>
            <a:srgbClr val="15243B"/>
          </a:solidFill>
          <a:ln w="9525">
            <a:solidFill>
              <a:srgbClr val="15243B"/>
            </a:solid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signature (m2, n4, k2)</a:t>
            </a:r>
            <a:endParaRPr lang="en-US" sz="800" dirty="0"/>
          </a:p>
        </p:txBody>
      </p:sp>
      <p:sp>
        <p:nvSpPr>
          <p:cNvPr id="57" name="Text 55"/>
          <p:cNvSpPr txBox="1"/>
          <p:nvPr/>
        </p:nvSpPr>
        <p:spPr>
          <a:xfrm>
            <a:off x="457200" y="3364992"/>
            <a:ext cx="5577840" cy="502920"/>
          </a:xfrm>
          <a:prstGeom prst="rect">
            <a:avLst/>
          </a:prstGeom>
          <a:noFill/>
          <a:ln/>
        </p:spPr>
        <p:txBody>
          <a:bodyPr wrap="square" lIns="0" tIns="0" rIns="0" bIns="0" rtlCol="0" anchor="t"/>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cache 위치는 그 loop까지의 prefix signature로 구분: b_at = n_panel이면 n_panel=64는 tile마다, 128은 2 tile마다, 256은 한 번 복사 → 복사 주기가 다르므로 서로 다른 후보로 유지. 순회와 복사 주기가 모두 같은 표기끼리만 합칩니다.</a:t>
            </a:r>
            <a:endParaRPr lang="en-US" sz="850" dirty="0"/>
          </a:p>
        </p:txBody>
      </p:sp>
      <p:sp>
        <p:nvSpPr>
          <p:cNvPr id="58" name="Text 56"/>
          <p:cNvSpPr txBox="1"/>
          <p:nvPr/>
        </p:nvSpPr>
        <p:spPr>
          <a:xfrm>
            <a:off x="457200" y="3913632"/>
            <a:ext cx="5577840" cy="219456"/>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toy 전체: loop 위치 조합 1,728 → 후보 73 (현재 코드 계산). resident operand는 cache stage가 없어 위치 1개로 축소.</a:t>
            </a:r>
            <a:endParaRPr lang="en-US" sz="850" dirty="0"/>
          </a:p>
        </p:txBody>
      </p:sp>
      <p:sp>
        <p:nvSpPr>
          <p:cNvPr id="59" name="Text 57"/>
          <p:cNvSpPr txBox="1"/>
          <p:nvPr/>
        </p:nvSpPr>
        <p:spPr>
          <a:xfrm>
            <a:off x="6263640" y="1371600"/>
            <a:ext cx="5468112" cy="237744"/>
          </a:xfrm>
          <a:prstGeom prst="rect">
            <a:avLst/>
          </a:prstGeom>
          <a:noFill/>
          <a:ln/>
        </p:spPr>
        <p:txBody>
          <a:bodyPr wrap="square" lIns="0" tIns="0" rIns="0" bIns="0" rtlCol="0" anchor="t"/>
          <a:lstStyle/>
          <a:p>
            <a:pPr algn="l" indent="0" marL="0">
              <a:buNone/>
            </a:pPr>
            <a:r>
              <a:rPr lang="en-US" sz="1000" b="1" dirty="0">
                <a:solidFill>
                  <a:srgbClr val="15243B"/>
                </a:solidFill>
                <a:latin typeface="Malgun Gothic" pitchFamily="34" charset="0"/>
                <a:ea typeface="Malgun Gothic" pitchFamily="34" charset="-122"/>
                <a:cs typeface="Malgun Gothic" pitchFamily="34" charset="-120"/>
              </a:rPr>
              <a:t>② 용량 하한 증명: 두 입력 cache는 matrix 명령 시점에 동시에 살아 있다</a:t>
            </a:r>
            <a:endParaRPr lang="en-US" sz="1000" dirty="0"/>
          </a:p>
        </p:txBody>
      </p:sp>
      <p:sp>
        <p:nvSpPr>
          <p:cNvPr id="60" name="Shape 58"/>
          <p:cNvSpPr/>
          <p:nvPr/>
        </p:nvSpPr>
        <p:spPr>
          <a:xfrm>
            <a:off x="6263640" y="1719072"/>
            <a:ext cx="4846320" cy="329184"/>
          </a:xfrm>
          <a:prstGeom prst="rect">
            <a:avLst/>
          </a:prstGeom>
          <a:solidFill>
            <a:srgbClr val="EEF2F6"/>
          </a:solidFill>
          <a:ln w="9525">
            <a:solidFill>
              <a:srgbClr val="C9D3DF"/>
            </a:solidFill>
            <a:prstDash val="solid"/>
          </a:ln>
        </p:spPr>
      </p:sp>
      <p:sp>
        <p:nvSpPr>
          <p:cNvPr id="61" name="Shape 59"/>
          <p:cNvSpPr/>
          <p:nvPr/>
        </p:nvSpPr>
        <p:spPr>
          <a:xfrm>
            <a:off x="6263640" y="1719072"/>
            <a:ext cx="47327" cy="329184"/>
          </a:xfrm>
          <a:prstGeom prst="rect">
            <a:avLst/>
          </a:prstGeom>
          <a:solidFill>
            <a:srgbClr val="EEF1F5"/>
          </a:solidFill>
          <a:ln w="12700">
            <a:solidFill>
              <a:srgbClr val="5B6B7F"/>
            </a:solidFill>
            <a:prstDash val="solid"/>
          </a:ln>
        </p:spPr>
      </p:sp>
      <p:sp>
        <p:nvSpPr>
          <p:cNvPr id="62" name="Shape 60"/>
          <p:cNvSpPr/>
          <p:nvPr/>
        </p:nvSpPr>
        <p:spPr>
          <a:xfrm>
            <a:off x="6310967" y="1719072"/>
            <a:ext cx="4038600" cy="329184"/>
          </a:xfrm>
          <a:prstGeom prst="rect">
            <a:avLst/>
          </a:prstGeom>
          <a:solidFill>
            <a:srgbClr val="FBE9E7"/>
          </a:solidFill>
          <a:ln w="12700">
            <a:solidFill>
              <a:srgbClr val="C0392B"/>
            </a:solidFill>
            <a:prstDash val="solid"/>
          </a:ln>
        </p:spPr>
      </p:sp>
      <p:sp>
        <p:nvSpPr>
          <p:cNvPr id="63" name="Text 61"/>
          <p:cNvSpPr txBox="1"/>
          <p:nvPr/>
        </p:nvSpPr>
        <p:spPr>
          <a:xfrm>
            <a:off x="6310967" y="1719072"/>
            <a:ext cx="4038600" cy="329184"/>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X cache 8 MiB (H [512,8192] 전체, a_at=m_panel)</a:t>
            </a:r>
            <a:endParaRPr lang="en-US" sz="750" dirty="0"/>
          </a:p>
        </p:txBody>
      </p:sp>
      <p:sp>
        <p:nvSpPr>
          <p:cNvPr id="64" name="Shape 62"/>
          <p:cNvSpPr/>
          <p:nvPr/>
        </p:nvSpPr>
        <p:spPr>
          <a:xfrm>
            <a:off x="10349567" y="1719072"/>
            <a:ext cx="504825" cy="329184"/>
          </a:xfrm>
          <a:prstGeom prst="rect">
            <a:avLst/>
          </a:prstGeom>
          <a:solidFill>
            <a:srgbClr val="FFF1DC"/>
          </a:solidFill>
          <a:ln w="12700">
            <a:solidFill>
              <a:srgbClr val="D98A1E"/>
            </a:solidFill>
            <a:prstDash val="solid"/>
          </a:ln>
        </p:spPr>
      </p:sp>
      <p:sp>
        <p:nvSpPr>
          <p:cNvPr id="65" name="Text 63"/>
          <p:cNvSpPr txBox="1"/>
          <p:nvPr/>
        </p:nvSpPr>
        <p:spPr>
          <a:xfrm>
            <a:off x="10349567" y="1719072"/>
            <a:ext cx="504825" cy="329184"/>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W 1 MiB</a:t>
            </a:r>
            <a:endParaRPr lang="en-US" sz="750" dirty="0"/>
          </a:p>
        </p:txBody>
      </p:sp>
      <p:sp>
        <p:nvSpPr>
          <p:cNvPr id="66" name="Text 64"/>
          <p:cNvSpPr txBox="1"/>
          <p:nvPr/>
        </p:nvSpPr>
        <p:spPr>
          <a:xfrm>
            <a:off x="11155680" y="1719072"/>
            <a:ext cx="594360" cy="329184"/>
          </a:xfrm>
          <a:prstGeom prst="rect">
            <a:avLst/>
          </a:prstGeom>
          <a:noFill/>
          <a:ln/>
        </p:spPr>
        <p:txBody>
          <a:bodyPr wrap="square" lIns="0" tIns="0" rIns="0" bIns="0" rtlCol="0" anchor="ctr"/>
          <a:lstStyle/>
          <a:p>
            <a:pPr algn="l" indent="0" marL="0">
              <a:buNone/>
            </a:pPr>
            <a:r>
              <a:rPr lang="en-US" sz="750" b="1" dirty="0">
                <a:solidFill>
                  <a:srgbClr val="C0392B"/>
                </a:solidFill>
                <a:latin typeface="Malgun Gothic" pitchFamily="34" charset="0"/>
                <a:ea typeface="Malgun Gothic" pitchFamily="34" charset="-122"/>
                <a:cs typeface="Malgun Gothic" pitchFamily="34" charset="-120"/>
              </a:rPr>
              <a:t>제외</a:t>
            </a:r>
            <a:endParaRPr lang="en-US" sz="750" dirty="0"/>
          </a:p>
          <a:p>
            <a:pPr algn="l" indent="0" marL="0">
              <a:buNone/>
            </a:pPr>
            <a:r>
              <a:rPr lang="en-US" sz="750" b="1" dirty="0">
                <a:solidFill>
                  <a:srgbClr val="C0392B"/>
                </a:solidFill>
                <a:latin typeface="Malgun Gothic" pitchFamily="34" charset="0"/>
                <a:ea typeface="Malgun Gothic" pitchFamily="34" charset="-122"/>
                <a:cs typeface="Malgun Gothic" pitchFamily="34" charset="-120"/>
              </a:rPr>
              <a:t>(증명)</a:t>
            </a:r>
            <a:endParaRPr lang="en-US" sz="750" dirty="0"/>
          </a:p>
        </p:txBody>
      </p:sp>
      <p:sp>
        <p:nvSpPr>
          <p:cNvPr id="67" name="Shape 65"/>
          <p:cNvSpPr/>
          <p:nvPr/>
        </p:nvSpPr>
        <p:spPr>
          <a:xfrm>
            <a:off x="6263640" y="2212848"/>
            <a:ext cx="4846320" cy="329184"/>
          </a:xfrm>
          <a:prstGeom prst="rect">
            <a:avLst/>
          </a:prstGeom>
          <a:solidFill>
            <a:srgbClr val="EEF2F6"/>
          </a:solidFill>
          <a:ln w="9525">
            <a:solidFill>
              <a:srgbClr val="C9D3DF"/>
            </a:solidFill>
            <a:prstDash val="solid"/>
          </a:ln>
        </p:spPr>
      </p:sp>
      <p:sp>
        <p:nvSpPr>
          <p:cNvPr id="68" name="Shape 66"/>
          <p:cNvSpPr/>
          <p:nvPr/>
        </p:nvSpPr>
        <p:spPr>
          <a:xfrm>
            <a:off x="6263640" y="2212848"/>
            <a:ext cx="47327" cy="329184"/>
          </a:xfrm>
          <a:prstGeom prst="rect">
            <a:avLst/>
          </a:prstGeom>
          <a:solidFill>
            <a:srgbClr val="EEF1F5"/>
          </a:solidFill>
          <a:ln w="12700">
            <a:solidFill>
              <a:srgbClr val="5B6B7F"/>
            </a:solidFill>
            <a:prstDash val="solid"/>
          </a:ln>
        </p:spPr>
      </p:sp>
      <p:sp>
        <p:nvSpPr>
          <p:cNvPr id="69" name="Shape 67"/>
          <p:cNvSpPr/>
          <p:nvPr/>
        </p:nvSpPr>
        <p:spPr>
          <a:xfrm>
            <a:off x="6310967" y="2212848"/>
            <a:ext cx="2019300" cy="329184"/>
          </a:xfrm>
          <a:prstGeom prst="rect">
            <a:avLst/>
          </a:prstGeom>
          <a:solidFill>
            <a:srgbClr val="DDF3F0"/>
          </a:solidFill>
          <a:ln w="12700">
            <a:solidFill>
              <a:srgbClr val="1F8A8A"/>
            </a:solidFill>
            <a:prstDash val="solid"/>
          </a:ln>
        </p:spPr>
      </p:sp>
      <p:sp>
        <p:nvSpPr>
          <p:cNvPr id="70" name="Text 68"/>
          <p:cNvSpPr txBox="1"/>
          <p:nvPr/>
        </p:nvSpPr>
        <p:spPr>
          <a:xfrm>
            <a:off x="6310967" y="2212848"/>
            <a:ext cx="2019300" cy="329184"/>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X cache 4 MiB (256행, m_panel=256)</a:t>
            </a:r>
            <a:endParaRPr lang="en-US" sz="750" dirty="0"/>
          </a:p>
        </p:txBody>
      </p:sp>
      <p:sp>
        <p:nvSpPr>
          <p:cNvPr id="71" name="Shape 69"/>
          <p:cNvSpPr/>
          <p:nvPr/>
        </p:nvSpPr>
        <p:spPr>
          <a:xfrm>
            <a:off x="8330267" y="2212848"/>
            <a:ext cx="504825" cy="329184"/>
          </a:xfrm>
          <a:prstGeom prst="rect">
            <a:avLst/>
          </a:prstGeom>
          <a:solidFill>
            <a:srgbClr val="FFF1DC"/>
          </a:solidFill>
          <a:ln w="12700">
            <a:solidFill>
              <a:srgbClr val="D98A1E"/>
            </a:solidFill>
            <a:prstDash val="solid"/>
          </a:ln>
        </p:spPr>
      </p:sp>
      <p:sp>
        <p:nvSpPr>
          <p:cNvPr id="72" name="Text 70"/>
          <p:cNvSpPr txBox="1"/>
          <p:nvPr/>
        </p:nvSpPr>
        <p:spPr>
          <a:xfrm>
            <a:off x="8330267" y="2212848"/>
            <a:ext cx="504825" cy="329184"/>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W 1 MiB</a:t>
            </a:r>
            <a:endParaRPr lang="en-US" sz="750" dirty="0"/>
          </a:p>
        </p:txBody>
      </p:sp>
      <p:sp>
        <p:nvSpPr>
          <p:cNvPr id="73" name="Text 71"/>
          <p:cNvSpPr txBox="1"/>
          <p:nvPr/>
        </p:nvSpPr>
        <p:spPr>
          <a:xfrm>
            <a:off x="11155680" y="2212848"/>
            <a:ext cx="594360" cy="329184"/>
          </a:xfrm>
          <a:prstGeom prst="rect">
            <a:avLst/>
          </a:prstGeom>
          <a:noFill/>
          <a:ln/>
        </p:spPr>
        <p:txBody>
          <a:bodyPr wrap="square" lIns="0" tIns="0" rIns="0" bIns="0" rtlCol="0" anchor="ctr"/>
          <a:lstStyle/>
          <a:p>
            <a:pPr algn="l" indent="0" marL="0">
              <a:buNone/>
            </a:pPr>
            <a:r>
              <a:rPr lang="en-US" sz="750" b="1" dirty="0">
                <a:solidFill>
                  <a:srgbClr val="2E7D32"/>
                </a:solidFill>
                <a:latin typeface="Malgun Gothic" pitchFamily="34" charset="0"/>
                <a:ea typeface="Malgun Gothic" pitchFamily="34" charset="-122"/>
                <a:cs typeface="Malgun Gothic" pitchFamily="34" charset="-120"/>
              </a:rPr>
              <a:t>검사</a:t>
            </a:r>
            <a:endParaRPr lang="en-US" sz="750" dirty="0"/>
          </a:p>
          <a:p>
            <a:pPr algn="l" indent="0" marL="0">
              <a:buNone/>
            </a:pPr>
            <a:r>
              <a:rPr lang="en-US" sz="750" b="1" dirty="0">
                <a:solidFill>
                  <a:srgbClr val="2E7D32"/>
                </a:solidFill>
                <a:latin typeface="Malgun Gothic" pitchFamily="34" charset="0"/>
                <a:ea typeface="Malgun Gothic" pitchFamily="34" charset="-122"/>
                <a:cs typeface="Malgun Gothic" pitchFamily="34" charset="-120"/>
              </a:rPr>
              <a:t>목록</a:t>
            </a:r>
            <a:endParaRPr lang="en-US" sz="750" dirty="0"/>
          </a:p>
        </p:txBody>
      </p:sp>
      <p:sp>
        <p:nvSpPr>
          <p:cNvPr id="74" name="Shape 72"/>
          <p:cNvSpPr/>
          <p:nvPr/>
        </p:nvSpPr>
        <p:spPr>
          <a:xfrm>
            <a:off x="10349567" y="1645920"/>
            <a:ext cx="914" cy="969264"/>
          </a:xfrm>
          <a:prstGeom prst="line">
            <a:avLst/>
          </a:prstGeom>
          <a:noFill/>
          <a:ln w="19050">
            <a:solidFill>
              <a:srgbClr val="C0392B"/>
            </a:solidFill>
            <a:prstDash val="dash"/>
          </a:ln>
        </p:spPr>
      </p:sp>
      <p:sp>
        <p:nvSpPr>
          <p:cNvPr id="75" name="Text 73"/>
          <p:cNvSpPr txBox="1"/>
          <p:nvPr/>
        </p:nvSpPr>
        <p:spPr>
          <a:xfrm>
            <a:off x="9343727" y="2578608"/>
            <a:ext cx="2011680" cy="182880"/>
          </a:xfrm>
          <a:prstGeom prst="rect">
            <a:avLst/>
          </a:prstGeom>
          <a:noFill/>
          <a:ln/>
        </p:spPr>
        <p:txBody>
          <a:bodyPr wrap="square" lIns="0" tIns="0" rIns="0" bIns="0" rtlCol="0" anchor="t"/>
          <a:lstStyle/>
          <a:p>
            <a:pPr algn="ctr" indent="0" marL="0">
              <a:buNone/>
            </a:pPr>
            <a:r>
              <a:rPr lang="en-US" sz="700" dirty="0">
                <a:solidFill>
                  <a:srgbClr val="C0392B"/>
                </a:solidFill>
                <a:latin typeface="Malgun Gothic" pitchFamily="34" charset="0"/>
                <a:ea typeface="Malgun Gothic" pitchFamily="34" charset="-122"/>
                <a:cs typeface="Malgun Gothic" pitchFamily="34" charset="-120"/>
              </a:rPr>
              <a:t>가용 = SRAM 8 MiB − scratch prefix (96 KiB)</a:t>
            </a:r>
            <a:endParaRPr lang="en-US" sz="700" dirty="0"/>
          </a:p>
        </p:txBody>
      </p:sp>
      <p:sp>
        <p:nvSpPr>
          <p:cNvPr id="76" name="Text 74"/>
          <p:cNvSpPr txBox="1"/>
          <p:nvPr/>
        </p:nvSpPr>
        <p:spPr>
          <a:xfrm>
            <a:off x="6263640" y="2578608"/>
            <a:ext cx="548640" cy="182880"/>
          </a:xfrm>
          <a:prstGeom prst="rect">
            <a:avLst/>
          </a:prstGeom>
          <a:noFill/>
          <a:ln/>
        </p:spPr>
        <p:txBody>
          <a:bodyPr wrap="square" lIns="0" tIns="0" rIns="0" bIns="0" rtlCol="0" anchor="t"/>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0</a:t>
            </a:r>
            <a:endParaRPr lang="en-US" sz="700" dirty="0"/>
          </a:p>
        </p:txBody>
      </p:sp>
      <p:sp>
        <p:nvSpPr>
          <p:cNvPr id="77" name="Text 75"/>
          <p:cNvSpPr txBox="1"/>
          <p:nvPr/>
        </p:nvSpPr>
        <p:spPr>
          <a:xfrm>
            <a:off x="6263640" y="2852928"/>
            <a:ext cx="5468112" cy="1371600"/>
          </a:xfrm>
          <a:prstGeom prst="rect">
            <a:avLst/>
          </a:prstGeom>
          <a:noFill/>
          <a:ln/>
        </p:spPr>
        <p:txBody>
          <a:bodyPr wrap="square" lIns="0" tIns="0" rIns="0" bIns="0" rtlCol="0" anchor="t"/>
          <a:lstStyle/>
          <a:p>
            <a:pPr algn="l" marL="152400" indent="-152400">
              <a:spcAft>
                <a:spcPts val="300"/>
              </a:spcAft>
              <a:buSzPct val="100000"/>
              <a:buChar char="•"/>
            </a:pPr>
            <a:r>
              <a:rPr lang="en-US" sz="850" b="1" dirty="0">
                <a:solidFill>
                  <a:srgbClr val="1F2D3D"/>
                </a:solidFill>
                <a:latin typeface="Malgun Gothic" pitchFamily="34" charset="0"/>
                <a:ea typeface="Malgun Gothic" pitchFamily="34" charset="-122"/>
                <a:cs typeface="Malgun Gothic" pitchFamily="34" charset="-120"/>
              </a:rPr>
              <a:t>증명 조건 (ordinary): </a:t>
            </a:r>
            <a:pPr algn="l" indent="0" marL="0">
              <a:spcAft>
                <a:spcPts val="300"/>
              </a:spcAft>
              <a:buNone/>
            </a:pPr>
            <a:r>
              <a:rPr lang="en-US" sz="850" dirty="0">
                <a:solidFill>
                  <a:srgbClr val="1F2D3D"/>
                </a:solidFill>
                <a:latin typeface="Malgun Gothic" pitchFamily="34" charset="0"/>
                <a:ea typeface="Malgun Gothic" pitchFamily="34" charset="-122"/>
                <a:cs typeface="Malgun Gothic" pitchFamily="34" charset="-120"/>
              </a:rPr>
              <a:t>두 operand가 서로 다른 함수 parameter, FP16, scope global/global.sram, shape 정확히 (M,K)/(K,N), M·N·K 모두 64배수 → 두 cache bytes 합 &gt; 가용이면 제외</a:t>
            </a:r>
            <a:endParaRPr lang="en-US" sz="850" dirty="0"/>
          </a:p>
          <a:p>
            <a:pPr algn="l" marL="152400" indent="-152400">
              <a:spcAft>
                <a:spcPts val="300"/>
              </a:spcAft>
              <a:buSzPct val="100000"/>
              <a:buChar char="•"/>
            </a:pPr>
            <a:r>
              <a:rPr lang="en-US" sz="850" b="1" dirty="0">
                <a:solidFill>
                  <a:srgbClr val="1F2D3D"/>
                </a:solidFill>
                <a:latin typeface="Malgun Gothic" pitchFamily="34" charset="0"/>
                <a:ea typeface="Malgun Gothic" pitchFamily="34" charset="-122"/>
                <a:cs typeface="Malgun Gothic" pitchFamily="34" charset="-120"/>
              </a:rPr>
              <a:t>해당 안 되면 (padding, computed producer, W8A8): </a:t>
            </a:r>
            <a:pPr algn="l" indent="0" marL="0">
              <a:spcAft>
                <a:spcPts val="300"/>
              </a:spcAft>
              <a:buNone/>
            </a:pPr>
            <a:r>
              <a:rPr lang="en-US" sz="850" dirty="0">
                <a:solidFill>
                  <a:srgbClr val="1F2D3D"/>
                </a:solidFill>
                <a:latin typeface="Malgun Gothic" pitchFamily="34" charset="0"/>
                <a:ea typeface="Malgun Gothic" pitchFamily="34" charset="-122"/>
                <a:cs typeface="Malgun Gothic" pitchFamily="34" charset="-120"/>
              </a:rPr>
              <a:t>footprint 추정으로 순서만 뒤로(deprioritize), 제거하지 않음</a:t>
            </a:r>
            <a:endParaRPr lang="en-US" sz="850" dirty="0"/>
          </a:p>
          <a:p>
            <a:pPr algn="l" marL="152400" indent="-152400">
              <a:spcAft>
                <a:spcPts val="300"/>
              </a:spcAft>
              <a:buSzPct val="100000"/>
              <a:buChar char="•"/>
            </a:pPr>
            <a:r>
              <a:rPr lang="en-US" sz="850" b="1" dirty="0">
                <a:solidFill>
                  <a:srgbClr val="1F2D3D"/>
                </a:solidFill>
                <a:latin typeface="Malgun Gothic" pitchFamily="34" charset="0"/>
                <a:ea typeface="Malgun Gothic" pitchFamily="34" charset="-122"/>
                <a:cs typeface="Malgun Gothic" pitchFamily="34" charset="-120"/>
              </a:rPr>
              <a:t>출력·scratch·epilogue 추정은 제외 근거가 아님: </a:t>
            </a:r>
            <a:pPr algn="l" indent="0" marL="0">
              <a:spcAft>
                <a:spcPts val="300"/>
              </a:spcAft>
              <a:buNone/>
            </a:pPr>
            <a:r>
              <a:rPr lang="en-US" sz="850" dirty="0">
                <a:solidFill>
                  <a:srgbClr val="1F2D3D"/>
                </a:solidFill>
                <a:latin typeface="Malgun Gothic" pitchFamily="34" charset="0"/>
                <a:ea typeface="Malgun Gothic" pitchFamily="34" charset="-122"/>
                <a:cs typeface="Malgun Gothic" pitchFamily="34" charset="-120"/>
              </a:rPr>
              <a:t>남은 후보는 실제 TIR compaction·SRAM 배치·명령 생성으로 검사</a:t>
            </a:r>
            <a:endParaRPr lang="en-US" sz="8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4315968"/>
          <a:ext cx="8229600" cy="914400"/>
        </p:xfrm>
        <a:graphic>
          <a:graphicData uri="http://schemas.openxmlformats.org/drawingml/2006/table">
            <a:tbl>
              <a:tblPr/>
              <a:tblGrid>
                <a:gridCol w="3017520"/>
                <a:gridCol w="1005840"/>
                <a:gridCol w="914400"/>
                <a:gridCol w="1097280"/>
                <a:gridCol w="914400"/>
                <a:gridCol w="1280160"/>
              </a:tblGrid>
              <a:tr h="274320">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계산 (M,K)×(K,N)</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30" b="1" dirty="0">
                          <a:solidFill>
                            <a:srgbClr val="FFFFFF"/>
                          </a:solidFill>
                          <a:latin typeface="Malgun Gothic" pitchFamily="34" charset="0"/>
                          <a:ea typeface="Malgun Gothic" pitchFamily="34" charset="-122"/>
                          <a:cs typeface="Malgun Gothic" pitchFamily="34" charset="-120"/>
                        </a:rPr>
                        <a:t>개선 전 후보</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30" b="1" dirty="0">
                          <a:solidFill>
                            <a:srgbClr val="FFFFFF"/>
                          </a:solidFill>
                          <a:latin typeface="Malgun Gothic" pitchFamily="34" charset="0"/>
                          <a:ea typeface="Malgun Gothic" pitchFamily="34" charset="-122"/>
                          <a:cs typeface="Malgun Gothic" pitchFamily="34" charset="-120"/>
                        </a:rPr>
                        <a:t>정규화 후</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30" b="1" dirty="0">
                          <a:solidFill>
                            <a:srgbClr val="FFFFFF"/>
                          </a:solidFill>
                          <a:latin typeface="Malgun Gothic" pitchFamily="34" charset="0"/>
                          <a:ea typeface="Malgun Gothic" pitchFamily="34" charset="-122"/>
                          <a:cs typeface="Malgun Gothic" pitchFamily="34" charset="-120"/>
                        </a:rPr>
                        <a:t>용량 증명 제외</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30" b="1" dirty="0">
                          <a:solidFill>
                            <a:srgbClr val="FFFFFF"/>
                          </a:solidFill>
                          <a:latin typeface="Malgun Gothic" pitchFamily="34" charset="0"/>
                          <a:ea typeface="Malgun Gothic" pitchFamily="34" charset="-122"/>
                          <a:cs typeface="Malgun Gothic" pitchFamily="34" charset="-120"/>
                        </a:rPr>
                        <a:t>검사 목록</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출처</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512-token down (512,8192)×(8192,3072)</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22,236</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5,034</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1,596</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3,438</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E9 기록</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gate M=64 (64,3072)×(3072,8192)</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1,433</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203</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41</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162</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현재 코드 계산</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down M=64, H resident (64,8192)×(8192,3072)</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299</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17</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5</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12</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현재 코드 계산</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작은 예제 (64,128)×(128,64)</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4</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4</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0</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30" dirty="0">
                          <a:solidFill>
                            <a:srgbClr val="1F2D3D"/>
                          </a:solidFill>
                          <a:latin typeface="Malgun Gothic" pitchFamily="34" charset="0"/>
                          <a:ea typeface="Malgun Gothic" pitchFamily="34" charset="-122"/>
                          <a:cs typeface="Malgun Gothic" pitchFamily="34" charset="-120"/>
                        </a:rPr>
                        <a:t>4</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기록 = 계산</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79" name="Shape 76"/>
          <p:cNvSpPr/>
          <p:nvPr/>
        </p:nvSpPr>
        <p:spPr>
          <a:xfrm>
            <a:off x="8869680" y="4315968"/>
            <a:ext cx="2862072" cy="1371600"/>
          </a:xfrm>
          <a:prstGeom prst="roundRect">
            <a:avLst>
              <a:gd name="adj" fmla="val 4000"/>
            </a:avLst>
          </a:prstGeom>
          <a:solidFill>
            <a:srgbClr val="FFF6DB"/>
          </a:solidFill>
          <a:ln w="12700">
            <a:solidFill>
              <a:srgbClr val="B7791F"/>
            </a:solidFill>
            <a:prstDash val="solid"/>
          </a:ln>
        </p:spPr>
      </p:sp>
      <p:sp>
        <p:nvSpPr>
          <p:cNvPr id="80" name="Text 77"/>
          <p:cNvSpPr txBox="1"/>
          <p:nvPr/>
        </p:nvSpPr>
        <p:spPr>
          <a:xfrm>
            <a:off x="8997696" y="4370832"/>
            <a:ext cx="2606040" cy="126187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E8에서 본 문제: </a:t>
            </a:r>
            <a:pPr algn="l" indent="0" marL="0">
              <a:buNone/>
            </a:pPr>
            <a:r>
              <a:rPr lang="en-US" sz="850" dirty="0">
                <a:solidFill>
                  <a:srgbClr val="1F2D3D"/>
                </a:solidFill>
                <a:latin typeface="Malgun Gothic" pitchFamily="34" charset="0"/>
                <a:ea typeface="Malgun Gothic" pitchFamily="34" charset="-122"/>
                <a:cs typeface="Malgun Gothic" pitchFamily="34" charset="-120"/>
              </a:rPr>
              <a:t>추정 DMA만으로 정렬하면 SRAM에 안 들어가는 후보가 앞을 차지 → 512-down 확장 탐색 16회가 모두 용량 초과. 개선 후 같은 커널: 4회 검사 = 합법 4개 (E9).</a:t>
            </a:r>
            <a:endParaRPr lang="en-US" sz="1200" dirty="0"/>
          </a:p>
        </p:txBody>
      </p:sp>
      <p:sp>
        <p:nvSpPr>
          <p:cNvPr id="81" name="Text 78"/>
          <p:cNvSpPr txBox="1"/>
          <p:nvPr/>
        </p:nvSpPr>
        <p:spPr>
          <a:xfrm>
            <a:off x="457200" y="5715000"/>
            <a:ext cx="8229600" cy="201168"/>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"개선 전"은 정규화 전 candidates() 기록(E8), "계산"은 현재 코드를 scratch 96 KiB 가정으로 실행한 값이며 새 compile 기록이 아닙니다.</a:t>
            </a:r>
            <a:endParaRPr lang="en-US" sz="750" dirty="0"/>
          </a:p>
        </p:txBody>
      </p:sp>
      <p:sp>
        <p:nvSpPr>
          <p:cNvPr id="82" name="Shape 79"/>
          <p:cNvSpPr/>
          <p:nvPr/>
        </p:nvSpPr>
        <p:spPr>
          <a:xfrm>
            <a:off x="457200" y="5989320"/>
            <a:ext cx="11274552" cy="420624"/>
          </a:xfrm>
          <a:prstGeom prst="roundRect">
            <a:avLst>
              <a:gd name="adj" fmla="val 10870"/>
            </a:avLst>
          </a:prstGeom>
          <a:solidFill>
            <a:srgbClr val="EEF2F6"/>
          </a:solidFill>
          <a:ln w="12700">
            <a:solidFill>
              <a:srgbClr val="EEF2F6"/>
            </a:solidFill>
            <a:prstDash val="solid"/>
          </a:ln>
        </p:spPr>
      </p:sp>
      <p:sp>
        <p:nvSpPr>
          <p:cNvPr id="83" name="Text 80"/>
          <p:cNvSpPr txBox="1"/>
          <p:nvPr/>
        </p:nvSpPr>
        <p:spPr>
          <a:xfrm>
            <a:off x="621792" y="604418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정규화는 표기 중복을 없애고, 용량 필터는 증명된 경우만 제외합니다. 남은 후보는 여전히 실제 TIR compaction·SRAM 배치·명령 생성으로 검사합니다.</a:t>
            </a:r>
            <a:endParaRPr lang="en-US" sz="1250" dirty="0"/>
          </a:p>
        </p:txBody>
      </p:sp>
      <p:sp>
        <p:nvSpPr>
          <p:cNvPr id="84" name="Text 81"/>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85" name="Text 82"/>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npu_compiler/npu_schedule_space.py (_iteration_signature, candidates, prioritize), npu_schedule.py (_fit_matmul의 ordinary 판정), docs/current/06_matmul_schedule.md, 11_experiments.md E8/E9</a:t>
            </a:r>
            <a:endParaRPr lang="en-US" sz="850" dirty="0"/>
          </a:p>
        </p:txBody>
      </p:sp>
      <p:sp>
        <p:nvSpPr>
          <p:cNvPr id="86" name="Text 83"/>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33 / 89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6 · Matmul scheduling</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1700" b="1" dirty="0">
                <a:solidFill>
                  <a:srgbClr val="15243B"/>
                </a:solidFill>
                <a:latin typeface="Malgun Gothic" pitchFamily="34" charset="0"/>
                <a:ea typeface="Malgun Gothic" pitchFamily="34" charset="-122"/>
                <a:cs typeface="Malgun Gothic" pitchFamily="34" charset="-120"/>
              </a:rPr>
              <a:t>후보 검사 흐름: DB 재생(선택) → incumbent → 정규화된 후보를 실제 schedule·SRAM 배치·명령 생성으로 검사</a:t>
            </a:r>
            <a:endParaRPr lang="en-US" sz="17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_fit_matmul. 실패·용량 초과도 시도로 세고, words 한도는 기준 후보 크기에 맞춰 늘어나며, 합법 후보 2개를 보기 전에는 words로 끝내지 않습니다. 검사 순서만 space(추정 DMA 순)와 meta_schedule(ReplayFunc 추첨)이 다릅니다.</a:t>
            </a:r>
            <a:endParaRPr lang="en-US" sz="1250" dirty="0"/>
          </a:p>
        </p:txBody>
      </p:sp>
      <p:sp>
        <p:nvSpPr>
          <p:cNvPr id="5" name="Shape 3"/>
          <p:cNvSpPr/>
          <p:nvPr/>
        </p:nvSpPr>
        <p:spPr>
          <a:xfrm>
            <a:off x="457200" y="1417320"/>
            <a:ext cx="1764792" cy="822960"/>
          </a:xfrm>
          <a:prstGeom prst="roundRect">
            <a:avLst>
              <a:gd name="adj" fmla="val 6667"/>
            </a:avLst>
          </a:prstGeom>
          <a:solidFill>
            <a:srgbClr val="EEF1F5"/>
          </a:solidFill>
          <a:ln w="12700">
            <a:solidFill>
              <a:srgbClr val="5B6B7F"/>
            </a:solidFill>
            <a:prstDash val="solid"/>
          </a:ln>
        </p:spPr>
      </p:sp>
      <p:sp>
        <p:nvSpPr>
          <p:cNvPr id="6" name="Text 4"/>
          <p:cNvSpPr txBox="1"/>
          <p:nvPr/>
        </p:nvSpPr>
        <p:spPr>
          <a:xfrm>
            <a:off x="530352" y="1490472"/>
            <a:ext cx="1618488"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DB 조회 (선택)</a:t>
            </a:r>
            <a:endParaRPr lang="en-US" sz="950" dirty="0"/>
          </a:p>
        </p:txBody>
      </p:sp>
      <p:sp>
        <p:nvSpPr>
          <p:cNvPr id="7" name="Text 5"/>
          <p:cNvSpPr txBox="1"/>
          <p:nvPr/>
        </p:nvSpPr>
        <p:spPr>
          <a:xfrm>
            <a:off x="530352" y="1671447"/>
            <a:ext cx="1618488" cy="53225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trace 재생·재검증</a:t>
            </a:r>
            <a:endParaRPr lang="en-US" sz="750" dirty="0"/>
          </a:p>
          <a:p>
            <a:pPr algn="ctr" indent="0" marL="0">
              <a:buNone/>
            </a:pPr>
            <a:r>
              <a:rPr lang="en-US" sz="750" dirty="0">
                <a:solidFill>
                  <a:srgbClr val="5B6B7F"/>
                </a:solidFill>
                <a:latin typeface="Malgun Gothic" pitchFamily="34" charset="0"/>
                <a:ea typeface="Malgun Gothic" pitchFamily="34" charset="-122"/>
                <a:cs typeface="Malgun Gothic" pitchFamily="34" charset="-120"/>
              </a:rPr>
              <a:t>reuse: 즉시 채택 · tune: incumbent</a:t>
            </a:r>
            <a:endParaRPr lang="en-US" sz="750" dirty="0"/>
          </a:p>
        </p:txBody>
      </p:sp>
      <p:sp>
        <p:nvSpPr>
          <p:cNvPr id="8" name="Shape 6"/>
          <p:cNvSpPr/>
          <p:nvPr/>
        </p:nvSpPr>
        <p:spPr>
          <a:xfrm>
            <a:off x="2231136" y="1828800"/>
            <a:ext cx="118872" cy="914"/>
          </a:xfrm>
          <a:prstGeom prst="line">
            <a:avLst/>
          </a:prstGeom>
          <a:noFill/>
          <a:ln w="15240">
            <a:solidFill>
              <a:srgbClr val="5B6B7F"/>
            </a:solidFill>
            <a:prstDash val="solid"/>
            <a:tailEnd type="triangle"/>
          </a:ln>
        </p:spPr>
      </p:sp>
      <p:sp>
        <p:nvSpPr>
          <p:cNvPr id="9" name="Shape 7"/>
          <p:cNvSpPr/>
          <p:nvPr/>
        </p:nvSpPr>
        <p:spPr>
          <a:xfrm>
            <a:off x="2359152" y="1417320"/>
            <a:ext cx="1764792" cy="822960"/>
          </a:xfrm>
          <a:prstGeom prst="roundRect">
            <a:avLst>
              <a:gd name="adj" fmla="val 6667"/>
            </a:avLst>
          </a:prstGeom>
          <a:solidFill>
            <a:srgbClr val="E3EEFB"/>
          </a:solidFill>
          <a:ln w="12700">
            <a:solidFill>
              <a:srgbClr val="2F6DB5"/>
            </a:solidFill>
            <a:prstDash val="solid"/>
          </a:ln>
        </p:spPr>
      </p:sp>
      <p:sp>
        <p:nvSpPr>
          <p:cNvPr id="10" name="Text 8"/>
          <p:cNvSpPr txBox="1"/>
          <p:nvPr/>
        </p:nvSpPr>
        <p:spPr>
          <a:xfrm>
            <a:off x="2432304" y="1490472"/>
            <a:ext cx="1618488"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incumbent</a:t>
            </a:r>
            <a:endParaRPr lang="en-US" sz="950" dirty="0"/>
          </a:p>
        </p:txBody>
      </p:sp>
      <p:sp>
        <p:nvSpPr>
          <p:cNvPr id="11" name="Text 9"/>
          <p:cNvSpPr txBox="1"/>
          <p:nvPr/>
        </p:nvSpPr>
        <p:spPr>
          <a:xfrm>
            <a:off x="2432304" y="1671447"/>
            <a:ext cx="1618488" cy="53225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legacy A / B / B_stream / None</a:t>
            </a:r>
            <a:endParaRPr lang="en-US" sz="750" dirty="0"/>
          </a:p>
          <a:p>
            <a:pPr algn="ctr" indent="0" marL="0">
              <a:buNone/>
            </a:pPr>
            <a:r>
              <a:rPr lang="en-US" sz="750" dirty="0">
                <a:solidFill>
                  <a:srgbClr val="5B6B7F"/>
                </a:solidFill>
                <a:latin typeface="Malgun Gothic" pitchFamily="34" charset="0"/>
                <a:ea typeface="Malgun Gothic" pitchFamily="34" charset="-122"/>
                <a:cs typeface="Malgun Gothic" pitchFamily="34" charset="-120"/>
              </a:rPr>
              <a:t>시도 64 · legal 2 (별도 예산)</a:t>
            </a:r>
            <a:endParaRPr lang="en-US" sz="750" dirty="0"/>
          </a:p>
        </p:txBody>
      </p:sp>
      <p:sp>
        <p:nvSpPr>
          <p:cNvPr id="12" name="Shape 10"/>
          <p:cNvSpPr/>
          <p:nvPr/>
        </p:nvSpPr>
        <p:spPr>
          <a:xfrm>
            <a:off x="4133088" y="1828800"/>
            <a:ext cx="118872" cy="914"/>
          </a:xfrm>
          <a:prstGeom prst="line">
            <a:avLst/>
          </a:prstGeom>
          <a:noFill/>
          <a:ln w="15240">
            <a:solidFill>
              <a:srgbClr val="5B6B7F"/>
            </a:solidFill>
            <a:prstDash val="solid"/>
            <a:tailEnd type="triangle"/>
          </a:ln>
        </p:spPr>
      </p:sp>
      <p:sp>
        <p:nvSpPr>
          <p:cNvPr id="13" name="Shape 11"/>
          <p:cNvSpPr/>
          <p:nvPr/>
        </p:nvSpPr>
        <p:spPr>
          <a:xfrm>
            <a:off x="4261104" y="1417320"/>
            <a:ext cx="1764792" cy="822960"/>
          </a:xfrm>
          <a:prstGeom prst="roundRect">
            <a:avLst>
              <a:gd name="adj" fmla="val 6667"/>
            </a:avLst>
          </a:prstGeom>
          <a:solidFill>
            <a:srgbClr val="E3EEFB"/>
          </a:solidFill>
          <a:ln w="12700">
            <a:solidFill>
              <a:srgbClr val="2F6DB5"/>
            </a:solidFill>
            <a:prstDash val="solid"/>
          </a:ln>
        </p:spPr>
      </p:sp>
      <p:sp>
        <p:nvSpPr>
          <p:cNvPr id="14" name="Text 12"/>
          <p:cNvSpPr txBox="1"/>
          <p:nvPr/>
        </p:nvSpPr>
        <p:spPr>
          <a:xfrm>
            <a:off x="4334256" y="1490472"/>
            <a:ext cx="1618488"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후보 pool</a:t>
            </a:r>
            <a:endParaRPr lang="en-US" sz="950" dirty="0"/>
          </a:p>
        </p:txBody>
      </p:sp>
      <p:sp>
        <p:nvSpPr>
          <p:cNvPr id="15" name="Text 13"/>
          <p:cNvSpPr txBox="1"/>
          <p:nvPr/>
        </p:nvSpPr>
        <p:spPr>
          <a:xfrm>
            <a:off x="4334256" y="1671447"/>
            <a:ext cx="1618488" cy="53225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candidates → 정규화</a:t>
            </a:r>
            <a:endParaRPr lang="en-US" sz="750" dirty="0"/>
          </a:p>
          <a:p>
            <a:pPr algn="ctr" indent="0" marL="0">
              <a:buNone/>
            </a:pPr>
            <a:r>
              <a:rPr lang="en-US" sz="750" dirty="0">
                <a:solidFill>
                  <a:srgbClr val="5B6B7F"/>
                </a:solidFill>
                <a:latin typeface="Malgun Gothic" pitchFamily="34" charset="0"/>
                <a:ea typeface="Malgun Gothic" pitchFamily="34" charset="-122"/>
                <a:cs typeface="Malgun Gothic" pitchFamily="34" charset="-120"/>
              </a:rPr>
              <a:t>prioritize: 증명된 초과 제외</a:t>
            </a:r>
            <a:endParaRPr lang="en-US" sz="750" dirty="0"/>
          </a:p>
        </p:txBody>
      </p:sp>
      <p:sp>
        <p:nvSpPr>
          <p:cNvPr id="16" name="Shape 14"/>
          <p:cNvSpPr/>
          <p:nvPr/>
        </p:nvSpPr>
        <p:spPr>
          <a:xfrm>
            <a:off x="6035040" y="1828800"/>
            <a:ext cx="118872" cy="914"/>
          </a:xfrm>
          <a:prstGeom prst="line">
            <a:avLst/>
          </a:prstGeom>
          <a:noFill/>
          <a:ln w="15240">
            <a:solidFill>
              <a:srgbClr val="5B6B7F"/>
            </a:solidFill>
            <a:prstDash val="solid"/>
            <a:tailEnd type="triangle"/>
          </a:ln>
        </p:spPr>
      </p:sp>
      <p:sp>
        <p:nvSpPr>
          <p:cNvPr id="17" name="Shape 15"/>
          <p:cNvSpPr/>
          <p:nvPr/>
        </p:nvSpPr>
        <p:spPr>
          <a:xfrm>
            <a:off x="6163056" y="1417320"/>
            <a:ext cx="1764792" cy="822960"/>
          </a:xfrm>
          <a:prstGeom prst="roundRect">
            <a:avLst>
              <a:gd name="adj" fmla="val 6667"/>
            </a:avLst>
          </a:prstGeom>
          <a:solidFill>
            <a:srgbClr val="DDF3F0"/>
          </a:solidFill>
          <a:ln w="12700">
            <a:solidFill>
              <a:srgbClr val="1F8A8A"/>
            </a:solidFill>
            <a:prstDash val="solid"/>
          </a:ln>
        </p:spPr>
      </p:sp>
      <p:sp>
        <p:nvSpPr>
          <p:cNvPr id="18" name="Text 16"/>
          <p:cNvSpPr txBox="1"/>
          <p:nvPr/>
        </p:nvSpPr>
        <p:spPr>
          <a:xfrm>
            <a:off x="6236208" y="1490472"/>
            <a:ext cx="1618488"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_measure_trial</a:t>
            </a:r>
            <a:endParaRPr lang="en-US" sz="950" dirty="0"/>
          </a:p>
        </p:txBody>
      </p:sp>
      <p:sp>
        <p:nvSpPr>
          <p:cNvPr id="19" name="Text 17"/>
          <p:cNvSpPr txBox="1"/>
          <p:nvPr/>
        </p:nvSpPr>
        <p:spPr>
          <a:xfrm>
            <a:off x="6236208" y="1671447"/>
            <a:ext cx="1618488" cy="53225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tir.Schedule + 후처리</a:t>
            </a:r>
            <a:endParaRPr lang="en-US" sz="750" dirty="0"/>
          </a:p>
          <a:p>
            <a:pPr algn="ctr" indent="0" marL="0">
              <a:buNone/>
            </a:pPr>
            <a:r>
              <a:rPr lang="en-US" sz="750" dirty="0">
                <a:solidFill>
                  <a:srgbClr val="5B6B7F"/>
                </a:solidFill>
                <a:latin typeface="Malgun Gothic" pitchFamily="34" charset="0"/>
                <a:ea typeface="Malgun Gothic" pitchFamily="34" charset="-122"/>
                <a:cs typeface="Malgun Gothic" pitchFamily="34" charset="-120"/>
              </a:rPr>
              <a:t>CompactBufferAllocation</a:t>
            </a:r>
            <a:endParaRPr lang="en-US" sz="750" dirty="0"/>
          </a:p>
        </p:txBody>
      </p:sp>
      <p:sp>
        <p:nvSpPr>
          <p:cNvPr id="20" name="Shape 18"/>
          <p:cNvSpPr/>
          <p:nvPr/>
        </p:nvSpPr>
        <p:spPr>
          <a:xfrm>
            <a:off x="7936992" y="1828800"/>
            <a:ext cx="118872" cy="914"/>
          </a:xfrm>
          <a:prstGeom prst="line">
            <a:avLst/>
          </a:prstGeom>
          <a:noFill/>
          <a:ln w="15240">
            <a:solidFill>
              <a:srgbClr val="5B6B7F"/>
            </a:solidFill>
            <a:prstDash val="solid"/>
            <a:tailEnd type="triangle"/>
          </a:ln>
        </p:spPr>
      </p:sp>
      <p:sp>
        <p:nvSpPr>
          <p:cNvPr id="21" name="Shape 19"/>
          <p:cNvSpPr/>
          <p:nvPr/>
        </p:nvSpPr>
        <p:spPr>
          <a:xfrm>
            <a:off x="8065008" y="1417320"/>
            <a:ext cx="1764792" cy="822960"/>
          </a:xfrm>
          <a:prstGeom prst="roundRect">
            <a:avLst>
              <a:gd name="adj" fmla="val 6667"/>
            </a:avLst>
          </a:prstGeom>
          <a:solidFill>
            <a:srgbClr val="DDF3F0"/>
          </a:solidFill>
          <a:ln w="12700">
            <a:solidFill>
              <a:srgbClr val="1F8A8A"/>
            </a:solidFill>
            <a:prstDash val="solid"/>
          </a:ln>
        </p:spPr>
      </p:sp>
      <p:sp>
        <p:nvSpPr>
          <p:cNvPr id="22" name="Text 20"/>
          <p:cNvSpPr txBox="1"/>
          <p:nvPr/>
        </p:nvSpPr>
        <p:spPr>
          <a:xfrm>
            <a:off x="8138160" y="1490472"/>
            <a:ext cx="1618488"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plan_sram (USMP)</a:t>
            </a:r>
            <a:endParaRPr lang="en-US" sz="950" dirty="0"/>
          </a:p>
        </p:txBody>
      </p:sp>
      <p:sp>
        <p:nvSpPr>
          <p:cNvPr id="23" name="Text 21"/>
          <p:cNvSpPr txBox="1"/>
          <p:nvPr/>
        </p:nvSpPr>
        <p:spPr>
          <a:xfrm>
            <a:off x="8138160" y="1671447"/>
            <a:ext cx="1618488" cy="53225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lifetime 충돌 → greedy 배치</a:t>
            </a:r>
            <a:endParaRPr lang="en-US" sz="750" dirty="0"/>
          </a:p>
          <a:p>
            <a:pPr algn="ctr" indent="0" marL="0">
              <a:buNone/>
            </a:pPr>
            <a:r>
              <a:rPr lang="en-US" sz="750" dirty="0">
                <a:solidFill>
                  <a:srgbClr val="5B6B7F"/>
                </a:solidFill>
                <a:latin typeface="Malgun Gothic" pitchFamily="34" charset="0"/>
                <a:ea typeface="Malgun Gothic" pitchFamily="34" charset="-122"/>
                <a:cs typeface="Malgun Gothic" pitchFamily="34" charset="-120"/>
              </a:rPr>
              <a:t>top ≤ 8 MiB?</a:t>
            </a:r>
            <a:endParaRPr lang="en-US" sz="750" dirty="0"/>
          </a:p>
        </p:txBody>
      </p:sp>
      <p:sp>
        <p:nvSpPr>
          <p:cNvPr id="24" name="Shape 22"/>
          <p:cNvSpPr/>
          <p:nvPr/>
        </p:nvSpPr>
        <p:spPr>
          <a:xfrm>
            <a:off x="9838944" y="1828800"/>
            <a:ext cx="118872" cy="914"/>
          </a:xfrm>
          <a:prstGeom prst="line">
            <a:avLst/>
          </a:prstGeom>
          <a:noFill/>
          <a:ln w="15240">
            <a:solidFill>
              <a:srgbClr val="5B6B7F"/>
            </a:solidFill>
            <a:prstDash val="solid"/>
            <a:tailEnd type="triangle"/>
          </a:ln>
        </p:spPr>
      </p:sp>
      <p:sp>
        <p:nvSpPr>
          <p:cNvPr id="25" name="Shape 23"/>
          <p:cNvSpPr/>
          <p:nvPr/>
        </p:nvSpPr>
        <p:spPr>
          <a:xfrm>
            <a:off x="9966960" y="1417320"/>
            <a:ext cx="1764792" cy="822960"/>
          </a:xfrm>
          <a:prstGeom prst="roundRect">
            <a:avLst>
              <a:gd name="adj" fmla="val 6667"/>
            </a:avLst>
          </a:prstGeom>
          <a:solidFill>
            <a:srgbClr val="ECE6FA"/>
          </a:solidFill>
          <a:ln w="12700">
            <a:solidFill>
              <a:srgbClr val="6C4FBF"/>
            </a:solidFill>
            <a:prstDash val="solid"/>
          </a:ln>
        </p:spPr>
      </p:sp>
      <p:sp>
        <p:nvSpPr>
          <p:cNvPr id="26" name="Text 24"/>
          <p:cNvSpPr txBox="1"/>
          <p:nvPr/>
        </p:nvSpPr>
        <p:spPr>
          <a:xfrm>
            <a:off x="10040112" y="1490472"/>
            <a:ext cx="1618488"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probe codegen</a:t>
            </a:r>
            <a:endParaRPr lang="en-US" sz="950" dirty="0"/>
          </a:p>
        </p:txBody>
      </p:sp>
      <p:sp>
        <p:nvSpPr>
          <p:cNvPr id="27" name="Text 25"/>
          <p:cNvSpPr txBox="1"/>
          <p:nvPr/>
        </p:nvSpPr>
        <p:spPr>
          <a:xfrm>
            <a:off x="10040112" y="1671447"/>
            <a:ext cx="1618488" cy="53225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walker emission + peephole</a:t>
            </a:r>
            <a:endParaRPr lang="en-US" sz="750" dirty="0"/>
          </a:p>
          <a:p>
            <a:pPr algn="ctr" indent="0" marL="0">
              <a:buNone/>
            </a:pPr>
            <a:r>
              <a:rPr lang="en-US" sz="750" dirty="0">
                <a:solidFill>
                  <a:srgbClr val="5B6B7F"/>
                </a:solidFill>
                <a:latin typeface="Malgun Gothic" pitchFamily="34" charset="0"/>
                <a:ea typeface="Malgun Gothic" pitchFamily="34" charset="-122"/>
                <a:cs typeface="Malgun Gothic" pitchFamily="34" charset="-120"/>
              </a:rPr>
              <a:t>→ (dma, words, sram)</a:t>
            </a:r>
            <a:endParaRPr lang="en-US" sz="750" dirty="0"/>
          </a:p>
        </p:txBody>
      </p:sp>
      <p:sp>
        <p:nvSpPr>
          <p:cNvPr id="28" name="Shape 26"/>
          <p:cNvSpPr/>
          <p:nvPr/>
        </p:nvSpPr>
        <p:spPr>
          <a:xfrm>
            <a:off x="10849356" y="2240280"/>
            <a:ext cx="914" cy="137160"/>
          </a:xfrm>
          <a:prstGeom prst="line">
            <a:avLst/>
          </a:prstGeom>
          <a:noFill/>
          <a:ln w="15240">
            <a:solidFill>
              <a:srgbClr val="B7791F"/>
            </a:solidFill>
            <a:prstDash val="dash"/>
          </a:ln>
        </p:spPr>
      </p:sp>
      <p:sp>
        <p:nvSpPr>
          <p:cNvPr id="29" name="Shape 27"/>
          <p:cNvSpPr/>
          <p:nvPr/>
        </p:nvSpPr>
        <p:spPr>
          <a:xfrm flipH="1">
            <a:off x="5143500" y="2377440"/>
            <a:ext cx="5705856" cy="914"/>
          </a:xfrm>
          <a:prstGeom prst="line">
            <a:avLst/>
          </a:prstGeom>
          <a:noFill/>
          <a:ln w="15240">
            <a:solidFill>
              <a:srgbClr val="B7791F"/>
            </a:solidFill>
            <a:prstDash val="dash"/>
          </a:ln>
        </p:spPr>
      </p:sp>
      <p:sp>
        <p:nvSpPr>
          <p:cNvPr id="30" name="Shape 28"/>
          <p:cNvSpPr/>
          <p:nvPr/>
        </p:nvSpPr>
        <p:spPr>
          <a:xfrm flipV="1">
            <a:off x="5143500" y="2258568"/>
            <a:ext cx="914" cy="118872"/>
          </a:xfrm>
          <a:prstGeom prst="line">
            <a:avLst/>
          </a:prstGeom>
          <a:noFill/>
          <a:ln w="15240">
            <a:solidFill>
              <a:srgbClr val="B7791F"/>
            </a:solidFill>
            <a:prstDash val="dash"/>
            <a:tailEnd type="triangle"/>
          </a:ln>
        </p:spPr>
      </p:sp>
      <p:sp>
        <p:nvSpPr>
          <p:cNvPr id="31" name="Text 29"/>
          <p:cNvSpPr txBox="1"/>
          <p:nvPr/>
        </p:nvSpPr>
        <p:spPr>
          <a:xfrm>
            <a:off x="5234940" y="2386584"/>
            <a:ext cx="5486400" cy="182880"/>
          </a:xfrm>
          <a:prstGeom prst="rect">
            <a:avLst/>
          </a:prstGeom>
          <a:noFill/>
          <a:ln/>
        </p:spPr>
        <p:txBody>
          <a:bodyPr wrap="square" lIns="0" tIns="0" rIns="0" bIns="0" rtlCol="0" anchor="t"/>
          <a:lstStyle/>
          <a:p>
            <a:pPr algn="l" indent="0" marL="0">
              <a:buNone/>
            </a:pPr>
            <a:r>
              <a:rPr lang="en-US" sz="750" b="1" dirty="0">
                <a:solidFill>
                  <a:srgbClr val="B7791F"/>
                </a:solidFill>
                <a:latin typeface="Malgun Gothic" pitchFamily="34" charset="0"/>
                <a:ea typeface="Malgun Gothic" pitchFamily="34" charset="-122"/>
                <a:cs typeface="Malgun Gothic" pitchFamily="34" charset="-120"/>
              </a:rPr>
              <a:t>다음 후보: space는 정렬 순서대로, meta_schedule은 sample_categorical 추첨 (중복 추첨은 시도만 소비)</a:t>
            </a:r>
            <a:endParaRPr lang="en-US" sz="750" dirty="0"/>
          </a:p>
        </p:txBody>
      </p:sp>
      <p:sp>
        <p:nvSpPr>
          <p:cNvPr id="32" name="Text 30"/>
          <p:cNvSpPr txBox="1"/>
          <p:nvPr/>
        </p:nvSpPr>
        <p:spPr>
          <a:xfrm>
            <a:off x="457200" y="2606040"/>
            <a:ext cx="11274552" cy="201168"/>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종료 사유 (diagnostics.stop_reason) — 먼저 오는 조건에서 멈춤</a:t>
            </a:r>
            <a:endParaRPr lang="en-US" sz="950" dirty="0"/>
          </a:p>
        </p:txBody>
      </p:sp>
      <p:sp>
        <p:nvSpPr>
          <p:cNvPr id="33" name="Shape 31"/>
          <p:cNvSpPr/>
          <p:nvPr/>
        </p:nvSpPr>
        <p:spPr>
          <a:xfrm>
            <a:off x="457200" y="2816352"/>
            <a:ext cx="2254910" cy="457200"/>
          </a:xfrm>
          <a:prstGeom prst="rect">
            <a:avLst/>
          </a:prstGeom>
          <a:solidFill>
            <a:srgbClr val="EEF1F5"/>
          </a:solidFill>
          <a:ln w="6350">
            <a:solidFill>
              <a:srgbClr val="5B6B7F"/>
            </a:solidFill>
            <a:prstDash val="solid"/>
          </a:ln>
        </p:spPr>
      </p:sp>
      <p:sp>
        <p:nvSpPr>
          <p:cNvPr id="34" name="Text 32"/>
          <p:cNvSpPr txBox="1"/>
          <p:nvPr/>
        </p:nvSpPr>
        <p:spPr>
          <a:xfrm>
            <a:off x="457200" y="2816352"/>
            <a:ext cx="2254910" cy="457200"/>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database_hit</a:t>
            </a:r>
            <a:endParaRPr lang="en-US" sz="750" dirty="0"/>
          </a:p>
          <a:p>
            <a:pPr algn="ctr" indent="0" marL="0">
              <a:buNone/>
            </a:pPr>
            <a:r>
              <a:rPr lang="en-US" sz="750" dirty="0">
                <a:solidFill>
                  <a:srgbClr val="1F2D3D"/>
                </a:solidFill>
                <a:latin typeface="Malgun Gothic" pitchFamily="34" charset="0"/>
                <a:ea typeface="Malgun Gothic" pitchFamily="34" charset="-122"/>
                <a:cs typeface="Malgun Gothic" pitchFamily="34" charset="-120"/>
              </a:rPr>
              <a:t>reuse 모드 DB 적중 → 새 후보 0회</a:t>
            </a:r>
            <a:endParaRPr lang="en-US" sz="750" dirty="0"/>
          </a:p>
        </p:txBody>
      </p:sp>
      <p:sp>
        <p:nvSpPr>
          <p:cNvPr id="35" name="Shape 33"/>
          <p:cNvSpPr/>
          <p:nvPr/>
        </p:nvSpPr>
        <p:spPr>
          <a:xfrm>
            <a:off x="2712110" y="2816352"/>
            <a:ext cx="2254910" cy="457200"/>
          </a:xfrm>
          <a:prstGeom prst="rect">
            <a:avLst/>
          </a:prstGeom>
          <a:solidFill>
            <a:srgbClr val="E5F3E7"/>
          </a:solidFill>
          <a:ln w="6350">
            <a:solidFill>
              <a:srgbClr val="2E7D32"/>
            </a:solidFill>
            <a:prstDash val="solid"/>
          </a:ln>
        </p:spPr>
      </p:sp>
      <p:sp>
        <p:nvSpPr>
          <p:cNvPr id="36" name="Text 34"/>
          <p:cNvSpPr txBox="1"/>
          <p:nvPr/>
        </p:nvSpPr>
        <p:spPr>
          <a:xfrm>
            <a:off x="2712110" y="2816352"/>
            <a:ext cx="2254910" cy="457200"/>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legal_budget</a:t>
            </a:r>
            <a:endParaRPr lang="en-US" sz="750" dirty="0"/>
          </a:p>
          <a:p>
            <a:pPr algn="ctr" indent="0" marL="0">
              <a:buNone/>
            </a:pPr>
            <a:r>
              <a:rPr lang="en-US" sz="750" dirty="0">
                <a:solidFill>
                  <a:srgbClr val="1F2D3D"/>
                </a:solidFill>
                <a:latin typeface="Malgun Gothic" pitchFamily="34" charset="0"/>
                <a:ea typeface="Malgun Gothic" pitchFamily="34" charset="-122"/>
                <a:cs typeface="Malgun Gothic" pitchFamily="34" charset="-120"/>
              </a:rPr>
              <a:t>legal ≥ 8 (schedule_space_trials)</a:t>
            </a:r>
            <a:endParaRPr lang="en-US" sz="750" dirty="0"/>
          </a:p>
        </p:txBody>
      </p:sp>
      <p:sp>
        <p:nvSpPr>
          <p:cNvPr id="37" name="Shape 35"/>
          <p:cNvSpPr/>
          <p:nvPr/>
        </p:nvSpPr>
        <p:spPr>
          <a:xfrm>
            <a:off x="4967021" y="2816352"/>
            <a:ext cx="2254910" cy="457200"/>
          </a:xfrm>
          <a:prstGeom prst="rect">
            <a:avLst/>
          </a:prstGeom>
          <a:solidFill>
            <a:srgbClr val="FFF6DB"/>
          </a:solidFill>
          <a:ln w="6350">
            <a:solidFill>
              <a:srgbClr val="B7791F"/>
            </a:solidFill>
            <a:prstDash val="solid"/>
          </a:ln>
        </p:spPr>
      </p:sp>
      <p:sp>
        <p:nvSpPr>
          <p:cNvPr id="38" name="Text 36"/>
          <p:cNvSpPr txBox="1"/>
          <p:nvPr/>
        </p:nvSpPr>
        <p:spPr>
          <a:xfrm>
            <a:off x="4967021" y="2816352"/>
            <a:ext cx="2254910" cy="457200"/>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word_budget</a:t>
            </a:r>
            <a:endParaRPr lang="en-US" sz="750" dirty="0"/>
          </a:p>
          <a:p>
            <a:pPr algn="ctr" indent="0" marL="0">
              <a:buNone/>
            </a:pPr>
            <a:r>
              <a:rPr lang="en-US" sz="750" dirty="0">
                <a:solidFill>
                  <a:srgbClr val="1F2D3D"/>
                </a:solidFill>
                <a:latin typeface="Malgun Gothic" pitchFamily="34" charset="0"/>
                <a:ea typeface="Malgun Gothic" pitchFamily="34" charset="-122"/>
                <a:cs typeface="Malgun Gothic" pitchFamily="34" charset="-120"/>
              </a:rPr>
              <a:t>legal ≥ 2 ∧ Σwords ≥ max(100k, 기준 words×8)</a:t>
            </a:r>
            <a:endParaRPr lang="en-US" sz="750" dirty="0"/>
          </a:p>
        </p:txBody>
      </p:sp>
      <p:sp>
        <p:nvSpPr>
          <p:cNvPr id="39" name="Shape 37"/>
          <p:cNvSpPr/>
          <p:nvPr/>
        </p:nvSpPr>
        <p:spPr>
          <a:xfrm>
            <a:off x="7221931" y="2816352"/>
            <a:ext cx="2254910" cy="457200"/>
          </a:xfrm>
          <a:prstGeom prst="rect">
            <a:avLst/>
          </a:prstGeom>
          <a:solidFill>
            <a:srgbClr val="FBE9E7"/>
          </a:solidFill>
          <a:ln w="6350">
            <a:solidFill>
              <a:srgbClr val="C0392B"/>
            </a:solidFill>
            <a:prstDash val="solid"/>
          </a:ln>
        </p:spPr>
      </p:sp>
      <p:sp>
        <p:nvSpPr>
          <p:cNvPr id="40" name="Text 38"/>
          <p:cNvSpPr txBox="1"/>
          <p:nvPr/>
        </p:nvSpPr>
        <p:spPr>
          <a:xfrm>
            <a:off x="7221931" y="2816352"/>
            <a:ext cx="2254910" cy="457200"/>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attempt_budget</a:t>
            </a:r>
            <a:endParaRPr lang="en-US" sz="750" dirty="0"/>
          </a:p>
          <a:p>
            <a:pPr algn="ctr" indent="0" marL="0">
              <a:buNone/>
            </a:pPr>
            <a:r>
              <a:rPr lang="en-US" sz="750" dirty="0">
                <a:solidFill>
                  <a:srgbClr val="1F2D3D"/>
                </a:solidFill>
                <a:latin typeface="Malgun Gothic" pitchFamily="34" charset="0"/>
                <a:ea typeface="Malgun Gothic" pitchFamily="34" charset="-122"/>
                <a:cs typeface="Malgun Gothic" pitchFamily="34" charset="-120"/>
              </a:rPr>
              <a:t>검사 수 ≥ 64 (실패·용량 초과 포함)</a:t>
            </a:r>
            <a:endParaRPr lang="en-US" sz="750" dirty="0"/>
          </a:p>
        </p:txBody>
      </p:sp>
      <p:sp>
        <p:nvSpPr>
          <p:cNvPr id="41" name="Shape 39"/>
          <p:cNvSpPr/>
          <p:nvPr/>
        </p:nvSpPr>
        <p:spPr>
          <a:xfrm>
            <a:off x="9476842" y="2816352"/>
            <a:ext cx="2254910" cy="457200"/>
          </a:xfrm>
          <a:prstGeom prst="rect">
            <a:avLst/>
          </a:prstGeom>
          <a:solidFill>
            <a:srgbClr val="EEF2F6"/>
          </a:solidFill>
          <a:ln w="6350">
            <a:solidFill>
              <a:srgbClr val="C9D3DF"/>
            </a:solidFill>
            <a:prstDash val="solid"/>
          </a:ln>
        </p:spPr>
      </p:sp>
      <p:sp>
        <p:nvSpPr>
          <p:cNvPr id="42" name="Text 40"/>
          <p:cNvSpPr txBox="1"/>
          <p:nvPr/>
        </p:nvSpPr>
        <p:spPr>
          <a:xfrm>
            <a:off x="9476842" y="2816352"/>
            <a:ext cx="2254910" cy="457200"/>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exhausted</a:t>
            </a:r>
            <a:endParaRPr lang="en-US" sz="750" dirty="0"/>
          </a:p>
          <a:p>
            <a:pPr algn="ctr" indent="0" marL="0">
              <a:buNone/>
            </a:pPr>
            <a:r>
              <a:rPr lang="en-US" sz="750" dirty="0">
                <a:solidFill>
                  <a:srgbClr val="1F2D3D"/>
                </a:solidFill>
                <a:latin typeface="Malgun Gothic" pitchFamily="34" charset="0"/>
                <a:ea typeface="Malgun Gothic" pitchFamily="34" charset="-122"/>
                <a:cs typeface="Malgun Gothic" pitchFamily="34" charset="-120"/>
              </a:rPr>
              <a:t>후보 목록 끝 (attempts=None이면 여기까지)</a:t>
            </a:r>
            <a:endParaRPr lang="en-US" sz="7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3429000"/>
          <a:ext cx="5577840" cy="914400"/>
        </p:xfrm>
        <a:graphic>
          <a:graphicData uri="http://schemas.openxmlformats.org/drawingml/2006/table">
            <a:tbl>
              <a:tblPr/>
              <a:tblGrid>
                <a:gridCol w="1325880"/>
                <a:gridCol w="2514600"/>
                <a:gridCol w="1737360"/>
              </a:tblGrid>
              <a:tr h="365760">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후보 상태</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원인</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예</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6576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schedule_rejected</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Schedule API 실패, lower_stores 규칙 위반, ReplayFunc 중복 추첨</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FP32 buffer의 비정형 store · "duplicate sample"</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capacity_rejected</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USMP top &gt; SRAM 용량 (보관 예약 제외한 cap)</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큰 panel 조합</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codegen_rejected</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walker가 MAC chain 중단 감지 (LinkError)</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"FP32 matrix chain interrupted"</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legal → selected</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명령 생성 성공 → (dma, words, sram) 사전식 최소</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incumbent보다 작을 때만 교체</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6263640" y="3429000"/>
          <a:ext cx="5468112" cy="914400"/>
        </p:xfrm>
        <a:graphic>
          <a:graphicData uri="http://schemas.openxmlformats.org/drawingml/2006/table">
            <a:tbl>
              <a:tblPr/>
              <a:tblGrid>
                <a:gridCol w="1783080"/>
                <a:gridCol w="685800"/>
                <a:gridCol w="2999232"/>
              </a:tblGrid>
              <a:tr h="274320">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예산 (NpuProfile 기본값)</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값</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뜻</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schedule_search</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"space"</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"meta_schedule"=ReplayFunc 추첨 · "legacy"=기준만</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schedule_max_attempts</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64</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실패·용량 초과 포함. incumbent/확장 각각. None=무제한</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schedule_space_trials</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확장 탐색의 legal 목표 (E10 실행기 16)</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schedule_candidates</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2</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legacy incumbent 탐색의 legal 목표</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schedule_probe_word_budget</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100,000</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max(설정, 기준 words×legal 목표), 후보 완료 후 검사</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schedule_seed</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0</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ReplayFunc 추첨 seed (rand_state)</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45" name="Text 41"/>
          <p:cNvSpPr txBox="1"/>
          <p:nvPr/>
        </p:nvSpPr>
        <p:spPr>
          <a:xfrm>
            <a:off x="457200" y="5468112"/>
            <a:ext cx="11274552" cy="384048"/>
          </a:xfrm>
          <a:prstGeom prst="rect">
            <a:avLst/>
          </a:prstGeom>
          <a:noFill/>
          <a:ln/>
        </p:spPr>
        <p:txBody>
          <a:bodyPr wrap="square" lIns="0" tIns="0" rIns="0" bIns="0" rtlCol="0" anchor="t"/>
          <a:lstStyle/>
          <a:p>
            <a:pPr algn="l" indent="0" marL="0">
              <a:buNone/>
            </a:pPr>
            <a:r>
              <a:rPr lang="en-US" sz="850" b="1" dirty="0">
                <a:solidFill>
                  <a:srgbClr val="B7791F"/>
                </a:solidFill>
                <a:latin typeface="Malgun Gothic" pitchFamily="34" charset="0"/>
                <a:ea typeface="Malgun Gothic" pitchFamily="34" charset="-122"/>
                <a:cs typeface="Malgun Gothic" pitchFamily="34" charset="-120"/>
              </a:rPr>
              <a:t>"예산 내 합법 후보 없음"(attempt budget exhausted … within budget)과 "원리상 불가능"(no legal matmul schedule fits)은 다른 메시지입니다. </a:t>
            </a:r>
            <a:pPr algn="l" indent="0" marL="0">
              <a:buNone/>
            </a:pPr>
            <a:r>
              <a:rPr lang="en-US" sz="850" dirty="0">
                <a:solidFill>
                  <a:srgbClr val="5B6B7F"/>
                </a:solidFill>
                <a:latin typeface="Malgun Gothic" pitchFamily="34" charset="0"/>
                <a:ea typeface="Malgun Gothic" pitchFamily="34" charset="-122"/>
                <a:cs typeface="Malgun Gothic" pitchFamily="34" charset="-120"/>
              </a:rPr>
              <a:t>trial cache는 mapping 키로 결과(실패 포함)를 재사용하고 용량은 키 밖이라 다른 보관 예약에서도 재사용됩니다.</a:t>
            </a:r>
            <a:endParaRPr lang="en-US" sz="850" dirty="0"/>
          </a:p>
        </p:txBody>
      </p:sp>
      <p:sp>
        <p:nvSpPr>
          <p:cNvPr id="46" name="Shape 42"/>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47" name="Text 43"/>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추정 DMA와 추첨은 검사 순서만 정합니다. 합법성과 비용은 실제 scheduled TIR, buffer compaction, SRAM 배치, 명령 생성으로 확인합니다.</a:t>
            </a:r>
            <a:endParaRPr lang="en-US" sz="1250" dirty="0"/>
          </a:p>
        </p:txBody>
      </p:sp>
      <p:sp>
        <p:nvSpPr>
          <p:cNvPr id="48" name="Text 44"/>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49" name="Text 45"/>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npu_compiler/npu_schedule.py (_fit_matmul, _measure_trial, _probe_accumulator_chain), npu_schedule_space.prioritize, device.NpuProfile</a:t>
            </a:r>
            <a:endParaRPr lang="en-US" sz="850" dirty="0"/>
          </a:p>
        </p:txBody>
      </p:sp>
      <p:sp>
        <p:nvSpPr>
          <p:cNvPr id="50" name="Text 46"/>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34 / 89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6 · Matmul scheduling</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표준 Schedule API가 실제로 바꾸는 것과 그 자체로 하지 않는 일</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tir.Schedule은 TIR를 받아 block/loop 변환을 적용합니다. 변환 뒤 loop 구조가 달라지므로 이전 handle을 그대로 쓰지 않습니다.</a:t>
            </a:r>
            <a:endParaRPr lang="en-US" sz="12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6675120" cy="914400"/>
        </p:xfrm>
        <a:graphic>
          <a:graphicData uri="http://schemas.openxmlformats.org/drawingml/2006/table">
            <a:tbl>
              <a:tblPr/>
              <a:tblGrid>
                <a:gridCol w="1463040"/>
                <a:gridCol w="3017520"/>
                <a:gridCol w="2194560"/>
              </a:tblGrid>
              <a:tr h="329184">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API</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실제 변화</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그 자체로 하지 않는 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split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loop 하나를 바깥/안쪽 loop로 분할 (predicate 포함)</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SRAM 복사 생성</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reorder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의존성이 허용하는 loop 순서 변경</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DMA 비용 자동 최소화</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cache_read</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입력을 새 cache buffer에 복사하는 stage 생성</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복사의 적절한 반복 위치 결정</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compute_at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생산 block을 소비 loop의 특정 위치 안으로 이동</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ISA 명령으로 남기기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reverse_compute_at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소비 block을 생산 loop 위치로 이동</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무조건 in-place 실행</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cache_write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출력 계산이 cache를 쓰고 원래 출력으로 복사</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최종 출력 ABI 제거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set_scope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기존 buffer의 storage scope 변경</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별개 복사 stage 추가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pad_einsum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einsum 축을 tile 배수로 확장 (ragged shape)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결과 의미 변경 (zero padding 증명 유지)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decompose_reduction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init과 update 분리 → 어느 loop에서 누산 시작인지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수치 순서 변경</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tensorize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일치하는 조각을 등록한 intrinsic으로 치환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임의 수식의 자동 ISA 구현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7360920" y="1371600"/>
            <a:ext cx="438912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schedule_matmul_sram의 실제 호출 순서</a:t>
            </a:r>
            <a:endParaRPr lang="en-US" sz="1100" dirty="0"/>
          </a:p>
        </p:txBody>
      </p:sp>
      <p:sp>
        <p:nvSpPr>
          <p:cNvPr id="7" name="Text 4"/>
          <p:cNvSpPr txBox="1"/>
          <p:nvPr/>
        </p:nvSpPr>
        <p:spPr>
          <a:xfrm>
            <a:off x="7360920" y="1691640"/>
            <a:ext cx="4370832" cy="4114800"/>
          </a:xfrm>
          <a:prstGeom prst="rect">
            <a:avLst/>
          </a:prstGeom>
          <a:noFill/>
          <a:ln/>
        </p:spPr>
        <p:txBody>
          <a:bodyPr wrap="square" lIns="0" tIns="0" rIns="0" bIns="0" rtlCol="0" anchor="t"/>
          <a:lstStyle/>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계약 검사: A/B FP16, C FP32, 소비자는 FP16 cast 하나, epilogue는 shape/FP16 유지</a:t>
            </a:r>
            <a:endParaRPr lang="en-US" sz="900" dirty="0"/>
          </a:p>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pad 등 다른 producer: cache_read + set_scope(SRAM); ragged면 pad_einsum</a:t>
            </a:r>
            <a:endParaRPr lang="en-US" sz="900" dirty="0"/>
          </a:p>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split(i,[None,m_panel]) → split(·,[None,64]); j, k 동일 → reorder(loop_spec 순서, ii, ji, ki)</a:t>
            </a:r>
            <a:endParaRPr lang="en-US" sz="900" dirty="0"/>
          </a:p>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cache_write(C, SRAM) → set_scope → reverse_compute_at(enclosing tile loop); unpad·FP16 store도 reverse_compute_at</a:t>
            </a:r>
            <a:endParaRPr lang="en-US" sz="900" dirty="0"/>
          </a:p>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fused epilogue(add/SiLU): reverse_compute_at + set_scope/cache_write; 입력은 cache_read + compute_at</a:t>
            </a:r>
            <a:endParaRPr lang="en-US" sz="900" dirty="0"/>
          </a:p>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compute_inline(unpad, write_back)</a:t>
            </a:r>
            <a:endParaRPr lang="en-US" sz="900" dirty="0"/>
          </a:p>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operand 0/1: cache_read → compute_at(a_at / b_at). SRAM resident면 생략</a:t>
            </a:r>
            <a:endParaRPr lang="en-US" sz="900" dirty="0"/>
          </a:p>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decompose_reduction(block, k_group) → init block</a:t>
            </a:r>
            <a:endParaRPr lang="en-US" sz="900" dirty="0"/>
          </a:p>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tensorize(k_tile loop, "npu_gemm_acc_sram"); tensorize(init, "npu_fill_zero_sram")</a:t>
            </a:r>
            <a:endParaRPr lang="en-US" sz="900" dirty="0"/>
          </a:p>
          <a:p>
            <a:pPr algn="l" marL="152400" indent="-152400">
              <a:spcAft>
                <a:spcPts val="3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후처리: LowerInitBlock → PlanAndUpdateBufferAllocationLocation → ConvertBlocksToOpaque → CompactBufferAllocation → lower_stores → forward_output_tiles → pointwise coalescing</a:t>
            </a:r>
            <a:endParaRPr lang="en-US" sz="900" dirty="0"/>
          </a:p>
        </p:txBody>
      </p:sp>
      <p:sp>
        <p:nvSpPr>
          <p:cNvPr id="8" name="Shape 5"/>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9" name="Text 6"/>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compute_at 등은 IR을 바꾸는 명령이라 결과 TIR에 그 이름이 남지 않습니다. 대신 loop 안으로 이동한 block과 좁아진 buffer를 볼 수 있습니다.</a:t>
            </a:r>
            <a:endParaRPr lang="en-US" sz="1250" dirty="0"/>
          </a:p>
        </p:txBody>
      </p:sp>
      <p:sp>
        <p:nvSpPr>
          <p:cNvPr id="10" name="Text 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1" name="Text 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docs/current/06_matmul_schedule.md, reference/tvm_api.md, npu_compiler/npu_intrin.py schedule_matmul_sram</a:t>
            </a:r>
            <a:endParaRPr lang="en-US" sz="850" dirty="0"/>
          </a:p>
        </p:txBody>
      </p:sp>
      <p:sp>
        <p:nvSpPr>
          <p:cNvPr id="12" name="Text 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35 / 89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6 · Matmul scheduling</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compute_at을 작은 예제로 보기: 필요한 생산을 사용 위치로 옮긴다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B = A + 1, C = B × 2 (4×4 FP32 CPU 교육 예제, NPU tile이 2라는 뜻은 아님). C의 행 loop를 2행씩 나눈 뒤 B를 그 안으로 옮깁니다.</a:t>
            </a:r>
            <a:endParaRPr lang="en-US" sz="1250" dirty="0"/>
          </a:p>
        </p:txBody>
      </p:sp>
      <p:sp>
        <p:nvSpPr>
          <p:cNvPr id="5" name="Text 3"/>
          <p:cNvSpPr txBox="1"/>
          <p:nvPr/>
        </p:nvSpPr>
        <p:spPr>
          <a:xfrm>
            <a:off x="457200" y="1371600"/>
            <a:ext cx="36576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변환 전 (01_before)</a:t>
            </a:r>
            <a:endParaRPr lang="en-US" sz="1100" dirty="0"/>
          </a:p>
        </p:txBody>
      </p:sp>
      <p:sp>
        <p:nvSpPr>
          <p:cNvPr id="6" name="Shape 4"/>
          <p:cNvSpPr/>
          <p:nvPr/>
        </p:nvSpPr>
        <p:spPr>
          <a:xfrm>
            <a:off x="457200" y="1645920"/>
            <a:ext cx="3566160" cy="2651760"/>
          </a:xfrm>
          <a:prstGeom prst="roundRect">
            <a:avLst>
              <a:gd name="adj" fmla="val 1724"/>
            </a:avLst>
          </a:prstGeom>
          <a:solidFill>
            <a:srgbClr val="F5F7FA"/>
          </a:solidFill>
          <a:ln w="9525">
            <a:solidFill>
              <a:srgbClr val="C9D3DF"/>
            </a:solidFill>
            <a:prstDash val="solid"/>
          </a:ln>
        </p:spPr>
      </p:sp>
      <p:sp>
        <p:nvSpPr>
          <p:cNvPr id="7" name="Text 5"/>
          <p:cNvSpPr txBox="1"/>
          <p:nvPr/>
        </p:nvSpPr>
        <p:spPr>
          <a:xfrm>
            <a:off x="566928" y="1719072"/>
            <a:ext cx="3346704" cy="250545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B = T.alloc_buffer((4, 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for i, j in T.grid(4, 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T.block("B"):</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B[i, j] = A[i, j] + 1.0</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for i, j in T.grid(4, 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T.block("C"):</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C[i, j] = B[i, j] * 2.0</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B 전체(4×4) 생성 후</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 전체 생성 → B 수명 김</a:t>
            </a:r>
            <a:endParaRPr lang="en-US" sz="850" dirty="0"/>
          </a:p>
        </p:txBody>
      </p:sp>
      <p:sp>
        <p:nvSpPr>
          <p:cNvPr id="8" name="Text 6"/>
          <p:cNvSpPr txBox="1"/>
          <p:nvPr/>
        </p:nvSpPr>
        <p:spPr>
          <a:xfrm>
            <a:off x="4297680" y="1371600"/>
            <a:ext cx="36576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compute_at 뒤 (02)</a:t>
            </a:r>
            <a:endParaRPr lang="en-US" sz="1100" dirty="0"/>
          </a:p>
        </p:txBody>
      </p:sp>
      <p:sp>
        <p:nvSpPr>
          <p:cNvPr id="9" name="Shape 7"/>
          <p:cNvSpPr/>
          <p:nvPr/>
        </p:nvSpPr>
        <p:spPr>
          <a:xfrm>
            <a:off x="4297680" y="1645920"/>
            <a:ext cx="3566160" cy="2651760"/>
          </a:xfrm>
          <a:prstGeom prst="roundRect">
            <a:avLst>
              <a:gd name="adj" fmla="val 1724"/>
            </a:avLst>
          </a:prstGeom>
          <a:solidFill>
            <a:srgbClr val="F5F7FA"/>
          </a:solidFill>
          <a:ln w="9525">
            <a:solidFill>
              <a:srgbClr val="C9D3DF"/>
            </a:solidFill>
            <a:prstDash val="solid"/>
          </a:ln>
        </p:spPr>
      </p:sp>
      <p:sp>
        <p:nvSpPr>
          <p:cNvPr id="10" name="Text 8"/>
          <p:cNvSpPr txBox="1"/>
          <p:nvPr/>
        </p:nvSpPr>
        <p:spPr>
          <a:xfrm>
            <a:off x="4407408" y="1719072"/>
            <a:ext cx="3346704" cy="250545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for i_0 in range(2):        # 2행 묶음</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for ax0, ax1 in T.grid(2, 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T.block("B"):</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v_i = i_0*2 + ax0</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B[v_i, ax1] = A[v_i, ax1] + 1.0</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for i_1, j in T.grid(2, 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T.block("C"):</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v_i = i_0*2 + i_1</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C[v_i, j] = B[v_i, j] * 2.0</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묶음마다 필요한 B 2행만 생성</a:t>
            </a:r>
            <a:endParaRPr lang="en-US" sz="850" dirty="0"/>
          </a:p>
        </p:txBody>
      </p:sp>
      <p:sp>
        <p:nvSpPr>
          <p:cNvPr id="11" name="Text 9"/>
          <p:cNvSpPr txBox="1"/>
          <p:nvPr/>
        </p:nvSpPr>
        <p:spPr>
          <a:xfrm>
            <a:off x="8138160" y="1371600"/>
            <a:ext cx="36576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reverse_compute_at 뒤 (03)</a:t>
            </a:r>
            <a:endParaRPr lang="en-US" sz="1100" dirty="0"/>
          </a:p>
        </p:txBody>
      </p:sp>
      <p:sp>
        <p:nvSpPr>
          <p:cNvPr id="12" name="Shape 10"/>
          <p:cNvSpPr/>
          <p:nvPr/>
        </p:nvSpPr>
        <p:spPr>
          <a:xfrm>
            <a:off x="8138160" y="1645920"/>
            <a:ext cx="3593592" cy="2651760"/>
          </a:xfrm>
          <a:prstGeom prst="roundRect">
            <a:avLst>
              <a:gd name="adj" fmla="val 1724"/>
            </a:avLst>
          </a:prstGeom>
          <a:solidFill>
            <a:srgbClr val="F5F7FA"/>
          </a:solidFill>
          <a:ln w="9525">
            <a:solidFill>
              <a:srgbClr val="C9D3DF"/>
            </a:solidFill>
            <a:prstDash val="solid"/>
          </a:ln>
        </p:spPr>
      </p:sp>
      <p:sp>
        <p:nvSpPr>
          <p:cNvPr id="13" name="Text 11"/>
          <p:cNvSpPr txBox="1"/>
          <p:nvPr/>
        </p:nvSpPr>
        <p:spPr>
          <a:xfrm>
            <a:off x="8247888" y="1719072"/>
            <a:ext cx="3374136" cy="250545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for i_0 in range(2):</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for i_1, j in T.grid(2, 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T.block("B"):       # 생산자 기준</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B[i_0*2+i_1, j] = A[..] + 1.0</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for ax0, ax1 in T.grid(2, 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T.block("C"):       # 소비자를 끌어옴</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C[i_0*2+ax0, ax1] = B[..] * 2.0</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compute_at: 생산자를 소비 위치로</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reverse_compute_at: 소비자를 생산 위치로</a:t>
            </a:r>
            <a:endParaRPr lang="en-US" sz="850" dirty="0"/>
          </a:p>
        </p:txBody>
      </p:sp>
      <p:sp>
        <p:nvSpPr>
          <p:cNvPr id="14" name="Text 12"/>
          <p:cNvSpPr txBox="1"/>
          <p:nvPr/>
        </p:nvSpPr>
        <p:spPr>
          <a:xfrm>
            <a:off x="457200" y="448056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적용한 API trace (02_compute_at.trace.txt)</a:t>
            </a:r>
            <a:endParaRPr lang="en-US" sz="1100" dirty="0"/>
          </a:p>
        </p:txBody>
      </p:sp>
      <p:sp>
        <p:nvSpPr>
          <p:cNvPr id="15" name="Shape 13"/>
          <p:cNvSpPr/>
          <p:nvPr/>
        </p:nvSpPr>
        <p:spPr>
          <a:xfrm>
            <a:off x="457200" y="4754880"/>
            <a:ext cx="7406640" cy="1051560"/>
          </a:xfrm>
          <a:prstGeom prst="roundRect">
            <a:avLst>
              <a:gd name="adj" fmla="val 4348"/>
            </a:avLst>
          </a:prstGeom>
          <a:solidFill>
            <a:srgbClr val="F5F7FA"/>
          </a:solidFill>
          <a:ln w="9525">
            <a:solidFill>
              <a:srgbClr val="C9D3DF"/>
            </a:solidFill>
            <a:prstDash val="solid"/>
          </a:ln>
        </p:spPr>
      </p:sp>
      <p:sp>
        <p:nvSpPr>
          <p:cNvPr id="16" name="Text 14"/>
          <p:cNvSpPr txBox="1"/>
          <p:nvPr/>
        </p:nvSpPr>
        <p:spPr>
          <a:xfrm>
            <a:off x="566928" y="4828032"/>
            <a:ext cx="7187184" cy="90525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b0 = sch.get_block(name="C", func_name="main")</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l1, l2 = sch.get_loops(block=b0)</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l3, l4 = sch.split(loop=l1, factors=[None, 2], preserve_unit_iters=True, disable_predication=False)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b5 = sch.get_block(name="B", func_name="main")</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sch.compute_at(block=b5, loop=l3, preserve_unit_loops=False, index=-1)</a:t>
            </a:r>
            <a:endParaRPr lang="en-US" sz="850" dirty="0"/>
          </a:p>
        </p:txBody>
      </p:sp>
      <p:sp>
        <p:nvSpPr>
          <p:cNvPr id="17" name="Shape 15"/>
          <p:cNvSpPr/>
          <p:nvPr/>
        </p:nvSpPr>
        <p:spPr>
          <a:xfrm>
            <a:off x="8138160" y="4480560"/>
            <a:ext cx="3593592" cy="1325880"/>
          </a:xfrm>
          <a:prstGeom prst="roundRect">
            <a:avLst>
              <a:gd name="adj" fmla="val 4138"/>
            </a:avLst>
          </a:prstGeom>
          <a:solidFill>
            <a:srgbClr val="DDF3F0"/>
          </a:solidFill>
          <a:ln w="12700">
            <a:solidFill>
              <a:srgbClr val="1F8A8A"/>
            </a:solidFill>
            <a:prstDash val="solid"/>
          </a:ln>
        </p:spPr>
      </p:sp>
      <p:sp>
        <p:nvSpPr>
          <p:cNvPr id="18" name="Text 16"/>
          <p:cNvSpPr txBox="1"/>
          <p:nvPr/>
        </p:nvSpPr>
        <p:spPr>
          <a:xfrm>
            <a:off x="8266176" y="4535424"/>
            <a:ext cx="3337560" cy="121615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NPU에서의 쓰임: </a:t>
            </a:r>
            <a:pPr algn="l" indent="0" marL="0">
              <a:buNone/>
            </a:pPr>
            <a:r>
              <a:rPr lang="en-US" sz="1000" dirty="0">
                <a:solidFill>
                  <a:srgbClr val="1F2D3D"/>
                </a:solidFill>
                <a:latin typeface="Malgun Gothic" pitchFamily="34" charset="0"/>
                <a:ea typeface="Malgun Gothic" pitchFamily="34" charset="-122"/>
                <a:cs typeface="Malgun Gothic" pitchFamily="34" charset="-120"/>
              </a:rPr>
              <a:t>matmul 출력 tile 근처에 add/SiLU(epilogue)를 reverse_compute_at으로 배치하고, 입력 cache stage는 compute_at으로 a_at/b_at loop에 넣습니다.</a:t>
            </a:r>
            <a:endParaRPr lang="en-US" sz="1200" dirty="0"/>
          </a:p>
        </p:txBody>
      </p:sp>
      <p:sp>
        <p:nvSpPr>
          <p:cNvPr id="19" name="Text 1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20" name="Text 1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docs/examples/schedule_api/01_before.py, 02_compute_at.py, 02_compute_at.trace.txt, 03_reverse_compute_at.py</a:t>
            </a:r>
            <a:endParaRPr lang="en-US" sz="850" dirty="0"/>
          </a:p>
        </p:txBody>
      </p:sp>
      <p:sp>
        <p:nvSpPr>
          <p:cNvPr id="21" name="Text 1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36 / 89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6 · Matmul scheduling</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1850" b="1" dirty="0">
                <a:solidFill>
                  <a:srgbClr val="15243B"/>
                </a:solidFill>
                <a:latin typeface="Malgun Gothic" pitchFamily="34" charset="0"/>
                <a:ea typeface="Malgun Gothic" pitchFamily="34" charset="-122"/>
                <a:cs typeface="Malgun Gothic" pitchFamily="34" charset="-120"/>
              </a:rPr>
              <a:t>cache_read → compute_at → CompactBufferAllocation: 복사 buffer가 실제 접근 범위로 줄어든다</a:t>
            </a:r>
            <a:endParaRPr lang="en-US" sz="185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cache_read만 추가하면 입력 전체를 복사하는 buffer가 생깁니다. 복사 stage를 행 묶음 안에 넣으면 필요한 영역이 좁아지고, compaction이 allocation을 그 범위로 축소합니다.</a:t>
            </a:r>
            <a:endParaRPr lang="en-US" sz="1250" dirty="0"/>
          </a:p>
        </p:txBody>
      </p:sp>
      <p:sp>
        <p:nvSpPr>
          <p:cNvPr id="5" name="Text 3"/>
          <p:cNvSpPr txBox="1"/>
          <p:nvPr/>
        </p:nvSpPr>
        <p:spPr>
          <a:xfrm>
            <a:off x="457200" y="1371600"/>
            <a:ext cx="36576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① cache_read(C, 0, "global.sram")</a:t>
            </a:r>
            <a:endParaRPr lang="en-US" sz="1100" dirty="0"/>
          </a:p>
        </p:txBody>
      </p:sp>
      <p:sp>
        <p:nvSpPr>
          <p:cNvPr id="6" name="Shape 4"/>
          <p:cNvSpPr/>
          <p:nvPr/>
        </p:nvSpPr>
        <p:spPr>
          <a:xfrm>
            <a:off x="457200" y="1645920"/>
            <a:ext cx="3566160" cy="2148840"/>
          </a:xfrm>
          <a:prstGeom prst="roundRect">
            <a:avLst>
              <a:gd name="adj" fmla="val 2128"/>
            </a:avLst>
          </a:prstGeom>
          <a:solidFill>
            <a:srgbClr val="F5F7FA"/>
          </a:solidFill>
          <a:ln w="9525">
            <a:solidFill>
              <a:srgbClr val="C9D3DF"/>
            </a:solidFill>
            <a:prstDash val="solid"/>
          </a:ln>
        </p:spPr>
      </p:sp>
      <p:sp>
        <p:nvSpPr>
          <p:cNvPr id="7" name="Text 5"/>
          <p:cNvSpPr txBox="1"/>
          <p:nvPr/>
        </p:nvSpPr>
        <p:spPr>
          <a:xfrm>
            <a:off x="566928" y="1719072"/>
            <a:ext cx="3346704" cy="200253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A_global_sram = T.alloc_buffer(</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(4, 4), scope="global.sram")</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for ax0, ax1 in T.grid(4, 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T.block("A_global.sram"):</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A_global_sram[v0,v1] = A[v0,v1]</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for i, j in T.grid(4, 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T.block("C"):</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C[i,j] = A_global_sram[i,j] + 1.0</a:t>
            </a:r>
            <a:endParaRPr lang="en-US" sz="850" dirty="0"/>
          </a:p>
        </p:txBody>
      </p:sp>
      <p:sp>
        <p:nvSpPr>
          <p:cNvPr id="8" name="Text 6"/>
          <p:cNvSpPr txBox="1"/>
          <p:nvPr/>
        </p:nvSpPr>
        <p:spPr>
          <a:xfrm>
            <a:off x="4297680" y="1371600"/>
            <a:ext cx="36576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② compute_at(copy stage, i_0)</a:t>
            </a:r>
            <a:endParaRPr lang="en-US" sz="1100" dirty="0"/>
          </a:p>
        </p:txBody>
      </p:sp>
      <p:sp>
        <p:nvSpPr>
          <p:cNvPr id="9" name="Shape 7"/>
          <p:cNvSpPr/>
          <p:nvPr/>
        </p:nvSpPr>
        <p:spPr>
          <a:xfrm>
            <a:off x="4297680" y="1645920"/>
            <a:ext cx="3566160" cy="2148840"/>
          </a:xfrm>
          <a:prstGeom prst="roundRect">
            <a:avLst>
              <a:gd name="adj" fmla="val 2128"/>
            </a:avLst>
          </a:prstGeom>
          <a:solidFill>
            <a:srgbClr val="F5F7FA"/>
          </a:solidFill>
          <a:ln w="9525">
            <a:solidFill>
              <a:srgbClr val="C9D3DF"/>
            </a:solidFill>
            <a:prstDash val="solid"/>
          </a:ln>
        </p:spPr>
      </p:sp>
      <p:sp>
        <p:nvSpPr>
          <p:cNvPr id="10" name="Text 8"/>
          <p:cNvSpPr txBox="1"/>
          <p:nvPr/>
        </p:nvSpPr>
        <p:spPr>
          <a:xfrm>
            <a:off x="4407408" y="1719072"/>
            <a:ext cx="3346704" cy="200253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A_global_sram = T.alloc_buffer(</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(4, 4), scope="global.sram")   # 아직 4×4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for i_0 in range(2):</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for ax0, ax1 in T.grid(2, 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T.block("A_global.sram"):</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v0 = i_0*2 + ax0</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A_global_sram[v0,v1] = A[v0,v1]</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for i_1, j in T.grid(2, 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T.block("C"):</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C[i_0*2+i_1, j] = A_global_sram[..] + 1.0</a:t>
            </a:r>
            <a:endParaRPr lang="en-US" sz="850" dirty="0"/>
          </a:p>
        </p:txBody>
      </p:sp>
      <p:sp>
        <p:nvSpPr>
          <p:cNvPr id="11" name="Text 9"/>
          <p:cNvSpPr txBox="1"/>
          <p:nvPr/>
        </p:nvSpPr>
        <p:spPr>
          <a:xfrm>
            <a:off x="8138160" y="1371600"/>
            <a:ext cx="36576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③ CompactBufferAllocation</a:t>
            </a:r>
            <a:endParaRPr lang="en-US" sz="1100" dirty="0"/>
          </a:p>
        </p:txBody>
      </p:sp>
      <p:sp>
        <p:nvSpPr>
          <p:cNvPr id="12" name="Shape 10"/>
          <p:cNvSpPr/>
          <p:nvPr/>
        </p:nvSpPr>
        <p:spPr>
          <a:xfrm>
            <a:off x="8138160" y="1645920"/>
            <a:ext cx="3593592" cy="2148840"/>
          </a:xfrm>
          <a:prstGeom prst="roundRect">
            <a:avLst>
              <a:gd name="adj" fmla="val 2128"/>
            </a:avLst>
          </a:prstGeom>
          <a:solidFill>
            <a:srgbClr val="F5F7FA"/>
          </a:solidFill>
          <a:ln w="9525">
            <a:solidFill>
              <a:srgbClr val="C9D3DF"/>
            </a:solidFill>
            <a:prstDash val="solid"/>
          </a:ln>
        </p:spPr>
      </p:sp>
      <p:sp>
        <p:nvSpPr>
          <p:cNvPr id="13" name="Text 11"/>
          <p:cNvSpPr txBox="1"/>
          <p:nvPr/>
        </p:nvSpPr>
        <p:spPr>
          <a:xfrm>
            <a:off x="8247888" y="1719072"/>
            <a:ext cx="3374136" cy="200253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for i_0 in range(2):</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with T.block(""):</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T.reads(A[i_0*2:i_0*2+2, 0:4])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A_global_sram = T.alloc_buffer(</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(2, 4), scope="global.sram")  # 2×4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for ax0, ax1 in T.grid(2, 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A_global_sram[i_0*2+ax0 - i_0*2, ax1]</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 A[i_0*2+ax0, ax1]</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for i_1, j in T.grid(2, 4):</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C[i_0*2+i_1, j] = A_global_sram[..] + 1.0</a:t>
            </a:r>
            <a:endParaRPr lang="en-US" sz="850" dirty="0"/>
          </a:p>
        </p:txBody>
      </p:sp>
      <p:sp>
        <p:nvSpPr>
          <p:cNvPr id="14" name="Shape 12"/>
          <p:cNvSpPr/>
          <p:nvPr/>
        </p:nvSpPr>
        <p:spPr>
          <a:xfrm>
            <a:off x="4041648" y="2743200"/>
            <a:ext cx="237744" cy="914"/>
          </a:xfrm>
          <a:prstGeom prst="line">
            <a:avLst/>
          </a:prstGeom>
          <a:noFill/>
          <a:ln w="25400">
            <a:solidFill>
              <a:srgbClr val="5B6B7F"/>
            </a:solidFill>
            <a:prstDash val="solid"/>
            <a:tailEnd type="triangle"/>
          </a:ln>
        </p:spPr>
      </p:sp>
      <p:sp>
        <p:nvSpPr>
          <p:cNvPr id="15" name="Shape 13"/>
          <p:cNvSpPr/>
          <p:nvPr/>
        </p:nvSpPr>
        <p:spPr>
          <a:xfrm>
            <a:off x="7882128" y="2743200"/>
            <a:ext cx="237744" cy="914"/>
          </a:xfrm>
          <a:prstGeom prst="line">
            <a:avLst/>
          </a:prstGeom>
          <a:noFill/>
          <a:ln w="25400">
            <a:solidFill>
              <a:srgbClr val="5B6B7F"/>
            </a:solidFill>
            <a:prstDash val="solid"/>
            <a:tailEnd type="triangle"/>
          </a:ln>
        </p:spPr>
      </p:sp>
      <p:sp>
        <p:nvSpPr>
          <p:cNvPr id="16" name="Text 14"/>
          <p:cNvSpPr txBox="1"/>
          <p:nvPr/>
        </p:nvSpPr>
        <p:spPr>
          <a:xfrm>
            <a:off x="457200" y="3904488"/>
            <a:ext cx="10972800" cy="219456"/>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SRAM cache buffer의 실제 모양 (진한 칸 = 한 반복(i_0 = 0)에서 채워지는 영역)</a:t>
            </a:r>
            <a:endParaRPr lang="en-US" sz="950" dirty="0"/>
          </a:p>
        </p:txBody>
      </p:sp>
      <p:sp>
        <p:nvSpPr>
          <p:cNvPr id="17" name="Shape 15"/>
          <p:cNvSpPr/>
          <p:nvPr/>
        </p:nvSpPr>
        <p:spPr>
          <a:xfrm>
            <a:off x="1188720" y="4160520"/>
            <a:ext cx="1463040" cy="1188720"/>
          </a:xfrm>
          <a:prstGeom prst="rect">
            <a:avLst/>
          </a:prstGeom>
          <a:solidFill>
            <a:srgbClr val="DDF3F0"/>
          </a:solidFill>
          <a:ln w="12700">
            <a:solidFill>
              <a:srgbClr val="1F8A8A"/>
            </a:solidFill>
            <a:prstDash val="solid"/>
          </a:ln>
        </p:spPr>
      </p:sp>
      <p:sp>
        <p:nvSpPr>
          <p:cNvPr id="18" name="Shape 16"/>
          <p:cNvSpPr/>
          <p:nvPr/>
        </p:nvSpPr>
        <p:spPr>
          <a:xfrm>
            <a:off x="1188720" y="4160520"/>
            <a:ext cx="1463040" cy="1188720"/>
          </a:xfrm>
          <a:prstGeom prst="rect">
            <a:avLst/>
          </a:prstGeom>
          <a:solidFill>
            <a:srgbClr val="DDF3F0"/>
          </a:solidFill>
          <a:ln w="15875">
            <a:solidFill>
              <a:srgbClr val="1F8A8A"/>
            </a:solidFill>
            <a:prstDash val="solid"/>
          </a:ln>
        </p:spPr>
      </p:sp>
      <p:sp>
        <p:nvSpPr>
          <p:cNvPr id="19" name="Shape 17"/>
          <p:cNvSpPr/>
          <p:nvPr/>
        </p:nvSpPr>
        <p:spPr>
          <a:xfrm>
            <a:off x="1554480" y="4160520"/>
            <a:ext cx="914" cy="1188720"/>
          </a:xfrm>
          <a:prstGeom prst="line">
            <a:avLst/>
          </a:prstGeom>
          <a:noFill/>
          <a:ln w="5080">
            <a:solidFill>
              <a:srgbClr val="D5DCE5"/>
            </a:solidFill>
            <a:prstDash val="solid"/>
          </a:ln>
        </p:spPr>
      </p:sp>
      <p:sp>
        <p:nvSpPr>
          <p:cNvPr id="20" name="Shape 18"/>
          <p:cNvSpPr/>
          <p:nvPr/>
        </p:nvSpPr>
        <p:spPr>
          <a:xfrm>
            <a:off x="1920240" y="4160520"/>
            <a:ext cx="914" cy="1188720"/>
          </a:xfrm>
          <a:prstGeom prst="line">
            <a:avLst/>
          </a:prstGeom>
          <a:noFill/>
          <a:ln w="5080">
            <a:solidFill>
              <a:srgbClr val="D5DCE5"/>
            </a:solidFill>
            <a:prstDash val="solid"/>
          </a:ln>
        </p:spPr>
      </p:sp>
      <p:sp>
        <p:nvSpPr>
          <p:cNvPr id="21" name="Shape 19"/>
          <p:cNvSpPr/>
          <p:nvPr/>
        </p:nvSpPr>
        <p:spPr>
          <a:xfrm>
            <a:off x="2286000" y="4160520"/>
            <a:ext cx="914" cy="1188720"/>
          </a:xfrm>
          <a:prstGeom prst="line">
            <a:avLst/>
          </a:prstGeom>
          <a:noFill/>
          <a:ln w="5080">
            <a:solidFill>
              <a:srgbClr val="D5DCE5"/>
            </a:solidFill>
            <a:prstDash val="solid"/>
          </a:ln>
        </p:spPr>
      </p:sp>
      <p:sp>
        <p:nvSpPr>
          <p:cNvPr id="22" name="Shape 20"/>
          <p:cNvSpPr/>
          <p:nvPr/>
        </p:nvSpPr>
        <p:spPr>
          <a:xfrm>
            <a:off x="1188720" y="4457700"/>
            <a:ext cx="1463040" cy="914"/>
          </a:xfrm>
          <a:prstGeom prst="line">
            <a:avLst/>
          </a:prstGeom>
          <a:noFill/>
          <a:ln w="5080">
            <a:solidFill>
              <a:srgbClr val="D5DCE5"/>
            </a:solidFill>
            <a:prstDash val="solid"/>
          </a:ln>
        </p:spPr>
      </p:sp>
      <p:sp>
        <p:nvSpPr>
          <p:cNvPr id="23" name="Shape 21"/>
          <p:cNvSpPr/>
          <p:nvPr/>
        </p:nvSpPr>
        <p:spPr>
          <a:xfrm>
            <a:off x="1188720" y="4754880"/>
            <a:ext cx="1463040" cy="914"/>
          </a:xfrm>
          <a:prstGeom prst="line">
            <a:avLst/>
          </a:prstGeom>
          <a:noFill/>
          <a:ln w="5080">
            <a:solidFill>
              <a:srgbClr val="D5DCE5"/>
            </a:solidFill>
            <a:prstDash val="solid"/>
          </a:ln>
        </p:spPr>
      </p:sp>
      <p:sp>
        <p:nvSpPr>
          <p:cNvPr id="24" name="Shape 22"/>
          <p:cNvSpPr/>
          <p:nvPr/>
        </p:nvSpPr>
        <p:spPr>
          <a:xfrm>
            <a:off x="1188720" y="5052060"/>
            <a:ext cx="1463040" cy="914"/>
          </a:xfrm>
          <a:prstGeom prst="line">
            <a:avLst/>
          </a:prstGeom>
          <a:noFill/>
          <a:ln w="5080">
            <a:solidFill>
              <a:srgbClr val="D5DCE5"/>
            </a:solidFill>
            <a:prstDash val="solid"/>
          </a:ln>
        </p:spPr>
      </p:sp>
      <p:sp>
        <p:nvSpPr>
          <p:cNvPr id="25" name="Text 23"/>
          <p:cNvSpPr txBox="1"/>
          <p:nvPr/>
        </p:nvSpPr>
        <p:spPr>
          <a:xfrm>
            <a:off x="1188720" y="4160520"/>
            <a:ext cx="1463040" cy="11887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4×4 전체 복사</a:t>
            </a:r>
            <a:endParaRPr lang="en-US" sz="800" dirty="0"/>
          </a:p>
          <a:p>
            <a:pPr algn="ctr" indent="0" marL="0">
              <a:buNone/>
            </a:pPr>
            <a:r>
              <a:rPr lang="en-US" sz="800" b="1" dirty="0">
                <a:solidFill>
                  <a:srgbClr val="1F2D3D"/>
                </a:solidFill>
                <a:latin typeface="Malgun Gothic" pitchFamily="34" charset="0"/>
                <a:ea typeface="Malgun Gothic" pitchFamily="34" charset="-122"/>
                <a:cs typeface="Malgun Gothic" pitchFamily="34" charset="-120"/>
              </a:rPr>
              <a:t>(16 원소)</a:t>
            </a:r>
            <a:endParaRPr lang="en-US" sz="800" dirty="0"/>
          </a:p>
        </p:txBody>
      </p:sp>
      <p:sp>
        <p:nvSpPr>
          <p:cNvPr id="26" name="Text 24"/>
          <p:cNvSpPr txBox="1"/>
          <p:nvPr/>
        </p:nvSpPr>
        <p:spPr>
          <a:xfrm>
            <a:off x="1188720" y="5385816"/>
            <a:ext cx="182880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buffer (4,4): 입력 전체</a:t>
            </a:r>
            <a:endParaRPr lang="en-US" sz="750" dirty="0"/>
          </a:p>
        </p:txBody>
      </p:sp>
      <p:sp>
        <p:nvSpPr>
          <p:cNvPr id="27" name="Text 25"/>
          <p:cNvSpPr txBox="1"/>
          <p:nvPr/>
        </p:nvSpPr>
        <p:spPr>
          <a:xfrm>
            <a:off x="2788920" y="4526280"/>
            <a:ext cx="1280160" cy="45720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 compute_at</a:t>
            </a:r>
            <a:endParaRPr lang="en-US" sz="800" dirty="0"/>
          </a:p>
        </p:txBody>
      </p:sp>
      <p:sp>
        <p:nvSpPr>
          <p:cNvPr id="28" name="Shape 26"/>
          <p:cNvSpPr/>
          <p:nvPr/>
        </p:nvSpPr>
        <p:spPr>
          <a:xfrm>
            <a:off x="4297680" y="4160520"/>
            <a:ext cx="1463040" cy="1188720"/>
          </a:xfrm>
          <a:prstGeom prst="rect">
            <a:avLst/>
          </a:prstGeom>
          <a:solidFill>
            <a:srgbClr val="EEF2F6"/>
          </a:solidFill>
          <a:ln w="12700">
            <a:solidFill>
              <a:srgbClr val="C9D3DF"/>
            </a:solidFill>
            <a:prstDash val="solid"/>
          </a:ln>
        </p:spPr>
      </p:sp>
      <p:sp>
        <p:nvSpPr>
          <p:cNvPr id="29" name="Shape 27"/>
          <p:cNvSpPr/>
          <p:nvPr/>
        </p:nvSpPr>
        <p:spPr>
          <a:xfrm>
            <a:off x="4297680" y="4160520"/>
            <a:ext cx="1463040" cy="594360"/>
          </a:xfrm>
          <a:prstGeom prst="rect">
            <a:avLst/>
          </a:prstGeom>
          <a:solidFill>
            <a:srgbClr val="DDF3F0"/>
          </a:solidFill>
          <a:ln w="15875">
            <a:solidFill>
              <a:srgbClr val="1F8A8A"/>
            </a:solidFill>
            <a:prstDash val="solid"/>
          </a:ln>
        </p:spPr>
      </p:sp>
      <p:sp>
        <p:nvSpPr>
          <p:cNvPr id="30" name="Shape 28"/>
          <p:cNvSpPr/>
          <p:nvPr/>
        </p:nvSpPr>
        <p:spPr>
          <a:xfrm>
            <a:off x="4297680" y="4754880"/>
            <a:ext cx="1463040" cy="594360"/>
          </a:xfrm>
          <a:prstGeom prst="rect">
            <a:avLst/>
          </a:prstGeom>
          <a:solidFill>
            <a:srgbClr val="EEF2F6"/>
          </a:solidFill>
          <a:ln w="5080">
            <a:solidFill>
              <a:srgbClr val="C9D3DF"/>
            </a:solidFill>
            <a:prstDash val="solid"/>
          </a:ln>
        </p:spPr>
      </p:sp>
      <p:sp>
        <p:nvSpPr>
          <p:cNvPr id="31" name="Shape 29"/>
          <p:cNvSpPr/>
          <p:nvPr/>
        </p:nvSpPr>
        <p:spPr>
          <a:xfrm>
            <a:off x="4663440" y="4160520"/>
            <a:ext cx="914" cy="1188720"/>
          </a:xfrm>
          <a:prstGeom prst="line">
            <a:avLst/>
          </a:prstGeom>
          <a:noFill/>
          <a:ln w="5080">
            <a:solidFill>
              <a:srgbClr val="D5DCE5"/>
            </a:solidFill>
            <a:prstDash val="solid"/>
          </a:ln>
        </p:spPr>
      </p:sp>
      <p:sp>
        <p:nvSpPr>
          <p:cNvPr id="32" name="Shape 30"/>
          <p:cNvSpPr/>
          <p:nvPr/>
        </p:nvSpPr>
        <p:spPr>
          <a:xfrm>
            <a:off x="5029200" y="4160520"/>
            <a:ext cx="914" cy="1188720"/>
          </a:xfrm>
          <a:prstGeom prst="line">
            <a:avLst/>
          </a:prstGeom>
          <a:noFill/>
          <a:ln w="5080">
            <a:solidFill>
              <a:srgbClr val="D5DCE5"/>
            </a:solidFill>
            <a:prstDash val="solid"/>
          </a:ln>
        </p:spPr>
      </p:sp>
      <p:sp>
        <p:nvSpPr>
          <p:cNvPr id="33" name="Shape 31"/>
          <p:cNvSpPr/>
          <p:nvPr/>
        </p:nvSpPr>
        <p:spPr>
          <a:xfrm>
            <a:off x="5394960" y="4160520"/>
            <a:ext cx="914" cy="1188720"/>
          </a:xfrm>
          <a:prstGeom prst="line">
            <a:avLst/>
          </a:prstGeom>
          <a:noFill/>
          <a:ln w="5080">
            <a:solidFill>
              <a:srgbClr val="D5DCE5"/>
            </a:solidFill>
            <a:prstDash val="solid"/>
          </a:ln>
        </p:spPr>
      </p:sp>
      <p:sp>
        <p:nvSpPr>
          <p:cNvPr id="34" name="Shape 32"/>
          <p:cNvSpPr/>
          <p:nvPr/>
        </p:nvSpPr>
        <p:spPr>
          <a:xfrm>
            <a:off x="4297680" y="4457700"/>
            <a:ext cx="1463040" cy="914"/>
          </a:xfrm>
          <a:prstGeom prst="line">
            <a:avLst/>
          </a:prstGeom>
          <a:noFill/>
          <a:ln w="5080">
            <a:solidFill>
              <a:srgbClr val="D5DCE5"/>
            </a:solidFill>
            <a:prstDash val="solid"/>
          </a:ln>
        </p:spPr>
      </p:sp>
      <p:sp>
        <p:nvSpPr>
          <p:cNvPr id="35" name="Shape 33"/>
          <p:cNvSpPr/>
          <p:nvPr/>
        </p:nvSpPr>
        <p:spPr>
          <a:xfrm>
            <a:off x="4297680" y="4754880"/>
            <a:ext cx="1463040" cy="914"/>
          </a:xfrm>
          <a:prstGeom prst="line">
            <a:avLst/>
          </a:prstGeom>
          <a:noFill/>
          <a:ln w="5080">
            <a:solidFill>
              <a:srgbClr val="D5DCE5"/>
            </a:solidFill>
            <a:prstDash val="solid"/>
          </a:ln>
        </p:spPr>
      </p:sp>
      <p:sp>
        <p:nvSpPr>
          <p:cNvPr id="36" name="Shape 34"/>
          <p:cNvSpPr/>
          <p:nvPr/>
        </p:nvSpPr>
        <p:spPr>
          <a:xfrm>
            <a:off x="4297680" y="5052060"/>
            <a:ext cx="1463040" cy="914"/>
          </a:xfrm>
          <a:prstGeom prst="line">
            <a:avLst/>
          </a:prstGeom>
          <a:noFill/>
          <a:ln w="5080">
            <a:solidFill>
              <a:srgbClr val="D5DCE5"/>
            </a:solidFill>
            <a:prstDash val="solid"/>
          </a:ln>
        </p:spPr>
      </p:sp>
      <p:sp>
        <p:nvSpPr>
          <p:cNvPr id="37" name="Text 35"/>
          <p:cNvSpPr txBox="1"/>
          <p:nvPr/>
        </p:nvSpPr>
        <p:spPr>
          <a:xfrm>
            <a:off x="4297680" y="4160520"/>
            <a:ext cx="1463040" cy="59436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i_0 = 0: 2행만 복사</a:t>
            </a:r>
            <a:endParaRPr lang="en-US" sz="800" dirty="0"/>
          </a:p>
        </p:txBody>
      </p:sp>
      <p:sp>
        <p:nvSpPr>
          <p:cNvPr id="38" name="Text 36"/>
          <p:cNvSpPr txBox="1"/>
          <p:nvPr/>
        </p:nvSpPr>
        <p:spPr>
          <a:xfrm>
            <a:off x="4297680" y="4754880"/>
            <a:ext cx="1463040" cy="594360"/>
          </a:xfrm>
          <a:prstGeom prst="rect">
            <a:avLst/>
          </a:prstGeom>
          <a:noFill/>
          <a:ln/>
        </p:spPr>
        <p:txBody>
          <a:bodyPr wrap="square" lIns="0" tIns="0" rIns="0" bIns="0" rtlCol="0" anchor="ctr"/>
          <a:lstStyle/>
          <a:p>
            <a:pPr algn="ctr" indent="0" marL="0">
              <a:buNone/>
            </a:pPr>
            <a:r>
              <a:rPr lang="en-US" sz="700" b="1" dirty="0">
                <a:solidFill>
                  <a:srgbClr val="5B6B7F"/>
                </a:solidFill>
                <a:latin typeface="Malgun Gothic" pitchFamily="34" charset="0"/>
                <a:ea typeface="Malgun Gothic" pitchFamily="34" charset="-122"/>
                <a:cs typeface="Malgun Gothic" pitchFamily="34" charset="-120"/>
              </a:rPr>
              <a:t>(다음 반복에 사용)</a:t>
            </a:r>
            <a:endParaRPr lang="en-US" sz="700" dirty="0"/>
          </a:p>
        </p:txBody>
      </p:sp>
      <p:sp>
        <p:nvSpPr>
          <p:cNvPr id="39" name="Text 37"/>
          <p:cNvSpPr txBox="1"/>
          <p:nvPr/>
        </p:nvSpPr>
        <p:spPr>
          <a:xfrm>
            <a:off x="4297680" y="5385816"/>
            <a:ext cx="201168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buffer 선언은 아직 (4,4)</a:t>
            </a:r>
            <a:endParaRPr lang="en-US" sz="750" dirty="0"/>
          </a:p>
        </p:txBody>
      </p:sp>
      <p:sp>
        <p:nvSpPr>
          <p:cNvPr id="40" name="Text 38"/>
          <p:cNvSpPr txBox="1"/>
          <p:nvPr/>
        </p:nvSpPr>
        <p:spPr>
          <a:xfrm>
            <a:off x="5897880" y="4526280"/>
            <a:ext cx="1280160" cy="45720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 compaction</a:t>
            </a:r>
            <a:endParaRPr lang="en-US" sz="800" dirty="0"/>
          </a:p>
        </p:txBody>
      </p:sp>
      <p:sp>
        <p:nvSpPr>
          <p:cNvPr id="41" name="Shape 39"/>
          <p:cNvSpPr/>
          <p:nvPr/>
        </p:nvSpPr>
        <p:spPr>
          <a:xfrm>
            <a:off x="8138160" y="4453128"/>
            <a:ext cx="1463040" cy="594360"/>
          </a:xfrm>
          <a:prstGeom prst="rect">
            <a:avLst/>
          </a:prstGeom>
          <a:solidFill>
            <a:srgbClr val="DDF3F0"/>
          </a:solidFill>
          <a:ln w="12700">
            <a:solidFill>
              <a:srgbClr val="1F8A8A"/>
            </a:solidFill>
            <a:prstDash val="solid"/>
          </a:ln>
        </p:spPr>
      </p:sp>
      <p:sp>
        <p:nvSpPr>
          <p:cNvPr id="42" name="Shape 40"/>
          <p:cNvSpPr/>
          <p:nvPr/>
        </p:nvSpPr>
        <p:spPr>
          <a:xfrm>
            <a:off x="8138160" y="4453128"/>
            <a:ext cx="1463040" cy="594360"/>
          </a:xfrm>
          <a:prstGeom prst="rect">
            <a:avLst/>
          </a:prstGeom>
          <a:solidFill>
            <a:srgbClr val="DDF3F0"/>
          </a:solidFill>
          <a:ln w="15875">
            <a:solidFill>
              <a:srgbClr val="1F8A8A"/>
            </a:solidFill>
            <a:prstDash val="solid"/>
          </a:ln>
        </p:spPr>
      </p:sp>
      <p:sp>
        <p:nvSpPr>
          <p:cNvPr id="43" name="Shape 41"/>
          <p:cNvSpPr/>
          <p:nvPr/>
        </p:nvSpPr>
        <p:spPr>
          <a:xfrm>
            <a:off x="8503920" y="4453128"/>
            <a:ext cx="914" cy="594360"/>
          </a:xfrm>
          <a:prstGeom prst="line">
            <a:avLst/>
          </a:prstGeom>
          <a:noFill/>
          <a:ln w="5080">
            <a:solidFill>
              <a:srgbClr val="D5DCE5"/>
            </a:solidFill>
            <a:prstDash val="solid"/>
          </a:ln>
        </p:spPr>
      </p:sp>
      <p:sp>
        <p:nvSpPr>
          <p:cNvPr id="44" name="Shape 42"/>
          <p:cNvSpPr/>
          <p:nvPr/>
        </p:nvSpPr>
        <p:spPr>
          <a:xfrm>
            <a:off x="8869680" y="4453128"/>
            <a:ext cx="914" cy="594360"/>
          </a:xfrm>
          <a:prstGeom prst="line">
            <a:avLst/>
          </a:prstGeom>
          <a:noFill/>
          <a:ln w="5080">
            <a:solidFill>
              <a:srgbClr val="D5DCE5"/>
            </a:solidFill>
            <a:prstDash val="solid"/>
          </a:ln>
        </p:spPr>
      </p:sp>
      <p:sp>
        <p:nvSpPr>
          <p:cNvPr id="45" name="Shape 43"/>
          <p:cNvSpPr/>
          <p:nvPr/>
        </p:nvSpPr>
        <p:spPr>
          <a:xfrm>
            <a:off x="9235440" y="4453128"/>
            <a:ext cx="914" cy="594360"/>
          </a:xfrm>
          <a:prstGeom prst="line">
            <a:avLst/>
          </a:prstGeom>
          <a:noFill/>
          <a:ln w="5080">
            <a:solidFill>
              <a:srgbClr val="D5DCE5"/>
            </a:solidFill>
            <a:prstDash val="solid"/>
          </a:ln>
        </p:spPr>
      </p:sp>
      <p:sp>
        <p:nvSpPr>
          <p:cNvPr id="46" name="Shape 44"/>
          <p:cNvSpPr/>
          <p:nvPr/>
        </p:nvSpPr>
        <p:spPr>
          <a:xfrm>
            <a:off x="8138160" y="4750308"/>
            <a:ext cx="1463040" cy="914"/>
          </a:xfrm>
          <a:prstGeom prst="line">
            <a:avLst/>
          </a:prstGeom>
          <a:noFill/>
          <a:ln w="5080">
            <a:solidFill>
              <a:srgbClr val="D5DCE5"/>
            </a:solidFill>
            <a:prstDash val="solid"/>
          </a:ln>
        </p:spPr>
      </p:sp>
      <p:sp>
        <p:nvSpPr>
          <p:cNvPr id="47" name="Text 45"/>
          <p:cNvSpPr txBox="1"/>
          <p:nvPr/>
        </p:nvSpPr>
        <p:spPr>
          <a:xfrm>
            <a:off x="8138160" y="4453128"/>
            <a:ext cx="1463040" cy="59436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2×4 (8 원소)</a:t>
            </a:r>
            <a:endParaRPr lang="en-US" sz="800" dirty="0"/>
          </a:p>
        </p:txBody>
      </p:sp>
      <p:sp>
        <p:nvSpPr>
          <p:cNvPr id="48" name="Text 46"/>
          <p:cNvSpPr txBox="1"/>
          <p:nvPr/>
        </p:nvSpPr>
        <p:spPr>
          <a:xfrm>
            <a:off x="8138160" y="5084064"/>
            <a:ext cx="329184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buffer (2,4): 접근 범위로 축소 → USMP가 이 크기로 offset 배치</a:t>
            </a:r>
            <a:endParaRPr lang="en-US" sz="750" dirty="0"/>
          </a:p>
        </p:txBody>
      </p:sp>
      <p:sp>
        <p:nvSpPr>
          <p:cNvPr id="49" name="Text 47"/>
          <p:cNvSpPr txBox="1"/>
          <p:nvPr/>
        </p:nvSpPr>
        <p:spPr>
          <a:xfrm>
            <a:off x="9784080" y="4114800"/>
            <a:ext cx="1965960" cy="1280160"/>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Matmul에서: a_at = m_panel → X cache [m_panel, K] (K 전체), a_at = k_group → [m_panel, k_chunk]. 같은 원리로 panel 크기가 정해집니다.</a:t>
            </a:r>
            <a:endParaRPr lang="en-US" sz="800" dirty="0"/>
          </a:p>
        </p:txBody>
      </p:sp>
      <p:sp>
        <p:nvSpPr>
          <p:cNvPr id="50" name="Shape 48"/>
          <p:cNvSpPr/>
          <p:nvPr/>
        </p:nvSpPr>
        <p:spPr>
          <a:xfrm>
            <a:off x="457200" y="5486400"/>
            <a:ext cx="11274552" cy="365760"/>
          </a:xfrm>
          <a:prstGeom prst="roundRect">
            <a:avLst>
              <a:gd name="adj" fmla="val 15000"/>
            </a:avLst>
          </a:prstGeom>
          <a:solidFill>
            <a:srgbClr val="EEF2F6"/>
          </a:solidFill>
          <a:ln w="12700">
            <a:solidFill>
              <a:srgbClr val="C9D3DF"/>
            </a:solidFill>
            <a:prstDash val="solid"/>
          </a:ln>
        </p:spPr>
      </p:sp>
      <p:sp>
        <p:nvSpPr>
          <p:cNvPr id="51" name="Text 49"/>
          <p:cNvSpPr txBox="1"/>
          <p:nvPr/>
        </p:nvSpPr>
        <p:spPr>
          <a:xfrm>
            <a:off x="585216" y="5541264"/>
            <a:ext cx="11018520" cy="256032"/>
          </a:xfrm>
          <a:prstGeom prst="rect">
            <a:avLst/>
          </a:prstGeom>
          <a:noFill/>
          <a:ln/>
        </p:spPr>
        <p:txBody>
          <a:bodyPr wrap="square" lIns="0" tIns="0" rIns="0" bIns="0" rtlCol="0" anchor="ct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set_scope(기존 buffer scope 변경)와 cache_write 예제도 같은 폴더(docs/examples/schedule_api)에 있습니다.</a:t>
            </a:r>
            <a:endParaRPr lang="en-US" sz="900" dirty="0"/>
          </a:p>
        </p:txBody>
      </p:sp>
      <p:sp>
        <p:nvSpPr>
          <p:cNvPr id="52" name="Text 50"/>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53" name="Text 51"/>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docs/examples/schedule_api/04_cache_read.py, 05_cache_read_compute_at.py, 08_cache_read_compacted.py</a:t>
            </a:r>
            <a:endParaRPr lang="en-US" sz="850" dirty="0"/>
          </a:p>
        </p:txBody>
      </p:sp>
      <p:sp>
        <p:nvSpPr>
          <p:cNvPr id="54" name="Text 52"/>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37 / 89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6 · Matmul scheduling</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Tensorize: 64×64 계산 조각을 등록한 TensorIntrin으로 치환한다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수식·dtype·scope가 일치하면 npu_gemm_acc_sram / npu_fill_zero_sram으로 바뀝니다. 이는 최종 opcode가 아니라 codegen이 descriptor·LOAD·M_MUL로 펼칠 call_extern입니다.</a:t>
            </a:r>
            <a:endParaRPr lang="en-US" sz="1250" dirty="0"/>
          </a:p>
        </p:txBody>
      </p:sp>
      <p:sp>
        <p:nvSpPr>
          <p:cNvPr id="5" name="Text 3"/>
          <p:cNvSpPr txBox="1"/>
          <p:nvPr/>
        </p:nvSpPr>
        <p:spPr>
          <a:xfrm>
            <a:off x="45720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TensorIntrin 등록 (description ↔ implementation)</a:t>
            </a:r>
            <a:endParaRPr lang="en-US" sz="1100" dirty="0"/>
          </a:p>
        </p:txBody>
      </p:sp>
      <p:sp>
        <p:nvSpPr>
          <p:cNvPr id="6" name="Shape 4"/>
          <p:cNvSpPr/>
          <p:nvPr/>
        </p:nvSpPr>
        <p:spPr>
          <a:xfrm>
            <a:off x="457200" y="1645920"/>
            <a:ext cx="5577840" cy="2468880"/>
          </a:xfrm>
          <a:prstGeom prst="roundRect">
            <a:avLst>
              <a:gd name="adj" fmla="val 1852"/>
            </a:avLst>
          </a:prstGeom>
          <a:solidFill>
            <a:srgbClr val="F5F7FA"/>
          </a:solidFill>
          <a:ln w="9525">
            <a:solidFill>
              <a:srgbClr val="C9D3DF"/>
            </a:solidFill>
            <a:prstDash val="solid"/>
          </a:ln>
        </p:spPr>
      </p:sp>
      <p:sp>
        <p:nvSpPr>
          <p:cNvPr id="7" name="Text 5"/>
          <p:cNvSpPr txBox="1"/>
          <p:nvPr/>
        </p:nvSpPr>
        <p:spPr>
          <a:xfrm>
            <a:off x="566928" y="1719072"/>
            <a:ext cx="5358384" cy="2322576"/>
          </a:xfrm>
          <a:prstGeom prst="rect">
            <a:avLst/>
          </a:prstGeom>
          <a:noFill/>
          <a:ln/>
        </p:spPr>
        <p:txBody>
          <a:bodyPr wrap="square" lIns="0" tIns="0" rIns="0" bIns="0" rtlCol="0" anchor="t"/>
          <a:lstStyle/>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description: 계산의 수식 (schedule이 이 모양을 찾음)</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A = T.match_buffer(a, (64,64), "float16", scope="global.sram", strides=[sa,1], offset_factor=1)</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B = ... (64,64) "float16" ; C = ... (64,64) "float32"</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for i, j, k in T.grid(64, 64, 64):</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C[vi, vj] = C[vi, vj] + Cast(f32, A[vi, vk]) * Cast(f32, B[vk, vj])</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implementation: 장치 호출 (codegen이 해석)</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T.call_extern("int32", "npu_gemm_acc", C.access_ptr("rw"), sc,</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A.access_ptr("r"), sa, B.access_ptr("r"), sb)</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fill: C[vi,vj] = 0  →  T.call_extern("npu_fill_zero", C.access_ptr("w"), sc)</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TensorIntrin.register("npu_gemm_acc_sram", desc, impl)   # register_all()</a:t>
            </a:r>
            <a:endParaRPr lang="en-US" sz="820" dirty="0"/>
          </a:p>
        </p:txBody>
      </p:sp>
      <p:sp>
        <p:nvSpPr>
          <p:cNvPr id="8" name="Text 6"/>
          <p:cNvSpPr txBox="1"/>
          <p:nvPr/>
        </p:nvSpPr>
        <p:spPr>
          <a:xfrm>
            <a:off x="626364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실제 scheduled TIR 발췌 (작은 예제 fused 커널)</a:t>
            </a:r>
            <a:endParaRPr lang="en-US" sz="1100" dirty="0"/>
          </a:p>
        </p:txBody>
      </p:sp>
      <p:sp>
        <p:nvSpPr>
          <p:cNvPr id="9" name="Shape 7"/>
          <p:cNvSpPr/>
          <p:nvPr/>
        </p:nvSpPr>
        <p:spPr>
          <a:xfrm>
            <a:off x="6263640" y="1645920"/>
            <a:ext cx="5468112" cy="2468880"/>
          </a:xfrm>
          <a:prstGeom prst="roundRect">
            <a:avLst>
              <a:gd name="adj" fmla="val 1852"/>
            </a:avLst>
          </a:prstGeom>
          <a:solidFill>
            <a:srgbClr val="F5F7FA"/>
          </a:solidFill>
          <a:ln w="9525">
            <a:solidFill>
              <a:srgbClr val="C9D3DF"/>
            </a:solidFill>
            <a:prstDash val="solid"/>
          </a:ln>
        </p:spPr>
      </p:sp>
      <p:sp>
        <p:nvSpPr>
          <p:cNvPr id="10" name="Text 8"/>
          <p:cNvSpPr txBox="1"/>
          <p:nvPr/>
        </p:nvSpPr>
        <p:spPr>
          <a:xfrm>
            <a:off x="6373368" y="1719072"/>
            <a:ext cx="5248656" cy="2322576"/>
          </a:xfrm>
          <a:prstGeom prst="rect">
            <a:avLst/>
          </a:prstGeom>
          <a:noFill/>
          <a:ln/>
        </p:spPr>
        <p:txBody>
          <a:bodyPr wrap="square" lIns="0" tIns="0" rIns="0" bIns="0" rtlCol="0" anchor="t"/>
          <a:lstStyle/>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x_global_sram  = T.alloc_buffer((64,128), "float16", scope="global.sram")</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lv_global_sram = T.alloc_buffer((128,64), "float16", scope="global.sram")</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x/lv 복사 block (K loop 바깥: a_at = b_at = m_panel) ...</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with T.block("matmul_init_o"):</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C = T.match_buffer(matmul_global_sram[0:64, 0:64], (64,64), "float16", strides=("C_s0",1), ...)</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T.call_extern("int32", "npu_fill_zero", T.tvm_access_ptr(..., C.data, ...), C.strides[0])</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for k_0, k_1_0 in T.grid(2, 1):</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with T.block("matmul_update_o"):</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A = T.match_buffer(x_global_sram[0:64, k_0*64 : k_0*64+64], (64,64), ...)</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B = T.match_buffer(lv_global_sram[k_0*64 : k_0*64+64, 0:64], (64,64), ...)</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T.call_extern("int32", "npu_gemm_acc", C.ptr, C.strides[0], A.ptr, A.strides[0], B.ptr, B.strides[0])</a:t>
            </a:r>
            <a:endParaRPr lang="en-US" sz="78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4343400"/>
          <a:ext cx="11274552" cy="914400"/>
        </p:xfrm>
        <a:graphic>
          <a:graphicData uri="http://schemas.openxmlformats.org/drawingml/2006/table">
            <a:tbl>
              <a:tblPr/>
              <a:tblGrid>
                <a:gridCol w="2377440"/>
                <a:gridCol w="2743200"/>
                <a:gridCol w="6153912"/>
              </a:tblGrid>
              <a:tr h="329184">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이름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어디에 나타나는가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뜻</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npu_gemm_acc_sram / npu_fill_zero_sram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TensorIntrin 이름 (tensorize 인자)</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등록된 desc/impl 쌍</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npu_gemm_acc / npu_fill_zero</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scheduled TIR의 call_extern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codegen이 descriptor 설정 + LOAD SRC1/SRC2 + M_MUL(MAC)로, fill은 명령 없이 "새 누산" 상태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C의 dtype이 FP16?</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match_buffer가 FP16 SRAM view</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lower_stores가 FP32 논리 buffer를 FP16 물리 slot으로 retype (실제 FP32 상태는 accumulator)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strides=("C_s0",1)</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symbolic row stride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64×64 view가 더 넓은 panel/출력 안에 위치 가능 (직접 저장의 근거, 8장)</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12" name="Shape 9"/>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3" name="Text 10"/>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Tensorize는 등록한 수식과 정확히 일치하는 조각만 치환합니다. 틀린 수식을 이름만으로 치환하지 않습니다.</a:t>
            </a:r>
            <a:endParaRPr lang="en-US" sz="1250" dirty="0"/>
          </a:p>
        </p:txBody>
      </p:sp>
      <p:sp>
        <p:nvSpPr>
          <p:cNvPr id="14" name="Text 11"/>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5" name="Text 12"/>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npu_compiler/npu_intrin.py (_sram_gemm_desc/_impl, register_all), docs/examples/pipeline/07_scheduled_fused_matmul_add_silu.py</a:t>
            </a:r>
            <a:endParaRPr lang="en-US" sz="850" dirty="0"/>
          </a:p>
        </p:txBody>
      </p:sp>
      <p:sp>
        <p:nvSpPr>
          <p:cNvPr id="16" name="Text 13"/>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38 / 89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6 · Matmul scheduling</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실제 선택 기록: 작은 예제의 4개 후보와 실제 폭 MLP의 incumbent</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작은 예제는 X/W 16 KiB씩을 K loop 바깥에서 한 번 올리고 2개의 M_MUL이 같은 SRAM 배열의 다른 부분을 읽습니다. 실제 폭 MLP는 정적 compile 기록입니다(executed=false). 후보 수는 개선 전 탐색 공간의 기록이며 현재 정규화 공간에서는 203 / 17개입니다.</a:t>
            </a:r>
            <a:endParaRPr lang="en-US" sz="1250" dirty="0"/>
          </a:p>
        </p:txBody>
      </p:sp>
      <p:sp>
        <p:nvSpPr>
          <p:cNvPr id="5" name="Text 3"/>
          <p:cNvSpPr txBox="1"/>
          <p:nvPr/>
        </p:nvSpPr>
        <p:spPr>
          <a:xfrm>
            <a:off x="45720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작은 예제 fused_matmul_add_silu [64,64,128]</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664208"/>
          <a:ext cx="5669280" cy="914400"/>
        </p:xfrm>
        <a:graphic>
          <a:graphicData uri="http://schemas.openxmlformats.org/drawingml/2006/table">
            <a:tbl>
              <a:tblPr/>
              <a:tblGrid>
                <a:gridCol w="731520"/>
                <a:gridCol w="2103120"/>
                <a:gridCol w="594360"/>
                <a:gridCol w="548640"/>
                <a:gridCol w="640080"/>
                <a:gridCol w="640080"/>
                <a:gridCol w="411480"/>
              </a:tblGrid>
              <a:tr h="310896">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후보</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mapping</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00" b="1" dirty="0">
                          <a:solidFill>
                            <a:srgbClr val="FFFFFF"/>
                          </a:solidFill>
                          <a:latin typeface="Malgun Gothic" pitchFamily="34" charset="0"/>
                          <a:ea typeface="Malgun Gothic" pitchFamily="34" charset="-122"/>
                          <a:cs typeface="Malgun Gothic" pitchFamily="34" charset="-120"/>
                        </a:rPr>
                        <a:t>추정 B</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00" b="1" dirty="0">
                          <a:solidFill>
                            <a:srgbClr val="FFFFFF"/>
                          </a:solidFill>
                          <a:latin typeface="Malgun Gothic" pitchFamily="34" charset="0"/>
                          <a:ea typeface="Malgun Gothic" pitchFamily="34" charset="-122"/>
                          <a:cs typeface="Malgun Gothic" pitchFamily="34" charset="-120"/>
                        </a:rPr>
                        <a:t>words</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00" b="1" dirty="0">
                          <a:solidFill>
                            <a:srgbClr val="FFFFFF"/>
                          </a:solidFill>
                          <a:latin typeface="Malgun Gothic" pitchFamily="34" charset="0"/>
                          <a:ea typeface="Malgun Gothic" pitchFamily="34" charset="-122"/>
                          <a:cs typeface="Malgun Gothic" pitchFamily="34" charset="-120"/>
                        </a:rPr>
                        <a:t>DMA B</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00" b="1" dirty="0">
                          <a:solidFill>
                            <a:srgbClr val="FFFFFF"/>
                          </a:solidFill>
                          <a:latin typeface="Malgun Gothic" pitchFamily="34" charset="0"/>
                          <a:ea typeface="Malgun Gothic" pitchFamily="34" charset="-122"/>
                          <a:cs typeface="Malgun Gothic" pitchFamily="34" charset="-120"/>
                        </a:rPr>
                        <a:t>SRAM nib</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status</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incumbent</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("B_stream", 64)</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32,768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1,574</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41,088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68,632</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legal</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space #1</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m64 n64 k64, a_at=b_at=k_group</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32,768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1,575</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41,088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68,632</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legal</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선택</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m64 n64 k64, mn/mn, a_at=b_at=m_panel</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32,768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1,572</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41,088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85,016</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legal ✓</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7" name="Text 4"/>
          <p:cNvSpPr txBox="1"/>
          <p:nvPr/>
        </p:nvSpPr>
        <p:spPr>
          <a:xfrm>
            <a:off x="457200" y="3017520"/>
            <a:ext cx="5669280" cy="1371600"/>
          </a:xfrm>
          <a:prstGeom prst="rect">
            <a:avLst/>
          </a:prstGeom>
          <a:noFill/>
          <a:ln/>
        </p:spPr>
        <p:txBody>
          <a:bodyPr wrap="square" lIns="0" tIns="0" rIns="0" bIns="0" rtlCol="0" anchor="t"/>
          <a:lstStyle/>
          <a:p>
            <a:pPr algn="l" marL="152400" indent="-152400">
              <a:spcAft>
                <a:spcPts val="400"/>
              </a:spcAft>
              <a:buSzPct val="100000"/>
              <a:buChar char="•"/>
            </a:pPr>
            <a:r>
              <a:rPr lang="en-US" sz="950" dirty="0">
                <a:solidFill>
                  <a:srgbClr val="1F2D3D"/>
                </a:solidFill>
                <a:latin typeface="Malgun Gothic" pitchFamily="34" charset="0"/>
                <a:ea typeface="Malgun Gothic" pitchFamily="34" charset="-122"/>
                <a:cs typeface="Malgun Gothic" pitchFamily="34" charset="-120"/>
              </a:rPr>
              <a:t>DMA가 같으면 words로, 그 다음에야 SRAM peak로 비교 → SRAM을 더 써도 words가 적은 후보가 이김</a:t>
            </a:r>
            <a:endParaRPr lang="en-US" sz="950" dirty="0"/>
          </a:p>
          <a:p>
            <a:pPr algn="l" marL="152400" indent="-152400">
              <a:spcAft>
                <a:spcPts val="400"/>
              </a:spcAft>
              <a:buSzPct val="100000"/>
              <a:buChar char="•"/>
            </a:pPr>
            <a:r>
              <a:rPr lang="en-US" sz="950" dirty="0">
                <a:solidFill>
                  <a:srgbClr val="1F2D3D"/>
                </a:solidFill>
                <a:latin typeface="Malgun Gothic" pitchFamily="34" charset="0"/>
                <a:ea typeface="Malgun Gothic" pitchFamily="34" charset="-122"/>
                <a:cs typeface="Malgun Gothic" pitchFamily="34" charset="-120"/>
              </a:rPr>
              <a:t>a_at=b_at=m_panel: X [64,128]·W [128,64] 16 KiB씩 K loop 바깥에서 1회 복사, k_0=0,1의 두 M_MUL이 같은 SRAM 배열의 다른 열/행을 읽음</a:t>
            </a:r>
            <a:endParaRPr lang="en-US" sz="950" dirty="0"/>
          </a:p>
          <a:p>
            <a:pPr algn="l" marL="152400" indent="-152400">
              <a:spcAft>
                <a:spcPts val="400"/>
              </a:spcAft>
              <a:buSzPct val="100000"/>
              <a:buChar char="•"/>
            </a:pPr>
            <a:r>
              <a:rPr lang="en-US" sz="950" dirty="0">
                <a:solidFill>
                  <a:srgbClr val="1F2D3D"/>
                </a:solidFill>
                <a:latin typeface="Malgun Gothic" pitchFamily="34" charset="0"/>
                <a:ea typeface="Malgun Gothic" pitchFamily="34" charset="-122"/>
                <a:cs typeface="Malgun Gothic" pitchFamily="34" charset="-120"/>
              </a:rPr>
              <a:t>최종 커널: 4 DMA packets, 2 M_MUL, 1,572 words (link 뒤 전체 1,577 words)</a:t>
            </a:r>
            <a:endParaRPr lang="en-US" sz="950" dirty="0"/>
          </a:p>
        </p:txBody>
      </p:sp>
      <p:sp>
        <p:nvSpPr>
          <p:cNvPr id="8" name="Text 5"/>
          <p:cNvSpPr txBox="1"/>
          <p:nvPr/>
        </p:nvSpPr>
        <p:spPr>
          <a:xfrm>
            <a:off x="635508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실제 폭 Llama MLP (M=64, hidden 3072, MLP 8192) 정적 compile</a:t>
            </a:r>
            <a:endParaRPr lang="en-US" sz="1100" dirty="0"/>
          </a:p>
        </p:txBody>
      </p:sp>
      <p:graphicFrame>
        <p:nvGraphicFramePr>
          <p:cNvPr id="79" name="Table 1"/>
          <p:cNvGraphicFramePr>
            <a:graphicFrameLocks noGrp="1"/>
          </p:cNvGraphicFramePr>
          <p:nvPr>
            <p:extLst>
              <p:ext uri="{D42A27DB-BD31-4B8C-83A1-F6EECF244321}">
                <p14:modId xmlns:p14="http://schemas.microsoft.com/office/powerpoint/2010/main" val="1579011935"/>
              </p:ext>
            </p:extLst>
          </p:nvPr>
        </p:nvGraphicFramePr>
        <p:xfrm>
          <a:off x="6355080" y="1664208"/>
          <a:ext cx="5376672" cy="914400"/>
        </p:xfrm>
        <a:graphic>
          <a:graphicData uri="http://schemas.openxmlformats.org/drawingml/2006/table">
            <a:tbl>
              <a:tblPr/>
              <a:tblGrid>
                <a:gridCol w="502920"/>
                <a:gridCol w="1234440"/>
                <a:gridCol w="914400"/>
                <a:gridCol w="685800"/>
                <a:gridCol w="2039112"/>
              </a:tblGrid>
              <a:tr h="402336">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커널</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선택 mapping</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후보 수 (개선 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words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비고</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0233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gate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("A", 64) incumbent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1,433</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≈47,000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X 유지, W panel 3072×64. legal 2개 뒤 word 예산 도달</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0233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up</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("A", 64)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1,433</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≈47,000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gate와 같은 구조 (recipe 공유)</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0233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down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("B", 256)</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299</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43,410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W 8192×256 4 MiB 유지, H는 SRAM resident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118" name="Table 2"/>
          <p:cNvGraphicFramePr>
            <a:graphicFrameLocks noGrp="1"/>
          </p:cNvGraphicFramePr>
          <p:nvPr>
            <p:extLst>
              <p:ext uri="{D42A27DB-BD31-4B8C-83A1-F6EECF244321}">
                <p14:modId xmlns:p14="http://schemas.microsoft.com/office/powerpoint/2010/main" val="1579011935"/>
              </p:ext>
            </p:extLst>
          </p:nvPr>
        </p:nvGraphicFramePr>
        <p:xfrm>
          <a:off x="6355080" y="3429000"/>
          <a:ext cx="5376672" cy="914400"/>
        </p:xfrm>
        <a:graphic>
          <a:graphicData uri="http://schemas.openxmlformats.org/drawingml/2006/table">
            <a:tbl>
              <a:tblPr/>
              <a:tblGrid>
                <a:gridCol w="3017520"/>
                <a:gridCol w="2359152"/>
              </a:tblGrid>
              <a:tr h="27432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전체 (5 kernels: gate → SiLU → up → mul → down)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값</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ISA words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140,594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DMA bytes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152,174,604 (≈145 MiB; weight 3×48 MiB + X/H 이동)</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SRAM peak bytes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7,446,540 (8 MiB 중)</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DRAM image bytes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151,781,388</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compile seconds (단일 관측)</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21.96, attempts 64, executed=false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11" name="Shape 6"/>
          <p:cNvSpPr/>
          <p:nvPr/>
        </p:nvSpPr>
        <p:spPr>
          <a:xfrm>
            <a:off x="457200" y="4572000"/>
            <a:ext cx="11274552" cy="1188720"/>
          </a:xfrm>
          <a:prstGeom prst="roundRect">
            <a:avLst>
              <a:gd name="adj" fmla="val 4615"/>
            </a:avLst>
          </a:prstGeom>
          <a:solidFill>
            <a:srgbClr val="EEF2F6"/>
          </a:solidFill>
          <a:ln w="12700">
            <a:solidFill>
              <a:srgbClr val="C9D3DF"/>
            </a:solidFill>
            <a:prstDash val="solid"/>
          </a:ln>
        </p:spPr>
      </p:sp>
      <p:sp>
        <p:nvSpPr>
          <p:cNvPr id="12" name="Text 7"/>
          <p:cNvSpPr txBox="1"/>
          <p:nvPr/>
        </p:nvSpPr>
        <p:spPr>
          <a:xfrm>
            <a:off x="585216" y="4626864"/>
            <a:ext cx="11018520" cy="107899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Gate 하나의 M_MUL 수: </a:t>
            </a:r>
            <a:pPr algn="l" indent="0" marL="0">
              <a:buNone/>
            </a:pPr>
            <a:r>
              <a:rPr lang="en-US" sz="1000" dirty="0">
                <a:solidFill>
                  <a:srgbClr val="1F2D3D"/>
                </a:solidFill>
                <a:latin typeface="Malgun Gothic" pitchFamily="34" charset="0"/>
                <a:ea typeface="Malgun Gothic" pitchFamily="34" charset="-122"/>
                <a:cs typeface="Malgun Gothic" pitchFamily="34" charset="-120"/>
              </a:rPr>
              <a:t>출력 열 tile 128 × K tile 48 = 6,144. 세 projection 합 18,432 = mlp64.json의 opcode 0x42 count(18,432)와 일치합니다. 0x80(주소 descriptor) 82,093 words와 0x90(LOAD) 37,504 words가 프로그램의 대부분을 차지하며, 이것이 "정적 전개 명령 stream"의 비용 구조입니다.</a:t>
            </a:r>
            <a:endParaRPr lang="en-US" sz="1200" dirty="0"/>
          </a:p>
        </p:txBody>
      </p:sp>
      <p:sp>
        <p:nvSpPr>
          <p:cNvPr id="13" name="Shape 8"/>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4" name="Text 9"/>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실제 폭에서는 후보가 수백~수천 개라 예산이 먼저 끝나고 incumbent가 남는 경우가 있습니다. 예산 안의 결과이지 전 공간의 최적이 아닙니다.</a:t>
            </a:r>
            <a:endParaRPr lang="en-US" sz="1250" dirty="0"/>
          </a:p>
        </p:txBody>
      </p:sp>
      <p:sp>
        <p:nvSpPr>
          <p:cNvPr id="15" name="Text 10"/>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6" name="Text 11"/>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docs/examples/pipeline/bundle/program.json schedules, evidence/current/refinement.json, mlp64.json</a:t>
            </a:r>
            <a:endParaRPr lang="en-US" sz="850" dirty="0"/>
          </a:p>
        </p:txBody>
      </p:sp>
      <p:sp>
        <p:nvSpPr>
          <p:cNvPr id="17" name="Text 12"/>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39 / 89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6 · Matmul scheduling</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300" b="1" dirty="0">
                <a:solidFill>
                  <a:srgbClr val="15243B"/>
                </a:solidFill>
                <a:latin typeface="Malgun Gothic" pitchFamily="34" charset="0"/>
                <a:ea typeface="Malgun Gothic" pitchFamily="34" charset="-122"/>
                <a:cs typeface="Malgun Gothic" pitchFamily="34" charset="-120"/>
              </a:rPr>
              <a:t>긴 prefill(S=3072)에서 X와 W가 모두 큰 경우: 재읽기 횟수가 비용을 정한다</a:t>
            </a:r>
            <a:endParaRPr lang="en-US" sz="23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설명용 계산이며 새 compile 측정이 아닙니다. X 18 MiB, gate W 48 MiB. X는 64행(384 KiB), W는 256열(1.5 MiB)씩 올린다고 가정합니다.</a:t>
            </a:r>
            <a:endParaRPr lang="en-US" sz="1250" dirty="0"/>
          </a:p>
        </p:txBody>
      </p:sp>
      <p:sp>
        <p:nvSpPr>
          <p:cNvPr id="5" name="Shape 3"/>
          <p:cNvSpPr/>
          <p:nvPr/>
        </p:nvSpPr>
        <p:spPr>
          <a:xfrm>
            <a:off x="457200" y="1463040"/>
            <a:ext cx="5394960" cy="457200"/>
          </a:xfrm>
          <a:prstGeom prst="roundRect">
            <a:avLst>
              <a:gd name="adj" fmla="val 12000"/>
            </a:avLst>
          </a:prstGeom>
          <a:solidFill>
            <a:srgbClr val="DDF3F0"/>
          </a:solidFill>
          <a:ln w="12700">
            <a:solidFill>
              <a:srgbClr val="1F8A8A"/>
            </a:solidFill>
            <a:prstDash val="solid"/>
          </a:ln>
        </p:spPr>
      </p:sp>
      <p:sp>
        <p:nvSpPr>
          <p:cNvPr id="6" name="Text 4"/>
          <p:cNvSpPr txBox="1"/>
          <p:nvPr/>
        </p:nvSpPr>
        <p:spPr>
          <a:xfrm>
            <a:off x="512064" y="1499616"/>
            <a:ext cx="5285232" cy="384048"/>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X panel을 바깥에 유지 (a_at 바깥, b_at 안쪽)</a:t>
            </a:r>
            <a:endParaRPr lang="en-US" sz="1150" dirty="0"/>
          </a:p>
        </p:txBody>
      </p:sp>
      <p:sp>
        <p:nvSpPr>
          <p:cNvPr id="7" name="Shape 5"/>
          <p:cNvSpPr/>
          <p:nvPr/>
        </p:nvSpPr>
        <p:spPr>
          <a:xfrm>
            <a:off x="457200" y="2057400"/>
            <a:ext cx="1097280" cy="365760"/>
          </a:xfrm>
          <a:prstGeom prst="rect">
            <a:avLst/>
          </a:prstGeom>
          <a:solidFill>
            <a:srgbClr val="EEF2F6"/>
          </a:solidFill>
          <a:ln w="6350">
            <a:solidFill>
              <a:srgbClr val="C9D3DF"/>
            </a:solidFill>
            <a:prstDash val="solid"/>
          </a:ln>
        </p:spPr>
      </p:sp>
      <p:sp>
        <p:nvSpPr>
          <p:cNvPr id="8" name="Shape 6"/>
          <p:cNvSpPr/>
          <p:nvPr/>
        </p:nvSpPr>
        <p:spPr>
          <a:xfrm>
            <a:off x="457200" y="2423160"/>
            <a:ext cx="1097280" cy="365760"/>
          </a:xfrm>
          <a:prstGeom prst="rect">
            <a:avLst/>
          </a:prstGeom>
          <a:solidFill>
            <a:srgbClr val="DDF3F0"/>
          </a:solidFill>
          <a:ln w="6350">
            <a:solidFill>
              <a:srgbClr val="1F8A8A"/>
            </a:solidFill>
            <a:prstDash val="solid"/>
          </a:ln>
        </p:spPr>
      </p:sp>
      <p:sp>
        <p:nvSpPr>
          <p:cNvPr id="9" name="Text 7"/>
          <p:cNvSpPr txBox="1"/>
          <p:nvPr/>
        </p:nvSpPr>
        <p:spPr>
          <a:xfrm>
            <a:off x="457200" y="2423160"/>
            <a:ext cx="1097280" cy="365760"/>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X 64행</a:t>
            </a:r>
            <a:endParaRPr lang="en-US" sz="750" dirty="0"/>
          </a:p>
        </p:txBody>
      </p:sp>
      <p:sp>
        <p:nvSpPr>
          <p:cNvPr id="10" name="Shape 8"/>
          <p:cNvSpPr/>
          <p:nvPr/>
        </p:nvSpPr>
        <p:spPr>
          <a:xfrm>
            <a:off x="457200" y="2788920"/>
            <a:ext cx="1097280" cy="365760"/>
          </a:xfrm>
          <a:prstGeom prst="rect">
            <a:avLst/>
          </a:prstGeom>
          <a:solidFill>
            <a:srgbClr val="EEF2F6"/>
          </a:solidFill>
          <a:ln w="6350">
            <a:solidFill>
              <a:srgbClr val="C9D3DF"/>
            </a:solidFill>
            <a:prstDash val="solid"/>
          </a:ln>
        </p:spPr>
      </p:sp>
      <p:sp>
        <p:nvSpPr>
          <p:cNvPr id="11" name="Shape 9"/>
          <p:cNvSpPr/>
          <p:nvPr/>
        </p:nvSpPr>
        <p:spPr>
          <a:xfrm>
            <a:off x="457200" y="3154680"/>
            <a:ext cx="1097280" cy="365760"/>
          </a:xfrm>
          <a:prstGeom prst="rect">
            <a:avLst/>
          </a:prstGeom>
          <a:solidFill>
            <a:srgbClr val="EEF2F6"/>
          </a:solidFill>
          <a:ln w="6350">
            <a:solidFill>
              <a:srgbClr val="C9D3DF"/>
            </a:solidFill>
            <a:prstDash val="solid"/>
          </a:ln>
        </p:spPr>
      </p:sp>
      <p:sp>
        <p:nvSpPr>
          <p:cNvPr id="12" name="Shape 10"/>
          <p:cNvSpPr/>
          <p:nvPr/>
        </p:nvSpPr>
        <p:spPr>
          <a:xfrm>
            <a:off x="457200" y="3520440"/>
            <a:ext cx="1097280" cy="365760"/>
          </a:xfrm>
          <a:prstGeom prst="rect">
            <a:avLst/>
          </a:prstGeom>
          <a:solidFill>
            <a:srgbClr val="EEF2F6"/>
          </a:solidFill>
          <a:ln w="6350">
            <a:solidFill>
              <a:srgbClr val="C9D3DF"/>
            </a:solidFill>
            <a:prstDash val="solid"/>
          </a:ln>
        </p:spPr>
      </p:sp>
      <p:sp>
        <p:nvSpPr>
          <p:cNvPr id="13" name="Shape 11"/>
          <p:cNvSpPr/>
          <p:nvPr/>
        </p:nvSpPr>
        <p:spPr>
          <a:xfrm>
            <a:off x="457200" y="3886200"/>
            <a:ext cx="1097280" cy="365760"/>
          </a:xfrm>
          <a:prstGeom prst="rect">
            <a:avLst/>
          </a:prstGeom>
          <a:solidFill>
            <a:srgbClr val="EEF2F6"/>
          </a:solidFill>
          <a:ln w="6350">
            <a:solidFill>
              <a:srgbClr val="C9D3DF"/>
            </a:solidFill>
            <a:prstDash val="solid"/>
          </a:ln>
        </p:spPr>
      </p:sp>
      <p:sp>
        <p:nvSpPr>
          <p:cNvPr id="14" name="Text 12"/>
          <p:cNvSpPr txBox="1"/>
          <p:nvPr/>
        </p:nvSpPr>
        <p:spPr>
          <a:xfrm>
            <a:off x="457200" y="3886200"/>
            <a:ext cx="1097280" cy="365760"/>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…48</a:t>
            </a:r>
            <a:endParaRPr lang="en-US" sz="750" dirty="0"/>
          </a:p>
        </p:txBody>
      </p:sp>
      <p:sp>
        <p:nvSpPr>
          <p:cNvPr id="15" name="Shape 13"/>
          <p:cNvSpPr/>
          <p:nvPr/>
        </p:nvSpPr>
        <p:spPr>
          <a:xfrm>
            <a:off x="1737360" y="2057400"/>
            <a:ext cx="514350" cy="548640"/>
          </a:xfrm>
          <a:prstGeom prst="rect">
            <a:avLst/>
          </a:prstGeom>
          <a:solidFill>
            <a:srgbClr val="FFF1DC"/>
          </a:solidFill>
          <a:ln w="6350">
            <a:solidFill>
              <a:srgbClr val="D98A1E"/>
            </a:solidFill>
            <a:prstDash val="solid"/>
          </a:ln>
        </p:spPr>
      </p:sp>
      <p:sp>
        <p:nvSpPr>
          <p:cNvPr id="16" name="Text 14"/>
          <p:cNvSpPr txBox="1"/>
          <p:nvPr/>
        </p:nvSpPr>
        <p:spPr>
          <a:xfrm>
            <a:off x="1737360" y="2057400"/>
            <a:ext cx="514350" cy="548640"/>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W 256열</a:t>
            </a:r>
            <a:endParaRPr lang="en-US" sz="750" dirty="0"/>
          </a:p>
        </p:txBody>
      </p:sp>
      <p:sp>
        <p:nvSpPr>
          <p:cNvPr id="17" name="Shape 15"/>
          <p:cNvSpPr/>
          <p:nvPr/>
        </p:nvSpPr>
        <p:spPr>
          <a:xfrm>
            <a:off x="2251710" y="2057400"/>
            <a:ext cx="514350" cy="548640"/>
          </a:xfrm>
          <a:prstGeom prst="rect">
            <a:avLst/>
          </a:prstGeom>
          <a:solidFill>
            <a:srgbClr val="FFF1DC"/>
          </a:solidFill>
          <a:ln w="6350">
            <a:solidFill>
              <a:srgbClr val="D98A1E"/>
            </a:solidFill>
            <a:prstDash val="solid"/>
          </a:ln>
        </p:spPr>
      </p:sp>
      <p:sp>
        <p:nvSpPr>
          <p:cNvPr id="18" name="Shape 16"/>
          <p:cNvSpPr/>
          <p:nvPr/>
        </p:nvSpPr>
        <p:spPr>
          <a:xfrm>
            <a:off x="2766060" y="2057400"/>
            <a:ext cx="514350" cy="548640"/>
          </a:xfrm>
          <a:prstGeom prst="rect">
            <a:avLst/>
          </a:prstGeom>
          <a:solidFill>
            <a:srgbClr val="FFF1DC"/>
          </a:solidFill>
          <a:ln w="6350">
            <a:solidFill>
              <a:srgbClr val="D98A1E"/>
            </a:solidFill>
            <a:prstDash val="solid"/>
          </a:ln>
        </p:spPr>
      </p:sp>
      <p:sp>
        <p:nvSpPr>
          <p:cNvPr id="19" name="Shape 17"/>
          <p:cNvSpPr/>
          <p:nvPr/>
        </p:nvSpPr>
        <p:spPr>
          <a:xfrm>
            <a:off x="3280410" y="2057400"/>
            <a:ext cx="514350" cy="548640"/>
          </a:xfrm>
          <a:prstGeom prst="rect">
            <a:avLst/>
          </a:prstGeom>
          <a:solidFill>
            <a:srgbClr val="FFF1DC"/>
          </a:solidFill>
          <a:ln w="6350">
            <a:solidFill>
              <a:srgbClr val="D98A1E"/>
            </a:solidFill>
            <a:prstDash val="solid"/>
          </a:ln>
        </p:spPr>
      </p:sp>
      <p:sp>
        <p:nvSpPr>
          <p:cNvPr id="20" name="Shape 18"/>
          <p:cNvSpPr/>
          <p:nvPr/>
        </p:nvSpPr>
        <p:spPr>
          <a:xfrm>
            <a:off x="3794760" y="2057400"/>
            <a:ext cx="514350" cy="548640"/>
          </a:xfrm>
          <a:prstGeom prst="rect">
            <a:avLst/>
          </a:prstGeom>
          <a:solidFill>
            <a:srgbClr val="FFF1DC"/>
          </a:solidFill>
          <a:ln w="6350">
            <a:solidFill>
              <a:srgbClr val="D98A1E"/>
            </a:solidFill>
            <a:prstDash val="solid"/>
          </a:ln>
        </p:spPr>
      </p:sp>
      <p:sp>
        <p:nvSpPr>
          <p:cNvPr id="21" name="Shape 19"/>
          <p:cNvSpPr/>
          <p:nvPr/>
        </p:nvSpPr>
        <p:spPr>
          <a:xfrm>
            <a:off x="4309110" y="2057400"/>
            <a:ext cx="514350" cy="548640"/>
          </a:xfrm>
          <a:prstGeom prst="rect">
            <a:avLst/>
          </a:prstGeom>
          <a:solidFill>
            <a:srgbClr val="FFF1DC"/>
          </a:solidFill>
          <a:ln w="6350">
            <a:solidFill>
              <a:srgbClr val="D98A1E"/>
            </a:solidFill>
            <a:prstDash val="solid"/>
          </a:ln>
        </p:spPr>
      </p:sp>
      <p:sp>
        <p:nvSpPr>
          <p:cNvPr id="22" name="Shape 20"/>
          <p:cNvSpPr/>
          <p:nvPr/>
        </p:nvSpPr>
        <p:spPr>
          <a:xfrm>
            <a:off x="4823460" y="2057400"/>
            <a:ext cx="514350" cy="548640"/>
          </a:xfrm>
          <a:prstGeom prst="rect">
            <a:avLst/>
          </a:prstGeom>
          <a:solidFill>
            <a:srgbClr val="FFF1DC"/>
          </a:solidFill>
          <a:ln w="6350">
            <a:solidFill>
              <a:srgbClr val="D98A1E"/>
            </a:solidFill>
            <a:prstDash val="solid"/>
          </a:ln>
        </p:spPr>
      </p:sp>
      <p:sp>
        <p:nvSpPr>
          <p:cNvPr id="23" name="Shape 21"/>
          <p:cNvSpPr/>
          <p:nvPr/>
        </p:nvSpPr>
        <p:spPr>
          <a:xfrm>
            <a:off x="5337810" y="2057400"/>
            <a:ext cx="514350" cy="548640"/>
          </a:xfrm>
          <a:prstGeom prst="rect">
            <a:avLst/>
          </a:prstGeom>
          <a:solidFill>
            <a:srgbClr val="FFF1DC"/>
          </a:solidFill>
          <a:ln w="6350">
            <a:solidFill>
              <a:srgbClr val="D98A1E"/>
            </a:solidFill>
            <a:prstDash val="solid"/>
          </a:ln>
        </p:spPr>
      </p:sp>
      <p:sp>
        <p:nvSpPr>
          <p:cNvPr id="24" name="Text 22"/>
          <p:cNvSpPr txBox="1"/>
          <p:nvPr/>
        </p:nvSpPr>
        <p:spPr>
          <a:xfrm>
            <a:off x="5337810" y="2057400"/>
            <a:ext cx="514350" cy="548640"/>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…32</a:t>
            </a:r>
            <a:endParaRPr lang="en-US" sz="750" dirty="0"/>
          </a:p>
        </p:txBody>
      </p:sp>
      <p:sp>
        <p:nvSpPr>
          <p:cNvPr id="25" name="Text 23"/>
          <p:cNvSpPr txBox="1"/>
          <p:nvPr/>
        </p:nvSpPr>
        <p:spPr>
          <a:xfrm>
            <a:off x="1737360" y="2697480"/>
            <a:ext cx="4114800" cy="822960"/>
          </a:xfrm>
          <a:prstGeom prst="rect">
            <a:avLst/>
          </a:prstGeom>
          <a:noFill/>
          <a:ln/>
        </p:spPr>
        <p:txBody>
          <a:bodyPr wrap="square" lIns="0" tIns="0" rIns="0" bIns="0" rtlCol="0" anchor="t"/>
          <a:lstStyle/>
          <a:p>
            <a:pPr algn="l" indent="0" marL="0">
              <a:buNone/>
            </a:pPr>
            <a:r>
              <a:rPr lang="en-US" sz="950" dirty="0">
                <a:solidFill>
                  <a:srgbClr val="5B6B7F"/>
                </a:solidFill>
                <a:latin typeface="Malgun Gothic" pitchFamily="34" charset="0"/>
                <a:ea typeface="Malgun Gothic" pitchFamily="34" charset="-122"/>
                <a:cs typeface="Malgun Gothic" pitchFamily="34" charset="-120"/>
              </a:rPr>
              <a:t>X panel 하나(384 KiB)가 SRAM에 있는 동안 W 열 panel 32개(1.5 MiB씩)를 차례로 올림 → X panel마다 W 48 MiB 재전송</a:t>
            </a:r>
            <a:endParaRPr lang="en-US" sz="950" dirty="0"/>
          </a:p>
        </p:txBody>
      </p:sp>
      <p:sp>
        <p:nvSpPr>
          <p:cNvPr id="26" name="Text 24"/>
          <p:cNvSpPr txBox="1"/>
          <p:nvPr/>
        </p:nvSpPr>
        <p:spPr>
          <a:xfrm>
            <a:off x="1737360" y="3566160"/>
            <a:ext cx="4114800" cy="54864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전송량 ≈ X 18 MiB + W 48 MiB × 48 = 2,322 MiB</a:t>
            </a:r>
            <a:endParaRPr lang="en-US" sz="1100" dirty="0"/>
          </a:p>
        </p:txBody>
      </p:sp>
      <p:sp>
        <p:nvSpPr>
          <p:cNvPr id="27" name="Shape 25"/>
          <p:cNvSpPr/>
          <p:nvPr/>
        </p:nvSpPr>
        <p:spPr>
          <a:xfrm>
            <a:off x="6336792" y="1463040"/>
            <a:ext cx="5394960" cy="457200"/>
          </a:xfrm>
          <a:prstGeom prst="roundRect">
            <a:avLst>
              <a:gd name="adj" fmla="val 12000"/>
            </a:avLst>
          </a:prstGeom>
          <a:solidFill>
            <a:srgbClr val="FFF1DC"/>
          </a:solidFill>
          <a:ln w="12700">
            <a:solidFill>
              <a:srgbClr val="D98A1E"/>
            </a:solidFill>
            <a:prstDash val="solid"/>
          </a:ln>
        </p:spPr>
      </p:sp>
      <p:sp>
        <p:nvSpPr>
          <p:cNvPr id="28" name="Text 26"/>
          <p:cNvSpPr txBox="1"/>
          <p:nvPr/>
        </p:nvSpPr>
        <p:spPr>
          <a:xfrm>
            <a:off x="6391656" y="1499616"/>
            <a:ext cx="5285232" cy="384048"/>
          </a:xfrm>
          <a:prstGeom prst="rect">
            <a:avLst/>
          </a:prstGeom>
          <a:noFill/>
          <a:ln/>
        </p:spPr>
        <p:txBody>
          <a:bodyPr wrap="square" lIns="0" tIns="0" rIns="0" bIns="0" rtlCol="0" anchor="ctr"/>
          <a:lstStyle/>
          <a:p>
            <a:pPr algn="ctr" indent="0" marL="0">
              <a:buNone/>
            </a:pPr>
            <a:r>
              <a:rPr lang="en-US" sz="1150" b="1" dirty="0">
                <a:solidFill>
                  <a:srgbClr val="1F2D3D"/>
                </a:solidFill>
                <a:latin typeface="Malgun Gothic" pitchFamily="34" charset="0"/>
                <a:ea typeface="Malgun Gothic" pitchFamily="34" charset="-122"/>
                <a:cs typeface="Malgun Gothic" pitchFamily="34" charset="-120"/>
              </a:rPr>
              <a:t>W panel을 바깥에 유지 (b_at 바깥, a_at 안쪽)</a:t>
            </a:r>
            <a:endParaRPr lang="en-US" sz="1150" dirty="0"/>
          </a:p>
        </p:txBody>
      </p:sp>
      <p:sp>
        <p:nvSpPr>
          <p:cNvPr id="29" name="Shape 27"/>
          <p:cNvSpPr/>
          <p:nvPr/>
        </p:nvSpPr>
        <p:spPr>
          <a:xfrm>
            <a:off x="6336792" y="2057400"/>
            <a:ext cx="514350" cy="548640"/>
          </a:xfrm>
          <a:prstGeom prst="rect">
            <a:avLst/>
          </a:prstGeom>
          <a:solidFill>
            <a:srgbClr val="EEF2F6"/>
          </a:solidFill>
          <a:ln w="6350">
            <a:solidFill>
              <a:srgbClr val="C9D3DF"/>
            </a:solidFill>
            <a:prstDash val="solid"/>
          </a:ln>
        </p:spPr>
      </p:sp>
      <p:sp>
        <p:nvSpPr>
          <p:cNvPr id="30" name="Shape 28"/>
          <p:cNvSpPr/>
          <p:nvPr/>
        </p:nvSpPr>
        <p:spPr>
          <a:xfrm>
            <a:off x="6851142" y="2057400"/>
            <a:ext cx="514350" cy="548640"/>
          </a:xfrm>
          <a:prstGeom prst="rect">
            <a:avLst/>
          </a:prstGeom>
          <a:solidFill>
            <a:srgbClr val="FFF1DC"/>
          </a:solidFill>
          <a:ln w="6350">
            <a:solidFill>
              <a:srgbClr val="D98A1E"/>
            </a:solidFill>
            <a:prstDash val="solid"/>
          </a:ln>
        </p:spPr>
      </p:sp>
      <p:sp>
        <p:nvSpPr>
          <p:cNvPr id="31" name="Text 29"/>
          <p:cNvSpPr txBox="1"/>
          <p:nvPr/>
        </p:nvSpPr>
        <p:spPr>
          <a:xfrm>
            <a:off x="6851142" y="2057400"/>
            <a:ext cx="514350" cy="548640"/>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W 256열</a:t>
            </a:r>
            <a:endParaRPr lang="en-US" sz="750" dirty="0"/>
          </a:p>
        </p:txBody>
      </p:sp>
      <p:sp>
        <p:nvSpPr>
          <p:cNvPr id="32" name="Shape 30"/>
          <p:cNvSpPr/>
          <p:nvPr/>
        </p:nvSpPr>
        <p:spPr>
          <a:xfrm>
            <a:off x="7365492" y="2057400"/>
            <a:ext cx="514350" cy="548640"/>
          </a:xfrm>
          <a:prstGeom prst="rect">
            <a:avLst/>
          </a:prstGeom>
          <a:solidFill>
            <a:srgbClr val="EEF2F6"/>
          </a:solidFill>
          <a:ln w="6350">
            <a:solidFill>
              <a:srgbClr val="C9D3DF"/>
            </a:solidFill>
            <a:prstDash val="solid"/>
          </a:ln>
        </p:spPr>
      </p:sp>
      <p:sp>
        <p:nvSpPr>
          <p:cNvPr id="33" name="Shape 31"/>
          <p:cNvSpPr/>
          <p:nvPr/>
        </p:nvSpPr>
        <p:spPr>
          <a:xfrm>
            <a:off x="7879842" y="2057400"/>
            <a:ext cx="514350" cy="548640"/>
          </a:xfrm>
          <a:prstGeom prst="rect">
            <a:avLst/>
          </a:prstGeom>
          <a:solidFill>
            <a:srgbClr val="EEF2F6"/>
          </a:solidFill>
          <a:ln w="6350">
            <a:solidFill>
              <a:srgbClr val="C9D3DF"/>
            </a:solidFill>
            <a:prstDash val="solid"/>
          </a:ln>
        </p:spPr>
      </p:sp>
      <p:sp>
        <p:nvSpPr>
          <p:cNvPr id="34" name="Shape 32"/>
          <p:cNvSpPr/>
          <p:nvPr/>
        </p:nvSpPr>
        <p:spPr>
          <a:xfrm>
            <a:off x="8394192" y="2057400"/>
            <a:ext cx="514350" cy="548640"/>
          </a:xfrm>
          <a:prstGeom prst="rect">
            <a:avLst/>
          </a:prstGeom>
          <a:solidFill>
            <a:srgbClr val="EEF2F6"/>
          </a:solidFill>
          <a:ln w="6350">
            <a:solidFill>
              <a:srgbClr val="C9D3DF"/>
            </a:solidFill>
            <a:prstDash val="solid"/>
          </a:ln>
        </p:spPr>
      </p:sp>
      <p:sp>
        <p:nvSpPr>
          <p:cNvPr id="35" name="Shape 33"/>
          <p:cNvSpPr/>
          <p:nvPr/>
        </p:nvSpPr>
        <p:spPr>
          <a:xfrm>
            <a:off x="8908542" y="2057400"/>
            <a:ext cx="514350" cy="548640"/>
          </a:xfrm>
          <a:prstGeom prst="rect">
            <a:avLst/>
          </a:prstGeom>
          <a:solidFill>
            <a:srgbClr val="EEF2F6"/>
          </a:solidFill>
          <a:ln w="6350">
            <a:solidFill>
              <a:srgbClr val="C9D3DF"/>
            </a:solidFill>
            <a:prstDash val="solid"/>
          </a:ln>
        </p:spPr>
      </p:sp>
      <p:sp>
        <p:nvSpPr>
          <p:cNvPr id="36" name="Shape 34"/>
          <p:cNvSpPr/>
          <p:nvPr/>
        </p:nvSpPr>
        <p:spPr>
          <a:xfrm>
            <a:off x="9422892" y="2057400"/>
            <a:ext cx="514350" cy="548640"/>
          </a:xfrm>
          <a:prstGeom prst="rect">
            <a:avLst/>
          </a:prstGeom>
          <a:solidFill>
            <a:srgbClr val="EEF2F6"/>
          </a:solidFill>
          <a:ln w="6350">
            <a:solidFill>
              <a:srgbClr val="C9D3DF"/>
            </a:solidFill>
            <a:prstDash val="solid"/>
          </a:ln>
        </p:spPr>
      </p:sp>
      <p:sp>
        <p:nvSpPr>
          <p:cNvPr id="37" name="Shape 35"/>
          <p:cNvSpPr/>
          <p:nvPr/>
        </p:nvSpPr>
        <p:spPr>
          <a:xfrm>
            <a:off x="9937242" y="2057400"/>
            <a:ext cx="514350" cy="548640"/>
          </a:xfrm>
          <a:prstGeom prst="rect">
            <a:avLst/>
          </a:prstGeom>
          <a:solidFill>
            <a:srgbClr val="EEF2F6"/>
          </a:solidFill>
          <a:ln w="6350">
            <a:solidFill>
              <a:srgbClr val="C9D3DF"/>
            </a:solidFill>
            <a:prstDash val="solid"/>
          </a:ln>
        </p:spPr>
      </p:sp>
      <p:sp>
        <p:nvSpPr>
          <p:cNvPr id="38" name="Text 36"/>
          <p:cNvSpPr txBox="1"/>
          <p:nvPr/>
        </p:nvSpPr>
        <p:spPr>
          <a:xfrm>
            <a:off x="9937242" y="2057400"/>
            <a:ext cx="514350" cy="548640"/>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…32</a:t>
            </a:r>
            <a:endParaRPr lang="en-US" sz="750" dirty="0"/>
          </a:p>
        </p:txBody>
      </p:sp>
      <p:sp>
        <p:nvSpPr>
          <p:cNvPr id="39" name="Shape 37"/>
          <p:cNvSpPr/>
          <p:nvPr/>
        </p:nvSpPr>
        <p:spPr>
          <a:xfrm>
            <a:off x="10634472" y="2057400"/>
            <a:ext cx="1097280" cy="365760"/>
          </a:xfrm>
          <a:prstGeom prst="rect">
            <a:avLst/>
          </a:prstGeom>
          <a:solidFill>
            <a:srgbClr val="DDF3F0"/>
          </a:solidFill>
          <a:ln w="6350">
            <a:solidFill>
              <a:srgbClr val="1F8A8A"/>
            </a:solidFill>
            <a:prstDash val="solid"/>
          </a:ln>
        </p:spPr>
      </p:sp>
      <p:sp>
        <p:nvSpPr>
          <p:cNvPr id="40" name="Text 38"/>
          <p:cNvSpPr txBox="1"/>
          <p:nvPr/>
        </p:nvSpPr>
        <p:spPr>
          <a:xfrm>
            <a:off x="10634472" y="2057400"/>
            <a:ext cx="1097280" cy="365760"/>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X 64행</a:t>
            </a:r>
            <a:endParaRPr lang="en-US" sz="750" dirty="0"/>
          </a:p>
        </p:txBody>
      </p:sp>
      <p:sp>
        <p:nvSpPr>
          <p:cNvPr id="41" name="Shape 39"/>
          <p:cNvSpPr/>
          <p:nvPr/>
        </p:nvSpPr>
        <p:spPr>
          <a:xfrm>
            <a:off x="10634472" y="2423160"/>
            <a:ext cx="1097280" cy="365760"/>
          </a:xfrm>
          <a:prstGeom prst="rect">
            <a:avLst/>
          </a:prstGeom>
          <a:solidFill>
            <a:srgbClr val="DDF3F0"/>
          </a:solidFill>
          <a:ln w="6350">
            <a:solidFill>
              <a:srgbClr val="1F8A8A"/>
            </a:solidFill>
            <a:prstDash val="solid"/>
          </a:ln>
        </p:spPr>
      </p:sp>
      <p:sp>
        <p:nvSpPr>
          <p:cNvPr id="42" name="Shape 40"/>
          <p:cNvSpPr/>
          <p:nvPr/>
        </p:nvSpPr>
        <p:spPr>
          <a:xfrm>
            <a:off x="10634472" y="2788920"/>
            <a:ext cx="1097280" cy="365760"/>
          </a:xfrm>
          <a:prstGeom prst="rect">
            <a:avLst/>
          </a:prstGeom>
          <a:solidFill>
            <a:srgbClr val="DDF3F0"/>
          </a:solidFill>
          <a:ln w="6350">
            <a:solidFill>
              <a:srgbClr val="1F8A8A"/>
            </a:solidFill>
            <a:prstDash val="solid"/>
          </a:ln>
        </p:spPr>
      </p:sp>
      <p:sp>
        <p:nvSpPr>
          <p:cNvPr id="43" name="Shape 41"/>
          <p:cNvSpPr/>
          <p:nvPr/>
        </p:nvSpPr>
        <p:spPr>
          <a:xfrm>
            <a:off x="10634472" y="3154680"/>
            <a:ext cx="1097280" cy="365760"/>
          </a:xfrm>
          <a:prstGeom prst="rect">
            <a:avLst/>
          </a:prstGeom>
          <a:solidFill>
            <a:srgbClr val="DDF3F0"/>
          </a:solidFill>
          <a:ln w="6350">
            <a:solidFill>
              <a:srgbClr val="1F8A8A"/>
            </a:solidFill>
            <a:prstDash val="solid"/>
          </a:ln>
        </p:spPr>
      </p:sp>
      <p:sp>
        <p:nvSpPr>
          <p:cNvPr id="44" name="Shape 42"/>
          <p:cNvSpPr/>
          <p:nvPr/>
        </p:nvSpPr>
        <p:spPr>
          <a:xfrm>
            <a:off x="10634472" y="3520440"/>
            <a:ext cx="1097280" cy="365760"/>
          </a:xfrm>
          <a:prstGeom prst="rect">
            <a:avLst/>
          </a:prstGeom>
          <a:solidFill>
            <a:srgbClr val="DDF3F0"/>
          </a:solidFill>
          <a:ln w="6350">
            <a:solidFill>
              <a:srgbClr val="1F8A8A"/>
            </a:solidFill>
            <a:prstDash val="solid"/>
          </a:ln>
        </p:spPr>
      </p:sp>
      <p:sp>
        <p:nvSpPr>
          <p:cNvPr id="45" name="Shape 43"/>
          <p:cNvSpPr/>
          <p:nvPr/>
        </p:nvSpPr>
        <p:spPr>
          <a:xfrm>
            <a:off x="10634472" y="3886200"/>
            <a:ext cx="1097280" cy="365760"/>
          </a:xfrm>
          <a:prstGeom prst="rect">
            <a:avLst/>
          </a:prstGeom>
          <a:solidFill>
            <a:srgbClr val="DDF3F0"/>
          </a:solidFill>
          <a:ln w="6350">
            <a:solidFill>
              <a:srgbClr val="1F8A8A"/>
            </a:solidFill>
            <a:prstDash val="solid"/>
          </a:ln>
        </p:spPr>
      </p:sp>
      <p:sp>
        <p:nvSpPr>
          <p:cNvPr id="46" name="Text 44"/>
          <p:cNvSpPr txBox="1"/>
          <p:nvPr/>
        </p:nvSpPr>
        <p:spPr>
          <a:xfrm>
            <a:off x="10634472" y="3886200"/>
            <a:ext cx="1097280" cy="365760"/>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…48</a:t>
            </a:r>
            <a:endParaRPr lang="en-US" sz="750" dirty="0"/>
          </a:p>
        </p:txBody>
      </p:sp>
      <p:sp>
        <p:nvSpPr>
          <p:cNvPr id="47" name="Text 45"/>
          <p:cNvSpPr txBox="1"/>
          <p:nvPr/>
        </p:nvSpPr>
        <p:spPr>
          <a:xfrm>
            <a:off x="6336792" y="2697480"/>
            <a:ext cx="4114800" cy="822960"/>
          </a:xfrm>
          <a:prstGeom prst="rect">
            <a:avLst/>
          </a:prstGeom>
          <a:noFill/>
          <a:ln/>
        </p:spPr>
        <p:txBody>
          <a:bodyPr wrap="square" lIns="0" tIns="0" rIns="0" bIns="0" rtlCol="0" anchor="t"/>
          <a:lstStyle/>
          <a:p>
            <a:pPr algn="l" indent="0" marL="0">
              <a:buNone/>
            </a:pPr>
            <a:r>
              <a:rPr lang="en-US" sz="950" dirty="0">
                <a:solidFill>
                  <a:srgbClr val="5B6B7F"/>
                </a:solidFill>
                <a:latin typeface="Malgun Gothic" pitchFamily="34" charset="0"/>
                <a:ea typeface="Malgun Gothic" pitchFamily="34" charset="-122"/>
                <a:cs typeface="Malgun Gothic" pitchFamily="34" charset="-120"/>
              </a:rPr>
              <a:t>W panel 하나(1.5 MiB)가 SRAM에 있는 동안 X 행 panel 48개(384 KiB씩)를 차례로 올림 → W panel마다 X 18 MiB 재전송</a:t>
            </a:r>
            <a:endParaRPr lang="en-US" sz="950" dirty="0"/>
          </a:p>
        </p:txBody>
      </p:sp>
      <p:sp>
        <p:nvSpPr>
          <p:cNvPr id="48" name="Text 46"/>
          <p:cNvSpPr txBox="1"/>
          <p:nvPr/>
        </p:nvSpPr>
        <p:spPr>
          <a:xfrm>
            <a:off x="6336792" y="3566160"/>
            <a:ext cx="4114800" cy="54864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전송량 ≈ W 48 MiB + X 18 MiB × 32 = 624 MiB</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4434840"/>
          <a:ext cx="11274552" cy="914400"/>
        </p:xfrm>
        <a:graphic>
          <a:graphicData uri="http://schemas.openxmlformats.org/drawingml/2006/table">
            <a:tbl>
              <a:tblPr/>
              <a:tblGrid>
                <a:gridCol w="2743200"/>
                <a:gridCol w="1371600"/>
                <a:gridCol w="3200400"/>
                <a:gridCol w="3959352"/>
              </a:tblGrid>
              <a:tr h="310896">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가정</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바깥에 유지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재읽기 때문에 생기는 전송</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합계 (설명용)</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X 64행 panel, W 256열 panel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X panel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X 18 MiB + W 48 MiB × 48회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 2.3 GiB</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X 64행 panel, W 256열 panel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W panel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W 48 MiB + X 18 MiB × 32회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 0.6 GiB</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더 큰 panel (예: W 1024열 6 MiB)</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W panel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W 48 MiB + X 18 MiB × 8회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 0.19 GiB (SRAM 8 MiB 중 나머지가 출력·임시·보관에 필요)</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50" name="Shape 47"/>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51" name="Text 48"/>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SRAM을 채우는 양보다 재사용 범위와 재읽기 횟수가 중요합니다. 실제 탐색은 여기에 앞 커널의 SRAM 입력(보관값)까지 포함해 비교합니다.</a:t>
            </a:r>
            <a:endParaRPr lang="en-US" sz="1250" dirty="0"/>
          </a:p>
        </p:txBody>
      </p:sp>
      <p:sp>
        <p:nvSpPr>
          <p:cNvPr id="52" name="Text 49"/>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53" name="Text 50"/>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docs/current/06_matmul_schedule.md (설명용 산술)</a:t>
            </a:r>
            <a:endParaRPr lang="en-US" sz="850" dirty="0"/>
          </a:p>
        </p:txBody>
      </p:sp>
      <p:sp>
        <p:nvSpPr>
          <p:cNvPr id="54" name="Text 51"/>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40 / 89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6 · Matmul scheduling</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1850" b="1" dirty="0">
                <a:solidFill>
                  <a:srgbClr val="15243B"/>
                </a:solidFill>
                <a:latin typeface="Malgun Gothic" pitchFamily="34" charset="0"/>
                <a:ea typeface="Malgun Gothic" pitchFamily="34" charset="-122"/>
                <a:cs typeface="Malgun Gothic" pitchFamily="34" charset="-120"/>
              </a:rPr>
              <a:t>누산 체인 검사: codegen이 MAC chain을 보장하고, lower_stores가 FP32 buffer 사용을 제한한다</a:t>
            </a:r>
            <a:endParaRPr lang="en-US" sz="185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"SRAM에 공간이 충분하다"만으로 schedule이 실행 가능한 것은 아닙니다. 출력 tile의 K 누적을 끊는 후보는 세 단계 중 하나에서 거절됩니다.</a:t>
            </a:r>
            <a:endParaRPr lang="en-US" sz="1250" dirty="0"/>
          </a:p>
        </p:txBody>
      </p:sp>
      <p:sp>
        <p:nvSpPr>
          <p:cNvPr id="5" name="Shape 3"/>
          <p:cNvSpPr/>
          <p:nvPr/>
        </p:nvSpPr>
        <p:spPr>
          <a:xfrm>
            <a:off x="457200" y="1371600"/>
            <a:ext cx="5760720" cy="2743200"/>
          </a:xfrm>
          <a:prstGeom prst="roundRect">
            <a:avLst>
              <a:gd name="adj" fmla="val 1667"/>
            </a:avLst>
          </a:prstGeom>
          <a:solidFill>
            <a:srgbClr val="F5F7FA"/>
          </a:solidFill>
          <a:ln w="9525">
            <a:solidFill>
              <a:srgbClr val="C9D3DF"/>
            </a:solidFill>
            <a:prstDash val="solid"/>
          </a:ln>
        </p:spPr>
      </p:sp>
      <p:sp>
        <p:nvSpPr>
          <p:cNvPr id="6" name="Text 4"/>
          <p:cNvSpPr txBox="1"/>
          <p:nvPr/>
        </p:nvSpPr>
        <p:spPr>
          <a:xfrm>
            <a:off x="566928" y="1444752"/>
            <a:ext cx="5541264" cy="2596896"/>
          </a:xfrm>
          <a:prstGeom prst="rect">
            <a:avLst/>
          </a:prstGeom>
          <a:noFill/>
          <a:ln/>
        </p:spPr>
        <p:txBody>
          <a:bodyPr wrap="square" lIns="0" tIns="0" rIns="0" bIns="0" rtlCol="0" anchor="t"/>
          <a:lstStyle/>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tir_codegen_v09.Walker (Python; native v09_walker.cc 동일 계약)</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def call("npu_fill_zero", C):  self.zeroed.add(C)    # 명령 없음</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def emit_gemm(C, A, B):</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if C in zeroed:      flush(); pending = C; first = True   # MAC=0</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elif pending == C:   first = False                         # MAC=1</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else: raise LinkError("FP32 matrix chain interrupted: </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resuming from an FP16 store would change the reduction")</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region(SRC1, A); LOAD(matrix, SRC1); region(SRC2, B); LOAD(matrix, SRC2)</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M_MUL(mode=VECTOR, activation=OFF, mac=not first)</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def flush():   # 완료된 tile을 FP16으로 SAVE</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region(DST, pending); SAVE(matrix=1)</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flush 시점: vector op / reduction / SRAM→SRAM 이동 / write-back DMA 전, kernel 끝</a:t>
            </a:r>
            <a:endParaRPr lang="en-US" sz="820" dirty="0"/>
          </a:p>
          <a:p>
            <a:pPr algn="l" indent="0" marL="0">
              <a:lnSpc>
                <a:spcPct val="105000"/>
              </a:lnSpc>
              <a:buNone/>
            </a:pPr>
            <a:r>
              <a:rPr lang="en-US" sz="820" dirty="0">
                <a:solidFill>
                  <a:srgbClr val="1F2D3D"/>
                </a:solidFill>
                <a:latin typeface="Courier New" pitchFamily="34" charset="0"/>
                <a:ea typeface="Courier New" pitchFamily="34" charset="-122"/>
                <a:cs typeface="Courier New" pitchFamily="34" charset="-120"/>
              </a:rPr>
              <a:t># (입력 GLOAD staging은 flush하지 않음)</a:t>
            </a:r>
            <a:endParaRPr lang="en-US" sz="82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446520" y="1371600"/>
          <a:ext cx="5285232" cy="914400"/>
        </p:xfrm>
        <a:graphic>
          <a:graphicData uri="http://schemas.openxmlformats.org/drawingml/2006/table">
            <a:tbl>
              <a:tblPr/>
              <a:tblGrid>
                <a:gridCol w="1463040"/>
                <a:gridCol w="2194560"/>
                <a:gridCol w="1627632"/>
              </a:tblGrid>
              <a:tr h="566928">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검사 층</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규칙</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위반 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56692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npu_accumulator.lower_stores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FP32 buffer store는 copy / zero / acc + Cast(f32, fp16)만. load는 FP16 cast 아래에서만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schedule_rejected ("unsupported FP32 accumulator use", "escapes without FP16 store")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56692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Walker.emit_gemm</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한 C tile의 K chain 사이에 flush를 일으키는 명령 금지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codegen_rejected (LinkError, native: invalid_schedule → fallback 없음)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56692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npu_sram.plan_sram</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gemm/fill 목적지 buffer는 pinned: 모든 buffer와 충돌로 취급</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SAVE 지연 중 덮어쓰기 방지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56692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forward_output_tiles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출력이 SRAM에 보관되면 fill+gemm view를 출력에 직접 → identity copy 제거</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조건 불충족 시 임시 tile 유지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graphicFrame>
        <p:nvGraphicFramePr>
          <p:cNvPr id="83" name="Table 1"/>
          <p:cNvGraphicFramePr>
            <a:graphicFrameLocks noGrp="1"/>
          </p:cNvGraphicFramePr>
          <p:nvPr>
            <p:extLst>
              <p:ext uri="{D42A27DB-BD31-4B8C-83A1-F6EECF244321}">
                <p14:modId xmlns:p14="http://schemas.microsoft.com/office/powerpoint/2010/main" val="1579011935"/>
              </p:ext>
            </p:extLst>
          </p:nvPr>
        </p:nvGraphicFramePr>
        <p:xfrm>
          <a:off x="457200" y="4297680"/>
          <a:ext cx="5760720" cy="914400"/>
        </p:xfrm>
        <a:graphic>
          <a:graphicData uri="http://schemas.openxmlformats.org/drawingml/2006/table">
            <a:tbl>
              <a:tblPr/>
              <a:tblGrid>
                <a:gridCol w="3017520"/>
                <a:gridCol w="2743200"/>
              </a:tblGrid>
              <a:tr h="310896">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chain을 끊는 예</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 step 사이의 pad fill / dequantize (vector op)</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vector 명령 전 flush → 누산 상태 손실</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 step 사이의 SRAM→SRAM copy, bounce DMA</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이동 전 flush</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두 출력 tile을 번갈아 누산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accumulator 1개: 다른 C가 오면 LinkError</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9" name="Shape 5"/>
          <p:cNvSpPr/>
          <p:nvPr/>
        </p:nvSpPr>
        <p:spPr>
          <a:xfrm>
            <a:off x="6446520" y="4297680"/>
            <a:ext cx="5285232" cy="1463040"/>
          </a:xfrm>
          <a:prstGeom prst="roundRect">
            <a:avLst>
              <a:gd name="adj" fmla="val 3750"/>
            </a:avLst>
          </a:prstGeom>
          <a:solidFill>
            <a:srgbClr val="FFF6DB"/>
          </a:solidFill>
          <a:ln w="12700">
            <a:solidFill>
              <a:srgbClr val="B7791F"/>
            </a:solidFill>
            <a:prstDash val="solid"/>
          </a:ln>
        </p:spPr>
      </p:sp>
      <p:sp>
        <p:nvSpPr>
          <p:cNvPr id="10" name="Text 6"/>
          <p:cNvSpPr txBox="1"/>
          <p:nvPr/>
        </p:nvSpPr>
        <p:spPr>
          <a:xfrm>
            <a:off x="6574536" y="4352544"/>
            <a:ext cx="5029200" cy="135331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기록: </a:t>
            </a:r>
            <a:pPr algn="l" indent="0" marL="0">
              <a:buNone/>
            </a:pPr>
            <a:r>
              <a:rPr lang="en-US" sz="1000" dirty="0">
                <a:solidFill>
                  <a:srgbClr val="1F2D3D"/>
                </a:solidFill>
                <a:latin typeface="Malgun Gothic" pitchFamily="34" charset="0"/>
                <a:ea typeface="Malgun Gothic" pitchFamily="34" charset="-122"/>
                <a:cs typeface="Malgun Gothic" pitchFamily="34" charset="-120"/>
              </a:rPr>
              <a:t>전체 Llama compile에서 native_rejections["FP32 matrix chain interrupted"] = 5. 이런 후보는 조용한 fallback이 아니라 invalid_schedule로 거절되어 다음 후보로 넘어갑니다. 내부 오류·계약 hash 불일치는 별도로 propagate됩니다.</a:t>
            </a:r>
            <a:endParaRPr lang="en-US" sz="1200" dirty="0"/>
          </a:p>
        </p:txBody>
      </p:sp>
      <p:sp>
        <p:nvSpPr>
          <p:cNvPr id="11" name="Text 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2" name="Text 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npu_compiler/tir_codegen_v09.py (emit_gemm, flush), npu_accumulator.py (lower_stores, forward_output_tiles), npu_sram.py (pinned)</a:t>
            </a:r>
            <a:endParaRPr lang="en-US" sz="850" dirty="0"/>
          </a:p>
        </p:txBody>
      </p:sp>
      <p:sp>
        <p:nvSpPr>
          <p:cNvPr id="13" name="Text 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41 / 89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6 · Matmul scheduling</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200" b="1" dirty="0">
                <a:solidFill>
                  <a:srgbClr val="15243B"/>
                </a:solidFill>
                <a:latin typeface="Malgun Gothic" pitchFamily="34" charset="0"/>
                <a:ea typeface="Malgun Gothic" pitchFamily="34" charset="-122"/>
                <a:cs typeface="Malgun Gothic" pitchFamily="34" charset="-120"/>
              </a:rPr>
              <a:t>MetaSchedule 연결(선택형): ReplayFunc 추첨 순서와 JSONDatabase trace 재생</a:t>
            </a:r>
            <a:endParaRPr lang="en-US" sz="22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기본은 space(추정 DMA 순). schedule_search="meta_schedule"는 같은 후보 pool에서 sample_categorical로 번호를 뽑고, compilation(schedule_database=…)는 실행 조건이 같은 커널의 trace를 저장·재검증합니다. 학습형 cost model·latency 측정은 없습니다.</a:t>
            </a:r>
            <a:endParaRPr lang="en-US" sz="1250" dirty="0"/>
          </a:p>
        </p:txBody>
      </p:sp>
      <p:sp>
        <p:nvSpPr>
          <p:cNvPr id="5" name="Text 3"/>
          <p:cNvSpPr txBox="1"/>
          <p:nvPr/>
        </p:nvSpPr>
        <p:spPr>
          <a:xfrm>
            <a:off x="457200" y="1371600"/>
            <a:ext cx="5577840" cy="219456"/>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같은 pool (정규화·용량 필터 후, 추정 DMA 순 index) — 검사 순서만 다르고 평가는 공통</a:t>
            </a:r>
            <a:endParaRPr lang="en-US" sz="950" dirty="0"/>
          </a:p>
        </p:txBody>
      </p:sp>
      <p:sp>
        <p:nvSpPr>
          <p:cNvPr id="6" name="Shape 4"/>
          <p:cNvSpPr/>
          <p:nvPr/>
        </p:nvSpPr>
        <p:spPr>
          <a:xfrm>
            <a:off x="1463040" y="2103120"/>
            <a:ext cx="381000" cy="310896"/>
          </a:xfrm>
          <a:prstGeom prst="rect">
            <a:avLst/>
          </a:prstGeom>
          <a:solidFill>
            <a:srgbClr val="EEF2F6"/>
          </a:solidFill>
          <a:ln w="6350">
            <a:solidFill>
              <a:srgbClr val="C9D3DF"/>
            </a:solidFill>
            <a:prstDash val="solid"/>
          </a:ln>
        </p:spPr>
      </p:sp>
      <p:sp>
        <p:nvSpPr>
          <p:cNvPr id="7" name="Text 5"/>
          <p:cNvSpPr txBox="1"/>
          <p:nvPr/>
        </p:nvSpPr>
        <p:spPr>
          <a:xfrm>
            <a:off x="1463040" y="2103120"/>
            <a:ext cx="381000" cy="310896"/>
          </a:xfrm>
          <a:prstGeom prst="rect">
            <a:avLst/>
          </a:prstGeom>
          <a:noFill/>
          <a:ln/>
        </p:spPr>
        <p:txBody>
          <a:bodyPr wrap="square" lIns="0" tIns="0" rIns="0" bIns="0" rtlCol="0" anchor="ctr"/>
          <a:lstStyle/>
          <a:p>
            <a:pPr algn="ctr" indent="0" marL="0">
              <a:buNone/>
            </a:pPr>
            <a:r>
              <a:rPr lang="en-US" sz="800" dirty="0">
                <a:solidFill>
                  <a:srgbClr val="1F2D3D"/>
                </a:solidFill>
                <a:latin typeface="Courier New" pitchFamily="34" charset="0"/>
                <a:ea typeface="Courier New" pitchFamily="34" charset="-122"/>
                <a:cs typeface="Courier New" pitchFamily="34" charset="-120"/>
              </a:rPr>
              <a:t>0</a:t>
            </a:r>
            <a:endParaRPr lang="en-US" sz="800" dirty="0"/>
          </a:p>
        </p:txBody>
      </p:sp>
      <p:sp>
        <p:nvSpPr>
          <p:cNvPr id="8" name="Shape 6"/>
          <p:cNvSpPr/>
          <p:nvPr/>
        </p:nvSpPr>
        <p:spPr>
          <a:xfrm>
            <a:off x="1844040" y="2103120"/>
            <a:ext cx="381000" cy="310896"/>
          </a:xfrm>
          <a:prstGeom prst="rect">
            <a:avLst/>
          </a:prstGeom>
          <a:solidFill>
            <a:srgbClr val="EEF2F6"/>
          </a:solidFill>
          <a:ln w="6350">
            <a:solidFill>
              <a:srgbClr val="C9D3DF"/>
            </a:solidFill>
            <a:prstDash val="solid"/>
          </a:ln>
        </p:spPr>
      </p:sp>
      <p:sp>
        <p:nvSpPr>
          <p:cNvPr id="9" name="Text 7"/>
          <p:cNvSpPr txBox="1"/>
          <p:nvPr/>
        </p:nvSpPr>
        <p:spPr>
          <a:xfrm>
            <a:off x="1844040" y="2103120"/>
            <a:ext cx="381000" cy="310896"/>
          </a:xfrm>
          <a:prstGeom prst="rect">
            <a:avLst/>
          </a:prstGeom>
          <a:noFill/>
          <a:ln/>
        </p:spPr>
        <p:txBody>
          <a:bodyPr wrap="square" lIns="0" tIns="0" rIns="0" bIns="0" rtlCol="0" anchor="ctr"/>
          <a:lstStyle/>
          <a:p>
            <a:pPr algn="ctr" indent="0" marL="0">
              <a:buNone/>
            </a:pPr>
            <a:r>
              <a:rPr lang="en-US" sz="800" dirty="0">
                <a:solidFill>
                  <a:srgbClr val="1F2D3D"/>
                </a:solidFill>
                <a:latin typeface="Courier New" pitchFamily="34" charset="0"/>
                <a:ea typeface="Courier New" pitchFamily="34" charset="-122"/>
                <a:cs typeface="Courier New" pitchFamily="34" charset="-120"/>
              </a:rPr>
              <a:t>1</a:t>
            </a:r>
            <a:endParaRPr lang="en-US" sz="800" dirty="0"/>
          </a:p>
        </p:txBody>
      </p:sp>
      <p:sp>
        <p:nvSpPr>
          <p:cNvPr id="10" name="Shape 8"/>
          <p:cNvSpPr/>
          <p:nvPr/>
        </p:nvSpPr>
        <p:spPr>
          <a:xfrm>
            <a:off x="2225040" y="2103120"/>
            <a:ext cx="381000" cy="310896"/>
          </a:xfrm>
          <a:prstGeom prst="rect">
            <a:avLst/>
          </a:prstGeom>
          <a:solidFill>
            <a:srgbClr val="EEF2F6"/>
          </a:solidFill>
          <a:ln w="6350">
            <a:solidFill>
              <a:srgbClr val="C9D3DF"/>
            </a:solidFill>
            <a:prstDash val="solid"/>
          </a:ln>
        </p:spPr>
      </p:sp>
      <p:sp>
        <p:nvSpPr>
          <p:cNvPr id="11" name="Text 9"/>
          <p:cNvSpPr txBox="1"/>
          <p:nvPr/>
        </p:nvSpPr>
        <p:spPr>
          <a:xfrm>
            <a:off x="2225040" y="2103120"/>
            <a:ext cx="381000" cy="310896"/>
          </a:xfrm>
          <a:prstGeom prst="rect">
            <a:avLst/>
          </a:prstGeom>
          <a:noFill/>
          <a:ln/>
        </p:spPr>
        <p:txBody>
          <a:bodyPr wrap="square" lIns="0" tIns="0" rIns="0" bIns="0" rtlCol="0" anchor="ctr"/>
          <a:lstStyle/>
          <a:p>
            <a:pPr algn="ctr" indent="0" marL="0">
              <a:buNone/>
            </a:pPr>
            <a:r>
              <a:rPr lang="en-US" sz="800" dirty="0">
                <a:solidFill>
                  <a:srgbClr val="1F2D3D"/>
                </a:solidFill>
                <a:latin typeface="Courier New" pitchFamily="34" charset="0"/>
                <a:ea typeface="Courier New" pitchFamily="34" charset="-122"/>
                <a:cs typeface="Courier New" pitchFamily="34" charset="-120"/>
              </a:rPr>
              <a:t>2</a:t>
            </a:r>
            <a:endParaRPr lang="en-US" sz="800" dirty="0"/>
          </a:p>
        </p:txBody>
      </p:sp>
      <p:sp>
        <p:nvSpPr>
          <p:cNvPr id="12" name="Shape 10"/>
          <p:cNvSpPr/>
          <p:nvPr/>
        </p:nvSpPr>
        <p:spPr>
          <a:xfrm>
            <a:off x="2606040" y="2103120"/>
            <a:ext cx="381000" cy="310896"/>
          </a:xfrm>
          <a:prstGeom prst="rect">
            <a:avLst/>
          </a:prstGeom>
          <a:solidFill>
            <a:srgbClr val="EEF2F6"/>
          </a:solidFill>
          <a:ln w="6350">
            <a:solidFill>
              <a:srgbClr val="C9D3DF"/>
            </a:solidFill>
            <a:prstDash val="solid"/>
          </a:ln>
        </p:spPr>
      </p:sp>
      <p:sp>
        <p:nvSpPr>
          <p:cNvPr id="13" name="Text 11"/>
          <p:cNvSpPr txBox="1"/>
          <p:nvPr/>
        </p:nvSpPr>
        <p:spPr>
          <a:xfrm>
            <a:off x="2606040" y="2103120"/>
            <a:ext cx="381000" cy="310896"/>
          </a:xfrm>
          <a:prstGeom prst="rect">
            <a:avLst/>
          </a:prstGeom>
          <a:noFill/>
          <a:ln/>
        </p:spPr>
        <p:txBody>
          <a:bodyPr wrap="square" lIns="0" tIns="0" rIns="0" bIns="0" rtlCol="0" anchor="ctr"/>
          <a:lstStyle/>
          <a:p>
            <a:pPr algn="ctr" indent="0" marL="0">
              <a:buNone/>
            </a:pPr>
            <a:r>
              <a:rPr lang="en-US" sz="800" dirty="0">
                <a:solidFill>
                  <a:srgbClr val="1F2D3D"/>
                </a:solidFill>
                <a:latin typeface="Courier New" pitchFamily="34" charset="0"/>
                <a:ea typeface="Courier New" pitchFamily="34" charset="-122"/>
                <a:cs typeface="Courier New" pitchFamily="34" charset="-120"/>
              </a:rPr>
              <a:t>3</a:t>
            </a:r>
            <a:endParaRPr lang="en-US" sz="800" dirty="0"/>
          </a:p>
        </p:txBody>
      </p:sp>
      <p:sp>
        <p:nvSpPr>
          <p:cNvPr id="14" name="Shape 12"/>
          <p:cNvSpPr/>
          <p:nvPr/>
        </p:nvSpPr>
        <p:spPr>
          <a:xfrm>
            <a:off x="2987040" y="2103120"/>
            <a:ext cx="381000" cy="310896"/>
          </a:xfrm>
          <a:prstGeom prst="rect">
            <a:avLst/>
          </a:prstGeom>
          <a:solidFill>
            <a:srgbClr val="EEF2F6"/>
          </a:solidFill>
          <a:ln w="6350">
            <a:solidFill>
              <a:srgbClr val="C9D3DF"/>
            </a:solidFill>
            <a:prstDash val="solid"/>
          </a:ln>
        </p:spPr>
      </p:sp>
      <p:sp>
        <p:nvSpPr>
          <p:cNvPr id="15" name="Text 13"/>
          <p:cNvSpPr txBox="1"/>
          <p:nvPr/>
        </p:nvSpPr>
        <p:spPr>
          <a:xfrm>
            <a:off x="2987040" y="2103120"/>
            <a:ext cx="381000" cy="310896"/>
          </a:xfrm>
          <a:prstGeom prst="rect">
            <a:avLst/>
          </a:prstGeom>
          <a:noFill/>
          <a:ln/>
        </p:spPr>
        <p:txBody>
          <a:bodyPr wrap="square" lIns="0" tIns="0" rIns="0" bIns="0" rtlCol="0" anchor="ctr"/>
          <a:lstStyle/>
          <a:p>
            <a:pPr algn="ctr" indent="0" marL="0">
              <a:buNone/>
            </a:pPr>
            <a:r>
              <a:rPr lang="en-US" sz="800" dirty="0">
                <a:solidFill>
                  <a:srgbClr val="1F2D3D"/>
                </a:solidFill>
                <a:latin typeface="Courier New" pitchFamily="34" charset="0"/>
                <a:ea typeface="Courier New" pitchFamily="34" charset="-122"/>
                <a:cs typeface="Courier New" pitchFamily="34" charset="-120"/>
              </a:rPr>
              <a:t>4</a:t>
            </a:r>
            <a:endParaRPr lang="en-US" sz="800" dirty="0"/>
          </a:p>
        </p:txBody>
      </p:sp>
      <p:sp>
        <p:nvSpPr>
          <p:cNvPr id="16" name="Shape 14"/>
          <p:cNvSpPr/>
          <p:nvPr/>
        </p:nvSpPr>
        <p:spPr>
          <a:xfrm>
            <a:off x="3368040" y="2103120"/>
            <a:ext cx="381000" cy="310896"/>
          </a:xfrm>
          <a:prstGeom prst="rect">
            <a:avLst/>
          </a:prstGeom>
          <a:solidFill>
            <a:srgbClr val="EEF2F6"/>
          </a:solidFill>
          <a:ln w="6350">
            <a:solidFill>
              <a:srgbClr val="C9D3DF"/>
            </a:solidFill>
            <a:prstDash val="solid"/>
          </a:ln>
        </p:spPr>
      </p:sp>
      <p:sp>
        <p:nvSpPr>
          <p:cNvPr id="17" name="Text 15"/>
          <p:cNvSpPr txBox="1"/>
          <p:nvPr/>
        </p:nvSpPr>
        <p:spPr>
          <a:xfrm>
            <a:off x="3368040" y="2103120"/>
            <a:ext cx="381000" cy="310896"/>
          </a:xfrm>
          <a:prstGeom prst="rect">
            <a:avLst/>
          </a:prstGeom>
          <a:noFill/>
          <a:ln/>
        </p:spPr>
        <p:txBody>
          <a:bodyPr wrap="square" lIns="0" tIns="0" rIns="0" bIns="0" rtlCol="0" anchor="ctr"/>
          <a:lstStyle/>
          <a:p>
            <a:pPr algn="ctr" indent="0" marL="0">
              <a:buNone/>
            </a:pPr>
            <a:r>
              <a:rPr lang="en-US" sz="800" dirty="0">
                <a:solidFill>
                  <a:srgbClr val="1F2D3D"/>
                </a:solidFill>
                <a:latin typeface="Courier New" pitchFamily="34" charset="0"/>
                <a:ea typeface="Courier New" pitchFamily="34" charset="-122"/>
                <a:cs typeface="Courier New" pitchFamily="34" charset="-120"/>
              </a:rPr>
              <a:t>5</a:t>
            </a:r>
            <a:endParaRPr lang="en-US" sz="800" dirty="0"/>
          </a:p>
        </p:txBody>
      </p:sp>
      <p:sp>
        <p:nvSpPr>
          <p:cNvPr id="18" name="Shape 16"/>
          <p:cNvSpPr/>
          <p:nvPr/>
        </p:nvSpPr>
        <p:spPr>
          <a:xfrm>
            <a:off x="3749040" y="2103120"/>
            <a:ext cx="381000" cy="310896"/>
          </a:xfrm>
          <a:prstGeom prst="rect">
            <a:avLst/>
          </a:prstGeom>
          <a:solidFill>
            <a:srgbClr val="EEF2F6"/>
          </a:solidFill>
          <a:ln w="6350">
            <a:solidFill>
              <a:srgbClr val="C9D3DF"/>
            </a:solidFill>
            <a:prstDash val="solid"/>
          </a:ln>
        </p:spPr>
      </p:sp>
      <p:sp>
        <p:nvSpPr>
          <p:cNvPr id="19" name="Text 17"/>
          <p:cNvSpPr txBox="1"/>
          <p:nvPr/>
        </p:nvSpPr>
        <p:spPr>
          <a:xfrm>
            <a:off x="3749040" y="2103120"/>
            <a:ext cx="381000" cy="310896"/>
          </a:xfrm>
          <a:prstGeom prst="rect">
            <a:avLst/>
          </a:prstGeom>
          <a:noFill/>
          <a:ln/>
        </p:spPr>
        <p:txBody>
          <a:bodyPr wrap="square" lIns="0" tIns="0" rIns="0" bIns="0" rtlCol="0" anchor="ctr"/>
          <a:lstStyle/>
          <a:p>
            <a:pPr algn="ctr" indent="0" marL="0">
              <a:buNone/>
            </a:pPr>
            <a:r>
              <a:rPr lang="en-US" sz="800" dirty="0">
                <a:solidFill>
                  <a:srgbClr val="1F2D3D"/>
                </a:solidFill>
                <a:latin typeface="Courier New" pitchFamily="34" charset="0"/>
                <a:ea typeface="Courier New" pitchFamily="34" charset="-122"/>
                <a:cs typeface="Courier New" pitchFamily="34" charset="-120"/>
              </a:rPr>
              <a:t>6</a:t>
            </a:r>
            <a:endParaRPr lang="en-US" sz="800" dirty="0"/>
          </a:p>
        </p:txBody>
      </p:sp>
      <p:sp>
        <p:nvSpPr>
          <p:cNvPr id="20" name="Shape 18"/>
          <p:cNvSpPr/>
          <p:nvPr/>
        </p:nvSpPr>
        <p:spPr>
          <a:xfrm>
            <a:off x="4130040" y="2103120"/>
            <a:ext cx="381000" cy="310896"/>
          </a:xfrm>
          <a:prstGeom prst="rect">
            <a:avLst/>
          </a:prstGeom>
          <a:solidFill>
            <a:srgbClr val="EEF2F6"/>
          </a:solidFill>
          <a:ln w="6350">
            <a:solidFill>
              <a:srgbClr val="C9D3DF"/>
            </a:solidFill>
            <a:prstDash val="solid"/>
          </a:ln>
        </p:spPr>
      </p:sp>
      <p:sp>
        <p:nvSpPr>
          <p:cNvPr id="21" name="Text 19"/>
          <p:cNvSpPr txBox="1"/>
          <p:nvPr/>
        </p:nvSpPr>
        <p:spPr>
          <a:xfrm>
            <a:off x="4130040" y="2103120"/>
            <a:ext cx="381000" cy="310896"/>
          </a:xfrm>
          <a:prstGeom prst="rect">
            <a:avLst/>
          </a:prstGeom>
          <a:noFill/>
          <a:ln/>
        </p:spPr>
        <p:txBody>
          <a:bodyPr wrap="square" lIns="0" tIns="0" rIns="0" bIns="0" rtlCol="0" anchor="ctr"/>
          <a:lstStyle/>
          <a:p>
            <a:pPr algn="ctr" indent="0" marL="0">
              <a:buNone/>
            </a:pPr>
            <a:r>
              <a:rPr lang="en-US" sz="800" dirty="0">
                <a:solidFill>
                  <a:srgbClr val="1F2D3D"/>
                </a:solidFill>
                <a:latin typeface="Courier New" pitchFamily="34" charset="0"/>
                <a:ea typeface="Courier New" pitchFamily="34" charset="-122"/>
                <a:cs typeface="Courier New" pitchFamily="34" charset="-120"/>
              </a:rPr>
              <a:t>7</a:t>
            </a:r>
            <a:endParaRPr lang="en-US" sz="800" dirty="0"/>
          </a:p>
        </p:txBody>
      </p:sp>
      <p:sp>
        <p:nvSpPr>
          <p:cNvPr id="22" name="Shape 20"/>
          <p:cNvSpPr/>
          <p:nvPr/>
        </p:nvSpPr>
        <p:spPr>
          <a:xfrm>
            <a:off x="4511040" y="2103120"/>
            <a:ext cx="381000" cy="310896"/>
          </a:xfrm>
          <a:prstGeom prst="rect">
            <a:avLst/>
          </a:prstGeom>
          <a:solidFill>
            <a:srgbClr val="EEF2F6"/>
          </a:solidFill>
          <a:ln w="6350">
            <a:solidFill>
              <a:srgbClr val="C9D3DF"/>
            </a:solidFill>
            <a:prstDash val="solid"/>
          </a:ln>
        </p:spPr>
      </p:sp>
      <p:sp>
        <p:nvSpPr>
          <p:cNvPr id="23" name="Text 21"/>
          <p:cNvSpPr txBox="1"/>
          <p:nvPr/>
        </p:nvSpPr>
        <p:spPr>
          <a:xfrm>
            <a:off x="4511040" y="2103120"/>
            <a:ext cx="381000" cy="310896"/>
          </a:xfrm>
          <a:prstGeom prst="rect">
            <a:avLst/>
          </a:prstGeom>
          <a:noFill/>
          <a:ln/>
        </p:spPr>
        <p:txBody>
          <a:bodyPr wrap="square" lIns="0" tIns="0" rIns="0" bIns="0" rtlCol="0" anchor="ctr"/>
          <a:lstStyle/>
          <a:p>
            <a:pPr algn="ctr" indent="0" marL="0">
              <a:buNone/>
            </a:pPr>
            <a:r>
              <a:rPr lang="en-US" sz="800" dirty="0">
                <a:solidFill>
                  <a:srgbClr val="1F2D3D"/>
                </a:solidFill>
                <a:latin typeface="Courier New" pitchFamily="34" charset="0"/>
                <a:ea typeface="Courier New" pitchFamily="34" charset="-122"/>
                <a:cs typeface="Courier New" pitchFamily="34" charset="-120"/>
              </a:rPr>
              <a:t>8</a:t>
            </a:r>
            <a:endParaRPr lang="en-US" sz="800" dirty="0"/>
          </a:p>
        </p:txBody>
      </p:sp>
      <p:sp>
        <p:nvSpPr>
          <p:cNvPr id="24" name="Shape 22"/>
          <p:cNvSpPr/>
          <p:nvPr/>
        </p:nvSpPr>
        <p:spPr>
          <a:xfrm>
            <a:off x="4892040" y="2103120"/>
            <a:ext cx="381000" cy="310896"/>
          </a:xfrm>
          <a:prstGeom prst="rect">
            <a:avLst/>
          </a:prstGeom>
          <a:solidFill>
            <a:srgbClr val="EEF2F6"/>
          </a:solidFill>
          <a:ln w="6350">
            <a:solidFill>
              <a:srgbClr val="C9D3DF"/>
            </a:solidFill>
            <a:prstDash val="solid"/>
          </a:ln>
        </p:spPr>
      </p:sp>
      <p:sp>
        <p:nvSpPr>
          <p:cNvPr id="25" name="Text 23"/>
          <p:cNvSpPr txBox="1"/>
          <p:nvPr/>
        </p:nvSpPr>
        <p:spPr>
          <a:xfrm>
            <a:off x="4892040" y="2103120"/>
            <a:ext cx="381000" cy="310896"/>
          </a:xfrm>
          <a:prstGeom prst="rect">
            <a:avLst/>
          </a:prstGeom>
          <a:noFill/>
          <a:ln/>
        </p:spPr>
        <p:txBody>
          <a:bodyPr wrap="square" lIns="0" tIns="0" rIns="0" bIns="0" rtlCol="0" anchor="ctr"/>
          <a:lstStyle/>
          <a:p>
            <a:pPr algn="ctr" indent="0" marL="0">
              <a:buNone/>
            </a:pPr>
            <a:r>
              <a:rPr lang="en-US" sz="800" dirty="0">
                <a:solidFill>
                  <a:srgbClr val="1F2D3D"/>
                </a:solidFill>
                <a:latin typeface="Courier New" pitchFamily="34" charset="0"/>
                <a:ea typeface="Courier New" pitchFamily="34" charset="-122"/>
                <a:cs typeface="Courier New" pitchFamily="34" charset="-120"/>
              </a:rPr>
              <a:t>9</a:t>
            </a:r>
            <a:endParaRPr lang="en-US" sz="800" dirty="0"/>
          </a:p>
        </p:txBody>
      </p:sp>
      <p:sp>
        <p:nvSpPr>
          <p:cNvPr id="26" name="Shape 24"/>
          <p:cNvSpPr/>
          <p:nvPr/>
        </p:nvSpPr>
        <p:spPr>
          <a:xfrm>
            <a:off x="5273040" y="2103120"/>
            <a:ext cx="381000" cy="310896"/>
          </a:xfrm>
          <a:prstGeom prst="rect">
            <a:avLst/>
          </a:prstGeom>
          <a:solidFill>
            <a:srgbClr val="EEF2F6"/>
          </a:solidFill>
          <a:ln w="6350">
            <a:solidFill>
              <a:srgbClr val="C9D3DF"/>
            </a:solidFill>
            <a:prstDash val="solid"/>
          </a:ln>
        </p:spPr>
      </p:sp>
      <p:sp>
        <p:nvSpPr>
          <p:cNvPr id="27" name="Text 25"/>
          <p:cNvSpPr txBox="1"/>
          <p:nvPr/>
        </p:nvSpPr>
        <p:spPr>
          <a:xfrm>
            <a:off x="5273040" y="2103120"/>
            <a:ext cx="381000" cy="310896"/>
          </a:xfrm>
          <a:prstGeom prst="rect">
            <a:avLst/>
          </a:prstGeom>
          <a:noFill/>
          <a:ln/>
        </p:spPr>
        <p:txBody>
          <a:bodyPr wrap="square" lIns="0" tIns="0" rIns="0" bIns="0" rtlCol="0" anchor="ctr"/>
          <a:lstStyle/>
          <a:p>
            <a:pPr algn="ctr" indent="0" marL="0">
              <a:buNone/>
            </a:pPr>
            <a:r>
              <a:rPr lang="en-US" sz="800" dirty="0">
                <a:solidFill>
                  <a:srgbClr val="1F2D3D"/>
                </a:solidFill>
                <a:latin typeface="Courier New" pitchFamily="34" charset="0"/>
                <a:ea typeface="Courier New" pitchFamily="34" charset="-122"/>
                <a:cs typeface="Courier New" pitchFamily="34" charset="-120"/>
              </a:rPr>
              <a:t>10</a:t>
            </a:r>
            <a:endParaRPr lang="en-US" sz="800" dirty="0"/>
          </a:p>
        </p:txBody>
      </p:sp>
      <p:sp>
        <p:nvSpPr>
          <p:cNvPr id="28" name="Shape 26"/>
          <p:cNvSpPr/>
          <p:nvPr/>
        </p:nvSpPr>
        <p:spPr>
          <a:xfrm>
            <a:off x="5654040" y="2103120"/>
            <a:ext cx="381000" cy="310896"/>
          </a:xfrm>
          <a:prstGeom prst="rect">
            <a:avLst/>
          </a:prstGeom>
          <a:solidFill>
            <a:srgbClr val="EEF2F6"/>
          </a:solidFill>
          <a:ln w="6350">
            <a:solidFill>
              <a:srgbClr val="C9D3DF"/>
            </a:solidFill>
            <a:prstDash val="solid"/>
          </a:ln>
        </p:spPr>
      </p:sp>
      <p:sp>
        <p:nvSpPr>
          <p:cNvPr id="29" name="Text 27"/>
          <p:cNvSpPr txBox="1"/>
          <p:nvPr/>
        </p:nvSpPr>
        <p:spPr>
          <a:xfrm>
            <a:off x="5654040" y="2103120"/>
            <a:ext cx="381000" cy="310896"/>
          </a:xfrm>
          <a:prstGeom prst="rect">
            <a:avLst/>
          </a:prstGeom>
          <a:noFill/>
          <a:ln/>
        </p:spPr>
        <p:txBody>
          <a:bodyPr wrap="square" lIns="0" tIns="0" rIns="0" bIns="0" rtlCol="0" anchor="ctr"/>
          <a:lstStyle/>
          <a:p>
            <a:pPr algn="ctr" indent="0" marL="0">
              <a:buNone/>
            </a:pPr>
            <a:r>
              <a:rPr lang="en-US" sz="800" dirty="0">
                <a:solidFill>
                  <a:srgbClr val="1F2D3D"/>
                </a:solidFill>
                <a:latin typeface="Courier New" pitchFamily="34" charset="0"/>
                <a:ea typeface="Courier New" pitchFamily="34" charset="-122"/>
                <a:cs typeface="Courier New" pitchFamily="34" charset="-120"/>
              </a:rPr>
              <a:t>11</a:t>
            </a:r>
            <a:endParaRPr lang="en-US" sz="800" dirty="0"/>
          </a:p>
        </p:txBody>
      </p:sp>
      <p:sp>
        <p:nvSpPr>
          <p:cNvPr id="30" name="Text 28"/>
          <p:cNvSpPr txBox="1"/>
          <p:nvPr/>
        </p:nvSpPr>
        <p:spPr>
          <a:xfrm>
            <a:off x="493776" y="2103120"/>
            <a:ext cx="914400" cy="310896"/>
          </a:xfrm>
          <a:prstGeom prst="rect">
            <a:avLst/>
          </a:prstGeom>
          <a:noFill/>
          <a:ln/>
        </p:spPr>
        <p:txBody>
          <a:bodyPr wrap="square" lIns="0" tIns="0" rIns="0" bIns="0" rtlCol="0" anchor="ctr"/>
          <a:lstStyle/>
          <a:p>
            <a:pPr algn="r" indent="0" marL="0">
              <a:buNone/>
            </a:pPr>
            <a:r>
              <a:rPr lang="en-US" sz="850" b="1" dirty="0">
                <a:solidFill>
                  <a:srgbClr val="15243B"/>
                </a:solidFill>
                <a:latin typeface="Malgun Gothic" pitchFamily="34" charset="0"/>
                <a:ea typeface="Malgun Gothic" pitchFamily="34" charset="-122"/>
                <a:cs typeface="Malgun Gothic" pitchFamily="34" charset="-120"/>
              </a:rPr>
              <a:t>후보 pool</a:t>
            </a:r>
            <a:endParaRPr lang="en-US" sz="850" dirty="0"/>
          </a:p>
        </p:txBody>
      </p:sp>
      <p:sp>
        <p:nvSpPr>
          <p:cNvPr id="31" name="Text 29"/>
          <p:cNvSpPr txBox="1"/>
          <p:nvPr/>
        </p:nvSpPr>
        <p:spPr>
          <a:xfrm>
            <a:off x="457200" y="1627632"/>
            <a:ext cx="960120" cy="365760"/>
          </a:xfrm>
          <a:prstGeom prst="rect">
            <a:avLst/>
          </a:prstGeom>
          <a:noFill/>
          <a:ln/>
        </p:spPr>
        <p:txBody>
          <a:bodyPr wrap="square" lIns="0" tIns="0" rIns="0" bIns="0" rtlCol="0" anchor="ctr"/>
          <a:lstStyle/>
          <a:p>
            <a:pPr algn="r" indent="0" marL="0">
              <a:buNone/>
            </a:pPr>
            <a:r>
              <a:rPr lang="en-US" sz="850" b="1" dirty="0">
                <a:solidFill>
                  <a:srgbClr val="1F8A8A"/>
                </a:solidFill>
                <a:latin typeface="Malgun Gothic" pitchFamily="34" charset="0"/>
                <a:ea typeface="Malgun Gothic" pitchFamily="34" charset="-122"/>
                <a:cs typeface="Malgun Gothic" pitchFamily="34" charset="-120"/>
              </a:rPr>
              <a:t>space</a:t>
            </a:r>
            <a:endParaRPr lang="en-US" sz="850" dirty="0"/>
          </a:p>
        </p:txBody>
      </p:sp>
      <p:sp>
        <p:nvSpPr>
          <p:cNvPr id="32" name="Shape 30"/>
          <p:cNvSpPr/>
          <p:nvPr/>
        </p:nvSpPr>
        <p:spPr>
          <a:xfrm>
            <a:off x="1653540" y="1810512"/>
            <a:ext cx="914" cy="274320"/>
          </a:xfrm>
          <a:prstGeom prst="line">
            <a:avLst/>
          </a:prstGeom>
          <a:noFill/>
          <a:ln w="19050">
            <a:solidFill>
              <a:srgbClr val="1F8A8A"/>
            </a:solidFill>
            <a:prstDash val="solid"/>
            <a:tailEnd type="triangle"/>
          </a:ln>
        </p:spPr>
      </p:sp>
      <p:sp>
        <p:nvSpPr>
          <p:cNvPr id="33" name="Text 31"/>
          <p:cNvSpPr txBox="1"/>
          <p:nvPr/>
        </p:nvSpPr>
        <p:spPr>
          <a:xfrm>
            <a:off x="1470660" y="1609344"/>
            <a:ext cx="365760" cy="182880"/>
          </a:xfrm>
          <a:prstGeom prst="rect">
            <a:avLst/>
          </a:prstGeom>
          <a:noFill/>
          <a:ln/>
        </p:spPr>
        <p:txBody>
          <a:bodyPr wrap="square" lIns="0" tIns="0" rIns="0" bIns="0" rtlCol="0" anchor="t"/>
          <a:lstStyle/>
          <a:p>
            <a:pPr algn="ctr" indent="0" marL="0">
              <a:buNone/>
            </a:pPr>
            <a:r>
              <a:rPr lang="en-US" sz="800" b="1" dirty="0">
                <a:solidFill>
                  <a:srgbClr val="1F8A8A"/>
                </a:solidFill>
                <a:latin typeface="Malgun Gothic" pitchFamily="34" charset="0"/>
                <a:ea typeface="Malgun Gothic" pitchFamily="34" charset="-122"/>
                <a:cs typeface="Malgun Gothic" pitchFamily="34" charset="-120"/>
              </a:rPr>
              <a:t>①</a:t>
            </a:r>
            <a:endParaRPr lang="en-US" sz="800" dirty="0"/>
          </a:p>
        </p:txBody>
      </p:sp>
      <p:sp>
        <p:nvSpPr>
          <p:cNvPr id="34" name="Shape 32"/>
          <p:cNvSpPr/>
          <p:nvPr/>
        </p:nvSpPr>
        <p:spPr>
          <a:xfrm>
            <a:off x="2034540" y="1810512"/>
            <a:ext cx="914" cy="274320"/>
          </a:xfrm>
          <a:prstGeom prst="line">
            <a:avLst/>
          </a:prstGeom>
          <a:noFill/>
          <a:ln w="19050">
            <a:solidFill>
              <a:srgbClr val="1F8A8A"/>
            </a:solidFill>
            <a:prstDash val="solid"/>
            <a:tailEnd type="triangle"/>
          </a:ln>
        </p:spPr>
      </p:sp>
      <p:sp>
        <p:nvSpPr>
          <p:cNvPr id="35" name="Text 33"/>
          <p:cNvSpPr txBox="1"/>
          <p:nvPr/>
        </p:nvSpPr>
        <p:spPr>
          <a:xfrm>
            <a:off x="1851660" y="1609344"/>
            <a:ext cx="365760" cy="182880"/>
          </a:xfrm>
          <a:prstGeom prst="rect">
            <a:avLst/>
          </a:prstGeom>
          <a:noFill/>
          <a:ln/>
        </p:spPr>
        <p:txBody>
          <a:bodyPr wrap="square" lIns="0" tIns="0" rIns="0" bIns="0" rtlCol="0" anchor="t"/>
          <a:lstStyle/>
          <a:p>
            <a:pPr algn="ctr" indent="0" marL="0">
              <a:buNone/>
            </a:pPr>
            <a:r>
              <a:rPr lang="en-US" sz="800" b="1" dirty="0">
                <a:solidFill>
                  <a:srgbClr val="1F8A8A"/>
                </a:solidFill>
                <a:latin typeface="Malgun Gothic" pitchFamily="34" charset="0"/>
                <a:ea typeface="Malgun Gothic" pitchFamily="34" charset="-122"/>
                <a:cs typeface="Malgun Gothic" pitchFamily="34" charset="-120"/>
              </a:rPr>
              <a:t>②</a:t>
            </a:r>
            <a:endParaRPr lang="en-US" sz="800" dirty="0"/>
          </a:p>
        </p:txBody>
      </p:sp>
      <p:sp>
        <p:nvSpPr>
          <p:cNvPr id="36" name="Shape 34"/>
          <p:cNvSpPr/>
          <p:nvPr/>
        </p:nvSpPr>
        <p:spPr>
          <a:xfrm>
            <a:off x="2415540" y="1810512"/>
            <a:ext cx="914" cy="274320"/>
          </a:xfrm>
          <a:prstGeom prst="line">
            <a:avLst/>
          </a:prstGeom>
          <a:noFill/>
          <a:ln w="19050">
            <a:solidFill>
              <a:srgbClr val="1F8A8A"/>
            </a:solidFill>
            <a:prstDash val="solid"/>
            <a:tailEnd type="triangle"/>
          </a:ln>
        </p:spPr>
      </p:sp>
      <p:sp>
        <p:nvSpPr>
          <p:cNvPr id="37" name="Text 35"/>
          <p:cNvSpPr txBox="1"/>
          <p:nvPr/>
        </p:nvSpPr>
        <p:spPr>
          <a:xfrm>
            <a:off x="2232660" y="1609344"/>
            <a:ext cx="365760" cy="182880"/>
          </a:xfrm>
          <a:prstGeom prst="rect">
            <a:avLst/>
          </a:prstGeom>
          <a:noFill/>
          <a:ln/>
        </p:spPr>
        <p:txBody>
          <a:bodyPr wrap="square" lIns="0" tIns="0" rIns="0" bIns="0" rtlCol="0" anchor="t"/>
          <a:lstStyle/>
          <a:p>
            <a:pPr algn="ctr" indent="0" marL="0">
              <a:buNone/>
            </a:pPr>
            <a:r>
              <a:rPr lang="en-US" sz="800" b="1" dirty="0">
                <a:solidFill>
                  <a:srgbClr val="1F8A8A"/>
                </a:solidFill>
                <a:latin typeface="Malgun Gothic" pitchFamily="34" charset="0"/>
                <a:ea typeface="Malgun Gothic" pitchFamily="34" charset="-122"/>
                <a:cs typeface="Malgun Gothic" pitchFamily="34" charset="-120"/>
              </a:rPr>
              <a:t>③</a:t>
            </a:r>
            <a:endParaRPr lang="en-US" sz="800" dirty="0"/>
          </a:p>
        </p:txBody>
      </p:sp>
      <p:sp>
        <p:nvSpPr>
          <p:cNvPr id="38" name="Shape 36"/>
          <p:cNvSpPr/>
          <p:nvPr/>
        </p:nvSpPr>
        <p:spPr>
          <a:xfrm>
            <a:off x="2796540" y="1810512"/>
            <a:ext cx="914" cy="274320"/>
          </a:xfrm>
          <a:prstGeom prst="line">
            <a:avLst/>
          </a:prstGeom>
          <a:noFill/>
          <a:ln w="19050">
            <a:solidFill>
              <a:srgbClr val="1F8A8A"/>
            </a:solidFill>
            <a:prstDash val="solid"/>
            <a:tailEnd type="triangle"/>
          </a:ln>
        </p:spPr>
      </p:sp>
      <p:sp>
        <p:nvSpPr>
          <p:cNvPr id="39" name="Text 37"/>
          <p:cNvSpPr txBox="1"/>
          <p:nvPr/>
        </p:nvSpPr>
        <p:spPr>
          <a:xfrm>
            <a:off x="2613660" y="1609344"/>
            <a:ext cx="365760" cy="182880"/>
          </a:xfrm>
          <a:prstGeom prst="rect">
            <a:avLst/>
          </a:prstGeom>
          <a:noFill/>
          <a:ln/>
        </p:spPr>
        <p:txBody>
          <a:bodyPr wrap="square" lIns="0" tIns="0" rIns="0" bIns="0" rtlCol="0" anchor="t"/>
          <a:lstStyle/>
          <a:p>
            <a:pPr algn="ctr" indent="0" marL="0">
              <a:buNone/>
            </a:pPr>
            <a:r>
              <a:rPr lang="en-US" sz="800" b="1" dirty="0">
                <a:solidFill>
                  <a:srgbClr val="1F8A8A"/>
                </a:solidFill>
                <a:latin typeface="Malgun Gothic" pitchFamily="34" charset="0"/>
                <a:ea typeface="Malgun Gothic" pitchFamily="34" charset="-122"/>
                <a:cs typeface="Malgun Gothic" pitchFamily="34" charset="-120"/>
              </a:rPr>
              <a:t>④</a:t>
            </a:r>
            <a:endParaRPr lang="en-US" sz="800" dirty="0"/>
          </a:p>
        </p:txBody>
      </p:sp>
      <p:sp>
        <p:nvSpPr>
          <p:cNvPr id="40" name="Text 38"/>
          <p:cNvSpPr txBox="1"/>
          <p:nvPr/>
        </p:nvSpPr>
        <p:spPr>
          <a:xfrm>
            <a:off x="3177540" y="1627632"/>
            <a:ext cx="2743200" cy="365760"/>
          </a:xfrm>
          <a:prstGeom prst="rect">
            <a:avLst/>
          </a:prstGeom>
          <a:noFill/>
          <a:ln/>
        </p:spPr>
        <p:txBody>
          <a:bodyPr wrap="square" lIns="0" tIns="0" rIns="0" bIns="0" rtlCol="0" anchor="ctr"/>
          <a:lstStyle/>
          <a:p>
            <a:pPr algn="l" indent="0" marL="0">
              <a:buNone/>
            </a:pPr>
            <a:r>
              <a:rPr lang="en-US" sz="750" dirty="0">
                <a:solidFill>
                  <a:srgbClr val="1F8A8A"/>
                </a:solidFill>
                <a:latin typeface="Malgun Gothic" pitchFamily="34" charset="0"/>
                <a:ea typeface="Malgun Gothic" pitchFamily="34" charset="-122"/>
                <a:cs typeface="Malgun Gothic" pitchFamily="34" charset="-120"/>
              </a:rPr>
              <a:t>… 정렬 순서대로 (legal 8 / words / 64회까지)</a:t>
            </a:r>
            <a:endParaRPr lang="en-US" sz="750" dirty="0"/>
          </a:p>
        </p:txBody>
      </p:sp>
      <p:sp>
        <p:nvSpPr>
          <p:cNvPr id="41" name="Text 39"/>
          <p:cNvSpPr txBox="1"/>
          <p:nvPr/>
        </p:nvSpPr>
        <p:spPr>
          <a:xfrm>
            <a:off x="457200" y="2487168"/>
            <a:ext cx="960120" cy="365760"/>
          </a:xfrm>
          <a:prstGeom prst="rect">
            <a:avLst/>
          </a:prstGeom>
          <a:noFill/>
          <a:ln/>
        </p:spPr>
        <p:txBody>
          <a:bodyPr wrap="square" lIns="0" tIns="0" rIns="0" bIns="0" rtlCol="0" anchor="ctr"/>
          <a:lstStyle/>
          <a:p>
            <a:pPr algn="r" indent="0" marL="0">
              <a:buNone/>
            </a:pPr>
            <a:r>
              <a:rPr lang="en-US" sz="800" b="1" dirty="0">
                <a:solidFill>
                  <a:srgbClr val="6C4FBF"/>
                </a:solidFill>
                <a:latin typeface="Malgun Gothic" pitchFamily="34" charset="0"/>
                <a:ea typeface="Malgun Gothic" pitchFamily="34" charset="-122"/>
                <a:cs typeface="Malgun Gothic" pitchFamily="34" charset="-120"/>
              </a:rPr>
              <a:t>ReplayFunc</a:t>
            </a:r>
            <a:endParaRPr lang="en-US" sz="800" dirty="0"/>
          </a:p>
          <a:p>
            <a:pPr algn="r" indent="0" marL="0">
              <a:buNone/>
            </a:pPr>
            <a:r>
              <a:rPr lang="en-US" sz="800" b="1" dirty="0">
                <a:solidFill>
                  <a:srgbClr val="6C4FBF"/>
                </a:solidFill>
                <a:latin typeface="Malgun Gothic" pitchFamily="34" charset="0"/>
                <a:ea typeface="Malgun Gothic" pitchFamily="34" charset="-122"/>
                <a:cs typeface="Malgun Gothic" pitchFamily="34" charset="-120"/>
              </a:rPr>
              <a:t>seed 0</a:t>
            </a:r>
            <a:endParaRPr lang="en-US" sz="800" dirty="0"/>
          </a:p>
        </p:txBody>
      </p:sp>
      <p:sp>
        <p:nvSpPr>
          <p:cNvPr id="42" name="Shape 40"/>
          <p:cNvSpPr/>
          <p:nvPr/>
        </p:nvSpPr>
        <p:spPr>
          <a:xfrm flipV="1">
            <a:off x="4320540" y="2432304"/>
            <a:ext cx="914" cy="356616"/>
          </a:xfrm>
          <a:prstGeom prst="line">
            <a:avLst/>
          </a:prstGeom>
          <a:noFill/>
          <a:ln w="19050">
            <a:solidFill>
              <a:srgbClr val="6C4FBF"/>
            </a:solidFill>
            <a:prstDash val="solid"/>
            <a:tailEnd type="triangle"/>
          </a:ln>
        </p:spPr>
      </p:sp>
      <p:sp>
        <p:nvSpPr>
          <p:cNvPr id="43" name="Text 41"/>
          <p:cNvSpPr txBox="1"/>
          <p:nvPr/>
        </p:nvSpPr>
        <p:spPr>
          <a:xfrm>
            <a:off x="4000500" y="2788920"/>
            <a:ext cx="640080" cy="182880"/>
          </a:xfrm>
          <a:prstGeom prst="rect">
            <a:avLst/>
          </a:prstGeom>
          <a:noFill/>
          <a:ln/>
        </p:spPr>
        <p:txBody>
          <a:bodyPr wrap="square" lIns="0" tIns="0" rIns="0" bIns="0" rtlCol="0" anchor="t"/>
          <a:lstStyle/>
          <a:p>
            <a:pPr algn="ctr" indent="0" marL="0">
              <a:buNone/>
            </a:pPr>
            <a:r>
              <a:rPr lang="en-US" sz="750" b="1" dirty="0">
                <a:solidFill>
                  <a:srgbClr val="6C4FBF"/>
                </a:solidFill>
                <a:latin typeface="Malgun Gothic" pitchFamily="34" charset="0"/>
                <a:ea typeface="Malgun Gothic" pitchFamily="34" charset="-122"/>
                <a:cs typeface="Malgun Gothic" pitchFamily="34" charset="-120"/>
              </a:rPr>
              <a:t>①</a:t>
            </a:r>
            <a:endParaRPr lang="en-US" sz="750" dirty="0"/>
          </a:p>
        </p:txBody>
      </p:sp>
      <p:sp>
        <p:nvSpPr>
          <p:cNvPr id="44" name="Shape 42"/>
          <p:cNvSpPr/>
          <p:nvPr/>
        </p:nvSpPr>
        <p:spPr>
          <a:xfrm flipV="1">
            <a:off x="2415540" y="2432304"/>
            <a:ext cx="914" cy="356616"/>
          </a:xfrm>
          <a:prstGeom prst="line">
            <a:avLst/>
          </a:prstGeom>
          <a:noFill/>
          <a:ln w="19050">
            <a:solidFill>
              <a:srgbClr val="6C4FBF"/>
            </a:solidFill>
            <a:prstDash val="solid"/>
            <a:tailEnd type="triangle"/>
          </a:ln>
        </p:spPr>
      </p:sp>
      <p:sp>
        <p:nvSpPr>
          <p:cNvPr id="45" name="Text 43"/>
          <p:cNvSpPr txBox="1"/>
          <p:nvPr/>
        </p:nvSpPr>
        <p:spPr>
          <a:xfrm>
            <a:off x="2095500" y="2788920"/>
            <a:ext cx="640080" cy="182880"/>
          </a:xfrm>
          <a:prstGeom prst="rect">
            <a:avLst/>
          </a:prstGeom>
          <a:noFill/>
          <a:ln/>
        </p:spPr>
        <p:txBody>
          <a:bodyPr wrap="square" lIns="0" tIns="0" rIns="0" bIns="0" rtlCol="0" anchor="t"/>
          <a:lstStyle/>
          <a:p>
            <a:pPr algn="ctr" indent="0" marL="0">
              <a:buNone/>
            </a:pPr>
            <a:r>
              <a:rPr lang="en-US" sz="750" b="1" dirty="0">
                <a:solidFill>
                  <a:srgbClr val="6C4FBF"/>
                </a:solidFill>
                <a:latin typeface="Malgun Gothic" pitchFamily="34" charset="0"/>
                <a:ea typeface="Malgun Gothic" pitchFamily="34" charset="-122"/>
                <a:cs typeface="Malgun Gothic" pitchFamily="34" charset="-120"/>
              </a:rPr>
              <a:t>②</a:t>
            </a:r>
            <a:endParaRPr lang="en-US" sz="750" dirty="0"/>
          </a:p>
        </p:txBody>
      </p:sp>
      <p:sp>
        <p:nvSpPr>
          <p:cNvPr id="46" name="Shape 44"/>
          <p:cNvSpPr/>
          <p:nvPr/>
        </p:nvSpPr>
        <p:spPr>
          <a:xfrm flipV="1">
            <a:off x="4430268" y="2432304"/>
            <a:ext cx="914" cy="512064"/>
          </a:xfrm>
          <a:prstGeom prst="line">
            <a:avLst/>
          </a:prstGeom>
          <a:noFill/>
          <a:ln w="19050">
            <a:solidFill>
              <a:srgbClr val="C0392B"/>
            </a:solidFill>
            <a:prstDash val="solid"/>
            <a:tailEnd type="triangle"/>
          </a:ln>
        </p:spPr>
      </p:sp>
      <p:sp>
        <p:nvSpPr>
          <p:cNvPr id="47" name="Text 45"/>
          <p:cNvSpPr txBox="1"/>
          <p:nvPr/>
        </p:nvSpPr>
        <p:spPr>
          <a:xfrm>
            <a:off x="4110228" y="2944368"/>
            <a:ext cx="640080" cy="182880"/>
          </a:xfrm>
          <a:prstGeom prst="rect">
            <a:avLst/>
          </a:prstGeom>
          <a:noFill/>
          <a:ln/>
        </p:spPr>
        <p:txBody>
          <a:bodyPr wrap="square" lIns="0" tIns="0" rIns="0" bIns="0" rtlCol="0" anchor="t"/>
          <a:lstStyle/>
          <a:p>
            <a:pPr algn="ctr" indent="0" marL="0">
              <a:buNone/>
            </a:pPr>
            <a:r>
              <a:rPr lang="en-US" sz="750" b="1" dirty="0">
                <a:solidFill>
                  <a:srgbClr val="C0392B"/>
                </a:solidFill>
                <a:latin typeface="Malgun Gothic" pitchFamily="34" charset="0"/>
                <a:ea typeface="Malgun Gothic" pitchFamily="34" charset="-122"/>
                <a:cs typeface="Malgun Gothic" pitchFamily="34" charset="-120"/>
              </a:rPr>
              <a:t>③ 중복</a:t>
            </a:r>
            <a:endParaRPr lang="en-US" sz="750" dirty="0"/>
          </a:p>
        </p:txBody>
      </p:sp>
      <p:sp>
        <p:nvSpPr>
          <p:cNvPr id="48" name="Shape 46"/>
          <p:cNvSpPr/>
          <p:nvPr/>
        </p:nvSpPr>
        <p:spPr>
          <a:xfrm flipV="1">
            <a:off x="5463540" y="2432304"/>
            <a:ext cx="914" cy="356616"/>
          </a:xfrm>
          <a:prstGeom prst="line">
            <a:avLst/>
          </a:prstGeom>
          <a:noFill/>
          <a:ln w="19050">
            <a:solidFill>
              <a:srgbClr val="6C4FBF"/>
            </a:solidFill>
            <a:prstDash val="solid"/>
            <a:tailEnd type="triangle"/>
          </a:ln>
        </p:spPr>
      </p:sp>
      <p:sp>
        <p:nvSpPr>
          <p:cNvPr id="49" name="Text 47"/>
          <p:cNvSpPr txBox="1"/>
          <p:nvPr/>
        </p:nvSpPr>
        <p:spPr>
          <a:xfrm>
            <a:off x="5143500" y="2788920"/>
            <a:ext cx="640080" cy="182880"/>
          </a:xfrm>
          <a:prstGeom prst="rect">
            <a:avLst/>
          </a:prstGeom>
          <a:noFill/>
          <a:ln/>
        </p:spPr>
        <p:txBody>
          <a:bodyPr wrap="square" lIns="0" tIns="0" rIns="0" bIns="0" rtlCol="0" anchor="t"/>
          <a:lstStyle/>
          <a:p>
            <a:pPr algn="ctr" indent="0" marL="0">
              <a:buNone/>
            </a:pPr>
            <a:r>
              <a:rPr lang="en-US" sz="750" b="1" dirty="0">
                <a:solidFill>
                  <a:srgbClr val="6C4FBF"/>
                </a:solidFill>
                <a:latin typeface="Malgun Gothic" pitchFamily="34" charset="0"/>
                <a:ea typeface="Malgun Gothic" pitchFamily="34" charset="-122"/>
                <a:cs typeface="Malgun Gothic" pitchFamily="34" charset="-120"/>
              </a:rPr>
              <a:t>④</a:t>
            </a:r>
            <a:endParaRPr lang="en-US" sz="750" dirty="0"/>
          </a:p>
        </p:txBody>
      </p:sp>
      <p:sp>
        <p:nvSpPr>
          <p:cNvPr id="50" name="Shape 48"/>
          <p:cNvSpPr/>
          <p:nvPr/>
        </p:nvSpPr>
        <p:spPr>
          <a:xfrm flipV="1">
            <a:off x="1653540" y="2432304"/>
            <a:ext cx="914" cy="356616"/>
          </a:xfrm>
          <a:prstGeom prst="line">
            <a:avLst/>
          </a:prstGeom>
          <a:noFill/>
          <a:ln w="19050">
            <a:solidFill>
              <a:srgbClr val="6C4FBF"/>
            </a:solidFill>
            <a:prstDash val="solid"/>
            <a:tailEnd type="triangle"/>
          </a:ln>
        </p:spPr>
      </p:sp>
      <p:sp>
        <p:nvSpPr>
          <p:cNvPr id="51" name="Text 49"/>
          <p:cNvSpPr txBox="1"/>
          <p:nvPr/>
        </p:nvSpPr>
        <p:spPr>
          <a:xfrm>
            <a:off x="1333500" y="2788920"/>
            <a:ext cx="640080" cy="182880"/>
          </a:xfrm>
          <a:prstGeom prst="rect">
            <a:avLst/>
          </a:prstGeom>
          <a:noFill/>
          <a:ln/>
        </p:spPr>
        <p:txBody>
          <a:bodyPr wrap="square" lIns="0" tIns="0" rIns="0" bIns="0" rtlCol="0" anchor="t"/>
          <a:lstStyle/>
          <a:p>
            <a:pPr algn="ctr" indent="0" marL="0">
              <a:buNone/>
            </a:pPr>
            <a:r>
              <a:rPr lang="en-US" sz="750" b="1" dirty="0">
                <a:solidFill>
                  <a:srgbClr val="6C4FBF"/>
                </a:solidFill>
                <a:latin typeface="Malgun Gothic" pitchFamily="34" charset="0"/>
                <a:ea typeface="Malgun Gothic" pitchFamily="34" charset="-122"/>
                <a:cs typeface="Malgun Gothic" pitchFamily="34" charset="-120"/>
              </a:rPr>
              <a:t>⑤</a:t>
            </a:r>
            <a:endParaRPr lang="en-US" sz="750" dirty="0"/>
          </a:p>
        </p:txBody>
      </p:sp>
      <p:sp>
        <p:nvSpPr>
          <p:cNvPr id="52" name="Text 50"/>
          <p:cNvSpPr txBox="1"/>
          <p:nvPr/>
        </p:nvSpPr>
        <p:spPr>
          <a:xfrm>
            <a:off x="1463040" y="3145536"/>
            <a:ext cx="4572000" cy="329184"/>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sample_categorical(range(N), 균등) → 번호 → 그 mapping으로 schedule_matmul_sram. 중복 번호는 schedule을 다시 만들지 않고 시도만 소비. 시도 한도는 유한해야 함.</a:t>
            </a:r>
            <a:endParaRPr lang="en-US" sz="750" dirty="0"/>
          </a:p>
        </p:txBody>
      </p:sp>
      <p:sp>
        <p:nvSpPr>
          <p:cNvPr id="53" name="Shape 51"/>
          <p:cNvSpPr/>
          <p:nvPr/>
        </p:nvSpPr>
        <p:spPr>
          <a:xfrm>
            <a:off x="457200" y="3529584"/>
            <a:ext cx="1027786" cy="365760"/>
          </a:xfrm>
          <a:prstGeom prst="roundRect">
            <a:avLst>
              <a:gd name="adj" fmla="val 15000"/>
            </a:avLst>
          </a:prstGeom>
          <a:solidFill>
            <a:srgbClr val="E3EEFB"/>
          </a:solidFill>
          <a:ln w="12700">
            <a:solidFill>
              <a:srgbClr val="2F6DB5"/>
            </a:solidFill>
            <a:prstDash val="solid"/>
          </a:ln>
        </p:spPr>
      </p:sp>
      <p:sp>
        <p:nvSpPr>
          <p:cNvPr id="54" name="Text 52"/>
          <p:cNvSpPr txBox="1"/>
          <p:nvPr/>
        </p:nvSpPr>
        <p:spPr>
          <a:xfrm>
            <a:off x="512064" y="3566160"/>
            <a:ext cx="918058" cy="292608"/>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schedule_matmul_sram</a:t>
            </a:r>
            <a:endParaRPr lang="en-US" sz="800" dirty="0"/>
          </a:p>
        </p:txBody>
      </p:sp>
      <p:sp>
        <p:nvSpPr>
          <p:cNvPr id="55" name="Shape 53"/>
          <p:cNvSpPr/>
          <p:nvPr/>
        </p:nvSpPr>
        <p:spPr>
          <a:xfrm>
            <a:off x="1494130" y="3712464"/>
            <a:ext cx="91440" cy="914"/>
          </a:xfrm>
          <a:prstGeom prst="line">
            <a:avLst/>
          </a:prstGeom>
          <a:noFill/>
          <a:ln w="12700">
            <a:solidFill>
              <a:srgbClr val="5B6B7F"/>
            </a:solidFill>
            <a:prstDash val="solid"/>
            <a:tailEnd type="triangle"/>
          </a:ln>
        </p:spPr>
      </p:sp>
      <p:sp>
        <p:nvSpPr>
          <p:cNvPr id="56" name="Shape 54"/>
          <p:cNvSpPr/>
          <p:nvPr/>
        </p:nvSpPr>
        <p:spPr>
          <a:xfrm>
            <a:off x="1594714" y="3529584"/>
            <a:ext cx="1027786" cy="365760"/>
          </a:xfrm>
          <a:prstGeom prst="roundRect">
            <a:avLst>
              <a:gd name="adj" fmla="val 15000"/>
            </a:avLst>
          </a:prstGeom>
          <a:solidFill>
            <a:srgbClr val="E3EEFB"/>
          </a:solidFill>
          <a:ln w="12700">
            <a:solidFill>
              <a:srgbClr val="2F6DB5"/>
            </a:solidFill>
            <a:prstDash val="solid"/>
          </a:ln>
        </p:spPr>
      </p:sp>
      <p:sp>
        <p:nvSpPr>
          <p:cNvPr id="57" name="Text 55"/>
          <p:cNvSpPr txBox="1"/>
          <p:nvPr/>
        </p:nvSpPr>
        <p:spPr>
          <a:xfrm>
            <a:off x="1649578" y="3566160"/>
            <a:ext cx="918058" cy="292608"/>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_lower_scheduled</a:t>
            </a:r>
            <a:endParaRPr lang="en-US" sz="800" dirty="0"/>
          </a:p>
        </p:txBody>
      </p:sp>
      <p:sp>
        <p:nvSpPr>
          <p:cNvPr id="58" name="Shape 56"/>
          <p:cNvSpPr/>
          <p:nvPr/>
        </p:nvSpPr>
        <p:spPr>
          <a:xfrm>
            <a:off x="2631643" y="3712464"/>
            <a:ext cx="91440" cy="914"/>
          </a:xfrm>
          <a:prstGeom prst="line">
            <a:avLst/>
          </a:prstGeom>
          <a:noFill/>
          <a:ln w="12700">
            <a:solidFill>
              <a:srgbClr val="5B6B7F"/>
            </a:solidFill>
            <a:prstDash val="solid"/>
            <a:tailEnd type="triangle"/>
          </a:ln>
        </p:spPr>
      </p:sp>
      <p:sp>
        <p:nvSpPr>
          <p:cNvPr id="59" name="Shape 57"/>
          <p:cNvSpPr/>
          <p:nvPr/>
        </p:nvSpPr>
        <p:spPr>
          <a:xfrm>
            <a:off x="2732227" y="3529584"/>
            <a:ext cx="1027786" cy="365760"/>
          </a:xfrm>
          <a:prstGeom prst="roundRect">
            <a:avLst>
              <a:gd name="adj" fmla="val 15000"/>
            </a:avLst>
          </a:prstGeom>
          <a:solidFill>
            <a:srgbClr val="DDF3F0"/>
          </a:solidFill>
          <a:ln w="12700">
            <a:solidFill>
              <a:srgbClr val="1F8A8A"/>
            </a:solidFill>
            <a:prstDash val="solid"/>
          </a:ln>
        </p:spPr>
      </p:sp>
      <p:sp>
        <p:nvSpPr>
          <p:cNvPr id="60" name="Text 58"/>
          <p:cNvSpPr txBox="1"/>
          <p:nvPr/>
        </p:nvSpPr>
        <p:spPr>
          <a:xfrm>
            <a:off x="2787091" y="3566160"/>
            <a:ext cx="918058" cy="292608"/>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plan_sram · 용량</a:t>
            </a:r>
            <a:endParaRPr lang="en-US" sz="800" dirty="0"/>
          </a:p>
        </p:txBody>
      </p:sp>
      <p:sp>
        <p:nvSpPr>
          <p:cNvPr id="61" name="Shape 59"/>
          <p:cNvSpPr/>
          <p:nvPr/>
        </p:nvSpPr>
        <p:spPr>
          <a:xfrm>
            <a:off x="3769157" y="3712464"/>
            <a:ext cx="91440" cy="914"/>
          </a:xfrm>
          <a:prstGeom prst="line">
            <a:avLst/>
          </a:prstGeom>
          <a:noFill/>
          <a:ln w="12700">
            <a:solidFill>
              <a:srgbClr val="5B6B7F"/>
            </a:solidFill>
            <a:prstDash val="solid"/>
            <a:tailEnd type="triangle"/>
          </a:ln>
        </p:spPr>
      </p:sp>
      <p:sp>
        <p:nvSpPr>
          <p:cNvPr id="62" name="Shape 60"/>
          <p:cNvSpPr/>
          <p:nvPr/>
        </p:nvSpPr>
        <p:spPr>
          <a:xfrm>
            <a:off x="3869741" y="3529584"/>
            <a:ext cx="1027786" cy="365760"/>
          </a:xfrm>
          <a:prstGeom prst="roundRect">
            <a:avLst>
              <a:gd name="adj" fmla="val 15000"/>
            </a:avLst>
          </a:prstGeom>
          <a:solidFill>
            <a:srgbClr val="ECE6FA"/>
          </a:solidFill>
          <a:ln w="12700">
            <a:solidFill>
              <a:srgbClr val="6C4FBF"/>
            </a:solidFill>
            <a:prstDash val="solid"/>
          </a:ln>
        </p:spPr>
      </p:sp>
      <p:sp>
        <p:nvSpPr>
          <p:cNvPr id="63" name="Text 61"/>
          <p:cNvSpPr txBox="1"/>
          <p:nvPr/>
        </p:nvSpPr>
        <p:spPr>
          <a:xfrm>
            <a:off x="3924605" y="3566160"/>
            <a:ext cx="918058" cy="292608"/>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probe codegen</a:t>
            </a:r>
            <a:endParaRPr lang="en-US" sz="800" dirty="0"/>
          </a:p>
        </p:txBody>
      </p:sp>
      <p:sp>
        <p:nvSpPr>
          <p:cNvPr id="64" name="Shape 62"/>
          <p:cNvSpPr/>
          <p:nvPr/>
        </p:nvSpPr>
        <p:spPr>
          <a:xfrm>
            <a:off x="4906670" y="3712464"/>
            <a:ext cx="91440" cy="914"/>
          </a:xfrm>
          <a:prstGeom prst="line">
            <a:avLst/>
          </a:prstGeom>
          <a:noFill/>
          <a:ln w="12700">
            <a:solidFill>
              <a:srgbClr val="5B6B7F"/>
            </a:solidFill>
            <a:prstDash val="solid"/>
            <a:tailEnd type="triangle"/>
          </a:ln>
        </p:spPr>
      </p:sp>
      <p:sp>
        <p:nvSpPr>
          <p:cNvPr id="65" name="Shape 63"/>
          <p:cNvSpPr/>
          <p:nvPr/>
        </p:nvSpPr>
        <p:spPr>
          <a:xfrm>
            <a:off x="5007254" y="3529584"/>
            <a:ext cx="1027786" cy="365760"/>
          </a:xfrm>
          <a:prstGeom prst="roundRect">
            <a:avLst>
              <a:gd name="adj" fmla="val 15000"/>
            </a:avLst>
          </a:prstGeom>
          <a:solidFill>
            <a:srgbClr val="FFF6DB"/>
          </a:solidFill>
          <a:ln w="12700">
            <a:solidFill>
              <a:srgbClr val="B7791F"/>
            </a:solidFill>
            <a:prstDash val="solid"/>
          </a:ln>
        </p:spPr>
      </p:sp>
      <p:sp>
        <p:nvSpPr>
          <p:cNvPr id="66" name="Text 64"/>
          <p:cNvSpPr txBox="1"/>
          <p:nvPr/>
        </p:nvSpPr>
        <p:spPr>
          <a:xfrm>
            <a:off x="5062118" y="3566160"/>
            <a:ext cx="918058" cy="292608"/>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(dma, words, sram)</a:t>
            </a:r>
            <a:endParaRPr lang="en-US" sz="800" dirty="0"/>
          </a:p>
        </p:txBody>
      </p:sp>
      <p:sp>
        <p:nvSpPr>
          <p:cNvPr id="67" name="Text 65"/>
          <p:cNvSpPr txBox="1"/>
          <p:nvPr/>
        </p:nvSpPr>
        <p:spPr>
          <a:xfrm>
            <a:off x="457200" y="3931920"/>
            <a:ext cx="5577840" cy="54864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TuneContext(mod, target=npu, ScheduleFn(make_schedule, sch_rules=[], postprocs=[]), ReplayFunc(), rand_state=seed) · pre_tuning(max_trials=schedule_max_attempts) · 후보마다 notify_runner_results(RunnerResult(None, None)): latency를 넣지 않고 NPU 평가기가 승자를 고름</a:t>
            </a:r>
            <a:endParaRPr lang="en-US" sz="750" dirty="0"/>
          </a:p>
        </p:txBody>
      </p:sp>
      <p:sp>
        <p:nvSpPr>
          <p:cNvPr id="68" name="Text 66"/>
          <p:cNvSpPr txBox="1"/>
          <p:nvPr/>
        </p:nvSpPr>
        <p:spPr>
          <a:xfrm>
            <a:off x="6263640" y="1371600"/>
            <a:ext cx="5468112" cy="219456"/>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JSONDatabase 기록의 실제 구성 (run_secs=None, 실행 조건이 같은 커널만 적중)</a:t>
            </a:r>
            <a:endParaRPr lang="en-US" sz="950" dirty="0"/>
          </a:p>
        </p:txBody>
      </p:sp>
      <p:sp>
        <p:nvSpPr>
          <p:cNvPr id="69" name="Shape 67"/>
          <p:cNvSpPr/>
          <p:nvPr/>
        </p:nvSpPr>
        <p:spPr>
          <a:xfrm>
            <a:off x="6263640" y="1627632"/>
            <a:ext cx="5468112" cy="1847088"/>
          </a:xfrm>
          <a:prstGeom prst="roundRect">
            <a:avLst>
              <a:gd name="adj" fmla="val 2475"/>
            </a:avLst>
          </a:prstGeom>
          <a:solidFill>
            <a:srgbClr val="F5F7FA"/>
          </a:solidFill>
          <a:ln w="9525">
            <a:solidFill>
              <a:srgbClr val="C9D3DF"/>
            </a:solidFill>
            <a:prstDash val="solid"/>
          </a:ln>
        </p:spPr>
      </p:sp>
      <p:sp>
        <p:nvSpPr>
          <p:cNvPr id="70" name="Text 68"/>
          <p:cNvSpPr txBox="1"/>
          <p:nvPr/>
        </p:nvSpPr>
        <p:spPr>
          <a:xfrm>
            <a:off x="6373368" y="1700784"/>
            <a:ext cx="5248656" cy="1700784"/>
          </a:xfrm>
          <a:prstGeom prst="rect">
            <a:avLst/>
          </a:prstGeom>
          <a:noFill/>
          <a:ln/>
        </p:spPr>
        <p:txBody>
          <a:bodyPr wrap="square" lIns="0" tIns="0" rIns="0" bIns="0" rtlCol="0" anchor="t"/>
          <a:lstStyle/>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&lt;schedule_db&gt;/&lt;fingerprint: source sha · TVM · contract · native&gt;/</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Workload.mod = PrimFunc − {global_symbol, op_pattern}</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.attr["npu.selected_schedule_contract"] = {</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profile − {search, seed, trials, attempts, words,</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joint_memory, beam, graph_search_seconds},</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scratch_base, slot_count, native_probe }</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TuningRecord(trace, workload, run_secs=None, target=npu)</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trace = split · reorder · cache_read(global.sram) ·</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compute_at · tensorize(npu_gemm_acc_sram) …</a:t>
            </a:r>
            <a:endParaRPr lang="en-US" sz="780" dirty="0"/>
          </a:p>
        </p:txBody>
      </p:sp>
      <p:sp>
        <p:nvSpPr>
          <p:cNvPr id="71" name="Shape 69"/>
          <p:cNvSpPr/>
          <p:nvPr/>
        </p:nvSpPr>
        <p:spPr>
          <a:xfrm>
            <a:off x="6263640" y="3566160"/>
            <a:ext cx="1284732" cy="777240"/>
          </a:xfrm>
          <a:prstGeom prst="roundRect">
            <a:avLst>
              <a:gd name="adj" fmla="val 7059"/>
            </a:avLst>
          </a:prstGeom>
          <a:solidFill>
            <a:srgbClr val="EEF1F5"/>
          </a:solidFill>
          <a:ln w="12700">
            <a:solidFill>
              <a:srgbClr val="5B6B7F"/>
            </a:solidFill>
            <a:prstDash val="solid"/>
          </a:ln>
        </p:spPr>
      </p:sp>
      <p:sp>
        <p:nvSpPr>
          <p:cNvPr id="72" name="Text 70"/>
          <p:cNvSpPr txBox="1"/>
          <p:nvPr/>
        </p:nvSpPr>
        <p:spPr>
          <a:xfrm>
            <a:off x="6336792" y="3639312"/>
            <a:ext cx="1138428"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lookup</a:t>
            </a:r>
            <a:endParaRPr lang="en-US" sz="850" dirty="0"/>
          </a:p>
        </p:txBody>
      </p:sp>
      <p:sp>
        <p:nvSpPr>
          <p:cNvPr id="73" name="Text 71"/>
          <p:cNvSpPr txBox="1"/>
          <p:nvPr/>
        </p:nvSpPr>
        <p:spPr>
          <a:xfrm>
            <a:off x="6336792" y="3801237"/>
            <a:ext cx="1138428" cy="50558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structural hash + equal</a:t>
            </a:r>
            <a:endParaRPr lang="en-US" sz="700" dirty="0"/>
          </a:p>
          <a:p>
            <a:pPr algn="ctr" indent="0" marL="0">
              <a:buNone/>
            </a:pPr>
            <a:r>
              <a:rPr lang="en-US" sz="700" dirty="0">
                <a:solidFill>
                  <a:srgbClr val="5B6B7F"/>
                </a:solidFill>
                <a:latin typeface="Malgun Gothic" pitchFamily="34" charset="0"/>
                <a:ea typeface="Malgun Gothic" pitchFamily="34" charset="-122"/>
                <a:cs typeface="Malgun Gothic" pitchFamily="34" charset="-120"/>
              </a:rPr>
              <a:t>(shape·dtype·scope·SRAM·버전)</a:t>
            </a:r>
            <a:endParaRPr lang="en-US" sz="700" dirty="0"/>
          </a:p>
        </p:txBody>
      </p:sp>
      <p:sp>
        <p:nvSpPr>
          <p:cNvPr id="74" name="Shape 72"/>
          <p:cNvSpPr/>
          <p:nvPr/>
        </p:nvSpPr>
        <p:spPr>
          <a:xfrm>
            <a:off x="7557516" y="3950208"/>
            <a:ext cx="91440" cy="914"/>
          </a:xfrm>
          <a:prstGeom prst="line">
            <a:avLst/>
          </a:prstGeom>
          <a:noFill/>
          <a:ln w="12700">
            <a:solidFill>
              <a:srgbClr val="5B6B7F"/>
            </a:solidFill>
            <a:prstDash val="solid"/>
            <a:tailEnd type="triangle"/>
          </a:ln>
        </p:spPr>
      </p:sp>
      <p:sp>
        <p:nvSpPr>
          <p:cNvPr id="75" name="Shape 73"/>
          <p:cNvSpPr/>
          <p:nvPr/>
        </p:nvSpPr>
        <p:spPr>
          <a:xfrm>
            <a:off x="7658100" y="3566160"/>
            <a:ext cx="1284732" cy="777240"/>
          </a:xfrm>
          <a:prstGeom prst="roundRect">
            <a:avLst>
              <a:gd name="adj" fmla="val 7059"/>
            </a:avLst>
          </a:prstGeom>
          <a:solidFill>
            <a:srgbClr val="E3EEFB"/>
          </a:solidFill>
          <a:ln w="12700">
            <a:solidFill>
              <a:srgbClr val="2F6DB5"/>
            </a:solidFill>
            <a:prstDash val="solid"/>
          </a:ln>
        </p:spPr>
      </p:sp>
      <p:sp>
        <p:nvSpPr>
          <p:cNvPr id="76" name="Text 74"/>
          <p:cNvSpPr txBox="1"/>
          <p:nvPr/>
        </p:nvSpPr>
        <p:spPr>
          <a:xfrm>
            <a:off x="7731252" y="3639312"/>
            <a:ext cx="1138428"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trace 재적용</a:t>
            </a:r>
            <a:endParaRPr lang="en-US" sz="850" dirty="0"/>
          </a:p>
        </p:txBody>
      </p:sp>
      <p:sp>
        <p:nvSpPr>
          <p:cNvPr id="77" name="Text 75"/>
          <p:cNvSpPr txBox="1"/>
          <p:nvPr/>
        </p:nvSpPr>
        <p:spPr>
          <a:xfrm>
            <a:off x="7731252" y="3801237"/>
            <a:ext cx="1138428" cy="50558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apply_to_schedule</a:t>
            </a:r>
            <a:endParaRPr lang="en-US" sz="700" dirty="0"/>
          </a:p>
          <a:p>
            <a:pPr algn="ctr" indent="0" marL="0">
              <a:buNone/>
            </a:pPr>
            <a:r>
              <a:rPr lang="en-US" sz="700" dirty="0">
                <a:solidFill>
                  <a:srgbClr val="5B6B7F"/>
                </a:solidFill>
                <a:latin typeface="Malgun Gothic" pitchFamily="34" charset="0"/>
                <a:ea typeface="Malgun Gothic" pitchFamily="34" charset="-122"/>
                <a:cs typeface="Malgun Gothic" pitchFamily="34" charset="-120"/>
              </a:rPr>
              <a:t>(새 tir.Schedule)</a:t>
            </a:r>
            <a:endParaRPr lang="en-US" sz="700" dirty="0"/>
          </a:p>
        </p:txBody>
      </p:sp>
      <p:sp>
        <p:nvSpPr>
          <p:cNvPr id="78" name="Shape 76"/>
          <p:cNvSpPr/>
          <p:nvPr/>
        </p:nvSpPr>
        <p:spPr>
          <a:xfrm>
            <a:off x="8951976" y="3950208"/>
            <a:ext cx="91440" cy="914"/>
          </a:xfrm>
          <a:prstGeom prst="line">
            <a:avLst/>
          </a:prstGeom>
          <a:noFill/>
          <a:ln w="12700">
            <a:solidFill>
              <a:srgbClr val="5B6B7F"/>
            </a:solidFill>
            <a:prstDash val="solid"/>
            <a:tailEnd type="triangle"/>
          </a:ln>
        </p:spPr>
      </p:sp>
      <p:sp>
        <p:nvSpPr>
          <p:cNvPr id="79" name="Shape 77"/>
          <p:cNvSpPr/>
          <p:nvPr/>
        </p:nvSpPr>
        <p:spPr>
          <a:xfrm>
            <a:off x="9052560" y="3566160"/>
            <a:ext cx="1284732" cy="777240"/>
          </a:xfrm>
          <a:prstGeom prst="roundRect">
            <a:avLst>
              <a:gd name="adj" fmla="val 7059"/>
            </a:avLst>
          </a:prstGeom>
          <a:solidFill>
            <a:srgbClr val="DDF3F0"/>
          </a:solidFill>
          <a:ln w="12700">
            <a:solidFill>
              <a:srgbClr val="1F8A8A"/>
            </a:solidFill>
            <a:prstDash val="solid"/>
          </a:ln>
        </p:spPr>
      </p:sp>
      <p:sp>
        <p:nvSpPr>
          <p:cNvPr id="80" name="Text 78"/>
          <p:cNvSpPr txBox="1"/>
          <p:nvPr/>
        </p:nvSpPr>
        <p:spPr>
          <a:xfrm>
            <a:off x="9125712" y="3639312"/>
            <a:ext cx="1138428"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공통 재검증</a:t>
            </a:r>
            <a:endParaRPr lang="en-US" sz="850" dirty="0"/>
          </a:p>
        </p:txBody>
      </p:sp>
      <p:sp>
        <p:nvSpPr>
          <p:cNvPr id="81" name="Text 79"/>
          <p:cNvSpPr txBox="1"/>
          <p:nvPr/>
        </p:nvSpPr>
        <p:spPr>
          <a:xfrm>
            <a:off x="9125712" y="3801237"/>
            <a:ext cx="1138428" cy="50558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lowering → SRAM 배치</a:t>
            </a:r>
            <a:endParaRPr lang="en-US" sz="700" dirty="0"/>
          </a:p>
          <a:p>
            <a:pPr algn="ctr" indent="0" marL="0">
              <a:buNone/>
            </a:pPr>
            <a:r>
              <a:rPr lang="en-US" sz="700" dirty="0">
                <a:solidFill>
                  <a:srgbClr val="5B6B7F"/>
                </a:solidFill>
                <a:latin typeface="Malgun Gothic" pitchFamily="34" charset="0"/>
                <a:ea typeface="Malgun Gothic" pitchFamily="34" charset="-122"/>
                <a:cs typeface="Malgun Gothic" pitchFamily="34" charset="-120"/>
              </a:rPr>
              <a:t>→ 용량 → probe codegen</a:t>
            </a:r>
            <a:endParaRPr lang="en-US" sz="700" dirty="0"/>
          </a:p>
        </p:txBody>
      </p:sp>
      <p:sp>
        <p:nvSpPr>
          <p:cNvPr id="82" name="Shape 80"/>
          <p:cNvSpPr/>
          <p:nvPr/>
        </p:nvSpPr>
        <p:spPr>
          <a:xfrm>
            <a:off x="10346436" y="3950208"/>
            <a:ext cx="91440" cy="914"/>
          </a:xfrm>
          <a:prstGeom prst="line">
            <a:avLst/>
          </a:prstGeom>
          <a:noFill/>
          <a:ln w="12700">
            <a:solidFill>
              <a:srgbClr val="5B6B7F"/>
            </a:solidFill>
            <a:prstDash val="solid"/>
            <a:tailEnd type="triangle"/>
          </a:ln>
        </p:spPr>
      </p:sp>
      <p:sp>
        <p:nvSpPr>
          <p:cNvPr id="83" name="Shape 81"/>
          <p:cNvSpPr/>
          <p:nvPr/>
        </p:nvSpPr>
        <p:spPr>
          <a:xfrm>
            <a:off x="10447020" y="3566160"/>
            <a:ext cx="1284732" cy="777240"/>
          </a:xfrm>
          <a:prstGeom prst="roundRect">
            <a:avLst>
              <a:gd name="adj" fmla="val 7059"/>
            </a:avLst>
          </a:prstGeom>
          <a:solidFill>
            <a:srgbClr val="E5F3E7"/>
          </a:solidFill>
          <a:ln w="12700">
            <a:solidFill>
              <a:srgbClr val="2E7D32"/>
            </a:solidFill>
            <a:prstDash val="solid"/>
          </a:ln>
        </p:spPr>
      </p:sp>
      <p:sp>
        <p:nvSpPr>
          <p:cNvPr id="84" name="Text 82"/>
          <p:cNvSpPr txBox="1"/>
          <p:nvPr/>
        </p:nvSpPr>
        <p:spPr>
          <a:xfrm>
            <a:off x="10520172" y="3639312"/>
            <a:ext cx="1138428"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reuse / tune</a:t>
            </a:r>
            <a:endParaRPr lang="en-US" sz="850" dirty="0"/>
          </a:p>
        </p:txBody>
      </p:sp>
      <p:sp>
        <p:nvSpPr>
          <p:cNvPr id="85" name="Text 83"/>
          <p:cNvSpPr txBox="1"/>
          <p:nvPr/>
        </p:nvSpPr>
        <p:spPr>
          <a:xfrm>
            <a:off x="10520172" y="3801237"/>
            <a:ext cx="1138428" cy="50558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채택(탐색 0회) /</a:t>
            </a:r>
            <a:endParaRPr lang="en-US" sz="700" dirty="0"/>
          </a:p>
          <a:p>
            <a:pPr algn="ctr" indent="0" marL="0">
              <a:buNone/>
            </a:pPr>
            <a:r>
              <a:rPr lang="en-US" sz="700" dirty="0">
                <a:solidFill>
                  <a:srgbClr val="5B6B7F"/>
                </a:solidFill>
                <a:latin typeface="Malgun Gothic" pitchFamily="34" charset="0"/>
                <a:ea typeface="Malgun Gothic" pitchFamily="34" charset="-122"/>
                <a:cs typeface="Malgun Gothic" pitchFamily="34" charset="-120"/>
              </a:rPr>
              <a:t>incumbent → 개선 시만 commit</a:t>
            </a:r>
            <a:endParaRPr lang="en-US" sz="7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4526280"/>
          <a:ext cx="6766560" cy="914400"/>
        </p:xfrm>
        <a:graphic>
          <a:graphicData uri="http://schemas.openxmlformats.org/drawingml/2006/table">
            <a:tbl>
              <a:tblPr/>
              <a:tblGrid>
                <a:gridCol w="2743200"/>
                <a:gridCol w="868680"/>
                <a:gridCol w="960120"/>
                <a:gridCol w="1051560"/>
                <a:gridCol w="1143000"/>
              </a:tblGrid>
              <a:tr h="274320">
                <a:tc>
                  <a:txBody>
                    <a:bodyPr/>
                    <a:lstStyle/>
                    <a:p>
                      <a:pPr algn="l" indent="0" marL="0">
                        <a:buNone/>
                      </a:pPr>
                      <a:r>
                        <a:rPr lang="en-US" sz="820" b="1" dirty="0">
                          <a:solidFill>
                            <a:srgbClr val="FFFFFF"/>
                          </a:solidFill>
                          <a:latin typeface="Malgun Gothic" pitchFamily="34" charset="0"/>
                          <a:ea typeface="Malgun Gothic" pitchFamily="34" charset="-122"/>
                          <a:cs typeface="Malgun Gothic" pitchFamily="34" charset="-120"/>
                        </a:rPr>
                        <a:t>작은 예제 (FP16, 각 1회 측정)</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20" b="1" dirty="0">
                          <a:solidFill>
                            <a:srgbClr val="FFFFFF"/>
                          </a:solidFill>
                          <a:latin typeface="Malgun Gothic" pitchFamily="34" charset="0"/>
                          <a:ea typeface="Malgun Gothic" pitchFamily="34" charset="-122"/>
                          <a:cs typeface="Malgun Gothic" pitchFamily="34" charset="-120"/>
                        </a:rPr>
                        <a:t>기존 build</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20" b="1" dirty="0">
                          <a:solidFill>
                            <a:srgbClr val="FFFFFF"/>
                          </a:solidFill>
                          <a:latin typeface="Malgun Gothic" pitchFamily="34" charset="0"/>
                          <a:ea typeface="Malgun Gothic" pitchFamily="34" charset="-122"/>
                          <a:cs typeface="Malgun Gothic" pitchFamily="34" charset="-120"/>
                        </a:rPr>
                        <a:t>첫 저장 build</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20" b="1" dirty="0">
                          <a:solidFill>
                            <a:srgbClr val="FFFFFF"/>
                          </a:solidFill>
                          <a:latin typeface="Malgun Gothic" pitchFamily="34" charset="0"/>
                          <a:ea typeface="Malgun Gothic" pitchFamily="34" charset="-122"/>
                          <a:cs typeface="Malgun Gothic" pitchFamily="34" charset="-120"/>
                        </a:rPr>
                        <a:t>DB 재사용 build</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20" b="1" dirty="0">
                          <a:solidFill>
                            <a:srgbClr val="FFFFFF"/>
                          </a:solidFill>
                          <a:latin typeface="Malgun Gothic" pitchFamily="34" charset="0"/>
                          <a:ea typeface="Malgun Gothic" pitchFamily="34" charset="-122"/>
                          <a:cs typeface="Malgun Gothic" pitchFamily="34" charset="-120"/>
                        </a:rPr>
                        <a:t>새 후보 TIR 생성</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64×64 matmul 3회, 커널 사이 SRAM 보관</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20" dirty="0">
                          <a:solidFill>
                            <a:srgbClr val="1F2D3D"/>
                          </a:solidFill>
                          <a:latin typeface="Malgun Gothic" pitchFamily="34" charset="0"/>
                          <a:ea typeface="Malgun Gothic" pitchFamily="34" charset="-122"/>
                          <a:cs typeface="Malgun Gothic" pitchFamily="34" charset="-120"/>
                        </a:rPr>
                        <a:t>0.419 s</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20" dirty="0">
                          <a:solidFill>
                            <a:srgbClr val="1F2D3D"/>
                          </a:solidFill>
                          <a:latin typeface="Malgun Gothic" pitchFamily="34" charset="0"/>
                          <a:ea typeface="Malgun Gothic" pitchFamily="34" charset="-122"/>
                          <a:cs typeface="Malgun Gothic" pitchFamily="34" charset="-120"/>
                        </a:rPr>
                        <a:t>0.499 s</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20" dirty="0">
                          <a:solidFill>
                            <a:srgbClr val="1F2D3D"/>
                          </a:solidFill>
                          <a:latin typeface="Malgun Gothic" pitchFamily="34" charset="0"/>
                          <a:ea typeface="Malgun Gothic" pitchFamily="34" charset="-122"/>
                          <a:cs typeface="Malgun Gothic" pitchFamily="34" charset="-120"/>
                        </a:rPr>
                        <a:t>0.307 s</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20" dirty="0">
                          <a:solidFill>
                            <a:srgbClr val="1F2D3D"/>
                          </a:solidFill>
                          <a:latin typeface="Malgun Gothic" pitchFamily="34" charset="0"/>
                          <a:ea typeface="Malgun Gothic" pitchFamily="34" charset="-122"/>
                          <a:cs typeface="Malgun Gothic" pitchFamily="34" charset="-120"/>
                        </a:rPr>
                        <a:t>8 → 0</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M=64 K=128 N=64, SiLU+multiply fusion</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20" dirty="0">
                          <a:solidFill>
                            <a:srgbClr val="1F2D3D"/>
                          </a:solidFill>
                          <a:latin typeface="Malgun Gothic" pitchFamily="34" charset="0"/>
                          <a:ea typeface="Malgun Gothic" pitchFamily="34" charset="-122"/>
                          <a:cs typeface="Malgun Gothic" pitchFamily="34" charset="-120"/>
                        </a:rPr>
                        <a:t>0.343 s</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20" dirty="0">
                          <a:solidFill>
                            <a:srgbClr val="1F2D3D"/>
                          </a:solidFill>
                          <a:latin typeface="Malgun Gothic" pitchFamily="34" charset="0"/>
                          <a:ea typeface="Malgun Gothic" pitchFamily="34" charset="-122"/>
                          <a:cs typeface="Malgun Gothic" pitchFamily="34" charset="-120"/>
                        </a:rPr>
                        <a:t>0.383 s</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20" dirty="0">
                          <a:solidFill>
                            <a:srgbClr val="1F2D3D"/>
                          </a:solidFill>
                          <a:latin typeface="Malgun Gothic" pitchFamily="34" charset="0"/>
                          <a:ea typeface="Malgun Gothic" pitchFamily="34" charset="-122"/>
                          <a:cs typeface="Malgun Gothic" pitchFamily="34" charset="-120"/>
                        </a:rPr>
                        <a:t>0.264 s</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20" dirty="0">
                          <a:solidFill>
                            <a:srgbClr val="1F2D3D"/>
                          </a:solidFill>
                          <a:latin typeface="Malgun Gothic" pitchFamily="34" charset="0"/>
                          <a:ea typeface="Malgun Gothic" pitchFamily="34" charset="-122"/>
                          <a:cs typeface="Malgun Gothic" pitchFamily="34" charset="-120"/>
                        </a:rPr>
                        <a:t>3 → 0</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M=7 K=128 N=64, padding</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20" dirty="0">
                          <a:solidFill>
                            <a:srgbClr val="1F2D3D"/>
                          </a:solidFill>
                          <a:latin typeface="Malgun Gothic" pitchFamily="34" charset="0"/>
                          <a:ea typeface="Malgun Gothic" pitchFamily="34" charset="-122"/>
                          <a:cs typeface="Malgun Gothic" pitchFamily="34" charset="-120"/>
                        </a:rPr>
                        <a:t>0.369 s</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20" dirty="0">
                          <a:solidFill>
                            <a:srgbClr val="1F2D3D"/>
                          </a:solidFill>
                          <a:latin typeface="Malgun Gothic" pitchFamily="34" charset="0"/>
                          <a:ea typeface="Malgun Gothic" pitchFamily="34" charset="-122"/>
                          <a:cs typeface="Malgun Gothic" pitchFamily="34" charset="-120"/>
                        </a:rPr>
                        <a:t>0.422 s</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20" dirty="0">
                          <a:solidFill>
                            <a:srgbClr val="1F2D3D"/>
                          </a:solidFill>
                          <a:latin typeface="Malgun Gothic" pitchFamily="34" charset="0"/>
                          <a:ea typeface="Malgun Gothic" pitchFamily="34" charset="-122"/>
                          <a:cs typeface="Malgun Gothic" pitchFamily="34" charset="-120"/>
                        </a:rPr>
                        <a:t>0.164 s</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20" dirty="0">
                          <a:solidFill>
                            <a:srgbClr val="1F2D3D"/>
                          </a:solidFill>
                          <a:latin typeface="Malgun Gothic" pitchFamily="34" charset="0"/>
                          <a:ea typeface="Malgun Gothic" pitchFamily="34" charset="-122"/>
                          <a:cs typeface="Malgun Gothic" pitchFamily="34" charset="-120"/>
                        </a:rPr>
                        <a:t>7 → 0</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87" name="Shape 84"/>
          <p:cNvSpPr/>
          <p:nvPr/>
        </p:nvSpPr>
        <p:spPr>
          <a:xfrm>
            <a:off x="7406640" y="4526280"/>
            <a:ext cx="4325112" cy="1097280"/>
          </a:xfrm>
          <a:prstGeom prst="roundRect">
            <a:avLst>
              <a:gd name="adj" fmla="val 5000"/>
            </a:avLst>
          </a:prstGeom>
          <a:solidFill>
            <a:srgbClr val="EEF2F6"/>
          </a:solidFill>
          <a:ln w="12700">
            <a:solidFill>
              <a:srgbClr val="C9D3DF"/>
            </a:solidFill>
            <a:prstDash val="solid"/>
          </a:ln>
        </p:spPr>
      </p:sp>
      <p:sp>
        <p:nvSpPr>
          <p:cNvPr id="88" name="Text 85"/>
          <p:cNvSpPr txBox="1"/>
          <p:nvPr/>
        </p:nvSpPr>
        <p:spPr>
          <a:xfrm>
            <a:off x="7534656" y="4581144"/>
            <a:ext cx="4069080" cy="98755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세 경로의 명령이 같고 C-model 출력은 bit 단위로 같았습니다. </a:t>
            </a:r>
            <a:pPr algn="l" indent="0" marL="0">
              <a:buNone/>
            </a:pPr>
            <a:r>
              <a:rPr lang="en-US" sz="830" dirty="0">
                <a:solidFill>
                  <a:srgbClr val="1F2D3D"/>
                </a:solidFill>
                <a:latin typeface="Malgun Gothic" pitchFamily="34" charset="0"/>
                <a:ea typeface="Malgun Gothic" pitchFamily="34" charset="-122"/>
                <a:cs typeface="Malgun Gothic" pitchFamily="34" charset="-120"/>
              </a:rPr>
              <a:t>Llama 4개 커널에서는 space와 ReplayFunc의 최종 binary가 같았고(E8), 512-token down은 개선 후 두 방식 모두 4회 검사·합법 4개였습니다(E9). DB는 최외곽 compilation context에서만 설정하며 E10은 DB 없이 실행합니다.</a:t>
            </a:r>
            <a:endParaRPr lang="en-US" sz="1200" dirty="0"/>
          </a:p>
        </p:txBody>
      </p:sp>
      <p:sp>
        <p:nvSpPr>
          <p:cNvPr id="89" name="Text 86"/>
          <p:cNvSpPr txBox="1"/>
          <p:nvPr/>
        </p:nvSpPr>
        <p:spPr>
          <a:xfrm>
            <a:off x="457200" y="5650992"/>
            <a:ext cx="6766560" cy="201168"/>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시간에는 context/DB 준비가 포함되며 일반적인 배율이 아닙니다. 재사용 시 "탐색"이 0회이지 trace 재생·lowering·검증이 없어지는 것은 아닙니다.</a:t>
            </a:r>
            <a:endParaRPr lang="en-US" sz="750" dirty="0"/>
          </a:p>
        </p:txBody>
      </p:sp>
      <p:sp>
        <p:nvSpPr>
          <p:cNvPr id="90" name="Shape 87"/>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91" name="Text 88"/>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ReplayFunc와 DB 모두 NPU 공통 평가기(실제 SRAM 배치·명령 생성)를 거칩니다. TVM의 latency 순위로 고르지 않고, DMA를 run_secs로 넣지도 않습니다.</a:t>
            </a:r>
            <a:endParaRPr lang="en-US" sz="1250" dirty="0"/>
          </a:p>
        </p:txBody>
      </p:sp>
      <p:sp>
        <p:nvSpPr>
          <p:cNvPr id="92" name="Text 89"/>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93" name="Text 90"/>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npu_compiler/npu_meta_schedule.py (replay_candidates, SelectedScheduleDatabase), npu_schedule.py _fit_matmul, evidence/current/meta_schedule_reuse.json, docs/current/06_matmul_schedule.md</a:t>
            </a:r>
            <a:endParaRPr lang="en-US" sz="850" dirty="0"/>
          </a:p>
        </p:txBody>
      </p:sp>
      <p:sp>
        <p:nvSpPr>
          <p:cNvPr id="94" name="Text 91"/>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42 / 89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7 · Vector · 정규화 · attention</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원소별 연산의 codegen: SiLU 하나가 ISA 하나가 아니다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VLEN=128인 한 행이 SRAM scratch slot을 거치며 SIGN_INV → EXP → BROADCAST(1.0) → ADD → DIV로 sigmoid가 되고, 마지막 곱은 별도 block입니다. 각 단계마다 descriptor·LOAD·SAVE가 붙습니다.</a:t>
            </a:r>
            <a:endParaRPr lang="en-US" sz="1250" dirty="0"/>
          </a:p>
        </p:txBody>
      </p:sp>
      <p:sp>
        <p:nvSpPr>
          <p:cNvPr id="5" name="Text 3"/>
          <p:cNvSpPr txBox="1"/>
          <p:nvPr/>
        </p:nvSpPr>
        <p:spPr>
          <a:xfrm>
            <a:off x="457200" y="1371600"/>
            <a:ext cx="5486400" cy="256032"/>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실제 packet (fused 커널, 한 행 VLEN=128, peephole 뒤)</a:t>
            </a:r>
            <a:endParaRPr lang="en-US" sz="1050" dirty="0"/>
          </a:p>
        </p:txBody>
      </p:sp>
      <p:sp>
        <p:nvSpPr>
          <p:cNvPr id="6" name="Shape 4"/>
          <p:cNvSpPr/>
          <p:nvPr/>
        </p:nvSpPr>
        <p:spPr>
          <a:xfrm>
            <a:off x="457200" y="1645920"/>
            <a:ext cx="5943600" cy="1600200"/>
          </a:xfrm>
          <a:prstGeom prst="roundRect">
            <a:avLst>
              <a:gd name="adj" fmla="val 2857"/>
            </a:avLst>
          </a:prstGeom>
          <a:solidFill>
            <a:srgbClr val="F5F7FA"/>
          </a:solidFill>
          <a:ln w="9525">
            <a:solidFill>
              <a:srgbClr val="C9D3DF"/>
            </a:solidFill>
            <a:prstDash val="solid"/>
          </a:ln>
        </p:spPr>
      </p:sp>
      <p:sp>
        <p:nvSpPr>
          <p:cNvPr id="7" name="Text 5"/>
          <p:cNvSpPr txBox="1"/>
          <p:nvPr/>
        </p:nvSpPr>
        <p:spPr>
          <a:xfrm>
            <a:off x="566928" y="1719072"/>
            <a:ext cx="5724144" cy="1453896"/>
          </a:xfrm>
          <a:prstGeom prst="rect">
            <a:avLst/>
          </a:prstGeom>
          <a:noFill/>
          <a:ln/>
        </p:spPr>
        <p:txBody>
          <a:bodyPr wrap="square" lIns="0" tIns="0" rIns="0" bIns="0" rtlCol="0" anchor="t"/>
          <a:lstStyle/>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00008082  VLEN 128</a:t>
            </a:r>
            <a:endParaRPr lang="en-US" sz="750" dirty="0"/>
          </a:p>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104c1880  SRC1.P = x행    00000090 LOAD   00000016 SIGN_INV   90001880 DST.P=slot0   00000098 SAVE</a:t>
            </a:r>
            <a:endParaRPr lang="en-US" sz="750" dirty="0"/>
          </a:p>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10001880  SRC1 = slot0    00000090 LOAD   0000000f EXP        90021880 DST=slot1     00000098 SAVE</a:t>
            </a:r>
            <a:endParaRPr lang="en-US" sz="750" dirty="0"/>
          </a:p>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40000415  BROADCAST lo (1.0 @ pool 4)   60000015 BROADCAST hi                90041880 DST=slot2   SAVE</a:t>
            </a:r>
            <a:endParaRPr lang="en-US" sz="750" dirty="0"/>
          </a:p>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10021880 50041880  LOAD×2 (slot1, slot2)   80000001 ADD   90061880 DST=slot3   00000098 SAVE</a:t>
            </a:r>
            <a:endParaRPr lang="en-US" sz="750" dirty="0"/>
          </a:p>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10041880 50061880  LOAD×2 (slot2, slot3)   8000000b DIV   90cc1880 DST=sig     00000098 SAVE</a:t>
            </a:r>
            <a:endParaRPr lang="en-US" sz="750" dirty="0"/>
          </a:p>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 (별도 T_multiply block) LOAD x, LOAD sig   8000000a MUL   SAVE y</a:t>
            </a:r>
            <a:endParaRPr lang="en-US" sz="750" dirty="0"/>
          </a:p>
        </p:txBody>
      </p:sp>
      <p:sp>
        <p:nvSpPr>
          <p:cNvPr id="8" name="Text 6"/>
          <p:cNvSpPr txBox="1"/>
          <p:nvPr/>
        </p:nvSpPr>
        <p:spPr>
          <a:xfrm>
            <a:off x="457200" y="3291840"/>
            <a:ext cx="5943600" cy="201168"/>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SRAM scratch slot을 지나는 한 행 (128 원소, FP16 저장) — 오른쪽은 실제 opcode word</a:t>
            </a:r>
            <a:endParaRPr lang="en-US" sz="900" dirty="0"/>
          </a:p>
        </p:txBody>
      </p:sp>
      <p:sp>
        <p:nvSpPr>
          <p:cNvPr id="9" name="Shape 7"/>
          <p:cNvSpPr/>
          <p:nvPr/>
        </p:nvSpPr>
        <p:spPr>
          <a:xfrm>
            <a:off x="2240280" y="3547872"/>
            <a:ext cx="388620" cy="246888"/>
          </a:xfrm>
          <a:prstGeom prst="rect">
            <a:avLst/>
          </a:prstGeom>
          <a:solidFill>
            <a:srgbClr val="EEF1F5"/>
          </a:solidFill>
          <a:ln w="6350">
            <a:solidFill>
              <a:srgbClr val="5B6B7F"/>
            </a:solidFill>
            <a:prstDash val="solid"/>
          </a:ln>
        </p:spPr>
      </p:sp>
      <p:sp>
        <p:nvSpPr>
          <p:cNvPr id="10" name="Text 8"/>
          <p:cNvSpPr txBox="1"/>
          <p:nvPr/>
        </p:nvSpPr>
        <p:spPr>
          <a:xfrm>
            <a:off x="2240280" y="354787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x0</a:t>
            </a:r>
            <a:endParaRPr lang="en-US" sz="650" dirty="0"/>
          </a:p>
        </p:txBody>
      </p:sp>
      <p:sp>
        <p:nvSpPr>
          <p:cNvPr id="11" name="Shape 9"/>
          <p:cNvSpPr/>
          <p:nvPr/>
        </p:nvSpPr>
        <p:spPr>
          <a:xfrm>
            <a:off x="2628900" y="3547872"/>
            <a:ext cx="388620" cy="246888"/>
          </a:xfrm>
          <a:prstGeom prst="rect">
            <a:avLst/>
          </a:prstGeom>
          <a:solidFill>
            <a:srgbClr val="EEF1F5"/>
          </a:solidFill>
          <a:ln w="6350">
            <a:solidFill>
              <a:srgbClr val="5B6B7F"/>
            </a:solidFill>
            <a:prstDash val="solid"/>
          </a:ln>
        </p:spPr>
      </p:sp>
      <p:sp>
        <p:nvSpPr>
          <p:cNvPr id="12" name="Text 10"/>
          <p:cNvSpPr txBox="1"/>
          <p:nvPr/>
        </p:nvSpPr>
        <p:spPr>
          <a:xfrm>
            <a:off x="2628900" y="354787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x1</a:t>
            </a:r>
            <a:endParaRPr lang="en-US" sz="650" dirty="0"/>
          </a:p>
        </p:txBody>
      </p:sp>
      <p:sp>
        <p:nvSpPr>
          <p:cNvPr id="13" name="Shape 11"/>
          <p:cNvSpPr/>
          <p:nvPr/>
        </p:nvSpPr>
        <p:spPr>
          <a:xfrm>
            <a:off x="3017520" y="3547872"/>
            <a:ext cx="388620" cy="246888"/>
          </a:xfrm>
          <a:prstGeom prst="rect">
            <a:avLst/>
          </a:prstGeom>
          <a:solidFill>
            <a:srgbClr val="EEF1F5"/>
          </a:solidFill>
          <a:ln w="6350">
            <a:solidFill>
              <a:srgbClr val="5B6B7F"/>
            </a:solidFill>
            <a:prstDash val="solid"/>
          </a:ln>
        </p:spPr>
      </p:sp>
      <p:sp>
        <p:nvSpPr>
          <p:cNvPr id="14" name="Text 12"/>
          <p:cNvSpPr txBox="1"/>
          <p:nvPr/>
        </p:nvSpPr>
        <p:spPr>
          <a:xfrm>
            <a:off x="3017520" y="354787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x2</a:t>
            </a:r>
            <a:endParaRPr lang="en-US" sz="650" dirty="0"/>
          </a:p>
        </p:txBody>
      </p:sp>
      <p:sp>
        <p:nvSpPr>
          <p:cNvPr id="15" name="Shape 13"/>
          <p:cNvSpPr/>
          <p:nvPr/>
        </p:nvSpPr>
        <p:spPr>
          <a:xfrm>
            <a:off x="3406140" y="3547872"/>
            <a:ext cx="388620" cy="246888"/>
          </a:xfrm>
          <a:prstGeom prst="rect">
            <a:avLst/>
          </a:prstGeom>
          <a:solidFill>
            <a:srgbClr val="EEF1F5"/>
          </a:solidFill>
          <a:ln w="6350">
            <a:solidFill>
              <a:srgbClr val="5B6B7F"/>
            </a:solidFill>
            <a:prstDash val="solid"/>
          </a:ln>
        </p:spPr>
      </p:sp>
      <p:sp>
        <p:nvSpPr>
          <p:cNvPr id="16" name="Text 14"/>
          <p:cNvSpPr txBox="1"/>
          <p:nvPr/>
        </p:nvSpPr>
        <p:spPr>
          <a:xfrm>
            <a:off x="3406140" y="354787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x3</a:t>
            </a:r>
            <a:endParaRPr lang="en-US" sz="650" dirty="0"/>
          </a:p>
        </p:txBody>
      </p:sp>
      <p:sp>
        <p:nvSpPr>
          <p:cNvPr id="17" name="Shape 15"/>
          <p:cNvSpPr/>
          <p:nvPr/>
        </p:nvSpPr>
        <p:spPr>
          <a:xfrm>
            <a:off x="3794760" y="3547872"/>
            <a:ext cx="388620" cy="246888"/>
          </a:xfrm>
          <a:prstGeom prst="rect">
            <a:avLst/>
          </a:prstGeom>
          <a:solidFill>
            <a:srgbClr val="EEF1F5"/>
          </a:solidFill>
          <a:ln w="6350">
            <a:solidFill>
              <a:srgbClr val="5B6B7F"/>
            </a:solidFill>
            <a:prstDash val="solid"/>
          </a:ln>
        </p:spPr>
      </p:sp>
      <p:sp>
        <p:nvSpPr>
          <p:cNvPr id="18" name="Text 16"/>
          <p:cNvSpPr txBox="1"/>
          <p:nvPr/>
        </p:nvSpPr>
        <p:spPr>
          <a:xfrm>
            <a:off x="3794760" y="354787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x4</a:t>
            </a:r>
            <a:endParaRPr lang="en-US" sz="650" dirty="0"/>
          </a:p>
        </p:txBody>
      </p:sp>
      <p:sp>
        <p:nvSpPr>
          <p:cNvPr id="19" name="Shape 17"/>
          <p:cNvSpPr/>
          <p:nvPr/>
        </p:nvSpPr>
        <p:spPr>
          <a:xfrm>
            <a:off x="4183380" y="3547872"/>
            <a:ext cx="388620" cy="246888"/>
          </a:xfrm>
          <a:prstGeom prst="rect">
            <a:avLst/>
          </a:prstGeom>
          <a:solidFill>
            <a:srgbClr val="EEF1F5"/>
          </a:solidFill>
          <a:ln w="6350">
            <a:solidFill>
              <a:srgbClr val="5B6B7F"/>
            </a:solidFill>
            <a:prstDash val="solid"/>
          </a:ln>
        </p:spPr>
      </p:sp>
      <p:sp>
        <p:nvSpPr>
          <p:cNvPr id="20" name="Text 18"/>
          <p:cNvSpPr txBox="1"/>
          <p:nvPr/>
        </p:nvSpPr>
        <p:spPr>
          <a:xfrm>
            <a:off x="4183380" y="354787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x5</a:t>
            </a:r>
            <a:endParaRPr lang="en-US" sz="650" dirty="0"/>
          </a:p>
        </p:txBody>
      </p:sp>
      <p:sp>
        <p:nvSpPr>
          <p:cNvPr id="21" name="Shape 19"/>
          <p:cNvSpPr/>
          <p:nvPr/>
        </p:nvSpPr>
        <p:spPr>
          <a:xfrm>
            <a:off x="4572000" y="3547872"/>
            <a:ext cx="388620" cy="246888"/>
          </a:xfrm>
          <a:prstGeom prst="rect">
            <a:avLst/>
          </a:prstGeom>
          <a:solidFill>
            <a:srgbClr val="EEF1F5"/>
          </a:solidFill>
          <a:ln w="6350">
            <a:solidFill>
              <a:srgbClr val="5B6B7F"/>
            </a:solidFill>
            <a:prstDash val="solid"/>
          </a:ln>
        </p:spPr>
      </p:sp>
      <p:sp>
        <p:nvSpPr>
          <p:cNvPr id="22" name="Text 20"/>
          <p:cNvSpPr txBox="1"/>
          <p:nvPr/>
        </p:nvSpPr>
        <p:spPr>
          <a:xfrm>
            <a:off x="4572000" y="354787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x6</a:t>
            </a:r>
            <a:endParaRPr lang="en-US" sz="650" dirty="0"/>
          </a:p>
        </p:txBody>
      </p:sp>
      <p:sp>
        <p:nvSpPr>
          <p:cNvPr id="23" name="Shape 21"/>
          <p:cNvSpPr/>
          <p:nvPr/>
        </p:nvSpPr>
        <p:spPr>
          <a:xfrm>
            <a:off x="4960620" y="3547872"/>
            <a:ext cx="388620" cy="246888"/>
          </a:xfrm>
          <a:prstGeom prst="rect">
            <a:avLst/>
          </a:prstGeom>
          <a:solidFill>
            <a:srgbClr val="EEF1F5"/>
          </a:solidFill>
          <a:ln w="6350">
            <a:solidFill>
              <a:srgbClr val="5B6B7F"/>
            </a:solidFill>
            <a:prstDash val="solid"/>
          </a:ln>
        </p:spPr>
      </p:sp>
      <p:sp>
        <p:nvSpPr>
          <p:cNvPr id="24" name="Text 22"/>
          <p:cNvSpPr txBox="1"/>
          <p:nvPr/>
        </p:nvSpPr>
        <p:spPr>
          <a:xfrm>
            <a:off x="4960620" y="354787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25" name="Text 23"/>
          <p:cNvSpPr txBox="1"/>
          <p:nvPr/>
        </p:nvSpPr>
        <p:spPr>
          <a:xfrm>
            <a:off x="493776" y="3547872"/>
            <a:ext cx="169164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x 행 (T_add 결과)</a:t>
            </a:r>
            <a:endParaRPr lang="en-US" sz="800" dirty="0"/>
          </a:p>
        </p:txBody>
      </p:sp>
      <p:sp>
        <p:nvSpPr>
          <p:cNvPr id="26" name="Text 24"/>
          <p:cNvSpPr txBox="1"/>
          <p:nvPr/>
        </p:nvSpPr>
        <p:spPr>
          <a:xfrm>
            <a:off x="5422392" y="3547872"/>
            <a:ext cx="100584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SRC1.PARTIAL = 19480</a:t>
            </a:r>
            <a:endParaRPr lang="en-US" sz="650" dirty="0"/>
          </a:p>
        </p:txBody>
      </p:sp>
      <p:sp>
        <p:nvSpPr>
          <p:cNvPr id="27" name="Shape 25"/>
          <p:cNvSpPr/>
          <p:nvPr/>
        </p:nvSpPr>
        <p:spPr>
          <a:xfrm>
            <a:off x="2240280" y="3877056"/>
            <a:ext cx="388620" cy="246888"/>
          </a:xfrm>
          <a:prstGeom prst="rect">
            <a:avLst/>
          </a:prstGeom>
          <a:solidFill>
            <a:srgbClr val="ECE6FA"/>
          </a:solidFill>
          <a:ln w="6350">
            <a:solidFill>
              <a:srgbClr val="6C4FBF"/>
            </a:solidFill>
            <a:prstDash val="solid"/>
          </a:ln>
        </p:spPr>
      </p:sp>
      <p:sp>
        <p:nvSpPr>
          <p:cNvPr id="28" name="Text 26"/>
          <p:cNvSpPr txBox="1"/>
          <p:nvPr/>
        </p:nvSpPr>
        <p:spPr>
          <a:xfrm>
            <a:off x="2240280" y="387705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−x0</a:t>
            </a:r>
            <a:endParaRPr lang="en-US" sz="650" dirty="0"/>
          </a:p>
        </p:txBody>
      </p:sp>
      <p:sp>
        <p:nvSpPr>
          <p:cNvPr id="29" name="Shape 27"/>
          <p:cNvSpPr/>
          <p:nvPr/>
        </p:nvSpPr>
        <p:spPr>
          <a:xfrm>
            <a:off x="2628900" y="3877056"/>
            <a:ext cx="388620" cy="246888"/>
          </a:xfrm>
          <a:prstGeom prst="rect">
            <a:avLst/>
          </a:prstGeom>
          <a:solidFill>
            <a:srgbClr val="ECE6FA"/>
          </a:solidFill>
          <a:ln w="6350">
            <a:solidFill>
              <a:srgbClr val="6C4FBF"/>
            </a:solidFill>
            <a:prstDash val="solid"/>
          </a:ln>
        </p:spPr>
      </p:sp>
      <p:sp>
        <p:nvSpPr>
          <p:cNvPr id="30" name="Text 28"/>
          <p:cNvSpPr txBox="1"/>
          <p:nvPr/>
        </p:nvSpPr>
        <p:spPr>
          <a:xfrm>
            <a:off x="2628900" y="387705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−x1</a:t>
            </a:r>
            <a:endParaRPr lang="en-US" sz="650" dirty="0"/>
          </a:p>
        </p:txBody>
      </p:sp>
      <p:sp>
        <p:nvSpPr>
          <p:cNvPr id="31" name="Shape 29"/>
          <p:cNvSpPr/>
          <p:nvPr/>
        </p:nvSpPr>
        <p:spPr>
          <a:xfrm>
            <a:off x="3017520" y="3877056"/>
            <a:ext cx="388620" cy="246888"/>
          </a:xfrm>
          <a:prstGeom prst="rect">
            <a:avLst/>
          </a:prstGeom>
          <a:solidFill>
            <a:srgbClr val="ECE6FA"/>
          </a:solidFill>
          <a:ln w="6350">
            <a:solidFill>
              <a:srgbClr val="6C4FBF"/>
            </a:solidFill>
            <a:prstDash val="solid"/>
          </a:ln>
        </p:spPr>
      </p:sp>
      <p:sp>
        <p:nvSpPr>
          <p:cNvPr id="32" name="Text 30"/>
          <p:cNvSpPr txBox="1"/>
          <p:nvPr/>
        </p:nvSpPr>
        <p:spPr>
          <a:xfrm>
            <a:off x="3017520" y="387705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−x2</a:t>
            </a:r>
            <a:endParaRPr lang="en-US" sz="650" dirty="0"/>
          </a:p>
        </p:txBody>
      </p:sp>
      <p:sp>
        <p:nvSpPr>
          <p:cNvPr id="33" name="Shape 31"/>
          <p:cNvSpPr/>
          <p:nvPr/>
        </p:nvSpPr>
        <p:spPr>
          <a:xfrm>
            <a:off x="3406140" y="3877056"/>
            <a:ext cx="388620" cy="246888"/>
          </a:xfrm>
          <a:prstGeom prst="rect">
            <a:avLst/>
          </a:prstGeom>
          <a:solidFill>
            <a:srgbClr val="ECE6FA"/>
          </a:solidFill>
          <a:ln w="6350">
            <a:solidFill>
              <a:srgbClr val="6C4FBF"/>
            </a:solidFill>
            <a:prstDash val="solid"/>
          </a:ln>
        </p:spPr>
      </p:sp>
      <p:sp>
        <p:nvSpPr>
          <p:cNvPr id="34" name="Text 32"/>
          <p:cNvSpPr txBox="1"/>
          <p:nvPr/>
        </p:nvSpPr>
        <p:spPr>
          <a:xfrm>
            <a:off x="3406140" y="387705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−x3</a:t>
            </a:r>
            <a:endParaRPr lang="en-US" sz="650" dirty="0"/>
          </a:p>
        </p:txBody>
      </p:sp>
      <p:sp>
        <p:nvSpPr>
          <p:cNvPr id="35" name="Shape 33"/>
          <p:cNvSpPr/>
          <p:nvPr/>
        </p:nvSpPr>
        <p:spPr>
          <a:xfrm>
            <a:off x="3794760" y="3877056"/>
            <a:ext cx="388620" cy="246888"/>
          </a:xfrm>
          <a:prstGeom prst="rect">
            <a:avLst/>
          </a:prstGeom>
          <a:solidFill>
            <a:srgbClr val="ECE6FA"/>
          </a:solidFill>
          <a:ln w="6350">
            <a:solidFill>
              <a:srgbClr val="6C4FBF"/>
            </a:solidFill>
            <a:prstDash val="solid"/>
          </a:ln>
        </p:spPr>
      </p:sp>
      <p:sp>
        <p:nvSpPr>
          <p:cNvPr id="36" name="Text 34"/>
          <p:cNvSpPr txBox="1"/>
          <p:nvPr/>
        </p:nvSpPr>
        <p:spPr>
          <a:xfrm>
            <a:off x="3794760" y="387705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−x4</a:t>
            </a:r>
            <a:endParaRPr lang="en-US" sz="650" dirty="0"/>
          </a:p>
        </p:txBody>
      </p:sp>
      <p:sp>
        <p:nvSpPr>
          <p:cNvPr id="37" name="Shape 35"/>
          <p:cNvSpPr/>
          <p:nvPr/>
        </p:nvSpPr>
        <p:spPr>
          <a:xfrm>
            <a:off x="4183380" y="3877056"/>
            <a:ext cx="388620" cy="246888"/>
          </a:xfrm>
          <a:prstGeom prst="rect">
            <a:avLst/>
          </a:prstGeom>
          <a:solidFill>
            <a:srgbClr val="ECE6FA"/>
          </a:solidFill>
          <a:ln w="6350">
            <a:solidFill>
              <a:srgbClr val="6C4FBF"/>
            </a:solidFill>
            <a:prstDash val="solid"/>
          </a:ln>
        </p:spPr>
      </p:sp>
      <p:sp>
        <p:nvSpPr>
          <p:cNvPr id="38" name="Text 36"/>
          <p:cNvSpPr txBox="1"/>
          <p:nvPr/>
        </p:nvSpPr>
        <p:spPr>
          <a:xfrm>
            <a:off x="4183380" y="387705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−x5</a:t>
            </a:r>
            <a:endParaRPr lang="en-US" sz="650" dirty="0"/>
          </a:p>
        </p:txBody>
      </p:sp>
      <p:sp>
        <p:nvSpPr>
          <p:cNvPr id="39" name="Shape 37"/>
          <p:cNvSpPr/>
          <p:nvPr/>
        </p:nvSpPr>
        <p:spPr>
          <a:xfrm>
            <a:off x="4572000" y="3877056"/>
            <a:ext cx="388620" cy="246888"/>
          </a:xfrm>
          <a:prstGeom prst="rect">
            <a:avLst/>
          </a:prstGeom>
          <a:solidFill>
            <a:srgbClr val="ECE6FA"/>
          </a:solidFill>
          <a:ln w="6350">
            <a:solidFill>
              <a:srgbClr val="6C4FBF"/>
            </a:solidFill>
            <a:prstDash val="solid"/>
          </a:ln>
        </p:spPr>
      </p:sp>
      <p:sp>
        <p:nvSpPr>
          <p:cNvPr id="40" name="Text 38"/>
          <p:cNvSpPr txBox="1"/>
          <p:nvPr/>
        </p:nvSpPr>
        <p:spPr>
          <a:xfrm>
            <a:off x="4572000" y="387705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−x6</a:t>
            </a:r>
            <a:endParaRPr lang="en-US" sz="650" dirty="0"/>
          </a:p>
        </p:txBody>
      </p:sp>
      <p:sp>
        <p:nvSpPr>
          <p:cNvPr id="41" name="Shape 39"/>
          <p:cNvSpPr/>
          <p:nvPr/>
        </p:nvSpPr>
        <p:spPr>
          <a:xfrm>
            <a:off x="4960620" y="3877056"/>
            <a:ext cx="388620" cy="246888"/>
          </a:xfrm>
          <a:prstGeom prst="rect">
            <a:avLst/>
          </a:prstGeom>
          <a:solidFill>
            <a:srgbClr val="ECE6FA"/>
          </a:solidFill>
          <a:ln w="6350">
            <a:solidFill>
              <a:srgbClr val="6C4FBF"/>
            </a:solidFill>
            <a:prstDash val="solid"/>
          </a:ln>
        </p:spPr>
      </p:sp>
      <p:sp>
        <p:nvSpPr>
          <p:cNvPr id="42" name="Text 40"/>
          <p:cNvSpPr txBox="1"/>
          <p:nvPr/>
        </p:nvSpPr>
        <p:spPr>
          <a:xfrm>
            <a:off x="4960620" y="387705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43" name="Text 41"/>
          <p:cNvSpPr txBox="1"/>
          <p:nvPr/>
        </p:nvSpPr>
        <p:spPr>
          <a:xfrm>
            <a:off x="493776" y="3877056"/>
            <a:ext cx="169164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slot0 = −x</a:t>
            </a:r>
            <a:endParaRPr lang="en-US" sz="800" dirty="0"/>
          </a:p>
        </p:txBody>
      </p:sp>
      <p:sp>
        <p:nvSpPr>
          <p:cNvPr id="44" name="Text 42"/>
          <p:cNvSpPr txBox="1"/>
          <p:nvPr/>
        </p:nvSpPr>
        <p:spPr>
          <a:xfrm>
            <a:off x="5422392" y="3877056"/>
            <a:ext cx="100584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SIGN_INV  00000016</a:t>
            </a:r>
            <a:endParaRPr lang="en-US" sz="650" dirty="0"/>
          </a:p>
        </p:txBody>
      </p:sp>
      <p:sp>
        <p:nvSpPr>
          <p:cNvPr id="45" name="Shape 43"/>
          <p:cNvSpPr/>
          <p:nvPr/>
        </p:nvSpPr>
        <p:spPr>
          <a:xfrm>
            <a:off x="3794760" y="3794760"/>
            <a:ext cx="914" cy="82296"/>
          </a:xfrm>
          <a:prstGeom prst="line">
            <a:avLst/>
          </a:prstGeom>
          <a:noFill/>
          <a:ln w="9525">
            <a:solidFill>
              <a:srgbClr val="5B6B7F"/>
            </a:solidFill>
            <a:prstDash val="solid"/>
            <a:tailEnd type="triangle"/>
          </a:ln>
        </p:spPr>
      </p:sp>
      <p:sp>
        <p:nvSpPr>
          <p:cNvPr id="46" name="Shape 44"/>
          <p:cNvSpPr/>
          <p:nvPr/>
        </p:nvSpPr>
        <p:spPr>
          <a:xfrm>
            <a:off x="2240280" y="4206240"/>
            <a:ext cx="388620" cy="246888"/>
          </a:xfrm>
          <a:prstGeom prst="rect">
            <a:avLst/>
          </a:prstGeom>
          <a:solidFill>
            <a:srgbClr val="ECE6FA"/>
          </a:solidFill>
          <a:ln w="6350">
            <a:solidFill>
              <a:srgbClr val="6C4FBF"/>
            </a:solidFill>
            <a:prstDash val="solid"/>
          </a:ln>
        </p:spPr>
      </p:sp>
      <p:sp>
        <p:nvSpPr>
          <p:cNvPr id="47" name="Text 45"/>
          <p:cNvSpPr txBox="1"/>
          <p:nvPr/>
        </p:nvSpPr>
        <p:spPr>
          <a:xfrm>
            <a:off x="2240280" y="4206240"/>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e0</a:t>
            </a:r>
            <a:endParaRPr lang="en-US" sz="650" dirty="0"/>
          </a:p>
        </p:txBody>
      </p:sp>
      <p:sp>
        <p:nvSpPr>
          <p:cNvPr id="48" name="Shape 46"/>
          <p:cNvSpPr/>
          <p:nvPr/>
        </p:nvSpPr>
        <p:spPr>
          <a:xfrm>
            <a:off x="2628900" y="4206240"/>
            <a:ext cx="388620" cy="246888"/>
          </a:xfrm>
          <a:prstGeom prst="rect">
            <a:avLst/>
          </a:prstGeom>
          <a:solidFill>
            <a:srgbClr val="ECE6FA"/>
          </a:solidFill>
          <a:ln w="6350">
            <a:solidFill>
              <a:srgbClr val="6C4FBF"/>
            </a:solidFill>
            <a:prstDash val="solid"/>
          </a:ln>
        </p:spPr>
      </p:sp>
      <p:sp>
        <p:nvSpPr>
          <p:cNvPr id="49" name="Text 47"/>
          <p:cNvSpPr txBox="1"/>
          <p:nvPr/>
        </p:nvSpPr>
        <p:spPr>
          <a:xfrm>
            <a:off x="2628900" y="4206240"/>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e1</a:t>
            </a:r>
            <a:endParaRPr lang="en-US" sz="650" dirty="0"/>
          </a:p>
        </p:txBody>
      </p:sp>
      <p:sp>
        <p:nvSpPr>
          <p:cNvPr id="50" name="Shape 48"/>
          <p:cNvSpPr/>
          <p:nvPr/>
        </p:nvSpPr>
        <p:spPr>
          <a:xfrm>
            <a:off x="3017520" y="4206240"/>
            <a:ext cx="388620" cy="246888"/>
          </a:xfrm>
          <a:prstGeom prst="rect">
            <a:avLst/>
          </a:prstGeom>
          <a:solidFill>
            <a:srgbClr val="ECE6FA"/>
          </a:solidFill>
          <a:ln w="6350">
            <a:solidFill>
              <a:srgbClr val="6C4FBF"/>
            </a:solidFill>
            <a:prstDash val="solid"/>
          </a:ln>
        </p:spPr>
      </p:sp>
      <p:sp>
        <p:nvSpPr>
          <p:cNvPr id="51" name="Text 49"/>
          <p:cNvSpPr txBox="1"/>
          <p:nvPr/>
        </p:nvSpPr>
        <p:spPr>
          <a:xfrm>
            <a:off x="3017520" y="4206240"/>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e2</a:t>
            </a:r>
            <a:endParaRPr lang="en-US" sz="650" dirty="0"/>
          </a:p>
        </p:txBody>
      </p:sp>
      <p:sp>
        <p:nvSpPr>
          <p:cNvPr id="52" name="Shape 50"/>
          <p:cNvSpPr/>
          <p:nvPr/>
        </p:nvSpPr>
        <p:spPr>
          <a:xfrm>
            <a:off x="3406140" y="4206240"/>
            <a:ext cx="388620" cy="246888"/>
          </a:xfrm>
          <a:prstGeom prst="rect">
            <a:avLst/>
          </a:prstGeom>
          <a:solidFill>
            <a:srgbClr val="ECE6FA"/>
          </a:solidFill>
          <a:ln w="6350">
            <a:solidFill>
              <a:srgbClr val="6C4FBF"/>
            </a:solidFill>
            <a:prstDash val="solid"/>
          </a:ln>
        </p:spPr>
      </p:sp>
      <p:sp>
        <p:nvSpPr>
          <p:cNvPr id="53" name="Text 51"/>
          <p:cNvSpPr txBox="1"/>
          <p:nvPr/>
        </p:nvSpPr>
        <p:spPr>
          <a:xfrm>
            <a:off x="3406140" y="4206240"/>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e3</a:t>
            </a:r>
            <a:endParaRPr lang="en-US" sz="650" dirty="0"/>
          </a:p>
        </p:txBody>
      </p:sp>
      <p:sp>
        <p:nvSpPr>
          <p:cNvPr id="54" name="Shape 52"/>
          <p:cNvSpPr/>
          <p:nvPr/>
        </p:nvSpPr>
        <p:spPr>
          <a:xfrm>
            <a:off x="3794760" y="4206240"/>
            <a:ext cx="388620" cy="246888"/>
          </a:xfrm>
          <a:prstGeom prst="rect">
            <a:avLst/>
          </a:prstGeom>
          <a:solidFill>
            <a:srgbClr val="ECE6FA"/>
          </a:solidFill>
          <a:ln w="6350">
            <a:solidFill>
              <a:srgbClr val="6C4FBF"/>
            </a:solidFill>
            <a:prstDash val="solid"/>
          </a:ln>
        </p:spPr>
      </p:sp>
      <p:sp>
        <p:nvSpPr>
          <p:cNvPr id="55" name="Text 53"/>
          <p:cNvSpPr txBox="1"/>
          <p:nvPr/>
        </p:nvSpPr>
        <p:spPr>
          <a:xfrm>
            <a:off x="3794760" y="4206240"/>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e4</a:t>
            </a:r>
            <a:endParaRPr lang="en-US" sz="650" dirty="0"/>
          </a:p>
        </p:txBody>
      </p:sp>
      <p:sp>
        <p:nvSpPr>
          <p:cNvPr id="56" name="Shape 54"/>
          <p:cNvSpPr/>
          <p:nvPr/>
        </p:nvSpPr>
        <p:spPr>
          <a:xfrm>
            <a:off x="4183380" y="4206240"/>
            <a:ext cx="388620" cy="246888"/>
          </a:xfrm>
          <a:prstGeom prst="rect">
            <a:avLst/>
          </a:prstGeom>
          <a:solidFill>
            <a:srgbClr val="ECE6FA"/>
          </a:solidFill>
          <a:ln w="6350">
            <a:solidFill>
              <a:srgbClr val="6C4FBF"/>
            </a:solidFill>
            <a:prstDash val="solid"/>
          </a:ln>
        </p:spPr>
      </p:sp>
      <p:sp>
        <p:nvSpPr>
          <p:cNvPr id="57" name="Text 55"/>
          <p:cNvSpPr txBox="1"/>
          <p:nvPr/>
        </p:nvSpPr>
        <p:spPr>
          <a:xfrm>
            <a:off x="4183380" y="4206240"/>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e5</a:t>
            </a:r>
            <a:endParaRPr lang="en-US" sz="650" dirty="0"/>
          </a:p>
        </p:txBody>
      </p:sp>
      <p:sp>
        <p:nvSpPr>
          <p:cNvPr id="58" name="Shape 56"/>
          <p:cNvSpPr/>
          <p:nvPr/>
        </p:nvSpPr>
        <p:spPr>
          <a:xfrm>
            <a:off x="4572000" y="4206240"/>
            <a:ext cx="388620" cy="246888"/>
          </a:xfrm>
          <a:prstGeom prst="rect">
            <a:avLst/>
          </a:prstGeom>
          <a:solidFill>
            <a:srgbClr val="ECE6FA"/>
          </a:solidFill>
          <a:ln w="6350">
            <a:solidFill>
              <a:srgbClr val="6C4FBF"/>
            </a:solidFill>
            <a:prstDash val="solid"/>
          </a:ln>
        </p:spPr>
      </p:sp>
      <p:sp>
        <p:nvSpPr>
          <p:cNvPr id="59" name="Text 57"/>
          <p:cNvSpPr txBox="1"/>
          <p:nvPr/>
        </p:nvSpPr>
        <p:spPr>
          <a:xfrm>
            <a:off x="4572000" y="4206240"/>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e6</a:t>
            </a:r>
            <a:endParaRPr lang="en-US" sz="650" dirty="0"/>
          </a:p>
        </p:txBody>
      </p:sp>
      <p:sp>
        <p:nvSpPr>
          <p:cNvPr id="60" name="Shape 58"/>
          <p:cNvSpPr/>
          <p:nvPr/>
        </p:nvSpPr>
        <p:spPr>
          <a:xfrm>
            <a:off x="4960620" y="4206240"/>
            <a:ext cx="388620" cy="246888"/>
          </a:xfrm>
          <a:prstGeom prst="rect">
            <a:avLst/>
          </a:prstGeom>
          <a:solidFill>
            <a:srgbClr val="ECE6FA"/>
          </a:solidFill>
          <a:ln w="6350">
            <a:solidFill>
              <a:srgbClr val="6C4FBF"/>
            </a:solidFill>
            <a:prstDash val="solid"/>
          </a:ln>
        </p:spPr>
      </p:sp>
      <p:sp>
        <p:nvSpPr>
          <p:cNvPr id="61" name="Text 59"/>
          <p:cNvSpPr txBox="1"/>
          <p:nvPr/>
        </p:nvSpPr>
        <p:spPr>
          <a:xfrm>
            <a:off x="4960620" y="4206240"/>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62" name="Text 60"/>
          <p:cNvSpPr txBox="1"/>
          <p:nvPr/>
        </p:nvSpPr>
        <p:spPr>
          <a:xfrm>
            <a:off x="493776" y="4206240"/>
            <a:ext cx="169164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slot1 = exp(slot0)</a:t>
            </a:r>
            <a:endParaRPr lang="en-US" sz="800" dirty="0"/>
          </a:p>
        </p:txBody>
      </p:sp>
      <p:sp>
        <p:nvSpPr>
          <p:cNvPr id="63" name="Text 61"/>
          <p:cNvSpPr txBox="1"/>
          <p:nvPr/>
        </p:nvSpPr>
        <p:spPr>
          <a:xfrm>
            <a:off x="5422392" y="4206240"/>
            <a:ext cx="100584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EXP  0000000f</a:t>
            </a:r>
            <a:endParaRPr lang="en-US" sz="650" dirty="0"/>
          </a:p>
        </p:txBody>
      </p:sp>
      <p:sp>
        <p:nvSpPr>
          <p:cNvPr id="64" name="Shape 62"/>
          <p:cNvSpPr/>
          <p:nvPr/>
        </p:nvSpPr>
        <p:spPr>
          <a:xfrm>
            <a:off x="3794760" y="4123944"/>
            <a:ext cx="914" cy="82296"/>
          </a:xfrm>
          <a:prstGeom prst="line">
            <a:avLst/>
          </a:prstGeom>
          <a:noFill/>
          <a:ln w="9525">
            <a:solidFill>
              <a:srgbClr val="5B6B7F"/>
            </a:solidFill>
            <a:prstDash val="solid"/>
            <a:tailEnd type="triangle"/>
          </a:ln>
        </p:spPr>
      </p:sp>
      <p:sp>
        <p:nvSpPr>
          <p:cNvPr id="65" name="Shape 63"/>
          <p:cNvSpPr/>
          <p:nvPr/>
        </p:nvSpPr>
        <p:spPr>
          <a:xfrm>
            <a:off x="2240280" y="4535424"/>
            <a:ext cx="388620" cy="246888"/>
          </a:xfrm>
          <a:prstGeom prst="rect">
            <a:avLst/>
          </a:prstGeom>
          <a:solidFill>
            <a:srgbClr val="E3EEFB"/>
          </a:solidFill>
          <a:ln w="6350">
            <a:solidFill>
              <a:srgbClr val="2F6DB5"/>
            </a:solidFill>
            <a:prstDash val="solid"/>
          </a:ln>
        </p:spPr>
      </p:sp>
      <p:sp>
        <p:nvSpPr>
          <p:cNvPr id="66" name="Text 64"/>
          <p:cNvSpPr txBox="1"/>
          <p:nvPr/>
        </p:nvSpPr>
        <p:spPr>
          <a:xfrm>
            <a:off x="2240280" y="4535424"/>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67" name="Shape 65"/>
          <p:cNvSpPr/>
          <p:nvPr/>
        </p:nvSpPr>
        <p:spPr>
          <a:xfrm>
            <a:off x="2628900" y="4535424"/>
            <a:ext cx="388620" cy="246888"/>
          </a:xfrm>
          <a:prstGeom prst="rect">
            <a:avLst/>
          </a:prstGeom>
          <a:solidFill>
            <a:srgbClr val="E3EEFB"/>
          </a:solidFill>
          <a:ln w="6350">
            <a:solidFill>
              <a:srgbClr val="2F6DB5"/>
            </a:solidFill>
            <a:prstDash val="solid"/>
          </a:ln>
        </p:spPr>
      </p:sp>
      <p:sp>
        <p:nvSpPr>
          <p:cNvPr id="68" name="Text 66"/>
          <p:cNvSpPr txBox="1"/>
          <p:nvPr/>
        </p:nvSpPr>
        <p:spPr>
          <a:xfrm>
            <a:off x="2628900" y="4535424"/>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69" name="Shape 67"/>
          <p:cNvSpPr/>
          <p:nvPr/>
        </p:nvSpPr>
        <p:spPr>
          <a:xfrm>
            <a:off x="3017520" y="4535424"/>
            <a:ext cx="388620" cy="246888"/>
          </a:xfrm>
          <a:prstGeom prst="rect">
            <a:avLst/>
          </a:prstGeom>
          <a:solidFill>
            <a:srgbClr val="E3EEFB"/>
          </a:solidFill>
          <a:ln w="6350">
            <a:solidFill>
              <a:srgbClr val="2F6DB5"/>
            </a:solidFill>
            <a:prstDash val="solid"/>
          </a:ln>
        </p:spPr>
      </p:sp>
      <p:sp>
        <p:nvSpPr>
          <p:cNvPr id="70" name="Text 68"/>
          <p:cNvSpPr txBox="1"/>
          <p:nvPr/>
        </p:nvSpPr>
        <p:spPr>
          <a:xfrm>
            <a:off x="3017520" y="4535424"/>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71" name="Shape 69"/>
          <p:cNvSpPr/>
          <p:nvPr/>
        </p:nvSpPr>
        <p:spPr>
          <a:xfrm>
            <a:off x="3406140" y="4535424"/>
            <a:ext cx="388620" cy="246888"/>
          </a:xfrm>
          <a:prstGeom prst="rect">
            <a:avLst/>
          </a:prstGeom>
          <a:solidFill>
            <a:srgbClr val="E3EEFB"/>
          </a:solidFill>
          <a:ln w="6350">
            <a:solidFill>
              <a:srgbClr val="2F6DB5"/>
            </a:solidFill>
            <a:prstDash val="solid"/>
          </a:ln>
        </p:spPr>
      </p:sp>
      <p:sp>
        <p:nvSpPr>
          <p:cNvPr id="72" name="Text 70"/>
          <p:cNvSpPr txBox="1"/>
          <p:nvPr/>
        </p:nvSpPr>
        <p:spPr>
          <a:xfrm>
            <a:off x="3406140" y="4535424"/>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73" name="Shape 71"/>
          <p:cNvSpPr/>
          <p:nvPr/>
        </p:nvSpPr>
        <p:spPr>
          <a:xfrm>
            <a:off x="3794760" y="4535424"/>
            <a:ext cx="388620" cy="246888"/>
          </a:xfrm>
          <a:prstGeom prst="rect">
            <a:avLst/>
          </a:prstGeom>
          <a:solidFill>
            <a:srgbClr val="E3EEFB"/>
          </a:solidFill>
          <a:ln w="6350">
            <a:solidFill>
              <a:srgbClr val="2F6DB5"/>
            </a:solidFill>
            <a:prstDash val="solid"/>
          </a:ln>
        </p:spPr>
      </p:sp>
      <p:sp>
        <p:nvSpPr>
          <p:cNvPr id="74" name="Text 72"/>
          <p:cNvSpPr txBox="1"/>
          <p:nvPr/>
        </p:nvSpPr>
        <p:spPr>
          <a:xfrm>
            <a:off x="3794760" y="4535424"/>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75" name="Shape 73"/>
          <p:cNvSpPr/>
          <p:nvPr/>
        </p:nvSpPr>
        <p:spPr>
          <a:xfrm>
            <a:off x="4183380" y="4535424"/>
            <a:ext cx="388620" cy="246888"/>
          </a:xfrm>
          <a:prstGeom prst="rect">
            <a:avLst/>
          </a:prstGeom>
          <a:solidFill>
            <a:srgbClr val="E3EEFB"/>
          </a:solidFill>
          <a:ln w="6350">
            <a:solidFill>
              <a:srgbClr val="2F6DB5"/>
            </a:solidFill>
            <a:prstDash val="solid"/>
          </a:ln>
        </p:spPr>
      </p:sp>
      <p:sp>
        <p:nvSpPr>
          <p:cNvPr id="76" name="Text 74"/>
          <p:cNvSpPr txBox="1"/>
          <p:nvPr/>
        </p:nvSpPr>
        <p:spPr>
          <a:xfrm>
            <a:off x="4183380" y="4535424"/>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77" name="Shape 75"/>
          <p:cNvSpPr/>
          <p:nvPr/>
        </p:nvSpPr>
        <p:spPr>
          <a:xfrm>
            <a:off x="4572000" y="4535424"/>
            <a:ext cx="388620" cy="246888"/>
          </a:xfrm>
          <a:prstGeom prst="rect">
            <a:avLst/>
          </a:prstGeom>
          <a:solidFill>
            <a:srgbClr val="E3EEFB"/>
          </a:solidFill>
          <a:ln w="6350">
            <a:solidFill>
              <a:srgbClr val="2F6DB5"/>
            </a:solidFill>
            <a:prstDash val="solid"/>
          </a:ln>
        </p:spPr>
      </p:sp>
      <p:sp>
        <p:nvSpPr>
          <p:cNvPr id="78" name="Text 76"/>
          <p:cNvSpPr txBox="1"/>
          <p:nvPr/>
        </p:nvSpPr>
        <p:spPr>
          <a:xfrm>
            <a:off x="4572000" y="4535424"/>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79" name="Shape 77"/>
          <p:cNvSpPr/>
          <p:nvPr/>
        </p:nvSpPr>
        <p:spPr>
          <a:xfrm>
            <a:off x="4960620" y="4535424"/>
            <a:ext cx="388620" cy="246888"/>
          </a:xfrm>
          <a:prstGeom prst="rect">
            <a:avLst/>
          </a:prstGeom>
          <a:solidFill>
            <a:srgbClr val="E3EEFB"/>
          </a:solidFill>
          <a:ln w="6350">
            <a:solidFill>
              <a:srgbClr val="2F6DB5"/>
            </a:solidFill>
            <a:prstDash val="solid"/>
          </a:ln>
        </p:spPr>
      </p:sp>
      <p:sp>
        <p:nvSpPr>
          <p:cNvPr id="80" name="Text 78"/>
          <p:cNvSpPr txBox="1"/>
          <p:nvPr/>
        </p:nvSpPr>
        <p:spPr>
          <a:xfrm>
            <a:off x="4960620" y="4535424"/>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81" name="Text 79"/>
          <p:cNvSpPr txBox="1"/>
          <p:nvPr/>
        </p:nvSpPr>
        <p:spPr>
          <a:xfrm>
            <a:off x="493776" y="4535424"/>
            <a:ext cx="169164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slot2 = 1.0 (broadcast)</a:t>
            </a:r>
            <a:endParaRPr lang="en-US" sz="800" dirty="0"/>
          </a:p>
        </p:txBody>
      </p:sp>
      <p:sp>
        <p:nvSpPr>
          <p:cNvPr id="82" name="Text 80"/>
          <p:cNvSpPr txBox="1"/>
          <p:nvPr/>
        </p:nvSpPr>
        <p:spPr>
          <a:xfrm>
            <a:off x="5422392" y="4535424"/>
            <a:ext cx="100584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BROADCAST  40000415 / 60000015</a:t>
            </a:r>
            <a:endParaRPr lang="en-US" sz="650" dirty="0"/>
          </a:p>
        </p:txBody>
      </p:sp>
      <p:sp>
        <p:nvSpPr>
          <p:cNvPr id="83" name="Shape 81"/>
          <p:cNvSpPr/>
          <p:nvPr/>
        </p:nvSpPr>
        <p:spPr>
          <a:xfrm>
            <a:off x="3794760" y="4453128"/>
            <a:ext cx="914" cy="82296"/>
          </a:xfrm>
          <a:prstGeom prst="line">
            <a:avLst/>
          </a:prstGeom>
          <a:noFill/>
          <a:ln w="9525">
            <a:solidFill>
              <a:srgbClr val="5B6B7F"/>
            </a:solidFill>
            <a:prstDash val="solid"/>
            <a:tailEnd type="triangle"/>
          </a:ln>
        </p:spPr>
      </p:sp>
      <p:sp>
        <p:nvSpPr>
          <p:cNvPr id="84" name="Shape 82"/>
          <p:cNvSpPr/>
          <p:nvPr/>
        </p:nvSpPr>
        <p:spPr>
          <a:xfrm>
            <a:off x="2240280" y="4864608"/>
            <a:ext cx="388620" cy="246888"/>
          </a:xfrm>
          <a:prstGeom prst="rect">
            <a:avLst/>
          </a:prstGeom>
          <a:solidFill>
            <a:srgbClr val="ECE6FA"/>
          </a:solidFill>
          <a:ln w="6350">
            <a:solidFill>
              <a:srgbClr val="6C4FBF"/>
            </a:solidFill>
            <a:prstDash val="solid"/>
          </a:ln>
        </p:spPr>
      </p:sp>
      <p:sp>
        <p:nvSpPr>
          <p:cNvPr id="85" name="Text 83"/>
          <p:cNvSpPr txBox="1"/>
          <p:nvPr/>
        </p:nvSpPr>
        <p:spPr>
          <a:xfrm>
            <a:off x="2240280" y="4864608"/>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1+e0</a:t>
            </a:r>
            <a:endParaRPr lang="en-US" sz="650" dirty="0"/>
          </a:p>
        </p:txBody>
      </p:sp>
      <p:sp>
        <p:nvSpPr>
          <p:cNvPr id="86" name="Shape 84"/>
          <p:cNvSpPr/>
          <p:nvPr/>
        </p:nvSpPr>
        <p:spPr>
          <a:xfrm>
            <a:off x="2628900" y="4864608"/>
            <a:ext cx="388620" cy="246888"/>
          </a:xfrm>
          <a:prstGeom prst="rect">
            <a:avLst/>
          </a:prstGeom>
          <a:solidFill>
            <a:srgbClr val="ECE6FA"/>
          </a:solidFill>
          <a:ln w="6350">
            <a:solidFill>
              <a:srgbClr val="6C4FBF"/>
            </a:solidFill>
            <a:prstDash val="solid"/>
          </a:ln>
        </p:spPr>
      </p:sp>
      <p:sp>
        <p:nvSpPr>
          <p:cNvPr id="87" name="Text 85"/>
          <p:cNvSpPr txBox="1"/>
          <p:nvPr/>
        </p:nvSpPr>
        <p:spPr>
          <a:xfrm>
            <a:off x="2628900" y="4864608"/>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1+e1</a:t>
            </a:r>
            <a:endParaRPr lang="en-US" sz="650" dirty="0"/>
          </a:p>
        </p:txBody>
      </p:sp>
      <p:sp>
        <p:nvSpPr>
          <p:cNvPr id="88" name="Shape 86"/>
          <p:cNvSpPr/>
          <p:nvPr/>
        </p:nvSpPr>
        <p:spPr>
          <a:xfrm>
            <a:off x="3017520" y="4864608"/>
            <a:ext cx="388620" cy="246888"/>
          </a:xfrm>
          <a:prstGeom prst="rect">
            <a:avLst/>
          </a:prstGeom>
          <a:solidFill>
            <a:srgbClr val="ECE6FA"/>
          </a:solidFill>
          <a:ln w="6350">
            <a:solidFill>
              <a:srgbClr val="6C4FBF"/>
            </a:solidFill>
            <a:prstDash val="solid"/>
          </a:ln>
        </p:spPr>
      </p:sp>
      <p:sp>
        <p:nvSpPr>
          <p:cNvPr id="89" name="Text 87"/>
          <p:cNvSpPr txBox="1"/>
          <p:nvPr/>
        </p:nvSpPr>
        <p:spPr>
          <a:xfrm>
            <a:off x="3017520" y="4864608"/>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1+e2</a:t>
            </a:r>
            <a:endParaRPr lang="en-US" sz="650" dirty="0"/>
          </a:p>
        </p:txBody>
      </p:sp>
      <p:sp>
        <p:nvSpPr>
          <p:cNvPr id="90" name="Shape 88"/>
          <p:cNvSpPr/>
          <p:nvPr/>
        </p:nvSpPr>
        <p:spPr>
          <a:xfrm>
            <a:off x="3406140" y="4864608"/>
            <a:ext cx="388620" cy="246888"/>
          </a:xfrm>
          <a:prstGeom prst="rect">
            <a:avLst/>
          </a:prstGeom>
          <a:solidFill>
            <a:srgbClr val="ECE6FA"/>
          </a:solidFill>
          <a:ln w="6350">
            <a:solidFill>
              <a:srgbClr val="6C4FBF"/>
            </a:solidFill>
            <a:prstDash val="solid"/>
          </a:ln>
        </p:spPr>
      </p:sp>
      <p:sp>
        <p:nvSpPr>
          <p:cNvPr id="91" name="Text 89"/>
          <p:cNvSpPr txBox="1"/>
          <p:nvPr/>
        </p:nvSpPr>
        <p:spPr>
          <a:xfrm>
            <a:off x="3406140" y="4864608"/>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1+e3</a:t>
            </a:r>
            <a:endParaRPr lang="en-US" sz="650" dirty="0"/>
          </a:p>
        </p:txBody>
      </p:sp>
      <p:sp>
        <p:nvSpPr>
          <p:cNvPr id="92" name="Shape 90"/>
          <p:cNvSpPr/>
          <p:nvPr/>
        </p:nvSpPr>
        <p:spPr>
          <a:xfrm>
            <a:off x="3794760" y="4864608"/>
            <a:ext cx="388620" cy="246888"/>
          </a:xfrm>
          <a:prstGeom prst="rect">
            <a:avLst/>
          </a:prstGeom>
          <a:solidFill>
            <a:srgbClr val="ECE6FA"/>
          </a:solidFill>
          <a:ln w="6350">
            <a:solidFill>
              <a:srgbClr val="6C4FBF"/>
            </a:solidFill>
            <a:prstDash val="solid"/>
          </a:ln>
        </p:spPr>
      </p:sp>
      <p:sp>
        <p:nvSpPr>
          <p:cNvPr id="93" name="Text 91"/>
          <p:cNvSpPr txBox="1"/>
          <p:nvPr/>
        </p:nvSpPr>
        <p:spPr>
          <a:xfrm>
            <a:off x="3794760" y="4864608"/>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1+e4</a:t>
            </a:r>
            <a:endParaRPr lang="en-US" sz="650" dirty="0"/>
          </a:p>
        </p:txBody>
      </p:sp>
      <p:sp>
        <p:nvSpPr>
          <p:cNvPr id="94" name="Shape 92"/>
          <p:cNvSpPr/>
          <p:nvPr/>
        </p:nvSpPr>
        <p:spPr>
          <a:xfrm>
            <a:off x="4183380" y="4864608"/>
            <a:ext cx="388620" cy="246888"/>
          </a:xfrm>
          <a:prstGeom prst="rect">
            <a:avLst/>
          </a:prstGeom>
          <a:solidFill>
            <a:srgbClr val="ECE6FA"/>
          </a:solidFill>
          <a:ln w="6350">
            <a:solidFill>
              <a:srgbClr val="6C4FBF"/>
            </a:solidFill>
            <a:prstDash val="solid"/>
          </a:ln>
        </p:spPr>
      </p:sp>
      <p:sp>
        <p:nvSpPr>
          <p:cNvPr id="95" name="Text 93"/>
          <p:cNvSpPr txBox="1"/>
          <p:nvPr/>
        </p:nvSpPr>
        <p:spPr>
          <a:xfrm>
            <a:off x="4183380" y="4864608"/>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1+e5</a:t>
            </a:r>
            <a:endParaRPr lang="en-US" sz="650" dirty="0"/>
          </a:p>
        </p:txBody>
      </p:sp>
      <p:sp>
        <p:nvSpPr>
          <p:cNvPr id="96" name="Shape 94"/>
          <p:cNvSpPr/>
          <p:nvPr/>
        </p:nvSpPr>
        <p:spPr>
          <a:xfrm>
            <a:off x="4572000" y="4864608"/>
            <a:ext cx="388620" cy="246888"/>
          </a:xfrm>
          <a:prstGeom prst="rect">
            <a:avLst/>
          </a:prstGeom>
          <a:solidFill>
            <a:srgbClr val="ECE6FA"/>
          </a:solidFill>
          <a:ln w="6350">
            <a:solidFill>
              <a:srgbClr val="6C4FBF"/>
            </a:solidFill>
            <a:prstDash val="solid"/>
          </a:ln>
        </p:spPr>
      </p:sp>
      <p:sp>
        <p:nvSpPr>
          <p:cNvPr id="97" name="Text 95"/>
          <p:cNvSpPr txBox="1"/>
          <p:nvPr/>
        </p:nvSpPr>
        <p:spPr>
          <a:xfrm>
            <a:off x="4572000" y="4864608"/>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1+e6</a:t>
            </a:r>
            <a:endParaRPr lang="en-US" sz="650" dirty="0"/>
          </a:p>
        </p:txBody>
      </p:sp>
      <p:sp>
        <p:nvSpPr>
          <p:cNvPr id="98" name="Shape 96"/>
          <p:cNvSpPr/>
          <p:nvPr/>
        </p:nvSpPr>
        <p:spPr>
          <a:xfrm>
            <a:off x="4960620" y="4864608"/>
            <a:ext cx="388620" cy="246888"/>
          </a:xfrm>
          <a:prstGeom prst="rect">
            <a:avLst/>
          </a:prstGeom>
          <a:solidFill>
            <a:srgbClr val="ECE6FA"/>
          </a:solidFill>
          <a:ln w="6350">
            <a:solidFill>
              <a:srgbClr val="6C4FBF"/>
            </a:solidFill>
            <a:prstDash val="solid"/>
          </a:ln>
        </p:spPr>
      </p:sp>
      <p:sp>
        <p:nvSpPr>
          <p:cNvPr id="99" name="Text 97"/>
          <p:cNvSpPr txBox="1"/>
          <p:nvPr/>
        </p:nvSpPr>
        <p:spPr>
          <a:xfrm>
            <a:off x="4960620" y="4864608"/>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100" name="Text 98"/>
          <p:cNvSpPr txBox="1"/>
          <p:nvPr/>
        </p:nvSpPr>
        <p:spPr>
          <a:xfrm>
            <a:off x="493776" y="4864608"/>
            <a:ext cx="169164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slot3 = slot1 + slot2</a:t>
            </a:r>
            <a:endParaRPr lang="en-US" sz="800" dirty="0"/>
          </a:p>
        </p:txBody>
      </p:sp>
      <p:sp>
        <p:nvSpPr>
          <p:cNvPr id="101" name="Text 99"/>
          <p:cNvSpPr txBox="1"/>
          <p:nvPr/>
        </p:nvSpPr>
        <p:spPr>
          <a:xfrm>
            <a:off x="5422392" y="4864608"/>
            <a:ext cx="100584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ADD  80000001</a:t>
            </a:r>
            <a:endParaRPr lang="en-US" sz="650" dirty="0"/>
          </a:p>
        </p:txBody>
      </p:sp>
      <p:sp>
        <p:nvSpPr>
          <p:cNvPr id="102" name="Shape 100"/>
          <p:cNvSpPr/>
          <p:nvPr/>
        </p:nvSpPr>
        <p:spPr>
          <a:xfrm>
            <a:off x="3794760" y="4782312"/>
            <a:ext cx="914" cy="82296"/>
          </a:xfrm>
          <a:prstGeom prst="line">
            <a:avLst/>
          </a:prstGeom>
          <a:noFill/>
          <a:ln w="9525">
            <a:solidFill>
              <a:srgbClr val="5B6B7F"/>
            </a:solidFill>
            <a:prstDash val="solid"/>
            <a:tailEnd type="triangle"/>
          </a:ln>
        </p:spPr>
      </p:sp>
      <p:sp>
        <p:nvSpPr>
          <p:cNvPr id="103" name="Shape 101"/>
          <p:cNvSpPr/>
          <p:nvPr/>
        </p:nvSpPr>
        <p:spPr>
          <a:xfrm>
            <a:off x="2240280" y="5193792"/>
            <a:ext cx="388620" cy="246888"/>
          </a:xfrm>
          <a:prstGeom prst="rect">
            <a:avLst/>
          </a:prstGeom>
          <a:solidFill>
            <a:srgbClr val="DDF3F0"/>
          </a:solidFill>
          <a:ln w="6350">
            <a:solidFill>
              <a:srgbClr val="1F8A8A"/>
            </a:solidFill>
            <a:prstDash val="solid"/>
          </a:ln>
        </p:spPr>
      </p:sp>
      <p:sp>
        <p:nvSpPr>
          <p:cNvPr id="104" name="Text 102"/>
          <p:cNvSpPr txBox="1"/>
          <p:nvPr/>
        </p:nvSpPr>
        <p:spPr>
          <a:xfrm>
            <a:off x="2240280" y="519379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σ0</a:t>
            </a:r>
            <a:endParaRPr lang="en-US" sz="650" dirty="0"/>
          </a:p>
        </p:txBody>
      </p:sp>
      <p:sp>
        <p:nvSpPr>
          <p:cNvPr id="105" name="Shape 103"/>
          <p:cNvSpPr/>
          <p:nvPr/>
        </p:nvSpPr>
        <p:spPr>
          <a:xfrm>
            <a:off x="2628900" y="5193792"/>
            <a:ext cx="388620" cy="246888"/>
          </a:xfrm>
          <a:prstGeom prst="rect">
            <a:avLst/>
          </a:prstGeom>
          <a:solidFill>
            <a:srgbClr val="DDF3F0"/>
          </a:solidFill>
          <a:ln w="6350">
            <a:solidFill>
              <a:srgbClr val="1F8A8A"/>
            </a:solidFill>
            <a:prstDash val="solid"/>
          </a:ln>
        </p:spPr>
      </p:sp>
      <p:sp>
        <p:nvSpPr>
          <p:cNvPr id="106" name="Text 104"/>
          <p:cNvSpPr txBox="1"/>
          <p:nvPr/>
        </p:nvSpPr>
        <p:spPr>
          <a:xfrm>
            <a:off x="2628900" y="519379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σ1</a:t>
            </a:r>
            <a:endParaRPr lang="en-US" sz="650" dirty="0"/>
          </a:p>
        </p:txBody>
      </p:sp>
      <p:sp>
        <p:nvSpPr>
          <p:cNvPr id="107" name="Shape 105"/>
          <p:cNvSpPr/>
          <p:nvPr/>
        </p:nvSpPr>
        <p:spPr>
          <a:xfrm>
            <a:off x="3017520" y="5193792"/>
            <a:ext cx="388620" cy="246888"/>
          </a:xfrm>
          <a:prstGeom prst="rect">
            <a:avLst/>
          </a:prstGeom>
          <a:solidFill>
            <a:srgbClr val="DDF3F0"/>
          </a:solidFill>
          <a:ln w="6350">
            <a:solidFill>
              <a:srgbClr val="1F8A8A"/>
            </a:solidFill>
            <a:prstDash val="solid"/>
          </a:ln>
        </p:spPr>
      </p:sp>
      <p:sp>
        <p:nvSpPr>
          <p:cNvPr id="108" name="Text 106"/>
          <p:cNvSpPr txBox="1"/>
          <p:nvPr/>
        </p:nvSpPr>
        <p:spPr>
          <a:xfrm>
            <a:off x="3017520" y="519379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σ2</a:t>
            </a:r>
            <a:endParaRPr lang="en-US" sz="650" dirty="0"/>
          </a:p>
        </p:txBody>
      </p:sp>
      <p:sp>
        <p:nvSpPr>
          <p:cNvPr id="109" name="Shape 107"/>
          <p:cNvSpPr/>
          <p:nvPr/>
        </p:nvSpPr>
        <p:spPr>
          <a:xfrm>
            <a:off x="3406140" y="5193792"/>
            <a:ext cx="388620" cy="246888"/>
          </a:xfrm>
          <a:prstGeom prst="rect">
            <a:avLst/>
          </a:prstGeom>
          <a:solidFill>
            <a:srgbClr val="DDF3F0"/>
          </a:solidFill>
          <a:ln w="6350">
            <a:solidFill>
              <a:srgbClr val="1F8A8A"/>
            </a:solidFill>
            <a:prstDash val="solid"/>
          </a:ln>
        </p:spPr>
      </p:sp>
      <p:sp>
        <p:nvSpPr>
          <p:cNvPr id="110" name="Text 108"/>
          <p:cNvSpPr txBox="1"/>
          <p:nvPr/>
        </p:nvSpPr>
        <p:spPr>
          <a:xfrm>
            <a:off x="3406140" y="519379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σ3</a:t>
            </a:r>
            <a:endParaRPr lang="en-US" sz="650" dirty="0"/>
          </a:p>
        </p:txBody>
      </p:sp>
      <p:sp>
        <p:nvSpPr>
          <p:cNvPr id="111" name="Shape 109"/>
          <p:cNvSpPr/>
          <p:nvPr/>
        </p:nvSpPr>
        <p:spPr>
          <a:xfrm>
            <a:off x="3794760" y="5193792"/>
            <a:ext cx="388620" cy="246888"/>
          </a:xfrm>
          <a:prstGeom prst="rect">
            <a:avLst/>
          </a:prstGeom>
          <a:solidFill>
            <a:srgbClr val="DDF3F0"/>
          </a:solidFill>
          <a:ln w="6350">
            <a:solidFill>
              <a:srgbClr val="1F8A8A"/>
            </a:solidFill>
            <a:prstDash val="solid"/>
          </a:ln>
        </p:spPr>
      </p:sp>
      <p:sp>
        <p:nvSpPr>
          <p:cNvPr id="112" name="Text 110"/>
          <p:cNvSpPr txBox="1"/>
          <p:nvPr/>
        </p:nvSpPr>
        <p:spPr>
          <a:xfrm>
            <a:off x="3794760" y="519379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σ4</a:t>
            </a:r>
            <a:endParaRPr lang="en-US" sz="650" dirty="0"/>
          </a:p>
        </p:txBody>
      </p:sp>
      <p:sp>
        <p:nvSpPr>
          <p:cNvPr id="113" name="Shape 111"/>
          <p:cNvSpPr/>
          <p:nvPr/>
        </p:nvSpPr>
        <p:spPr>
          <a:xfrm>
            <a:off x="4183380" y="5193792"/>
            <a:ext cx="388620" cy="246888"/>
          </a:xfrm>
          <a:prstGeom prst="rect">
            <a:avLst/>
          </a:prstGeom>
          <a:solidFill>
            <a:srgbClr val="DDF3F0"/>
          </a:solidFill>
          <a:ln w="6350">
            <a:solidFill>
              <a:srgbClr val="1F8A8A"/>
            </a:solidFill>
            <a:prstDash val="solid"/>
          </a:ln>
        </p:spPr>
      </p:sp>
      <p:sp>
        <p:nvSpPr>
          <p:cNvPr id="114" name="Text 112"/>
          <p:cNvSpPr txBox="1"/>
          <p:nvPr/>
        </p:nvSpPr>
        <p:spPr>
          <a:xfrm>
            <a:off x="4183380" y="519379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σ5</a:t>
            </a:r>
            <a:endParaRPr lang="en-US" sz="650" dirty="0"/>
          </a:p>
        </p:txBody>
      </p:sp>
      <p:sp>
        <p:nvSpPr>
          <p:cNvPr id="115" name="Shape 113"/>
          <p:cNvSpPr/>
          <p:nvPr/>
        </p:nvSpPr>
        <p:spPr>
          <a:xfrm>
            <a:off x="4572000" y="5193792"/>
            <a:ext cx="388620" cy="246888"/>
          </a:xfrm>
          <a:prstGeom prst="rect">
            <a:avLst/>
          </a:prstGeom>
          <a:solidFill>
            <a:srgbClr val="DDF3F0"/>
          </a:solidFill>
          <a:ln w="6350">
            <a:solidFill>
              <a:srgbClr val="1F8A8A"/>
            </a:solidFill>
            <a:prstDash val="solid"/>
          </a:ln>
        </p:spPr>
      </p:sp>
      <p:sp>
        <p:nvSpPr>
          <p:cNvPr id="116" name="Text 114"/>
          <p:cNvSpPr txBox="1"/>
          <p:nvPr/>
        </p:nvSpPr>
        <p:spPr>
          <a:xfrm>
            <a:off x="4572000" y="519379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σ6</a:t>
            </a:r>
            <a:endParaRPr lang="en-US" sz="650" dirty="0"/>
          </a:p>
        </p:txBody>
      </p:sp>
      <p:sp>
        <p:nvSpPr>
          <p:cNvPr id="117" name="Shape 115"/>
          <p:cNvSpPr/>
          <p:nvPr/>
        </p:nvSpPr>
        <p:spPr>
          <a:xfrm>
            <a:off x="4960620" y="5193792"/>
            <a:ext cx="388620" cy="246888"/>
          </a:xfrm>
          <a:prstGeom prst="rect">
            <a:avLst/>
          </a:prstGeom>
          <a:solidFill>
            <a:srgbClr val="DDF3F0"/>
          </a:solidFill>
          <a:ln w="6350">
            <a:solidFill>
              <a:srgbClr val="1F8A8A"/>
            </a:solidFill>
            <a:prstDash val="solid"/>
          </a:ln>
        </p:spPr>
      </p:sp>
      <p:sp>
        <p:nvSpPr>
          <p:cNvPr id="118" name="Text 116"/>
          <p:cNvSpPr txBox="1"/>
          <p:nvPr/>
        </p:nvSpPr>
        <p:spPr>
          <a:xfrm>
            <a:off x="4960620" y="5193792"/>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119" name="Text 117"/>
          <p:cNvSpPr txBox="1"/>
          <p:nvPr/>
        </p:nvSpPr>
        <p:spPr>
          <a:xfrm>
            <a:off x="493776" y="5193792"/>
            <a:ext cx="169164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sig = 1 / slot3</a:t>
            </a:r>
            <a:endParaRPr lang="en-US" sz="800" dirty="0"/>
          </a:p>
        </p:txBody>
      </p:sp>
      <p:sp>
        <p:nvSpPr>
          <p:cNvPr id="120" name="Text 118"/>
          <p:cNvSpPr txBox="1"/>
          <p:nvPr/>
        </p:nvSpPr>
        <p:spPr>
          <a:xfrm>
            <a:off x="5422392" y="5193792"/>
            <a:ext cx="100584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DIV  8000000b → compute buffer</a:t>
            </a:r>
            <a:endParaRPr lang="en-US" sz="650" dirty="0"/>
          </a:p>
        </p:txBody>
      </p:sp>
      <p:sp>
        <p:nvSpPr>
          <p:cNvPr id="121" name="Shape 119"/>
          <p:cNvSpPr/>
          <p:nvPr/>
        </p:nvSpPr>
        <p:spPr>
          <a:xfrm>
            <a:off x="3794760" y="5111496"/>
            <a:ext cx="914" cy="82296"/>
          </a:xfrm>
          <a:prstGeom prst="line">
            <a:avLst/>
          </a:prstGeom>
          <a:noFill/>
          <a:ln w="9525">
            <a:solidFill>
              <a:srgbClr val="5B6B7F"/>
            </a:solidFill>
            <a:prstDash val="solid"/>
            <a:tailEnd type="triangle"/>
          </a:ln>
        </p:spPr>
      </p:sp>
      <p:sp>
        <p:nvSpPr>
          <p:cNvPr id="122" name="Shape 120"/>
          <p:cNvSpPr/>
          <p:nvPr/>
        </p:nvSpPr>
        <p:spPr>
          <a:xfrm>
            <a:off x="2240280" y="5522976"/>
            <a:ext cx="388620" cy="246888"/>
          </a:xfrm>
          <a:prstGeom prst="rect">
            <a:avLst/>
          </a:prstGeom>
          <a:solidFill>
            <a:srgbClr val="E5F3E7"/>
          </a:solidFill>
          <a:ln w="6350">
            <a:solidFill>
              <a:srgbClr val="2E7D32"/>
            </a:solidFill>
            <a:prstDash val="solid"/>
          </a:ln>
        </p:spPr>
      </p:sp>
      <p:sp>
        <p:nvSpPr>
          <p:cNvPr id="123" name="Text 121"/>
          <p:cNvSpPr txBox="1"/>
          <p:nvPr/>
        </p:nvSpPr>
        <p:spPr>
          <a:xfrm>
            <a:off x="2240280" y="552297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y0</a:t>
            </a:r>
            <a:endParaRPr lang="en-US" sz="650" dirty="0"/>
          </a:p>
        </p:txBody>
      </p:sp>
      <p:sp>
        <p:nvSpPr>
          <p:cNvPr id="124" name="Shape 122"/>
          <p:cNvSpPr/>
          <p:nvPr/>
        </p:nvSpPr>
        <p:spPr>
          <a:xfrm>
            <a:off x="2628900" y="5522976"/>
            <a:ext cx="388620" cy="246888"/>
          </a:xfrm>
          <a:prstGeom prst="rect">
            <a:avLst/>
          </a:prstGeom>
          <a:solidFill>
            <a:srgbClr val="E5F3E7"/>
          </a:solidFill>
          <a:ln w="6350">
            <a:solidFill>
              <a:srgbClr val="2E7D32"/>
            </a:solidFill>
            <a:prstDash val="solid"/>
          </a:ln>
        </p:spPr>
      </p:sp>
      <p:sp>
        <p:nvSpPr>
          <p:cNvPr id="125" name="Text 123"/>
          <p:cNvSpPr txBox="1"/>
          <p:nvPr/>
        </p:nvSpPr>
        <p:spPr>
          <a:xfrm>
            <a:off x="2628900" y="552297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y1</a:t>
            </a:r>
            <a:endParaRPr lang="en-US" sz="650" dirty="0"/>
          </a:p>
        </p:txBody>
      </p:sp>
      <p:sp>
        <p:nvSpPr>
          <p:cNvPr id="126" name="Shape 124"/>
          <p:cNvSpPr/>
          <p:nvPr/>
        </p:nvSpPr>
        <p:spPr>
          <a:xfrm>
            <a:off x="3017520" y="5522976"/>
            <a:ext cx="388620" cy="246888"/>
          </a:xfrm>
          <a:prstGeom prst="rect">
            <a:avLst/>
          </a:prstGeom>
          <a:solidFill>
            <a:srgbClr val="E5F3E7"/>
          </a:solidFill>
          <a:ln w="6350">
            <a:solidFill>
              <a:srgbClr val="2E7D32"/>
            </a:solidFill>
            <a:prstDash val="solid"/>
          </a:ln>
        </p:spPr>
      </p:sp>
      <p:sp>
        <p:nvSpPr>
          <p:cNvPr id="127" name="Text 125"/>
          <p:cNvSpPr txBox="1"/>
          <p:nvPr/>
        </p:nvSpPr>
        <p:spPr>
          <a:xfrm>
            <a:off x="3017520" y="552297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y2</a:t>
            </a:r>
            <a:endParaRPr lang="en-US" sz="650" dirty="0"/>
          </a:p>
        </p:txBody>
      </p:sp>
      <p:sp>
        <p:nvSpPr>
          <p:cNvPr id="128" name="Shape 126"/>
          <p:cNvSpPr/>
          <p:nvPr/>
        </p:nvSpPr>
        <p:spPr>
          <a:xfrm>
            <a:off x="3406140" y="5522976"/>
            <a:ext cx="388620" cy="246888"/>
          </a:xfrm>
          <a:prstGeom prst="rect">
            <a:avLst/>
          </a:prstGeom>
          <a:solidFill>
            <a:srgbClr val="E5F3E7"/>
          </a:solidFill>
          <a:ln w="6350">
            <a:solidFill>
              <a:srgbClr val="2E7D32"/>
            </a:solidFill>
            <a:prstDash val="solid"/>
          </a:ln>
        </p:spPr>
      </p:sp>
      <p:sp>
        <p:nvSpPr>
          <p:cNvPr id="129" name="Text 127"/>
          <p:cNvSpPr txBox="1"/>
          <p:nvPr/>
        </p:nvSpPr>
        <p:spPr>
          <a:xfrm>
            <a:off x="3406140" y="552297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y3</a:t>
            </a:r>
            <a:endParaRPr lang="en-US" sz="650" dirty="0"/>
          </a:p>
        </p:txBody>
      </p:sp>
      <p:sp>
        <p:nvSpPr>
          <p:cNvPr id="130" name="Shape 128"/>
          <p:cNvSpPr/>
          <p:nvPr/>
        </p:nvSpPr>
        <p:spPr>
          <a:xfrm>
            <a:off x="3794760" y="5522976"/>
            <a:ext cx="388620" cy="246888"/>
          </a:xfrm>
          <a:prstGeom prst="rect">
            <a:avLst/>
          </a:prstGeom>
          <a:solidFill>
            <a:srgbClr val="E5F3E7"/>
          </a:solidFill>
          <a:ln w="6350">
            <a:solidFill>
              <a:srgbClr val="2E7D32"/>
            </a:solidFill>
            <a:prstDash val="solid"/>
          </a:ln>
        </p:spPr>
      </p:sp>
      <p:sp>
        <p:nvSpPr>
          <p:cNvPr id="131" name="Text 129"/>
          <p:cNvSpPr txBox="1"/>
          <p:nvPr/>
        </p:nvSpPr>
        <p:spPr>
          <a:xfrm>
            <a:off x="3794760" y="552297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y4</a:t>
            </a:r>
            <a:endParaRPr lang="en-US" sz="650" dirty="0"/>
          </a:p>
        </p:txBody>
      </p:sp>
      <p:sp>
        <p:nvSpPr>
          <p:cNvPr id="132" name="Shape 130"/>
          <p:cNvSpPr/>
          <p:nvPr/>
        </p:nvSpPr>
        <p:spPr>
          <a:xfrm>
            <a:off x="4183380" y="5522976"/>
            <a:ext cx="388620" cy="246888"/>
          </a:xfrm>
          <a:prstGeom prst="rect">
            <a:avLst/>
          </a:prstGeom>
          <a:solidFill>
            <a:srgbClr val="E5F3E7"/>
          </a:solidFill>
          <a:ln w="6350">
            <a:solidFill>
              <a:srgbClr val="2E7D32"/>
            </a:solidFill>
            <a:prstDash val="solid"/>
          </a:ln>
        </p:spPr>
      </p:sp>
      <p:sp>
        <p:nvSpPr>
          <p:cNvPr id="133" name="Text 131"/>
          <p:cNvSpPr txBox="1"/>
          <p:nvPr/>
        </p:nvSpPr>
        <p:spPr>
          <a:xfrm>
            <a:off x="4183380" y="552297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y5</a:t>
            </a:r>
            <a:endParaRPr lang="en-US" sz="650" dirty="0"/>
          </a:p>
        </p:txBody>
      </p:sp>
      <p:sp>
        <p:nvSpPr>
          <p:cNvPr id="134" name="Shape 132"/>
          <p:cNvSpPr/>
          <p:nvPr/>
        </p:nvSpPr>
        <p:spPr>
          <a:xfrm>
            <a:off x="4572000" y="5522976"/>
            <a:ext cx="388620" cy="246888"/>
          </a:xfrm>
          <a:prstGeom prst="rect">
            <a:avLst/>
          </a:prstGeom>
          <a:solidFill>
            <a:srgbClr val="E5F3E7"/>
          </a:solidFill>
          <a:ln w="6350">
            <a:solidFill>
              <a:srgbClr val="2E7D32"/>
            </a:solidFill>
            <a:prstDash val="solid"/>
          </a:ln>
        </p:spPr>
      </p:sp>
      <p:sp>
        <p:nvSpPr>
          <p:cNvPr id="135" name="Text 133"/>
          <p:cNvSpPr txBox="1"/>
          <p:nvPr/>
        </p:nvSpPr>
        <p:spPr>
          <a:xfrm>
            <a:off x="4572000" y="552297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y6</a:t>
            </a:r>
            <a:endParaRPr lang="en-US" sz="650" dirty="0"/>
          </a:p>
        </p:txBody>
      </p:sp>
      <p:sp>
        <p:nvSpPr>
          <p:cNvPr id="136" name="Shape 134"/>
          <p:cNvSpPr/>
          <p:nvPr/>
        </p:nvSpPr>
        <p:spPr>
          <a:xfrm>
            <a:off x="4960620" y="5522976"/>
            <a:ext cx="388620" cy="246888"/>
          </a:xfrm>
          <a:prstGeom prst="rect">
            <a:avLst/>
          </a:prstGeom>
          <a:solidFill>
            <a:srgbClr val="E5F3E7"/>
          </a:solidFill>
          <a:ln w="6350">
            <a:solidFill>
              <a:srgbClr val="2E7D32"/>
            </a:solidFill>
            <a:prstDash val="solid"/>
          </a:ln>
        </p:spPr>
      </p:sp>
      <p:sp>
        <p:nvSpPr>
          <p:cNvPr id="137" name="Text 135"/>
          <p:cNvSpPr txBox="1"/>
          <p:nvPr/>
        </p:nvSpPr>
        <p:spPr>
          <a:xfrm>
            <a:off x="4960620" y="5522976"/>
            <a:ext cx="38862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138" name="Text 136"/>
          <p:cNvSpPr txBox="1"/>
          <p:nvPr/>
        </p:nvSpPr>
        <p:spPr>
          <a:xfrm>
            <a:off x="493776" y="5522976"/>
            <a:ext cx="169164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y = x × sig</a:t>
            </a:r>
            <a:endParaRPr lang="en-US" sz="800" dirty="0"/>
          </a:p>
        </p:txBody>
      </p:sp>
      <p:sp>
        <p:nvSpPr>
          <p:cNvPr id="139" name="Text 137"/>
          <p:cNvSpPr txBox="1"/>
          <p:nvPr/>
        </p:nvSpPr>
        <p:spPr>
          <a:xfrm>
            <a:off x="5422392" y="5522976"/>
            <a:ext cx="100584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MUL  8000000a (T_multiply block)</a:t>
            </a:r>
            <a:endParaRPr lang="en-US" sz="6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583680" y="1371600"/>
          <a:ext cx="5148072" cy="914400"/>
        </p:xfrm>
        <a:graphic>
          <a:graphicData uri="http://schemas.openxmlformats.org/drawingml/2006/table">
            <a:tbl>
              <a:tblPr/>
              <a:tblGrid>
                <a:gridCol w="2103120"/>
                <a:gridCol w="914400"/>
                <a:gridCol w="2130552"/>
              </a:tblGrid>
              <a:tr h="310896">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E1 fused 프로그램 opcode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count</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역할</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0x80 ADDR</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606</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descriptor 주소 (peephole 뒤에도 대부분)</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0x90 LOAD / 0x98 SAVE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388 / 258</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SRAM ↔ vector/matrix unit</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0x01 ADD</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96</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bias add 64행 + sigmoid의 +1 32행</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0x16 SIGN_INV / 0x0f EXP</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32 / 32</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sigmoid 전개 (행 32 = 64×64를 128폭으로)</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0x0b DIV / 0x0a MUL</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32 / 32</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1/(1+e⁻ˣ), x·sig</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0x15 BROADCAST</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64</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상수 1.0 (2 words 씩)</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0x42 M_MUL / 0xa0 GLOAD / 0xa8 GSTORE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2 / 4 / 1</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matmul 2 K-tile, 입력·상수 DMA, 출력</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합계</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1,577 words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1,562 instructions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141" name="Text 138"/>
          <p:cNvSpPr txBox="1"/>
          <p:nvPr/>
        </p:nvSpPr>
        <p:spPr>
          <a:xfrm>
            <a:off x="6583680" y="4343400"/>
            <a:ext cx="5148072" cy="1371600"/>
          </a:xfrm>
          <a:prstGeom prst="rect">
            <a:avLst/>
          </a:prstGeom>
          <a:noFill/>
          <a:ln/>
        </p:spPr>
        <p:txBody>
          <a:bodyPr wrap="square" lIns="0" tIns="0" rIns="0" bIns="0" rtlCol="0" anchor="t"/>
          <a:lstStyle/>
          <a:p>
            <a:pPr algn="l" indent="0" marL="0">
              <a:buNone/>
            </a:pPr>
            <a:r>
              <a:rPr lang="en-US" sz="900" dirty="0">
                <a:solidFill>
                  <a:srgbClr val="5B6B7F"/>
                </a:solidFill>
                <a:latin typeface="Malgun Gothic" pitchFamily="34" charset="0"/>
                <a:ea typeface="Malgun Gothic" pitchFamily="34" charset="-122"/>
                <a:cs typeface="Malgun Gothic" pitchFamily="34" charset="-120"/>
              </a:rPr>
              <a:t>중간값은 FP16 scratch slot(6개 × 최대 행 폭)에 저장·재사용됩니다. 한 단계 = VLEN·ADDR·LOAD(·LOAD)·OP·ADDR·SAVE이므로 원소별 연산 하나가 명령 여러 개가 되고, fusion해도 vector 명령이 matmul activation bit로 바뀌지 않습니다. 행이 32개(64×64를 128폭으로 결합)라 각 opcode가 32회씩 나타납니다.</a:t>
            </a:r>
            <a:endParaRPr lang="en-US" sz="900" dirty="0"/>
          </a:p>
        </p:txBody>
      </p:sp>
      <p:sp>
        <p:nvSpPr>
          <p:cNvPr id="142" name="Shape 139"/>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43" name="Text 140"/>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명령 수(words)는 짧은 vector 행과 descriptor 반복에 좌우됩니다. 이것이 정적 전개 stream의 비용이며 cycle과는 다른 지표입니다.</a:t>
            </a:r>
            <a:endParaRPr lang="en-US" sz="1250" dirty="0"/>
          </a:p>
        </p:txBody>
      </p:sp>
      <p:sp>
        <p:nvSpPr>
          <p:cNvPr id="144" name="Text 141"/>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45" name="Text 142"/>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npu_compiler/tir_codegen_v09.py (_emit_pointwise, _materialize, _sigmoid), docs/examples/pipeline/09_packets.json words 440-468</a:t>
            </a:r>
            <a:endParaRPr lang="en-US" sz="850" dirty="0"/>
          </a:p>
        </p:txBody>
      </p:sp>
      <p:sp>
        <p:nvSpPr>
          <p:cNvPr id="146" name="Text 143"/>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43 / 89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7 · Vector · 정규화 · attention</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물리 256 lanes와 논리 VLEN, 그리고 generic vector scheduling</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v09 규약은 물리 폭 256과 논리 길이 ≤65535를 구분합니다. Generic vector 커널은 tensor 전체를 SRAM에 놓아 보고 안 들어가면 행 묶음을 반으로 줄이며, 연속 원소별 축은 결합해 긴 행으로 만듭니다.</a:t>
            </a:r>
            <a:endParaRPr lang="en-US" sz="1250" dirty="0"/>
          </a:p>
        </p:txBody>
      </p:sp>
      <p:sp>
        <p:nvSpPr>
          <p:cNvPr id="5" name="Text 3"/>
          <p:cNvSpPr txBox="1"/>
          <p:nvPr/>
        </p:nvSpPr>
        <p:spPr>
          <a:xfrm>
            <a:off x="457200" y="1371600"/>
            <a:ext cx="548640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VLEN 1000 = 256 + 256 + 256 + 232 (장치 내부 반복 전제)</a:t>
            </a:r>
            <a:endParaRPr lang="en-US" sz="1050" dirty="0"/>
          </a:p>
        </p:txBody>
      </p:sp>
      <p:sp>
        <p:nvSpPr>
          <p:cNvPr id="6" name="Shape 4"/>
          <p:cNvSpPr/>
          <p:nvPr/>
        </p:nvSpPr>
        <p:spPr>
          <a:xfrm>
            <a:off x="457200" y="1691640"/>
            <a:ext cx="1371600" cy="457200"/>
          </a:xfrm>
          <a:prstGeom prst="rect">
            <a:avLst/>
          </a:prstGeom>
          <a:solidFill>
            <a:srgbClr val="ECE6FA"/>
          </a:solidFill>
          <a:ln w="6350">
            <a:solidFill>
              <a:srgbClr val="6C4FBF"/>
            </a:solidFill>
            <a:prstDash val="solid"/>
          </a:ln>
        </p:spPr>
      </p:sp>
      <p:sp>
        <p:nvSpPr>
          <p:cNvPr id="7" name="Text 5"/>
          <p:cNvSpPr txBox="1"/>
          <p:nvPr/>
        </p:nvSpPr>
        <p:spPr>
          <a:xfrm>
            <a:off x="457200" y="1691640"/>
            <a:ext cx="1371600" cy="45720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256 lanes</a:t>
            </a:r>
            <a:endParaRPr lang="en-US" sz="900" dirty="0"/>
          </a:p>
        </p:txBody>
      </p:sp>
      <p:sp>
        <p:nvSpPr>
          <p:cNvPr id="8" name="Shape 6"/>
          <p:cNvSpPr/>
          <p:nvPr/>
        </p:nvSpPr>
        <p:spPr>
          <a:xfrm>
            <a:off x="1828800" y="1691640"/>
            <a:ext cx="1371600" cy="457200"/>
          </a:xfrm>
          <a:prstGeom prst="rect">
            <a:avLst/>
          </a:prstGeom>
          <a:solidFill>
            <a:srgbClr val="ECE6FA"/>
          </a:solidFill>
          <a:ln w="6350">
            <a:solidFill>
              <a:srgbClr val="6C4FBF"/>
            </a:solidFill>
            <a:prstDash val="solid"/>
          </a:ln>
        </p:spPr>
      </p:sp>
      <p:sp>
        <p:nvSpPr>
          <p:cNvPr id="9" name="Text 7"/>
          <p:cNvSpPr txBox="1"/>
          <p:nvPr/>
        </p:nvSpPr>
        <p:spPr>
          <a:xfrm>
            <a:off x="1828800" y="1691640"/>
            <a:ext cx="1371600" cy="45720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256 lanes</a:t>
            </a:r>
            <a:endParaRPr lang="en-US" sz="900" dirty="0"/>
          </a:p>
        </p:txBody>
      </p:sp>
      <p:sp>
        <p:nvSpPr>
          <p:cNvPr id="10" name="Shape 8"/>
          <p:cNvSpPr/>
          <p:nvPr/>
        </p:nvSpPr>
        <p:spPr>
          <a:xfrm>
            <a:off x="3200400" y="1691640"/>
            <a:ext cx="1371600" cy="457200"/>
          </a:xfrm>
          <a:prstGeom prst="rect">
            <a:avLst/>
          </a:prstGeom>
          <a:solidFill>
            <a:srgbClr val="ECE6FA"/>
          </a:solidFill>
          <a:ln w="6350">
            <a:solidFill>
              <a:srgbClr val="6C4FBF"/>
            </a:solidFill>
            <a:prstDash val="solid"/>
          </a:ln>
        </p:spPr>
      </p:sp>
      <p:sp>
        <p:nvSpPr>
          <p:cNvPr id="11" name="Text 9"/>
          <p:cNvSpPr txBox="1"/>
          <p:nvPr/>
        </p:nvSpPr>
        <p:spPr>
          <a:xfrm>
            <a:off x="3200400" y="1691640"/>
            <a:ext cx="1371600" cy="45720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256 lanes</a:t>
            </a:r>
            <a:endParaRPr lang="en-US" sz="900" dirty="0"/>
          </a:p>
        </p:txBody>
      </p:sp>
      <p:sp>
        <p:nvSpPr>
          <p:cNvPr id="12" name="Shape 10"/>
          <p:cNvSpPr/>
          <p:nvPr/>
        </p:nvSpPr>
        <p:spPr>
          <a:xfrm>
            <a:off x="4572000" y="1691640"/>
            <a:ext cx="1371600" cy="457200"/>
          </a:xfrm>
          <a:prstGeom prst="rect">
            <a:avLst/>
          </a:prstGeom>
          <a:solidFill>
            <a:srgbClr val="FFF6DB"/>
          </a:solidFill>
          <a:ln w="6350">
            <a:solidFill>
              <a:srgbClr val="B7791F"/>
            </a:solidFill>
            <a:prstDash val="solid"/>
          </a:ln>
        </p:spPr>
      </p:sp>
      <p:sp>
        <p:nvSpPr>
          <p:cNvPr id="13" name="Text 11"/>
          <p:cNvSpPr txBox="1"/>
          <p:nvPr/>
        </p:nvSpPr>
        <p:spPr>
          <a:xfrm>
            <a:off x="4572000" y="1691640"/>
            <a:ext cx="1371600" cy="45720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232 (tail)</a:t>
            </a:r>
            <a:endParaRPr lang="en-US" sz="900" dirty="0"/>
          </a:p>
        </p:txBody>
      </p:sp>
      <p:sp>
        <p:nvSpPr>
          <p:cNvPr id="14" name="Text 12"/>
          <p:cNvSpPr txBox="1"/>
          <p:nvPr/>
        </p:nvSpPr>
        <p:spPr>
          <a:xfrm>
            <a:off x="457200" y="2331720"/>
            <a:ext cx="5486400" cy="1554480"/>
          </a:xfrm>
          <a:prstGeom prst="rect">
            <a:avLst/>
          </a:prstGeom>
          <a:noFill/>
          <a:ln/>
        </p:spPr>
        <p:txBody>
          <a:bodyPr wrap="square" lIns="0" tIns="0" rIns="0" bIns="0" rtlCol="0" anchor="t"/>
          <a:lstStyle/>
          <a:p>
            <a:pPr algn="l" marL="152400" indent="-152400">
              <a:spcAft>
                <a:spcPts val="4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Compiler가 배열을 1024로 padding해야 한다는 뜻은 아님. C-model은 VLEN 전체를 C++ 배열로 보관</a:t>
            </a:r>
            <a:endParaRPr lang="en-US" sz="900" dirty="0"/>
          </a:p>
          <a:p>
            <a:pPr algn="l" marL="152400" indent="-152400">
              <a:spcAft>
                <a:spcPts val="4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실제 장치가 256만 지원한다면 공통 vector lowering에서 분할하고 긴 reduction의 누산·반올림 계약도 재검토 (미확인 항목)</a:t>
            </a:r>
            <a:endParaRPr lang="en-US" sz="900" dirty="0"/>
          </a:p>
          <a:p>
            <a:pPr algn="l" marL="152400" indent="-152400">
              <a:spcAft>
                <a:spcPts val="400"/>
              </a:spcAft>
              <a:buSzPct val="100000"/>
              <a:buChar char="•"/>
            </a:pPr>
            <a:r>
              <a:rPr lang="en-US" sz="900" dirty="0">
                <a:solidFill>
                  <a:srgbClr val="1F2D3D"/>
                </a:solidFill>
                <a:latin typeface="Malgun Gothic" pitchFamily="34" charset="0"/>
                <a:ea typeface="Malgun Gothic" pitchFamily="34" charset="-122"/>
                <a:cs typeface="Malgun Gothic" pitchFamily="34" charset="-120"/>
              </a:rPr>
              <a:t>길이 1024 명령 하나 ≠ 길이 256 명령 하나의 비용. 현재 (DMA, words, SRAM) 모델에는 lane 활용률이 없음. REDUCE 길이 ≤ 65535, softmax 한도 65504</a:t>
            </a:r>
            <a:endParaRPr lang="en-US" sz="9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5486400" cy="914400"/>
        </p:xfrm>
        <a:graphic>
          <a:graphicData uri="http://schemas.openxmlformats.org/drawingml/2006/table">
            <a:tbl>
              <a:tblPr/>
              <a:tblGrid>
                <a:gridCol w="3291840"/>
                <a:gridCol w="2194560"/>
              </a:tblGrid>
              <a:tr h="329184">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축 결합 검사</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결과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broadcast, 비연속 stride, 겹치는 입출력, 임시 공간 한도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검사 통과 시에만 결합</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행별 reduction (softmax sum, RMSNorm)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축을 합치지 않음 (의미가 달라짐)</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SiLU처럼 입력을 두 번 읽는 경우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같은 묶음의 cache 공유 (DRAM 재적재 없음)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16" name="Text 13"/>
          <p:cNvSpPr txBox="1"/>
          <p:nvPr/>
        </p:nvSpPr>
        <p:spPr>
          <a:xfrm>
            <a:off x="6309360" y="1371600"/>
            <a:ext cx="5486400" cy="256032"/>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Generic vector 커널: SRAM에 안 들어가면 행 묶음(stripe)을 반으로</a:t>
            </a:r>
            <a:endParaRPr lang="en-US" sz="1050" dirty="0"/>
          </a:p>
        </p:txBody>
      </p:sp>
      <p:sp>
        <p:nvSpPr>
          <p:cNvPr id="17" name="Shape 14"/>
          <p:cNvSpPr/>
          <p:nvPr/>
        </p:nvSpPr>
        <p:spPr>
          <a:xfrm>
            <a:off x="6309360" y="1691640"/>
            <a:ext cx="1188720" cy="1188720"/>
          </a:xfrm>
          <a:prstGeom prst="rect">
            <a:avLst/>
          </a:prstGeom>
          <a:solidFill>
            <a:srgbClr val="EEF2F6"/>
          </a:solidFill>
          <a:ln w="12700">
            <a:solidFill>
              <a:srgbClr val="C9D3DF"/>
            </a:solidFill>
            <a:prstDash val="solid"/>
          </a:ln>
        </p:spPr>
      </p:sp>
      <p:sp>
        <p:nvSpPr>
          <p:cNvPr id="18" name="Shape 15"/>
          <p:cNvSpPr/>
          <p:nvPr/>
        </p:nvSpPr>
        <p:spPr>
          <a:xfrm>
            <a:off x="6309360" y="1691640"/>
            <a:ext cx="1188720" cy="1188720"/>
          </a:xfrm>
          <a:prstGeom prst="rect">
            <a:avLst/>
          </a:prstGeom>
          <a:solidFill>
            <a:srgbClr val="FBE9E7"/>
          </a:solidFill>
          <a:ln w="15875">
            <a:solidFill>
              <a:srgbClr val="C0392B"/>
            </a:solidFill>
            <a:prstDash val="solid"/>
          </a:ln>
        </p:spPr>
      </p:sp>
      <p:sp>
        <p:nvSpPr>
          <p:cNvPr id="19" name="Shape 16"/>
          <p:cNvSpPr/>
          <p:nvPr/>
        </p:nvSpPr>
        <p:spPr>
          <a:xfrm>
            <a:off x="6457950" y="1691640"/>
            <a:ext cx="914" cy="1188720"/>
          </a:xfrm>
          <a:prstGeom prst="line">
            <a:avLst/>
          </a:prstGeom>
          <a:noFill/>
          <a:ln w="5080">
            <a:solidFill>
              <a:srgbClr val="D5DCE5"/>
            </a:solidFill>
            <a:prstDash val="solid"/>
          </a:ln>
        </p:spPr>
      </p:sp>
      <p:sp>
        <p:nvSpPr>
          <p:cNvPr id="20" name="Shape 17"/>
          <p:cNvSpPr/>
          <p:nvPr/>
        </p:nvSpPr>
        <p:spPr>
          <a:xfrm>
            <a:off x="6606540" y="1691640"/>
            <a:ext cx="914" cy="1188720"/>
          </a:xfrm>
          <a:prstGeom prst="line">
            <a:avLst/>
          </a:prstGeom>
          <a:noFill/>
          <a:ln w="5080">
            <a:solidFill>
              <a:srgbClr val="D5DCE5"/>
            </a:solidFill>
            <a:prstDash val="solid"/>
          </a:ln>
        </p:spPr>
      </p:sp>
      <p:sp>
        <p:nvSpPr>
          <p:cNvPr id="21" name="Shape 18"/>
          <p:cNvSpPr/>
          <p:nvPr/>
        </p:nvSpPr>
        <p:spPr>
          <a:xfrm>
            <a:off x="6755130" y="1691640"/>
            <a:ext cx="914" cy="1188720"/>
          </a:xfrm>
          <a:prstGeom prst="line">
            <a:avLst/>
          </a:prstGeom>
          <a:noFill/>
          <a:ln w="5080">
            <a:solidFill>
              <a:srgbClr val="D5DCE5"/>
            </a:solidFill>
            <a:prstDash val="solid"/>
          </a:ln>
        </p:spPr>
      </p:sp>
      <p:sp>
        <p:nvSpPr>
          <p:cNvPr id="22" name="Shape 19"/>
          <p:cNvSpPr/>
          <p:nvPr/>
        </p:nvSpPr>
        <p:spPr>
          <a:xfrm>
            <a:off x="6903720" y="1691640"/>
            <a:ext cx="914" cy="1188720"/>
          </a:xfrm>
          <a:prstGeom prst="line">
            <a:avLst/>
          </a:prstGeom>
          <a:noFill/>
          <a:ln w="5080">
            <a:solidFill>
              <a:srgbClr val="D5DCE5"/>
            </a:solidFill>
            <a:prstDash val="solid"/>
          </a:ln>
        </p:spPr>
      </p:sp>
      <p:sp>
        <p:nvSpPr>
          <p:cNvPr id="23" name="Shape 20"/>
          <p:cNvSpPr/>
          <p:nvPr/>
        </p:nvSpPr>
        <p:spPr>
          <a:xfrm>
            <a:off x="7052310" y="1691640"/>
            <a:ext cx="914" cy="1188720"/>
          </a:xfrm>
          <a:prstGeom prst="line">
            <a:avLst/>
          </a:prstGeom>
          <a:noFill/>
          <a:ln w="5080">
            <a:solidFill>
              <a:srgbClr val="D5DCE5"/>
            </a:solidFill>
            <a:prstDash val="solid"/>
          </a:ln>
        </p:spPr>
      </p:sp>
      <p:sp>
        <p:nvSpPr>
          <p:cNvPr id="24" name="Shape 21"/>
          <p:cNvSpPr/>
          <p:nvPr/>
        </p:nvSpPr>
        <p:spPr>
          <a:xfrm>
            <a:off x="7200900" y="1691640"/>
            <a:ext cx="914" cy="1188720"/>
          </a:xfrm>
          <a:prstGeom prst="line">
            <a:avLst/>
          </a:prstGeom>
          <a:noFill/>
          <a:ln w="5080">
            <a:solidFill>
              <a:srgbClr val="D5DCE5"/>
            </a:solidFill>
            <a:prstDash val="solid"/>
          </a:ln>
        </p:spPr>
      </p:sp>
      <p:sp>
        <p:nvSpPr>
          <p:cNvPr id="25" name="Shape 22"/>
          <p:cNvSpPr/>
          <p:nvPr/>
        </p:nvSpPr>
        <p:spPr>
          <a:xfrm>
            <a:off x="7349490" y="1691640"/>
            <a:ext cx="914" cy="1188720"/>
          </a:xfrm>
          <a:prstGeom prst="line">
            <a:avLst/>
          </a:prstGeom>
          <a:noFill/>
          <a:ln w="5080">
            <a:solidFill>
              <a:srgbClr val="D5DCE5"/>
            </a:solidFill>
            <a:prstDash val="solid"/>
          </a:ln>
        </p:spPr>
      </p:sp>
      <p:sp>
        <p:nvSpPr>
          <p:cNvPr id="26" name="Shape 23"/>
          <p:cNvSpPr/>
          <p:nvPr/>
        </p:nvSpPr>
        <p:spPr>
          <a:xfrm>
            <a:off x="6309360" y="1840230"/>
            <a:ext cx="1188720" cy="914"/>
          </a:xfrm>
          <a:prstGeom prst="line">
            <a:avLst/>
          </a:prstGeom>
          <a:noFill/>
          <a:ln w="5080">
            <a:solidFill>
              <a:srgbClr val="D5DCE5"/>
            </a:solidFill>
            <a:prstDash val="solid"/>
          </a:ln>
        </p:spPr>
      </p:sp>
      <p:sp>
        <p:nvSpPr>
          <p:cNvPr id="27" name="Shape 24"/>
          <p:cNvSpPr/>
          <p:nvPr/>
        </p:nvSpPr>
        <p:spPr>
          <a:xfrm>
            <a:off x="6309360" y="1988820"/>
            <a:ext cx="1188720" cy="914"/>
          </a:xfrm>
          <a:prstGeom prst="line">
            <a:avLst/>
          </a:prstGeom>
          <a:noFill/>
          <a:ln w="5080">
            <a:solidFill>
              <a:srgbClr val="D5DCE5"/>
            </a:solidFill>
            <a:prstDash val="solid"/>
          </a:ln>
        </p:spPr>
      </p:sp>
      <p:sp>
        <p:nvSpPr>
          <p:cNvPr id="28" name="Shape 25"/>
          <p:cNvSpPr/>
          <p:nvPr/>
        </p:nvSpPr>
        <p:spPr>
          <a:xfrm>
            <a:off x="6309360" y="2137410"/>
            <a:ext cx="1188720" cy="914"/>
          </a:xfrm>
          <a:prstGeom prst="line">
            <a:avLst/>
          </a:prstGeom>
          <a:noFill/>
          <a:ln w="5080">
            <a:solidFill>
              <a:srgbClr val="D5DCE5"/>
            </a:solidFill>
            <a:prstDash val="solid"/>
          </a:ln>
        </p:spPr>
      </p:sp>
      <p:sp>
        <p:nvSpPr>
          <p:cNvPr id="29" name="Shape 26"/>
          <p:cNvSpPr/>
          <p:nvPr/>
        </p:nvSpPr>
        <p:spPr>
          <a:xfrm>
            <a:off x="6309360" y="2286000"/>
            <a:ext cx="1188720" cy="914"/>
          </a:xfrm>
          <a:prstGeom prst="line">
            <a:avLst/>
          </a:prstGeom>
          <a:noFill/>
          <a:ln w="5080">
            <a:solidFill>
              <a:srgbClr val="D5DCE5"/>
            </a:solidFill>
            <a:prstDash val="solid"/>
          </a:ln>
        </p:spPr>
      </p:sp>
      <p:sp>
        <p:nvSpPr>
          <p:cNvPr id="30" name="Shape 27"/>
          <p:cNvSpPr/>
          <p:nvPr/>
        </p:nvSpPr>
        <p:spPr>
          <a:xfrm>
            <a:off x="6309360" y="2434590"/>
            <a:ext cx="1188720" cy="914"/>
          </a:xfrm>
          <a:prstGeom prst="line">
            <a:avLst/>
          </a:prstGeom>
          <a:noFill/>
          <a:ln w="5080">
            <a:solidFill>
              <a:srgbClr val="D5DCE5"/>
            </a:solidFill>
            <a:prstDash val="solid"/>
          </a:ln>
        </p:spPr>
      </p:sp>
      <p:sp>
        <p:nvSpPr>
          <p:cNvPr id="31" name="Shape 28"/>
          <p:cNvSpPr/>
          <p:nvPr/>
        </p:nvSpPr>
        <p:spPr>
          <a:xfrm>
            <a:off x="6309360" y="2583180"/>
            <a:ext cx="1188720" cy="914"/>
          </a:xfrm>
          <a:prstGeom prst="line">
            <a:avLst/>
          </a:prstGeom>
          <a:noFill/>
          <a:ln w="5080">
            <a:solidFill>
              <a:srgbClr val="D5DCE5"/>
            </a:solidFill>
            <a:prstDash val="solid"/>
          </a:ln>
        </p:spPr>
      </p:sp>
      <p:sp>
        <p:nvSpPr>
          <p:cNvPr id="32" name="Shape 29"/>
          <p:cNvSpPr/>
          <p:nvPr/>
        </p:nvSpPr>
        <p:spPr>
          <a:xfrm>
            <a:off x="6309360" y="2731770"/>
            <a:ext cx="1188720" cy="914"/>
          </a:xfrm>
          <a:prstGeom prst="line">
            <a:avLst/>
          </a:prstGeom>
          <a:noFill/>
          <a:ln w="5080">
            <a:solidFill>
              <a:srgbClr val="D5DCE5"/>
            </a:solidFill>
            <a:prstDash val="solid"/>
          </a:ln>
        </p:spPr>
      </p:sp>
      <p:sp>
        <p:nvSpPr>
          <p:cNvPr id="33" name="Text 30"/>
          <p:cNvSpPr txBox="1"/>
          <p:nvPr/>
        </p:nvSpPr>
        <p:spPr>
          <a:xfrm>
            <a:off x="6309360" y="1691640"/>
            <a:ext cx="1188720" cy="118872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64행 전체</a:t>
            </a:r>
            <a:endParaRPr lang="en-US" sz="750" dirty="0"/>
          </a:p>
          <a:p>
            <a:pPr algn="ctr" indent="0" marL="0">
              <a:buNone/>
            </a:pPr>
            <a:r>
              <a:rPr lang="en-US" sz="750" b="1" dirty="0">
                <a:solidFill>
                  <a:srgbClr val="1F2D3D"/>
                </a:solidFill>
                <a:latin typeface="Malgun Gothic" pitchFamily="34" charset="0"/>
                <a:ea typeface="Malgun Gothic" pitchFamily="34" charset="-122"/>
                <a:cs typeface="Malgun Gothic" pitchFamily="34" charset="-120"/>
              </a:rPr>
              <a:t>+ 임시값 ✗</a:t>
            </a:r>
            <a:endParaRPr lang="en-US" sz="750" dirty="0"/>
          </a:p>
        </p:txBody>
      </p:sp>
      <p:sp>
        <p:nvSpPr>
          <p:cNvPr id="34" name="Text 31"/>
          <p:cNvSpPr txBox="1"/>
          <p:nvPr/>
        </p:nvSpPr>
        <p:spPr>
          <a:xfrm>
            <a:off x="6309360" y="2916936"/>
            <a:ext cx="118872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초과 → 반분</a:t>
            </a:r>
            <a:endParaRPr lang="en-US" sz="750" dirty="0"/>
          </a:p>
        </p:txBody>
      </p:sp>
      <p:sp>
        <p:nvSpPr>
          <p:cNvPr id="35" name="Shape 32"/>
          <p:cNvSpPr/>
          <p:nvPr/>
        </p:nvSpPr>
        <p:spPr>
          <a:xfrm>
            <a:off x="7543800" y="2286000"/>
            <a:ext cx="320040" cy="914"/>
          </a:xfrm>
          <a:prstGeom prst="line">
            <a:avLst/>
          </a:prstGeom>
          <a:noFill/>
          <a:ln w="19050">
            <a:solidFill>
              <a:srgbClr val="5B6B7F"/>
            </a:solidFill>
            <a:prstDash val="solid"/>
            <a:tailEnd type="triangle"/>
          </a:ln>
        </p:spPr>
      </p:sp>
      <p:sp>
        <p:nvSpPr>
          <p:cNvPr id="36" name="Shape 33"/>
          <p:cNvSpPr/>
          <p:nvPr/>
        </p:nvSpPr>
        <p:spPr>
          <a:xfrm>
            <a:off x="7909560" y="1691640"/>
            <a:ext cx="1188720" cy="1188720"/>
          </a:xfrm>
          <a:prstGeom prst="rect">
            <a:avLst/>
          </a:prstGeom>
          <a:solidFill>
            <a:srgbClr val="EEF2F6"/>
          </a:solidFill>
          <a:ln w="12700">
            <a:solidFill>
              <a:srgbClr val="C9D3DF"/>
            </a:solidFill>
            <a:prstDash val="solid"/>
          </a:ln>
        </p:spPr>
      </p:sp>
      <p:sp>
        <p:nvSpPr>
          <p:cNvPr id="37" name="Shape 34"/>
          <p:cNvSpPr/>
          <p:nvPr/>
        </p:nvSpPr>
        <p:spPr>
          <a:xfrm>
            <a:off x="7909560" y="1691640"/>
            <a:ext cx="1188720" cy="594360"/>
          </a:xfrm>
          <a:prstGeom prst="rect">
            <a:avLst/>
          </a:prstGeom>
          <a:solidFill>
            <a:srgbClr val="FFF6DB"/>
          </a:solidFill>
          <a:ln w="15875">
            <a:solidFill>
              <a:srgbClr val="B7791F"/>
            </a:solidFill>
            <a:prstDash val="solid"/>
          </a:ln>
        </p:spPr>
      </p:sp>
      <p:sp>
        <p:nvSpPr>
          <p:cNvPr id="38" name="Shape 35"/>
          <p:cNvSpPr/>
          <p:nvPr/>
        </p:nvSpPr>
        <p:spPr>
          <a:xfrm>
            <a:off x="8058150" y="1691640"/>
            <a:ext cx="914" cy="1188720"/>
          </a:xfrm>
          <a:prstGeom prst="line">
            <a:avLst/>
          </a:prstGeom>
          <a:noFill/>
          <a:ln w="5080">
            <a:solidFill>
              <a:srgbClr val="D5DCE5"/>
            </a:solidFill>
            <a:prstDash val="solid"/>
          </a:ln>
        </p:spPr>
      </p:sp>
      <p:sp>
        <p:nvSpPr>
          <p:cNvPr id="39" name="Shape 36"/>
          <p:cNvSpPr/>
          <p:nvPr/>
        </p:nvSpPr>
        <p:spPr>
          <a:xfrm>
            <a:off x="8206740" y="1691640"/>
            <a:ext cx="914" cy="1188720"/>
          </a:xfrm>
          <a:prstGeom prst="line">
            <a:avLst/>
          </a:prstGeom>
          <a:noFill/>
          <a:ln w="5080">
            <a:solidFill>
              <a:srgbClr val="D5DCE5"/>
            </a:solidFill>
            <a:prstDash val="solid"/>
          </a:ln>
        </p:spPr>
      </p:sp>
      <p:sp>
        <p:nvSpPr>
          <p:cNvPr id="40" name="Shape 37"/>
          <p:cNvSpPr/>
          <p:nvPr/>
        </p:nvSpPr>
        <p:spPr>
          <a:xfrm>
            <a:off x="8355330" y="1691640"/>
            <a:ext cx="914" cy="1188720"/>
          </a:xfrm>
          <a:prstGeom prst="line">
            <a:avLst/>
          </a:prstGeom>
          <a:noFill/>
          <a:ln w="5080">
            <a:solidFill>
              <a:srgbClr val="D5DCE5"/>
            </a:solidFill>
            <a:prstDash val="solid"/>
          </a:ln>
        </p:spPr>
      </p:sp>
      <p:sp>
        <p:nvSpPr>
          <p:cNvPr id="41" name="Shape 38"/>
          <p:cNvSpPr/>
          <p:nvPr/>
        </p:nvSpPr>
        <p:spPr>
          <a:xfrm>
            <a:off x="8503920" y="1691640"/>
            <a:ext cx="914" cy="1188720"/>
          </a:xfrm>
          <a:prstGeom prst="line">
            <a:avLst/>
          </a:prstGeom>
          <a:noFill/>
          <a:ln w="5080">
            <a:solidFill>
              <a:srgbClr val="D5DCE5"/>
            </a:solidFill>
            <a:prstDash val="solid"/>
          </a:ln>
        </p:spPr>
      </p:sp>
      <p:sp>
        <p:nvSpPr>
          <p:cNvPr id="42" name="Shape 39"/>
          <p:cNvSpPr/>
          <p:nvPr/>
        </p:nvSpPr>
        <p:spPr>
          <a:xfrm>
            <a:off x="8652510" y="1691640"/>
            <a:ext cx="914" cy="1188720"/>
          </a:xfrm>
          <a:prstGeom prst="line">
            <a:avLst/>
          </a:prstGeom>
          <a:noFill/>
          <a:ln w="5080">
            <a:solidFill>
              <a:srgbClr val="D5DCE5"/>
            </a:solidFill>
            <a:prstDash val="solid"/>
          </a:ln>
        </p:spPr>
      </p:sp>
      <p:sp>
        <p:nvSpPr>
          <p:cNvPr id="43" name="Shape 40"/>
          <p:cNvSpPr/>
          <p:nvPr/>
        </p:nvSpPr>
        <p:spPr>
          <a:xfrm>
            <a:off x="8801100" y="1691640"/>
            <a:ext cx="914" cy="1188720"/>
          </a:xfrm>
          <a:prstGeom prst="line">
            <a:avLst/>
          </a:prstGeom>
          <a:noFill/>
          <a:ln w="5080">
            <a:solidFill>
              <a:srgbClr val="D5DCE5"/>
            </a:solidFill>
            <a:prstDash val="solid"/>
          </a:ln>
        </p:spPr>
      </p:sp>
      <p:sp>
        <p:nvSpPr>
          <p:cNvPr id="44" name="Shape 41"/>
          <p:cNvSpPr/>
          <p:nvPr/>
        </p:nvSpPr>
        <p:spPr>
          <a:xfrm>
            <a:off x="8949690" y="1691640"/>
            <a:ext cx="914" cy="1188720"/>
          </a:xfrm>
          <a:prstGeom prst="line">
            <a:avLst/>
          </a:prstGeom>
          <a:noFill/>
          <a:ln w="5080">
            <a:solidFill>
              <a:srgbClr val="D5DCE5"/>
            </a:solidFill>
            <a:prstDash val="solid"/>
          </a:ln>
        </p:spPr>
      </p:sp>
      <p:sp>
        <p:nvSpPr>
          <p:cNvPr id="45" name="Shape 42"/>
          <p:cNvSpPr/>
          <p:nvPr/>
        </p:nvSpPr>
        <p:spPr>
          <a:xfrm>
            <a:off x="7909560" y="1840230"/>
            <a:ext cx="1188720" cy="914"/>
          </a:xfrm>
          <a:prstGeom prst="line">
            <a:avLst/>
          </a:prstGeom>
          <a:noFill/>
          <a:ln w="5080">
            <a:solidFill>
              <a:srgbClr val="D5DCE5"/>
            </a:solidFill>
            <a:prstDash val="solid"/>
          </a:ln>
        </p:spPr>
      </p:sp>
      <p:sp>
        <p:nvSpPr>
          <p:cNvPr id="46" name="Shape 43"/>
          <p:cNvSpPr/>
          <p:nvPr/>
        </p:nvSpPr>
        <p:spPr>
          <a:xfrm>
            <a:off x="7909560" y="1988820"/>
            <a:ext cx="1188720" cy="914"/>
          </a:xfrm>
          <a:prstGeom prst="line">
            <a:avLst/>
          </a:prstGeom>
          <a:noFill/>
          <a:ln w="5080">
            <a:solidFill>
              <a:srgbClr val="D5DCE5"/>
            </a:solidFill>
            <a:prstDash val="solid"/>
          </a:ln>
        </p:spPr>
      </p:sp>
      <p:sp>
        <p:nvSpPr>
          <p:cNvPr id="47" name="Shape 44"/>
          <p:cNvSpPr/>
          <p:nvPr/>
        </p:nvSpPr>
        <p:spPr>
          <a:xfrm>
            <a:off x="7909560" y="2137410"/>
            <a:ext cx="1188720" cy="914"/>
          </a:xfrm>
          <a:prstGeom prst="line">
            <a:avLst/>
          </a:prstGeom>
          <a:noFill/>
          <a:ln w="5080">
            <a:solidFill>
              <a:srgbClr val="D5DCE5"/>
            </a:solidFill>
            <a:prstDash val="solid"/>
          </a:ln>
        </p:spPr>
      </p:sp>
      <p:sp>
        <p:nvSpPr>
          <p:cNvPr id="48" name="Shape 45"/>
          <p:cNvSpPr/>
          <p:nvPr/>
        </p:nvSpPr>
        <p:spPr>
          <a:xfrm>
            <a:off x="7909560" y="2286000"/>
            <a:ext cx="1188720" cy="914"/>
          </a:xfrm>
          <a:prstGeom prst="line">
            <a:avLst/>
          </a:prstGeom>
          <a:noFill/>
          <a:ln w="5080">
            <a:solidFill>
              <a:srgbClr val="D5DCE5"/>
            </a:solidFill>
            <a:prstDash val="solid"/>
          </a:ln>
        </p:spPr>
      </p:sp>
      <p:sp>
        <p:nvSpPr>
          <p:cNvPr id="49" name="Shape 46"/>
          <p:cNvSpPr/>
          <p:nvPr/>
        </p:nvSpPr>
        <p:spPr>
          <a:xfrm>
            <a:off x="7909560" y="2434590"/>
            <a:ext cx="1188720" cy="914"/>
          </a:xfrm>
          <a:prstGeom prst="line">
            <a:avLst/>
          </a:prstGeom>
          <a:noFill/>
          <a:ln w="5080">
            <a:solidFill>
              <a:srgbClr val="D5DCE5"/>
            </a:solidFill>
            <a:prstDash val="solid"/>
          </a:ln>
        </p:spPr>
      </p:sp>
      <p:sp>
        <p:nvSpPr>
          <p:cNvPr id="50" name="Shape 47"/>
          <p:cNvSpPr/>
          <p:nvPr/>
        </p:nvSpPr>
        <p:spPr>
          <a:xfrm>
            <a:off x="7909560" y="2583180"/>
            <a:ext cx="1188720" cy="914"/>
          </a:xfrm>
          <a:prstGeom prst="line">
            <a:avLst/>
          </a:prstGeom>
          <a:noFill/>
          <a:ln w="5080">
            <a:solidFill>
              <a:srgbClr val="D5DCE5"/>
            </a:solidFill>
            <a:prstDash val="solid"/>
          </a:ln>
        </p:spPr>
      </p:sp>
      <p:sp>
        <p:nvSpPr>
          <p:cNvPr id="51" name="Shape 48"/>
          <p:cNvSpPr/>
          <p:nvPr/>
        </p:nvSpPr>
        <p:spPr>
          <a:xfrm>
            <a:off x="7909560" y="2731770"/>
            <a:ext cx="1188720" cy="914"/>
          </a:xfrm>
          <a:prstGeom prst="line">
            <a:avLst/>
          </a:prstGeom>
          <a:noFill/>
          <a:ln w="5080">
            <a:solidFill>
              <a:srgbClr val="D5DCE5"/>
            </a:solidFill>
            <a:prstDash val="solid"/>
          </a:ln>
        </p:spPr>
      </p:sp>
      <p:sp>
        <p:nvSpPr>
          <p:cNvPr id="52" name="Text 49"/>
          <p:cNvSpPr txBox="1"/>
          <p:nvPr/>
        </p:nvSpPr>
        <p:spPr>
          <a:xfrm>
            <a:off x="7909560" y="1691640"/>
            <a:ext cx="1188720" cy="59436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32행 stripe ✗</a:t>
            </a:r>
            <a:endParaRPr lang="en-US" sz="750" dirty="0"/>
          </a:p>
        </p:txBody>
      </p:sp>
      <p:sp>
        <p:nvSpPr>
          <p:cNvPr id="53" name="Text 50"/>
          <p:cNvSpPr txBox="1"/>
          <p:nvPr/>
        </p:nvSpPr>
        <p:spPr>
          <a:xfrm>
            <a:off x="7909560" y="2916936"/>
            <a:ext cx="118872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아직 초과 → 반분</a:t>
            </a:r>
            <a:endParaRPr lang="en-US" sz="750" dirty="0"/>
          </a:p>
        </p:txBody>
      </p:sp>
      <p:sp>
        <p:nvSpPr>
          <p:cNvPr id="54" name="Shape 51"/>
          <p:cNvSpPr/>
          <p:nvPr/>
        </p:nvSpPr>
        <p:spPr>
          <a:xfrm>
            <a:off x="9144000" y="2286000"/>
            <a:ext cx="320040" cy="914"/>
          </a:xfrm>
          <a:prstGeom prst="line">
            <a:avLst/>
          </a:prstGeom>
          <a:noFill/>
          <a:ln w="19050">
            <a:solidFill>
              <a:srgbClr val="5B6B7F"/>
            </a:solidFill>
            <a:prstDash val="solid"/>
            <a:tailEnd type="triangle"/>
          </a:ln>
        </p:spPr>
      </p:sp>
      <p:sp>
        <p:nvSpPr>
          <p:cNvPr id="55" name="Shape 52"/>
          <p:cNvSpPr/>
          <p:nvPr/>
        </p:nvSpPr>
        <p:spPr>
          <a:xfrm>
            <a:off x="9509760" y="1691640"/>
            <a:ext cx="1188720" cy="1188720"/>
          </a:xfrm>
          <a:prstGeom prst="rect">
            <a:avLst/>
          </a:prstGeom>
          <a:solidFill>
            <a:srgbClr val="EEF2F6"/>
          </a:solidFill>
          <a:ln w="12700">
            <a:solidFill>
              <a:srgbClr val="C9D3DF"/>
            </a:solidFill>
            <a:prstDash val="solid"/>
          </a:ln>
        </p:spPr>
      </p:sp>
      <p:sp>
        <p:nvSpPr>
          <p:cNvPr id="56" name="Shape 53"/>
          <p:cNvSpPr/>
          <p:nvPr/>
        </p:nvSpPr>
        <p:spPr>
          <a:xfrm>
            <a:off x="9509760" y="1691640"/>
            <a:ext cx="1188720" cy="297180"/>
          </a:xfrm>
          <a:prstGeom prst="rect">
            <a:avLst/>
          </a:prstGeom>
          <a:solidFill>
            <a:srgbClr val="DDF3F0"/>
          </a:solidFill>
          <a:ln w="15875">
            <a:solidFill>
              <a:srgbClr val="1F8A8A"/>
            </a:solidFill>
            <a:prstDash val="solid"/>
          </a:ln>
        </p:spPr>
      </p:sp>
      <p:sp>
        <p:nvSpPr>
          <p:cNvPr id="57" name="Shape 54"/>
          <p:cNvSpPr/>
          <p:nvPr/>
        </p:nvSpPr>
        <p:spPr>
          <a:xfrm>
            <a:off x="9658350" y="1691640"/>
            <a:ext cx="914" cy="1188720"/>
          </a:xfrm>
          <a:prstGeom prst="line">
            <a:avLst/>
          </a:prstGeom>
          <a:noFill/>
          <a:ln w="5080">
            <a:solidFill>
              <a:srgbClr val="D5DCE5"/>
            </a:solidFill>
            <a:prstDash val="solid"/>
          </a:ln>
        </p:spPr>
      </p:sp>
      <p:sp>
        <p:nvSpPr>
          <p:cNvPr id="58" name="Shape 55"/>
          <p:cNvSpPr/>
          <p:nvPr/>
        </p:nvSpPr>
        <p:spPr>
          <a:xfrm>
            <a:off x="9806940" y="1691640"/>
            <a:ext cx="914" cy="1188720"/>
          </a:xfrm>
          <a:prstGeom prst="line">
            <a:avLst/>
          </a:prstGeom>
          <a:noFill/>
          <a:ln w="5080">
            <a:solidFill>
              <a:srgbClr val="D5DCE5"/>
            </a:solidFill>
            <a:prstDash val="solid"/>
          </a:ln>
        </p:spPr>
      </p:sp>
      <p:sp>
        <p:nvSpPr>
          <p:cNvPr id="59" name="Shape 56"/>
          <p:cNvSpPr/>
          <p:nvPr/>
        </p:nvSpPr>
        <p:spPr>
          <a:xfrm>
            <a:off x="9955530" y="1691640"/>
            <a:ext cx="914" cy="1188720"/>
          </a:xfrm>
          <a:prstGeom prst="line">
            <a:avLst/>
          </a:prstGeom>
          <a:noFill/>
          <a:ln w="5080">
            <a:solidFill>
              <a:srgbClr val="D5DCE5"/>
            </a:solidFill>
            <a:prstDash val="solid"/>
          </a:ln>
        </p:spPr>
      </p:sp>
      <p:sp>
        <p:nvSpPr>
          <p:cNvPr id="60" name="Shape 57"/>
          <p:cNvSpPr/>
          <p:nvPr/>
        </p:nvSpPr>
        <p:spPr>
          <a:xfrm>
            <a:off x="10104120" y="1691640"/>
            <a:ext cx="914" cy="1188720"/>
          </a:xfrm>
          <a:prstGeom prst="line">
            <a:avLst/>
          </a:prstGeom>
          <a:noFill/>
          <a:ln w="5080">
            <a:solidFill>
              <a:srgbClr val="D5DCE5"/>
            </a:solidFill>
            <a:prstDash val="solid"/>
          </a:ln>
        </p:spPr>
      </p:sp>
      <p:sp>
        <p:nvSpPr>
          <p:cNvPr id="61" name="Shape 58"/>
          <p:cNvSpPr/>
          <p:nvPr/>
        </p:nvSpPr>
        <p:spPr>
          <a:xfrm>
            <a:off x="10252710" y="1691640"/>
            <a:ext cx="914" cy="1188720"/>
          </a:xfrm>
          <a:prstGeom prst="line">
            <a:avLst/>
          </a:prstGeom>
          <a:noFill/>
          <a:ln w="5080">
            <a:solidFill>
              <a:srgbClr val="D5DCE5"/>
            </a:solidFill>
            <a:prstDash val="solid"/>
          </a:ln>
        </p:spPr>
      </p:sp>
      <p:sp>
        <p:nvSpPr>
          <p:cNvPr id="62" name="Shape 59"/>
          <p:cNvSpPr/>
          <p:nvPr/>
        </p:nvSpPr>
        <p:spPr>
          <a:xfrm>
            <a:off x="10401300" y="1691640"/>
            <a:ext cx="914" cy="1188720"/>
          </a:xfrm>
          <a:prstGeom prst="line">
            <a:avLst/>
          </a:prstGeom>
          <a:noFill/>
          <a:ln w="5080">
            <a:solidFill>
              <a:srgbClr val="D5DCE5"/>
            </a:solidFill>
            <a:prstDash val="solid"/>
          </a:ln>
        </p:spPr>
      </p:sp>
      <p:sp>
        <p:nvSpPr>
          <p:cNvPr id="63" name="Shape 60"/>
          <p:cNvSpPr/>
          <p:nvPr/>
        </p:nvSpPr>
        <p:spPr>
          <a:xfrm>
            <a:off x="10549890" y="1691640"/>
            <a:ext cx="914" cy="1188720"/>
          </a:xfrm>
          <a:prstGeom prst="line">
            <a:avLst/>
          </a:prstGeom>
          <a:noFill/>
          <a:ln w="5080">
            <a:solidFill>
              <a:srgbClr val="D5DCE5"/>
            </a:solidFill>
            <a:prstDash val="solid"/>
          </a:ln>
        </p:spPr>
      </p:sp>
      <p:sp>
        <p:nvSpPr>
          <p:cNvPr id="64" name="Shape 61"/>
          <p:cNvSpPr/>
          <p:nvPr/>
        </p:nvSpPr>
        <p:spPr>
          <a:xfrm>
            <a:off x="9509760" y="1840230"/>
            <a:ext cx="1188720" cy="914"/>
          </a:xfrm>
          <a:prstGeom prst="line">
            <a:avLst/>
          </a:prstGeom>
          <a:noFill/>
          <a:ln w="5080">
            <a:solidFill>
              <a:srgbClr val="D5DCE5"/>
            </a:solidFill>
            <a:prstDash val="solid"/>
          </a:ln>
        </p:spPr>
      </p:sp>
      <p:sp>
        <p:nvSpPr>
          <p:cNvPr id="65" name="Shape 62"/>
          <p:cNvSpPr/>
          <p:nvPr/>
        </p:nvSpPr>
        <p:spPr>
          <a:xfrm>
            <a:off x="9509760" y="1988820"/>
            <a:ext cx="1188720" cy="914"/>
          </a:xfrm>
          <a:prstGeom prst="line">
            <a:avLst/>
          </a:prstGeom>
          <a:noFill/>
          <a:ln w="5080">
            <a:solidFill>
              <a:srgbClr val="D5DCE5"/>
            </a:solidFill>
            <a:prstDash val="solid"/>
          </a:ln>
        </p:spPr>
      </p:sp>
      <p:sp>
        <p:nvSpPr>
          <p:cNvPr id="66" name="Shape 63"/>
          <p:cNvSpPr/>
          <p:nvPr/>
        </p:nvSpPr>
        <p:spPr>
          <a:xfrm>
            <a:off x="9509760" y="2137410"/>
            <a:ext cx="1188720" cy="914"/>
          </a:xfrm>
          <a:prstGeom prst="line">
            <a:avLst/>
          </a:prstGeom>
          <a:noFill/>
          <a:ln w="5080">
            <a:solidFill>
              <a:srgbClr val="D5DCE5"/>
            </a:solidFill>
            <a:prstDash val="solid"/>
          </a:ln>
        </p:spPr>
      </p:sp>
      <p:sp>
        <p:nvSpPr>
          <p:cNvPr id="67" name="Shape 64"/>
          <p:cNvSpPr/>
          <p:nvPr/>
        </p:nvSpPr>
        <p:spPr>
          <a:xfrm>
            <a:off x="9509760" y="2286000"/>
            <a:ext cx="1188720" cy="914"/>
          </a:xfrm>
          <a:prstGeom prst="line">
            <a:avLst/>
          </a:prstGeom>
          <a:noFill/>
          <a:ln w="5080">
            <a:solidFill>
              <a:srgbClr val="D5DCE5"/>
            </a:solidFill>
            <a:prstDash val="solid"/>
          </a:ln>
        </p:spPr>
      </p:sp>
      <p:sp>
        <p:nvSpPr>
          <p:cNvPr id="68" name="Shape 65"/>
          <p:cNvSpPr/>
          <p:nvPr/>
        </p:nvSpPr>
        <p:spPr>
          <a:xfrm>
            <a:off x="9509760" y="2434590"/>
            <a:ext cx="1188720" cy="914"/>
          </a:xfrm>
          <a:prstGeom prst="line">
            <a:avLst/>
          </a:prstGeom>
          <a:noFill/>
          <a:ln w="5080">
            <a:solidFill>
              <a:srgbClr val="D5DCE5"/>
            </a:solidFill>
            <a:prstDash val="solid"/>
          </a:ln>
        </p:spPr>
      </p:sp>
      <p:sp>
        <p:nvSpPr>
          <p:cNvPr id="69" name="Shape 66"/>
          <p:cNvSpPr/>
          <p:nvPr/>
        </p:nvSpPr>
        <p:spPr>
          <a:xfrm>
            <a:off x="9509760" y="2583180"/>
            <a:ext cx="1188720" cy="914"/>
          </a:xfrm>
          <a:prstGeom prst="line">
            <a:avLst/>
          </a:prstGeom>
          <a:noFill/>
          <a:ln w="5080">
            <a:solidFill>
              <a:srgbClr val="D5DCE5"/>
            </a:solidFill>
            <a:prstDash val="solid"/>
          </a:ln>
        </p:spPr>
      </p:sp>
      <p:sp>
        <p:nvSpPr>
          <p:cNvPr id="70" name="Shape 67"/>
          <p:cNvSpPr/>
          <p:nvPr/>
        </p:nvSpPr>
        <p:spPr>
          <a:xfrm>
            <a:off x="9509760" y="2731770"/>
            <a:ext cx="1188720" cy="914"/>
          </a:xfrm>
          <a:prstGeom prst="line">
            <a:avLst/>
          </a:prstGeom>
          <a:noFill/>
          <a:ln w="5080">
            <a:solidFill>
              <a:srgbClr val="D5DCE5"/>
            </a:solidFill>
            <a:prstDash val="solid"/>
          </a:ln>
        </p:spPr>
      </p:sp>
      <p:sp>
        <p:nvSpPr>
          <p:cNvPr id="71" name="Text 68"/>
          <p:cNvSpPr txBox="1"/>
          <p:nvPr/>
        </p:nvSpPr>
        <p:spPr>
          <a:xfrm>
            <a:off x="9509760" y="1691640"/>
            <a:ext cx="1188720" cy="29718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16행 ✓</a:t>
            </a:r>
            <a:endParaRPr lang="en-US" sz="750" dirty="0"/>
          </a:p>
        </p:txBody>
      </p:sp>
      <p:sp>
        <p:nvSpPr>
          <p:cNvPr id="72" name="Text 69"/>
          <p:cNvSpPr txBox="1"/>
          <p:nvPr/>
        </p:nvSpPr>
        <p:spPr>
          <a:xfrm>
            <a:off x="9509760" y="2916936"/>
            <a:ext cx="146304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compute_at + compaction으로</a:t>
            </a:r>
            <a:endParaRPr lang="en-US" sz="750" dirty="0"/>
          </a:p>
          <a:p>
            <a:pPr algn="l" indent="0" marL="0">
              <a:buNone/>
            </a:pPr>
            <a:r>
              <a:rPr lang="en-US" sz="750" dirty="0">
                <a:solidFill>
                  <a:srgbClr val="5B6B7F"/>
                </a:solidFill>
                <a:latin typeface="Malgun Gothic" pitchFamily="34" charset="0"/>
                <a:ea typeface="Malgun Gothic" pitchFamily="34" charset="-122"/>
                <a:cs typeface="Malgun Gothic" pitchFamily="34" charset="-120"/>
              </a:rPr>
              <a:t>묶음별 작업 공간 축소</a:t>
            </a:r>
            <a:endParaRPr lang="en-US" sz="750" dirty="0"/>
          </a:p>
        </p:txBody>
      </p:sp>
      <p:sp>
        <p:nvSpPr>
          <p:cNvPr id="73" name="Text 70"/>
          <p:cNvSpPr txBox="1"/>
          <p:nvPr/>
        </p:nvSpPr>
        <p:spPr>
          <a:xfrm>
            <a:off x="10789920" y="1691640"/>
            <a:ext cx="960120" cy="1188720"/>
          </a:xfrm>
          <a:prstGeom prst="rect">
            <a:avLst/>
          </a:prstGeom>
          <a:noFill/>
          <a:ln/>
        </p:spPr>
        <p:txBody>
          <a:bodyPr wrap="square" lIns="0" tIns="0" rIns="0" bIns="0" rtlCol="0" anchor="t"/>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4 stripe ×</a:t>
            </a:r>
            <a:endParaRPr lang="en-US" sz="700" dirty="0"/>
          </a:p>
          <a:p>
            <a:pPr algn="l" indent="0" marL="0">
              <a:buNone/>
            </a:pPr>
            <a:r>
              <a:rPr lang="en-US" sz="700" dirty="0">
                <a:solidFill>
                  <a:srgbClr val="5B6B7F"/>
                </a:solidFill>
                <a:latin typeface="Malgun Gothic" pitchFamily="34" charset="0"/>
                <a:ea typeface="Malgun Gothic" pitchFamily="34" charset="-122"/>
                <a:cs typeface="Malgun Gothic" pitchFamily="34" charset="-120"/>
              </a:rPr>
              <a:t>(LOAD·OP·SAVE)</a:t>
            </a:r>
            <a:endParaRPr lang="en-US" sz="700" dirty="0"/>
          </a:p>
          <a:p>
            <a:pPr algn="l" indent="0" marL="0">
              <a:buNone/>
            </a:pPr>
            <a:r>
              <a:rPr lang="en-US" sz="700" dirty="0">
                <a:solidFill>
                  <a:srgbClr val="5B6B7F"/>
                </a:solidFill>
                <a:latin typeface="Malgun Gothic" pitchFamily="34" charset="0"/>
                <a:ea typeface="Malgun Gothic" pitchFamily="34" charset="-122"/>
                <a:cs typeface="Malgun Gothic" pitchFamily="34" charset="-120"/>
              </a:rPr>
              <a:t>반복</a:t>
            </a:r>
            <a:endParaRPr lang="en-US" sz="700" dirty="0"/>
          </a:p>
        </p:txBody>
      </p:sp>
      <p:sp>
        <p:nvSpPr>
          <p:cNvPr id="74" name="Text 71"/>
          <p:cNvSpPr txBox="1"/>
          <p:nvPr/>
        </p:nvSpPr>
        <p:spPr>
          <a:xfrm>
            <a:off x="6309360" y="3337560"/>
            <a:ext cx="5486400" cy="256032"/>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축 결합: 64행 × VLEN 64 → 32행 × VLEN 128 (명령 수 절반)</a:t>
            </a:r>
            <a:endParaRPr lang="en-US" sz="1050" dirty="0"/>
          </a:p>
        </p:txBody>
      </p:sp>
      <p:sp>
        <p:nvSpPr>
          <p:cNvPr id="75" name="Shape 72"/>
          <p:cNvSpPr/>
          <p:nvPr/>
        </p:nvSpPr>
        <p:spPr>
          <a:xfrm>
            <a:off x="6309360" y="3657600"/>
            <a:ext cx="1005840" cy="1005840"/>
          </a:xfrm>
          <a:prstGeom prst="rect">
            <a:avLst/>
          </a:prstGeom>
          <a:solidFill>
            <a:srgbClr val="DDF3F0"/>
          </a:solidFill>
          <a:ln w="12700">
            <a:solidFill>
              <a:srgbClr val="1F8A8A"/>
            </a:solidFill>
            <a:prstDash val="solid"/>
          </a:ln>
        </p:spPr>
      </p:sp>
      <p:sp>
        <p:nvSpPr>
          <p:cNvPr id="76" name="Shape 73"/>
          <p:cNvSpPr/>
          <p:nvPr/>
        </p:nvSpPr>
        <p:spPr>
          <a:xfrm>
            <a:off x="6309360" y="3657600"/>
            <a:ext cx="1005840" cy="1005840"/>
          </a:xfrm>
          <a:prstGeom prst="rect">
            <a:avLst/>
          </a:prstGeom>
          <a:solidFill>
            <a:srgbClr val="DDF3F0"/>
          </a:solidFill>
          <a:ln w="15875">
            <a:solidFill>
              <a:srgbClr val="1F8A8A"/>
            </a:solidFill>
            <a:prstDash val="solid"/>
          </a:ln>
        </p:spPr>
      </p:sp>
      <p:sp>
        <p:nvSpPr>
          <p:cNvPr id="77" name="Shape 74"/>
          <p:cNvSpPr/>
          <p:nvPr/>
        </p:nvSpPr>
        <p:spPr>
          <a:xfrm>
            <a:off x="6560820" y="3657600"/>
            <a:ext cx="914" cy="1005840"/>
          </a:xfrm>
          <a:prstGeom prst="line">
            <a:avLst/>
          </a:prstGeom>
          <a:noFill/>
          <a:ln w="5080">
            <a:solidFill>
              <a:srgbClr val="D5DCE5"/>
            </a:solidFill>
            <a:prstDash val="solid"/>
          </a:ln>
        </p:spPr>
      </p:sp>
      <p:sp>
        <p:nvSpPr>
          <p:cNvPr id="78" name="Shape 75"/>
          <p:cNvSpPr/>
          <p:nvPr/>
        </p:nvSpPr>
        <p:spPr>
          <a:xfrm>
            <a:off x="6812280" y="3657600"/>
            <a:ext cx="914" cy="1005840"/>
          </a:xfrm>
          <a:prstGeom prst="line">
            <a:avLst/>
          </a:prstGeom>
          <a:noFill/>
          <a:ln w="5080">
            <a:solidFill>
              <a:srgbClr val="D5DCE5"/>
            </a:solidFill>
            <a:prstDash val="solid"/>
          </a:ln>
        </p:spPr>
      </p:sp>
      <p:sp>
        <p:nvSpPr>
          <p:cNvPr id="79" name="Shape 76"/>
          <p:cNvSpPr/>
          <p:nvPr/>
        </p:nvSpPr>
        <p:spPr>
          <a:xfrm>
            <a:off x="7063740" y="3657600"/>
            <a:ext cx="914" cy="1005840"/>
          </a:xfrm>
          <a:prstGeom prst="line">
            <a:avLst/>
          </a:prstGeom>
          <a:noFill/>
          <a:ln w="5080">
            <a:solidFill>
              <a:srgbClr val="D5DCE5"/>
            </a:solidFill>
            <a:prstDash val="solid"/>
          </a:ln>
        </p:spPr>
      </p:sp>
      <p:sp>
        <p:nvSpPr>
          <p:cNvPr id="80" name="Shape 77"/>
          <p:cNvSpPr/>
          <p:nvPr/>
        </p:nvSpPr>
        <p:spPr>
          <a:xfrm>
            <a:off x="6309360" y="3909060"/>
            <a:ext cx="1005840" cy="914"/>
          </a:xfrm>
          <a:prstGeom prst="line">
            <a:avLst/>
          </a:prstGeom>
          <a:noFill/>
          <a:ln w="5080">
            <a:solidFill>
              <a:srgbClr val="D5DCE5"/>
            </a:solidFill>
            <a:prstDash val="solid"/>
          </a:ln>
        </p:spPr>
      </p:sp>
      <p:sp>
        <p:nvSpPr>
          <p:cNvPr id="81" name="Shape 78"/>
          <p:cNvSpPr/>
          <p:nvPr/>
        </p:nvSpPr>
        <p:spPr>
          <a:xfrm>
            <a:off x="6309360" y="4160520"/>
            <a:ext cx="1005840" cy="914"/>
          </a:xfrm>
          <a:prstGeom prst="line">
            <a:avLst/>
          </a:prstGeom>
          <a:noFill/>
          <a:ln w="5080">
            <a:solidFill>
              <a:srgbClr val="D5DCE5"/>
            </a:solidFill>
            <a:prstDash val="solid"/>
          </a:ln>
        </p:spPr>
      </p:sp>
      <p:sp>
        <p:nvSpPr>
          <p:cNvPr id="82" name="Shape 79"/>
          <p:cNvSpPr/>
          <p:nvPr/>
        </p:nvSpPr>
        <p:spPr>
          <a:xfrm>
            <a:off x="6309360" y="4411980"/>
            <a:ext cx="1005840" cy="914"/>
          </a:xfrm>
          <a:prstGeom prst="line">
            <a:avLst/>
          </a:prstGeom>
          <a:noFill/>
          <a:ln w="5080">
            <a:solidFill>
              <a:srgbClr val="D5DCE5"/>
            </a:solidFill>
            <a:prstDash val="solid"/>
          </a:ln>
        </p:spPr>
      </p:sp>
      <p:sp>
        <p:nvSpPr>
          <p:cNvPr id="83" name="Text 80"/>
          <p:cNvSpPr txBox="1"/>
          <p:nvPr/>
        </p:nvSpPr>
        <p:spPr>
          <a:xfrm>
            <a:off x="6309360" y="3657600"/>
            <a:ext cx="1005840" cy="100584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64 × 64</a:t>
            </a:r>
            <a:endParaRPr lang="en-US" sz="700" dirty="0"/>
          </a:p>
          <a:p>
            <a:pPr algn="ctr" indent="0" marL="0">
              <a:buNone/>
            </a:pPr>
            <a:r>
              <a:rPr lang="en-US" sz="700" b="1" dirty="0">
                <a:solidFill>
                  <a:srgbClr val="1F2D3D"/>
                </a:solidFill>
                <a:latin typeface="Malgun Gothic" pitchFamily="34" charset="0"/>
                <a:ea typeface="Malgun Gothic" pitchFamily="34" charset="-122"/>
                <a:cs typeface="Malgun Gothic" pitchFamily="34" charset="-120"/>
              </a:rPr>
              <a:t>64 명령/단계</a:t>
            </a:r>
            <a:endParaRPr lang="en-US" sz="700" dirty="0"/>
          </a:p>
        </p:txBody>
      </p:sp>
      <p:sp>
        <p:nvSpPr>
          <p:cNvPr id="84" name="Text 81"/>
          <p:cNvSpPr txBox="1"/>
          <p:nvPr/>
        </p:nvSpPr>
        <p:spPr>
          <a:xfrm>
            <a:off x="6309360" y="4700016"/>
            <a:ext cx="109728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행 = VLEN 64</a:t>
            </a:r>
            <a:endParaRPr lang="en-US" sz="750" dirty="0"/>
          </a:p>
        </p:txBody>
      </p:sp>
      <p:sp>
        <p:nvSpPr>
          <p:cNvPr id="85" name="Shape 82"/>
          <p:cNvSpPr/>
          <p:nvPr/>
        </p:nvSpPr>
        <p:spPr>
          <a:xfrm>
            <a:off x="7406640" y="4160520"/>
            <a:ext cx="365760" cy="914"/>
          </a:xfrm>
          <a:prstGeom prst="line">
            <a:avLst/>
          </a:prstGeom>
          <a:noFill/>
          <a:ln w="19050">
            <a:solidFill>
              <a:srgbClr val="5B6B7F"/>
            </a:solidFill>
            <a:prstDash val="solid"/>
            <a:tailEnd type="triangle"/>
          </a:ln>
        </p:spPr>
      </p:sp>
      <p:sp>
        <p:nvSpPr>
          <p:cNvPr id="86" name="Text 83"/>
          <p:cNvSpPr txBox="1"/>
          <p:nvPr/>
        </p:nvSpPr>
        <p:spPr>
          <a:xfrm>
            <a:off x="7360920" y="3794760"/>
            <a:ext cx="457200" cy="274320"/>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fuse</a:t>
            </a:r>
            <a:endParaRPr lang="en-US" sz="700" dirty="0"/>
          </a:p>
        </p:txBody>
      </p:sp>
      <p:sp>
        <p:nvSpPr>
          <p:cNvPr id="87" name="Shape 84"/>
          <p:cNvSpPr/>
          <p:nvPr/>
        </p:nvSpPr>
        <p:spPr>
          <a:xfrm>
            <a:off x="7818120" y="3913632"/>
            <a:ext cx="2194560" cy="502920"/>
          </a:xfrm>
          <a:prstGeom prst="rect">
            <a:avLst/>
          </a:prstGeom>
          <a:solidFill>
            <a:srgbClr val="DDF3F0"/>
          </a:solidFill>
          <a:ln w="12700">
            <a:solidFill>
              <a:srgbClr val="1F8A8A"/>
            </a:solidFill>
            <a:prstDash val="solid"/>
          </a:ln>
        </p:spPr>
      </p:sp>
      <p:sp>
        <p:nvSpPr>
          <p:cNvPr id="88" name="Shape 85"/>
          <p:cNvSpPr/>
          <p:nvPr/>
        </p:nvSpPr>
        <p:spPr>
          <a:xfrm>
            <a:off x="7818120" y="3913632"/>
            <a:ext cx="2194560" cy="502920"/>
          </a:xfrm>
          <a:prstGeom prst="rect">
            <a:avLst/>
          </a:prstGeom>
          <a:solidFill>
            <a:srgbClr val="DDF3F0"/>
          </a:solidFill>
          <a:ln w="15875">
            <a:solidFill>
              <a:srgbClr val="1F8A8A"/>
            </a:solidFill>
            <a:prstDash val="solid"/>
          </a:ln>
        </p:spPr>
      </p:sp>
      <p:sp>
        <p:nvSpPr>
          <p:cNvPr id="89" name="Shape 86"/>
          <p:cNvSpPr/>
          <p:nvPr/>
        </p:nvSpPr>
        <p:spPr>
          <a:xfrm>
            <a:off x="8092440" y="3913632"/>
            <a:ext cx="914" cy="502920"/>
          </a:xfrm>
          <a:prstGeom prst="line">
            <a:avLst/>
          </a:prstGeom>
          <a:noFill/>
          <a:ln w="5080">
            <a:solidFill>
              <a:srgbClr val="D5DCE5"/>
            </a:solidFill>
            <a:prstDash val="solid"/>
          </a:ln>
        </p:spPr>
      </p:sp>
      <p:sp>
        <p:nvSpPr>
          <p:cNvPr id="90" name="Shape 87"/>
          <p:cNvSpPr/>
          <p:nvPr/>
        </p:nvSpPr>
        <p:spPr>
          <a:xfrm>
            <a:off x="8366760" y="3913632"/>
            <a:ext cx="914" cy="502920"/>
          </a:xfrm>
          <a:prstGeom prst="line">
            <a:avLst/>
          </a:prstGeom>
          <a:noFill/>
          <a:ln w="5080">
            <a:solidFill>
              <a:srgbClr val="D5DCE5"/>
            </a:solidFill>
            <a:prstDash val="solid"/>
          </a:ln>
        </p:spPr>
      </p:sp>
      <p:sp>
        <p:nvSpPr>
          <p:cNvPr id="91" name="Shape 88"/>
          <p:cNvSpPr/>
          <p:nvPr/>
        </p:nvSpPr>
        <p:spPr>
          <a:xfrm>
            <a:off x="8641080" y="3913632"/>
            <a:ext cx="914" cy="502920"/>
          </a:xfrm>
          <a:prstGeom prst="line">
            <a:avLst/>
          </a:prstGeom>
          <a:noFill/>
          <a:ln w="5080">
            <a:solidFill>
              <a:srgbClr val="D5DCE5"/>
            </a:solidFill>
            <a:prstDash val="solid"/>
          </a:ln>
        </p:spPr>
      </p:sp>
      <p:sp>
        <p:nvSpPr>
          <p:cNvPr id="92" name="Shape 89"/>
          <p:cNvSpPr/>
          <p:nvPr/>
        </p:nvSpPr>
        <p:spPr>
          <a:xfrm>
            <a:off x="8915400" y="3913632"/>
            <a:ext cx="914" cy="502920"/>
          </a:xfrm>
          <a:prstGeom prst="line">
            <a:avLst/>
          </a:prstGeom>
          <a:noFill/>
          <a:ln w="5080">
            <a:solidFill>
              <a:srgbClr val="D5DCE5"/>
            </a:solidFill>
            <a:prstDash val="solid"/>
          </a:ln>
        </p:spPr>
      </p:sp>
      <p:sp>
        <p:nvSpPr>
          <p:cNvPr id="93" name="Shape 90"/>
          <p:cNvSpPr/>
          <p:nvPr/>
        </p:nvSpPr>
        <p:spPr>
          <a:xfrm>
            <a:off x="9189720" y="3913632"/>
            <a:ext cx="914" cy="502920"/>
          </a:xfrm>
          <a:prstGeom prst="line">
            <a:avLst/>
          </a:prstGeom>
          <a:noFill/>
          <a:ln w="5080">
            <a:solidFill>
              <a:srgbClr val="D5DCE5"/>
            </a:solidFill>
            <a:prstDash val="solid"/>
          </a:ln>
        </p:spPr>
      </p:sp>
      <p:sp>
        <p:nvSpPr>
          <p:cNvPr id="94" name="Shape 91"/>
          <p:cNvSpPr/>
          <p:nvPr/>
        </p:nvSpPr>
        <p:spPr>
          <a:xfrm>
            <a:off x="9464040" y="3913632"/>
            <a:ext cx="914" cy="502920"/>
          </a:xfrm>
          <a:prstGeom prst="line">
            <a:avLst/>
          </a:prstGeom>
          <a:noFill/>
          <a:ln w="5080">
            <a:solidFill>
              <a:srgbClr val="D5DCE5"/>
            </a:solidFill>
            <a:prstDash val="solid"/>
          </a:ln>
        </p:spPr>
      </p:sp>
      <p:sp>
        <p:nvSpPr>
          <p:cNvPr id="95" name="Shape 92"/>
          <p:cNvSpPr/>
          <p:nvPr/>
        </p:nvSpPr>
        <p:spPr>
          <a:xfrm>
            <a:off x="9738360" y="3913632"/>
            <a:ext cx="914" cy="502920"/>
          </a:xfrm>
          <a:prstGeom prst="line">
            <a:avLst/>
          </a:prstGeom>
          <a:noFill/>
          <a:ln w="5080">
            <a:solidFill>
              <a:srgbClr val="D5DCE5"/>
            </a:solidFill>
            <a:prstDash val="solid"/>
          </a:ln>
        </p:spPr>
      </p:sp>
      <p:sp>
        <p:nvSpPr>
          <p:cNvPr id="96" name="Shape 93"/>
          <p:cNvSpPr/>
          <p:nvPr/>
        </p:nvSpPr>
        <p:spPr>
          <a:xfrm>
            <a:off x="7818120" y="4165092"/>
            <a:ext cx="2194560" cy="914"/>
          </a:xfrm>
          <a:prstGeom prst="line">
            <a:avLst/>
          </a:prstGeom>
          <a:noFill/>
          <a:ln w="5080">
            <a:solidFill>
              <a:srgbClr val="D5DCE5"/>
            </a:solidFill>
            <a:prstDash val="solid"/>
          </a:ln>
        </p:spPr>
      </p:sp>
      <p:sp>
        <p:nvSpPr>
          <p:cNvPr id="97" name="Text 94"/>
          <p:cNvSpPr txBox="1"/>
          <p:nvPr/>
        </p:nvSpPr>
        <p:spPr>
          <a:xfrm>
            <a:off x="7818120" y="3913632"/>
            <a:ext cx="2194560" cy="50292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32 × 128 — 32 명령/단계</a:t>
            </a:r>
            <a:endParaRPr lang="en-US" sz="700" dirty="0"/>
          </a:p>
        </p:txBody>
      </p:sp>
      <p:sp>
        <p:nvSpPr>
          <p:cNvPr id="98" name="Text 95"/>
          <p:cNvSpPr txBox="1"/>
          <p:nvPr/>
        </p:nvSpPr>
        <p:spPr>
          <a:xfrm>
            <a:off x="7818120" y="4453128"/>
            <a:ext cx="274320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행 = VLEN 128 (연속 축이므로 같은 원소 순서)</a:t>
            </a:r>
            <a:endParaRPr lang="en-US" sz="750" dirty="0"/>
          </a:p>
        </p:txBody>
      </p:sp>
      <p:sp>
        <p:nvSpPr>
          <p:cNvPr id="99" name="Shape 96"/>
          <p:cNvSpPr/>
          <p:nvPr/>
        </p:nvSpPr>
        <p:spPr>
          <a:xfrm>
            <a:off x="6309360" y="4800600"/>
            <a:ext cx="5422392" cy="960120"/>
          </a:xfrm>
          <a:prstGeom prst="roundRect">
            <a:avLst>
              <a:gd name="adj" fmla="val 4762"/>
            </a:avLst>
          </a:prstGeom>
          <a:solidFill>
            <a:srgbClr val="F5F7FA"/>
          </a:solidFill>
          <a:ln w="9525">
            <a:solidFill>
              <a:srgbClr val="C9D3DF"/>
            </a:solidFill>
            <a:prstDash val="solid"/>
          </a:ln>
        </p:spPr>
      </p:sp>
      <p:sp>
        <p:nvSpPr>
          <p:cNvPr id="100" name="Text 97"/>
          <p:cNvSpPr txBox="1"/>
          <p:nvPr/>
        </p:nvSpPr>
        <p:spPr>
          <a:xfrm>
            <a:off x="6419088" y="4873752"/>
            <a:ext cx="5202936" cy="813816"/>
          </a:xfrm>
          <a:prstGeom prst="rect">
            <a:avLst/>
          </a:prstGeom>
          <a:noFill/>
          <a:ln/>
        </p:spPr>
        <p:txBody>
          <a:bodyPr wrap="square" lIns="0" tIns="0" rIns="0" bIns="0" rtlCol="0" anchor="t"/>
          <a:lstStyle/>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작은 예제 scheduled TIR: npu.pointwise_vector_width = 128</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for ax0_ax1_fused_0, ax0_ax1_fused_1 in T.grid(32, 128):</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compute_global_sram[(f0*128+f1)//64, (f0*128+f1)%64] =</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T.sigmoid(T_add_intermediate_global_sram[...])</a:t>
            </a:r>
            <a:endParaRPr lang="en-US" sz="780" dirty="0"/>
          </a:p>
        </p:txBody>
      </p:sp>
      <p:sp>
        <p:nvSpPr>
          <p:cNvPr id="101" name="Shape 98"/>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02" name="Text 99"/>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Vector schedule은 "공간에 들어가는 큰 행 묶음"을 찾는 성격이 강합니다. 짧은 명령과 SRAM 임시값 비용은 남은 검토 항목입니다.</a:t>
            </a:r>
            <a:endParaRPr lang="en-US" sz="1250" dirty="0"/>
          </a:p>
        </p:txBody>
      </p:sp>
      <p:sp>
        <p:nvSpPr>
          <p:cNvPr id="103" name="Text 100"/>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04" name="Text 101"/>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docs/current/07_operators.md, reference/execution_contract.md, npu_schedule.py (generic stripe halving, _coalesce_pointwise)</a:t>
            </a:r>
            <a:endParaRPr lang="en-US" sz="850" dirty="0"/>
          </a:p>
        </p:txBody>
      </p:sp>
      <p:sp>
        <p:nvSpPr>
          <p:cNvPr id="105" name="Text 102"/>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44 / 89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7 · Vector · 정규화 · attention</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350" b="1" dirty="0">
                <a:solidFill>
                  <a:srgbClr val="15243B"/>
                </a:solidFill>
                <a:latin typeface="Malgun Gothic" pitchFamily="34" charset="0"/>
                <a:ea typeface="Malgun Gothic" pitchFamily="34" charset="-122"/>
                <a:cs typeface="Malgun Gothic" pitchFamily="34" charset="-120"/>
              </a:rPr>
              <a:t>RoPE와 GQA: host가 cos/sin을 만들고 NPU는 곱셈·부호 반전·재배치만 한다</a:t>
            </a:r>
            <a:endParaRPr lang="en-US" sz="235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Head dimension 128을 앞/뒤 절반 (a | b)로 나누고 rotate_half = [−b | a]를 만든 뒤 x·cos + rotate_half(x)·sin을 계산합니다. Q/K에만 적용하고 V에는 적용하지 않습니다.</a:t>
            </a:r>
            <a:endParaRPr lang="en-US" sz="1250" dirty="0"/>
          </a:p>
        </p:txBody>
      </p:sp>
      <p:sp>
        <p:nvSpPr>
          <p:cNvPr id="5" name="Text 3"/>
          <p:cNvSpPr txBox="1"/>
          <p:nvPr/>
        </p:nvSpPr>
        <p:spPr>
          <a:xfrm>
            <a:off x="457200" y="1371600"/>
            <a:ext cx="5577840" cy="219456"/>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RoPE: 한 token · 한 head의 128 원소 (8칸으로 축약)</a:t>
            </a:r>
            <a:endParaRPr lang="en-US" sz="1050" dirty="0"/>
          </a:p>
        </p:txBody>
      </p:sp>
      <p:sp>
        <p:nvSpPr>
          <p:cNvPr id="6" name="Shape 4"/>
          <p:cNvSpPr/>
          <p:nvPr/>
        </p:nvSpPr>
        <p:spPr>
          <a:xfrm>
            <a:off x="2194560" y="1691640"/>
            <a:ext cx="445770" cy="246888"/>
          </a:xfrm>
          <a:prstGeom prst="rect">
            <a:avLst/>
          </a:prstGeom>
          <a:solidFill>
            <a:srgbClr val="DDF3F0"/>
          </a:solidFill>
          <a:ln w="6350">
            <a:solidFill>
              <a:srgbClr val="1F8A8A"/>
            </a:solidFill>
            <a:prstDash val="solid"/>
          </a:ln>
        </p:spPr>
      </p:sp>
      <p:sp>
        <p:nvSpPr>
          <p:cNvPr id="7" name="Text 5"/>
          <p:cNvSpPr txBox="1"/>
          <p:nvPr/>
        </p:nvSpPr>
        <p:spPr>
          <a:xfrm>
            <a:off x="2194560" y="1691640"/>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a0</a:t>
            </a:r>
            <a:endParaRPr lang="en-US" sz="650" dirty="0"/>
          </a:p>
        </p:txBody>
      </p:sp>
      <p:sp>
        <p:nvSpPr>
          <p:cNvPr id="8" name="Shape 6"/>
          <p:cNvSpPr/>
          <p:nvPr/>
        </p:nvSpPr>
        <p:spPr>
          <a:xfrm>
            <a:off x="2640330" y="1691640"/>
            <a:ext cx="445770" cy="246888"/>
          </a:xfrm>
          <a:prstGeom prst="rect">
            <a:avLst/>
          </a:prstGeom>
          <a:solidFill>
            <a:srgbClr val="DDF3F0"/>
          </a:solidFill>
          <a:ln w="6350">
            <a:solidFill>
              <a:srgbClr val="1F8A8A"/>
            </a:solidFill>
            <a:prstDash val="solid"/>
          </a:ln>
        </p:spPr>
      </p:sp>
      <p:sp>
        <p:nvSpPr>
          <p:cNvPr id="9" name="Text 7"/>
          <p:cNvSpPr txBox="1"/>
          <p:nvPr/>
        </p:nvSpPr>
        <p:spPr>
          <a:xfrm>
            <a:off x="2640330" y="1691640"/>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a1</a:t>
            </a:r>
            <a:endParaRPr lang="en-US" sz="650" dirty="0"/>
          </a:p>
        </p:txBody>
      </p:sp>
      <p:sp>
        <p:nvSpPr>
          <p:cNvPr id="10" name="Shape 8"/>
          <p:cNvSpPr/>
          <p:nvPr/>
        </p:nvSpPr>
        <p:spPr>
          <a:xfrm>
            <a:off x="3086100" y="1691640"/>
            <a:ext cx="445770" cy="246888"/>
          </a:xfrm>
          <a:prstGeom prst="rect">
            <a:avLst/>
          </a:prstGeom>
          <a:solidFill>
            <a:srgbClr val="DDF3F0"/>
          </a:solidFill>
          <a:ln w="6350">
            <a:solidFill>
              <a:srgbClr val="1F8A8A"/>
            </a:solidFill>
            <a:prstDash val="solid"/>
          </a:ln>
        </p:spPr>
      </p:sp>
      <p:sp>
        <p:nvSpPr>
          <p:cNvPr id="11" name="Text 9"/>
          <p:cNvSpPr txBox="1"/>
          <p:nvPr/>
        </p:nvSpPr>
        <p:spPr>
          <a:xfrm>
            <a:off x="3086100" y="1691640"/>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a2</a:t>
            </a:r>
            <a:endParaRPr lang="en-US" sz="650" dirty="0"/>
          </a:p>
        </p:txBody>
      </p:sp>
      <p:sp>
        <p:nvSpPr>
          <p:cNvPr id="12" name="Shape 10"/>
          <p:cNvSpPr/>
          <p:nvPr/>
        </p:nvSpPr>
        <p:spPr>
          <a:xfrm>
            <a:off x="3531870" y="1691640"/>
            <a:ext cx="445770" cy="246888"/>
          </a:xfrm>
          <a:prstGeom prst="rect">
            <a:avLst/>
          </a:prstGeom>
          <a:solidFill>
            <a:srgbClr val="DDF3F0"/>
          </a:solidFill>
          <a:ln w="6350">
            <a:solidFill>
              <a:srgbClr val="1F8A8A"/>
            </a:solidFill>
            <a:prstDash val="solid"/>
          </a:ln>
        </p:spPr>
      </p:sp>
      <p:sp>
        <p:nvSpPr>
          <p:cNvPr id="13" name="Text 11"/>
          <p:cNvSpPr txBox="1"/>
          <p:nvPr/>
        </p:nvSpPr>
        <p:spPr>
          <a:xfrm>
            <a:off x="3531870" y="1691640"/>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a3</a:t>
            </a:r>
            <a:endParaRPr lang="en-US" sz="650" dirty="0"/>
          </a:p>
        </p:txBody>
      </p:sp>
      <p:sp>
        <p:nvSpPr>
          <p:cNvPr id="14" name="Shape 12"/>
          <p:cNvSpPr/>
          <p:nvPr/>
        </p:nvSpPr>
        <p:spPr>
          <a:xfrm>
            <a:off x="3977640" y="1691640"/>
            <a:ext cx="445770" cy="246888"/>
          </a:xfrm>
          <a:prstGeom prst="rect">
            <a:avLst/>
          </a:prstGeom>
          <a:solidFill>
            <a:srgbClr val="E3EEFB"/>
          </a:solidFill>
          <a:ln w="6350">
            <a:solidFill>
              <a:srgbClr val="2F6DB5"/>
            </a:solidFill>
            <a:prstDash val="solid"/>
          </a:ln>
        </p:spPr>
      </p:sp>
      <p:sp>
        <p:nvSpPr>
          <p:cNvPr id="15" name="Text 13"/>
          <p:cNvSpPr txBox="1"/>
          <p:nvPr/>
        </p:nvSpPr>
        <p:spPr>
          <a:xfrm>
            <a:off x="3977640" y="1691640"/>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b0</a:t>
            </a:r>
            <a:endParaRPr lang="en-US" sz="650" dirty="0"/>
          </a:p>
        </p:txBody>
      </p:sp>
      <p:sp>
        <p:nvSpPr>
          <p:cNvPr id="16" name="Shape 14"/>
          <p:cNvSpPr/>
          <p:nvPr/>
        </p:nvSpPr>
        <p:spPr>
          <a:xfrm>
            <a:off x="4423410" y="1691640"/>
            <a:ext cx="445770" cy="246888"/>
          </a:xfrm>
          <a:prstGeom prst="rect">
            <a:avLst/>
          </a:prstGeom>
          <a:solidFill>
            <a:srgbClr val="E3EEFB"/>
          </a:solidFill>
          <a:ln w="6350">
            <a:solidFill>
              <a:srgbClr val="2F6DB5"/>
            </a:solidFill>
            <a:prstDash val="solid"/>
          </a:ln>
        </p:spPr>
      </p:sp>
      <p:sp>
        <p:nvSpPr>
          <p:cNvPr id="17" name="Text 15"/>
          <p:cNvSpPr txBox="1"/>
          <p:nvPr/>
        </p:nvSpPr>
        <p:spPr>
          <a:xfrm>
            <a:off x="4423410" y="1691640"/>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b1</a:t>
            </a:r>
            <a:endParaRPr lang="en-US" sz="650" dirty="0"/>
          </a:p>
        </p:txBody>
      </p:sp>
      <p:sp>
        <p:nvSpPr>
          <p:cNvPr id="18" name="Shape 16"/>
          <p:cNvSpPr/>
          <p:nvPr/>
        </p:nvSpPr>
        <p:spPr>
          <a:xfrm>
            <a:off x="4869180" y="1691640"/>
            <a:ext cx="445770" cy="246888"/>
          </a:xfrm>
          <a:prstGeom prst="rect">
            <a:avLst/>
          </a:prstGeom>
          <a:solidFill>
            <a:srgbClr val="E3EEFB"/>
          </a:solidFill>
          <a:ln w="6350">
            <a:solidFill>
              <a:srgbClr val="2F6DB5"/>
            </a:solidFill>
            <a:prstDash val="solid"/>
          </a:ln>
        </p:spPr>
      </p:sp>
      <p:sp>
        <p:nvSpPr>
          <p:cNvPr id="19" name="Text 17"/>
          <p:cNvSpPr txBox="1"/>
          <p:nvPr/>
        </p:nvSpPr>
        <p:spPr>
          <a:xfrm>
            <a:off x="4869180" y="1691640"/>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b2</a:t>
            </a:r>
            <a:endParaRPr lang="en-US" sz="650" dirty="0"/>
          </a:p>
        </p:txBody>
      </p:sp>
      <p:sp>
        <p:nvSpPr>
          <p:cNvPr id="20" name="Shape 18"/>
          <p:cNvSpPr/>
          <p:nvPr/>
        </p:nvSpPr>
        <p:spPr>
          <a:xfrm>
            <a:off x="5314950" y="1691640"/>
            <a:ext cx="445770" cy="246888"/>
          </a:xfrm>
          <a:prstGeom prst="rect">
            <a:avLst/>
          </a:prstGeom>
          <a:solidFill>
            <a:srgbClr val="E3EEFB"/>
          </a:solidFill>
          <a:ln w="6350">
            <a:solidFill>
              <a:srgbClr val="2F6DB5"/>
            </a:solidFill>
            <a:prstDash val="solid"/>
          </a:ln>
        </p:spPr>
      </p:sp>
      <p:sp>
        <p:nvSpPr>
          <p:cNvPr id="21" name="Text 19"/>
          <p:cNvSpPr txBox="1"/>
          <p:nvPr/>
        </p:nvSpPr>
        <p:spPr>
          <a:xfrm>
            <a:off x="5314950" y="1691640"/>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b3</a:t>
            </a:r>
            <a:endParaRPr lang="en-US" sz="650" dirty="0"/>
          </a:p>
        </p:txBody>
      </p:sp>
      <p:sp>
        <p:nvSpPr>
          <p:cNvPr id="22" name="Text 20"/>
          <p:cNvSpPr txBox="1"/>
          <p:nvPr/>
        </p:nvSpPr>
        <p:spPr>
          <a:xfrm>
            <a:off x="448056" y="1691640"/>
            <a:ext cx="169164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x = [a | b]</a:t>
            </a:r>
            <a:endParaRPr lang="en-US" sz="800" dirty="0"/>
          </a:p>
        </p:txBody>
      </p:sp>
      <p:sp>
        <p:nvSpPr>
          <p:cNvPr id="23" name="Shape 21"/>
          <p:cNvSpPr/>
          <p:nvPr/>
        </p:nvSpPr>
        <p:spPr>
          <a:xfrm>
            <a:off x="2194560" y="2029968"/>
            <a:ext cx="445770" cy="246888"/>
          </a:xfrm>
          <a:prstGeom prst="rect">
            <a:avLst/>
          </a:prstGeom>
          <a:solidFill>
            <a:srgbClr val="E3EEFB"/>
          </a:solidFill>
          <a:ln w="6350">
            <a:solidFill>
              <a:srgbClr val="2F6DB5"/>
            </a:solidFill>
            <a:prstDash val="solid"/>
          </a:ln>
        </p:spPr>
      </p:sp>
      <p:sp>
        <p:nvSpPr>
          <p:cNvPr id="24" name="Text 22"/>
          <p:cNvSpPr txBox="1"/>
          <p:nvPr/>
        </p:nvSpPr>
        <p:spPr>
          <a:xfrm>
            <a:off x="2194560" y="2029968"/>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−b0</a:t>
            </a:r>
            <a:endParaRPr lang="en-US" sz="650" dirty="0"/>
          </a:p>
        </p:txBody>
      </p:sp>
      <p:sp>
        <p:nvSpPr>
          <p:cNvPr id="25" name="Shape 23"/>
          <p:cNvSpPr/>
          <p:nvPr/>
        </p:nvSpPr>
        <p:spPr>
          <a:xfrm>
            <a:off x="2640330" y="2029968"/>
            <a:ext cx="445770" cy="246888"/>
          </a:xfrm>
          <a:prstGeom prst="rect">
            <a:avLst/>
          </a:prstGeom>
          <a:solidFill>
            <a:srgbClr val="E3EEFB"/>
          </a:solidFill>
          <a:ln w="6350">
            <a:solidFill>
              <a:srgbClr val="2F6DB5"/>
            </a:solidFill>
            <a:prstDash val="solid"/>
          </a:ln>
        </p:spPr>
      </p:sp>
      <p:sp>
        <p:nvSpPr>
          <p:cNvPr id="26" name="Text 24"/>
          <p:cNvSpPr txBox="1"/>
          <p:nvPr/>
        </p:nvSpPr>
        <p:spPr>
          <a:xfrm>
            <a:off x="2640330" y="2029968"/>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−b1</a:t>
            </a:r>
            <a:endParaRPr lang="en-US" sz="650" dirty="0"/>
          </a:p>
        </p:txBody>
      </p:sp>
      <p:sp>
        <p:nvSpPr>
          <p:cNvPr id="27" name="Shape 25"/>
          <p:cNvSpPr/>
          <p:nvPr/>
        </p:nvSpPr>
        <p:spPr>
          <a:xfrm>
            <a:off x="3086100" y="2029968"/>
            <a:ext cx="445770" cy="246888"/>
          </a:xfrm>
          <a:prstGeom prst="rect">
            <a:avLst/>
          </a:prstGeom>
          <a:solidFill>
            <a:srgbClr val="E3EEFB"/>
          </a:solidFill>
          <a:ln w="6350">
            <a:solidFill>
              <a:srgbClr val="2F6DB5"/>
            </a:solidFill>
            <a:prstDash val="solid"/>
          </a:ln>
        </p:spPr>
      </p:sp>
      <p:sp>
        <p:nvSpPr>
          <p:cNvPr id="28" name="Text 26"/>
          <p:cNvSpPr txBox="1"/>
          <p:nvPr/>
        </p:nvSpPr>
        <p:spPr>
          <a:xfrm>
            <a:off x="3086100" y="2029968"/>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−b2</a:t>
            </a:r>
            <a:endParaRPr lang="en-US" sz="650" dirty="0"/>
          </a:p>
        </p:txBody>
      </p:sp>
      <p:sp>
        <p:nvSpPr>
          <p:cNvPr id="29" name="Shape 27"/>
          <p:cNvSpPr/>
          <p:nvPr/>
        </p:nvSpPr>
        <p:spPr>
          <a:xfrm>
            <a:off x="3531870" y="2029968"/>
            <a:ext cx="445770" cy="246888"/>
          </a:xfrm>
          <a:prstGeom prst="rect">
            <a:avLst/>
          </a:prstGeom>
          <a:solidFill>
            <a:srgbClr val="E3EEFB"/>
          </a:solidFill>
          <a:ln w="6350">
            <a:solidFill>
              <a:srgbClr val="2F6DB5"/>
            </a:solidFill>
            <a:prstDash val="solid"/>
          </a:ln>
        </p:spPr>
      </p:sp>
      <p:sp>
        <p:nvSpPr>
          <p:cNvPr id="30" name="Text 28"/>
          <p:cNvSpPr txBox="1"/>
          <p:nvPr/>
        </p:nvSpPr>
        <p:spPr>
          <a:xfrm>
            <a:off x="3531870" y="2029968"/>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−b3</a:t>
            </a:r>
            <a:endParaRPr lang="en-US" sz="650" dirty="0"/>
          </a:p>
        </p:txBody>
      </p:sp>
      <p:sp>
        <p:nvSpPr>
          <p:cNvPr id="31" name="Shape 29"/>
          <p:cNvSpPr/>
          <p:nvPr/>
        </p:nvSpPr>
        <p:spPr>
          <a:xfrm>
            <a:off x="3977640" y="2029968"/>
            <a:ext cx="445770" cy="246888"/>
          </a:xfrm>
          <a:prstGeom prst="rect">
            <a:avLst/>
          </a:prstGeom>
          <a:solidFill>
            <a:srgbClr val="DDF3F0"/>
          </a:solidFill>
          <a:ln w="6350">
            <a:solidFill>
              <a:srgbClr val="1F8A8A"/>
            </a:solidFill>
            <a:prstDash val="solid"/>
          </a:ln>
        </p:spPr>
      </p:sp>
      <p:sp>
        <p:nvSpPr>
          <p:cNvPr id="32" name="Text 30"/>
          <p:cNvSpPr txBox="1"/>
          <p:nvPr/>
        </p:nvSpPr>
        <p:spPr>
          <a:xfrm>
            <a:off x="3977640" y="2029968"/>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a0</a:t>
            </a:r>
            <a:endParaRPr lang="en-US" sz="650" dirty="0"/>
          </a:p>
        </p:txBody>
      </p:sp>
      <p:sp>
        <p:nvSpPr>
          <p:cNvPr id="33" name="Shape 31"/>
          <p:cNvSpPr/>
          <p:nvPr/>
        </p:nvSpPr>
        <p:spPr>
          <a:xfrm>
            <a:off x="4423410" y="2029968"/>
            <a:ext cx="445770" cy="246888"/>
          </a:xfrm>
          <a:prstGeom prst="rect">
            <a:avLst/>
          </a:prstGeom>
          <a:solidFill>
            <a:srgbClr val="DDF3F0"/>
          </a:solidFill>
          <a:ln w="6350">
            <a:solidFill>
              <a:srgbClr val="1F8A8A"/>
            </a:solidFill>
            <a:prstDash val="solid"/>
          </a:ln>
        </p:spPr>
      </p:sp>
      <p:sp>
        <p:nvSpPr>
          <p:cNvPr id="34" name="Text 32"/>
          <p:cNvSpPr txBox="1"/>
          <p:nvPr/>
        </p:nvSpPr>
        <p:spPr>
          <a:xfrm>
            <a:off x="4423410" y="2029968"/>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a1</a:t>
            </a:r>
            <a:endParaRPr lang="en-US" sz="650" dirty="0"/>
          </a:p>
        </p:txBody>
      </p:sp>
      <p:sp>
        <p:nvSpPr>
          <p:cNvPr id="35" name="Shape 33"/>
          <p:cNvSpPr/>
          <p:nvPr/>
        </p:nvSpPr>
        <p:spPr>
          <a:xfrm>
            <a:off x="4869180" y="2029968"/>
            <a:ext cx="445770" cy="246888"/>
          </a:xfrm>
          <a:prstGeom prst="rect">
            <a:avLst/>
          </a:prstGeom>
          <a:solidFill>
            <a:srgbClr val="DDF3F0"/>
          </a:solidFill>
          <a:ln w="6350">
            <a:solidFill>
              <a:srgbClr val="1F8A8A"/>
            </a:solidFill>
            <a:prstDash val="solid"/>
          </a:ln>
        </p:spPr>
      </p:sp>
      <p:sp>
        <p:nvSpPr>
          <p:cNvPr id="36" name="Text 34"/>
          <p:cNvSpPr txBox="1"/>
          <p:nvPr/>
        </p:nvSpPr>
        <p:spPr>
          <a:xfrm>
            <a:off x="4869180" y="2029968"/>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a2</a:t>
            </a:r>
            <a:endParaRPr lang="en-US" sz="650" dirty="0"/>
          </a:p>
        </p:txBody>
      </p:sp>
      <p:sp>
        <p:nvSpPr>
          <p:cNvPr id="37" name="Shape 35"/>
          <p:cNvSpPr/>
          <p:nvPr/>
        </p:nvSpPr>
        <p:spPr>
          <a:xfrm>
            <a:off x="5314950" y="2029968"/>
            <a:ext cx="445770" cy="246888"/>
          </a:xfrm>
          <a:prstGeom prst="rect">
            <a:avLst/>
          </a:prstGeom>
          <a:solidFill>
            <a:srgbClr val="DDF3F0"/>
          </a:solidFill>
          <a:ln w="6350">
            <a:solidFill>
              <a:srgbClr val="1F8A8A"/>
            </a:solidFill>
            <a:prstDash val="solid"/>
          </a:ln>
        </p:spPr>
      </p:sp>
      <p:sp>
        <p:nvSpPr>
          <p:cNvPr id="38" name="Text 36"/>
          <p:cNvSpPr txBox="1"/>
          <p:nvPr/>
        </p:nvSpPr>
        <p:spPr>
          <a:xfrm>
            <a:off x="5314950" y="2029968"/>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a3</a:t>
            </a:r>
            <a:endParaRPr lang="en-US" sz="650" dirty="0"/>
          </a:p>
        </p:txBody>
      </p:sp>
      <p:sp>
        <p:nvSpPr>
          <p:cNvPr id="39" name="Text 37"/>
          <p:cNvSpPr txBox="1"/>
          <p:nvPr/>
        </p:nvSpPr>
        <p:spPr>
          <a:xfrm>
            <a:off x="448056" y="2029968"/>
            <a:ext cx="169164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rotate_half = [−b | a]</a:t>
            </a:r>
            <a:endParaRPr lang="en-US" sz="800" dirty="0"/>
          </a:p>
        </p:txBody>
      </p:sp>
      <p:sp>
        <p:nvSpPr>
          <p:cNvPr id="40" name="Shape 38"/>
          <p:cNvSpPr/>
          <p:nvPr/>
        </p:nvSpPr>
        <p:spPr>
          <a:xfrm>
            <a:off x="2194560" y="2368296"/>
            <a:ext cx="445770" cy="246888"/>
          </a:xfrm>
          <a:prstGeom prst="rect">
            <a:avLst/>
          </a:prstGeom>
          <a:solidFill>
            <a:srgbClr val="EEF1F5"/>
          </a:solidFill>
          <a:ln w="6350">
            <a:solidFill>
              <a:srgbClr val="5B6B7F"/>
            </a:solidFill>
            <a:prstDash val="solid"/>
          </a:ln>
        </p:spPr>
      </p:sp>
      <p:sp>
        <p:nvSpPr>
          <p:cNvPr id="41" name="Text 39"/>
          <p:cNvSpPr txBox="1"/>
          <p:nvPr/>
        </p:nvSpPr>
        <p:spPr>
          <a:xfrm>
            <a:off x="2194560" y="2368296"/>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c0</a:t>
            </a:r>
            <a:endParaRPr lang="en-US" sz="650" dirty="0"/>
          </a:p>
        </p:txBody>
      </p:sp>
      <p:sp>
        <p:nvSpPr>
          <p:cNvPr id="42" name="Shape 40"/>
          <p:cNvSpPr/>
          <p:nvPr/>
        </p:nvSpPr>
        <p:spPr>
          <a:xfrm>
            <a:off x="2640330" y="2368296"/>
            <a:ext cx="445770" cy="246888"/>
          </a:xfrm>
          <a:prstGeom prst="rect">
            <a:avLst/>
          </a:prstGeom>
          <a:solidFill>
            <a:srgbClr val="EEF1F5"/>
          </a:solidFill>
          <a:ln w="6350">
            <a:solidFill>
              <a:srgbClr val="5B6B7F"/>
            </a:solidFill>
            <a:prstDash val="solid"/>
          </a:ln>
        </p:spPr>
      </p:sp>
      <p:sp>
        <p:nvSpPr>
          <p:cNvPr id="43" name="Text 41"/>
          <p:cNvSpPr txBox="1"/>
          <p:nvPr/>
        </p:nvSpPr>
        <p:spPr>
          <a:xfrm>
            <a:off x="2640330" y="2368296"/>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c1</a:t>
            </a:r>
            <a:endParaRPr lang="en-US" sz="650" dirty="0"/>
          </a:p>
        </p:txBody>
      </p:sp>
      <p:sp>
        <p:nvSpPr>
          <p:cNvPr id="44" name="Shape 42"/>
          <p:cNvSpPr/>
          <p:nvPr/>
        </p:nvSpPr>
        <p:spPr>
          <a:xfrm>
            <a:off x="3086100" y="2368296"/>
            <a:ext cx="445770" cy="246888"/>
          </a:xfrm>
          <a:prstGeom prst="rect">
            <a:avLst/>
          </a:prstGeom>
          <a:solidFill>
            <a:srgbClr val="EEF1F5"/>
          </a:solidFill>
          <a:ln w="6350">
            <a:solidFill>
              <a:srgbClr val="5B6B7F"/>
            </a:solidFill>
            <a:prstDash val="solid"/>
          </a:ln>
        </p:spPr>
      </p:sp>
      <p:sp>
        <p:nvSpPr>
          <p:cNvPr id="45" name="Text 43"/>
          <p:cNvSpPr txBox="1"/>
          <p:nvPr/>
        </p:nvSpPr>
        <p:spPr>
          <a:xfrm>
            <a:off x="3086100" y="2368296"/>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c2</a:t>
            </a:r>
            <a:endParaRPr lang="en-US" sz="650" dirty="0"/>
          </a:p>
        </p:txBody>
      </p:sp>
      <p:sp>
        <p:nvSpPr>
          <p:cNvPr id="46" name="Shape 44"/>
          <p:cNvSpPr/>
          <p:nvPr/>
        </p:nvSpPr>
        <p:spPr>
          <a:xfrm>
            <a:off x="3531870" y="2368296"/>
            <a:ext cx="445770" cy="246888"/>
          </a:xfrm>
          <a:prstGeom prst="rect">
            <a:avLst/>
          </a:prstGeom>
          <a:solidFill>
            <a:srgbClr val="EEF1F5"/>
          </a:solidFill>
          <a:ln w="6350">
            <a:solidFill>
              <a:srgbClr val="5B6B7F"/>
            </a:solidFill>
            <a:prstDash val="solid"/>
          </a:ln>
        </p:spPr>
      </p:sp>
      <p:sp>
        <p:nvSpPr>
          <p:cNvPr id="47" name="Text 45"/>
          <p:cNvSpPr txBox="1"/>
          <p:nvPr/>
        </p:nvSpPr>
        <p:spPr>
          <a:xfrm>
            <a:off x="3531870" y="2368296"/>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c3</a:t>
            </a:r>
            <a:endParaRPr lang="en-US" sz="650" dirty="0"/>
          </a:p>
        </p:txBody>
      </p:sp>
      <p:sp>
        <p:nvSpPr>
          <p:cNvPr id="48" name="Shape 46"/>
          <p:cNvSpPr/>
          <p:nvPr/>
        </p:nvSpPr>
        <p:spPr>
          <a:xfrm>
            <a:off x="3977640" y="2368296"/>
            <a:ext cx="445770" cy="246888"/>
          </a:xfrm>
          <a:prstGeom prst="rect">
            <a:avLst/>
          </a:prstGeom>
          <a:solidFill>
            <a:srgbClr val="EEF1F5"/>
          </a:solidFill>
          <a:ln w="6350">
            <a:solidFill>
              <a:srgbClr val="5B6B7F"/>
            </a:solidFill>
            <a:prstDash val="solid"/>
          </a:ln>
        </p:spPr>
      </p:sp>
      <p:sp>
        <p:nvSpPr>
          <p:cNvPr id="49" name="Text 47"/>
          <p:cNvSpPr txBox="1"/>
          <p:nvPr/>
        </p:nvSpPr>
        <p:spPr>
          <a:xfrm>
            <a:off x="3977640" y="2368296"/>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c4</a:t>
            </a:r>
            <a:endParaRPr lang="en-US" sz="650" dirty="0"/>
          </a:p>
        </p:txBody>
      </p:sp>
      <p:sp>
        <p:nvSpPr>
          <p:cNvPr id="50" name="Shape 48"/>
          <p:cNvSpPr/>
          <p:nvPr/>
        </p:nvSpPr>
        <p:spPr>
          <a:xfrm>
            <a:off x="4423410" y="2368296"/>
            <a:ext cx="445770" cy="246888"/>
          </a:xfrm>
          <a:prstGeom prst="rect">
            <a:avLst/>
          </a:prstGeom>
          <a:solidFill>
            <a:srgbClr val="EEF1F5"/>
          </a:solidFill>
          <a:ln w="6350">
            <a:solidFill>
              <a:srgbClr val="5B6B7F"/>
            </a:solidFill>
            <a:prstDash val="solid"/>
          </a:ln>
        </p:spPr>
      </p:sp>
      <p:sp>
        <p:nvSpPr>
          <p:cNvPr id="51" name="Text 49"/>
          <p:cNvSpPr txBox="1"/>
          <p:nvPr/>
        </p:nvSpPr>
        <p:spPr>
          <a:xfrm>
            <a:off x="4423410" y="2368296"/>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c5</a:t>
            </a:r>
            <a:endParaRPr lang="en-US" sz="650" dirty="0"/>
          </a:p>
        </p:txBody>
      </p:sp>
      <p:sp>
        <p:nvSpPr>
          <p:cNvPr id="52" name="Shape 50"/>
          <p:cNvSpPr/>
          <p:nvPr/>
        </p:nvSpPr>
        <p:spPr>
          <a:xfrm>
            <a:off x="4869180" y="2368296"/>
            <a:ext cx="445770" cy="246888"/>
          </a:xfrm>
          <a:prstGeom prst="rect">
            <a:avLst/>
          </a:prstGeom>
          <a:solidFill>
            <a:srgbClr val="EEF1F5"/>
          </a:solidFill>
          <a:ln w="6350">
            <a:solidFill>
              <a:srgbClr val="5B6B7F"/>
            </a:solidFill>
            <a:prstDash val="solid"/>
          </a:ln>
        </p:spPr>
      </p:sp>
      <p:sp>
        <p:nvSpPr>
          <p:cNvPr id="53" name="Text 51"/>
          <p:cNvSpPr txBox="1"/>
          <p:nvPr/>
        </p:nvSpPr>
        <p:spPr>
          <a:xfrm>
            <a:off x="4869180" y="2368296"/>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c6</a:t>
            </a:r>
            <a:endParaRPr lang="en-US" sz="650" dirty="0"/>
          </a:p>
        </p:txBody>
      </p:sp>
      <p:sp>
        <p:nvSpPr>
          <p:cNvPr id="54" name="Shape 52"/>
          <p:cNvSpPr/>
          <p:nvPr/>
        </p:nvSpPr>
        <p:spPr>
          <a:xfrm>
            <a:off x="5314950" y="2368296"/>
            <a:ext cx="445770" cy="246888"/>
          </a:xfrm>
          <a:prstGeom prst="rect">
            <a:avLst/>
          </a:prstGeom>
          <a:solidFill>
            <a:srgbClr val="EEF1F5"/>
          </a:solidFill>
          <a:ln w="6350">
            <a:solidFill>
              <a:srgbClr val="5B6B7F"/>
            </a:solidFill>
            <a:prstDash val="solid"/>
          </a:ln>
        </p:spPr>
      </p:sp>
      <p:sp>
        <p:nvSpPr>
          <p:cNvPr id="55" name="Text 53"/>
          <p:cNvSpPr txBox="1"/>
          <p:nvPr/>
        </p:nvSpPr>
        <p:spPr>
          <a:xfrm>
            <a:off x="5314950" y="2368296"/>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c7</a:t>
            </a:r>
            <a:endParaRPr lang="en-US" sz="650" dirty="0"/>
          </a:p>
        </p:txBody>
      </p:sp>
      <p:sp>
        <p:nvSpPr>
          <p:cNvPr id="56" name="Text 54"/>
          <p:cNvSpPr txBox="1"/>
          <p:nvPr/>
        </p:nvSpPr>
        <p:spPr>
          <a:xfrm>
            <a:off x="448056" y="2368296"/>
            <a:ext cx="169164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cos[pos] (host, FP16)</a:t>
            </a:r>
            <a:endParaRPr lang="en-US" sz="800" dirty="0"/>
          </a:p>
        </p:txBody>
      </p:sp>
      <p:sp>
        <p:nvSpPr>
          <p:cNvPr id="57" name="Shape 55"/>
          <p:cNvSpPr/>
          <p:nvPr/>
        </p:nvSpPr>
        <p:spPr>
          <a:xfrm>
            <a:off x="2194560" y="2706624"/>
            <a:ext cx="445770" cy="246888"/>
          </a:xfrm>
          <a:prstGeom prst="rect">
            <a:avLst/>
          </a:prstGeom>
          <a:solidFill>
            <a:srgbClr val="EEF1F5"/>
          </a:solidFill>
          <a:ln w="6350">
            <a:solidFill>
              <a:srgbClr val="5B6B7F"/>
            </a:solidFill>
            <a:prstDash val="solid"/>
          </a:ln>
        </p:spPr>
      </p:sp>
      <p:sp>
        <p:nvSpPr>
          <p:cNvPr id="58" name="Text 56"/>
          <p:cNvSpPr txBox="1"/>
          <p:nvPr/>
        </p:nvSpPr>
        <p:spPr>
          <a:xfrm>
            <a:off x="2194560" y="2706624"/>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s0</a:t>
            </a:r>
            <a:endParaRPr lang="en-US" sz="650" dirty="0"/>
          </a:p>
        </p:txBody>
      </p:sp>
      <p:sp>
        <p:nvSpPr>
          <p:cNvPr id="59" name="Shape 57"/>
          <p:cNvSpPr/>
          <p:nvPr/>
        </p:nvSpPr>
        <p:spPr>
          <a:xfrm>
            <a:off x="2640330" y="2706624"/>
            <a:ext cx="445770" cy="246888"/>
          </a:xfrm>
          <a:prstGeom prst="rect">
            <a:avLst/>
          </a:prstGeom>
          <a:solidFill>
            <a:srgbClr val="EEF1F5"/>
          </a:solidFill>
          <a:ln w="6350">
            <a:solidFill>
              <a:srgbClr val="5B6B7F"/>
            </a:solidFill>
            <a:prstDash val="solid"/>
          </a:ln>
        </p:spPr>
      </p:sp>
      <p:sp>
        <p:nvSpPr>
          <p:cNvPr id="60" name="Text 58"/>
          <p:cNvSpPr txBox="1"/>
          <p:nvPr/>
        </p:nvSpPr>
        <p:spPr>
          <a:xfrm>
            <a:off x="2640330" y="2706624"/>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s1</a:t>
            </a:r>
            <a:endParaRPr lang="en-US" sz="650" dirty="0"/>
          </a:p>
        </p:txBody>
      </p:sp>
      <p:sp>
        <p:nvSpPr>
          <p:cNvPr id="61" name="Shape 59"/>
          <p:cNvSpPr/>
          <p:nvPr/>
        </p:nvSpPr>
        <p:spPr>
          <a:xfrm>
            <a:off x="3086100" y="2706624"/>
            <a:ext cx="445770" cy="246888"/>
          </a:xfrm>
          <a:prstGeom prst="rect">
            <a:avLst/>
          </a:prstGeom>
          <a:solidFill>
            <a:srgbClr val="EEF1F5"/>
          </a:solidFill>
          <a:ln w="6350">
            <a:solidFill>
              <a:srgbClr val="5B6B7F"/>
            </a:solidFill>
            <a:prstDash val="solid"/>
          </a:ln>
        </p:spPr>
      </p:sp>
      <p:sp>
        <p:nvSpPr>
          <p:cNvPr id="62" name="Text 60"/>
          <p:cNvSpPr txBox="1"/>
          <p:nvPr/>
        </p:nvSpPr>
        <p:spPr>
          <a:xfrm>
            <a:off x="3086100" y="2706624"/>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s2</a:t>
            </a:r>
            <a:endParaRPr lang="en-US" sz="650" dirty="0"/>
          </a:p>
        </p:txBody>
      </p:sp>
      <p:sp>
        <p:nvSpPr>
          <p:cNvPr id="63" name="Shape 61"/>
          <p:cNvSpPr/>
          <p:nvPr/>
        </p:nvSpPr>
        <p:spPr>
          <a:xfrm>
            <a:off x="3531870" y="2706624"/>
            <a:ext cx="445770" cy="246888"/>
          </a:xfrm>
          <a:prstGeom prst="rect">
            <a:avLst/>
          </a:prstGeom>
          <a:solidFill>
            <a:srgbClr val="EEF1F5"/>
          </a:solidFill>
          <a:ln w="6350">
            <a:solidFill>
              <a:srgbClr val="5B6B7F"/>
            </a:solidFill>
            <a:prstDash val="solid"/>
          </a:ln>
        </p:spPr>
      </p:sp>
      <p:sp>
        <p:nvSpPr>
          <p:cNvPr id="64" name="Text 62"/>
          <p:cNvSpPr txBox="1"/>
          <p:nvPr/>
        </p:nvSpPr>
        <p:spPr>
          <a:xfrm>
            <a:off x="3531870" y="2706624"/>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s3</a:t>
            </a:r>
            <a:endParaRPr lang="en-US" sz="650" dirty="0"/>
          </a:p>
        </p:txBody>
      </p:sp>
      <p:sp>
        <p:nvSpPr>
          <p:cNvPr id="65" name="Shape 63"/>
          <p:cNvSpPr/>
          <p:nvPr/>
        </p:nvSpPr>
        <p:spPr>
          <a:xfrm>
            <a:off x="3977640" y="2706624"/>
            <a:ext cx="445770" cy="246888"/>
          </a:xfrm>
          <a:prstGeom prst="rect">
            <a:avLst/>
          </a:prstGeom>
          <a:solidFill>
            <a:srgbClr val="EEF1F5"/>
          </a:solidFill>
          <a:ln w="6350">
            <a:solidFill>
              <a:srgbClr val="5B6B7F"/>
            </a:solidFill>
            <a:prstDash val="solid"/>
          </a:ln>
        </p:spPr>
      </p:sp>
      <p:sp>
        <p:nvSpPr>
          <p:cNvPr id="66" name="Text 64"/>
          <p:cNvSpPr txBox="1"/>
          <p:nvPr/>
        </p:nvSpPr>
        <p:spPr>
          <a:xfrm>
            <a:off x="3977640" y="2706624"/>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s4</a:t>
            </a:r>
            <a:endParaRPr lang="en-US" sz="650" dirty="0"/>
          </a:p>
        </p:txBody>
      </p:sp>
      <p:sp>
        <p:nvSpPr>
          <p:cNvPr id="67" name="Shape 65"/>
          <p:cNvSpPr/>
          <p:nvPr/>
        </p:nvSpPr>
        <p:spPr>
          <a:xfrm>
            <a:off x="4423410" y="2706624"/>
            <a:ext cx="445770" cy="246888"/>
          </a:xfrm>
          <a:prstGeom prst="rect">
            <a:avLst/>
          </a:prstGeom>
          <a:solidFill>
            <a:srgbClr val="EEF1F5"/>
          </a:solidFill>
          <a:ln w="6350">
            <a:solidFill>
              <a:srgbClr val="5B6B7F"/>
            </a:solidFill>
            <a:prstDash val="solid"/>
          </a:ln>
        </p:spPr>
      </p:sp>
      <p:sp>
        <p:nvSpPr>
          <p:cNvPr id="68" name="Text 66"/>
          <p:cNvSpPr txBox="1"/>
          <p:nvPr/>
        </p:nvSpPr>
        <p:spPr>
          <a:xfrm>
            <a:off x="4423410" y="2706624"/>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s5</a:t>
            </a:r>
            <a:endParaRPr lang="en-US" sz="650" dirty="0"/>
          </a:p>
        </p:txBody>
      </p:sp>
      <p:sp>
        <p:nvSpPr>
          <p:cNvPr id="69" name="Shape 67"/>
          <p:cNvSpPr/>
          <p:nvPr/>
        </p:nvSpPr>
        <p:spPr>
          <a:xfrm>
            <a:off x="4869180" y="2706624"/>
            <a:ext cx="445770" cy="246888"/>
          </a:xfrm>
          <a:prstGeom prst="rect">
            <a:avLst/>
          </a:prstGeom>
          <a:solidFill>
            <a:srgbClr val="EEF1F5"/>
          </a:solidFill>
          <a:ln w="6350">
            <a:solidFill>
              <a:srgbClr val="5B6B7F"/>
            </a:solidFill>
            <a:prstDash val="solid"/>
          </a:ln>
        </p:spPr>
      </p:sp>
      <p:sp>
        <p:nvSpPr>
          <p:cNvPr id="70" name="Text 68"/>
          <p:cNvSpPr txBox="1"/>
          <p:nvPr/>
        </p:nvSpPr>
        <p:spPr>
          <a:xfrm>
            <a:off x="4869180" y="2706624"/>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s6</a:t>
            </a:r>
            <a:endParaRPr lang="en-US" sz="650" dirty="0"/>
          </a:p>
        </p:txBody>
      </p:sp>
      <p:sp>
        <p:nvSpPr>
          <p:cNvPr id="71" name="Shape 69"/>
          <p:cNvSpPr/>
          <p:nvPr/>
        </p:nvSpPr>
        <p:spPr>
          <a:xfrm>
            <a:off x="5314950" y="2706624"/>
            <a:ext cx="445770" cy="246888"/>
          </a:xfrm>
          <a:prstGeom prst="rect">
            <a:avLst/>
          </a:prstGeom>
          <a:solidFill>
            <a:srgbClr val="EEF1F5"/>
          </a:solidFill>
          <a:ln w="6350">
            <a:solidFill>
              <a:srgbClr val="5B6B7F"/>
            </a:solidFill>
            <a:prstDash val="solid"/>
          </a:ln>
        </p:spPr>
      </p:sp>
      <p:sp>
        <p:nvSpPr>
          <p:cNvPr id="72" name="Text 70"/>
          <p:cNvSpPr txBox="1"/>
          <p:nvPr/>
        </p:nvSpPr>
        <p:spPr>
          <a:xfrm>
            <a:off x="5314950" y="2706624"/>
            <a:ext cx="44577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s7</a:t>
            </a:r>
            <a:endParaRPr lang="en-US" sz="650" dirty="0"/>
          </a:p>
        </p:txBody>
      </p:sp>
      <p:sp>
        <p:nvSpPr>
          <p:cNvPr id="73" name="Text 71"/>
          <p:cNvSpPr txBox="1"/>
          <p:nvPr/>
        </p:nvSpPr>
        <p:spPr>
          <a:xfrm>
            <a:off x="448056" y="2706624"/>
            <a:ext cx="169164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sin[pos] (host, FP16)</a:t>
            </a:r>
            <a:endParaRPr lang="en-US" sz="800" dirty="0"/>
          </a:p>
        </p:txBody>
      </p:sp>
      <p:sp>
        <p:nvSpPr>
          <p:cNvPr id="74" name="Shape 72"/>
          <p:cNvSpPr/>
          <p:nvPr/>
        </p:nvSpPr>
        <p:spPr>
          <a:xfrm>
            <a:off x="2194560" y="3044952"/>
            <a:ext cx="445770" cy="246888"/>
          </a:xfrm>
          <a:prstGeom prst="rect">
            <a:avLst/>
          </a:prstGeom>
          <a:solidFill>
            <a:srgbClr val="ECE6FA"/>
          </a:solidFill>
          <a:ln w="6350">
            <a:solidFill>
              <a:srgbClr val="6C4FBF"/>
            </a:solidFill>
            <a:prstDash val="solid"/>
          </a:ln>
        </p:spPr>
      </p:sp>
      <p:sp>
        <p:nvSpPr>
          <p:cNvPr id="75" name="Text 73"/>
          <p:cNvSpPr txBox="1"/>
          <p:nvPr/>
        </p:nvSpPr>
        <p:spPr>
          <a:xfrm>
            <a:off x="2194560" y="3044952"/>
            <a:ext cx="445770" cy="246888"/>
          </a:xfrm>
          <a:prstGeom prst="rect">
            <a:avLst/>
          </a:prstGeom>
          <a:noFill/>
          <a:ln/>
        </p:spPr>
        <p:txBody>
          <a:bodyPr wrap="square" lIns="0" tIns="0" rIns="0" bIns="0" rtlCol="0" anchor="ctr"/>
          <a:lstStyle/>
          <a:p>
            <a:pPr algn="ctr" indent="0" marL="0">
              <a:buNone/>
            </a:pPr>
            <a:r>
              <a:rPr lang="en-US" sz="550" dirty="0">
                <a:solidFill>
                  <a:srgbClr val="1F2D3D"/>
                </a:solidFill>
                <a:latin typeface="Malgun Gothic" pitchFamily="34" charset="0"/>
                <a:ea typeface="Malgun Gothic" pitchFamily="34" charset="-122"/>
                <a:cs typeface="Malgun Gothic" pitchFamily="34" charset="-120"/>
              </a:rPr>
              <a:t>a·c−b·s</a:t>
            </a:r>
            <a:endParaRPr lang="en-US" sz="550" dirty="0"/>
          </a:p>
        </p:txBody>
      </p:sp>
      <p:sp>
        <p:nvSpPr>
          <p:cNvPr id="76" name="Shape 74"/>
          <p:cNvSpPr/>
          <p:nvPr/>
        </p:nvSpPr>
        <p:spPr>
          <a:xfrm>
            <a:off x="2640330" y="3044952"/>
            <a:ext cx="445770" cy="246888"/>
          </a:xfrm>
          <a:prstGeom prst="rect">
            <a:avLst/>
          </a:prstGeom>
          <a:solidFill>
            <a:srgbClr val="ECE6FA"/>
          </a:solidFill>
          <a:ln w="6350">
            <a:solidFill>
              <a:srgbClr val="6C4FBF"/>
            </a:solidFill>
            <a:prstDash val="solid"/>
          </a:ln>
        </p:spPr>
      </p:sp>
      <p:sp>
        <p:nvSpPr>
          <p:cNvPr id="77" name="Text 75"/>
          <p:cNvSpPr txBox="1"/>
          <p:nvPr/>
        </p:nvSpPr>
        <p:spPr>
          <a:xfrm>
            <a:off x="2640330" y="3044952"/>
            <a:ext cx="445770" cy="246888"/>
          </a:xfrm>
          <a:prstGeom prst="rect">
            <a:avLst/>
          </a:prstGeom>
          <a:noFill/>
          <a:ln/>
        </p:spPr>
        <p:txBody>
          <a:bodyPr wrap="square" lIns="0" tIns="0" rIns="0" bIns="0" rtlCol="0" anchor="ctr"/>
          <a:lstStyle/>
          <a:p>
            <a:pPr algn="ctr" indent="0" marL="0">
              <a:buNone/>
            </a:pPr>
            <a:r>
              <a:rPr lang="en-US" sz="550" dirty="0">
                <a:solidFill>
                  <a:srgbClr val="1F2D3D"/>
                </a:solidFill>
                <a:latin typeface="Malgun Gothic" pitchFamily="34" charset="0"/>
                <a:ea typeface="Malgun Gothic" pitchFamily="34" charset="-122"/>
                <a:cs typeface="Malgun Gothic" pitchFamily="34" charset="-120"/>
              </a:rPr>
              <a:t>a·c−b·s</a:t>
            </a:r>
            <a:endParaRPr lang="en-US" sz="550" dirty="0"/>
          </a:p>
        </p:txBody>
      </p:sp>
      <p:sp>
        <p:nvSpPr>
          <p:cNvPr id="78" name="Shape 76"/>
          <p:cNvSpPr/>
          <p:nvPr/>
        </p:nvSpPr>
        <p:spPr>
          <a:xfrm>
            <a:off x="3086100" y="3044952"/>
            <a:ext cx="445770" cy="246888"/>
          </a:xfrm>
          <a:prstGeom prst="rect">
            <a:avLst/>
          </a:prstGeom>
          <a:solidFill>
            <a:srgbClr val="ECE6FA"/>
          </a:solidFill>
          <a:ln w="6350">
            <a:solidFill>
              <a:srgbClr val="6C4FBF"/>
            </a:solidFill>
            <a:prstDash val="solid"/>
          </a:ln>
        </p:spPr>
      </p:sp>
      <p:sp>
        <p:nvSpPr>
          <p:cNvPr id="79" name="Text 77"/>
          <p:cNvSpPr txBox="1"/>
          <p:nvPr/>
        </p:nvSpPr>
        <p:spPr>
          <a:xfrm>
            <a:off x="3086100" y="3044952"/>
            <a:ext cx="445770" cy="246888"/>
          </a:xfrm>
          <a:prstGeom prst="rect">
            <a:avLst/>
          </a:prstGeom>
          <a:noFill/>
          <a:ln/>
        </p:spPr>
        <p:txBody>
          <a:bodyPr wrap="square" lIns="0" tIns="0" rIns="0" bIns="0" rtlCol="0" anchor="ctr"/>
          <a:lstStyle/>
          <a:p>
            <a:pPr algn="ctr" indent="0" marL="0">
              <a:buNone/>
            </a:pPr>
            <a:r>
              <a:rPr lang="en-US" sz="550" dirty="0">
                <a:solidFill>
                  <a:srgbClr val="1F2D3D"/>
                </a:solidFill>
                <a:latin typeface="Malgun Gothic" pitchFamily="34" charset="0"/>
                <a:ea typeface="Malgun Gothic" pitchFamily="34" charset="-122"/>
                <a:cs typeface="Malgun Gothic" pitchFamily="34" charset="-120"/>
              </a:rPr>
              <a:t>a·c−b·s</a:t>
            </a:r>
            <a:endParaRPr lang="en-US" sz="550" dirty="0"/>
          </a:p>
        </p:txBody>
      </p:sp>
      <p:sp>
        <p:nvSpPr>
          <p:cNvPr id="80" name="Shape 78"/>
          <p:cNvSpPr/>
          <p:nvPr/>
        </p:nvSpPr>
        <p:spPr>
          <a:xfrm>
            <a:off x="3531870" y="3044952"/>
            <a:ext cx="445770" cy="246888"/>
          </a:xfrm>
          <a:prstGeom prst="rect">
            <a:avLst/>
          </a:prstGeom>
          <a:solidFill>
            <a:srgbClr val="ECE6FA"/>
          </a:solidFill>
          <a:ln w="6350">
            <a:solidFill>
              <a:srgbClr val="6C4FBF"/>
            </a:solidFill>
            <a:prstDash val="solid"/>
          </a:ln>
        </p:spPr>
      </p:sp>
      <p:sp>
        <p:nvSpPr>
          <p:cNvPr id="81" name="Text 79"/>
          <p:cNvSpPr txBox="1"/>
          <p:nvPr/>
        </p:nvSpPr>
        <p:spPr>
          <a:xfrm>
            <a:off x="3531870" y="3044952"/>
            <a:ext cx="445770" cy="246888"/>
          </a:xfrm>
          <a:prstGeom prst="rect">
            <a:avLst/>
          </a:prstGeom>
          <a:noFill/>
          <a:ln/>
        </p:spPr>
        <p:txBody>
          <a:bodyPr wrap="square" lIns="0" tIns="0" rIns="0" bIns="0" rtlCol="0" anchor="ctr"/>
          <a:lstStyle/>
          <a:p>
            <a:pPr algn="ctr" indent="0" marL="0">
              <a:buNone/>
            </a:pPr>
            <a:r>
              <a:rPr lang="en-US" sz="550" dirty="0">
                <a:solidFill>
                  <a:srgbClr val="1F2D3D"/>
                </a:solidFill>
                <a:latin typeface="Malgun Gothic" pitchFamily="34" charset="0"/>
                <a:ea typeface="Malgun Gothic" pitchFamily="34" charset="-122"/>
                <a:cs typeface="Malgun Gothic" pitchFamily="34" charset="-120"/>
              </a:rPr>
              <a:t>a·c−b·s</a:t>
            </a:r>
            <a:endParaRPr lang="en-US" sz="550" dirty="0"/>
          </a:p>
        </p:txBody>
      </p:sp>
      <p:sp>
        <p:nvSpPr>
          <p:cNvPr id="82" name="Shape 80"/>
          <p:cNvSpPr/>
          <p:nvPr/>
        </p:nvSpPr>
        <p:spPr>
          <a:xfrm>
            <a:off x="3977640" y="3044952"/>
            <a:ext cx="445770" cy="246888"/>
          </a:xfrm>
          <a:prstGeom prst="rect">
            <a:avLst/>
          </a:prstGeom>
          <a:solidFill>
            <a:srgbClr val="ECE6FA"/>
          </a:solidFill>
          <a:ln w="6350">
            <a:solidFill>
              <a:srgbClr val="6C4FBF"/>
            </a:solidFill>
            <a:prstDash val="solid"/>
          </a:ln>
        </p:spPr>
      </p:sp>
      <p:sp>
        <p:nvSpPr>
          <p:cNvPr id="83" name="Text 81"/>
          <p:cNvSpPr txBox="1"/>
          <p:nvPr/>
        </p:nvSpPr>
        <p:spPr>
          <a:xfrm>
            <a:off x="3977640" y="3044952"/>
            <a:ext cx="445770" cy="246888"/>
          </a:xfrm>
          <a:prstGeom prst="rect">
            <a:avLst/>
          </a:prstGeom>
          <a:noFill/>
          <a:ln/>
        </p:spPr>
        <p:txBody>
          <a:bodyPr wrap="square" lIns="0" tIns="0" rIns="0" bIns="0" rtlCol="0" anchor="ctr"/>
          <a:lstStyle/>
          <a:p>
            <a:pPr algn="ctr" indent="0" marL="0">
              <a:buNone/>
            </a:pPr>
            <a:r>
              <a:rPr lang="en-US" sz="550" dirty="0">
                <a:solidFill>
                  <a:srgbClr val="1F2D3D"/>
                </a:solidFill>
                <a:latin typeface="Malgun Gothic" pitchFamily="34" charset="0"/>
                <a:ea typeface="Malgun Gothic" pitchFamily="34" charset="-122"/>
                <a:cs typeface="Malgun Gothic" pitchFamily="34" charset="-120"/>
              </a:rPr>
              <a:t>b·c+a·s</a:t>
            </a:r>
            <a:endParaRPr lang="en-US" sz="550" dirty="0"/>
          </a:p>
        </p:txBody>
      </p:sp>
      <p:sp>
        <p:nvSpPr>
          <p:cNvPr id="84" name="Shape 82"/>
          <p:cNvSpPr/>
          <p:nvPr/>
        </p:nvSpPr>
        <p:spPr>
          <a:xfrm>
            <a:off x="4423410" y="3044952"/>
            <a:ext cx="445770" cy="246888"/>
          </a:xfrm>
          <a:prstGeom prst="rect">
            <a:avLst/>
          </a:prstGeom>
          <a:solidFill>
            <a:srgbClr val="ECE6FA"/>
          </a:solidFill>
          <a:ln w="6350">
            <a:solidFill>
              <a:srgbClr val="6C4FBF"/>
            </a:solidFill>
            <a:prstDash val="solid"/>
          </a:ln>
        </p:spPr>
      </p:sp>
      <p:sp>
        <p:nvSpPr>
          <p:cNvPr id="85" name="Text 83"/>
          <p:cNvSpPr txBox="1"/>
          <p:nvPr/>
        </p:nvSpPr>
        <p:spPr>
          <a:xfrm>
            <a:off x="4423410" y="3044952"/>
            <a:ext cx="445770" cy="246888"/>
          </a:xfrm>
          <a:prstGeom prst="rect">
            <a:avLst/>
          </a:prstGeom>
          <a:noFill/>
          <a:ln/>
        </p:spPr>
        <p:txBody>
          <a:bodyPr wrap="square" lIns="0" tIns="0" rIns="0" bIns="0" rtlCol="0" anchor="ctr"/>
          <a:lstStyle/>
          <a:p>
            <a:pPr algn="ctr" indent="0" marL="0">
              <a:buNone/>
            </a:pPr>
            <a:r>
              <a:rPr lang="en-US" sz="550" dirty="0">
                <a:solidFill>
                  <a:srgbClr val="1F2D3D"/>
                </a:solidFill>
                <a:latin typeface="Malgun Gothic" pitchFamily="34" charset="0"/>
                <a:ea typeface="Malgun Gothic" pitchFamily="34" charset="-122"/>
                <a:cs typeface="Malgun Gothic" pitchFamily="34" charset="-120"/>
              </a:rPr>
              <a:t>b·c+a·s</a:t>
            </a:r>
            <a:endParaRPr lang="en-US" sz="550" dirty="0"/>
          </a:p>
        </p:txBody>
      </p:sp>
      <p:sp>
        <p:nvSpPr>
          <p:cNvPr id="86" name="Shape 84"/>
          <p:cNvSpPr/>
          <p:nvPr/>
        </p:nvSpPr>
        <p:spPr>
          <a:xfrm>
            <a:off x="4869180" y="3044952"/>
            <a:ext cx="445770" cy="246888"/>
          </a:xfrm>
          <a:prstGeom prst="rect">
            <a:avLst/>
          </a:prstGeom>
          <a:solidFill>
            <a:srgbClr val="ECE6FA"/>
          </a:solidFill>
          <a:ln w="6350">
            <a:solidFill>
              <a:srgbClr val="6C4FBF"/>
            </a:solidFill>
            <a:prstDash val="solid"/>
          </a:ln>
        </p:spPr>
      </p:sp>
      <p:sp>
        <p:nvSpPr>
          <p:cNvPr id="87" name="Text 85"/>
          <p:cNvSpPr txBox="1"/>
          <p:nvPr/>
        </p:nvSpPr>
        <p:spPr>
          <a:xfrm>
            <a:off x="4869180" y="3044952"/>
            <a:ext cx="445770" cy="246888"/>
          </a:xfrm>
          <a:prstGeom prst="rect">
            <a:avLst/>
          </a:prstGeom>
          <a:noFill/>
          <a:ln/>
        </p:spPr>
        <p:txBody>
          <a:bodyPr wrap="square" lIns="0" tIns="0" rIns="0" bIns="0" rtlCol="0" anchor="ctr"/>
          <a:lstStyle/>
          <a:p>
            <a:pPr algn="ctr" indent="0" marL="0">
              <a:buNone/>
            </a:pPr>
            <a:r>
              <a:rPr lang="en-US" sz="550" dirty="0">
                <a:solidFill>
                  <a:srgbClr val="1F2D3D"/>
                </a:solidFill>
                <a:latin typeface="Malgun Gothic" pitchFamily="34" charset="0"/>
                <a:ea typeface="Malgun Gothic" pitchFamily="34" charset="-122"/>
                <a:cs typeface="Malgun Gothic" pitchFamily="34" charset="-120"/>
              </a:rPr>
              <a:t>b·c+a·s</a:t>
            </a:r>
            <a:endParaRPr lang="en-US" sz="550" dirty="0"/>
          </a:p>
        </p:txBody>
      </p:sp>
      <p:sp>
        <p:nvSpPr>
          <p:cNvPr id="88" name="Shape 86"/>
          <p:cNvSpPr/>
          <p:nvPr/>
        </p:nvSpPr>
        <p:spPr>
          <a:xfrm>
            <a:off x="5314950" y="3044952"/>
            <a:ext cx="445770" cy="246888"/>
          </a:xfrm>
          <a:prstGeom prst="rect">
            <a:avLst/>
          </a:prstGeom>
          <a:solidFill>
            <a:srgbClr val="ECE6FA"/>
          </a:solidFill>
          <a:ln w="6350">
            <a:solidFill>
              <a:srgbClr val="6C4FBF"/>
            </a:solidFill>
            <a:prstDash val="solid"/>
          </a:ln>
        </p:spPr>
      </p:sp>
      <p:sp>
        <p:nvSpPr>
          <p:cNvPr id="89" name="Text 87"/>
          <p:cNvSpPr txBox="1"/>
          <p:nvPr/>
        </p:nvSpPr>
        <p:spPr>
          <a:xfrm>
            <a:off x="5314950" y="3044952"/>
            <a:ext cx="445770" cy="246888"/>
          </a:xfrm>
          <a:prstGeom prst="rect">
            <a:avLst/>
          </a:prstGeom>
          <a:noFill/>
          <a:ln/>
        </p:spPr>
        <p:txBody>
          <a:bodyPr wrap="square" lIns="0" tIns="0" rIns="0" bIns="0" rtlCol="0" anchor="ctr"/>
          <a:lstStyle/>
          <a:p>
            <a:pPr algn="ctr" indent="0" marL="0">
              <a:buNone/>
            </a:pPr>
            <a:r>
              <a:rPr lang="en-US" sz="550" dirty="0">
                <a:solidFill>
                  <a:srgbClr val="1F2D3D"/>
                </a:solidFill>
                <a:latin typeface="Malgun Gothic" pitchFamily="34" charset="0"/>
                <a:ea typeface="Malgun Gothic" pitchFamily="34" charset="-122"/>
                <a:cs typeface="Malgun Gothic" pitchFamily="34" charset="-120"/>
              </a:rPr>
              <a:t>b·c+a·s</a:t>
            </a:r>
            <a:endParaRPr lang="en-US" sz="550" dirty="0"/>
          </a:p>
        </p:txBody>
      </p:sp>
      <p:sp>
        <p:nvSpPr>
          <p:cNvPr id="90" name="Text 88"/>
          <p:cNvSpPr txBox="1"/>
          <p:nvPr/>
        </p:nvSpPr>
        <p:spPr>
          <a:xfrm>
            <a:off x="448056" y="3044952"/>
            <a:ext cx="169164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x·cos + rot·sin</a:t>
            </a:r>
            <a:endParaRPr lang="en-US" sz="800" dirty="0"/>
          </a:p>
        </p:txBody>
      </p:sp>
      <p:sp>
        <p:nvSpPr>
          <p:cNvPr id="91" name="Text 89"/>
          <p:cNvSpPr txBox="1"/>
          <p:nvPr/>
        </p:nvSpPr>
        <p:spPr>
          <a:xfrm>
            <a:off x="457200" y="3429000"/>
            <a:ext cx="5577840" cy="365760"/>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IR: split(64) → negative → concat → multiply(cos), multiply(sin) → add.  new_a = a·cos − b·sin, new_b = b·cos + a·sin (짝 (aᵢ,bᵢ)의 2D 회전). V에는 적용하지 않음.</a:t>
            </a:r>
            <a:endParaRPr lang="en-US" sz="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3931920"/>
          <a:ext cx="5577840" cy="914400"/>
        </p:xfrm>
        <a:graphic>
          <a:graphicData uri="http://schemas.openxmlformats.org/drawingml/2006/table">
            <a:tbl>
              <a:tblPr/>
              <a:tblGrid>
                <a:gridCol w="2011680"/>
                <a:gridCol w="3566160"/>
              </a:tblGrid>
              <a:tr h="329184">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host 준비 (nn_models/llama.py)</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내용</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29184">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rope_freqs(cfg)</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θ^(−2i/128), θ=500000; linear: ÷factor</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llama3_scale_freqs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wavelength &gt; 8192/1 → f/32; &lt; 8192/4 → f; 사이는 보간</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rope_inputs(cfg, positions)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float64 각도 → FP16 cos/sin [S,1,128] (heads로 broadcast)</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validate_rope_scaling</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default / linear / llama3만 허용, 알 수 없는 키·factor&lt;1 거절</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93" name="Text 90"/>
          <p:cNvSpPr txBox="1"/>
          <p:nvPr/>
        </p:nvSpPr>
        <p:spPr>
          <a:xfrm>
            <a:off x="6263640" y="1371600"/>
            <a:ext cx="548640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GQA: 24 Q heads ← 8 KV heads</a:t>
            </a:r>
            <a:endParaRPr lang="en-US" sz="1050" dirty="0"/>
          </a:p>
        </p:txBody>
      </p:sp>
      <p:sp>
        <p:nvSpPr>
          <p:cNvPr id="94" name="Shape 91"/>
          <p:cNvSpPr/>
          <p:nvPr/>
        </p:nvSpPr>
        <p:spPr>
          <a:xfrm>
            <a:off x="6263640" y="1691640"/>
            <a:ext cx="603504" cy="384048"/>
          </a:xfrm>
          <a:prstGeom prst="roundRect">
            <a:avLst>
              <a:gd name="adj" fmla="val 7143"/>
            </a:avLst>
          </a:prstGeom>
          <a:solidFill>
            <a:srgbClr val="FFF1DC"/>
          </a:solidFill>
          <a:ln w="12700">
            <a:solidFill>
              <a:srgbClr val="D98A1E"/>
            </a:solidFill>
            <a:prstDash val="solid"/>
          </a:ln>
        </p:spPr>
      </p:sp>
      <p:sp>
        <p:nvSpPr>
          <p:cNvPr id="95" name="Text 92"/>
          <p:cNvSpPr txBox="1"/>
          <p:nvPr/>
        </p:nvSpPr>
        <p:spPr>
          <a:xfrm>
            <a:off x="6263640" y="1691640"/>
            <a:ext cx="603504" cy="384048"/>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KV0</a:t>
            </a:r>
            <a:endParaRPr lang="en-US" sz="850" dirty="0"/>
          </a:p>
        </p:txBody>
      </p:sp>
      <p:sp>
        <p:nvSpPr>
          <p:cNvPr id="96" name="Shape 93"/>
          <p:cNvSpPr/>
          <p:nvPr/>
        </p:nvSpPr>
        <p:spPr>
          <a:xfrm>
            <a:off x="6940296" y="1691640"/>
            <a:ext cx="603504" cy="384048"/>
          </a:xfrm>
          <a:prstGeom prst="roundRect">
            <a:avLst>
              <a:gd name="adj" fmla="val 7143"/>
            </a:avLst>
          </a:prstGeom>
          <a:solidFill>
            <a:srgbClr val="FFF1DC"/>
          </a:solidFill>
          <a:ln w="12700">
            <a:solidFill>
              <a:srgbClr val="D98A1E"/>
            </a:solidFill>
            <a:prstDash val="solid"/>
          </a:ln>
        </p:spPr>
      </p:sp>
      <p:sp>
        <p:nvSpPr>
          <p:cNvPr id="97" name="Text 94"/>
          <p:cNvSpPr txBox="1"/>
          <p:nvPr/>
        </p:nvSpPr>
        <p:spPr>
          <a:xfrm>
            <a:off x="6940296" y="1691640"/>
            <a:ext cx="603504" cy="384048"/>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KV1</a:t>
            </a:r>
            <a:endParaRPr lang="en-US" sz="850" dirty="0"/>
          </a:p>
        </p:txBody>
      </p:sp>
      <p:sp>
        <p:nvSpPr>
          <p:cNvPr id="98" name="Shape 95"/>
          <p:cNvSpPr/>
          <p:nvPr/>
        </p:nvSpPr>
        <p:spPr>
          <a:xfrm>
            <a:off x="7616952" y="1691640"/>
            <a:ext cx="603504" cy="384048"/>
          </a:xfrm>
          <a:prstGeom prst="roundRect">
            <a:avLst>
              <a:gd name="adj" fmla="val 7143"/>
            </a:avLst>
          </a:prstGeom>
          <a:solidFill>
            <a:srgbClr val="FFF1DC"/>
          </a:solidFill>
          <a:ln w="12700">
            <a:solidFill>
              <a:srgbClr val="D98A1E"/>
            </a:solidFill>
            <a:prstDash val="solid"/>
          </a:ln>
        </p:spPr>
      </p:sp>
      <p:sp>
        <p:nvSpPr>
          <p:cNvPr id="99" name="Text 96"/>
          <p:cNvSpPr txBox="1"/>
          <p:nvPr/>
        </p:nvSpPr>
        <p:spPr>
          <a:xfrm>
            <a:off x="7616952" y="1691640"/>
            <a:ext cx="603504" cy="384048"/>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KV2</a:t>
            </a:r>
            <a:endParaRPr lang="en-US" sz="850" dirty="0"/>
          </a:p>
        </p:txBody>
      </p:sp>
      <p:sp>
        <p:nvSpPr>
          <p:cNvPr id="100" name="Shape 97"/>
          <p:cNvSpPr/>
          <p:nvPr/>
        </p:nvSpPr>
        <p:spPr>
          <a:xfrm>
            <a:off x="8293608" y="1691640"/>
            <a:ext cx="603504" cy="384048"/>
          </a:xfrm>
          <a:prstGeom prst="roundRect">
            <a:avLst>
              <a:gd name="adj" fmla="val 7143"/>
            </a:avLst>
          </a:prstGeom>
          <a:solidFill>
            <a:srgbClr val="FFF1DC"/>
          </a:solidFill>
          <a:ln w="12700">
            <a:solidFill>
              <a:srgbClr val="D98A1E"/>
            </a:solidFill>
            <a:prstDash val="solid"/>
          </a:ln>
        </p:spPr>
      </p:sp>
      <p:sp>
        <p:nvSpPr>
          <p:cNvPr id="101" name="Text 98"/>
          <p:cNvSpPr txBox="1"/>
          <p:nvPr/>
        </p:nvSpPr>
        <p:spPr>
          <a:xfrm>
            <a:off x="8293608" y="1691640"/>
            <a:ext cx="603504" cy="384048"/>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KV3</a:t>
            </a:r>
            <a:endParaRPr lang="en-US" sz="850" dirty="0"/>
          </a:p>
        </p:txBody>
      </p:sp>
      <p:sp>
        <p:nvSpPr>
          <p:cNvPr id="102" name="Shape 99"/>
          <p:cNvSpPr/>
          <p:nvPr/>
        </p:nvSpPr>
        <p:spPr>
          <a:xfrm>
            <a:off x="8970264" y="1691640"/>
            <a:ext cx="603504" cy="384048"/>
          </a:xfrm>
          <a:prstGeom prst="roundRect">
            <a:avLst>
              <a:gd name="adj" fmla="val 7143"/>
            </a:avLst>
          </a:prstGeom>
          <a:solidFill>
            <a:srgbClr val="FFF1DC"/>
          </a:solidFill>
          <a:ln w="12700">
            <a:solidFill>
              <a:srgbClr val="D98A1E"/>
            </a:solidFill>
            <a:prstDash val="solid"/>
          </a:ln>
        </p:spPr>
      </p:sp>
      <p:sp>
        <p:nvSpPr>
          <p:cNvPr id="103" name="Text 100"/>
          <p:cNvSpPr txBox="1"/>
          <p:nvPr/>
        </p:nvSpPr>
        <p:spPr>
          <a:xfrm>
            <a:off x="8970264" y="1691640"/>
            <a:ext cx="603504" cy="384048"/>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KV4</a:t>
            </a:r>
            <a:endParaRPr lang="en-US" sz="850" dirty="0"/>
          </a:p>
        </p:txBody>
      </p:sp>
      <p:sp>
        <p:nvSpPr>
          <p:cNvPr id="104" name="Shape 101"/>
          <p:cNvSpPr/>
          <p:nvPr/>
        </p:nvSpPr>
        <p:spPr>
          <a:xfrm>
            <a:off x="9646920" y="1691640"/>
            <a:ext cx="603504" cy="384048"/>
          </a:xfrm>
          <a:prstGeom prst="roundRect">
            <a:avLst>
              <a:gd name="adj" fmla="val 7143"/>
            </a:avLst>
          </a:prstGeom>
          <a:solidFill>
            <a:srgbClr val="FFF1DC"/>
          </a:solidFill>
          <a:ln w="12700">
            <a:solidFill>
              <a:srgbClr val="D98A1E"/>
            </a:solidFill>
            <a:prstDash val="solid"/>
          </a:ln>
        </p:spPr>
      </p:sp>
      <p:sp>
        <p:nvSpPr>
          <p:cNvPr id="105" name="Text 102"/>
          <p:cNvSpPr txBox="1"/>
          <p:nvPr/>
        </p:nvSpPr>
        <p:spPr>
          <a:xfrm>
            <a:off x="9646920" y="1691640"/>
            <a:ext cx="603504" cy="384048"/>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KV5</a:t>
            </a:r>
            <a:endParaRPr lang="en-US" sz="850" dirty="0"/>
          </a:p>
        </p:txBody>
      </p:sp>
      <p:sp>
        <p:nvSpPr>
          <p:cNvPr id="106" name="Shape 103"/>
          <p:cNvSpPr/>
          <p:nvPr/>
        </p:nvSpPr>
        <p:spPr>
          <a:xfrm>
            <a:off x="10323576" y="1691640"/>
            <a:ext cx="603504" cy="384048"/>
          </a:xfrm>
          <a:prstGeom prst="roundRect">
            <a:avLst>
              <a:gd name="adj" fmla="val 7143"/>
            </a:avLst>
          </a:prstGeom>
          <a:solidFill>
            <a:srgbClr val="FFF1DC"/>
          </a:solidFill>
          <a:ln w="12700">
            <a:solidFill>
              <a:srgbClr val="D98A1E"/>
            </a:solidFill>
            <a:prstDash val="solid"/>
          </a:ln>
        </p:spPr>
      </p:sp>
      <p:sp>
        <p:nvSpPr>
          <p:cNvPr id="107" name="Text 104"/>
          <p:cNvSpPr txBox="1"/>
          <p:nvPr/>
        </p:nvSpPr>
        <p:spPr>
          <a:xfrm>
            <a:off x="10323576" y="1691640"/>
            <a:ext cx="603504" cy="384048"/>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KV6</a:t>
            </a:r>
            <a:endParaRPr lang="en-US" sz="850" dirty="0"/>
          </a:p>
        </p:txBody>
      </p:sp>
      <p:sp>
        <p:nvSpPr>
          <p:cNvPr id="108" name="Shape 105"/>
          <p:cNvSpPr/>
          <p:nvPr/>
        </p:nvSpPr>
        <p:spPr>
          <a:xfrm>
            <a:off x="11000232" y="1691640"/>
            <a:ext cx="603504" cy="384048"/>
          </a:xfrm>
          <a:prstGeom prst="roundRect">
            <a:avLst>
              <a:gd name="adj" fmla="val 7143"/>
            </a:avLst>
          </a:prstGeom>
          <a:solidFill>
            <a:srgbClr val="FFF1DC"/>
          </a:solidFill>
          <a:ln w="12700">
            <a:solidFill>
              <a:srgbClr val="D98A1E"/>
            </a:solidFill>
            <a:prstDash val="solid"/>
          </a:ln>
        </p:spPr>
      </p:sp>
      <p:sp>
        <p:nvSpPr>
          <p:cNvPr id="109" name="Text 106"/>
          <p:cNvSpPr txBox="1"/>
          <p:nvPr/>
        </p:nvSpPr>
        <p:spPr>
          <a:xfrm>
            <a:off x="11000232" y="1691640"/>
            <a:ext cx="603504" cy="384048"/>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KV7</a:t>
            </a:r>
            <a:endParaRPr lang="en-US" sz="850" dirty="0"/>
          </a:p>
        </p:txBody>
      </p:sp>
      <p:sp>
        <p:nvSpPr>
          <p:cNvPr id="110" name="Shape 107"/>
          <p:cNvSpPr/>
          <p:nvPr/>
        </p:nvSpPr>
        <p:spPr>
          <a:xfrm>
            <a:off x="6263640" y="2468880"/>
            <a:ext cx="201168" cy="329184"/>
          </a:xfrm>
          <a:prstGeom prst="roundRect">
            <a:avLst>
              <a:gd name="adj" fmla="val 9091"/>
            </a:avLst>
          </a:prstGeom>
          <a:solidFill>
            <a:srgbClr val="ECE6FA"/>
          </a:solidFill>
          <a:ln w="12700">
            <a:solidFill>
              <a:srgbClr val="6C4FBF"/>
            </a:solidFill>
            <a:prstDash val="solid"/>
          </a:ln>
        </p:spPr>
      </p:sp>
      <p:sp>
        <p:nvSpPr>
          <p:cNvPr id="111" name="Text 108"/>
          <p:cNvSpPr txBox="1"/>
          <p:nvPr/>
        </p:nvSpPr>
        <p:spPr>
          <a:xfrm>
            <a:off x="6263640"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0</a:t>
            </a:r>
            <a:endParaRPr lang="en-US" sz="650" dirty="0"/>
          </a:p>
        </p:txBody>
      </p:sp>
      <p:sp>
        <p:nvSpPr>
          <p:cNvPr id="112" name="Shape 109"/>
          <p:cNvSpPr/>
          <p:nvPr/>
        </p:nvSpPr>
        <p:spPr>
          <a:xfrm>
            <a:off x="6489497" y="2468880"/>
            <a:ext cx="201168" cy="329184"/>
          </a:xfrm>
          <a:prstGeom prst="roundRect">
            <a:avLst>
              <a:gd name="adj" fmla="val 9091"/>
            </a:avLst>
          </a:prstGeom>
          <a:solidFill>
            <a:srgbClr val="ECE6FA"/>
          </a:solidFill>
          <a:ln w="12700">
            <a:solidFill>
              <a:srgbClr val="6C4FBF"/>
            </a:solidFill>
            <a:prstDash val="solid"/>
          </a:ln>
        </p:spPr>
      </p:sp>
      <p:sp>
        <p:nvSpPr>
          <p:cNvPr id="113" name="Text 110"/>
          <p:cNvSpPr txBox="1"/>
          <p:nvPr/>
        </p:nvSpPr>
        <p:spPr>
          <a:xfrm>
            <a:off x="6489497"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114" name="Shape 111"/>
          <p:cNvSpPr/>
          <p:nvPr/>
        </p:nvSpPr>
        <p:spPr>
          <a:xfrm>
            <a:off x="6715354" y="2468880"/>
            <a:ext cx="201168" cy="329184"/>
          </a:xfrm>
          <a:prstGeom prst="roundRect">
            <a:avLst>
              <a:gd name="adj" fmla="val 9091"/>
            </a:avLst>
          </a:prstGeom>
          <a:solidFill>
            <a:srgbClr val="ECE6FA"/>
          </a:solidFill>
          <a:ln w="12700">
            <a:solidFill>
              <a:srgbClr val="6C4FBF"/>
            </a:solidFill>
            <a:prstDash val="solid"/>
          </a:ln>
        </p:spPr>
      </p:sp>
      <p:sp>
        <p:nvSpPr>
          <p:cNvPr id="115" name="Text 112"/>
          <p:cNvSpPr txBox="1"/>
          <p:nvPr/>
        </p:nvSpPr>
        <p:spPr>
          <a:xfrm>
            <a:off x="6715354"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2</a:t>
            </a:r>
            <a:endParaRPr lang="en-US" sz="650" dirty="0"/>
          </a:p>
        </p:txBody>
      </p:sp>
      <p:sp>
        <p:nvSpPr>
          <p:cNvPr id="116" name="Shape 113"/>
          <p:cNvSpPr/>
          <p:nvPr/>
        </p:nvSpPr>
        <p:spPr>
          <a:xfrm>
            <a:off x="6941210" y="2468880"/>
            <a:ext cx="201168" cy="329184"/>
          </a:xfrm>
          <a:prstGeom prst="roundRect">
            <a:avLst>
              <a:gd name="adj" fmla="val 9091"/>
            </a:avLst>
          </a:prstGeom>
          <a:solidFill>
            <a:srgbClr val="ECE6FA"/>
          </a:solidFill>
          <a:ln w="12700">
            <a:solidFill>
              <a:srgbClr val="6C4FBF"/>
            </a:solidFill>
            <a:prstDash val="solid"/>
          </a:ln>
        </p:spPr>
      </p:sp>
      <p:sp>
        <p:nvSpPr>
          <p:cNvPr id="117" name="Text 114"/>
          <p:cNvSpPr txBox="1"/>
          <p:nvPr/>
        </p:nvSpPr>
        <p:spPr>
          <a:xfrm>
            <a:off x="6941210"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3</a:t>
            </a:r>
            <a:endParaRPr lang="en-US" sz="650" dirty="0"/>
          </a:p>
        </p:txBody>
      </p:sp>
      <p:sp>
        <p:nvSpPr>
          <p:cNvPr id="118" name="Shape 115"/>
          <p:cNvSpPr/>
          <p:nvPr/>
        </p:nvSpPr>
        <p:spPr>
          <a:xfrm>
            <a:off x="7167067" y="2468880"/>
            <a:ext cx="201168" cy="329184"/>
          </a:xfrm>
          <a:prstGeom prst="roundRect">
            <a:avLst>
              <a:gd name="adj" fmla="val 9091"/>
            </a:avLst>
          </a:prstGeom>
          <a:solidFill>
            <a:srgbClr val="ECE6FA"/>
          </a:solidFill>
          <a:ln w="12700">
            <a:solidFill>
              <a:srgbClr val="6C4FBF"/>
            </a:solidFill>
            <a:prstDash val="solid"/>
          </a:ln>
        </p:spPr>
      </p:sp>
      <p:sp>
        <p:nvSpPr>
          <p:cNvPr id="119" name="Text 116"/>
          <p:cNvSpPr txBox="1"/>
          <p:nvPr/>
        </p:nvSpPr>
        <p:spPr>
          <a:xfrm>
            <a:off x="7167067"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4</a:t>
            </a:r>
            <a:endParaRPr lang="en-US" sz="650" dirty="0"/>
          </a:p>
        </p:txBody>
      </p:sp>
      <p:sp>
        <p:nvSpPr>
          <p:cNvPr id="120" name="Shape 117"/>
          <p:cNvSpPr/>
          <p:nvPr/>
        </p:nvSpPr>
        <p:spPr>
          <a:xfrm>
            <a:off x="7392924" y="2468880"/>
            <a:ext cx="201168" cy="329184"/>
          </a:xfrm>
          <a:prstGeom prst="roundRect">
            <a:avLst>
              <a:gd name="adj" fmla="val 9091"/>
            </a:avLst>
          </a:prstGeom>
          <a:solidFill>
            <a:srgbClr val="ECE6FA"/>
          </a:solidFill>
          <a:ln w="12700">
            <a:solidFill>
              <a:srgbClr val="6C4FBF"/>
            </a:solidFill>
            <a:prstDash val="solid"/>
          </a:ln>
        </p:spPr>
      </p:sp>
      <p:sp>
        <p:nvSpPr>
          <p:cNvPr id="121" name="Text 118"/>
          <p:cNvSpPr txBox="1"/>
          <p:nvPr/>
        </p:nvSpPr>
        <p:spPr>
          <a:xfrm>
            <a:off x="7392924"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5</a:t>
            </a:r>
            <a:endParaRPr lang="en-US" sz="650" dirty="0"/>
          </a:p>
        </p:txBody>
      </p:sp>
      <p:sp>
        <p:nvSpPr>
          <p:cNvPr id="122" name="Shape 119"/>
          <p:cNvSpPr/>
          <p:nvPr/>
        </p:nvSpPr>
        <p:spPr>
          <a:xfrm>
            <a:off x="7618781" y="2468880"/>
            <a:ext cx="201168" cy="329184"/>
          </a:xfrm>
          <a:prstGeom prst="roundRect">
            <a:avLst>
              <a:gd name="adj" fmla="val 9091"/>
            </a:avLst>
          </a:prstGeom>
          <a:solidFill>
            <a:srgbClr val="ECE6FA"/>
          </a:solidFill>
          <a:ln w="12700">
            <a:solidFill>
              <a:srgbClr val="6C4FBF"/>
            </a:solidFill>
            <a:prstDash val="solid"/>
          </a:ln>
        </p:spPr>
      </p:sp>
      <p:sp>
        <p:nvSpPr>
          <p:cNvPr id="123" name="Text 120"/>
          <p:cNvSpPr txBox="1"/>
          <p:nvPr/>
        </p:nvSpPr>
        <p:spPr>
          <a:xfrm>
            <a:off x="7618781"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6</a:t>
            </a:r>
            <a:endParaRPr lang="en-US" sz="650" dirty="0"/>
          </a:p>
        </p:txBody>
      </p:sp>
      <p:sp>
        <p:nvSpPr>
          <p:cNvPr id="124" name="Shape 121"/>
          <p:cNvSpPr/>
          <p:nvPr/>
        </p:nvSpPr>
        <p:spPr>
          <a:xfrm>
            <a:off x="7844638" y="2468880"/>
            <a:ext cx="201168" cy="329184"/>
          </a:xfrm>
          <a:prstGeom prst="roundRect">
            <a:avLst>
              <a:gd name="adj" fmla="val 9091"/>
            </a:avLst>
          </a:prstGeom>
          <a:solidFill>
            <a:srgbClr val="ECE6FA"/>
          </a:solidFill>
          <a:ln w="12700">
            <a:solidFill>
              <a:srgbClr val="6C4FBF"/>
            </a:solidFill>
            <a:prstDash val="solid"/>
          </a:ln>
        </p:spPr>
      </p:sp>
      <p:sp>
        <p:nvSpPr>
          <p:cNvPr id="125" name="Text 122"/>
          <p:cNvSpPr txBox="1"/>
          <p:nvPr/>
        </p:nvSpPr>
        <p:spPr>
          <a:xfrm>
            <a:off x="7844638"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7</a:t>
            </a:r>
            <a:endParaRPr lang="en-US" sz="650" dirty="0"/>
          </a:p>
        </p:txBody>
      </p:sp>
      <p:sp>
        <p:nvSpPr>
          <p:cNvPr id="126" name="Shape 123"/>
          <p:cNvSpPr/>
          <p:nvPr/>
        </p:nvSpPr>
        <p:spPr>
          <a:xfrm>
            <a:off x="8070494" y="2468880"/>
            <a:ext cx="201168" cy="329184"/>
          </a:xfrm>
          <a:prstGeom prst="roundRect">
            <a:avLst>
              <a:gd name="adj" fmla="val 9091"/>
            </a:avLst>
          </a:prstGeom>
          <a:solidFill>
            <a:srgbClr val="ECE6FA"/>
          </a:solidFill>
          <a:ln w="12700">
            <a:solidFill>
              <a:srgbClr val="6C4FBF"/>
            </a:solidFill>
            <a:prstDash val="solid"/>
          </a:ln>
        </p:spPr>
      </p:sp>
      <p:sp>
        <p:nvSpPr>
          <p:cNvPr id="127" name="Text 124"/>
          <p:cNvSpPr txBox="1"/>
          <p:nvPr/>
        </p:nvSpPr>
        <p:spPr>
          <a:xfrm>
            <a:off x="8070494"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8</a:t>
            </a:r>
            <a:endParaRPr lang="en-US" sz="650" dirty="0"/>
          </a:p>
        </p:txBody>
      </p:sp>
      <p:sp>
        <p:nvSpPr>
          <p:cNvPr id="128" name="Shape 125"/>
          <p:cNvSpPr/>
          <p:nvPr/>
        </p:nvSpPr>
        <p:spPr>
          <a:xfrm>
            <a:off x="8296351" y="2468880"/>
            <a:ext cx="201168" cy="329184"/>
          </a:xfrm>
          <a:prstGeom prst="roundRect">
            <a:avLst>
              <a:gd name="adj" fmla="val 9091"/>
            </a:avLst>
          </a:prstGeom>
          <a:solidFill>
            <a:srgbClr val="ECE6FA"/>
          </a:solidFill>
          <a:ln w="12700">
            <a:solidFill>
              <a:srgbClr val="6C4FBF"/>
            </a:solidFill>
            <a:prstDash val="solid"/>
          </a:ln>
        </p:spPr>
      </p:sp>
      <p:sp>
        <p:nvSpPr>
          <p:cNvPr id="129" name="Text 126"/>
          <p:cNvSpPr txBox="1"/>
          <p:nvPr/>
        </p:nvSpPr>
        <p:spPr>
          <a:xfrm>
            <a:off x="8296351"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9</a:t>
            </a:r>
            <a:endParaRPr lang="en-US" sz="650" dirty="0"/>
          </a:p>
        </p:txBody>
      </p:sp>
      <p:sp>
        <p:nvSpPr>
          <p:cNvPr id="130" name="Shape 127"/>
          <p:cNvSpPr/>
          <p:nvPr/>
        </p:nvSpPr>
        <p:spPr>
          <a:xfrm>
            <a:off x="8522208" y="2468880"/>
            <a:ext cx="201168" cy="329184"/>
          </a:xfrm>
          <a:prstGeom prst="roundRect">
            <a:avLst>
              <a:gd name="adj" fmla="val 9091"/>
            </a:avLst>
          </a:prstGeom>
          <a:solidFill>
            <a:srgbClr val="ECE6FA"/>
          </a:solidFill>
          <a:ln w="12700">
            <a:solidFill>
              <a:srgbClr val="6C4FBF"/>
            </a:solidFill>
            <a:prstDash val="solid"/>
          </a:ln>
        </p:spPr>
      </p:sp>
      <p:sp>
        <p:nvSpPr>
          <p:cNvPr id="131" name="Text 128"/>
          <p:cNvSpPr txBox="1"/>
          <p:nvPr/>
        </p:nvSpPr>
        <p:spPr>
          <a:xfrm>
            <a:off x="8522208"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10</a:t>
            </a:r>
            <a:endParaRPr lang="en-US" sz="650" dirty="0"/>
          </a:p>
        </p:txBody>
      </p:sp>
      <p:sp>
        <p:nvSpPr>
          <p:cNvPr id="132" name="Shape 129"/>
          <p:cNvSpPr/>
          <p:nvPr/>
        </p:nvSpPr>
        <p:spPr>
          <a:xfrm>
            <a:off x="8748065" y="2468880"/>
            <a:ext cx="201168" cy="329184"/>
          </a:xfrm>
          <a:prstGeom prst="roundRect">
            <a:avLst>
              <a:gd name="adj" fmla="val 9091"/>
            </a:avLst>
          </a:prstGeom>
          <a:solidFill>
            <a:srgbClr val="ECE6FA"/>
          </a:solidFill>
          <a:ln w="12700">
            <a:solidFill>
              <a:srgbClr val="6C4FBF"/>
            </a:solidFill>
            <a:prstDash val="solid"/>
          </a:ln>
        </p:spPr>
      </p:sp>
      <p:sp>
        <p:nvSpPr>
          <p:cNvPr id="133" name="Text 130"/>
          <p:cNvSpPr txBox="1"/>
          <p:nvPr/>
        </p:nvSpPr>
        <p:spPr>
          <a:xfrm>
            <a:off x="8748065"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11</a:t>
            </a:r>
            <a:endParaRPr lang="en-US" sz="650" dirty="0"/>
          </a:p>
        </p:txBody>
      </p:sp>
      <p:sp>
        <p:nvSpPr>
          <p:cNvPr id="134" name="Shape 131"/>
          <p:cNvSpPr/>
          <p:nvPr/>
        </p:nvSpPr>
        <p:spPr>
          <a:xfrm>
            <a:off x="8973922" y="2468880"/>
            <a:ext cx="201168" cy="329184"/>
          </a:xfrm>
          <a:prstGeom prst="roundRect">
            <a:avLst>
              <a:gd name="adj" fmla="val 9091"/>
            </a:avLst>
          </a:prstGeom>
          <a:solidFill>
            <a:srgbClr val="ECE6FA"/>
          </a:solidFill>
          <a:ln w="12700">
            <a:solidFill>
              <a:srgbClr val="6C4FBF"/>
            </a:solidFill>
            <a:prstDash val="solid"/>
          </a:ln>
        </p:spPr>
      </p:sp>
      <p:sp>
        <p:nvSpPr>
          <p:cNvPr id="135" name="Text 132"/>
          <p:cNvSpPr txBox="1"/>
          <p:nvPr/>
        </p:nvSpPr>
        <p:spPr>
          <a:xfrm>
            <a:off x="8973922"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12</a:t>
            </a:r>
            <a:endParaRPr lang="en-US" sz="650" dirty="0"/>
          </a:p>
        </p:txBody>
      </p:sp>
      <p:sp>
        <p:nvSpPr>
          <p:cNvPr id="136" name="Shape 133"/>
          <p:cNvSpPr/>
          <p:nvPr/>
        </p:nvSpPr>
        <p:spPr>
          <a:xfrm>
            <a:off x="9199778" y="2468880"/>
            <a:ext cx="201168" cy="329184"/>
          </a:xfrm>
          <a:prstGeom prst="roundRect">
            <a:avLst>
              <a:gd name="adj" fmla="val 9091"/>
            </a:avLst>
          </a:prstGeom>
          <a:solidFill>
            <a:srgbClr val="ECE6FA"/>
          </a:solidFill>
          <a:ln w="12700">
            <a:solidFill>
              <a:srgbClr val="6C4FBF"/>
            </a:solidFill>
            <a:prstDash val="solid"/>
          </a:ln>
        </p:spPr>
      </p:sp>
      <p:sp>
        <p:nvSpPr>
          <p:cNvPr id="137" name="Text 134"/>
          <p:cNvSpPr txBox="1"/>
          <p:nvPr/>
        </p:nvSpPr>
        <p:spPr>
          <a:xfrm>
            <a:off x="9199778"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13</a:t>
            </a:r>
            <a:endParaRPr lang="en-US" sz="650" dirty="0"/>
          </a:p>
        </p:txBody>
      </p:sp>
      <p:sp>
        <p:nvSpPr>
          <p:cNvPr id="138" name="Shape 135"/>
          <p:cNvSpPr/>
          <p:nvPr/>
        </p:nvSpPr>
        <p:spPr>
          <a:xfrm>
            <a:off x="9425635" y="2468880"/>
            <a:ext cx="201168" cy="329184"/>
          </a:xfrm>
          <a:prstGeom prst="roundRect">
            <a:avLst>
              <a:gd name="adj" fmla="val 9091"/>
            </a:avLst>
          </a:prstGeom>
          <a:solidFill>
            <a:srgbClr val="ECE6FA"/>
          </a:solidFill>
          <a:ln w="12700">
            <a:solidFill>
              <a:srgbClr val="6C4FBF"/>
            </a:solidFill>
            <a:prstDash val="solid"/>
          </a:ln>
        </p:spPr>
      </p:sp>
      <p:sp>
        <p:nvSpPr>
          <p:cNvPr id="139" name="Text 136"/>
          <p:cNvSpPr txBox="1"/>
          <p:nvPr/>
        </p:nvSpPr>
        <p:spPr>
          <a:xfrm>
            <a:off x="9425635"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14</a:t>
            </a:r>
            <a:endParaRPr lang="en-US" sz="650" dirty="0"/>
          </a:p>
        </p:txBody>
      </p:sp>
      <p:sp>
        <p:nvSpPr>
          <p:cNvPr id="140" name="Shape 137"/>
          <p:cNvSpPr/>
          <p:nvPr/>
        </p:nvSpPr>
        <p:spPr>
          <a:xfrm>
            <a:off x="9651492" y="2468880"/>
            <a:ext cx="201168" cy="329184"/>
          </a:xfrm>
          <a:prstGeom prst="roundRect">
            <a:avLst>
              <a:gd name="adj" fmla="val 9091"/>
            </a:avLst>
          </a:prstGeom>
          <a:solidFill>
            <a:srgbClr val="ECE6FA"/>
          </a:solidFill>
          <a:ln w="12700">
            <a:solidFill>
              <a:srgbClr val="6C4FBF"/>
            </a:solidFill>
            <a:prstDash val="solid"/>
          </a:ln>
        </p:spPr>
      </p:sp>
      <p:sp>
        <p:nvSpPr>
          <p:cNvPr id="141" name="Text 138"/>
          <p:cNvSpPr txBox="1"/>
          <p:nvPr/>
        </p:nvSpPr>
        <p:spPr>
          <a:xfrm>
            <a:off x="9651492"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15</a:t>
            </a:r>
            <a:endParaRPr lang="en-US" sz="650" dirty="0"/>
          </a:p>
        </p:txBody>
      </p:sp>
      <p:sp>
        <p:nvSpPr>
          <p:cNvPr id="142" name="Shape 139"/>
          <p:cNvSpPr/>
          <p:nvPr/>
        </p:nvSpPr>
        <p:spPr>
          <a:xfrm>
            <a:off x="9877349" y="2468880"/>
            <a:ext cx="201168" cy="329184"/>
          </a:xfrm>
          <a:prstGeom prst="roundRect">
            <a:avLst>
              <a:gd name="adj" fmla="val 9091"/>
            </a:avLst>
          </a:prstGeom>
          <a:solidFill>
            <a:srgbClr val="ECE6FA"/>
          </a:solidFill>
          <a:ln w="12700">
            <a:solidFill>
              <a:srgbClr val="6C4FBF"/>
            </a:solidFill>
            <a:prstDash val="solid"/>
          </a:ln>
        </p:spPr>
      </p:sp>
      <p:sp>
        <p:nvSpPr>
          <p:cNvPr id="143" name="Text 140"/>
          <p:cNvSpPr txBox="1"/>
          <p:nvPr/>
        </p:nvSpPr>
        <p:spPr>
          <a:xfrm>
            <a:off x="9877349"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16</a:t>
            </a:r>
            <a:endParaRPr lang="en-US" sz="650" dirty="0"/>
          </a:p>
        </p:txBody>
      </p:sp>
      <p:sp>
        <p:nvSpPr>
          <p:cNvPr id="144" name="Shape 141"/>
          <p:cNvSpPr/>
          <p:nvPr/>
        </p:nvSpPr>
        <p:spPr>
          <a:xfrm>
            <a:off x="10103206" y="2468880"/>
            <a:ext cx="201168" cy="329184"/>
          </a:xfrm>
          <a:prstGeom prst="roundRect">
            <a:avLst>
              <a:gd name="adj" fmla="val 9091"/>
            </a:avLst>
          </a:prstGeom>
          <a:solidFill>
            <a:srgbClr val="ECE6FA"/>
          </a:solidFill>
          <a:ln w="12700">
            <a:solidFill>
              <a:srgbClr val="6C4FBF"/>
            </a:solidFill>
            <a:prstDash val="solid"/>
          </a:ln>
        </p:spPr>
      </p:sp>
      <p:sp>
        <p:nvSpPr>
          <p:cNvPr id="145" name="Text 142"/>
          <p:cNvSpPr txBox="1"/>
          <p:nvPr/>
        </p:nvSpPr>
        <p:spPr>
          <a:xfrm>
            <a:off x="10103206"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17</a:t>
            </a:r>
            <a:endParaRPr lang="en-US" sz="650" dirty="0"/>
          </a:p>
        </p:txBody>
      </p:sp>
      <p:sp>
        <p:nvSpPr>
          <p:cNvPr id="146" name="Shape 143"/>
          <p:cNvSpPr/>
          <p:nvPr/>
        </p:nvSpPr>
        <p:spPr>
          <a:xfrm>
            <a:off x="10329062" y="2468880"/>
            <a:ext cx="201168" cy="329184"/>
          </a:xfrm>
          <a:prstGeom prst="roundRect">
            <a:avLst>
              <a:gd name="adj" fmla="val 9091"/>
            </a:avLst>
          </a:prstGeom>
          <a:solidFill>
            <a:srgbClr val="ECE6FA"/>
          </a:solidFill>
          <a:ln w="12700">
            <a:solidFill>
              <a:srgbClr val="6C4FBF"/>
            </a:solidFill>
            <a:prstDash val="solid"/>
          </a:ln>
        </p:spPr>
      </p:sp>
      <p:sp>
        <p:nvSpPr>
          <p:cNvPr id="147" name="Text 144"/>
          <p:cNvSpPr txBox="1"/>
          <p:nvPr/>
        </p:nvSpPr>
        <p:spPr>
          <a:xfrm>
            <a:off x="10329062"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18</a:t>
            </a:r>
            <a:endParaRPr lang="en-US" sz="650" dirty="0"/>
          </a:p>
        </p:txBody>
      </p:sp>
      <p:sp>
        <p:nvSpPr>
          <p:cNvPr id="148" name="Shape 145"/>
          <p:cNvSpPr/>
          <p:nvPr/>
        </p:nvSpPr>
        <p:spPr>
          <a:xfrm>
            <a:off x="10554919" y="2468880"/>
            <a:ext cx="201168" cy="329184"/>
          </a:xfrm>
          <a:prstGeom prst="roundRect">
            <a:avLst>
              <a:gd name="adj" fmla="val 9091"/>
            </a:avLst>
          </a:prstGeom>
          <a:solidFill>
            <a:srgbClr val="ECE6FA"/>
          </a:solidFill>
          <a:ln w="12700">
            <a:solidFill>
              <a:srgbClr val="6C4FBF"/>
            </a:solidFill>
            <a:prstDash val="solid"/>
          </a:ln>
        </p:spPr>
      </p:sp>
      <p:sp>
        <p:nvSpPr>
          <p:cNvPr id="149" name="Text 146"/>
          <p:cNvSpPr txBox="1"/>
          <p:nvPr/>
        </p:nvSpPr>
        <p:spPr>
          <a:xfrm>
            <a:off x="10554919"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19</a:t>
            </a:r>
            <a:endParaRPr lang="en-US" sz="650" dirty="0"/>
          </a:p>
        </p:txBody>
      </p:sp>
      <p:sp>
        <p:nvSpPr>
          <p:cNvPr id="150" name="Shape 147"/>
          <p:cNvSpPr/>
          <p:nvPr/>
        </p:nvSpPr>
        <p:spPr>
          <a:xfrm>
            <a:off x="10780776" y="2468880"/>
            <a:ext cx="201168" cy="329184"/>
          </a:xfrm>
          <a:prstGeom prst="roundRect">
            <a:avLst>
              <a:gd name="adj" fmla="val 9091"/>
            </a:avLst>
          </a:prstGeom>
          <a:solidFill>
            <a:srgbClr val="ECE6FA"/>
          </a:solidFill>
          <a:ln w="12700">
            <a:solidFill>
              <a:srgbClr val="6C4FBF"/>
            </a:solidFill>
            <a:prstDash val="solid"/>
          </a:ln>
        </p:spPr>
      </p:sp>
      <p:sp>
        <p:nvSpPr>
          <p:cNvPr id="151" name="Text 148"/>
          <p:cNvSpPr txBox="1"/>
          <p:nvPr/>
        </p:nvSpPr>
        <p:spPr>
          <a:xfrm>
            <a:off x="10780776"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20</a:t>
            </a:r>
            <a:endParaRPr lang="en-US" sz="650" dirty="0"/>
          </a:p>
        </p:txBody>
      </p:sp>
      <p:sp>
        <p:nvSpPr>
          <p:cNvPr id="152" name="Shape 149"/>
          <p:cNvSpPr/>
          <p:nvPr/>
        </p:nvSpPr>
        <p:spPr>
          <a:xfrm>
            <a:off x="11006633" y="2468880"/>
            <a:ext cx="201168" cy="329184"/>
          </a:xfrm>
          <a:prstGeom prst="roundRect">
            <a:avLst>
              <a:gd name="adj" fmla="val 9091"/>
            </a:avLst>
          </a:prstGeom>
          <a:solidFill>
            <a:srgbClr val="ECE6FA"/>
          </a:solidFill>
          <a:ln w="12700">
            <a:solidFill>
              <a:srgbClr val="6C4FBF"/>
            </a:solidFill>
            <a:prstDash val="solid"/>
          </a:ln>
        </p:spPr>
      </p:sp>
      <p:sp>
        <p:nvSpPr>
          <p:cNvPr id="153" name="Text 150"/>
          <p:cNvSpPr txBox="1"/>
          <p:nvPr/>
        </p:nvSpPr>
        <p:spPr>
          <a:xfrm>
            <a:off x="11006633"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21</a:t>
            </a:r>
            <a:endParaRPr lang="en-US" sz="650" dirty="0"/>
          </a:p>
        </p:txBody>
      </p:sp>
      <p:sp>
        <p:nvSpPr>
          <p:cNvPr id="154" name="Shape 151"/>
          <p:cNvSpPr/>
          <p:nvPr/>
        </p:nvSpPr>
        <p:spPr>
          <a:xfrm>
            <a:off x="11232490" y="2468880"/>
            <a:ext cx="201168" cy="329184"/>
          </a:xfrm>
          <a:prstGeom prst="roundRect">
            <a:avLst>
              <a:gd name="adj" fmla="val 9091"/>
            </a:avLst>
          </a:prstGeom>
          <a:solidFill>
            <a:srgbClr val="ECE6FA"/>
          </a:solidFill>
          <a:ln w="12700">
            <a:solidFill>
              <a:srgbClr val="6C4FBF"/>
            </a:solidFill>
            <a:prstDash val="solid"/>
          </a:ln>
        </p:spPr>
      </p:sp>
      <p:sp>
        <p:nvSpPr>
          <p:cNvPr id="155" name="Text 152"/>
          <p:cNvSpPr txBox="1"/>
          <p:nvPr/>
        </p:nvSpPr>
        <p:spPr>
          <a:xfrm>
            <a:off x="11232490"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22</a:t>
            </a:r>
            <a:endParaRPr lang="en-US" sz="650" dirty="0"/>
          </a:p>
        </p:txBody>
      </p:sp>
      <p:sp>
        <p:nvSpPr>
          <p:cNvPr id="156" name="Shape 153"/>
          <p:cNvSpPr/>
          <p:nvPr/>
        </p:nvSpPr>
        <p:spPr>
          <a:xfrm>
            <a:off x="11458346" y="2468880"/>
            <a:ext cx="201168" cy="329184"/>
          </a:xfrm>
          <a:prstGeom prst="roundRect">
            <a:avLst>
              <a:gd name="adj" fmla="val 9091"/>
            </a:avLst>
          </a:prstGeom>
          <a:solidFill>
            <a:srgbClr val="ECE6FA"/>
          </a:solidFill>
          <a:ln w="12700">
            <a:solidFill>
              <a:srgbClr val="6C4FBF"/>
            </a:solidFill>
            <a:prstDash val="solid"/>
          </a:ln>
        </p:spPr>
      </p:sp>
      <p:sp>
        <p:nvSpPr>
          <p:cNvPr id="157" name="Text 154"/>
          <p:cNvSpPr txBox="1"/>
          <p:nvPr/>
        </p:nvSpPr>
        <p:spPr>
          <a:xfrm>
            <a:off x="11458346" y="2468880"/>
            <a:ext cx="201168" cy="329184"/>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23</a:t>
            </a:r>
            <a:endParaRPr lang="en-US" sz="650" dirty="0"/>
          </a:p>
        </p:txBody>
      </p:sp>
      <p:sp>
        <p:nvSpPr>
          <p:cNvPr id="158" name="Shape 155"/>
          <p:cNvSpPr/>
          <p:nvPr/>
        </p:nvSpPr>
        <p:spPr>
          <a:xfrm>
            <a:off x="6565392" y="2075688"/>
            <a:ext cx="36576" cy="393192"/>
          </a:xfrm>
          <a:prstGeom prst="line">
            <a:avLst/>
          </a:prstGeom>
          <a:noFill/>
          <a:ln w="9525">
            <a:solidFill>
              <a:srgbClr val="5B6B7F"/>
            </a:solidFill>
            <a:prstDash val="solid"/>
            <a:tailEnd type="triangle"/>
          </a:ln>
        </p:spPr>
      </p:sp>
      <p:sp>
        <p:nvSpPr>
          <p:cNvPr id="159" name="Shape 156"/>
          <p:cNvSpPr/>
          <p:nvPr/>
        </p:nvSpPr>
        <p:spPr>
          <a:xfrm>
            <a:off x="7242048" y="2075688"/>
            <a:ext cx="37490" cy="393192"/>
          </a:xfrm>
          <a:prstGeom prst="line">
            <a:avLst/>
          </a:prstGeom>
          <a:noFill/>
          <a:ln w="9525">
            <a:solidFill>
              <a:srgbClr val="5B6B7F"/>
            </a:solidFill>
            <a:prstDash val="solid"/>
            <a:tailEnd type="triangle"/>
          </a:ln>
        </p:spPr>
      </p:sp>
      <p:sp>
        <p:nvSpPr>
          <p:cNvPr id="160" name="Shape 157"/>
          <p:cNvSpPr/>
          <p:nvPr/>
        </p:nvSpPr>
        <p:spPr>
          <a:xfrm>
            <a:off x="7918704" y="2075688"/>
            <a:ext cx="38405" cy="393192"/>
          </a:xfrm>
          <a:prstGeom prst="line">
            <a:avLst/>
          </a:prstGeom>
          <a:noFill/>
          <a:ln w="9525">
            <a:solidFill>
              <a:srgbClr val="5B6B7F"/>
            </a:solidFill>
            <a:prstDash val="solid"/>
            <a:tailEnd type="triangle"/>
          </a:ln>
        </p:spPr>
      </p:sp>
      <p:sp>
        <p:nvSpPr>
          <p:cNvPr id="161" name="Shape 158"/>
          <p:cNvSpPr/>
          <p:nvPr/>
        </p:nvSpPr>
        <p:spPr>
          <a:xfrm>
            <a:off x="8595360" y="2075688"/>
            <a:ext cx="39319" cy="393192"/>
          </a:xfrm>
          <a:prstGeom prst="line">
            <a:avLst/>
          </a:prstGeom>
          <a:noFill/>
          <a:ln w="9525">
            <a:solidFill>
              <a:srgbClr val="5B6B7F"/>
            </a:solidFill>
            <a:prstDash val="solid"/>
            <a:tailEnd type="triangle"/>
          </a:ln>
        </p:spPr>
      </p:sp>
      <p:sp>
        <p:nvSpPr>
          <p:cNvPr id="162" name="Shape 159"/>
          <p:cNvSpPr/>
          <p:nvPr/>
        </p:nvSpPr>
        <p:spPr>
          <a:xfrm>
            <a:off x="9272016" y="2075688"/>
            <a:ext cx="40234" cy="393192"/>
          </a:xfrm>
          <a:prstGeom prst="line">
            <a:avLst/>
          </a:prstGeom>
          <a:noFill/>
          <a:ln w="9525">
            <a:solidFill>
              <a:srgbClr val="5B6B7F"/>
            </a:solidFill>
            <a:prstDash val="solid"/>
            <a:tailEnd type="triangle"/>
          </a:ln>
        </p:spPr>
      </p:sp>
      <p:sp>
        <p:nvSpPr>
          <p:cNvPr id="163" name="Shape 160"/>
          <p:cNvSpPr/>
          <p:nvPr/>
        </p:nvSpPr>
        <p:spPr>
          <a:xfrm>
            <a:off x="9948672" y="2075688"/>
            <a:ext cx="41148" cy="393192"/>
          </a:xfrm>
          <a:prstGeom prst="line">
            <a:avLst/>
          </a:prstGeom>
          <a:noFill/>
          <a:ln w="9525">
            <a:solidFill>
              <a:srgbClr val="5B6B7F"/>
            </a:solidFill>
            <a:prstDash val="solid"/>
            <a:tailEnd type="triangle"/>
          </a:ln>
        </p:spPr>
      </p:sp>
      <p:sp>
        <p:nvSpPr>
          <p:cNvPr id="164" name="Shape 161"/>
          <p:cNvSpPr/>
          <p:nvPr/>
        </p:nvSpPr>
        <p:spPr>
          <a:xfrm>
            <a:off x="10625328" y="2075688"/>
            <a:ext cx="42062" cy="393192"/>
          </a:xfrm>
          <a:prstGeom prst="line">
            <a:avLst/>
          </a:prstGeom>
          <a:noFill/>
          <a:ln w="9525">
            <a:solidFill>
              <a:srgbClr val="5B6B7F"/>
            </a:solidFill>
            <a:prstDash val="solid"/>
            <a:tailEnd type="triangle"/>
          </a:ln>
        </p:spPr>
      </p:sp>
      <p:sp>
        <p:nvSpPr>
          <p:cNvPr id="165" name="Shape 162"/>
          <p:cNvSpPr/>
          <p:nvPr/>
        </p:nvSpPr>
        <p:spPr>
          <a:xfrm>
            <a:off x="11301984" y="2075688"/>
            <a:ext cx="42977" cy="393192"/>
          </a:xfrm>
          <a:prstGeom prst="line">
            <a:avLst/>
          </a:prstGeom>
          <a:noFill/>
          <a:ln w="9525">
            <a:solidFill>
              <a:srgbClr val="5B6B7F"/>
            </a:solidFill>
            <a:prstDash val="solid"/>
            <a:tailEnd type="triangle"/>
          </a:ln>
        </p:spPr>
      </p:sp>
      <p:sp>
        <p:nvSpPr>
          <p:cNvPr id="166" name="Text 163"/>
          <p:cNvSpPr txBox="1"/>
          <p:nvPr/>
        </p:nvSpPr>
        <p:spPr>
          <a:xfrm>
            <a:off x="6263640" y="2880360"/>
            <a:ext cx="5468112" cy="457200"/>
          </a:xfrm>
          <a:prstGeom prst="rect">
            <a:avLst/>
          </a:prstGeom>
          <a:noFill/>
          <a:ln/>
        </p:spPr>
        <p:txBody>
          <a:bodyPr wrap="square" lIns="0" tIns="0" rIns="0" bIns="0" rtlCol="0" anchor="t"/>
          <a:lstStyle/>
          <a:p>
            <a:pPr algn="l" indent="0" marL="0">
              <a:buNone/>
            </a:pPr>
            <a:r>
              <a:rPr lang="en-US" sz="900" dirty="0">
                <a:solidFill>
                  <a:srgbClr val="5B6B7F"/>
                </a:solidFill>
                <a:latin typeface="Malgun Gothic" pitchFamily="34" charset="0"/>
                <a:ea typeface="Malgun Gothic" pitchFamily="34" charset="-122"/>
                <a:cs typeface="Malgun Gothic" pitchFamily="34" charset="-120"/>
              </a:rPr>
              <a:t>prefill: op.repeat(k, 3, axis=1) → [S,24,128]. persistent cache는 KV head 8개로 저장 (Q head 수만큼 복제하지 않음)</a:t>
            </a:r>
            <a:endParaRPr lang="en-US" sz="900" dirty="0"/>
          </a:p>
        </p:txBody>
      </p:sp>
      <p:graphicFrame>
        <p:nvGraphicFramePr>
          <p:cNvPr id="91" name="Table 1"/>
          <p:cNvGraphicFramePr>
            <a:graphicFrameLocks noGrp="1"/>
          </p:cNvGraphicFramePr>
          <p:nvPr>
            <p:extLst>
              <p:ext uri="{D42A27DB-BD31-4B8C-83A1-F6EECF244321}">
                <p14:modId xmlns:p14="http://schemas.microsoft.com/office/powerpoint/2010/main" val="1579011935"/>
              </p:ext>
            </p:extLst>
          </p:nvPr>
        </p:nvGraphicFramePr>
        <p:xfrm>
          <a:off x="6263640" y="3429000"/>
          <a:ext cx="5468112" cy="914400"/>
        </p:xfrm>
        <a:graphic>
          <a:graphicData uri="http://schemas.openxmlformats.org/drawingml/2006/table">
            <a:tbl>
              <a:tblPr/>
              <a:tblGrid>
                <a:gridCol w="1828800"/>
                <a:gridCol w="3639312"/>
              </a:tblGrid>
              <a:tr h="45720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GQA 관련 후보 / 계약</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내용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FoldRepeatedGemv (decode, m=1)</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matmul(A[24,1,K], repeat(B[8,K,N],3)) → matmul(A.reshape(8,3,1,K), B.expand_dims(1)) broadcast. 후보이며 항상 선택되지는 않음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prefill의 repeat (axis 1)</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compound attention schedule에 맡김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reshape / transpose / concat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reshape는 view 가능, transpose·concat·repeat는 모두 view는 아님 → lowering이 결정</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168" name="Shape 164"/>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69" name="Text 165"/>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RoPE 설정은 검사 후 지원하거나 거절합니다. 알 수 없는 설정을 조용히 근사하지 않습니다.</a:t>
            </a:r>
            <a:endParaRPr lang="en-US" sz="1250" dirty="0"/>
          </a:p>
        </p:txBody>
      </p:sp>
      <p:sp>
        <p:nvSpPr>
          <p:cNvPr id="170" name="Text 166"/>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71" name="Text 167"/>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npu_compiler/nn_models/llama.py (_rotate_half, rope_freqs, llama3_scale_freqs, validate_rope_scaling), npu_graph_opt.FoldRepeatedGemv</a:t>
            </a:r>
            <a:endParaRPr lang="en-US" sz="850" dirty="0"/>
          </a:p>
        </p:txBody>
      </p:sp>
      <p:sp>
        <p:nvSpPr>
          <p:cNvPr id="172" name="Text 168"/>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45 / 89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7 · Vector · 정규화 · attention</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Attention을 연결해서 읽기, 그리고 full-fusion의 query 분할</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Prefill head 하나: Q[S,128]×Kᵀ[128,S] → scores[S,S] → /√128 + mask → 행별 softmax → P×V[S,128]. 전체를 묶으면 query 행 block만 계산하고 그 block의 score 행 전체를 SRAM에서 소비합니다.</a:t>
            </a:r>
            <a:endParaRPr lang="en-US" sz="1250" dirty="0"/>
          </a:p>
        </p:txBody>
      </p:sp>
      <p:sp>
        <p:nvSpPr>
          <p:cNvPr id="5" name="Shape 3"/>
          <p:cNvSpPr/>
          <p:nvPr/>
        </p:nvSpPr>
        <p:spPr>
          <a:xfrm>
            <a:off x="457200" y="1828800"/>
            <a:ext cx="548640" cy="1828800"/>
          </a:xfrm>
          <a:prstGeom prst="rect">
            <a:avLst/>
          </a:prstGeom>
          <a:solidFill>
            <a:srgbClr val="EEF2F6"/>
          </a:solidFill>
          <a:ln w="12700">
            <a:solidFill>
              <a:srgbClr val="C9D3DF"/>
            </a:solidFill>
            <a:prstDash val="solid"/>
          </a:ln>
        </p:spPr>
      </p:sp>
      <p:sp>
        <p:nvSpPr>
          <p:cNvPr id="6" name="Shape 4"/>
          <p:cNvSpPr/>
          <p:nvPr/>
        </p:nvSpPr>
        <p:spPr>
          <a:xfrm>
            <a:off x="457200" y="2286000"/>
            <a:ext cx="548640" cy="457200"/>
          </a:xfrm>
          <a:prstGeom prst="rect">
            <a:avLst/>
          </a:prstGeom>
          <a:solidFill>
            <a:srgbClr val="ECE6FA"/>
          </a:solidFill>
          <a:ln w="15875">
            <a:solidFill>
              <a:srgbClr val="6C4FBF"/>
            </a:solidFill>
            <a:prstDash val="solid"/>
          </a:ln>
        </p:spPr>
      </p:sp>
      <p:sp>
        <p:nvSpPr>
          <p:cNvPr id="7" name="Shape 5"/>
          <p:cNvSpPr/>
          <p:nvPr/>
        </p:nvSpPr>
        <p:spPr>
          <a:xfrm>
            <a:off x="457200" y="2057400"/>
            <a:ext cx="548640" cy="914"/>
          </a:xfrm>
          <a:prstGeom prst="line">
            <a:avLst/>
          </a:prstGeom>
          <a:noFill/>
          <a:ln w="5080">
            <a:solidFill>
              <a:srgbClr val="D5DCE5"/>
            </a:solidFill>
            <a:prstDash val="solid"/>
          </a:ln>
        </p:spPr>
      </p:sp>
      <p:sp>
        <p:nvSpPr>
          <p:cNvPr id="8" name="Shape 6"/>
          <p:cNvSpPr/>
          <p:nvPr/>
        </p:nvSpPr>
        <p:spPr>
          <a:xfrm>
            <a:off x="457200" y="2286000"/>
            <a:ext cx="548640" cy="914"/>
          </a:xfrm>
          <a:prstGeom prst="line">
            <a:avLst/>
          </a:prstGeom>
          <a:noFill/>
          <a:ln w="5080">
            <a:solidFill>
              <a:srgbClr val="D5DCE5"/>
            </a:solidFill>
            <a:prstDash val="solid"/>
          </a:ln>
        </p:spPr>
      </p:sp>
      <p:sp>
        <p:nvSpPr>
          <p:cNvPr id="9" name="Shape 7"/>
          <p:cNvSpPr/>
          <p:nvPr/>
        </p:nvSpPr>
        <p:spPr>
          <a:xfrm>
            <a:off x="457200" y="2514600"/>
            <a:ext cx="548640" cy="914"/>
          </a:xfrm>
          <a:prstGeom prst="line">
            <a:avLst/>
          </a:prstGeom>
          <a:noFill/>
          <a:ln w="5080">
            <a:solidFill>
              <a:srgbClr val="D5DCE5"/>
            </a:solidFill>
            <a:prstDash val="solid"/>
          </a:ln>
        </p:spPr>
      </p:sp>
      <p:sp>
        <p:nvSpPr>
          <p:cNvPr id="10" name="Shape 8"/>
          <p:cNvSpPr/>
          <p:nvPr/>
        </p:nvSpPr>
        <p:spPr>
          <a:xfrm>
            <a:off x="457200" y="2743200"/>
            <a:ext cx="548640" cy="914"/>
          </a:xfrm>
          <a:prstGeom prst="line">
            <a:avLst/>
          </a:prstGeom>
          <a:noFill/>
          <a:ln w="5080">
            <a:solidFill>
              <a:srgbClr val="D5DCE5"/>
            </a:solidFill>
            <a:prstDash val="solid"/>
          </a:ln>
        </p:spPr>
      </p:sp>
      <p:sp>
        <p:nvSpPr>
          <p:cNvPr id="11" name="Shape 9"/>
          <p:cNvSpPr/>
          <p:nvPr/>
        </p:nvSpPr>
        <p:spPr>
          <a:xfrm>
            <a:off x="457200" y="2971800"/>
            <a:ext cx="548640" cy="914"/>
          </a:xfrm>
          <a:prstGeom prst="line">
            <a:avLst/>
          </a:prstGeom>
          <a:noFill/>
          <a:ln w="5080">
            <a:solidFill>
              <a:srgbClr val="D5DCE5"/>
            </a:solidFill>
            <a:prstDash val="solid"/>
          </a:ln>
        </p:spPr>
      </p:sp>
      <p:sp>
        <p:nvSpPr>
          <p:cNvPr id="12" name="Shape 10"/>
          <p:cNvSpPr/>
          <p:nvPr/>
        </p:nvSpPr>
        <p:spPr>
          <a:xfrm>
            <a:off x="457200" y="3200400"/>
            <a:ext cx="548640" cy="914"/>
          </a:xfrm>
          <a:prstGeom prst="line">
            <a:avLst/>
          </a:prstGeom>
          <a:noFill/>
          <a:ln w="5080">
            <a:solidFill>
              <a:srgbClr val="D5DCE5"/>
            </a:solidFill>
            <a:prstDash val="solid"/>
          </a:ln>
        </p:spPr>
      </p:sp>
      <p:sp>
        <p:nvSpPr>
          <p:cNvPr id="13" name="Shape 11"/>
          <p:cNvSpPr/>
          <p:nvPr/>
        </p:nvSpPr>
        <p:spPr>
          <a:xfrm>
            <a:off x="457200" y="3429000"/>
            <a:ext cx="548640" cy="914"/>
          </a:xfrm>
          <a:prstGeom prst="line">
            <a:avLst/>
          </a:prstGeom>
          <a:noFill/>
          <a:ln w="5080">
            <a:solidFill>
              <a:srgbClr val="D5DCE5"/>
            </a:solidFill>
            <a:prstDash val="solid"/>
          </a:ln>
        </p:spPr>
      </p:sp>
      <p:sp>
        <p:nvSpPr>
          <p:cNvPr id="14" name="Text 12"/>
          <p:cNvSpPr txBox="1"/>
          <p:nvPr/>
        </p:nvSpPr>
        <p:spPr>
          <a:xfrm>
            <a:off x="457200" y="2286000"/>
            <a:ext cx="548640" cy="45720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block</a:t>
            </a:r>
            <a:endParaRPr lang="en-US" sz="700" dirty="0"/>
          </a:p>
        </p:txBody>
      </p:sp>
      <p:sp>
        <p:nvSpPr>
          <p:cNvPr id="15" name="Text 13"/>
          <p:cNvSpPr txBox="1"/>
          <p:nvPr/>
        </p:nvSpPr>
        <p:spPr>
          <a:xfrm>
            <a:off x="457200" y="1600200"/>
            <a:ext cx="91440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Q [S,128]</a:t>
            </a:r>
            <a:endParaRPr lang="en-US" sz="850" dirty="0"/>
          </a:p>
        </p:txBody>
      </p:sp>
      <p:sp>
        <p:nvSpPr>
          <p:cNvPr id="16" name="Text 14"/>
          <p:cNvSpPr txBox="1"/>
          <p:nvPr/>
        </p:nvSpPr>
        <p:spPr>
          <a:xfrm>
            <a:off x="457200" y="3694176"/>
            <a:ext cx="91440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S=512 → 8 tiles</a:t>
            </a:r>
            <a:endParaRPr lang="en-US" sz="750" dirty="0"/>
          </a:p>
          <a:p>
            <a:pPr algn="l" indent="0" marL="0">
              <a:buNone/>
            </a:pPr>
            <a:r>
              <a:rPr lang="en-US" sz="750" dirty="0">
                <a:solidFill>
                  <a:srgbClr val="5B6B7F"/>
                </a:solidFill>
                <a:latin typeface="Malgun Gothic" pitchFamily="34" charset="0"/>
                <a:ea typeface="Malgun Gothic" pitchFamily="34" charset="-122"/>
                <a:cs typeface="Malgun Gothic" pitchFamily="34" charset="-120"/>
              </a:rPr>
              <a:t>(그림)</a:t>
            </a:r>
            <a:endParaRPr lang="en-US" sz="750" dirty="0"/>
          </a:p>
        </p:txBody>
      </p:sp>
      <p:sp>
        <p:nvSpPr>
          <p:cNvPr id="17" name="Shape 15"/>
          <p:cNvSpPr/>
          <p:nvPr/>
        </p:nvSpPr>
        <p:spPr>
          <a:xfrm>
            <a:off x="1325880" y="1600200"/>
            <a:ext cx="2194560" cy="365760"/>
          </a:xfrm>
          <a:prstGeom prst="rect">
            <a:avLst/>
          </a:prstGeom>
          <a:solidFill>
            <a:srgbClr val="DDF3F0"/>
          </a:solidFill>
          <a:ln w="12700">
            <a:solidFill>
              <a:srgbClr val="1F8A8A"/>
            </a:solidFill>
            <a:prstDash val="solid"/>
          </a:ln>
        </p:spPr>
      </p:sp>
      <p:sp>
        <p:nvSpPr>
          <p:cNvPr id="18" name="Shape 16"/>
          <p:cNvSpPr/>
          <p:nvPr/>
        </p:nvSpPr>
        <p:spPr>
          <a:xfrm>
            <a:off x="1325880" y="1600200"/>
            <a:ext cx="2194560" cy="365760"/>
          </a:xfrm>
          <a:prstGeom prst="rect">
            <a:avLst/>
          </a:prstGeom>
          <a:solidFill>
            <a:srgbClr val="DDF3F0"/>
          </a:solidFill>
          <a:ln w="15875">
            <a:solidFill>
              <a:srgbClr val="1F8A8A"/>
            </a:solidFill>
            <a:prstDash val="solid"/>
          </a:ln>
        </p:spPr>
      </p:sp>
      <p:sp>
        <p:nvSpPr>
          <p:cNvPr id="19" name="Shape 17"/>
          <p:cNvSpPr/>
          <p:nvPr/>
        </p:nvSpPr>
        <p:spPr>
          <a:xfrm>
            <a:off x="1600200" y="1600200"/>
            <a:ext cx="914" cy="365760"/>
          </a:xfrm>
          <a:prstGeom prst="line">
            <a:avLst/>
          </a:prstGeom>
          <a:noFill/>
          <a:ln w="5080">
            <a:solidFill>
              <a:srgbClr val="D5DCE5"/>
            </a:solidFill>
            <a:prstDash val="solid"/>
          </a:ln>
        </p:spPr>
      </p:sp>
      <p:sp>
        <p:nvSpPr>
          <p:cNvPr id="20" name="Shape 18"/>
          <p:cNvSpPr/>
          <p:nvPr/>
        </p:nvSpPr>
        <p:spPr>
          <a:xfrm>
            <a:off x="1874520" y="1600200"/>
            <a:ext cx="914" cy="365760"/>
          </a:xfrm>
          <a:prstGeom prst="line">
            <a:avLst/>
          </a:prstGeom>
          <a:noFill/>
          <a:ln w="5080">
            <a:solidFill>
              <a:srgbClr val="D5DCE5"/>
            </a:solidFill>
            <a:prstDash val="solid"/>
          </a:ln>
        </p:spPr>
      </p:sp>
      <p:sp>
        <p:nvSpPr>
          <p:cNvPr id="21" name="Shape 19"/>
          <p:cNvSpPr/>
          <p:nvPr/>
        </p:nvSpPr>
        <p:spPr>
          <a:xfrm>
            <a:off x="2148840" y="1600200"/>
            <a:ext cx="914" cy="365760"/>
          </a:xfrm>
          <a:prstGeom prst="line">
            <a:avLst/>
          </a:prstGeom>
          <a:noFill/>
          <a:ln w="5080">
            <a:solidFill>
              <a:srgbClr val="D5DCE5"/>
            </a:solidFill>
            <a:prstDash val="solid"/>
          </a:ln>
        </p:spPr>
      </p:sp>
      <p:sp>
        <p:nvSpPr>
          <p:cNvPr id="22" name="Shape 20"/>
          <p:cNvSpPr/>
          <p:nvPr/>
        </p:nvSpPr>
        <p:spPr>
          <a:xfrm>
            <a:off x="2423160" y="1600200"/>
            <a:ext cx="914" cy="365760"/>
          </a:xfrm>
          <a:prstGeom prst="line">
            <a:avLst/>
          </a:prstGeom>
          <a:noFill/>
          <a:ln w="5080">
            <a:solidFill>
              <a:srgbClr val="D5DCE5"/>
            </a:solidFill>
            <a:prstDash val="solid"/>
          </a:ln>
        </p:spPr>
      </p:sp>
      <p:sp>
        <p:nvSpPr>
          <p:cNvPr id="23" name="Shape 21"/>
          <p:cNvSpPr/>
          <p:nvPr/>
        </p:nvSpPr>
        <p:spPr>
          <a:xfrm>
            <a:off x="2697480" y="1600200"/>
            <a:ext cx="914" cy="365760"/>
          </a:xfrm>
          <a:prstGeom prst="line">
            <a:avLst/>
          </a:prstGeom>
          <a:noFill/>
          <a:ln w="5080">
            <a:solidFill>
              <a:srgbClr val="D5DCE5"/>
            </a:solidFill>
            <a:prstDash val="solid"/>
          </a:ln>
        </p:spPr>
      </p:sp>
      <p:sp>
        <p:nvSpPr>
          <p:cNvPr id="24" name="Shape 22"/>
          <p:cNvSpPr/>
          <p:nvPr/>
        </p:nvSpPr>
        <p:spPr>
          <a:xfrm>
            <a:off x="2971800" y="1600200"/>
            <a:ext cx="914" cy="365760"/>
          </a:xfrm>
          <a:prstGeom prst="line">
            <a:avLst/>
          </a:prstGeom>
          <a:noFill/>
          <a:ln w="5080">
            <a:solidFill>
              <a:srgbClr val="D5DCE5"/>
            </a:solidFill>
            <a:prstDash val="solid"/>
          </a:ln>
        </p:spPr>
      </p:sp>
      <p:sp>
        <p:nvSpPr>
          <p:cNvPr id="25" name="Shape 23"/>
          <p:cNvSpPr/>
          <p:nvPr/>
        </p:nvSpPr>
        <p:spPr>
          <a:xfrm>
            <a:off x="3246120" y="1600200"/>
            <a:ext cx="914" cy="365760"/>
          </a:xfrm>
          <a:prstGeom prst="line">
            <a:avLst/>
          </a:prstGeom>
          <a:noFill/>
          <a:ln w="5080">
            <a:solidFill>
              <a:srgbClr val="D5DCE5"/>
            </a:solidFill>
            <a:prstDash val="solid"/>
          </a:ln>
        </p:spPr>
      </p:sp>
      <p:sp>
        <p:nvSpPr>
          <p:cNvPr id="26" name="Text 24"/>
          <p:cNvSpPr txBox="1"/>
          <p:nvPr/>
        </p:nvSpPr>
        <p:spPr>
          <a:xfrm>
            <a:off x="1325880" y="1600200"/>
            <a:ext cx="2194560" cy="36576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cache_read @ head</a:t>
            </a:r>
            <a:endParaRPr lang="en-US" sz="700" dirty="0"/>
          </a:p>
        </p:txBody>
      </p:sp>
      <p:sp>
        <p:nvSpPr>
          <p:cNvPr id="27" name="Text 25"/>
          <p:cNvSpPr txBox="1"/>
          <p:nvPr/>
        </p:nvSpPr>
        <p:spPr>
          <a:xfrm>
            <a:off x="1325880" y="1371600"/>
            <a:ext cx="237744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Kᵀ [128,S] (head 전체, SRAM)</a:t>
            </a:r>
            <a:endParaRPr lang="en-US" sz="850" dirty="0"/>
          </a:p>
        </p:txBody>
      </p:sp>
      <p:sp>
        <p:nvSpPr>
          <p:cNvPr id="28" name="Shape 26"/>
          <p:cNvSpPr/>
          <p:nvPr/>
        </p:nvSpPr>
        <p:spPr>
          <a:xfrm>
            <a:off x="1325880" y="2194560"/>
            <a:ext cx="2194560" cy="1463040"/>
          </a:xfrm>
          <a:prstGeom prst="rect">
            <a:avLst/>
          </a:prstGeom>
          <a:solidFill>
            <a:srgbClr val="EEF2F6"/>
          </a:solidFill>
          <a:ln w="12700">
            <a:solidFill>
              <a:srgbClr val="C9D3DF"/>
            </a:solidFill>
            <a:prstDash val="solid"/>
          </a:ln>
        </p:spPr>
      </p:sp>
      <p:sp>
        <p:nvSpPr>
          <p:cNvPr id="29" name="Shape 27"/>
          <p:cNvSpPr/>
          <p:nvPr/>
        </p:nvSpPr>
        <p:spPr>
          <a:xfrm>
            <a:off x="1325880" y="2560320"/>
            <a:ext cx="2194560" cy="365760"/>
          </a:xfrm>
          <a:prstGeom prst="rect">
            <a:avLst/>
          </a:prstGeom>
          <a:solidFill>
            <a:srgbClr val="ECE6FA"/>
          </a:solidFill>
          <a:ln w="15875">
            <a:solidFill>
              <a:srgbClr val="6C4FBF"/>
            </a:solidFill>
            <a:prstDash val="solid"/>
          </a:ln>
        </p:spPr>
      </p:sp>
      <p:sp>
        <p:nvSpPr>
          <p:cNvPr id="30" name="Shape 28"/>
          <p:cNvSpPr/>
          <p:nvPr/>
        </p:nvSpPr>
        <p:spPr>
          <a:xfrm>
            <a:off x="1600200" y="2194560"/>
            <a:ext cx="274320" cy="182880"/>
          </a:xfrm>
          <a:prstGeom prst="rect">
            <a:avLst/>
          </a:prstGeom>
          <a:solidFill>
            <a:srgbClr val="EEF2F6"/>
          </a:solidFill>
          <a:ln w="3810">
            <a:solidFill>
              <a:srgbClr val="C9D3DF"/>
            </a:solidFill>
            <a:prstDash val="solid"/>
          </a:ln>
        </p:spPr>
      </p:sp>
      <p:sp>
        <p:nvSpPr>
          <p:cNvPr id="31" name="Shape 29"/>
          <p:cNvSpPr/>
          <p:nvPr/>
        </p:nvSpPr>
        <p:spPr>
          <a:xfrm>
            <a:off x="1874520" y="2194560"/>
            <a:ext cx="274320" cy="182880"/>
          </a:xfrm>
          <a:prstGeom prst="rect">
            <a:avLst/>
          </a:prstGeom>
          <a:solidFill>
            <a:srgbClr val="EEF2F6"/>
          </a:solidFill>
          <a:ln w="3810">
            <a:solidFill>
              <a:srgbClr val="C9D3DF"/>
            </a:solidFill>
            <a:prstDash val="solid"/>
          </a:ln>
        </p:spPr>
      </p:sp>
      <p:sp>
        <p:nvSpPr>
          <p:cNvPr id="32" name="Shape 30"/>
          <p:cNvSpPr/>
          <p:nvPr/>
        </p:nvSpPr>
        <p:spPr>
          <a:xfrm>
            <a:off x="2148840" y="2194560"/>
            <a:ext cx="274320" cy="182880"/>
          </a:xfrm>
          <a:prstGeom prst="rect">
            <a:avLst/>
          </a:prstGeom>
          <a:solidFill>
            <a:srgbClr val="EEF2F6"/>
          </a:solidFill>
          <a:ln w="3810">
            <a:solidFill>
              <a:srgbClr val="C9D3DF"/>
            </a:solidFill>
            <a:prstDash val="solid"/>
          </a:ln>
        </p:spPr>
      </p:sp>
      <p:sp>
        <p:nvSpPr>
          <p:cNvPr id="33" name="Shape 31"/>
          <p:cNvSpPr/>
          <p:nvPr/>
        </p:nvSpPr>
        <p:spPr>
          <a:xfrm>
            <a:off x="2423160" y="2194560"/>
            <a:ext cx="274320" cy="182880"/>
          </a:xfrm>
          <a:prstGeom prst="rect">
            <a:avLst/>
          </a:prstGeom>
          <a:solidFill>
            <a:srgbClr val="EEF2F6"/>
          </a:solidFill>
          <a:ln w="3810">
            <a:solidFill>
              <a:srgbClr val="C9D3DF"/>
            </a:solidFill>
            <a:prstDash val="solid"/>
          </a:ln>
        </p:spPr>
      </p:sp>
      <p:sp>
        <p:nvSpPr>
          <p:cNvPr id="34" name="Shape 32"/>
          <p:cNvSpPr/>
          <p:nvPr/>
        </p:nvSpPr>
        <p:spPr>
          <a:xfrm>
            <a:off x="2697480" y="2194560"/>
            <a:ext cx="274320" cy="182880"/>
          </a:xfrm>
          <a:prstGeom prst="rect">
            <a:avLst/>
          </a:prstGeom>
          <a:solidFill>
            <a:srgbClr val="EEF2F6"/>
          </a:solidFill>
          <a:ln w="3810">
            <a:solidFill>
              <a:srgbClr val="C9D3DF"/>
            </a:solidFill>
            <a:prstDash val="solid"/>
          </a:ln>
        </p:spPr>
      </p:sp>
      <p:sp>
        <p:nvSpPr>
          <p:cNvPr id="35" name="Shape 33"/>
          <p:cNvSpPr/>
          <p:nvPr/>
        </p:nvSpPr>
        <p:spPr>
          <a:xfrm>
            <a:off x="2971800" y="2194560"/>
            <a:ext cx="274320" cy="182880"/>
          </a:xfrm>
          <a:prstGeom prst="rect">
            <a:avLst/>
          </a:prstGeom>
          <a:solidFill>
            <a:srgbClr val="EEF2F6"/>
          </a:solidFill>
          <a:ln w="3810">
            <a:solidFill>
              <a:srgbClr val="C9D3DF"/>
            </a:solidFill>
            <a:prstDash val="solid"/>
          </a:ln>
        </p:spPr>
      </p:sp>
      <p:sp>
        <p:nvSpPr>
          <p:cNvPr id="36" name="Shape 34"/>
          <p:cNvSpPr/>
          <p:nvPr/>
        </p:nvSpPr>
        <p:spPr>
          <a:xfrm>
            <a:off x="3246120" y="2194560"/>
            <a:ext cx="274320" cy="182880"/>
          </a:xfrm>
          <a:prstGeom prst="rect">
            <a:avLst/>
          </a:prstGeom>
          <a:solidFill>
            <a:srgbClr val="EEF2F6"/>
          </a:solidFill>
          <a:ln w="3810">
            <a:solidFill>
              <a:srgbClr val="C9D3DF"/>
            </a:solidFill>
            <a:prstDash val="solid"/>
          </a:ln>
        </p:spPr>
      </p:sp>
      <p:sp>
        <p:nvSpPr>
          <p:cNvPr id="37" name="Shape 35"/>
          <p:cNvSpPr/>
          <p:nvPr/>
        </p:nvSpPr>
        <p:spPr>
          <a:xfrm>
            <a:off x="1874520" y="2377440"/>
            <a:ext cx="274320" cy="182880"/>
          </a:xfrm>
          <a:prstGeom prst="rect">
            <a:avLst/>
          </a:prstGeom>
          <a:solidFill>
            <a:srgbClr val="EEF2F6"/>
          </a:solidFill>
          <a:ln w="3810">
            <a:solidFill>
              <a:srgbClr val="C9D3DF"/>
            </a:solidFill>
            <a:prstDash val="solid"/>
          </a:ln>
        </p:spPr>
      </p:sp>
      <p:sp>
        <p:nvSpPr>
          <p:cNvPr id="38" name="Shape 36"/>
          <p:cNvSpPr/>
          <p:nvPr/>
        </p:nvSpPr>
        <p:spPr>
          <a:xfrm>
            <a:off x="2148840" y="2377440"/>
            <a:ext cx="274320" cy="182880"/>
          </a:xfrm>
          <a:prstGeom prst="rect">
            <a:avLst/>
          </a:prstGeom>
          <a:solidFill>
            <a:srgbClr val="EEF2F6"/>
          </a:solidFill>
          <a:ln w="3810">
            <a:solidFill>
              <a:srgbClr val="C9D3DF"/>
            </a:solidFill>
            <a:prstDash val="solid"/>
          </a:ln>
        </p:spPr>
      </p:sp>
      <p:sp>
        <p:nvSpPr>
          <p:cNvPr id="39" name="Shape 37"/>
          <p:cNvSpPr/>
          <p:nvPr/>
        </p:nvSpPr>
        <p:spPr>
          <a:xfrm>
            <a:off x="2423160" y="2377440"/>
            <a:ext cx="274320" cy="182880"/>
          </a:xfrm>
          <a:prstGeom prst="rect">
            <a:avLst/>
          </a:prstGeom>
          <a:solidFill>
            <a:srgbClr val="EEF2F6"/>
          </a:solidFill>
          <a:ln w="3810">
            <a:solidFill>
              <a:srgbClr val="C9D3DF"/>
            </a:solidFill>
            <a:prstDash val="solid"/>
          </a:ln>
        </p:spPr>
      </p:sp>
      <p:sp>
        <p:nvSpPr>
          <p:cNvPr id="40" name="Shape 38"/>
          <p:cNvSpPr/>
          <p:nvPr/>
        </p:nvSpPr>
        <p:spPr>
          <a:xfrm>
            <a:off x="2697480" y="2377440"/>
            <a:ext cx="274320" cy="182880"/>
          </a:xfrm>
          <a:prstGeom prst="rect">
            <a:avLst/>
          </a:prstGeom>
          <a:solidFill>
            <a:srgbClr val="EEF2F6"/>
          </a:solidFill>
          <a:ln w="3810">
            <a:solidFill>
              <a:srgbClr val="C9D3DF"/>
            </a:solidFill>
            <a:prstDash val="solid"/>
          </a:ln>
        </p:spPr>
      </p:sp>
      <p:sp>
        <p:nvSpPr>
          <p:cNvPr id="41" name="Shape 39"/>
          <p:cNvSpPr/>
          <p:nvPr/>
        </p:nvSpPr>
        <p:spPr>
          <a:xfrm>
            <a:off x="2971800" y="2377440"/>
            <a:ext cx="274320" cy="182880"/>
          </a:xfrm>
          <a:prstGeom prst="rect">
            <a:avLst/>
          </a:prstGeom>
          <a:solidFill>
            <a:srgbClr val="EEF2F6"/>
          </a:solidFill>
          <a:ln w="3810">
            <a:solidFill>
              <a:srgbClr val="C9D3DF"/>
            </a:solidFill>
            <a:prstDash val="solid"/>
          </a:ln>
        </p:spPr>
      </p:sp>
      <p:sp>
        <p:nvSpPr>
          <p:cNvPr id="42" name="Shape 40"/>
          <p:cNvSpPr/>
          <p:nvPr/>
        </p:nvSpPr>
        <p:spPr>
          <a:xfrm>
            <a:off x="3246120" y="2377440"/>
            <a:ext cx="274320" cy="182880"/>
          </a:xfrm>
          <a:prstGeom prst="rect">
            <a:avLst/>
          </a:prstGeom>
          <a:solidFill>
            <a:srgbClr val="EEF2F6"/>
          </a:solidFill>
          <a:ln w="3810">
            <a:solidFill>
              <a:srgbClr val="C9D3DF"/>
            </a:solidFill>
            <a:prstDash val="solid"/>
          </a:ln>
        </p:spPr>
      </p:sp>
      <p:sp>
        <p:nvSpPr>
          <p:cNvPr id="43" name="Shape 41"/>
          <p:cNvSpPr/>
          <p:nvPr/>
        </p:nvSpPr>
        <p:spPr>
          <a:xfrm>
            <a:off x="2148840" y="2560320"/>
            <a:ext cx="274320" cy="182880"/>
          </a:xfrm>
          <a:prstGeom prst="rect">
            <a:avLst/>
          </a:prstGeom>
          <a:solidFill>
            <a:srgbClr val="EEF2F6"/>
          </a:solidFill>
          <a:ln w="3810">
            <a:solidFill>
              <a:srgbClr val="C9D3DF"/>
            </a:solidFill>
            <a:prstDash val="solid"/>
          </a:ln>
        </p:spPr>
      </p:sp>
      <p:sp>
        <p:nvSpPr>
          <p:cNvPr id="44" name="Shape 42"/>
          <p:cNvSpPr/>
          <p:nvPr/>
        </p:nvSpPr>
        <p:spPr>
          <a:xfrm>
            <a:off x="2423160" y="2560320"/>
            <a:ext cx="274320" cy="182880"/>
          </a:xfrm>
          <a:prstGeom prst="rect">
            <a:avLst/>
          </a:prstGeom>
          <a:solidFill>
            <a:srgbClr val="EEF2F6"/>
          </a:solidFill>
          <a:ln w="3810">
            <a:solidFill>
              <a:srgbClr val="C9D3DF"/>
            </a:solidFill>
            <a:prstDash val="solid"/>
          </a:ln>
        </p:spPr>
      </p:sp>
      <p:sp>
        <p:nvSpPr>
          <p:cNvPr id="45" name="Shape 43"/>
          <p:cNvSpPr/>
          <p:nvPr/>
        </p:nvSpPr>
        <p:spPr>
          <a:xfrm>
            <a:off x="2697480" y="2560320"/>
            <a:ext cx="274320" cy="182880"/>
          </a:xfrm>
          <a:prstGeom prst="rect">
            <a:avLst/>
          </a:prstGeom>
          <a:solidFill>
            <a:srgbClr val="EEF2F6"/>
          </a:solidFill>
          <a:ln w="3810">
            <a:solidFill>
              <a:srgbClr val="C9D3DF"/>
            </a:solidFill>
            <a:prstDash val="solid"/>
          </a:ln>
        </p:spPr>
      </p:sp>
      <p:sp>
        <p:nvSpPr>
          <p:cNvPr id="46" name="Shape 44"/>
          <p:cNvSpPr/>
          <p:nvPr/>
        </p:nvSpPr>
        <p:spPr>
          <a:xfrm>
            <a:off x="2971800" y="2560320"/>
            <a:ext cx="274320" cy="182880"/>
          </a:xfrm>
          <a:prstGeom prst="rect">
            <a:avLst/>
          </a:prstGeom>
          <a:solidFill>
            <a:srgbClr val="EEF2F6"/>
          </a:solidFill>
          <a:ln w="3810">
            <a:solidFill>
              <a:srgbClr val="C9D3DF"/>
            </a:solidFill>
            <a:prstDash val="solid"/>
          </a:ln>
        </p:spPr>
      </p:sp>
      <p:sp>
        <p:nvSpPr>
          <p:cNvPr id="47" name="Shape 45"/>
          <p:cNvSpPr/>
          <p:nvPr/>
        </p:nvSpPr>
        <p:spPr>
          <a:xfrm>
            <a:off x="3246120" y="2560320"/>
            <a:ext cx="274320" cy="182880"/>
          </a:xfrm>
          <a:prstGeom prst="rect">
            <a:avLst/>
          </a:prstGeom>
          <a:solidFill>
            <a:srgbClr val="EEF2F6"/>
          </a:solidFill>
          <a:ln w="3810">
            <a:solidFill>
              <a:srgbClr val="C9D3DF"/>
            </a:solidFill>
            <a:prstDash val="solid"/>
          </a:ln>
        </p:spPr>
      </p:sp>
      <p:sp>
        <p:nvSpPr>
          <p:cNvPr id="48" name="Shape 46"/>
          <p:cNvSpPr/>
          <p:nvPr/>
        </p:nvSpPr>
        <p:spPr>
          <a:xfrm>
            <a:off x="2423160" y="2743200"/>
            <a:ext cx="274320" cy="182880"/>
          </a:xfrm>
          <a:prstGeom prst="rect">
            <a:avLst/>
          </a:prstGeom>
          <a:solidFill>
            <a:srgbClr val="EEF2F6"/>
          </a:solidFill>
          <a:ln w="3810">
            <a:solidFill>
              <a:srgbClr val="C9D3DF"/>
            </a:solidFill>
            <a:prstDash val="solid"/>
          </a:ln>
        </p:spPr>
      </p:sp>
      <p:sp>
        <p:nvSpPr>
          <p:cNvPr id="49" name="Shape 47"/>
          <p:cNvSpPr/>
          <p:nvPr/>
        </p:nvSpPr>
        <p:spPr>
          <a:xfrm>
            <a:off x="2697480" y="2743200"/>
            <a:ext cx="274320" cy="182880"/>
          </a:xfrm>
          <a:prstGeom prst="rect">
            <a:avLst/>
          </a:prstGeom>
          <a:solidFill>
            <a:srgbClr val="EEF2F6"/>
          </a:solidFill>
          <a:ln w="3810">
            <a:solidFill>
              <a:srgbClr val="C9D3DF"/>
            </a:solidFill>
            <a:prstDash val="solid"/>
          </a:ln>
        </p:spPr>
      </p:sp>
      <p:sp>
        <p:nvSpPr>
          <p:cNvPr id="50" name="Shape 48"/>
          <p:cNvSpPr/>
          <p:nvPr/>
        </p:nvSpPr>
        <p:spPr>
          <a:xfrm>
            <a:off x="2971800" y="2743200"/>
            <a:ext cx="274320" cy="182880"/>
          </a:xfrm>
          <a:prstGeom prst="rect">
            <a:avLst/>
          </a:prstGeom>
          <a:solidFill>
            <a:srgbClr val="EEF2F6"/>
          </a:solidFill>
          <a:ln w="3810">
            <a:solidFill>
              <a:srgbClr val="C9D3DF"/>
            </a:solidFill>
            <a:prstDash val="solid"/>
          </a:ln>
        </p:spPr>
      </p:sp>
      <p:sp>
        <p:nvSpPr>
          <p:cNvPr id="51" name="Shape 49"/>
          <p:cNvSpPr/>
          <p:nvPr/>
        </p:nvSpPr>
        <p:spPr>
          <a:xfrm>
            <a:off x="3246120" y="2743200"/>
            <a:ext cx="274320" cy="182880"/>
          </a:xfrm>
          <a:prstGeom prst="rect">
            <a:avLst/>
          </a:prstGeom>
          <a:solidFill>
            <a:srgbClr val="EEF2F6"/>
          </a:solidFill>
          <a:ln w="3810">
            <a:solidFill>
              <a:srgbClr val="C9D3DF"/>
            </a:solidFill>
            <a:prstDash val="solid"/>
          </a:ln>
        </p:spPr>
      </p:sp>
      <p:sp>
        <p:nvSpPr>
          <p:cNvPr id="52" name="Shape 50"/>
          <p:cNvSpPr/>
          <p:nvPr/>
        </p:nvSpPr>
        <p:spPr>
          <a:xfrm>
            <a:off x="2697480" y="2926080"/>
            <a:ext cx="274320" cy="182880"/>
          </a:xfrm>
          <a:prstGeom prst="rect">
            <a:avLst/>
          </a:prstGeom>
          <a:solidFill>
            <a:srgbClr val="EEF2F6"/>
          </a:solidFill>
          <a:ln w="3810">
            <a:solidFill>
              <a:srgbClr val="C9D3DF"/>
            </a:solidFill>
            <a:prstDash val="solid"/>
          </a:ln>
        </p:spPr>
      </p:sp>
      <p:sp>
        <p:nvSpPr>
          <p:cNvPr id="53" name="Shape 51"/>
          <p:cNvSpPr/>
          <p:nvPr/>
        </p:nvSpPr>
        <p:spPr>
          <a:xfrm>
            <a:off x="2971800" y="2926080"/>
            <a:ext cx="274320" cy="182880"/>
          </a:xfrm>
          <a:prstGeom prst="rect">
            <a:avLst/>
          </a:prstGeom>
          <a:solidFill>
            <a:srgbClr val="EEF2F6"/>
          </a:solidFill>
          <a:ln w="3810">
            <a:solidFill>
              <a:srgbClr val="C9D3DF"/>
            </a:solidFill>
            <a:prstDash val="solid"/>
          </a:ln>
        </p:spPr>
      </p:sp>
      <p:sp>
        <p:nvSpPr>
          <p:cNvPr id="54" name="Shape 52"/>
          <p:cNvSpPr/>
          <p:nvPr/>
        </p:nvSpPr>
        <p:spPr>
          <a:xfrm>
            <a:off x="3246120" y="2926080"/>
            <a:ext cx="274320" cy="182880"/>
          </a:xfrm>
          <a:prstGeom prst="rect">
            <a:avLst/>
          </a:prstGeom>
          <a:solidFill>
            <a:srgbClr val="EEF2F6"/>
          </a:solidFill>
          <a:ln w="3810">
            <a:solidFill>
              <a:srgbClr val="C9D3DF"/>
            </a:solidFill>
            <a:prstDash val="solid"/>
          </a:ln>
        </p:spPr>
      </p:sp>
      <p:sp>
        <p:nvSpPr>
          <p:cNvPr id="55" name="Shape 53"/>
          <p:cNvSpPr/>
          <p:nvPr/>
        </p:nvSpPr>
        <p:spPr>
          <a:xfrm>
            <a:off x="2971800" y="3108960"/>
            <a:ext cx="274320" cy="182880"/>
          </a:xfrm>
          <a:prstGeom prst="rect">
            <a:avLst/>
          </a:prstGeom>
          <a:solidFill>
            <a:srgbClr val="EEF2F6"/>
          </a:solidFill>
          <a:ln w="3810">
            <a:solidFill>
              <a:srgbClr val="C9D3DF"/>
            </a:solidFill>
            <a:prstDash val="solid"/>
          </a:ln>
        </p:spPr>
      </p:sp>
      <p:sp>
        <p:nvSpPr>
          <p:cNvPr id="56" name="Shape 54"/>
          <p:cNvSpPr/>
          <p:nvPr/>
        </p:nvSpPr>
        <p:spPr>
          <a:xfrm>
            <a:off x="3246120" y="3108960"/>
            <a:ext cx="274320" cy="182880"/>
          </a:xfrm>
          <a:prstGeom prst="rect">
            <a:avLst/>
          </a:prstGeom>
          <a:solidFill>
            <a:srgbClr val="EEF2F6"/>
          </a:solidFill>
          <a:ln w="3810">
            <a:solidFill>
              <a:srgbClr val="C9D3DF"/>
            </a:solidFill>
            <a:prstDash val="solid"/>
          </a:ln>
        </p:spPr>
      </p:sp>
      <p:sp>
        <p:nvSpPr>
          <p:cNvPr id="57" name="Shape 55"/>
          <p:cNvSpPr/>
          <p:nvPr/>
        </p:nvSpPr>
        <p:spPr>
          <a:xfrm>
            <a:off x="3246120" y="3291840"/>
            <a:ext cx="274320" cy="182880"/>
          </a:xfrm>
          <a:prstGeom prst="rect">
            <a:avLst/>
          </a:prstGeom>
          <a:solidFill>
            <a:srgbClr val="EEF2F6"/>
          </a:solidFill>
          <a:ln w="3810">
            <a:solidFill>
              <a:srgbClr val="C9D3DF"/>
            </a:solidFill>
            <a:prstDash val="solid"/>
          </a:ln>
        </p:spPr>
      </p:sp>
      <p:sp>
        <p:nvSpPr>
          <p:cNvPr id="58" name="Shape 56"/>
          <p:cNvSpPr/>
          <p:nvPr/>
        </p:nvSpPr>
        <p:spPr>
          <a:xfrm>
            <a:off x="1600200" y="2194560"/>
            <a:ext cx="914" cy="1463040"/>
          </a:xfrm>
          <a:prstGeom prst="line">
            <a:avLst/>
          </a:prstGeom>
          <a:noFill/>
          <a:ln w="5080">
            <a:solidFill>
              <a:srgbClr val="D5DCE5"/>
            </a:solidFill>
            <a:prstDash val="solid"/>
          </a:ln>
        </p:spPr>
      </p:sp>
      <p:sp>
        <p:nvSpPr>
          <p:cNvPr id="59" name="Shape 57"/>
          <p:cNvSpPr/>
          <p:nvPr/>
        </p:nvSpPr>
        <p:spPr>
          <a:xfrm>
            <a:off x="1874520" y="2194560"/>
            <a:ext cx="914" cy="1463040"/>
          </a:xfrm>
          <a:prstGeom prst="line">
            <a:avLst/>
          </a:prstGeom>
          <a:noFill/>
          <a:ln w="5080">
            <a:solidFill>
              <a:srgbClr val="D5DCE5"/>
            </a:solidFill>
            <a:prstDash val="solid"/>
          </a:ln>
        </p:spPr>
      </p:sp>
      <p:sp>
        <p:nvSpPr>
          <p:cNvPr id="60" name="Shape 58"/>
          <p:cNvSpPr/>
          <p:nvPr/>
        </p:nvSpPr>
        <p:spPr>
          <a:xfrm>
            <a:off x="2148840" y="2194560"/>
            <a:ext cx="914" cy="1463040"/>
          </a:xfrm>
          <a:prstGeom prst="line">
            <a:avLst/>
          </a:prstGeom>
          <a:noFill/>
          <a:ln w="5080">
            <a:solidFill>
              <a:srgbClr val="D5DCE5"/>
            </a:solidFill>
            <a:prstDash val="solid"/>
          </a:ln>
        </p:spPr>
      </p:sp>
      <p:sp>
        <p:nvSpPr>
          <p:cNvPr id="61" name="Shape 59"/>
          <p:cNvSpPr/>
          <p:nvPr/>
        </p:nvSpPr>
        <p:spPr>
          <a:xfrm>
            <a:off x="2423160" y="2194560"/>
            <a:ext cx="914" cy="1463040"/>
          </a:xfrm>
          <a:prstGeom prst="line">
            <a:avLst/>
          </a:prstGeom>
          <a:noFill/>
          <a:ln w="5080">
            <a:solidFill>
              <a:srgbClr val="D5DCE5"/>
            </a:solidFill>
            <a:prstDash val="solid"/>
          </a:ln>
        </p:spPr>
      </p:sp>
      <p:sp>
        <p:nvSpPr>
          <p:cNvPr id="62" name="Shape 60"/>
          <p:cNvSpPr/>
          <p:nvPr/>
        </p:nvSpPr>
        <p:spPr>
          <a:xfrm>
            <a:off x="2697480" y="2194560"/>
            <a:ext cx="914" cy="1463040"/>
          </a:xfrm>
          <a:prstGeom prst="line">
            <a:avLst/>
          </a:prstGeom>
          <a:noFill/>
          <a:ln w="5080">
            <a:solidFill>
              <a:srgbClr val="D5DCE5"/>
            </a:solidFill>
            <a:prstDash val="solid"/>
          </a:ln>
        </p:spPr>
      </p:sp>
      <p:sp>
        <p:nvSpPr>
          <p:cNvPr id="63" name="Shape 61"/>
          <p:cNvSpPr/>
          <p:nvPr/>
        </p:nvSpPr>
        <p:spPr>
          <a:xfrm>
            <a:off x="2971800" y="2194560"/>
            <a:ext cx="914" cy="1463040"/>
          </a:xfrm>
          <a:prstGeom prst="line">
            <a:avLst/>
          </a:prstGeom>
          <a:noFill/>
          <a:ln w="5080">
            <a:solidFill>
              <a:srgbClr val="D5DCE5"/>
            </a:solidFill>
            <a:prstDash val="solid"/>
          </a:ln>
        </p:spPr>
      </p:sp>
      <p:sp>
        <p:nvSpPr>
          <p:cNvPr id="64" name="Shape 62"/>
          <p:cNvSpPr/>
          <p:nvPr/>
        </p:nvSpPr>
        <p:spPr>
          <a:xfrm>
            <a:off x="3246120" y="2194560"/>
            <a:ext cx="914" cy="1463040"/>
          </a:xfrm>
          <a:prstGeom prst="line">
            <a:avLst/>
          </a:prstGeom>
          <a:noFill/>
          <a:ln w="5080">
            <a:solidFill>
              <a:srgbClr val="D5DCE5"/>
            </a:solidFill>
            <a:prstDash val="solid"/>
          </a:ln>
        </p:spPr>
      </p:sp>
      <p:sp>
        <p:nvSpPr>
          <p:cNvPr id="65" name="Shape 63"/>
          <p:cNvSpPr/>
          <p:nvPr/>
        </p:nvSpPr>
        <p:spPr>
          <a:xfrm>
            <a:off x="1325880" y="2377440"/>
            <a:ext cx="2194560" cy="914"/>
          </a:xfrm>
          <a:prstGeom prst="line">
            <a:avLst/>
          </a:prstGeom>
          <a:noFill/>
          <a:ln w="5080">
            <a:solidFill>
              <a:srgbClr val="D5DCE5"/>
            </a:solidFill>
            <a:prstDash val="solid"/>
          </a:ln>
        </p:spPr>
      </p:sp>
      <p:sp>
        <p:nvSpPr>
          <p:cNvPr id="66" name="Shape 64"/>
          <p:cNvSpPr/>
          <p:nvPr/>
        </p:nvSpPr>
        <p:spPr>
          <a:xfrm>
            <a:off x="1325880" y="2560320"/>
            <a:ext cx="2194560" cy="914"/>
          </a:xfrm>
          <a:prstGeom prst="line">
            <a:avLst/>
          </a:prstGeom>
          <a:noFill/>
          <a:ln w="5080">
            <a:solidFill>
              <a:srgbClr val="D5DCE5"/>
            </a:solidFill>
            <a:prstDash val="solid"/>
          </a:ln>
        </p:spPr>
      </p:sp>
      <p:sp>
        <p:nvSpPr>
          <p:cNvPr id="67" name="Shape 65"/>
          <p:cNvSpPr/>
          <p:nvPr/>
        </p:nvSpPr>
        <p:spPr>
          <a:xfrm>
            <a:off x="1325880" y="2743200"/>
            <a:ext cx="2194560" cy="914"/>
          </a:xfrm>
          <a:prstGeom prst="line">
            <a:avLst/>
          </a:prstGeom>
          <a:noFill/>
          <a:ln w="5080">
            <a:solidFill>
              <a:srgbClr val="D5DCE5"/>
            </a:solidFill>
            <a:prstDash val="solid"/>
          </a:ln>
        </p:spPr>
      </p:sp>
      <p:sp>
        <p:nvSpPr>
          <p:cNvPr id="68" name="Shape 66"/>
          <p:cNvSpPr/>
          <p:nvPr/>
        </p:nvSpPr>
        <p:spPr>
          <a:xfrm>
            <a:off x="1325880" y="2926080"/>
            <a:ext cx="2194560" cy="914"/>
          </a:xfrm>
          <a:prstGeom prst="line">
            <a:avLst/>
          </a:prstGeom>
          <a:noFill/>
          <a:ln w="5080">
            <a:solidFill>
              <a:srgbClr val="D5DCE5"/>
            </a:solidFill>
            <a:prstDash val="solid"/>
          </a:ln>
        </p:spPr>
      </p:sp>
      <p:sp>
        <p:nvSpPr>
          <p:cNvPr id="69" name="Shape 67"/>
          <p:cNvSpPr/>
          <p:nvPr/>
        </p:nvSpPr>
        <p:spPr>
          <a:xfrm>
            <a:off x="1325880" y="3108960"/>
            <a:ext cx="2194560" cy="914"/>
          </a:xfrm>
          <a:prstGeom prst="line">
            <a:avLst/>
          </a:prstGeom>
          <a:noFill/>
          <a:ln w="5080">
            <a:solidFill>
              <a:srgbClr val="D5DCE5"/>
            </a:solidFill>
            <a:prstDash val="solid"/>
          </a:ln>
        </p:spPr>
      </p:sp>
      <p:sp>
        <p:nvSpPr>
          <p:cNvPr id="70" name="Shape 68"/>
          <p:cNvSpPr/>
          <p:nvPr/>
        </p:nvSpPr>
        <p:spPr>
          <a:xfrm>
            <a:off x="1325880" y="3291840"/>
            <a:ext cx="2194560" cy="914"/>
          </a:xfrm>
          <a:prstGeom prst="line">
            <a:avLst/>
          </a:prstGeom>
          <a:noFill/>
          <a:ln w="5080">
            <a:solidFill>
              <a:srgbClr val="D5DCE5"/>
            </a:solidFill>
            <a:prstDash val="solid"/>
          </a:ln>
        </p:spPr>
      </p:sp>
      <p:sp>
        <p:nvSpPr>
          <p:cNvPr id="71" name="Shape 69"/>
          <p:cNvSpPr/>
          <p:nvPr/>
        </p:nvSpPr>
        <p:spPr>
          <a:xfrm>
            <a:off x="1325880" y="3474720"/>
            <a:ext cx="2194560" cy="914"/>
          </a:xfrm>
          <a:prstGeom prst="line">
            <a:avLst/>
          </a:prstGeom>
          <a:noFill/>
          <a:ln w="5080">
            <a:solidFill>
              <a:srgbClr val="D5DCE5"/>
            </a:solidFill>
            <a:prstDash val="solid"/>
          </a:ln>
        </p:spPr>
      </p:sp>
      <p:sp>
        <p:nvSpPr>
          <p:cNvPr id="72" name="Text 70"/>
          <p:cNvSpPr txBox="1"/>
          <p:nvPr/>
        </p:nvSpPr>
        <p:spPr>
          <a:xfrm>
            <a:off x="1325880" y="3694176"/>
            <a:ext cx="237744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scores [S,S]: block 행만 계산 (/√128, +mask). 회색 = causal 0</a:t>
            </a:r>
            <a:endParaRPr lang="en-US" sz="750" dirty="0"/>
          </a:p>
        </p:txBody>
      </p:sp>
      <p:sp>
        <p:nvSpPr>
          <p:cNvPr id="73" name="Text 71"/>
          <p:cNvSpPr txBox="1"/>
          <p:nvPr/>
        </p:nvSpPr>
        <p:spPr>
          <a:xfrm>
            <a:off x="1371600" y="2560320"/>
            <a:ext cx="1097280" cy="365760"/>
          </a:xfrm>
          <a:prstGeom prst="rect">
            <a:avLst/>
          </a:prstGeom>
          <a:noFill/>
          <a:ln/>
        </p:spPr>
        <p:txBody>
          <a:bodyPr wrap="square" lIns="0" tIns="0" rIns="0" bIns="0" rtlCol="0" anchor="ctr"/>
          <a:lstStyle/>
          <a:p>
            <a:pPr algn="l" indent="0" marL="0">
              <a:buNone/>
            </a:pPr>
            <a:r>
              <a:rPr lang="en-US" sz="700" b="1" dirty="0">
                <a:solidFill>
                  <a:srgbClr val="6C4FBF"/>
                </a:solidFill>
                <a:latin typeface="Malgun Gothic" pitchFamily="34" charset="0"/>
                <a:ea typeface="Malgun Gothic" pitchFamily="34" charset="-122"/>
                <a:cs typeface="Malgun Gothic" pitchFamily="34" charset="-120"/>
              </a:rPr>
              <a:t>scores block</a:t>
            </a:r>
            <a:endParaRPr lang="en-US" sz="700" dirty="0"/>
          </a:p>
          <a:p>
            <a:pPr algn="l" indent="0" marL="0">
              <a:buNone/>
            </a:pPr>
            <a:r>
              <a:rPr lang="en-US" sz="700" b="1" dirty="0">
                <a:solidFill>
                  <a:srgbClr val="6C4FBF"/>
                </a:solidFill>
                <a:latin typeface="Malgun Gothic" pitchFamily="34" charset="0"/>
                <a:ea typeface="Malgun Gothic" pitchFamily="34" charset="-122"/>
                <a:cs typeface="Malgun Gothic" pitchFamily="34" charset="-120"/>
              </a:rPr>
              <a:t>[block, S]</a:t>
            </a:r>
            <a:endParaRPr lang="en-US" sz="700" dirty="0"/>
          </a:p>
        </p:txBody>
      </p:sp>
      <p:sp>
        <p:nvSpPr>
          <p:cNvPr id="74" name="Shape 72"/>
          <p:cNvSpPr/>
          <p:nvPr/>
        </p:nvSpPr>
        <p:spPr>
          <a:xfrm>
            <a:off x="1033272" y="2514600"/>
            <a:ext cx="292608" cy="228600"/>
          </a:xfrm>
          <a:prstGeom prst="line">
            <a:avLst/>
          </a:prstGeom>
          <a:noFill/>
          <a:ln w="19050">
            <a:solidFill>
              <a:srgbClr val="6C4FBF"/>
            </a:solidFill>
            <a:prstDash val="solid"/>
            <a:tailEnd type="triangle"/>
          </a:ln>
        </p:spPr>
      </p:sp>
      <p:sp>
        <p:nvSpPr>
          <p:cNvPr id="75" name="Shape 73"/>
          <p:cNvSpPr/>
          <p:nvPr/>
        </p:nvSpPr>
        <p:spPr>
          <a:xfrm>
            <a:off x="3566160" y="2743200"/>
            <a:ext cx="411480" cy="914"/>
          </a:xfrm>
          <a:prstGeom prst="line">
            <a:avLst/>
          </a:prstGeom>
          <a:noFill/>
          <a:ln w="19050">
            <a:solidFill>
              <a:srgbClr val="6C4FBF"/>
            </a:solidFill>
            <a:prstDash val="solid"/>
            <a:tailEnd type="triangle"/>
          </a:ln>
        </p:spPr>
      </p:sp>
      <p:sp>
        <p:nvSpPr>
          <p:cNvPr id="76" name="Text 74"/>
          <p:cNvSpPr txBox="1"/>
          <p:nvPr/>
        </p:nvSpPr>
        <p:spPr>
          <a:xfrm>
            <a:off x="3538728" y="2377440"/>
            <a:ext cx="548640" cy="347472"/>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softmax</a:t>
            </a:r>
            <a:endParaRPr lang="en-US" sz="650" dirty="0"/>
          </a:p>
          <a:p>
            <a:pPr algn="ctr" indent="0" marL="0">
              <a:buNone/>
            </a:pPr>
            <a:r>
              <a:rPr lang="en-US" sz="650" dirty="0">
                <a:solidFill>
                  <a:srgbClr val="5B6B7F"/>
                </a:solidFill>
                <a:latin typeface="Malgun Gothic" pitchFamily="34" charset="0"/>
                <a:ea typeface="Malgun Gothic" pitchFamily="34" charset="-122"/>
                <a:cs typeface="Malgun Gothic" pitchFamily="34" charset="-120"/>
              </a:rPr>
              <a:t>(행 전체)</a:t>
            </a:r>
            <a:endParaRPr lang="en-US" sz="650" dirty="0"/>
          </a:p>
        </p:txBody>
      </p:sp>
      <p:sp>
        <p:nvSpPr>
          <p:cNvPr id="77" name="Shape 75"/>
          <p:cNvSpPr/>
          <p:nvPr/>
        </p:nvSpPr>
        <p:spPr>
          <a:xfrm>
            <a:off x="4069080" y="2194560"/>
            <a:ext cx="2194560" cy="1463040"/>
          </a:xfrm>
          <a:prstGeom prst="rect">
            <a:avLst/>
          </a:prstGeom>
          <a:solidFill>
            <a:srgbClr val="EEF2F6"/>
          </a:solidFill>
          <a:ln w="12700">
            <a:solidFill>
              <a:srgbClr val="C9D3DF"/>
            </a:solidFill>
            <a:prstDash val="solid"/>
          </a:ln>
        </p:spPr>
      </p:sp>
      <p:sp>
        <p:nvSpPr>
          <p:cNvPr id="78" name="Shape 76"/>
          <p:cNvSpPr/>
          <p:nvPr/>
        </p:nvSpPr>
        <p:spPr>
          <a:xfrm>
            <a:off x="4069080" y="2560320"/>
            <a:ext cx="2194560" cy="365760"/>
          </a:xfrm>
          <a:prstGeom prst="rect">
            <a:avLst/>
          </a:prstGeom>
          <a:solidFill>
            <a:srgbClr val="ECE6FA"/>
          </a:solidFill>
          <a:ln w="15875">
            <a:solidFill>
              <a:srgbClr val="6C4FBF"/>
            </a:solidFill>
            <a:prstDash val="solid"/>
          </a:ln>
        </p:spPr>
      </p:sp>
      <p:sp>
        <p:nvSpPr>
          <p:cNvPr id="79" name="Shape 77"/>
          <p:cNvSpPr/>
          <p:nvPr/>
        </p:nvSpPr>
        <p:spPr>
          <a:xfrm>
            <a:off x="4343400" y="2194560"/>
            <a:ext cx="274320" cy="182880"/>
          </a:xfrm>
          <a:prstGeom prst="rect">
            <a:avLst/>
          </a:prstGeom>
          <a:solidFill>
            <a:srgbClr val="EEF2F6"/>
          </a:solidFill>
          <a:ln w="3810">
            <a:solidFill>
              <a:srgbClr val="C9D3DF"/>
            </a:solidFill>
            <a:prstDash val="solid"/>
          </a:ln>
        </p:spPr>
      </p:sp>
      <p:sp>
        <p:nvSpPr>
          <p:cNvPr id="80" name="Shape 78"/>
          <p:cNvSpPr/>
          <p:nvPr/>
        </p:nvSpPr>
        <p:spPr>
          <a:xfrm>
            <a:off x="4617720" y="2194560"/>
            <a:ext cx="274320" cy="182880"/>
          </a:xfrm>
          <a:prstGeom prst="rect">
            <a:avLst/>
          </a:prstGeom>
          <a:solidFill>
            <a:srgbClr val="EEF2F6"/>
          </a:solidFill>
          <a:ln w="3810">
            <a:solidFill>
              <a:srgbClr val="C9D3DF"/>
            </a:solidFill>
            <a:prstDash val="solid"/>
          </a:ln>
        </p:spPr>
      </p:sp>
      <p:sp>
        <p:nvSpPr>
          <p:cNvPr id="81" name="Shape 79"/>
          <p:cNvSpPr/>
          <p:nvPr/>
        </p:nvSpPr>
        <p:spPr>
          <a:xfrm>
            <a:off x="4892040" y="2194560"/>
            <a:ext cx="274320" cy="182880"/>
          </a:xfrm>
          <a:prstGeom prst="rect">
            <a:avLst/>
          </a:prstGeom>
          <a:solidFill>
            <a:srgbClr val="EEF2F6"/>
          </a:solidFill>
          <a:ln w="3810">
            <a:solidFill>
              <a:srgbClr val="C9D3DF"/>
            </a:solidFill>
            <a:prstDash val="solid"/>
          </a:ln>
        </p:spPr>
      </p:sp>
      <p:sp>
        <p:nvSpPr>
          <p:cNvPr id="82" name="Shape 80"/>
          <p:cNvSpPr/>
          <p:nvPr/>
        </p:nvSpPr>
        <p:spPr>
          <a:xfrm>
            <a:off x="5166360" y="2194560"/>
            <a:ext cx="274320" cy="182880"/>
          </a:xfrm>
          <a:prstGeom prst="rect">
            <a:avLst/>
          </a:prstGeom>
          <a:solidFill>
            <a:srgbClr val="EEF2F6"/>
          </a:solidFill>
          <a:ln w="3810">
            <a:solidFill>
              <a:srgbClr val="C9D3DF"/>
            </a:solidFill>
            <a:prstDash val="solid"/>
          </a:ln>
        </p:spPr>
      </p:sp>
      <p:sp>
        <p:nvSpPr>
          <p:cNvPr id="83" name="Shape 81"/>
          <p:cNvSpPr/>
          <p:nvPr/>
        </p:nvSpPr>
        <p:spPr>
          <a:xfrm>
            <a:off x="5440680" y="2194560"/>
            <a:ext cx="274320" cy="182880"/>
          </a:xfrm>
          <a:prstGeom prst="rect">
            <a:avLst/>
          </a:prstGeom>
          <a:solidFill>
            <a:srgbClr val="EEF2F6"/>
          </a:solidFill>
          <a:ln w="3810">
            <a:solidFill>
              <a:srgbClr val="C9D3DF"/>
            </a:solidFill>
            <a:prstDash val="solid"/>
          </a:ln>
        </p:spPr>
      </p:sp>
      <p:sp>
        <p:nvSpPr>
          <p:cNvPr id="84" name="Shape 82"/>
          <p:cNvSpPr/>
          <p:nvPr/>
        </p:nvSpPr>
        <p:spPr>
          <a:xfrm>
            <a:off x="5715000" y="2194560"/>
            <a:ext cx="274320" cy="182880"/>
          </a:xfrm>
          <a:prstGeom prst="rect">
            <a:avLst/>
          </a:prstGeom>
          <a:solidFill>
            <a:srgbClr val="EEF2F6"/>
          </a:solidFill>
          <a:ln w="3810">
            <a:solidFill>
              <a:srgbClr val="C9D3DF"/>
            </a:solidFill>
            <a:prstDash val="solid"/>
          </a:ln>
        </p:spPr>
      </p:sp>
      <p:sp>
        <p:nvSpPr>
          <p:cNvPr id="85" name="Shape 83"/>
          <p:cNvSpPr/>
          <p:nvPr/>
        </p:nvSpPr>
        <p:spPr>
          <a:xfrm>
            <a:off x="5989320" y="2194560"/>
            <a:ext cx="274320" cy="182880"/>
          </a:xfrm>
          <a:prstGeom prst="rect">
            <a:avLst/>
          </a:prstGeom>
          <a:solidFill>
            <a:srgbClr val="EEF2F6"/>
          </a:solidFill>
          <a:ln w="3810">
            <a:solidFill>
              <a:srgbClr val="C9D3DF"/>
            </a:solidFill>
            <a:prstDash val="solid"/>
          </a:ln>
        </p:spPr>
      </p:sp>
      <p:sp>
        <p:nvSpPr>
          <p:cNvPr id="86" name="Shape 84"/>
          <p:cNvSpPr/>
          <p:nvPr/>
        </p:nvSpPr>
        <p:spPr>
          <a:xfrm>
            <a:off x="4617720" y="2377440"/>
            <a:ext cx="274320" cy="182880"/>
          </a:xfrm>
          <a:prstGeom prst="rect">
            <a:avLst/>
          </a:prstGeom>
          <a:solidFill>
            <a:srgbClr val="EEF2F6"/>
          </a:solidFill>
          <a:ln w="3810">
            <a:solidFill>
              <a:srgbClr val="C9D3DF"/>
            </a:solidFill>
            <a:prstDash val="solid"/>
          </a:ln>
        </p:spPr>
      </p:sp>
      <p:sp>
        <p:nvSpPr>
          <p:cNvPr id="87" name="Shape 85"/>
          <p:cNvSpPr/>
          <p:nvPr/>
        </p:nvSpPr>
        <p:spPr>
          <a:xfrm>
            <a:off x="4892040" y="2377440"/>
            <a:ext cx="274320" cy="182880"/>
          </a:xfrm>
          <a:prstGeom prst="rect">
            <a:avLst/>
          </a:prstGeom>
          <a:solidFill>
            <a:srgbClr val="EEF2F6"/>
          </a:solidFill>
          <a:ln w="3810">
            <a:solidFill>
              <a:srgbClr val="C9D3DF"/>
            </a:solidFill>
            <a:prstDash val="solid"/>
          </a:ln>
        </p:spPr>
      </p:sp>
      <p:sp>
        <p:nvSpPr>
          <p:cNvPr id="88" name="Shape 86"/>
          <p:cNvSpPr/>
          <p:nvPr/>
        </p:nvSpPr>
        <p:spPr>
          <a:xfrm>
            <a:off x="5166360" y="2377440"/>
            <a:ext cx="274320" cy="182880"/>
          </a:xfrm>
          <a:prstGeom prst="rect">
            <a:avLst/>
          </a:prstGeom>
          <a:solidFill>
            <a:srgbClr val="EEF2F6"/>
          </a:solidFill>
          <a:ln w="3810">
            <a:solidFill>
              <a:srgbClr val="C9D3DF"/>
            </a:solidFill>
            <a:prstDash val="solid"/>
          </a:ln>
        </p:spPr>
      </p:sp>
      <p:sp>
        <p:nvSpPr>
          <p:cNvPr id="89" name="Shape 87"/>
          <p:cNvSpPr/>
          <p:nvPr/>
        </p:nvSpPr>
        <p:spPr>
          <a:xfrm>
            <a:off x="5440680" y="2377440"/>
            <a:ext cx="274320" cy="182880"/>
          </a:xfrm>
          <a:prstGeom prst="rect">
            <a:avLst/>
          </a:prstGeom>
          <a:solidFill>
            <a:srgbClr val="EEF2F6"/>
          </a:solidFill>
          <a:ln w="3810">
            <a:solidFill>
              <a:srgbClr val="C9D3DF"/>
            </a:solidFill>
            <a:prstDash val="solid"/>
          </a:ln>
        </p:spPr>
      </p:sp>
      <p:sp>
        <p:nvSpPr>
          <p:cNvPr id="90" name="Shape 88"/>
          <p:cNvSpPr/>
          <p:nvPr/>
        </p:nvSpPr>
        <p:spPr>
          <a:xfrm>
            <a:off x="5715000" y="2377440"/>
            <a:ext cx="274320" cy="182880"/>
          </a:xfrm>
          <a:prstGeom prst="rect">
            <a:avLst/>
          </a:prstGeom>
          <a:solidFill>
            <a:srgbClr val="EEF2F6"/>
          </a:solidFill>
          <a:ln w="3810">
            <a:solidFill>
              <a:srgbClr val="C9D3DF"/>
            </a:solidFill>
            <a:prstDash val="solid"/>
          </a:ln>
        </p:spPr>
      </p:sp>
      <p:sp>
        <p:nvSpPr>
          <p:cNvPr id="91" name="Shape 89"/>
          <p:cNvSpPr/>
          <p:nvPr/>
        </p:nvSpPr>
        <p:spPr>
          <a:xfrm>
            <a:off x="5989320" y="2377440"/>
            <a:ext cx="274320" cy="182880"/>
          </a:xfrm>
          <a:prstGeom prst="rect">
            <a:avLst/>
          </a:prstGeom>
          <a:solidFill>
            <a:srgbClr val="EEF2F6"/>
          </a:solidFill>
          <a:ln w="3810">
            <a:solidFill>
              <a:srgbClr val="C9D3DF"/>
            </a:solidFill>
            <a:prstDash val="solid"/>
          </a:ln>
        </p:spPr>
      </p:sp>
      <p:sp>
        <p:nvSpPr>
          <p:cNvPr id="92" name="Shape 90"/>
          <p:cNvSpPr/>
          <p:nvPr/>
        </p:nvSpPr>
        <p:spPr>
          <a:xfrm>
            <a:off x="4892040" y="2560320"/>
            <a:ext cx="274320" cy="182880"/>
          </a:xfrm>
          <a:prstGeom prst="rect">
            <a:avLst/>
          </a:prstGeom>
          <a:solidFill>
            <a:srgbClr val="EEF2F6"/>
          </a:solidFill>
          <a:ln w="3810">
            <a:solidFill>
              <a:srgbClr val="C9D3DF"/>
            </a:solidFill>
            <a:prstDash val="solid"/>
          </a:ln>
        </p:spPr>
      </p:sp>
      <p:sp>
        <p:nvSpPr>
          <p:cNvPr id="93" name="Shape 91"/>
          <p:cNvSpPr/>
          <p:nvPr/>
        </p:nvSpPr>
        <p:spPr>
          <a:xfrm>
            <a:off x="5166360" y="2560320"/>
            <a:ext cx="274320" cy="182880"/>
          </a:xfrm>
          <a:prstGeom prst="rect">
            <a:avLst/>
          </a:prstGeom>
          <a:solidFill>
            <a:srgbClr val="EEF2F6"/>
          </a:solidFill>
          <a:ln w="3810">
            <a:solidFill>
              <a:srgbClr val="C9D3DF"/>
            </a:solidFill>
            <a:prstDash val="solid"/>
          </a:ln>
        </p:spPr>
      </p:sp>
      <p:sp>
        <p:nvSpPr>
          <p:cNvPr id="94" name="Shape 92"/>
          <p:cNvSpPr/>
          <p:nvPr/>
        </p:nvSpPr>
        <p:spPr>
          <a:xfrm>
            <a:off x="5440680" y="2560320"/>
            <a:ext cx="274320" cy="182880"/>
          </a:xfrm>
          <a:prstGeom prst="rect">
            <a:avLst/>
          </a:prstGeom>
          <a:solidFill>
            <a:srgbClr val="EEF2F6"/>
          </a:solidFill>
          <a:ln w="3810">
            <a:solidFill>
              <a:srgbClr val="C9D3DF"/>
            </a:solidFill>
            <a:prstDash val="solid"/>
          </a:ln>
        </p:spPr>
      </p:sp>
      <p:sp>
        <p:nvSpPr>
          <p:cNvPr id="95" name="Shape 93"/>
          <p:cNvSpPr/>
          <p:nvPr/>
        </p:nvSpPr>
        <p:spPr>
          <a:xfrm>
            <a:off x="5715000" y="2560320"/>
            <a:ext cx="274320" cy="182880"/>
          </a:xfrm>
          <a:prstGeom prst="rect">
            <a:avLst/>
          </a:prstGeom>
          <a:solidFill>
            <a:srgbClr val="EEF2F6"/>
          </a:solidFill>
          <a:ln w="3810">
            <a:solidFill>
              <a:srgbClr val="C9D3DF"/>
            </a:solidFill>
            <a:prstDash val="solid"/>
          </a:ln>
        </p:spPr>
      </p:sp>
      <p:sp>
        <p:nvSpPr>
          <p:cNvPr id="96" name="Shape 94"/>
          <p:cNvSpPr/>
          <p:nvPr/>
        </p:nvSpPr>
        <p:spPr>
          <a:xfrm>
            <a:off x="5989320" y="2560320"/>
            <a:ext cx="274320" cy="182880"/>
          </a:xfrm>
          <a:prstGeom prst="rect">
            <a:avLst/>
          </a:prstGeom>
          <a:solidFill>
            <a:srgbClr val="EEF2F6"/>
          </a:solidFill>
          <a:ln w="3810">
            <a:solidFill>
              <a:srgbClr val="C9D3DF"/>
            </a:solidFill>
            <a:prstDash val="solid"/>
          </a:ln>
        </p:spPr>
      </p:sp>
      <p:sp>
        <p:nvSpPr>
          <p:cNvPr id="97" name="Shape 95"/>
          <p:cNvSpPr/>
          <p:nvPr/>
        </p:nvSpPr>
        <p:spPr>
          <a:xfrm>
            <a:off x="5166360" y="2743200"/>
            <a:ext cx="274320" cy="182880"/>
          </a:xfrm>
          <a:prstGeom prst="rect">
            <a:avLst/>
          </a:prstGeom>
          <a:solidFill>
            <a:srgbClr val="EEF2F6"/>
          </a:solidFill>
          <a:ln w="3810">
            <a:solidFill>
              <a:srgbClr val="C9D3DF"/>
            </a:solidFill>
            <a:prstDash val="solid"/>
          </a:ln>
        </p:spPr>
      </p:sp>
      <p:sp>
        <p:nvSpPr>
          <p:cNvPr id="98" name="Shape 96"/>
          <p:cNvSpPr/>
          <p:nvPr/>
        </p:nvSpPr>
        <p:spPr>
          <a:xfrm>
            <a:off x="5440680" y="2743200"/>
            <a:ext cx="274320" cy="182880"/>
          </a:xfrm>
          <a:prstGeom prst="rect">
            <a:avLst/>
          </a:prstGeom>
          <a:solidFill>
            <a:srgbClr val="EEF2F6"/>
          </a:solidFill>
          <a:ln w="3810">
            <a:solidFill>
              <a:srgbClr val="C9D3DF"/>
            </a:solidFill>
            <a:prstDash val="solid"/>
          </a:ln>
        </p:spPr>
      </p:sp>
      <p:sp>
        <p:nvSpPr>
          <p:cNvPr id="99" name="Shape 97"/>
          <p:cNvSpPr/>
          <p:nvPr/>
        </p:nvSpPr>
        <p:spPr>
          <a:xfrm>
            <a:off x="5715000" y="2743200"/>
            <a:ext cx="274320" cy="182880"/>
          </a:xfrm>
          <a:prstGeom prst="rect">
            <a:avLst/>
          </a:prstGeom>
          <a:solidFill>
            <a:srgbClr val="EEF2F6"/>
          </a:solidFill>
          <a:ln w="3810">
            <a:solidFill>
              <a:srgbClr val="C9D3DF"/>
            </a:solidFill>
            <a:prstDash val="solid"/>
          </a:ln>
        </p:spPr>
      </p:sp>
      <p:sp>
        <p:nvSpPr>
          <p:cNvPr id="100" name="Shape 98"/>
          <p:cNvSpPr/>
          <p:nvPr/>
        </p:nvSpPr>
        <p:spPr>
          <a:xfrm>
            <a:off x="5989320" y="2743200"/>
            <a:ext cx="274320" cy="182880"/>
          </a:xfrm>
          <a:prstGeom prst="rect">
            <a:avLst/>
          </a:prstGeom>
          <a:solidFill>
            <a:srgbClr val="EEF2F6"/>
          </a:solidFill>
          <a:ln w="3810">
            <a:solidFill>
              <a:srgbClr val="C9D3DF"/>
            </a:solidFill>
            <a:prstDash val="solid"/>
          </a:ln>
        </p:spPr>
      </p:sp>
      <p:sp>
        <p:nvSpPr>
          <p:cNvPr id="101" name="Shape 99"/>
          <p:cNvSpPr/>
          <p:nvPr/>
        </p:nvSpPr>
        <p:spPr>
          <a:xfrm>
            <a:off x="5440680" y="2926080"/>
            <a:ext cx="274320" cy="182880"/>
          </a:xfrm>
          <a:prstGeom prst="rect">
            <a:avLst/>
          </a:prstGeom>
          <a:solidFill>
            <a:srgbClr val="EEF2F6"/>
          </a:solidFill>
          <a:ln w="3810">
            <a:solidFill>
              <a:srgbClr val="C9D3DF"/>
            </a:solidFill>
            <a:prstDash val="solid"/>
          </a:ln>
        </p:spPr>
      </p:sp>
      <p:sp>
        <p:nvSpPr>
          <p:cNvPr id="102" name="Shape 100"/>
          <p:cNvSpPr/>
          <p:nvPr/>
        </p:nvSpPr>
        <p:spPr>
          <a:xfrm>
            <a:off x="5715000" y="2926080"/>
            <a:ext cx="274320" cy="182880"/>
          </a:xfrm>
          <a:prstGeom prst="rect">
            <a:avLst/>
          </a:prstGeom>
          <a:solidFill>
            <a:srgbClr val="EEF2F6"/>
          </a:solidFill>
          <a:ln w="3810">
            <a:solidFill>
              <a:srgbClr val="C9D3DF"/>
            </a:solidFill>
            <a:prstDash val="solid"/>
          </a:ln>
        </p:spPr>
      </p:sp>
      <p:sp>
        <p:nvSpPr>
          <p:cNvPr id="103" name="Shape 101"/>
          <p:cNvSpPr/>
          <p:nvPr/>
        </p:nvSpPr>
        <p:spPr>
          <a:xfrm>
            <a:off x="5989320" y="2926080"/>
            <a:ext cx="274320" cy="182880"/>
          </a:xfrm>
          <a:prstGeom prst="rect">
            <a:avLst/>
          </a:prstGeom>
          <a:solidFill>
            <a:srgbClr val="EEF2F6"/>
          </a:solidFill>
          <a:ln w="3810">
            <a:solidFill>
              <a:srgbClr val="C9D3DF"/>
            </a:solidFill>
            <a:prstDash val="solid"/>
          </a:ln>
        </p:spPr>
      </p:sp>
      <p:sp>
        <p:nvSpPr>
          <p:cNvPr id="104" name="Shape 102"/>
          <p:cNvSpPr/>
          <p:nvPr/>
        </p:nvSpPr>
        <p:spPr>
          <a:xfrm>
            <a:off x="5715000" y="3108960"/>
            <a:ext cx="274320" cy="182880"/>
          </a:xfrm>
          <a:prstGeom prst="rect">
            <a:avLst/>
          </a:prstGeom>
          <a:solidFill>
            <a:srgbClr val="EEF2F6"/>
          </a:solidFill>
          <a:ln w="3810">
            <a:solidFill>
              <a:srgbClr val="C9D3DF"/>
            </a:solidFill>
            <a:prstDash val="solid"/>
          </a:ln>
        </p:spPr>
      </p:sp>
      <p:sp>
        <p:nvSpPr>
          <p:cNvPr id="105" name="Shape 103"/>
          <p:cNvSpPr/>
          <p:nvPr/>
        </p:nvSpPr>
        <p:spPr>
          <a:xfrm>
            <a:off x="5989320" y="3108960"/>
            <a:ext cx="274320" cy="182880"/>
          </a:xfrm>
          <a:prstGeom prst="rect">
            <a:avLst/>
          </a:prstGeom>
          <a:solidFill>
            <a:srgbClr val="EEF2F6"/>
          </a:solidFill>
          <a:ln w="3810">
            <a:solidFill>
              <a:srgbClr val="C9D3DF"/>
            </a:solidFill>
            <a:prstDash val="solid"/>
          </a:ln>
        </p:spPr>
      </p:sp>
      <p:sp>
        <p:nvSpPr>
          <p:cNvPr id="106" name="Shape 104"/>
          <p:cNvSpPr/>
          <p:nvPr/>
        </p:nvSpPr>
        <p:spPr>
          <a:xfrm>
            <a:off x="5989320" y="3291840"/>
            <a:ext cx="274320" cy="182880"/>
          </a:xfrm>
          <a:prstGeom prst="rect">
            <a:avLst/>
          </a:prstGeom>
          <a:solidFill>
            <a:srgbClr val="EEF2F6"/>
          </a:solidFill>
          <a:ln w="3810">
            <a:solidFill>
              <a:srgbClr val="C9D3DF"/>
            </a:solidFill>
            <a:prstDash val="solid"/>
          </a:ln>
        </p:spPr>
      </p:sp>
      <p:sp>
        <p:nvSpPr>
          <p:cNvPr id="107" name="Shape 105"/>
          <p:cNvSpPr/>
          <p:nvPr/>
        </p:nvSpPr>
        <p:spPr>
          <a:xfrm>
            <a:off x="4343400" y="2194560"/>
            <a:ext cx="914" cy="1463040"/>
          </a:xfrm>
          <a:prstGeom prst="line">
            <a:avLst/>
          </a:prstGeom>
          <a:noFill/>
          <a:ln w="5080">
            <a:solidFill>
              <a:srgbClr val="D5DCE5"/>
            </a:solidFill>
            <a:prstDash val="solid"/>
          </a:ln>
        </p:spPr>
      </p:sp>
      <p:sp>
        <p:nvSpPr>
          <p:cNvPr id="108" name="Shape 106"/>
          <p:cNvSpPr/>
          <p:nvPr/>
        </p:nvSpPr>
        <p:spPr>
          <a:xfrm>
            <a:off x="4617720" y="2194560"/>
            <a:ext cx="914" cy="1463040"/>
          </a:xfrm>
          <a:prstGeom prst="line">
            <a:avLst/>
          </a:prstGeom>
          <a:noFill/>
          <a:ln w="5080">
            <a:solidFill>
              <a:srgbClr val="D5DCE5"/>
            </a:solidFill>
            <a:prstDash val="solid"/>
          </a:ln>
        </p:spPr>
      </p:sp>
      <p:sp>
        <p:nvSpPr>
          <p:cNvPr id="109" name="Shape 107"/>
          <p:cNvSpPr/>
          <p:nvPr/>
        </p:nvSpPr>
        <p:spPr>
          <a:xfrm>
            <a:off x="4892040" y="2194560"/>
            <a:ext cx="914" cy="1463040"/>
          </a:xfrm>
          <a:prstGeom prst="line">
            <a:avLst/>
          </a:prstGeom>
          <a:noFill/>
          <a:ln w="5080">
            <a:solidFill>
              <a:srgbClr val="D5DCE5"/>
            </a:solidFill>
            <a:prstDash val="solid"/>
          </a:ln>
        </p:spPr>
      </p:sp>
      <p:sp>
        <p:nvSpPr>
          <p:cNvPr id="110" name="Shape 108"/>
          <p:cNvSpPr/>
          <p:nvPr/>
        </p:nvSpPr>
        <p:spPr>
          <a:xfrm>
            <a:off x="5166360" y="2194560"/>
            <a:ext cx="914" cy="1463040"/>
          </a:xfrm>
          <a:prstGeom prst="line">
            <a:avLst/>
          </a:prstGeom>
          <a:noFill/>
          <a:ln w="5080">
            <a:solidFill>
              <a:srgbClr val="D5DCE5"/>
            </a:solidFill>
            <a:prstDash val="solid"/>
          </a:ln>
        </p:spPr>
      </p:sp>
      <p:sp>
        <p:nvSpPr>
          <p:cNvPr id="111" name="Shape 109"/>
          <p:cNvSpPr/>
          <p:nvPr/>
        </p:nvSpPr>
        <p:spPr>
          <a:xfrm>
            <a:off x="5440680" y="2194560"/>
            <a:ext cx="914" cy="1463040"/>
          </a:xfrm>
          <a:prstGeom prst="line">
            <a:avLst/>
          </a:prstGeom>
          <a:noFill/>
          <a:ln w="5080">
            <a:solidFill>
              <a:srgbClr val="D5DCE5"/>
            </a:solidFill>
            <a:prstDash val="solid"/>
          </a:ln>
        </p:spPr>
      </p:sp>
      <p:sp>
        <p:nvSpPr>
          <p:cNvPr id="112" name="Shape 110"/>
          <p:cNvSpPr/>
          <p:nvPr/>
        </p:nvSpPr>
        <p:spPr>
          <a:xfrm>
            <a:off x="5715000" y="2194560"/>
            <a:ext cx="914" cy="1463040"/>
          </a:xfrm>
          <a:prstGeom prst="line">
            <a:avLst/>
          </a:prstGeom>
          <a:noFill/>
          <a:ln w="5080">
            <a:solidFill>
              <a:srgbClr val="D5DCE5"/>
            </a:solidFill>
            <a:prstDash val="solid"/>
          </a:ln>
        </p:spPr>
      </p:sp>
      <p:sp>
        <p:nvSpPr>
          <p:cNvPr id="113" name="Shape 111"/>
          <p:cNvSpPr/>
          <p:nvPr/>
        </p:nvSpPr>
        <p:spPr>
          <a:xfrm>
            <a:off x="5989320" y="2194560"/>
            <a:ext cx="914" cy="1463040"/>
          </a:xfrm>
          <a:prstGeom prst="line">
            <a:avLst/>
          </a:prstGeom>
          <a:noFill/>
          <a:ln w="5080">
            <a:solidFill>
              <a:srgbClr val="D5DCE5"/>
            </a:solidFill>
            <a:prstDash val="solid"/>
          </a:ln>
        </p:spPr>
      </p:sp>
      <p:sp>
        <p:nvSpPr>
          <p:cNvPr id="114" name="Shape 112"/>
          <p:cNvSpPr/>
          <p:nvPr/>
        </p:nvSpPr>
        <p:spPr>
          <a:xfrm>
            <a:off x="4069080" y="2377440"/>
            <a:ext cx="2194560" cy="914"/>
          </a:xfrm>
          <a:prstGeom prst="line">
            <a:avLst/>
          </a:prstGeom>
          <a:noFill/>
          <a:ln w="5080">
            <a:solidFill>
              <a:srgbClr val="D5DCE5"/>
            </a:solidFill>
            <a:prstDash val="solid"/>
          </a:ln>
        </p:spPr>
      </p:sp>
      <p:sp>
        <p:nvSpPr>
          <p:cNvPr id="115" name="Shape 113"/>
          <p:cNvSpPr/>
          <p:nvPr/>
        </p:nvSpPr>
        <p:spPr>
          <a:xfrm>
            <a:off x="4069080" y="2560320"/>
            <a:ext cx="2194560" cy="914"/>
          </a:xfrm>
          <a:prstGeom prst="line">
            <a:avLst/>
          </a:prstGeom>
          <a:noFill/>
          <a:ln w="5080">
            <a:solidFill>
              <a:srgbClr val="D5DCE5"/>
            </a:solidFill>
            <a:prstDash val="solid"/>
          </a:ln>
        </p:spPr>
      </p:sp>
      <p:sp>
        <p:nvSpPr>
          <p:cNvPr id="116" name="Shape 114"/>
          <p:cNvSpPr/>
          <p:nvPr/>
        </p:nvSpPr>
        <p:spPr>
          <a:xfrm>
            <a:off x="4069080" y="2743200"/>
            <a:ext cx="2194560" cy="914"/>
          </a:xfrm>
          <a:prstGeom prst="line">
            <a:avLst/>
          </a:prstGeom>
          <a:noFill/>
          <a:ln w="5080">
            <a:solidFill>
              <a:srgbClr val="D5DCE5"/>
            </a:solidFill>
            <a:prstDash val="solid"/>
          </a:ln>
        </p:spPr>
      </p:sp>
      <p:sp>
        <p:nvSpPr>
          <p:cNvPr id="117" name="Shape 115"/>
          <p:cNvSpPr/>
          <p:nvPr/>
        </p:nvSpPr>
        <p:spPr>
          <a:xfrm>
            <a:off x="4069080" y="2926080"/>
            <a:ext cx="2194560" cy="914"/>
          </a:xfrm>
          <a:prstGeom prst="line">
            <a:avLst/>
          </a:prstGeom>
          <a:noFill/>
          <a:ln w="5080">
            <a:solidFill>
              <a:srgbClr val="D5DCE5"/>
            </a:solidFill>
            <a:prstDash val="solid"/>
          </a:ln>
        </p:spPr>
      </p:sp>
      <p:sp>
        <p:nvSpPr>
          <p:cNvPr id="118" name="Shape 116"/>
          <p:cNvSpPr/>
          <p:nvPr/>
        </p:nvSpPr>
        <p:spPr>
          <a:xfrm>
            <a:off x="4069080" y="3108960"/>
            <a:ext cx="2194560" cy="914"/>
          </a:xfrm>
          <a:prstGeom prst="line">
            <a:avLst/>
          </a:prstGeom>
          <a:noFill/>
          <a:ln w="5080">
            <a:solidFill>
              <a:srgbClr val="D5DCE5"/>
            </a:solidFill>
            <a:prstDash val="solid"/>
          </a:ln>
        </p:spPr>
      </p:sp>
      <p:sp>
        <p:nvSpPr>
          <p:cNvPr id="119" name="Shape 117"/>
          <p:cNvSpPr/>
          <p:nvPr/>
        </p:nvSpPr>
        <p:spPr>
          <a:xfrm>
            <a:off x="4069080" y="3291840"/>
            <a:ext cx="2194560" cy="914"/>
          </a:xfrm>
          <a:prstGeom prst="line">
            <a:avLst/>
          </a:prstGeom>
          <a:noFill/>
          <a:ln w="5080">
            <a:solidFill>
              <a:srgbClr val="D5DCE5"/>
            </a:solidFill>
            <a:prstDash val="solid"/>
          </a:ln>
        </p:spPr>
      </p:sp>
      <p:sp>
        <p:nvSpPr>
          <p:cNvPr id="120" name="Shape 118"/>
          <p:cNvSpPr/>
          <p:nvPr/>
        </p:nvSpPr>
        <p:spPr>
          <a:xfrm>
            <a:off x="4069080" y="3474720"/>
            <a:ext cx="2194560" cy="914"/>
          </a:xfrm>
          <a:prstGeom prst="line">
            <a:avLst/>
          </a:prstGeom>
          <a:noFill/>
          <a:ln w="5080">
            <a:solidFill>
              <a:srgbClr val="D5DCE5"/>
            </a:solidFill>
            <a:prstDash val="solid"/>
          </a:ln>
        </p:spPr>
      </p:sp>
      <p:sp>
        <p:nvSpPr>
          <p:cNvPr id="121" name="Text 119"/>
          <p:cNvSpPr txBox="1"/>
          <p:nvPr/>
        </p:nvSpPr>
        <p:spPr>
          <a:xfrm>
            <a:off x="4069080" y="3694176"/>
            <a:ext cx="237744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P block: max·exp·FP32 sum·divide 모두 SRAM</a:t>
            </a:r>
            <a:endParaRPr lang="en-US" sz="750" dirty="0"/>
          </a:p>
        </p:txBody>
      </p:sp>
      <p:sp>
        <p:nvSpPr>
          <p:cNvPr id="122" name="Text 120"/>
          <p:cNvSpPr txBox="1"/>
          <p:nvPr/>
        </p:nvSpPr>
        <p:spPr>
          <a:xfrm>
            <a:off x="4114800" y="2560320"/>
            <a:ext cx="1097280" cy="365760"/>
          </a:xfrm>
          <a:prstGeom prst="rect">
            <a:avLst/>
          </a:prstGeom>
          <a:noFill/>
          <a:ln/>
        </p:spPr>
        <p:txBody>
          <a:bodyPr wrap="square" lIns="0" tIns="0" rIns="0" bIns="0" rtlCol="0" anchor="ctr"/>
          <a:lstStyle/>
          <a:p>
            <a:pPr algn="l" indent="0" marL="0">
              <a:buNone/>
            </a:pPr>
            <a:r>
              <a:rPr lang="en-US" sz="700" b="1" dirty="0">
                <a:solidFill>
                  <a:srgbClr val="6C4FBF"/>
                </a:solidFill>
                <a:latin typeface="Malgun Gothic" pitchFamily="34" charset="0"/>
                <a:ea typeface="Malgun Gothic" pitchFamily="34" charset="-122"/>
                <a:cs typeface="Malgun Gothic" pitchFamily="34" charset="-120"/>
              </a:rPr>
              <a:t>P block</a:t>
            </a:r>
            <a:endParaRPr lang="en-US" sz="700" dirty="0"/>
          </a:p>
        </p:txBody>
      </p:sp>
      <p:sp>
        <p:nvSpPr>
          <p:cNvPr id="123" name="Shape 121"/>
          <p:cNvSpPr/>
          <p:nvPr/>
        </p:nvSpPr>
        <p:spPr>
          <a:xfrm>
            <a:off x="6629400" y="1828800"/>
            <a:ext cx="548640" cy="1828800"/>
          </a:xfrm>
          <a:prstGeom prst="rect">
            <a:avLst/>
          </a:prstGeom>
          <a:solidFill>
            <a:srgbClr val="DDF3F0"/>
          </a:solidFill>
          <a:ln w="12700">
            <a:solidFill>
              <a:srgbClr val="1F8A8A"/>
            </a:solidFill>
            <a:prstDash val="solid"/>
          </a:ln>
        </p:spPr>
      </p:sp>
      <p:sp>
        <p:nvSpPr>
          <p:cNvPr id="124" name="Shape 122"/>
          <p:cNvSpPr/>
          <p:nvPr/>
        </p:nvSpPr>
        <p:spPr>
          <a:xfrm>
            <a:off x="6629400" y="1828800"/>
            <a:ext cx="548640" cy="1828800"/>
          </a:xfrm>
          <a:prstGeom prst="rect">
            <a:avLst/>
          </a:prstGeom>
          <a:solidFill>
            <a:srgbClr val="DDF3F0"/>
          </a:solidFill>
          <a:ln w="15875">
            <a:solidFill>
              <a:srgbClr val="1F8A8A"/>
            </a:solidFill>
            <a:prstDash val="solid"/>
          </a:ln>
        </p:spPr>
      </p:sp>
      <p:sp>
        <p:nvSpPr>
          <p:cNvPr id="125" name="Shape 123"/>
          <p:cNvSpPr/>
          <p:nvPr/>
        </p:nvSpPr>
        <p:spPr>
          <a:xfrm>
            <a:off x="6629400" y="2057400"/>
            <a:ext cx="548640" cy="914"/>
          </a:xfrm>
          <a:prstGeom prst="line">
            <a:avLst/>
          </a:prstGeom>
          <a:noFill/>
          <a:ln w="5080">
            <a:solidFill>
              <a:srgbClr val="D5DCE5"/>
            </a:solidFill>
            <a:prstDash val="solid"/>
          </a:ln>
        </p:spPr>
      </p:sp>
      <p:sp>
        <p:nvSpPr>
          <p:cNvPr id="126" name="Shape 124"/>
          <p:cNvSpPr/>
          <p:nvPr/>
        </p:nvSpPr>
        <p:spPr>
          <a:xfrm>
            <a:off x="6629400" y="2286000"/>
            <a:ext cx="548640" cy="914"/>
          </a:xfrm>
          <a:prstGeom prst="line">
            <a:avLst/>
          </a:prstGeom>
          <a:noFill/>
          <a:ln w="5080">
            <a:solidFill>
              <a:srgbClr val="D5DCE5"/>
            </a:solidFill>
            <a:prstDash val="solid"/>
          </a:ln>
        </p:spPr>
      </p:sp>
      <p:sp>
        <p:nvSpPr>
          <p:cNvPr id="127" name="Shape 125"/>
          <p:cNvSpPr/>
          <p:nvPr/>
        </p:nvSpPr>
        <p:spPr>
          <a:xfrm>
            <a:off x="6629400" y="2514600"/>
            <a:ext cx="548640" cy="914"/>
          </a:xfrm>
          <a:prstGeom prst="line">
            <a:avLst/>
          </a:prstGeom>
          <a:noFill/>
          <a:ln w="5080">
            <a:solidFill>
              <a:srgbClr val="D5DCE5"/>
            </a:solidFill>
            <a:prstDash val="solid"/>
          </a:ln>
        </p:spPr>
      </p:sp>
      <p:sp>
        <p:nvSpPr>
          <p:cNvPr id="128" name="Shape 126"/>
          <p:cNvSpPr/>
          <p:nvPr/>
        </p:nvSpPr>
        <p:spPr>
          <a:xfrm>
            <a:off x="6629400" y="2743200"/>
            <a:ext cx="548640" cy="914"/>
          </a:xfrm>
          <a:prstGeom prst="line">
            <a:avLst/>
          </a:prstGeom>
          <a:noFill/>
          <a:ln w="5080">
            <a:solidFill>
              <a:srgbClr val="D5DCE5"/>
            </a:solidFill>
            <a:prstDash val="solid"/>
          </a:ln>
        </p:spPr>
      </p:sp>
      <p:sp>
        <p:nvSpPr>
          <p:cNvPr id="129" name="Shape 127"/>
          <p:cNvSpPr/>
          <p:nvPr/>
        </p:nvSpPr>
        <p:spPr>
          <a:xfrm>
            <a:off x="6629400" y="2971800"/>
            <a:ext cx="548640" cy="914"/>
          </a:xfrm>
          <a:prstGeom prst="line">
            <a:avLst/>
          </a:prstGeom>
          <a:noFill/>
          <a:ln w="5080">
            <a:solidFill>
              <a:srgbClr val="D5DCE5"/>
            </a:solidFill>
            <a:prstDash val="solid"/>
          </a:ln>
        </p:spPr>
      </p:sp>
      <p:sp>
        <p:nvSpPr>
          <p:cNvPr id="130" name="Shape 128"/>
          <p:cNvSpPr/>
          <p:nvPr/>
        </p:nvSpPr>
        <p:spPr>
          <a:xfrm>
            <a:off x="6629400" y="3200400"/>
            <a:ext cx="548640" cy="914"/>
          </a:xfrm>
          <a:prstGeom prst="line">
            <a:avLst/>
          </a:prstGeom>
          <a:noFill/>
          <a:ln w="5080">
            <a:solidFill>
              <a:srgbClr val="D5DCE5"/>
            </a:solidFill>
            <a:prstDash val="solid"/>
          </a:ln>
        </p:spPr>
      </p:sp>
      <p:sp>
        <p:nvSpPr>
          <p:cNvPr id="131" name="Shape 129"/>
          <p:cNvSpPr/>
          <p:nvPr/>
        </p:nvSpPr>
        <p:spPr>
          <a:xfrm>
            <a:off x="6629400" y="3429000"/>
            <a:ext cx="548640" cy="914"/>
          </a:xfrm>
          <a:prstGeom prst="line">
            <a:avLst/>
          </a:prstGeom>
          <a:noFill/>
          <a:ln w="5080">
            <a:solidFill>
              <a:srgbClr val="D5DCE5"/>
            </a:solidFill>
            <a:prstDash val="solid"/>
          </a:ln>
        </p:spPr>
      </p:sp>
      <p:sp>
        <p:nvSpPr>
          <p:cNvPr id="132" name="Text 130"/>
          <p:cNvSpPr txBox="1"/>
          <p:nvPr/>
        </p:nvSpPr>
        <p:spPr>
          <a:xfrm>
            <a:off x="6629400" y="1828800"/>
            <a:ext cx="548640" cy="1828800"/>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head</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전체</a:t>
            </a:r>
            <a:endParaRPr lang="en-US" sz="650" dirty="0"/>
          </a:p>
        </p:txBody>
      </p:sp>
      <p:sp>
        <p:nvSpPr>
          <p:cNvPr id="133" name="Text 131"/>
          <p:cNvSpPr txBox="1"/>
          <p:nvPr/>
        </p:nvSpPr>
        <p:spPr>
          <a:xfrm>
            <a:off x="6629400" y="1600200"/>
            <a:ext cx="91440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V [S,128]</a:t>
            </a:r>
            <a:endParaRPr lang="en-US" sz="850" dirty="0"/>
          </a:p>
        </p:txBody>
      </p:sp>
      <p:sp>
        <p:nvSpPr>
          <p:cNvPr id="134" name="Shape 132"/>
          <p:cNvSpPr/>
          <p:nvPr/>
        </p:nvSpPr>
        <p:spPr>
          <a:xfrm>
            <a:off x="7589520" y="1828800"/>
            <a:ext cx="548640" cy="1828800"/>
          </a:xfrm>
          <a:prstGeom prst="rect">
            <a:avLst/>
          </a:prstGeom>
          <a:solidFill>
            <a:srgbClr val="EEF2F6"/>
          </a:solidFill>
          <a:ln w="12700">
            <a:solidFill>
              <a:srgbClr val="C9D3DF"/>
            </a:solidFill>
            <a:prstDash val="solid"/>
          </a:ln>
        </p:spPr>
      </p:sp>
      <p:sp>
        <p:nvSpPr>
          <p:cNvPr id="135" name="Shape 133"/>
          <p:cNvSpPr/>
          <p:nvPr/>
        </p:nvSpPr>
        <p:spPr>
          <a:xfrm>
            <a:off x="7589520" y="2286000"/>
            <a:ext cx="548640" cy="457200"/>
          </a:xfrm>
          <a:prstGeom prst="rect">
            <a:avLst/>
          </a:prstGeom>
          <a:solidFill>
            <a:srgbClr val="E5F3E7"/>
          </a:solidFill>
          <a:ln w="15875">
            <a:solidFill>
              <a:srgbClr val="2E7D32"/>
            </a:solidFill>
            <a:prstDash val="solid"/>
          </a:ln>
        </p:spPr>
      </p:sp>
      <p:sp>
        <p:nvSpPr>
          <p:cNvPr id="136" name="Shape 134"/>
          <p:cNvSpPr/>
          <p:nvPr/>
        </p:nvSpPr>
        <p:spPr>
          <a:xfrm>
            <a:off x="7589520" y="2057400"/>
            <a:ext cx="548640" cy="914"/>
          </a:xfrm>
          <a:prstGeom prst="line">
            <a:avLst/>
          </a:prstGeom>
          <a:noFill/>
          <a:ln w="5080">
            <a:solidFill>
              <a:srgbClr val="D5DCE5"/>
            </a:solidFill>
            <a:prstDash val="solid"/>
          </a:ln>
        </p:spPr>
      </p:sp>
      <p:sp>
        <p:nvSpPr>
          <p:cNvPr id="137" name="Shape 135"/>
          <p:cNvSpPr/>
          <p:nvPr/>
        </p:nvSpPr>
        <p:spPr>
          <a:xfrm>
            <a:off x="7589520" y="2286000"/>
            <a:ext cx="548640" cy="914"/>
          </a:xfrm>
          <a:prstGeom prst="line">
            <a:avLst/>
          </a:prstGeom>
          <a:noFill/>
          <a:ln w="5080">
            <a:solidFill>
              <a:srgbClr val="D5DCE5"/>
            </a:solidFill>
            <a:prstDash val="solid"/>
          </a:ln>
        </p:spPr>
      </p:sp>
      <p:sp>
        <p:nvSpPr>
          <p:cNvPr id="138" name="Shape 136"/>
          <p:cNvSpPr/>
          <p:nvPr/>
        </p:nvSpPr>
        <p:spPr>
          <a:xfrm>
            <a:off x="7589520" y="2514600"/>
            <a:ext cx="548640" cy="914"/>
          </a:xfrm>
          <a:prstGeom prst="line">
            <a:avLst/>
          </a:prstGeom>
          <a:noFill/>
          <a:ln w="5080">
            <a:solidFill>
              <a:srgbClr val="D5DCE5"/>
            </a:solidFill>
            <a:prstDash val="solid"/>
          </a:ln>
        </p:spPr>
      </p:sp>
      <p:sp>
        <p:nvSpPr>
          <p:cNvPr id="139" name="Shape 137"/>
          <p:cNvSpPr/>
          <p:nvPr/>
        </p:nvSpPr>
        <p:spPr>
          <a:xfrm>
            <a:off x="7589520" y="2743200"/>
            <a:ext cx="548640" cy="914"/>
          </a:xfrm>
          <a:prstGeom prst="line">
            <a:avLst/>
          </a:prstGeom>
          <a:noFill/>
          <a:ln w="5080">
            <a:solidFill>
              <a:srgbClr val="D5DCE5"/>
            </a:solidFill>
            <a:prstDash val="solid"/>
          </a:ln>
        </p:spPr>
      </p:sp>
      <p:sp>
        <p:nvSpPr>
          <p:cNvPr id="140" name="Shape 138"/>
          <p:cNvSpPr/>
          <p:nvPr/>
        </p:nvSpPr>
        <p:spPr>
          <a:xfrm>
            <a:off x="7589520" y="2971800"/>
            <a:ext cx="548640" cy="914"/>
          </a:xfrm>
          <a:prstGeom prst="line">
            <a:avLst/>
          </a:prstGeom>
          <a:noFill/>
          <a:ln w="5080">
            <a:solidFill>
              <a:srgbClr val="D5DCE5"/>
            </a:solidFill>
            <a:prstDash val="solid"/>
          </a:ln>
        </p:spPr>
      </p:sp>
      <p:sp>
        <p:nvSpPr>
          <p:cNvPr id="141" name="Shape 139"/>
          <p:cNvSpPr/>
          <p:nvPr/>
        </p:nvSpPr>
        <p:spPr>
          <a:xfrm>
            <a:off x="7589520" y="3200400"/>
            <a:ext cx="548640" cy="914"/>
          </a:xfrm>
          <a:prstGeom prst="line">
            <a:avLst/>
          </a:prstGeom>
          <a:noFill/>
          <a:ln w="5080">
            <a:solidFill>
              <a:srgbClr val="D5DCE5"/>
            </a:solidFill>
            <a:prstDash val="solid"/>
          </a:ln>
        </p:spPr>
      </p:sp>
      <p:sp>
        <p:nvSpPr>
          <p:cNvPr id="142" name="Shape 140"/>
          <p:cNvSpPr/>
          <p:nvPr/>
        </p:nvSpPr>
        <p:spPr>
          <a:xfrm>
            <a:off x="7589520" y="3429000"/>
            <a:ext cx="548640" cy="914"/>
          </a:xfrm>
          <a:prstGeom prst="line">
            <a:avLst/>
          </a:prstGeom>
          <a:noFill/>
          <a:ln w="5080">
            <a:solidFill>
              <a:srgbClr val="D5DCE5"/>
            </a:solidFill>
            <a:prstDash val="solid"/>
          </a:ln>
        </p:spPr>
      </p:sp>
      <p:sp>
        <p:nvSpPr>
          <p:cNvPr id="143" name="Text 141"/>
          <p:cNvSpPr txBox="1"/>
          <p:nvPr/>
        </p:nvSpPr>
        <p:spPr>
          <a:xfrm>
            <a:off x="7589520" y="2286000"/>
            <a:ext cx="548640" cy="45720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out</a:t>
            </a:r>
            <a:endParaRPr lang="en-US" sz="700" dirty="0"/>
          </a:p>
        </p:txBody>
      </p:sp>
      <p:sp>
        <p:nvSpPr>
          <p:cNvPr id="144" name="Text 142"/>
          <p:cNvSpPr txBox="1"/>
          <p:nvPr/>
        </p:nvSpPr>
        <p:spPr>
          <a:xfrm>
            <a:off x="7589520" y="1600200"/>
            <a:ext cx="118872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output [S,128]</a:t>
            </a:r>
            <a:endParaRPr lang="en-US" sz="850" dirty="0"/>
          </a:p>
        </p:txBody>
      </p:sp>
      <p:sp>
        <p:nvSpPr>
          <p:cNvPr id="145" name="Text 143"/>
          <p:cNvSpPr txBox="1"/>
          <p:nvPr/>
        </p:nvSpPr>
        <p:spPr>
          <a:xfrm>
            <a:off x="7589520" y="3694176"/>
            <a:ext cx="91440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cache_write</a:t>
            </a:r>
            <a:endParaRPr lang="en-US" sz="750" dirty="0"/>
          </a:p>
          <a:p>
            <a:pPr algn="l" indent="0" marL="0">
              <a:buNone/>
            </a:pPr>
            <a:r>
              <a:rPr lang="en-US" sz="750" dirty="0">
                <a:solidFill>
                  <a:srgbClr val="5B6B7F"/>
                </a:solidFill>
                <a:latin typeface="Malgun Gothic" pitchFamily="34" charset="0"/>
                <a:ea typeface="Malgun Gothic" pitchFamily="34" charset="-122"/>
                <a:cs typeface="Malgun Gothic" pitchFamily="34" charset="-120"/>
              </a:rPr>
              <a:t>→ DRAM</a:t>
            </a:r>
            <a:endParaRPr lang="en-US" sz="750" dirty="0"/>
          </a:p>
        </p:txBody>
      </p:sp>
      <p:sp>
        <p:nvSpPr>
          <p:cNvPr id="146" name="Shape 144"/>
          <p:cNvSpPr/>
          <p:nvPr/>
        </p:nvSpPr>
        <p:spPr>
          <a:xfrm flipV="1">
            <a:off x="6291072" y="2514600"/>
            <a:ext cx="338328" cy="228600"/>
          </a:xfrm>
          <a:prstGeom prst="line">
            <a:avLst/>
          </a:prstGeom>
          <a:noFill/>
          <a:ln w="19050">
            <a:solidFill>
              <a:srgbClr val="6C4FBF"/>
            </a:solidFill>
            <a:prstDash val="solid"/>
            <a:tailEnd type="triangle"/>
          </a:ln>
        </p:spPr>
      </p:sp>
      <p:sp>
        <p:nvSpPr>
          <p:cNvPr id="147" name="Shape 145"/>
          <p:cNvSpPr/>
          <p:nvPr/>
        </p:nvSpPr>
        <p:spPr>
          <a:xfrm>
            <a:off x="7205472" y="2514600"/>
            <a:ext cx="384048" cy="914"/>
          </a:xfrm>
          <a:prstGeom prst="line">
            <a:avLst/>
          </a:prstGeom>
          <a:noFill/>
          <a:ln w="19050">
            <a:solidFill>
              <a:srgbClr val="2E7D32"/>
            </a:solidFill>
            <a:prstDash val="solid"/>
            <a:tailEnd type="triangle"/>
          </a:ln>
        </p:spPr>
      </p:sp>
      <p:sp>
        <p:nvSpPr>
          <p:cNvPr id="148" name="Text 146"/>
          <p:cNvSpPr txBox="1"/>
          <p:nvPr/>
        </p:nvSpPr>
        <p:spPr>
          <a:xfrm>
            <a:off x="6400800" y="3703320"/>
            <a:ext cx="1097280" cy="274320"/>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 (P V)</a:t>
            </a:r>
            <a:endParaRPr lang="en-US" sz="700" dirty="0"/>
          </a:p>
        </p:txBody>
      </p:sp>
      <p:sp>
        <p:nvSpPr>
          <p:cNvPr id="149" name="Text 147"/>
          <p:cNvSpPr txBox="1"/>
          <p:nvPr/>
        </p:nvSpPr>
        <p:spPr>
          <a:xfrm>
            <a:off x="457200" y="4069080"/>
            <a:ext cx="7680960" cy="365760"/>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다음 row block (아래로 이동) → 같은 head의 K/V를 다시 사용. mask [1,S,S]은 head 축이 1이라 row_o loop에서 한 번만 GLOAD (head들이 공유).</a:t>
            </a:r>
            <a:endParaRPr lang="en-US" sz="8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8412480" y="1463040"/>
          <a:ext cx="3319272" cy="914400"/>
        </p:xfrm>
        <a:graphic>
          <a:graphicData uri="http://schemas.openxmlformats.org/drawingml/2006/table">
            <a:tbl>
              <a:tblPr/>
              <a:tblGrid>
                <a:gridCol w="1828800"/>
                <a:gridCol w="1490472"/>
              </a:tblGrid>
              <a:tr h="292608">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S=3072 크기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값</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24-head score 전체</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432 MiB</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head 1개 64행 score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384 KiB</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 V (head 1개)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768 KiB 씩</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Q block 64행</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16 KiB</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graphicFrame>
        <p:nvGraphicFramePr>
          <p:cNvPr id="93" name="Table 1"/>
          <p:cNvGraphicFramePr>
            <a:graphicFrameLocks noGrp="1"/>
          </p:cNvGraphicFramePr>
          <p:nvPr>
            <p:extLst>
              <p:ext uri="{D42A27DB-BD31-4B8C-83A1-F6EECF244321}">
                <p14:modId xmlns:p14="http://schemas.microsoft.com/office/powerpoint/2010/main" val="1579011935"/>
              </p:ext>
            </p:extLst>
          </p:nvPr>
        </p:nvGraphicFramePr>
        <p:xfrm>
          <a:off x="457200" y="4315968"/>
          <a:ext cx="6492240" cy="914400"/>
        </p:xfrm>
        <a:graphic>
          <a:graphicData uri="http://schemas.openxmlformats.org/drawingml/2006/table">
            <a:tbl>
              <a:tblPr/>
              <a:tblGrid>
                <a:gridCol w="3291840"/>
                <a:gridCol w="3200400"/>
              </a:tblGrid>
              <a:tr h="256032">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schedule_attention_blocked 단계</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내용</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56032">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split(row, [None, block]) → reorder(row_o, head, row_i, …)</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row block이 head loop 바깥: block마다 모든 head 처리</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56032">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모든 중간 block compute_at(head), set_scope(SRAM)</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scores·max·exp·sum·정규화·PV accumulator가 SRAM에만 존재</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56032">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cache_read Q/K/V → compute_at(head); mask → row_o</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K/V는 block마다 다시 읽음 (block이 클수록 재읽기 감소)</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56032">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두 matmul: pad_einsum? → split 64 → decompose_reduction → tensorize ×2</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일반 matmul과 같은 64×64 MAC chain</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56032">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_fit_attention: block = rows부터, 실패 시 max(floor, block//2)</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floor = min(rows, 64). floor에서도 실패하면 LinkError</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152" name="Shape 148"/>
          <p:cNvSpPr/>
          <p:nvPr/>
        </p:nvSpPr>
        <p:spPr>
          <a:xfrm>
            <a:off x="7178040" y="4315968"/>
            <a:ext cx="4553712" cy="1508760"/>
          </a:xfrm>
          <a:prstGeom prst="roundRect">
            <a:avLst>
              <a:gd name="adj" fmla="val 3636"/>
            </a:avLst>
          </a:prstGeom>
          <a:solidFill>
            <a:srgbClr val="FFF6DB"/>
          </a:solidFill>
          <a:ln w="12700">
            <a:solidFill>
              <a:srgbClr val="B7791F"/>
            </a:solidFill>
            <a:prstDash val="solid"/>
          </a:ln>
        </p:spPr>
      </p:sp>
      <p:sp>
        <p:nvSpPr>
          <p:cNvPr id="153" name="Text 149"/>
          <p:cNvSpPr txBox="1"/>
          <p:nvPr/>
        </p:nvSpPr>
        <p:spPr>
          <a:xfrm>
            <a:off x="7306056" y="4370832"/>
            <a:ext cx="4297680" cy="139903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없는 것: </a:t>
            </a:r>
            <a:pPr algn="l" indent="0" marL="0">
              <a:buNone/>
            </a:pPr>
            <a:r>
              <a:rPr lang="en-US" sz="950" dirty="0">
                <a:solidFill>
                  <a:srgbClr val="1F2D3D"/>
                </a:solidFill>
                <a:latin typeface="Malgun Gothic" pitchFamily="34" charset="0"/>
                <a:ea typeface="Malgun Gothic" pitchFamily="34" charset="-122"/>
                <a:cs typeface="Malgun Gothic" pitchFamily="34" charset="-120"/>
              </a:rPr>
              <a:t>key까지 나누어 진행 중 max·sum·output을 보정하는 online softmax(FlashAttention)는 없습니다. 한 block이 query 행의 key score 전체를 갖고 있어 softmax는 정확합니다.</a:t>
            </a:r>
            <a:endParaRPr lang="en-US" sz="1200" dirty="0"/>
          </a:p>
          <a:p>
            <a:pPr algn="l" indent="0" marL="0">
              <a:buNone/>
            </a:pPr>
            <a:r>
              <a:rPr lang="en-US" sz="1200" b="1" dirty="0">
                <a:solidFill>
                  <a:srgbClr val="1F2D3D"/>
                </a:solidFill>
                <a:latin typeface="Malgun Gothic" pitchFamily="34" charset="0"/>
                <a:ea typeface="Malgun Gothic" pitchFamily="34" charset="-122"/>
                <a:cs typeface="Malgun Gothic" pitchFamily="34" charset="-120"/>
              </a:rPr>
              <a:t>조건: </a:t>
            </a:r>
            <a:pPr algn="l" indent="0" marL="0">
              <a:buNone/>
            </a:pPr>
            <a:r>
              <a:rPr lang="en-US" sz="950" dirty="0">
                <a:solidFill>
                  <a:srgbClr val="1F2D3D"/>
                </a:solidFill>
                <a:latin typeface="Malgun Gothic" pitchFamily="34" charset="0"/>
                <a:ea typeface="Malgun Gothic" pitchFamily="34" charset="-122"/>
                <a:cs typeface="Malgun Gothic" pitchFamily="34" charset="-120"/>
              </a:rPr>
              <a:t>full 패턴은 정적 rank-3 FP16, m·d·t·dv 64배수. decode(m=1)는 해당 없음. mask는 계산을 동적으로 생략하지 않습니다.</a:t>
            </a:r>
            <a:endParaRPr lang="en-US" sz="1200" dirty="0"/>
          </a:p>
        </p:txBody>
      </p:sp>
      <p:sp>
        <p:nvSpPr>
          <p:cNvPr id="154" name="Shape 150"/>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55" name="Text 151"/>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384 KiB score만 있으면 커널이 들어간다는 뜻이 아닙니다. K/V, mask, 확률, 출력, 임시값이 함께 SRAM에 있어야 하므로 block 크기를 줄여가며 맞춥니다.</a:t>
            </a:r>
            <a:endParaRPr lang="en-US" sz="1250" dirty="0"/>
          </a:p>
        </p:txBody>
      </p:sp>
      <p:sp>
        <p:nvSpPr>
          <p:cNvPr id="156" name="Text 152"/>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57" name="Text 153"/>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npu_compiler/npu_intrin.py schedule_attention_blocked, npu_schedule._fit_attention, docs/current/07_operators.md</a:t>
            </a:r>
            <a:endParaRPr lang="en-US" sz="850" dirty="0"/>
          </a:p>
        </p:txBody>
      </p:sp>
      <p:sp>
        <p:nvSpPr>
          <p:cNvPr id="158" name="Text 154"/>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46 / 89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8 · 메모리 계획</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세 가지 메모리 계획이 서로 다른 범위를 본다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① DRAM은 Relax tensor 수명으로 pool을 나누고 flat 주소를 주며, ② 커널 안에서는 USMP가 buffer offset을 겹치고, ③ 커널 사이에서는 보관값을 SRAM 위쪽에 예약합니다. 커널을 합치지 않아도 SRAM만으로 연결할 수 있습니다.</a:t>
            </a:r>
            <a:endParaRPr lang="en-US" sz="1250" dirty="0"/>
          </a:p>
        </p:txBody>
      </p:sp>
      <p:sp>
        <p:nvSpPr>
          <p:cNvPr id="5" name="Text 3"/>
          <p:cNvSpPr txBox="1"/>
          <p:nvPr/>
        </p:nvSpPr>
        <p:spPr>
          <a:xfrm>
            <a:off x="457200" y="1371600"/>
            <a:ext cx="7315200" cy="219456"/>
          </a:xfrm>
          <a:prstGeom prst="rect">
            <a:avLst/>
          </a:prstGeom>
          <a:noFill/>
          <a:ln/>
        </p:spPr>
        <p:txBody>
          <a:bodyPr wrap="square" lIns="0" tIns="0" rIns="0" bIns="0" rtlCol="0" anchor="t"/>
          <a:lstStyle/>
          <a:p>
            <a:pPr algn="l" indent="0" marL="0">
              <a:buNone/>
            </a:pPr>
            <a:r>
              <a:rPr lang="en-US" sz="950" b="1" dirty="0">
                <a:solidFill>
                  <a:srgbClr val="D98A1E"/>
                </a:solidFill>
                <a:latin typeface="Malgun Gothic" pitchFamily="34" charset="0"/>
                <a:ea typeface="Malgun Gothic" pitchFamily="34" charset="-122"/>
                <a:cs typeface="Malgun Gothic" pitchFamily="34" charset="-120"/>
              </a:rPr>
              <a:t>DRAM image (flat, unit 2 B) — ① StaticPlanBlockMemory의 pool + backend의 flat 주소</a:t>
            </a:r>
            <a:endParaRPr lang="en-US" sz="950" dirty="0"/>
          </a:p>
        </p:txBody>
      </p:sp>
      <p:sp>
        <p:nvSpPr>
          <p:cNvPr id="6" name="Shape 4"/>
          <p:cNvSpPr/>
          <p:nvPr/>
        </p:nvSpPr>
        <p:spPr>
          <a:xfrm>
            <a:off x="457200" y="1609344"/>
            <a:ext cx="11274552" cy="457200"/>
          </a:xfrm>
          <a:prstGeom prst="rect">
            <a:avLst/>
          </a:prstGeom>
          <a:solidFill>
            <a:srgbClr val="EEF2F6"/>
          </a:solidFill>
          <a:ln w="9525">
            <a:solidFill>
              <a:srgbClr val="C9D3DF"/>
            </a:solidFill>
            <a:prstDash val="solid"/>
          </a:ln>
        </p:spPr>
      </p:sp>
      <p:sp>
        <p:nvSpPr>
          <p:cNvPr id="7" name="Shape 5"/>
          <p:cNvSpPr/>
          <p:nvPr/>
        </p:nvSpPr>
        <p:spPr>
          <a:xfrm>
            <a:off x="457200" y="1609344"/>
            <a:ext cx="3382366" cy="457200"/>
          </a:xfrm>
          <a:prstGeom prst="rect">
            <a:avLst/>
          </a:prstGeom>
          <a:solidFill>
            <a:srgbClr val="FFF1DC"/>
          </a:solidFill>
          <a:ln w="12700">
            <a:solidFill>
              <a:srgbClr val="D98A1E"/>
            </a:solidFill>
            <a:prstDash val="solid"/>
          </a:ln>
        </p:spPr>
      </p:sp>
      <p:sp>
        <p:nvSpPr>
          <p:cNvPr id="8" name="Text 6"/>
          <p:cNvSpPr txBox="1"/>
          <p:nvPr/>
        </p:nvSpPr>
        <p:spPr>
          <a:xfrm>
            <a:off x="457200" y="1609344"/>
            <a:ext cx="3382366"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parameter leaves (변환된 순서)</a:t>
            </a:r>
            <a:endParaRPr lang="en-US" sz="850" dirty="0"/>
          </a:p>
        </p:txBody>
      </p:sp>
      <p:sp>
        <p:nvSpPr>
          <p:cNvPr id="9" name="Text 7"/>
          <p:cNvSpPr txBox="1"/>
          <p:nvPr/>
        </p:nvSpPr>
        <p:spPr>
          <a:xfrm>
            <a:off x="457200" y="1837944"/>
            <a:ext cx="3382366"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p.0.1 … weight, bias</a:t>
            </a:r>
            <a:endParaRPr lang="en-US" sz="650" dirty="0"/>
          </a:p>
        </p:txBody>
      </p:sp>
      <p:sp>
        <p:nvSpPr>
          <p:cNvPr id="10" name="Shape 8"/>
          <p:cNvSpPr/>
          <p:nvPr/>
        </p:nvSpPr>
        <p:spPr>
          <a:xfrm>
            <a:off x="3839566" y="1609344"/>
            <a:ext cx="901964" cy="457200"/>
          </a:xfrm>
          <a:prstGeom prst="rect">
            <a:avLst/>
          </a:prstGeom>
          <a:solidFill>
            <a:srgbClr val="EEF1F5"/>
          </a:solidFill>
          <a:ln w="12700">
            <a:solidFill>
              <a:srgbClr val="5B6B7F"/>
            </a:solidFill>
            <a:prstDash val="solid"/>
          </a:ln>
        </p:spPr>
      </p:sp>
      <p:sp>
        <p:nvSpPr>
          <p:cNvPr id="11" name="Text 9"/>
          <p:cNvSpPr txBox="1"/>
          <p:nvPr/>
        </p:nvSpPr>
        <p:spPr>
          <a:xfrm>
            <a:off x="3839566" y="1609344"/>
            <a:ext cx="901964"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graph 상수</a:t>
            </a:r>
            <a:endParaRPr lang="en-US" sz="850" dirty="0"/>
          </a:p>
        </p:txBody>
      </p:sp>
      <p:sp>
        <p:nvSpPr>
          <p:cNvPr id="12" name="Text 10"/>
          <p:cNvSpPr txBox="1"/>
          <p:nvPr/>
        </p:nvSpPr>
        <p:spPr>
          <a:xfrm>
            <a:off x="3839566" y="1837944"/>
            <a:ext cx="901964"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const_data</a:t>
            </a:r>
            <a:endParaRPr lang="en-US" sz="650" dirty="0"/>
          </a:p>
        </p:txBody>
      </p:sp>
      <p:sp>
        <p:nvSpPr>
          <p:cNvPr id="13" name="Shape 11"/>
          <p:cNvSpPr/>
          <p:nvPr/>
        </p:nvSpPr>
        <p:spPr>
          <a:xfrm>
            <a:off x="4741530" y="1609344"/>
            <a:ext cx="2029419" cy="457200"/>
          </a:xfrm>
          <a:prstGeom prst="rect">
            <a:avLst/>
          </a:prstGeom>
          <a:solidFill>
            <a:srgbClr val="E3EEFB"/>
          </a:solidFill>
          <a:ln w="12700">
            <a:solidFill>
              <a:srgbClr val="2F6DB5"/>
            </a:solidFill>
            <a:prstDash val="solid"/>
          </a:ln>
        </p:spPr>
      </p:sp>
      <p:sp>
        <p:nvSpPr>
          <p:cNvPr id="14" name="Text 12"/>
          <p:cNvSpPr txBox="1"/>
          <p:nvPr/>
        </p:nvSpPr>
        <p:spPr>
          <a:xfrm>
            <a:off x="4741530" y="1609344"/>
            <a:ext cx="2029419"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storage pool A</a:t>
            </a:r>
            <a:endParaRPr lang="en-US" sz="850" dirty="0"/>
          </a:p>
        </p:txBody>
      </p:sp>
      <p:sp>
        <p:nvSpPr>
          <p:cNvPr id="15" name="Text 13"/>
          <p:cNvSpPr txBox="1"/>
          <p:nvPr/>
        </p:nvSpPr>
        <p:spPr>
          <a:xfrm>
            <a:off x="4741530" y="1837944"/>
            <a:ext cx="2029419"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G → U 재사용 (수명 안 겹침)</a:t>
            </a:r>
            <a:endParaRPr lang="en-US" sz="650" dirty="0"/>
          </a:p>
        </p:txBody>
      </p:sp>
      <p:sp>
        <p:nvSpPr>
          <p:cNvPr id="16" name="Shape 14"/>
          <p:cNvSpPr/>
          <p:nvPr/>
        </p:nvSpPr>
        <p:spPr>
          <a:xfrm>
            <a:off x="6770949" y="1609344"/>
            <a:ext cx="1578437" cy="457200"/>
          </a:xfrm>
          <a:prstGeom prst="rect">
            <a:avLst/>
          </a:prstGeom>
          <a:solidFill>
            <a:srgbClr val="E3EEFB"/>
          </a:solidFill>
          <a:ln w="12700">
            <a:solidFill>
              <a:srgbClr val="2F6DB5"/>
            </a:solidFill>
            <a:prstDash val="solid"/>
          </a:ln>
        </p:spPr>
      </p:sp>
      <p:sp>
        <p:nvSpPr>
          <p:cNvPr id="17" name="Text 15"/>
          <p:cNvSpPr txBox="1"/>
          <p:nvPr/>
        </p:nvSpPr>
        <p:spPr>
          <a:xfrm>
            <a:off x="6770949" y="1609344"/>
            <a:ext cx="1578437"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storage pool B</a:t>
            </a:r>
            <a:endParaRPr lang="en-US" sz="850" dirty="0"/>
          </a:p>
        </p:txBody>
      </p:sp>
      <p:sp>
        <p:nvSpPr>
          <p:cNvPr id="18" name="Text 16"/>
          <p:cNvSpPr txBox="1"/>
          <p:nvPr/>
        </p:nvSpPr>
        <p:spPr>
          <a:xfrm>
            <a:off x="6770949" y="1837944"/>
            <a:ext cx="1578437"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S → H</a:t>
            </a:r>
            <a:endParaRPr lang="en-US" sz="650" dirty="0"/>
          </a:p>
        </p:txBody>
      </p:sp>
      <p:sp>
        <p:nvSpPr>
          <p:cNvPr id="19" name="Shape 17"/>
          <p:cNvSpPr/>
          <p:nvPr/>
        </p:nvSpPr>
        <p:spPr>
          <a:xfrm>
            <a:off x="8349386" y="1609344"/>
            <a:ext cx="1803928" cy="457200"/>
          </a:xfrm>
          <a:prstGeom prst="rect">
            <a:avLst/>
          </a:prstGeom>
          <a:solidFill>
            <a:srgbClr val="ECE6FA"/>
          </a:solidFill>
          <a:ln w="12700">
            <a:solidFill>
              <a:srgbClr val="6C4FBF"/>
            </a:solidFill>
            <a:prstDash val="solid"/>
          </a:ln>
        </p:spPr>
      </p:sp>
      <p:sp>
        <p:nvSpPr>
          <p:cNvPr id="20" name="Text 18"/>
          <p:cNvSpPr txBox="1"/>
          <p:nvPr/>
        </p:nvSpPr>
        <p:spPr>
          <a:xfrm>
            <a:off x="8349386" y="1609344"/>
            <a:ext cx="1803928"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출력 tree</a:t>
            </a:r>
            <a:endParaRPr lang="en-US" sz="850" dirty="0"/>
          </a:p>
        </p:txBody>
      </p:sp>
      <p:sp>
        <p:nvSpPr>
          <p:cNvPr id="21" name="Text 19"/>
          <p:cNvSpPr txBox="1"/>
          <p:nvPr/>
        </p:nvSpPr>
        <p:spPr>
          <a:xfrm>
            <a:off x="8349386" y="1837944"/>
            <a:ext cx="1803928"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logits, K_new, V_new</a:t>
            </a:r>
            <a:endParaRPr lang="en-US" sz="650" dirty="0"/>
          </a:p>
        </p:txBody>
      </p:sp>
      <p:sp>
        <p:nvSpPr>
          <p:cNvPr id="22" name="Shape 20"/>
          <p:cNvSpPr/>
          <p:nvPr/>
        </p:nvSpPr>
        <p:spPr>
          <a:xfrm>
            <a:off x="10153315" y="1609344"/>
            <a:ext cx="1578437" cy="457200"/>
          </a:xfrm>
          <a:prstGeom prst="rect">
            <a:avLst/>
          </a:prstGeom>
          <a:solidFill>
            <a:srgbClr val="EEF2F6"/>
          </a:solidFill>
          <a:ln w="12700">
            <a:solidFill>
              <a:srgbClr val="C9D3DF"/>
            </a:solidFill>
            <a:prstDash val="solid"/>
          </a:ln>
        </p:spPr>
      </p:sp>
      <p:sp>
        <p:nvSpPr>
          <p:cNvPr id="23" name="Text 21"/>
          <p:cNvSpPr txBox="1"/>
          <p:nvPr/>
        </p:nvSpPr>
        <p:spPr>
          <a:xfrm>
            <a:off x="10153315" y="1609344"/>
            <a:ext cx="1578437"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literal pool · FP32 1.0</a:t>
            </a:r>
            <a:endParaRPr lang="en-US" sz="850" dirty="0"/>
          </a:p>
        </p:txBody>
      </p:sp>
      <p:sp>
        <p:nvSpPr>
          <p:cNvPr id="24" name="Text 22"/>
          <p:cNvSpPr txBox="1"/>
          <p:nvPr/>
        </p:nvSpPr>
        <p:spPr>
          <a:xfrm>
            <a:off x="10153315" y="1837944"/>
            <a:ext cx="1578437"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linker가 마지막에</a:t>
            </a:r>
            <a:endParaRPr lang="en-US" sz="650" dirty="0"/>
          </a:p>
        </p:txBody>
      </p:sp>
      <p:sp>
        <p:nvSpPr>
          <p:cNvPr id="25" name="Text 23"/>
          <p:cNvSpPr txBox="1"/>
          <p:nvPr/>
        </p:nvSpPr>
        <p:spPr>
          <a:xfrm>
            <a:off x="457200" y="2286000"/>
            <a:ext cx="7315200" cy="219456"/>
          </a:xfrm>
          <a:prstGeom prst="rect">
            <a:avLst/>
          </a:prstGeom>
          <a:noFill/>
          <a:ln/>
        </p:spPr>
        <p:txBody>
          <a:bodyPr wrap="square" lIns="0" tIns="0" rIns="0" bIns="0" rtlCol="0" anchor="t"/>
          <a:lstStyle/>
          <a:p>
            <a:pPr algn="l" indent="0" marL="0">
              <a:buNone/>
            </a:pPr>
            <a:r>
              <a:rPr lang="en-US" sz="950" b="1" dirty="0">
                <a:solidFill>
                  <a:srgbClr val="1F8A8A"/>
                </a:solidFill>
                <a:latin typeface="Malgun Gothic" pitchFamily="34" charset="0"/>
                <a:ea typeface="Malgun Gothic" pitchFamily="34" charset="-122"/>
                <a:cs typeface="Malgun Gothic" pitchFamily="34" charset="-120"/>
              </a:rPr>
              <a:t>SRAM 8 MiB (nibble) — ② USMP: 커널 buffer offset 공유   ③ 커널 사이 보관값: top-down 예약</a:t>
            </a:r>
            <a:endParaRPr lang="en-US" sz="950" dirty="0"/>
          </a:p>
        </p:txBody>
      </p:sp>
      <p:sp>
        <p:nvSpPr>
          <p:cNvPr id="26" name="Shape 24"/>
          <p:cNvSpPr/>
          <p:nvPr/>
        </p:nvSpPr>
        <p:spPr>
          <a:xfrm>
            <a:off x="457200" y="2523744"/>
            <a:ext cx="11274552" cy="457200"/>
          </a:xfrm>
          <a:prstGeom prst="rect">
            <a:avLst/>
          </a:prstGeom>
          <a:solidFill>
            <a:srgbClr val="EEF2F6"/>
          </a:solidFill>
          <a:ln w="9525">
            <a:solidFill>
              <a:srgbClr val="C9D3DF"/>
            </a:solidFill>
            <a:prstDash val="solid"/>
          </a:ln>
        </p:spPr>
      </p:sp>
      <p:sp>
        <p:nvSpPr>
          <p:cNvPr id="27" name="Shape 25"/>
          <p:cNvSpPr/>
          <p:nvPr/>
        </p:nvSpPr>
        <p:spPr>
          <a:xfrm>
            <a:off x="457200" y="2523744"/>
            <a:ext cx="789219" cy="457200"/>
          </a:xfrm>
          <a:prstGeom prst="rect">
            <a:avLst/>
          </a:prstGeom>
          <a:solidFill>
            <a:srgbClr val="EEF1F5"/>
          </a:solidFill>
          <a:ln w="12700">
            <a:solidFill>
              <a:srgbClr val="5B6B7F"/>
            </a:solidFill>
            <a:prstDash val="solid"/>
          </a:ln>
        </p:spPr>
      </p:sp>
      <p:sp>
        <p:nvSpPr>
          <p:cNvPr id="28" name="Text 26"/>
          <p:cNvSpPr txBox="1"/>
          <p:nvPr/>
        </p:nvSpPr>
        <p:spPr>
          <a:xfrm>
            <a:off x="457200" y="2523744"/>
            <a:ext cx="789219"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literal·scratch</a:t>
            </a:r>
            <a:endParaRPr lang="en-US" sz="850" dirty="0"/>
          </a:p>
        </p:txBody>
      </p:sp>
      <p:sp>
        <p:nvSpPr>
          <p:cNvPr id="29" name="Text 27"/>
          <p:cNvSpPr txBox="1"/>
          <p:nvPr/>
        </p:nvSpPr>
        <p:spPr>
          <a:xfrm>
            <a:off x="457200" y="2752344"/>
            <a:ext cx="789219"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6 slots</a:t>
            </a:r>
            <a:endParaRPr lang="en-US" sz="650" dirty="0"/>
          </a:p>
        </p:txBody>
      </p:sp>
      <p:sp>
        <p:nvSpPr>
          <p:cNvPr id="30" name="Shape 28"/>
          <p:cNvSpPr/>
          <p:nvPr/>
        </p:nvSpPr>
        <p:spPr>
          <a:xfrm>
            <a:off x="1246419" y="2523744"/>
            <a:ext cx="2367656" cy="457200"/>
          </a:xfrm>
          <a:prstGeom prst="rect">
            <a:avLst/>
          </a:prstGeom>
          <a:solidFill>
            <a:srgbClr val="DDF3F0"/>
          </a:solidFill>
          <a:ln w="12700">
            <a:solidFill>
              <a:srgbClr val="1F8A8A"/>
            </a:solidFill>
            <a:prstDash val="solid"/>
          </a:ln>
        </p:spPr>
      </p:sp>
      <p:sp>
        <p:nvSpPr>
          <p:cNvPr id="31" name="Text 29"/>
          <p:cNvSpPr txBox="1"/>
          <p:nvPr/>
        </p:nvSpPr>
        <p:spPr>
          <a:xfrm>
            <a:off x="1246419" y="2523744"/>
            <a:ext cx="2367656"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② buffer b₀ (pinned)</a:t>
            </a:r>
            <a:endParaRPr lang="en-US" sz="850" dirty="0"/>
          </a:p>
        </p:txBody>
      </p:sp>
      <p:sp>
        <p:nvSpPr>
          <p:cNvPr id="32" name="Text 30"/>
          <p:cNvSpPr txBox="1"/>
          <p:nvPr/>
        </p:nvSpPr>
        <p:spPr>
          <a:xfrm>
            <a:off x="1246419" y="2752344"/>
            <a:ext cx="2367656"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gemm 목적지</a:t>
            </a:r>
            <a:endParaRPr lang="en-US" sz="650" dirty="0"/>
          </a:p>
        </p:txBody>
      </p:sp>
      <p:sp>
        <p:nvSpPr>
          <p:cNvPr id="33" name="Shape 31"/>
          <p:cNvSpPr/>
          <p:nvPr/>
        </p:nvSpPr>
        <p:spPr>
          <a:xfrm>
            <a:off x="3614075" y="2523744"/>
            <a:ext cx="2029419" cy="457200"/>
          </a:xfrm>
          <a:prstGeom prst="rect">
            <a:avLst/>
          </a:prstGeom>
          <a:solidFill>
            <a:srgbClr val="DDF3F0"/>
          </a:solidFill>
          <a:ln w="12700">
            <a:solidFill>
              <a:srgbClr val="1F8A8A"/>
            </a:solidFill>
            <a:prstDash val="solid"/>
          </a:ln>
        </p:spPr>
      </p:sp>
      <p:sp>
        <p:nvSpPr>
          <p:cNvPr id="34" name="Text 32"/>
          <p:cNvSpPr txBox="1"/>
          <p:nvPr/>
        </p:nvSpPr>
        <p:spPr>
          <a:xfrm>
            <a:off x="3614075" y="2523744"/>
            <a:ext cx="2029419"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② b₁ / b₃ (offset 공유)</a:t>
            </a:r>
            <a:endParaRPr lang="en-US" sz="850" dirty="0"/>
          </a:p>
        </p:txBody>
      </p:sp>
      <p:sp>
        <p:nvSpPr>
          <p:cNvPr id="35" name="Text 33"/>
          <p:cNvSpPr txBox="1"/>
          <p:nvPr/>
        </p:nvSpPr>
        <p:spPr>
          <a:xfrm>
            <a:off x="3614075" y="2752344"/>
            <a:ext cx="2029419"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충돌 없음</a:t>
            </a:r>
            <a:endParaRPr lang="en-US" sz="650" dirty="0"/>
          </a:p>
        </p:txBody>
      </p:sp>
      <p:sp>
        <p:nvSpPr>
          <p:cNvPr id="36" name="Shape 34"/>
          <p:cNvSpPr/>
          <p:nvPr/>
        </p:nvSpPr>
        <p:spPr>
          <a:xfrm>
            <a:off x="5643494" y="2523744"/>
            <a:ext cx="1803928" cy="457200"/>
          </a:xfrm>
          <a:prstGeom prst="rect">
            <a:avLst/>
          </a:prstGeom>
          <a:solidFill>
            <a:srgbClr val="DDF3F0"/>
          </a:solidFill>
          <a:ln w="12700">
            <a:solidFill>
              <a:srgbClr val="1F8A8A"/>
            </a:solidFill>
            <a:prstDash val="solid"/>
          </a:ln>
        </p:spPr>
      </p:sp>
      <p:sp>
        <p:nvSpPr>
          <p:cNvPr id="37" name="Text 35"/>
          <p:cNvSpPr txBox="1"/>
          <p:nvPr/>
        </p:nvSpPr>
        <p:spPr>
          <a:xfrm>
            <a:off x="5643494" y="2523744"/>
            <a:ext cx="1803928"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② b₂ / b₄ / input panel</a:t>
            </a:r>
            <a:endParaRPr lang="en-US" sz="850" dirty="0"/>
          </a:p>
        </p:txBody>
      </p:sp>
      <p:sp>
        <p:nvSpPr>
          <p:cNvPr id="38" name="Text 36"/>
          <p:cNvSpPr txBox="1"/>
          <p:nvPr/>
        </p:nvSpPr>
        <p:spPr>
          <a:xfrm>
            <a:off x="5643494" y="2752344"/>
            <a:ext cx="1803928"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compaction된 크기</a:t>
            </a:r>
            <a:endParaRPr lang="en-US" sz="650" dirty="0"/>
          </a:p>
        </p:txBody>
      </p:sp>
      <p:sp>
        <p:nvSpPr>
          <p:cNvPr id="39" name="Shape 37"/>
          <p:cNvSpPr/>
          <p:nvPr/>
        </p:nvSpPr>
        <p:spPr>
          <a:xfrm>
            <a:off x="7447422" y="2523744"/>
            <a:ext cx="1127455" cy="457200"/>
          </a:xfrm>
          <a:prstGeom prst="rect">
            <a:avLst/>
          </a:prstGeom>
          <a:solidFill>
            <a:srgbClr val="EEF2F6"/>
          </a:solidFill>
          <a:ln w="12700">
            <a:solidFill>
              <a:srgbClr val="C9D3DF"/>
            </a:solidFill>
            <a:prstDash val="solid"/>
          </a:ln>
        </p:spPr>
      </p:sp>
      <p:sp>
        <p:nvSpPr>
          <p:cNvPr id="40" name="Text 38"/>
          <p:cNvSpPr txBox="1"/>
          <p:nvPr/>
        </p:nvSpPr>
        <p:spPr>
          <a:xfrm>
            <a:off x="7447422" y="2523744"/>
            <a:ext cx="1127455"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(cap)</a:t>
            </a:r>
            <a:endParaRPr lang="en-US" sz="850" dirty="0"/>
          </a:p>
        </p:txBody>
      </p:sp>
      <p:sp>
        <p:nvSpPr>
          <p:cNvPr id="41" name="Text 39"/>
          <p:cNvSpPr txBox="1"/>
          <p:nvPr/>
        </p:nvSpPr>
        <p:spPr>
          <a:xfrm>
            <a:off x="7447422" y="2752344"/>
            <a:ext cx="1127455"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workspace 천장</a:t>
            </a:r>
            <a:endParaRPr lang="en-US" sz="650" dirty="0"/>
          </a:p>
        </p:txBody>
      </p:sp>
      <p:sp>
        <p:nvSpPr>
          <p:cNvPr id="42" name="Shape 40"/>
          <p:cNvSpPr/>
          <p:nvPr/>
        </p:nvSpPr>
        <p:spPr>
          <a:xfrm>
            <a:off x="8574877" y="2523744"/>
            <a:ext cx="3156875" cy="457200"/>
          </a:xfrm>
          <a:prstGeom prst="rect">
            <a:avLst/>
          </a:prstGeom>
          <a:solidFill>
            <a:srgbClr val="FFF6DB"/>
          </a:solidFill>
          <a:ln w="12700">
            <a:solidFill>
              <a:srgbClr val="B7791F"/>
            </a:solidFill>
            <a:prstDash val="solid"/>
          </a:ln>
        </p:spPr>
      </p:sp>
      <p:sp>
        <p:nvSpPr>
          <p:cNvPr id="43" name="Text 41"/>
          <p:cNvSpPr txBox="1"/>
          <p:nvPr/>
        </p:nvSpPr>
        <p:spPr>
          <a:xfrm>
            <a:off x="8574877" y="2523744"/>
            <a:ext cx="3156875"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③ 보관값 H (다음 커널이 직접 LOAD)</a:t>
            </a:r>
            <a:endParaRPr lang="en-US" sz="850" dirty="0"/>
          </a:p>
        </p:txBody>
      </p:sp>
      <p:sp>
        <p:nvSpPr>
          <p:cNvPr id="44" name="Text 42"/>
          <p:cNvSpPr txBox="1"/>
          <p:nvPr/>
        </p:nvSpPr>
        <p:spPr>
          <a:xfrm>
            <a:off x="8574877" y="2752344"/>
            <a:ext cx="3156875"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reserve(): 위에서 아래로 first-fit</a:t>
            </a:r>
            <a:endParaRPr lang="en-US" sz="6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3200400"/>
          <a:ext cx="11274552" cy="914400"/>
        </p:xfrm>
        <a:graphic>
          <a:graphicData uri="http://schemas.openxmlformats.org/drawingml/2006/table">
            <a:tbl>
              <a:tblPr/>
              <a:tblGrid>
                <a:gridCol w="1645920"/>
                <a:gridCol w="2743200"/>
                <a:gridCol w="4206240"/>
                <a:gridCol w="2679192"/>
              </a:tblGrid>
              <a:tr h="420624">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계획</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분석하는 범위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도구와 책임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결과</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2062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① 기본 DRAM storage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Relax 함수의 tensor 수명과 재사용 (호출 순서 기준)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TVM StaticPlanBlockMemory → storage pool; backend가 pool을 flat image 주소로 (npu_memplan.assign_addresses)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plan.address[name] (unit 2 B), pool_base/bytes, outputs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2062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② 커널 내부 SRAM</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Scheduled TIR 하나의 임시 buffer 수명·충돌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TVM USMP extract_buffer_info + greedy 배치 vs bump; matrix 목적지 pinned (npu_sram.plan_sram)</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SramLayout: offset(nibble), peak, 알고리즘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2062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③ 커널 사이 보관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생산 호출부터 마지막 소비 호출까지 (값의 버전)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NPU whole-tensor 보관 탐색 (beam 4) + 보관 공간을 뺀 용량으로 호출별 재schedule (npu_memory_search.plan_program)</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retained_values, 호출별 recipe/words, 보관 arena</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46" name="Text 43"/>
          <p:cNvSpPr txBox="1"/>
          <p:nvPr/>
        </p:nvSpPr>
        <p:spPr>
          <a:xfrm>
            <a:off x="457200" y="4937760"/>
            <a:ext cx="10972800" cy="219456"/>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compile_program 안에서의 실제 순서 (entry 하나)</a:t>
            </a:r>
            <a:endParaRPr lang="en-US" sz="950" dirty="0"/>
          </a:p>
        </p:txBody>
      </p:sp>
      <p:sp>
        <p:nvSpPr>
          <p:cNvPr id="47" name="Shape 44"/>
          <p:cNvSpPr/>
          <p:nvPr/>
        </p:nvSpPr>
        <p:spPr>
          <a:xfrm>
            <a:off x="457200" y="5175504"/>
            <a:ext cx="1045159" cy="731520"/>
          </a:xfrm>
          <a:prstGeom prst="roundRect">
            <a:avLst>
              <a:gd name="adj" fmla="val 7500"/>
            </a:avLst>
          </a:prstGeom>
          <a:solidFill>
            <a:srgbClr val="FFF1DC"/>
          </a:solidFill>
          <a:ln w="12700">
            <a:solidFill>
              <a:srgbClr val="D98A1E"/>
            </a:solidFill>
            <a:prstDash val="solid"/>
          </a:ln>
        </p:spPr>
      </p:sp>
      <p:sp>
        <p:nvSpPr>
          <p:cNvPr id="48" name="Text 45"/>
          <p:cNvSpPr txBox="1"/>
          <p:nvPr/>
        </p:nvSpPr>
        <p:spPr>
          <a:xfrm>
            <a:off x="530352" y="5248656"/>
            <a:ext cx="898855" cy="142875"/>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assign_addresses</a:t>
            </a:r>
            <a:endParaRPr lang="en-US" sz="750" dirty="0"/>
          </a:p>
        </p:txBody>
      </p:sp>
      <p:sp>
        <p:nvSpPr>
          <p:cNvPr id="49" name="Text 46"/>
          <p:cNvSpPr txBox="1"/>
          <p:nvPr/>
        </p:nvSpPr>
        <p:spPr>
          <a:xfrm>
            <a:off x="530352" y="5391531"/>
            <a:ext cx="898855" cy="478917"/>
          </a:xfrm>
          <a:prstGeom prst="rect">
            <a:avLst/>
          </a:prstGeom>
          <a:noFill/>
          <a:ln/>
        </p:spPr>
        <p:txBody>
          <a:bodyPr wrap="square" lIns="0" tIns="0" rIns="0" bIns="0" rtlCol="0" anchor="t"/>
          <a:lstStyle/>
          <a:p>
            <a:pPr algn="ctr" indent="0" marL="0">
              <a:buNone/>
            </a:pPr>
            <a:r>
              <a:rPr lang="en-US" sz="630" dirty="0">
                <a:solidFill>
                  <a:srgbClr val="5B6B7F"/>
                </a:solidFill>
                <a:latin typeface="Malgun Gothic" pitchFamily="34" charset="0"/>
                <a:ea typeface="Malgun Gothic" pitchFamily="34" charset="-122"/>
                <a:cs typeface="Malgun Gothic" pitchFamily="34" charset="-120"/>
              </a:rPr>
              <a:t>① DRAM plan</a:t>
            </a:r>
            <a:endParaRPr lang="en-US" sz="630" dirty="0"/>
          </a:p>
        </p:txBody>
      </p:sp>
      <p:sp>
        <p:nvSpPr>
          <p:cNvPr id="50" name="Shape 47"/>
          <p:cNvSpPr/>
          <p:nvPr/>
        </p:nvSpPr>
        <p:spPr>
          <a:xfrm>
            <a:off x="1506931" y="5541264"/>
            <a:ext cx="82296" cy="914"/>
          </a:xfrm>
          <a:prstGeom prst="line">
            <a:avLst/>
          </a:prstGeom>
          <a:noFill/>
          <a:ln w="9525">
            <a:solidFill>
              <a:srgbClr val="5B6B7F"/>
            </a:solidFill>
            <a:prstDash val="solid"/>
            <a:tailEnd type="triangle"/>
          </a:ln>
        </p:spPr>
      </p:sp>
      <p:sp>
        <p:nvSpPr>
          <p:cNvPr id="51" name="Shape 48"/>
          <p:cNvSpPr/>
          <p:nvPr/>
        </p:nvSpPr>
        <p:spPr>
          <a:xfrm>
            <a:off x="1593799" y="5175504"/>
            <a:ext cx="1045159" cy="731520"/>
          </a:xfrm>
          <a:prstGeom prst="roundRect">
            <a:avLst>
              <a:gd name="adj" fmla="val 7500"/>
            </a:avLst>
          </a:prstGeom>
          <a:solidFill>
            <a:srgbClr val="EEF1F5"/>
          </a:solidFill>
          <a:ln w="12700">
            <a:solidFill>
              <a:srgbClr val="5B6B7F"/>
            </a:solidFill>
            <a:prstDash val="solid"/>
          </a:ln>
        </p:spPr>
      </p:sp>
      <p:sp>
        <p:nvSpPr>
          <p:cNvPr id="52" name="Text 49"/>
          <p:cNvSpPr txBox="1"/>
          <p:nvPr/>
        </p:nvSpPr>
        <p:spPr>
          <a:xfrm>
            <a:off x="1666951" y="5248656"/>
            <a:ext cx="898855" cy="142875"/>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validate_entry</a:t>
            </a:r>
            <a:endParaRPr lang="en-US" sz="750" dirty="0"/>
          </a:p>
        </p:txBody>
      </p:sp>
      <p:sp>
        <p:nvSpPr>
          <p:cNvPr id="53" name="Text 50"/>
          <p:cNvSpPr txBox="1"/>
          <p:nvPr/>
        </p:nvSpPr>
        <p:spPr>
          <a:xfrm>
            <a:off x="1666951" y="5391531"/>
            <a:ext cx="898855" cy="478917"/>
          </a:xfrm>
          <a:prstGeom prst="rect">
            <a:avLst/>
          </a:prstGeom>
          <a:noFill/>
          <a:ln/>
        </p:spPr>
        <p:txBody>
          <a:bodyPr wrap="square" lIns="0" tIns="0" rIns="0" bIns="0" rtlCol="0" anchor="t"/>
          <a:lstStyle/>
          <a:p>
            <a:pPr algn="ctr" indent="0" marL="0">
              <a:buNone/>
            </a:pPr>
            <a:r>
              <a:rPr lang="en-US" sz="630" dirty="0">
                <a:solidFill>
                  <a:srgbClr val="5B6B7F"/>
                </a:solidFill>
                <a:latin typeface="Malgun Gothic" pitchFamily="34" charset="0"/>
                <a:ea typeface="Malgun Gothic" pitchFamily="34" charset="-122"/>
                <a:cs typeface="Malgun Gothic" pitchFamily="34" charset="-120"/>
              </a:rPr>
              <a:t>ABI 검사</a:t>
            </a:r>
            <a:endParaRPr lang="en-US" sz="630" dirty="0"/>
          </a:p>
        </p:txBody>
      </p:sp>
      <p:sp>
        <p:nvSpPr>
          <p:cNvPr id="54" name="Shape 51"/>
          <p:cNvSpPr/>
          <p:nvPr/>
        </p:nvSpPr>
        <p:spPr>
          <a:xfrm>
            <a:off x="2643530" y="5541264"/>
            <a:ext cx="82296" cy="914"/>
          </a:xfrm>
          <a:prstGeom prst="line">
            <a:avLst/>
          </a:prstGeom>
          <a:noFill/>
          <a:ln w="9525">
            <a:solidFill>
              <a:srgbClr val="5B6B7F"/>
            </a:solidFill>
            <a:prstDash val="solid"/>
            <a:tailEnd type="triangle"/>
          </a:ln>
        </p:spPr>
      </p:sp>
      <p:sp>
        <p:nvSpPr>
          <p:cNvPr id="55" name="Shape 52"/>
          <p:cNvSpPr/>
          <p:nvPr/>
        </p:nvSpPr>
        <p:spPr>
          <a:xfrm>
            <a:off x="2730398" y="5175504"/>
            <a:ext cx="1045159" cy="731520"/>
          </a:xfrm>
          <a:prstGeom prst="roundRect">
            <a:avLst>
              <a:gd name="adj" fmla="val 7500"/>
            </a:avLst>
          </a:prstGeom>
          <a:solidFill>
            <a:srgbClr val="EEF1F5"/>
          </a:solidFill>
          <a:ln w="12700">
            <a:solidFill>
              <a:srgbClr val="5B6B7F"/>
            </a:solidFill>
            <a:prstDash val="solid"/>
          </a:ln>
        </p:spPr>
      </p:sp>
      <p:sp>
        <p:nvSpPr>
          <p:cNvPr id="56" name="Text 53"/>
          <p:cNvSpPr txBox="1"/>
          <p:nvPr/>
        </p:nvSpPr>
        <p:spPr>
          <a:xfrm>
            <a:off x="2803550" y="5248656"/>
            <a:ext cx="898855" cy="142875"/>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scalar pool</a:t>
            </a:r>
            <a:endParaRPr lang="en-US" sz="750" dirty="0"/>
          </a:p>
        </p:txBody>
      </p:sp>
      <p:sp>
        <p:nvSpPr>
          <p:cNvPr id="57" name="Text 54"/>
          <p:cNvSpPr txBox="1"/>
          <p:nvPr/>
        </p:nvSpPr>
        <p:spPr>
          <a:xfrm>
            <a:off x="2803550" y="5391531"/>
            <a:ext cx="898855" cy="478917"/>
          </a:xfrm>
          <a:prstGeom prst="rect">
            <a:avLst/>
          </a:prstGeom>
          <a:noFill/>
          <a:ln/>
        </p:spPr>
        <p:txBody>
          <a:bodyPr wrap="square" lIns="0" tIns="0" rIns="0" bIns="0" rtlCol="0" anchor="t"/>
          <a:lstStyle/>
          <a:p>
            <a:pPr algn="ctr" indent="0" marL="0">
              <a:buNone/>
            </a:pPr>
            <a:r>
              <a:rPr lang="en-US" sz="630" dirty="0">
                <a:solidFill>
                  <a:srgbClr val="5B6B7F"/>
                </a:solidFill>
                <a:latin typeface="Malgun Gothic" pitchFamily="34" charset="0"/>
                <a:ea typeface="Malgun Gothic" pitchFamily="34" charset="-122"/>
                <a:cs typeface="Malgun Gothic" pitchFamily="34" charset="-120"/>
              </a:rPr>
              <a:t>FP16 literal + 1.0/2.0</a:t>
            </a:r>
            <a:endParaRPr lang="en-US" sz="630" dirty="0"/>
          </a:p>
        </p:txBody>
      </p:sp>
      <p:sp>
        <p:nvSpPr>
          <p:cNvPr id="58" name="Shape 55"/>
          <p:cNvSpPr/>
          <p:nvPr/>
        </p:nvSpPr>
        <p:spPr>
          <a:xfrm>
            <a:off x="3780130" y="5541264"/>
            <a:ext cx="82296" cy="914"/>
          </a:xfrm>
          <a:prstGeom prst="line">
            <a:avLst/>
          </a:prstGeom>
          <a:noFill/>
          <a:ln w="9525">
            <a:solidFill>
              <a:srgbClr val="5B6B7F"/>
            </a:solidFill>
            <a:prstDash val="solid"/>
            <a:tailEnd type="triangle"/>
          </a:ln>
        </p:spPr>
      </p:sp>
      <p:sp>
        <p:nvSpPr>
          <p:cNvPr id="59" name="Shape 56"/>
          <p:cNvSpPr/>
          <p:nvPr/>
        </p:nvSpPr>
        <p:spPr>
          <a:xfrm>
            <a:off x="3866998" y="5175504"/>
            <a:ext cx="1045159" cy="731520"/>
          </a:xfrm>
          <a:prstGeom prst="roundRect">
            <a:avLst>
              <a:gd name="adj" fmla="val 7500"/>
            </a:avLst>
          </a:prstGeom>
          <a:solidFill>
            <a:srgbClr val="DDF3F0"/>
          </a:solidFill>
          <a:ln w="12700">
            <a:solidFill>
              <a:srgbClr val="1F8A8A"/>
            </a:solidFill>
            <a:prstDash val="solid"/>
          </a:ln>
        </p:spPr>
      </p:sp>
      <p:sp>
        <p:nvSpPr>
          <p:cNvPr id="60" name="Text 57"/>
          <p:cNvSpPr txBox="1"/>
          <p:nvPr/>
        </p:nvSpPr>
        <p:spPr>
          <a:xfrm>
            <a:off x="3940150" y="5248656"/>
            <a:ext cx="898855" cy="142875"/>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plan_program</a:t>
            </a:r>
            <a:endParaRPr lang="en-US" sz="750" dirty="0"/>
          </a:p>
        </p:txBody>
      </p:sp>
      <p:sp>
        <p:nvSpPr>
          <p:cNvPr id="61" name="Text 58"/>
          <p:cNvSpPr txBox="1"/>
          <p:nvPr/>
        </p:nvSpPr>
        <p:spPr>
          <a:xfrm>
            <a:off x="3940150" y="5391531"/>
            <a:ext cx="898855" cy="478917"/>
          </a:xfrm>
          <a:prstGeom prst="rect">
            <a:avLst/>
          </a:prstGeom>
          <a:noFill/>
          <a:ln/>
        </p:spPr>
        <p:txBody>
          <a:bodyPr wrap="square" lIns="0" tIns="0" rIns="0" bIns="0" rtlCol="0" anchor="t"/>
          <a:lstStyle/>
          <a:p>
            <a:pPr algn="ctr" indent="0" marL="0">
              <a:buNone/>
            </a:pPr>
            <a:r>
              <a:rPr lang="en-US" sz="630" dirty="0">
                <a:solidFill>
                  <a:srgbClr val="5B6B7F"/>
                </a:solidFill>
                <a:latin typeface="Malgun Gothic" pitchFamily="34" charset="0"/>
                <a:ea typeface="Malgun Gothic" pitchFamily="34" charset="-122"/>
                <a:cs typeface="Malgun Gothic" pitchFamily="34" charset="-120"/>
              </a:rPr>
              <a:t>③ joint SRAM search</a:t>
            </a:r>
            <a:endParaRPr lang="en-US" sz="630" dirty="0"/>
          </a:p>
        </p:txBody>
      </p:sp>
      <p:sp>
        <p:nvSpPr>
          <p:cNvPr id="62" name="Shape 59"/>
          <p:cNvSpPr/>
          <p:nvPr/>
        </p:nvSpPr>
        <p:spPr>
          <a:xfrm>
            <a:off x="4916729" y="5541264"/>
            <a:ext cx="82296" cy="914"/>
          </a:xfrm>
          <a:prstGeom prst="line">
            <a:avLst/>
          </a:prstGeom>
          <a:noFill/>
          <a:ln w="9525">
            <a:solidFill>
              <a:srgbClr val="5B6B7F"/>
            </a:solidFill>
            <a:prstDash val="solid"/>
            <a:tailEnd type="triangle"/>
          </a:ln>
        </p:spPr>
      </p:sp>
      <p:sp>
        <p:nvSpPr>
          <p:cNvPr id="63" name="Shape 60"/>
          <p:cNvSpPr/>
          <p:nvPr/>
        </p:nvSpPr>
        <p:spPr>
          <a:xfrm>
            <a:off x="5003597" y="5175504"/>
            <a:ext cx="1045159" cy="731520"/>
          </a:xfrm>
          <a:prstGeom prst="roundRect">
            <a:avLst>
              <a:gd name="adj" fmla="val 7500"/>
            </a:avLst>
          </a:prstGeom>
          <a:solidFill>
            <a:srgbClr val="DDF3F0"/>
          </a:solidFill>
          <a:ln w="12700">
            <a:solidFill>
              <a:srgbClr val="1F8A8A"/>
            </a:solidFill>
            <a:prstDash val="solid"/>
          </a:ln>
        </p:spPr>
      </p:sp>
      <p:sp>
        <p:nvSpPr>
          <p:cNvPr id="64" name="Text 61"/>
          <p:cNvSpPr txBox="1"/>
          <p:nvPr/>
        </p:nvSpPr>
        <p:spPr>
          <a:xfrm>
            <a:off x="5076749" y="5248656"/>
            <a:ext cx="898855" cy="142875"/>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호출별 emission</a:t>
            </a:r>
            <a:endParaRPr lang="en-US" sz="750" dirty="0"/>
          </a:p>
        </p:txBody>
      </p:sp>
      <p:sp>
        <p:nvSpPr>
          <p:cNvPr id="65" name="Text 62"/>
          <p:cNvSpPr txBox="1"/>
          <p:nvPr/>
        </p:nvSpPr>
        <p:spPr>
          <a:xfrm>
            <a:off x="5076749" y="5391531"/>
            <a:ext cx="898855" cy="478917"/>
          </a:xfrm>
          <a:prstGeom prst="rect">
            <a:avLst/>
          </a:prstGeom>
          <a:noFill/>
          <a:ln/>
        </p:spPr>
        <p:txBody>
          <a:bodyPr wrap="square" lIns="0" tIns="0" rIns="0" bIns="0" rtlCol="0" anchor="t"/>
          <a:lstStyle/>
          <a:p>
            <a:pPr algn="ctr" indent="0" marL="0">
              <a:buNone/>
            </a:pPr>
            <a:r>
              <a:rPr lang="en-US" sz="630" dirty="0">
                <a:solidFill>
                  <a:srgbClr val="5B6B7F"/>
                </a:solidFill>
                <a:latin typeface="Malgun Gothic" pitchFamily="34" charset="0"/>
                <a:ea typeface="Malgun Gothic" pitchFamily="34" charset="-122"/>
                <a:cs typeface="Malgun Gothic" pitchFamily="34" charset="-120"/>
              </a:rPr>
              <a:t>② schedule·USMP·codegen</a:t>
            </a:r>
            <a:endParaRPr lang="en-US" sz="630" dirty="0"/>
          </a:p>
        </p:txBody>
      </p:sp>
      <p:sp>
        <p:nvSpPr>
          <p:cNvPr id="66" name="Shape 63"/>
          <p:cNvSpPr/>
          <p:nvPr/>
        </p:nvSpPr>
        <p:spPr>
          <a:xfrm>
            <a:off x="6053328" y="5541264"/>
            <a:ext cx="82296" cy="914"/>
          </a:xfrm>
          <a:prstGeom prst="line">
            <a:avLst/>
          </a:prstGeom>
          <a:noFill/>
          <a:ln w="9525">
            <a:solidFill>
              <a:srgbClr val="5B6B7F"/>
            </a:solidFill>
            <a:prstDash val="solid"/>
            <a:tailEnd type="triangle"/>
          </a:ln>
        </p:spPr>
      </p:sp>
      <p:sp>
        <p:nvSpPr>
          <p:cNvPr id="67" name="Shape 64"/>
          <p:cNvSpPr/>
          <p:nvPr/>
        </p:nvSpPr>
        <p:spPr>
          <a:xfrm>
            <a:off x="6140196" y="5175504"/>
            <a:ext cx="1045159" cy="731520"/>
          </a:xfrm>
          <a:prstGeom prst="roundRect">
            <a:avLst>
              <a:gd name="adj" fmla="val 7500"/>
            </a:avLst>
          </a:prstGeom>
          <a:solidFill>
            <a:srgbClr val="ECE6FA"/>
          </a:solidFill>
          <a:ln w="12700">
            <a:solidFill>
              <a:srgbClr val="6C4FBF"/>
            </a:solidFill>
            <a:prstDash val="solid"/>
          </a:ln>
        </p:spPr>
      </p:sp>
      <p:sp>
        <p:nvSpPr>
          <p:cNvPr id="68" name="Text 65"/>
          <p:cNvSpPr txBox="1"/>
          <p:nvPr/>
        </p:nvSpPr>
        <p:spPr>
          <a:xfrm>
            <a:off x="6213348" y="5248656"/>
            <a:ext cx="898855" cy="142875"/>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residency</a:t>
            </a:r>
            <a:endParaRPr lang="en-US" sz="750" dirty="0"/>
          </a:p>
        </p:txBody>
      </p:sp>
      <p:sp>
        <p:nvSpPr>
          <p:cNvPr id="69" name="Text 66"/>
          <p:cNvSpPr txBox="1"/>
          <p:nvPr/>
        </p:nvSpPr>
        <p:spPr>
          <a:xfrm>
            <a:off x="6213348" y="5391531"/>
            <a:ext cx="898855" cy="478917"/>
          </a:xfrm>
          <a:prstGeom prst="rect">
            <a:avLst/>
          </a:prstGeom>
          <a:noFill/>
          <a:ln/>
        </p:spPr>
        <p:txBody>
          <a:bodyPr wrap="square" lIns="0" tIns="0" rIns="0" bIns="0" rtlCol="0" anchor="t"/>
          <a:lstStyle/>
          <a:p>
            <a:pPr algn="ctr" indent="0" marL="0">
              <a:buNone/>
            </a:pPr>
            <a:r>
              <a:rPr lang="en-US" sz="630" dirty="0">
                <a:solidFill>
                  <a:srgbClr val="5B6B7F"/>
                </a:solidFill>
                <a:latin typeface="Malgun Gothic" pitchFamily="34" charset="0"/>
                <a:ea typeface="Malgun Gothic" pitchFamily="34" charset="-122"/>
                <a:cs typeface="Malgun Gothic" pitchFamily="34" charset="-120"/>
              </a:rPr>
              <a:t>forwarding</a:t>
            </a:r>
            <a:endParaRPr lang="en-US" sz="630" dirty="0"/>
          </a:p>
        </p:txBody>
      </p:sp>
      <p:sp>
        <p:nvSpPr>
          <p:cNvPr id="70" name="Shape 67"/>
          <p:cNvSpPr/>
          <p:nvPr/>
        </p:nvSpPr>
        <p:spPr>
          <a:xfrm>
            <a:off x="7189927" y="5541264"/>
            <a:ext cx="82296" cy="914"/>
          </a:xfrm>
          <a:prstGeom prst="line">
            <a:avLst/>
          </a:prstGeom>
          <a:noFill/>
          <a:ln w="9525">
            <a:solidFill>
              <a:srgbClr val="5B6B7F"/>
            </a:solidFill>
            <a:prstDash val="solid"/>
            <a:tailEnd type="triangle"/>
          </a:ln>
        </p:spPr>
      </p:sp>
      <p:sp>
        <p:nvSpPr>
          <p:cNvPr id="71" name="Shape 68"/>
          <p:cNvSpPr/>
          <p:nvPr/>
        </p:nvSpPr>
        <p:spPr>
          <a:xfrm>
            <a:off x="7276795" y="5175504"/>
            <a:ext cx="1045159" cy="731520"/>
          </a:xfrm>
          <a:prstGeom prst="roundRect">
            <a:avLst>
              <a:gd name="adj" fmla="val 7500"/>
            </a:avLst>
          </a:prstGeom>
          <a:solidFill>
            <a:srgbClr val="ECE6FA"/>
          </a:solidFill>
          <a:ln w="12700">
            <a:solidFill>
              <a:srgbClr val="6C4FBF"/>
            </a:solidFill>
            <a:prstDash val="solid"/>
          </a:ln>
        </p:spPr>
      </p:sp>
      <p:sp>
        <p:nvSpPr>
          <p:cNvPr id="72" name="Text 69"/>
          <p:cNvSpPr txBox="1"/>
          <p:nvPr/>
        </p:nvSpPr>
        <p:spPr>
          <a:xfrm>
            <a:off x="7349947" y="5248656"/>
            <a:ext cx="898855" cy="142875"/>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peephole</a:t>
            </a:r>
            <a:endParaRPr lang="en-US" sz="750" dirty="0"/>
          </a:p>
        </p:txBody>
      </p:sp>
      <p:sp>
        <p:nvSpPr>
          <p:cNvPr id="73" name="Text 70"/>
          <p:cNvSpPr txBox="1"/>
          <p:nvPr/>
        </p:nvSpPr>
        <p:spPr>
          <a:xfrm>
            <a:off x="7349947" y="5391531"/>
            <a:ext cx="898855" cy="478917"/>
          </a:xfrm>
          <a:prstGeom prst="rect">
            <a:avLst/>
          </a:prstGeom>
          <a:noFill/>
          <a:ln/>
        </p:spPr>
        <p:txBody>
          <a:bodyPr wrap="square" lIns="0" tIns="0" rIns="0" bIns="0" rtlCol="0" anchor="t"/>
          <a:lstStyle/>
          <a:p>
            <a:pPr algn="ctr" indent="0" marL="0">
              <a:buNone/>
            </a:pPr>
            <a:r>
              <a:rPr lang="en-US" sz="630" dirty="0">
                <a:solidFill>
                  <a:srgbClr val="5B6B7F"/>
                </a:solidFill>
                <a:latin typeface="Malgun Gothic" pitchFamily="34" charset="0"/>
                <a:ea typeface="Malgun Gothic" pitchFamily="34" charset="-122"/>
                <a:cs typeface="Malgun Gothic" pitchFamily="34" charset="-120"/>
              </a:rPr>
              <a:t>descriptor 중복</a:t>
            </a:r>
            <a:endParaRPr lang="en-US" sz="630" dirty="0"/>
          </a:p>
        </p:txBody>
      </p:sp>
      <p:sp>
        <p:nvSpPr>
          <p:cNvPr id="74" name="Shape 71"/>
          <p:cNvSpPr/>
          <p:nvPr/>
        </p:nvSpPr>
        <p:spPr>
          <a:xfrm>
            <a:off x="8326526" y="5541264"/>
            <a:ext cx="82296" cy="914"/>
          </a:xfrm>
          <a:prstGeom prst="line">
            <a:avLst/>
          </a:prstGeom>
          <a:noFill/>
          <a:ln w="9525">
            <a:solidFill>
              <a:srgbClr val="5B6B7F"/>
            </a:solidFill>
            <a:prstDash val="solid"/>
            <a:tailEnd type="triangle"/>
          </a:ln>
        </p:spPr>
      </p:sp>
      <p:sp>
        <p:nvSpPr>
          <p:cNvPr id="75" name="Shape 72"/>
          <p:cNvSpPr/>
          <p:nvPr/>
        </p:nvSpPr>
        <p:spPr>
          <a:xfrm>
            <a:off x="8413394" y="5175504"/>
            <a:ext cx="1045159" cy="731520"/>
          </a:xfrm>
          <a:prstGeom prst="roundRect">
            <a:avLst>
              <a:gd name="adj" fmla="val 7500"/>
            </a:avLst>
          </a:prstGeom>
          <a:solidFill>
            <a:srgbClr val="FFF6DB"/>
          </a:solidFill>
          <a:ln w="12700">
            <a:solidFill>
              <a:srgbClr val="B7791F"/>
            </a:solidFill>
            <a:prstDash val="solid"/>
          </a:ln>
        </p:spPr>
      </p:sp>
      <p:sp>
        <p:nvSpPr>
          <p:cNvPr id="76" name="Text 73"/>
          <p:cNvSpPr txBox="1"/>
          <p:nvPr/>
        </p:nvSpPr>
        <p:spPr>
          <a:xfrm>
            <a:off x="8486546" y="5248656"/>
            <a:ext cx="898855" cy="142875"/>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baseline 비교</a:t>
            </a:r>
            <a:endParaRPr lang="en-US" sz="750" dirty="0"/>
          </a:p>
        </p:txBody>
      </p:sp>
      <p:sp>
        <p:nvSpPr>
          <p:cNvPr id="77" name="Text 74"/>
          <p:cNvSpPr txBox="1"/>
          <p:nvPr/>
        </p:nvSpPr>
        <p:spPr>
          <a:xfrm>
            <a:off x="8486546" y="5391531"/>
            <a:ext cx="898855" cy="478917"/>
          </a:xfrm>
          <a:prstGeom prst="rect">
            <a:avLst/>
          </a:prstGeom>
          <a:noFill/>
          <a:ln/>
        </p:spPr>
        <p:txBody>
          <a:bodyPr wrap="square" lIns="0" tIns="0" rIns="0" bIns="0" rtlCol="0" anchor="t"/>
          <a:lstStyle/>
          <a:p>
            <a:pPr algn="ctr" indent="0" marL="0">
              <a:buNone/>
            </a:pPr>
            <a:r>
              <a:rPr lang="en-US" sz="630" dirty="0">
                <a:solidFill>
                  <a:srgbClr val="5B6B7F"/>
                </a:solidFill>
                <a:latin typeface="Malgun Gothic" pitchFamily="34" charset="0"/>
                <a:ea typeface="Malgun Gothic" pitchFamily="34" charset="-122"/>
                <a:cs typeface="Malgun Gothic" pitchFamily="34" charset="-120"/>
              </a:rPr>
              <a:t>joint vs all-DRAM</a:t>
            </a:r>
            <a:endParaRPr lang="en-US" sz="630" dirty="0"/>
          </a:p>
        </p:txBody>
      </p:sp>
      <p:sp>
        <p:nvSpPr>
          <p:cNvPr id="78" name="Shape 75"/>
          <p:cNvSpPr/>
          <p:nvPr/>
        </p:nvSpPr>
        <p:spPr>
          <a:xfrm>
            <a:off x="9463126" y="5541264"/>
            <a:ext cx="82296" cy="914"/>
          </a:xfrm>
          <a:prstGeom prst="line">
            <a:avLst/>
          </a:prstGeom>
          <a:noFill/>
          <a:ln w="9525">
            <a:solidFill>
              <a:srgbClr val="5B6B7F"/>
            </a:solidFill>
            <a:prstDash val="solid"/>
            <a:tailEnd type="triangle"/>
          </a:ln>
        </p:spPr>
      </p:sp>
      <p:sp>
        <p:nvSpPr>
          <p:cNvPr id="79" name="Shape 76"/>
          <p:cNvSpPr/>
          <p:nvPr/>
        </p:nvSpPr>
        <p:spPr>
          <a:xfrm>
            <a:off x="9549994" y="5175504"/>
            <a:ext cx="1045159" cy="731520"/>
          </a:xfrm>
          <a:prstGeom prst="roundRect">
            <a:avLst>
              <a:gd name="adj" fmla="val 7500"/>
            </a:avLst>
          </a:prstGeom>
          <a:solidFill>
            <a:srgbClr val="FFF1DC"/>
          </a:solidFill>
          <a:ln w="12700">
            <a:solidFill>
              <a:srgbClr val="D98A1E"/>
            </a:solidFill>
            <a:prstDash val="solid"/>
          </a:ln>
        </p:spPr>
      </p:sp>
      <p:sp>
        <p:nvSpPr>
          <p:cNvPr id="80" name="Text 77"/>
          <p:cNvSpPr txBox="1"/>
          <p:nvPr/>
        </p:nvSpPr>
        <p:spPr>
          <a:xfrm>
            <a:off x="9623146" y="5248656"/>
            <a:ext cx="898855" cy="142875"/>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DRAM 압축</a:t>
            </a:r>
            <a:endParaRPr lang="en-US" sz="750" dirty="0"/>
          </a:p>
        </p:txBody>
      </p:sp>
      <p:sp>
        <p:nvSpPr>
          <p:cNvPr id="81" name="Text 78"/>
          <p:cNvSpPr txBox="1"/>
          <p:nvPr/>
        </p:nvSpPr>
        <p:spPr>
          <a:xfrm>
            <a:off x="9623146" y="5391531"/>
            <a:ext cx="898855" cy="478917"/>
          </a:xfrm>
          <a:prstGeom prst="rect">
            <a:avLst/>
          </a:prstGeom>
          <a:noFill/>
          <a:ln/>
        </p:spPr>
        <p:txBody>
          <a:bodyPr wrap="square" lIns="0" tIns="0" rIns="0" bIns="0" rtlCol="0" anchor="t"/>
          <a:lstStyle/>
          <a:p>
            <a:pPr algn="ctr" indent="0" marL="0">
              <a:buNone/>
            </a:pPr>
            <a:r>
              <a:rPr lang="en-US" sz="630" dirty="0">
                <a:solidFill>
                  <a:srgbClr val="5B6B7F"/>
                </a:solidFill>
                <a:latin typeface="Malgun Gothic" pitchFamily="34" charset="0"/>
                <a:ea typeface="Malgun Gothic" pitchFamily="34" charset="-122"/>
                <a:cs typeface="Malgun Gothic" pitchFamily="34" charset="-120"/>
              </a:rPr>
              <a:t>compact_unused_storage</a:t>
            </a:r>
            <a:endParaRPr lang="en-US" sz="630" dirty="0"/>
          </a:p>
        </p:txBody>
      </p:sp>
      <p:sp>
        <p:nvSpPr>
          <p:cNvPr id="82" name="Shape 79"/>
          <p:cNvSpPr/>
          <p:nvPr/>
        </p:nvSpPr>
        <p:spPr>
          <a:xfrm>
            <a:off x="10599725" y="5541264"/>
            <a:ext cx="82296" cy="914"/>
          </a:xfrm>
          <a:prstGeom prst="line">
            <a:avLst/>
          </a:prstGeom>
          <a:noFill/>
          <a:ln w="9525">
            <a:solidFill>
              <a:srgbClr val="5B6B7F"/>
            </a:solidFill>
            <a:prstDash val="solid"/>
            <a:tailEnd type="triangle"/>
          </a:ln>
        </p:spPr>
      </p:sp>
      <p:sp>
        <p:nvSpPr>
          <p:cNvPr id="83" name="Shape 80"/>
          <p:cNvSpPr/>
          <p:nvPr/>
        </p:nvSpPr>
        <p:spPr>
          <a:xfrm>
            <a:off x="10686593" y="5175504"/>
            <a:ext cx="1045159" cy="731520"/>
          </a:xfrm>
          <a:prstGeom prst="roundRect">
            <a:avLst>
              <a:gd name="adj" fmla="val 7500"/>
            </a:avLst>
          </a:prstGeom>
          <a:solidFill>
            <a:srgbClr val="FFF1DC"/>
          </a:solidFill>
          <a:ln w="12700">
            <a:solidFill>
              <a:srgbClr val="D98A1E"/>
            </a:solidFill>
            <a:prstDash val="solid"/>
          </a:ln>
        </p:spPr>
      </p:sp>
      <p:sp>
        <p:nvSpPr>
          <p:cNvPr id="84" name="Text 81"/>
          <p:cNvSpPr txBox="1"/>
          <p:nvPr/>
        </p:nvSpPr>
        <p:spPr>
          <a:xfrm>
            <a:off x="10759745" y="5248656"/>
            <a:ext cx="898855" cy="142875"/>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cache append</a:t>
            </a:r>
            <a:endParaRPr lang="en-US" sz="750" dirty="0"/>
          </a:p>
        </p:txBody>
      </p:sp>
      <p:sp>
        <p:nvSpPr>
          <p:cNvPr id="85" name="Text 82"/>
          <p:cNvSpPr txBox="1"/>
          <p:nvPr/>
        </p:nvSpPr>
        <p:spPr>
          <a:xfrm>
            <a:off x="10759745" y="5391531"/>
            <a:ext cx="898855" cy="478917"/>
          </a:xfrm>
          <a:prstGeom prst="rect">
            <a:avLst/>
          </a:prstGeom>
          <a:noFill/>
          <a:ln/>
        </p:spPr>
        <p:txBody>
          <a:bodyPr wrap="square" lIns="0" tIns="0" rIns="0" bIns="0" rtlCol="0" anchor="t"/>
          <a:lstStyle/>
          <a:p>
            <a:pPr algn="ctr" indent="0" marL="0">
              <a:buNone/>
            </a:pPr>
            <a:r>
              <a:rPr lang="en-US" sz="630" dirty="0">
                <a:solidFill>
                  <a:srgbClr val="5B6B7F"/>
                </a:solidFill>
                <a:latin typeface="Malgun Gothic" pitchFamily="34" charset="0"/>
                <a:ea typeface="Malgun Gothic" pitchFamily="34" charset="-122"/>
                <a:cs typeface="Malgun Gothic" pitchFamily="34" charset="-120"/>
              </a:rPr>
              <a:t>AppendPlan 재구성</a:t>
            </a:r>
            <a:endParaRPr lang="en-US" sz="630" dirty="0"/>
          </a:p>
        </p:txBody>
      </p:sp>
      <p:sp>
        <p:nvSpPr>
          <p:cNvPr id="86" name="Shape 83"/>
          <p:cNvSpPr/>
          <p:nvPr/>
        </p:nvSpPr>
        <p:spPr>
          <a:xfrm>
            <a:off x="457200" y="5989320"/>
            <a:ext cx="11274552" cy="420624"/>
          </a:xfrm>
          <a:prstGeom prst="roundRect">
            <a:avLst>
              <a:gd name="adj" fmla="val 10870"/>
            </a:avLst>
          </a:prstGeom>
          <a:solidFill>
            <a:srgbClr val="EEF2F6"/>
          </a:solidFill>
          <a:ln w="12700">
            <a:solidFill>
              <a:srgbClr val="EEF2F6"/>
            </a:solidFill>
            <a:prstDash val="solid"/>
          </a:ln>
        </p:spPr>
      </p:sp>
      <p:sp>
        <p:nvSpPr>
          <p:cNvPr id="87" name="Text 84"/>
          <p:cNvSpPr txBox="1"/>
          <p:nvPr/>
        </p:nvSpPr>
        <p:spPr>
          <a:xfrm>
            <a:off x="621792" y="604418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같은 DRAM pool이 나중에 다른 값으로 재사용되므로 "주소가 같다"와 "같은 데이터"는 다릅니다. 보관 탐색은 값의 버전(생산 호출, 인자)을 키로 삼습니다.</a:t>
            </a:r>
            <a:endParaRPr lang="en-US" sz="1250" dirty="0"/>
          </a:p>
        </p:txBody>
      </p:sp>
      <p:sp>
        <p:nvSpPr>
          <p:cNvPr id="88" name="Text 8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89" name="Text 8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docs/current/08_memory.md, npu_compiler/npu_link.py _compile_program (단계 순서)</a:t>
            </a:r>
            <a:endParaRPr lang="en-US" sz="850" dirty="0"/>
          </a:p>
        </p:txBody>
      </p:sp>
      <p:sp>
        <p:nvSpPr>
          <p:cNvPr id="90" name="Text 8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47 / 89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8 · 메모리 계획</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기본 DRAM 배치는 표준 TVM 결과에서 시작한다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ToNonDataflow → RemovePurityChecking → CallTIRRewrite → StaticPlanBlockMemory. CallTIRRewrite가 allocation과 TIR 호출을 명시하고, StaticPlanBlockMemory가 동시에 살아 있지 않은 tensor의 pool 공유를 정합니다.</a:t>
            </a:r>
            <a:endParaRPr lang="en-US" sz="1250" dirty="0"/>
          </a:p>
        </p:txBody>
      </p:sp>
      <p:sp>
        <p:nvSpPr>
          <p:cNvPr id="5" name="Shape 3"/>
          <p:cNvSpPr/>
          <p:nvPr/>
        </p:nvSpPr>
        <p:spPr>
          <a:xfrm>
            <a:off x="457200" y="1371600"/>
            <a:ext cx="5852160" cy="2240280"/>
          </a:xfrm>
          <a:prstGeom prst="roundRect">
            <a:avLst>
              <a:gd name="adj" fmla="val 2041"/>
            </a:avLst>
          </a:prstGeom>
          <a:solidFill>
            <a:srgbClr val="F5F7FA"/>
          </a:solidFill>
          <a:ln w="9525">
            <a:solidFill>
              <a:srgbClr val="C9D3DF"/>
            </a:solidFill>
            <a:prstDash val="solid"/>
          </a:ln>
        </p:spPr>
      </p:sp>
      <p:sp>
        <p:nvSpPr>
          <p:cNvPr id="6" name="Text 4"/>
          <p:cNvSpPr txBox="1"/>
          <p:nvPr/>
        </p:nvSpPr>
        <p:spPr>
          <a:xfrm>
            <a:off x="566928" y="1444752"/>
            <a:ext cx="5632704" cy="209397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06_initial_dram_plan.py (작은 예제, plan_pipeline 뒤)</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@R.function</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def prefill(x, bias, lv) -&gt; R.Tensor((64, 64), "float16"):</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R.func_attr({"num_input": 1, "relax.force_pure": True})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alloc1 = R.builtin.alloc_tensor(R.shape([64, 64]), R.dtype("float16"),</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R.prim_value(0), R.str("global"))</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cls.fused_matmul_add_silu(x, lv, bias, alloc1)   # 출력 buffer를 가진 호출</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gv = alloc1</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return gv</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중간값이 여러 개면 memory.alloc_storage(pool) + memory.alloc_tensor(offset)</a:t>
            </a:r>
            <a:endParaRPr lang="en-US" sz="8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537960" y="1371600"/>
          <a:ext cx="5193792" cy="914400"/>
        </p:xfrm>
        <a:graphic>
          <a:graphicData uri="http://schemas.openxmlformats.org/drawingml/2006/table">
            <a:tbl>
              <a:tblPr/>
              <a:tblGrid>
                <a:gridCol w="1737360"/>
                <a:gridCol w="3456432"/>
              </a:tblGrid>
              <a:tr h="457200">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assign_addresses 순서</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규칙</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(a) parameters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인자 순서. tuple은 leaf p.0.1 로 평탄화, plan.tuples 기록</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(b) graph constants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(dtype, shape, bytes) 내용 키로 dedupe → const_data</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(c) bindings (프로그램 순서)</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alloc_storage → pool_base; alloc_tensor → pool_base + offset//unit; builtin.alloc_tensor(결과) → 자체 slot; reshape/view/ensure_zero_offset → alias + plan.views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(d) literal pools (linker)</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FP16 scalar pool (1.0, 2.0 포함, 짝수 개) → constant_base; FP32 1.0 → one_fp32_base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457200" y="3840480"/>
            <a:ext cx="6035040" cy="219456"/>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assign_addresses 결과 (작은 예제 bundle, bytes = plan.address × unit 2 B)</a:t>
            </a:r>
            <a:endParaRPr lang="en-US" sz="950" dirty="0"/>
          </a:p>
        </p:txBody>
      </p:sp>
      <p:sp>
        <p:nvSpPr>
          <p:cNvPr id="9" name="Shape 6"/>
          <p:cNvSpPr/>
          <p:nvPr/>
        </p:nvSpPr>
        <p:spPr>
          <a:xfrm>
            <a:off x="457200" y="4114800"/>
            <a:ext cx="5852160" cy="457200"/>
          </a:xfrm>
          <a:prstGeom prst="rect">
            <a:avLst/>
          </a:prstGeom>
          <a:solidFill>
            <a:srgbClr val="EEF2F6"/>
          </a:solidFill>
          <a:ln w="9525">
            <a:solidFill>
              <a:srgbClr val="C9D3DF"/>
            </a:solidFill>
            <a:prstDash val="solid"/>
          </a:ln>
        </p:spPr>
      </p:sp>
      <p:sp>
        <p:nvSpPr>
          <p:cNvPr id="10" name="Shape 7"/>
          <p:cNvSpPr/>
          <p:nvPr/>
        </p:nvSpPr>
        <p:spPr>
          <a:xfrm>
            <a:off x="457200" y="4114800"/>
            <a:ext cx="2332890" cy="457200"/>
          </a:xfrm>
          <a:prstGeom prst="rect">
            <a:avLst/>
          </a:prstGeom>
          <a:solidFill>
            <a:srgbClr val="EEF1F5"/>
          </a:solidFill>
          <a:ln w="12700">
            <a:solidFill>
              <a:srgbClr val="5B6B7F"/>
            </a:solidFill>
            <a:prstDash val="solid"/>
          </a:ln>
        </p:spPr>
      </p:sp>
      <p:sp>
        <p:nvSpPr>
          <p:cNvPr id="11" name="Text 8"/>
          <p:cNvSpPr txBox="1"/>
          <p:nvPr/>
        </p:nvSpPr>
        <p:spPr>
          <a:xfrm>
            <a:off x="457200" y="4114800"/>
            <a:ext cx="2332890" cy="25146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x  (address 0)</a:t>
            </a:r>
            <a:endParaRPr lang="en-US" sz="800" dirty="0"/>
          </a:p>
        </p:txBody>
      </p:sp>
      <p:sp>
        <p:nvSpPr>
          <p:cNvPr id="12" name="Text 9"/>
          <p:cNvSpPr txBox="1"/>
          <p:nvPr/>
        </p:nvSpPr>
        <p:spPr>
          <a:xfrm>
            <a:off x="457200" y="4343400"/>
            <a:ext cx="2332890" cy="205740"/>
          </a:xfrm>
          <a:prstGeom prst="rect">
            <a:avLst/>
          </a:prstGeom>
          <a:noFill/>
          <a:ln/>
        </p:spPr>
        <p:txBody>
          <a:bodyPr wrap="square" lIns="0" tIns="0" rIns="0" bIns="0" rtlCol="0" anchor="ctr"/>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16,384 B</a:t>
            </a:r>
            <a:endParaRPr lang="en-US" sz="600" dirty="0"/>
          </a:p>
        </p:txBody>
      </p:sp>
      <p:sp>
        <p:nvSpPr>
          <p:cNvPr id="13" name="Shape 10"/>
          <p:cNvSpPr/>
          <p:nvPr/>
        </p:nvSpPr>
        <p:spPr>
          <a:xfrm>
            <a:off x="2790090" y="4114800"/>
            <a:ext cx="18226" cy="457200"/>
          </a:xfrm>
          <a:prstGeom prst="rect">
            <a:avLst/>
          </a:prstGeom>
          <a:solidFill>
            <a:srgbClr val="FFF1DC"/>
          </a:solidFill>
          <a:ln w="12700">
            <a:solidFill>
              <a:srgbClr val="D98A1E"/>
            </a:solidFill>
            <a:prstDash val="solid"/>
          </a:ln>
        </p:spPr>
      </p:sp>
      <p:sp>
        <p:nvSpPr>
          <p:cNvPr id="14" name="Shape 11"/>
          <p:cNvSpPr/>
          <p:nvPr/>
        </p:nvSpPr>
        <p:spPr>
          <a:xfrm>
            <a:off x="2808316" y="4114800"/>
            <a:ext cx="2332890" cy="457200"/>
          </a:xfrm>
          <a:prstGeom prst="rect">
            <a:avLst/>
          </a:prstGeom>
          <a:solidFill>
            <a:srgbClr val="FFF1DC"/>
          </a:solidFill>
          <a:ln w="12700">
            <a:solidFill>
              <a:srgbClr val="D98A1E"/>
            </a:solidFill>
            <a:prstDash val="solid"/>
          </a:ln>
        </p:spPr>
      </p:sp>
      <p:sp>
        <p:nvSpPr>
          <p:cNvPr id="15" name="Text 12"/>
          <p:cNvSpPr txBox="1"/>
          <p:nvPr/>
        </p:nvSpPr>
        <p:spPr>
          <a:xfrm>
            <a:off x="2808316" y="4114800"/>
            <a:ext cx="2332890" cy="25146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lv = Wᵀ (address 8256)</a:t>
            </a:r>
            <a:endParaRPr lang="en-US" sz="800" dirty="0"/>
          </a:p>
        </p:txBody>
      </p:sp>
      <p:sp>
        <p:nvSpPr>
          <p:cNvPr id="16" name="Text 13"/>
          <p:cNvSpPr txBox="1"/>
          <p:nvPr/>
        </p:nvSpPr>
        <p:spPr>
          <a:xfrm>
            <a:off x="2808316" y="4343400"/>
            <a:ext cx="2332890" cy="205740"/>
          </a:xfrm>
          <a:prstGeom prst="rect">
            <a:avLst/>
          </a:prstGeom>
          <a:noFill/>
          <a:ln/>
        </p:spPr>
        <p:txBody>
          <a:bodyPr wrap="square" lIns="0" tIns="0" rIns="0" bIns="0" rtlCol="0" anchor="ctr"/>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16,384 B</a:t>
            </a:r>
            <a:endParaRPr lang="en-US" sz="600" dirty="0"/>
          </a:p>
        </p:txBody>
      </p:sp>
      <p:sp>
        <p:nvSpPr>
          <p:cNvPr id="17" name="Shape 14"/>
          <p:cNvSpPr/>
          <p:nvPr/>
        </p:nvSpPr>
        <p:spPr>
          <a:xfrm>
            <a:off x="5141206" y="4114800"/>
            <a:ext cx="1166445" cy="457200"/>
          </a:xfrm>
          <a:prstGeom prst="rect">
            <a:avLst/>
          </a:prstGeom>
          <a:solidFill>
            <a:srgbClr val="ECE6FA"/>
          </a:solidFill>
          <a:ln w="12700">
            <a:solidFill>
              <a:srgbClr val="6C4FBF"/>
            </a:solidFill>
            <a:prstDash val="solid"/>
          </a:ln>
        </p:spPr>
      </p:sp>
      <p:sp>
        <p:nvSpPr>
          <p:cNvPr id="18" name="Text 15"/>
          <p:cNvSpPr txBox="1"/>
          <p:nvPr/>
        </p:nvSpPr>
        <p:spPr>
          <a:xfrm>
            <a:off x="5141206" y="4114800"/>
            <a:ext cx="1166445" cy="25146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alloc1 = gv (16448)</a:t>
            </a:r>
            <a:endParaRPr lang="en-US" sz="800" dirty="0"/>
          </a:p>
        </p:txBody>
      </p:sp>
      <p:sp>
        <p:nvSpPr>
          <p:cNvPr id="19" name="Text 16"/>
          <p:cNvSpPr txBox="1"/>
          <p:nvPr/>
        </p:nvSpPr>
        <p:spPr>
          <a:xfrm>
            <a:off x="5141206" y="4343400"/>
            <a:ext cx="1166445" cy="205740"/>
          </a:xfrm>
          <a:prstGeom prst="rect">
            <a:avLst/>
          </a:prstGeom>
          <a:noFill/>
          <a:ln/>
        </p:spPr>
        <p:txBody>
          <a:bodyPr wrap="square" lIns="0" tIns="0" rIns="0" bIns="0" rtlCol="0" anchor="ctr"/>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8,192 B 출력</a:t>
            </a:r>
            <a:endParaRPr lang="en-US" sz="600" dirty="0"/>
          </a:p>
        </p:txBody>
      </p:sp>
      <p:sp>
        <p:nvSpPr>
          <p:cNvPr id="20" name="Shape 17"/>
          <p:cNvSpPr/>
          <p:nvPr/>
        </p:nvSpPr>
        <p:spPr>
          <a:xfrm>
            <a:off x="6307651" y="4114800"/>
            <a:ext cx="1709" cy="457200"/>
          </a:xfrm>
          <a:prstGeom prst="rect">
            <a:avLst/>
          </a:prstGeom>
          <a:solidFill>
            <a:srgbClr val="EEF2F6"/>
          </a:solidFill>
          <a:ln w="12700">
            <a:solidFill>
              <a:srgbClr val="C9D3DF"/>
            </a:solidFill>
            <a:prstDash val="solid"/>
          </a:ln>
        </p:spPr>
      </p:sp>
      <p:sp>
        <p:nvSpPr>
          <p:cNvPr id="21" name="Shape 18"/>
          <p:cNvSpPr/>
          <p:nvPr/>
        </p:nvSpPr>
        <p:spPr>
          <a:xfrm>
            <a:off x="457200" y="4572000"/>
            <a:ext cx="914" cy="73152"/>
          </a:xfrm>
          <a:prstGeom prst="line">
            <a:avLst/>
          </a:prstGeom>
          <a:noFill/>
          <a:ln w="9525">
            <a:solidFill>
              <a:srgbClr val="5B6B7F"/>
            </a:solidFill>
            <a:prstDash val="solid"/>
          </a:ln>
        </p:spPr>
      </p:sp>
      <p:sp>
        <p:nvSpPr>
          <p:cNvPr id="22" name="Text 19"/>
          <p:cNvSpPr txBox="1"/>
          <p:nvPr/>
        </p:nvSpPr>
        <p:spPr>
          <a:xfrm>
            <a:off x="0" y="465429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0</a:t>
            </a:r>
            <a:endParaRPr lang="en-US" sz="800" dirty="0"/>
          </a:p>
        </p:txBody>
      </p:sp>
      <p:sp>
        <p:nvSpPr>
          <p:cNvPr id="23" name="Shape 20"/>
          <p:cNvSpPr/>
          <p:nvPr/>
        </p:nvSpPr>
        <p:spPr>
          <a:xfrm>
            <a:off x="2790090" y="4572000"/>
            <a:ext cx="914" cy="73152"/>
          </a:xfrm>
          <a:prstGeom prst="line">
            <a:avLst/>
          </a:prstGeom>
          <a:noFill/>
          <a:ln w="9525">
            <a:solidFill>
              <a:srgbClr val="5B6B7F"/>
            </a:solidFill>
            <a:prstDash val="solid"/>
          </a:ln>
        </p:spPr>
      </p:sp>
      <p:sp>
        <p:nvSpPr>
          <p:cNvPr id="24" name="Text 21"/>
          <p:cNvSpPr txBox="1"/>
          <p:nvPr/>
        </p:nvSpPr>
        <p:spPr>
          <a:xfrm>
            <a:off x="2332890" y="465429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16384</a:t>
            </a:r>
            <a:endParaRPr lang="en-US" sz="800" dirty="0"/>
          </a:p>
        </p:txBody>
      </p:sp>
      <p:sp>
        <p:nvSpPr>
          <p:cNvPr id="25" name="Shape 22"/>
          <p:cNvSpPr/>
          <p:nvPr/>
        </p:nvSpPr>
        <p:spPr>
          <a:xfrm>
            <a:off x="5141206" y="4572000"/>
            <a:ext cx="914" cy="73152"/>
          </a:xfrm>
          <a:prstGeom prst="line">
            <a:avLst/>
          </a:prstGeom>
          <a:noFill/>
          <a:ln w="9525">
            <a:solidFill>
              <a:srgbClr val="5B6B7F"/>
            </a:solidFill>
            <a:prstDash val="solid"/>
          </a:ln>
        </p:spPr>
      </p:sp>
      <p:sp>
        <p:nvSpPr>
          <p:cNvPr id="26" name="Text 23"/>
          <p:cNvSpPr txBox="1"/>
          <p:nvPr/>
        </p:nvSpPr>
        <p:spPr>
          <a:xfrm>
            <a:off x="4684006" y="465429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32896</a:t>
            </a:r>
            <a:endParaRPr lang="en-US" sz="800" dirty="0"/>
          </a:p>
        </p:txBody>
      </p:sp>
      <p:sp>
        <p:nvSpPr>
          <p:cNvPr id="27" name="Shape 24"/>
          <p:cNvSpPr/>
          <p:nvPr/>
        </p:nvSpPr>
        <p:spPr>
          <a:xfrm>
            <a:off x="6307651" y="4572000"/>
            <a:ext cx="914" cy="73152"/>
          </a:xfrm>
          <a:prstGeom prst="line">
            <a:avLst/>
          </a:prstGeom>
          <a:noFill/>
          <a:ln w="9525">
            <a:solidFill>
              <a:srgbClr val="5B6B7F"/>
            </a:solidFill>
            <a:prstDash val="solid"/>
          </a:ln>
        </p:spPr>
      </p:sp>
      <p:sp>
        <p:nvSpPr>
          <p:cNvPr id="28" name="Text 25"/>
          <p:cNvSpPr txBox="1"/>
          <p:nvPr/>
        </p:nvSpPr>
        <p:spPr>
          <a:xfrm>
            <a:off x="5850451" y="465429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41088</a:t>
            </a:r>
            <a:endParaRPr lang="en-US" sz="800" dirty="0"/>
          </a:p>
        </p:txBody>
      </p:sp>
      <p:sp>
        <p:nvSpPr>
          <p:cNvPr id="29" name="Text 26"/>
          <p:cNvSpPr txBox="1"/>
          <p:nvPr/>
        </p:nvSpPr>
        <p:spPr>
          <a:xfrm>
            <a:off x="2011680" y="4754880"/>
            <a:ext cx="2286000" cy="182880"/>
          </a:xfrm>
          <a:prstGeom prst="rect">
            <a:avLst/>
          </a:prstGeom>
          <a:noFill/>
          <a:ln/>
        </p:spPr>
        <p:txBody>
          <a:bodyPr wrap="square" lIns="0" tIns="0" rIns="0" bIns="0" rtlCol="0" anchor="t"/>
          <a:lstStyle/>
          <a:p>
            <a:pPr algn="l" indent="0" marL="0">
              <a:buNone/>
            </a:pPr>
            <a:r>
              <a:rPr lang="en-US" sz="700" b="1" dirty="0">
                <a:solidFill>
                  <a:srgbClr val="D98A1E"/>
                </a:solidFill>
                <a:latin typeface="Malgun Gothic" pitchFamily="34" charset="0"/>
                <a:ea typeface="Malgun Gothic" pitchFamily="34" charset="-122"/>
                <a:cs typeface="Malgun Gothic" pitchFamily="34" charset="-120"/>
              </a:rPr>
              <a:t>↑ bias (address 8192) 128 B @ 16,384</a:t>
            </a:r>
            <a:endParaRPr lang="en-US" sz="700" dirty="0"/>
          </a:p>
        </p:txBody>
      </p:sp>
      <p:sp>
        <p:nvSpPr>
          <p:cNvPr id="30" name="Text 27"/>
          <p:cNvSpPr txBox="1"/>
          <p:nvPr/>
        </p:nvSpPr>
        <p:spPr>
          <a:xfrm>
            <a:off x="4754880" y="4754880"/>
            <a:ext cx="1554480" cy="182880"/>
          </a:xfrm>
          <a:prstGeom prst="rect">
            <a:avLst/>
          </a:prstGeom>
          <a:noFill/>
          <a:ln/>
        </p:spPr>
        <p:txBody>
          <a:bodyPr wrap="square" lIns="0" tIns="0" rIns="0" bIns="0" rtlCol="0" anchor="t"/>
          <a:lstStyle/>
          <a:p>
            <a:pPr algn="r" indent="0" marL="0">
              <a:buNone/>
            </a:pPr>
            <a:r>
              <a:rPr lang="en-US" sz="700" b="1" dirty="0">
                <a:solidFill>
                  <a:srgbClr val="5B6B7F"/>
                </a:solidFill>
                <a:latin typeface="Malgun Gothic" pitchFamily="34" charset="0"/>
                <a:ea typeface="Malgun Gothic" pitchFamily="34" charset="-122"/>
                <a:cs typeface="Malgun Gothic" pitchFamily="34" charset="-120"/>
              </a:rPr>
              <a:t>literal 12 B @ 41,088 ↑</a:t>
            </a:r>
            <a:endParaRPr lang="en-US" sz="700" dirty="0"/>
          </a:p>
        </p:txBody>
      </p:sp>
      <p:sp>
        <p:nvSpPr>
          <p:cNvPr id="31" name="Text 28"/>
          <p:cNvSpPr txBox="1"/>
          <p:nvPr/>
        </p:nvSpPr>
        <p:spPr>
          <a:xfrm>
            <a:off x="457200" y="4983480"/>
            <a:ext cx="5852160" cy="64008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주소는 4-byte cell로 반올림 (bias 128 B는 cell 정렬됨). image 크기 = plan.top × 2 = 41,100 B. 이 배치는 SRAM 선택·최종 압축 이전의 기본 storage 계획이며, 8장 뒤의 compact_unused_storage가 미사용 pool을 제거하면 주소가 당겨집니다.</a:t>
            </a:r>
            <a:endParaRPr lang="en-US" sz="850" dirty="0"/>
          </a:p>
        </p:txBody>
      </p:sp>
      <p:sp>
        <p:nvSpPr>
          <p:cNvPr id="32" name="Text 29"/>
          <p:cNvSpPr txBox="1"/>
          <p:nvPr/>
        </p:nvSpPr>
        <p:spPr>
          <a:xfrm>
            <a:off x="6537960" y="3840480"/>
            <a:ext cx="5193792"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StaticPlan 객체의 주요 field</a:t>
            </a:r>
            <a:endParaRPr lang="en-US" sz="1050" dirty="0"/>
          </a:p>
        </p:txBody>
      </p:sp>
      <p:sp>
        <p:nvSpPr>
          <p:cNvPr id="33" name="Text 30"/>
          <p:cNvSpPr txBox="1"/>
          <p:nvPr/>
        </p:nvSpPr>
        <p:spPr>
          <a:xfrm>
            <a:off x="6537960" y="4114800"/>
            <a:ext cx="5193792" cy="1737360"/>
          </a:xfrm>
          <a:prstGeom prst="rect">
            <a:avLst/>
          </a:prstGeom>
          <a:noFill/>
          <a:ln/>
        </p:spPr>
        <p:txBody>
          <a:bodyPr wrap="square" lIns="0" tIns="0" rIns="0" bIns="0" rtlCol="0" anchor="t"/>
          <a:lstStyle/>
          <a:p>
            <a:pPr algn="l" marL="152400" indent="-152400">
              <a:spcAft>
                <a:spcPts val="300"/>
              </a:spcAft>
              <a:buSzPct val="100000"/>
              <a:buChar char="•"/>
            </a:pPr>
            <a:r>
              <a:rPr lang="en-US" sz="900" b="1" dirty="0">
                <a:solidFill>
                  <a:srgbClr val="1F2D3D"/>
                </a:solidFill>
                <a:latin typeface="Malgun Gothic" pitchFamily="34" charset="0"/>
                <a:ea typeface="Malgun Gothic" pitchFamily="34" charset="-122"/>
                <a:cs typeface="Malgun Gothic" pitchFamily="34" charset="-120"/>
              </a:rPr>
              <a:t>배치: </a:t>
            </a:r>
            <a:pPr algn="l" indent="0" marL="0">
              <a:spcAft>
                <a:spcPts val="300"/>
              </a:spcAft>
              <a:buNone/>
            </a:pPr>
            <a:r>
              <a:rPr lang="en-US" sz="900" dirty="0">
                <a:solidFill>
                  <a:srgbClr val="1F2D3D"/>
                </a:solidFill>
                <a:latin typeface="Malgun Gothic" pitchFamily="34" charset="0"/>
                <a:ea typeface="Malgun Gothic" pitchFamily="34" charset="-122"/>
                <a:cs typeface="Malgun Gothic" pitchFamily="34" charset="-120"/>
              </a:rPr>
              <a:t>address, nbytes, pool_base, pool_bytes, tuples, const_data, graph_constants, top, views</a:t>
            </a:r>
            <a:endParaRPr lang="en-US" sz="900" dirty="0"/>
          </a:p>
          <a:p>
            <a:pPr algn="l" marL="152400" indent="-152400">
              <a:spcAft>
                <a:spcPts val="300"/>
              </a:spcAft>
              <a:buSzPct val="100000"/>
              <a:buChar char="•"/>
            </a:pPr>
            <a:r>
              <a:rPr lang="en-US" sz="900" b="1" dirty="0">
                <a:solidFill>
                  <a:srgbClr val="1F2D3D"/>
                </a:solidFill>
                <a:latin typeface="Malgun Gothic" pitchFamily="34" charset="0"/>
                <a:ea typeface="Malgun Gothic" pitchFamily="34" charset="-122"/>
                <a:cs typeface="Malgun Gothic" pitchFamily="34" charset="-120"/>
              </a:rPr>
              <a:t>ABI·linker: </a:t>
            </a:r>
            <a:pPr algn="l" indent="0" marL="0">
              <a:spcAft>
                <a:spcPts val="300"/>
              </a:spcAft>
              <a:buNone/>
            </a:pPr>
            <a:r>
              <a:rPr lang="en-US" sz="900" dirty="0">
                <a:solidFill>
                  <a:srgbClr val="1F2D3D"/>
                </a:solidFill>
                <a:latin typeface="Malgun Gothic" pitchFamily="34" charset="0"/>
                <a:ea typeface="Malgun Gothic" pitchFamily="34" charset="-122"/>
                <a:cs typeface="Malgun Gothic" pitchFamily="34" charset="-120"/>
              </a:rPr>
              <a:t>func, outputs(tree), constant_values, constant_base, one_fp32_base, codegen_contract, numeric_policy</a:t>
            </a:r>
            <a:endParaRPr lang="en-US" sz="900" dirty="0"/>
          </a:p>
          <a:p>
            <a:pPr algn="l" marL="152400" indent="-152400">
              <a:spcAft>
                <a:spcPts val="300"/>
              </a:spcAft>
              <a:buSzPct val="100000"/>
              <a:buChar char="•"/>
            </a:pPr>
            <a:r>
              <a:rPr lang="en-US" sz="900" b="1" dirty="0">
                <a:solidFill>
                  <a:srgbClr val="1F2D3D"/>
                </a:solidFill>
                <a:latin typeface="Malgun Gothic" pitchFamily="34" charset="0"/>
                <a:ea typeface="Malgun Gothic" pitchFamily="34" charset="-122"/>
                <a:cs typeface="Malgun Gothic" pitchFamily="34" charset="-120"/>
              </a:rPr>
              <a:t>codegen 결과: </a:t>
            </a:r>
            <a:pPr algn="l" indent="0" marL="0">
              <a:spcAft>
                <a:spcPts val="300"/>
              </a:spcAft>
              <a:buNone/>
            </a:pPr>
            <a:r>
              <a:rPr lang="en-US" sz="900" dirty="0">
                <a:solidFill>
                  <a:srgbClr val="1F2D3D"/>
                </a:solidFill>
                <a:latin typeface="Malgun Gothic" pitchFamily="34" charset="0"/>
                <a:ea typeface="Malgun Gothic" pitchFamily="34" charset="-122"/>
                <a:cs typeface="Malgun Gothic" pitchFamily="34" charset="-120"/>
              </a:rPr>
              <a:t>kernel_records(index, name, backend, sram_peak, arguments[address/size/dtype], span), sram_layouts, schedules, call_schedules</a:t>
            </a:r>
            <a:endParaRPr lang="en-US" sz="900" dirty="0"/>
          </a:p>
          <a:p>
            <a:pPr algn="l" marL="152400" indent="-152400">
              <a:spcAft>
                <a:spcPts val="300"/>
              </a:spcAft>
              <a:buSzPct val="100000"/>
              <a:buChar char="•"/>
            </a:pPr>
            <a:r>
              <a:rPr lang="en-US" sz="900" b="1" dirty="0">
                <a:solidFill>
                  <a:srgbClr val="1F2D3D"/>
                </a:solidFill>
                <a:latin typeface="Malgun Gothic" pitchFamily="34" charset="0"/>
                <a:ea typeface="Malgun Gothic" pitchFamily="34" charset="-122"/>
                <a:cs typeface="Malgun Gothic" pitchFamily="34" charset="-120"/>
              </a:rPr>
              <a:t>메모리 결과: </a:t>
            </a:r>
            <a:pPr algn="l" indent="0" marL="0">
              <a:spcAft>
                <a:spcPts val="300"/>
              </a:spcAft>
              <a:buNone/>
            </a:pPr>
            <a:r>
              <a:rPr lang="en-US" sz="900" dirty="0">
                <a:solidFill>
                  <a:srgbClr val="1F2D3D"/>
                </a:solidFill>
                <a:latin typeface="Malgun Gothic" pitchFamily="34" charset="0"/>
                <a:ea typeface="Malgun Gothic" pitchFamily="34" charset="-122"/>
                <a:cs typeface="Malgun Gothic" pitchFamily="34" charset="-120"/>
              </a:rPr>
              <a:t>joint_memory, residency, dram_compaction, cache_append/append_plan, compilation</a:t>
            </a:r>
            <a:endParaRPr lang="en-US" sz="900" dirty="0"/>
          </a:p>
        </p:txBody>
      </p:sp>
      <p:sp>
        <p:nvSpPr>
          <p:cNvPr id="34" name="Shape 31"/>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35" name="Text 32"/>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수명은 생성부터 마지막 사용까지입니다. G의 공간에 U를 쓸 수 있는 이유는 같은 배열로 변환해서가 아니라 G의 옛 값이 더 이상 관찰되지 않기 때문입니다.</a:t>
            </a:r>
            <a:endParaRPr lang="en-US" sz="1250" dirty="0"/>
          </a:p>
        </p:txBody>
      </p:sp>
      <p:sp>
        <p:nvSpPr>
          <p:cNvPr id="36" name="Text 33"/>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37" name="Text 34"/>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npu_compiler/npu_memplan.py (plan_pipeline, assign_addresses), docs/examples/pipeline/06_initial_dram_plan.py, bundle/program.json memory</a:t>
            </a:r>
            <a:endParaRPr lang="en-US" sz="850" dirty="0"/>
          </a:p>
        </p:txBody>
      </p:sp>
      <p:sp>
        <p:nvSpPr>
          <p:cNvPr id="38" name="Text 35"/>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48 / 89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8 · 메모리 계획</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수명 분석: 실제 폭 MLP의 G/S/U/H는 언제까지 살아 있는가</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gate → SiLU → up → multiply → down (최신 실제 폭 MLP 측정의 순서). M=64에서 G/S/U/H는 각각 [64,8192] FP16 = 1 MiB입니다.</a:t>
            </a:r>
            <a:endParaRPr lang="en-US" sz="1250" dirty="0"/>
          </a:p>
        </p:txBody>
      </p:sp>
      <p:sp>
        <p:nvSpPr>
          <p:cNvPr id="5" name="Shape 3"/>
          <p:cNvSpPr/>
          <p:nvPr/>
        </p:nvSpPr>
        <p:spPr>
          <a:xfrm>
            <a:off x="2103120" y="1234440"/>
            <a:ext cx="1737360" cy="411480"/>
          </a:xfrm>
          <a:prstGeom prst="roundRect">
            <a:avLst>
              <a:gd name="adj" fmla="val 13333"/>
            </a:avLst>
          </a:prstGeom>
          <a:solidFill>
            <a:srgbClr val="ECE6FA"/>
          </a:solidFill>
          <a:ln w="12700">
            <a:solidFill>
              <a:srgbClr val="6C4FBF"/>
            </a:solidFill>
            <a:prstDash val="solid"/>
          </a:ln>
        </p:spPr>
      </p:sp>
      <p:sp>
        <p:nvSpPr>
          <p:cNvPr id="6" name="Text 4"/>
          <p:cNvSpPr txBox="1"/>
          <p:nvPr/>
        </p:nvSpPr>
        <p:spPr>
          <a:xfrm>
            <a:off x="2157984" y="1271016"/>
            <a:ext cx="1627632" cy="338328"/>
          </a:xfrm>
          <a:prstGeom prst="rect">
            <a:avLst/>
          </a:prstGeom>
          <a:noFill/>
          <a:ln/>
        </p:spPr>
        <p:txBody>
          <a:bodyPr wrap="square" lIns="0" tIns="0" rIns="0" bIns="0" rtlCol="0" anchor="ctr"/>
          <a:lstStyle/>
          <a:p>
            <a:pPr algn="ctr" indent="0" marL="0">
              <a:buNone/>
            </a:pPr>
            <a:r>
              <a:rPr lang="en-US" sz="1100" b="1" dirty="0">
                <a:solidFill>
                  <a:srgbClr val="1F2D3D"/>
                </a:solidFill>
                <a:latin typeface="Malgun Gothic" pitchFamily="34" charset="0"/>
                <a:ea typeface="Malgun Gothic" pitchFamily="34" charset="-122"/>
                <a:cs typeface="Malgun Gothic" pitchFamily="34" charset="-120"/>
              </a:rPr>
              <a:t>gate</a:t>
            </a:r>
            <a:endParaRPr lang="en-US" sz="1100" dirty="0"/>
          </a:p>
        </p:txBody>
      </p:sp>
      <p:sp>
        <p:nvSpPr>
          <p:cNvPr id="7" name="Shape 5"/>
          <p:cNvSpPr/>
          <p:nvPr/>
        </p:nvSpPr>
        <p:spPr>
          <a:xfrm>
            <a:off x="3931920" y="1234440"/>
            <a:ext cx="1737360" cy="411480"/>
          </a:xfrm>
          <a:prstGeom prst="roundRect">
            <a:avLst>
              <a:gd name="adj" fmla="val 13333"/>
            </a:avLst>
          </a:prstGeom>
          <a:solidFill>
            <a:srgbClr val="E3EEFB"/>
          </a:solidFill>
          <a:ln w="12700">
            <a:solidFill>
              <a:srgbClr val="2F6DB5"/>
            </a:solidFill>
            <a:prstDash val="solid"/>
          </a:ln>
        </p:spPr>
      </p:sp>
      <p:sp>
        <p:nvSpPr>
          <p:cNvPr id="8" name="Text 6"/>
          <p:cNvSpPr txBox="1"/>
          <p:nvPr/>
        </p:nvSpPr>
        <p:spPr>
          <a:xfrm>
            <a:off x="3986784" y="1271016"/>
            <a:ext cx="1627632" cy="338328"/>
          </a:xfrm>
          <a:prstGeom prst="rect">
            <a:avLst/>
          </a:prstGeom>
          <a:noFill/>
          <a:ln/>
        </p:spPr>
        <p:txBody>
          <a:bodyPr wrap="square" lIns="0" tIns="0" rIns="0" bIns="0" rtlCol="0" anchor="ctr"/>
          <a:lstStyle/>
          <a:p>
            <a:pPr algn="ctr" indent="0" marL="0">
              <a:buNone/>
            </a:pPr>
            <a:r>
              <a:rPr lang="en-US" sz="1100" b="1" dirty="0">
                <a:solidFill>
                  <a:srgbClr val="1F2D3D"/>
                </a:solidFill>
                <a:latin typeface="Malgun Gothic" pitchFamily="34" charset="0"/>
                <a:ea typeface="Malgun Gothic" pitchFamily="34" charset="-122"/>
                <a:cs typeface="Malgun Gothic" pitchFamily="34" charset="-120"/>
              </a:rPr>
              <a:t>SiLU</a:t>
            </a:r>
            <a:endParaRPr lang="en-US" sz="1100" dirty="0"/>
          </a:p>
        </p:txBody>
      </p:sp>
      <p:sp>
        <p:nvSpPr>
          <p:cNvPr id="9" name="Shape 7"/>
          <p:cNvSpPr/>
          <p:nvPr/>
        </p:nvSpPr>
        <p:spPr>
          <a:xfrm>
            <a:off x="5760720" y="1234440"/>
            <a:ext cx="1737360" cy="411480"/>
          </a:xfrm>
          <a:prstGeom prst="roundRect">
            <a:avLst>
              <a:gd name="adj" fmla="val 13333"/>
            </a:avLst>
          </a:prstGeom>
          <a:solidFill>
            <a:srgbClr val="ECE6FA"/>
          </a:solidFill>
          <a:ln w="12700">
            <a:solidFill>
              <a:srgbClr val="6C4FBF"/>
            </a:solidFill>
            <a:prstDash val="solid"/>
          </a:ln>
        </p:spPr>
      </p:sp>
      <p:sp>
        <p:nvSpPr>
          <p:cNvPr id="10" name="Text 8"/>
          <p:cNvSpPr txBox="1"/>
          <p:nvPr/>
        </p:nvSpPr>
        <p:spPr>
          <a:xfrm>
            <a:off x="5815584" y="1271016"/>
            <a:ext cx="1627632" cy="338328"/>
          </a:xfrm>
          <a:prstGeom prst="rect">
            <a:avLst/>
          </a:prstGeom>
          <a:noFill/>
          <a:ln/>
        </p:spPr>
        <p:txBody>
          <a:bodyPr wrap="square" lIns="0" tIns="0" rIns="0" bIns="0" rtlCol="0" anchor="ctr"/>
          <a:lstStyle/>
          <a:p>
            <a:pPr algn="ctr" indent="0" marL="0">
              <a:buNone/>
            </a:pPr>
            <a:r>
              <a:rPr lang="en-US" sz="1100" b="1" dirty="0">
                <a:solidFill>
                  <a:srgbClr val="1F2D3D"/>
                </a:solidFill>
                <a:latin typeface="Malgun Gothic" pitchFamily="34" charset="0"/>
                <a:ea typeface="Malgun Gothic" pitchFamily="34" charset="-122"/>
                <a:cs typeface="Malgun Gothic" pitchFamily="34" charset="-120"/>
              </a:rPr>
              <a:t>up</a:t>
            </a:r>
            <a:endParaRPr lang="en-US" sz="1100" dirty="0"/>
          </a:p>
        </p:txBody>
      </p:sp>
      <p:sp>
        <p:nvSpPr>
          <p:cNvPr id="11" name="Shape 9"/>
          <p:cNvSpPr/>
          <p:nvPr/>
        </p:nvSpPr>
        <p:spPr>
          <a:xfrm>
            <a:off x="7589520" y="1234440"/>
            <a:ext cx="1737360" cy="411480"/>
          </a:xfrm>
          <a:prstGeom prst="roundRect">
            <a:avLst>
              <a:gd name="adj" fmla="val 13333"/>
            </a:avLst>
          </a:prstGeom>
          <a:solidFill>
            <a:srgbClr val="E3EEFB"/>
          </a:solidFill>
          <a:ln w="12700">
            <a:solidFill>
              <a:srgbClr val="2F6DB5"/>
            </a:solidFill>
            <a:prstDash val="solid"/>
          </a:ln>
        </p:spPr>
      </p:sp>
      <p:sp>
        <p:nvSpPr>
          <p:cNvPr id="12" name="Text 10"/>
          <p:cNvSpPr txBox="1"/>
          <p:nvPr/>
        </p:nvSpPr>
        <p:spPr>
          <a:xfrm>
            <a:off x="7644384" y="1271016"/>
            <a:ext cx="1627632" cy="338328"/>
          </a:xfrm>
          <a:prstGeom prst="rect">
            <a:avLst/>
          </a:prstGeom>
          <a:noFill/>
          <a:ln/>
        </p:spPr>
        <p:txBody>
          <a:bodyPr wrap="square" lIns="0" tIns="0" rIns="0" bIns="0" rtlCol="0" anchor="ctr"/>
          <a:lstStyle/>
          <a:p>
            <a:pPr algn="ctr" indent="0" marL="0">
              <a:buNone/>
            </a:pPr>
            <a:r>
              <a:rPr lang="en-US" sz="1100" b="1" dirty="0">
                <a:solidFill>
                  <a:srgbClr val="1F2D3D"/>
                </a:solidFill>
                <a:latin typeface="Malgun Gothic" pitchFamily="34" charset="0"/>
                <a:ea typeface="Malgun Gothic" pitchFamily="34" charset="-122"/>
                <a:cs typeface="Malgun Gothic" pitchFamily="34" charset="-120"/>
              </a:rPr>
              <a:t>multiply</a:t>
            </a:r>
            <a:endParaRPr lang="en-US" sz="1100" dirty="0"/>
          </a:p>
        </p:txBody>
      </p:sp>
      <p:sp>
        <p:nvSpPr>
          <p:cNvPr id="13" name="Shape 11"/>
          <p:cNvSpPr/>
          <p:nvPr/>
        </p:nvSpPr>
        <p:spPr>
          <a:xfrm>
            <a:off x="9418320" y="1234440"/>
            <a:ext cx="1737360" cy="411480"/>
          </a:xfrm>
          <a:prstGeom prst="roundRect">
            <a:avLst>
              <a:gd name="adj" fmla="val 13333"/>
            </a:avLst>
          </a:prstGeom>
          <a:solidFill>
            <a:srgbClr val="ECE6FA"/>
          </a:solidFill>
          <a:ln w="12700">
            <a:solidFill>
              <a:srgbClr val="6C4FBF"/>
            </a:solidFill>
            <a:prstDash val="solid"/>
          </a:ln>
        </p:spPr>
      </p:sp>
      <p:sp>
        <p:nvSpPr>
          <p:cNvPr id="14" name="Text 12"/>
          <p:cNvSpPr txBox="1"/>
          <p:nvPr/>
        </p:nvSpPr>
        <p:spPr>
          <a:xfrm>
            <a:off x="9473184" y="1271016"/>
            <a:ext cx="1627632" cy="338328"/>
          </a:xfrm>
          <a:prstGeom prst="rect">
            <a:avLst/>
          </a:prstGeom>
          <a:noFill/>
          <a:ln/>
        </p:spPr>
        <p:txBody>
          <a:bodyPr wrap="square" lIns="0" tIns="0" rIns="0" bIns="0" rtlCol="0" anchor="ctr"/>
          <a:lstStyle/>
          <a:p>
            <a:pPr algn="ctr" indent="0" marL="0">
              <a:buNone/>
            </a:pPr>
            <a:r>
              <a:rPr lang="en-US" sz="1100" b="1" dirty="0">
                <a:solidFill>
                  <a:srgbClr val="1F2D3D"/>
                </a:solidFill>
                <a:latin typeface="Malgun Gothic" pitchFamily="34" charset="0"/>
                <a:ea typeface="Malgun Gothic" pitchFamily="34" charset="-122"/>
                <a:cs typeface="Malgun Gothic" pitchFamily="34" charset="-120"/>
              </a:rPr>
              <a:t>down</a:t>
            </a:r>
            <a:endParaRPr lang="en-US" sz="1100" dirty="0"/>
          </a:p>
        </p:txBody>
      </p:sp>
      <p:sp>
        <p:nvSpPr>
          <p:cNvPr id="15" name="Text 13"/>
          <p:cNvSpPr txBox="1"/>
          <p:nvPr/>
        </p:nvSpPr>
        <p:spPr>
          <a:xfrm>
            <a:off x="457200" y="1847088"/>
            <a:ext cx="160020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G = gate(X)</a:t>
            </a:r>
            <a:endParaRPr lang="en-US" sz="1050" dirty="0"/>
          </a:p>
        </p:txBody>
      </p:sp>
      <p:sp>
        <p:nvSpPr>
          <p:cNvPr id="16" name="Shape 14"/>
          <p:cNvSpPr/>
          <p:nvPr/>
        </p:nvSpPr>
        <p:spPr>
          <a:xfrm>
            <a:off x="2103120" y="1737360"/>
            <a:ext cx="9052560" cy="502920"/>
          </a:xfrm>
          <a:prstGeom prst="roundRect">
            <a:avLst>
              <a:gd name="adj" fmla="val 3636"/>
            </a:avLst>
          </a:prstGeom>
          <a:solidFill>
            <a:srgbClr val="EEF2F6"/>
          </a:solidFill>
          <a:ln w="12700">
            <a:solidFill>
              <a:srgbClr val="EEF2F6"/>
            </a:solidFill>
            <a:prstDash val="solid"/>
          </a:ln>
        </p:spPr>
      </p:sp>
      <p:sp>
        <p:nvSpPr>
          <p:cNvPr id="17" name="Shape 15"/>
          <p:cNvSpPr/>
          <p:nvPr/>
        </p:nvSpPr>
        <p:spPr>
          <a:xfrm>
            <a:off x="2103120" y="1737360"/>
            <a:ext cx="3566160" cy="502920"/>
          </a:xfrm>
          <a:prstGeom prst="roundRect">
            <a:avLst>
              <a:gd name="adj" fmla="val 7273"/>
            </a:avLst>
          </a:prstGeom>
          <a:solidFill>
            <a:srgbClr val="DDF3F0"/>
          </a:solidFill>
          <a:ln w="12700">
            <a:solidFill>
              <a:srgbClr val="1F8A8A"/>
            </a:solidFill>
            <a:prstDash val="solid"/>
          </a:ln>
        </p:spPr>
      </p:sp>
      <p:sp>
        <p:nvSpPr>
          <p:cNvPr id="18" name="Text 16"/>
          <p:cNvSpPr txBox="1"/>
          <p:nvPr/>
        </p:nvSpPr>
        <p:spPr>
          <a:xfrm>
            <a:off x="2103120" y="1737360"/>
            <a:ext cx="356616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생성 → 마지막 사용  (FP16 [64,8192] 1 MiB)</a:t>
            </a:r>
            <a:endParaRPr lang="en-US" sz="900" dirty="0"/>
          </a:p>
        </p:txBody>
      </p:sp>
      <p:sp>
        <p:nvSpPr>
          <p:cNvPr id="19" name="Text 17"/>
          <p:cNvSpPr txBox="1"/>
          <p:nvPr/>
        </p:nvSpPr>
        <p:spPr>
          <a:xfrm>
            <a:off x="457200" y="2459736"/>
            <a:ext cx="160020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S = SiLU(G)</a:t>
            </a:r>
            <a:endParaRPr lang="en-US" sz="1050" dirty="0"/>
          </a:p>
        </p:txBody>
      </p:sp>
      <p:sp>
        <p:nvSpPr>
          <p:cNvPr id="20" name="Shape 18"/>
          <p:cNvSpPr/>
          <p:nvPr/>
        </p:nvSpPr>
        <p:spPr>
          <a:xfrm>
            <a:off x="2103120" y="2350008"/>
            <a:ext cx="9052560" cy="502920"/>
          </a:xfrm>
          <a:prstGeom prst="roundRect">
            <a:avLst>
              <a:gd name="adj" fmla="val 3636"/>
            </a:avLst>
          </a:prstGeom>
          <a:solidFill>
            <a:srgbClr val="EEF2F6"/>
          </a:solidFill>
          <a:ln w="12700">
            <a:solidFill>
              <a:srgbClr val="EEF2F6"/>
            </a:solidFill>
            <a:prstDash val="solid"/>
          </a:ln>
        </p:spPr>
      </p:sp>
      <p:sp>
        <p:nvSpPr>
          <p:cNvPr id="21" name="Shape 19"/>
          <p:cNvSpPr/>
          <p:nvPr/>
        </p:nvSpPr>
        <p:spPr>
          <a:xfrm>
            <a:off x="3931920" y="2350008"/>
            <a:ext cx="5394960" cy="502920"/>
          </a:xfrm>
          <a:prstGeom prst="roundRect">
            <a:avLst>
              <a:gd name="adj" fmla="val 7273"/>
            </a:avLst>
          </a:prstGeom>
          <a:solidFill>
            <a:srgbClr val="DDF3F0"/>
          </a:solidFill>
          <a:ln w="12700">
            <a:solidFill>
              <a:srgbClr val="1F8A8A"/>
            </a:solidFill>
            <a:prstDash val="solid"/>
          </a:ln>
        </p:spPr>
      </p:sp>
      <p:sp>
        <p:nvSpPr>
          <p:cNvPr id="22" name="Text 20"/>
          <p:cNvSpPr txBox="1"/>
          <p:nvPr/>
        </p:nvSpPr>
        <p:spPr>
          <a:xfrm>
            <a:off x="3931920" y="2350008"/>
            <a:ext cx="539496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생성 → 마지막 사용  (1 MiB)</a:t>
            </a:r>
            <a:endParaRPr lang="en-US" sz="900" dirty="0"/>
          </a:p>
        </p:txBody>
      </p:sp>
      <p:sp>
        <p:nvSpPr>
          <p:cNvPr id="23" name="Text 21"/>
          <p:cNvSpPr txBox="1"/>
          <p:nvPr/>
        </p:nvSpPr>
        <p:spPr>
          <a:xfrm>
            <a:off x="457200" y="3072384"/>
            <a:ext cx="160020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U = up(X)</a:t>
            </a:r>
            <a:endParaRPr lang="en-US" sz="1050" dirty="0"/>
          </a:p>
        </p:txBody>
      </p:sp>
      <p:sp>
        <p:nvSpPr>
          <p:cNvPr id="24" name="Shape 22"/>
          <p:cNvSpPr/>
          <p:nvPr/>
        </p:nvSpPr>
        <p:spPr>
          <a:xfrm>
            <a:off x="2103120" y="2962656"/>
            <a:ext cx="9052560" cy="502920"/>
          </a:xfrm>
          <a:prstGeom prst="roundRect">
            <a:avLst>
              <a:gd name="adj" fmla="val 3636"/>
            </a:avLst>
          </a:prstGeom>
          <a:solidFill>
            <a:srgbClr val="EEF2F6"/>
          </a:solidFill>
          <a:ln w="12700">
            <a:solidFill>
              <a:srgbClr val="EEF2F6"/>
            </a:solidFill>
            <a:prstDash val="solid"/>
          </a:ln>
        </p:spPr>
      </p:sp>
      <p:sp>
        <p:nvSpPr>
          <p:cNvPr id="25" name="Shape 23"/>
          <p:cNvSpPr/>
          <p:nvPr/>
        </p:nvSpPr>
        <p:spPr>
          <a:xfrm>
            <a:off x="5760720" y="2962656"/>
            <a:ext cx="3566160" cy="502920"/>
          </a:xfrm>
          <a:prstGeom prst="roundRect">
            <a:avLst>
              <a:gd name="adj" fmla="val 7273"/>
            </a:avLst>
          </a:prstGeom>
          <a:solidFill>
            <a:srgbClr val="DDF3F0"/>
          </a:solidFill>
          <a:ln w="12700">
            <a:solidFill>
              <a:srgbClr val="1F8A8A"/>
            </a:solidFill>
            <a:prstDash val="solid"/>
          </a:ln>
        </p:spPr>
      </p:sp>
      <p:sp>
        <p:nvSpPr>
          <p:cNvPr id="26" name="Text 24"/>
          <p:cNvSpPr txBox="1"/>
          <p:nvPr/>
        </p:nvSpPr>
        <p:spPr>
          <a:xfrm>
            <a:off x="5760720" y="2962656"/>
            <a:ext cx="356616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생성 → 마지막 사용  (1 MiB)</a:t>
            </a:r>
            <a:endParaRPr lang="en-US" sz="900" dirty="0"/>
          </a:p>
        </p:txBody>
      </p:sp>
      <p:sp>
        <p:nvSpPr>
          <p:cNvPr id="27" name="Text 25"/>
          <p:cNvSpPr txBox="1"/>
          <p:nvPr/>
        </p:nvSpPr>
        <p:spPr>
          <a:xfrm>
            <a:off x="457200" y="3685032"/>
            <a:ext cx="160020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H = S × U</a:t>
            </a:r>
            <a:endParaRPr lang="en-US" sz="1050" dirty="0"/>
          </a:p>
        </p:txBody>
      </p:sp>
      <p:sp>
        <p:nvSpPr>
          <p:cNvPr id="28" name="Shape 26"/>
          <p:cNvSpPr/>
          <p:nvPr/>
        </p:nvSpPr>
        <p:spPr>
          <a:xfrm>
            <a:off x="2103120" y="3575304"/>
            <a:ext cx="9052560" cy="502920"/>
          </a:xfrm>
          <a:prstGeom prst="roundRect">
            <a:avLst>
              <a:gd name="adj" fmla="val 3636"/>
            </a:avLst>
          </a:prstGeom>
          <a:solidFill>
            <a:srgbClr val="EEF2F6"/>
          </a:solidFill>
          <a:ln w="12700">
            <a:solidFill>
              <a:srgbClr val="EEF2F6"/>
            </a:solidFill>
            <a:prstDash val="solid"/>
          </a:ln>
        </p:spPr>
      </p:sp>
      <p:sp>
        <p:nvSpPr>
          <p:cNvPr id="29" name="Shape 27"/>
          <p:cNvSpPr/>
          <p:nvPr/>
        </p:nvSpPr>
        <p:spPr>
          <a:xfrm>
            <a:off x="7589520" y="3575304"/>
            <a:ext cx="3566160" cy="502920"/>
          </a:xfrm>
          <a:prstGeom prst="roundRect">
            <a:avLst>
              <a:gd name="adj" fmla="val 7273"/>
            </a:avLst>
          </a:prstGeom>
          <a:solidFill>
            <a:srgbClr val="DDF3F0"/>
          </a:solidFill>
          <a:ln w="12700">
            <a:solidFill>
              <a:srgbClr val="1F8A8A"/>
            </a:solidFill>
            <a:prstDash val="solid"/>
          </a:ln>
        </p:spPr>
      </p:sp>
      <p:sp>
        <p:nvSpPr>
          <p:cNvPr id="30" name="Text 28"/>
          <p:cNvSpPr txBox="1"/>
          <p:nvPr/>
        </p:nvSpPr>
        <p:spPr>
          <a:xfrm>
            <a:off x="7589520" y="3575304"/>
            <a:ext cx="356616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생성 → 마지막 사용  (1 MiB)</a:t>
            </a:r>
            <a:endParaRPr lang="en-US" sz="900" dirty="0"/>
          </a:p>
        </p:txBody>
      </p:sp>
      <p:sp>
        <p:nvSpPr>
          <p:cNvPr id="31" name="Text 29"/>
          <p:cNvSpPr txBox="1"/>
          <p:nvPr/>
        </p:nvSpPr>
        <p:spPr>
          <a:xfrm>
            <a:off x="457200" y="4297680"/>
            <a:ext cx="160020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X (norm 출력)</a:t>
            </a:r>
            <a:endParaRPr lang="en-US" sz="1050" dirty="0"/>
          </a:p>
        </p:txBody>
      </p:sp>
      <p:sp>
        <p:nvSpPr>
          <p:cNvPr id="32" name="Shape 30"/>
          <p:cNvSpPr/>
          <p:nvPr/>
        </p:nvSpPr>
        <p:spPr>
          <a:xfrm>
            <a:off x="2103120" y="4187952"/>
            <a:ext cx="9052560" cy="502920"/>
          </a:xfrm>
          <a:prstGeom prst="roundRect">
            <a:avLst>
              <a:gd name="adj" fmla="val 3636"/>
            </a:avLst>
          </a:prstGeom>
          <a:solidFill>
            <a:srgbClr val="EEF2F6"/>
          </a:solidFill>
          <a:ln w="12700">
            <a:solidFill>
              <a:srgbClr val="EEF2F6"/>
            </a:solidFill>
            <a:prstDash val="solid"/>
          </a:ln>
        </p:spPr>
      </p:sp>
      <p:sp>
        <p:nvSpPr>
          <p:cNvPr id="33" name="Shape 31"/>
          <p:cNvSpPr/>
          <p:nvPr/>
        </p:nvSpPr>
        <p:spPr>
          <a:xfrm>
            <a:off x="2103120" y="4187952"/>
            <a:ext cx="5394960" cy="502920"/>
          </a:xfrm>
          <a:prstGeom prst="roundRect">
            <a:avLst>
              <a:gd name="adj" fmla="val 7273"/>
            </a:avLst>
          </a:prstGeom>
          <a:solidFill>
            <a:srgbClr val="EEF1F5"/>
          </a:solidFill>
          <a:ln w="12700">
            <a:solidFill>
              <a:srgbClr val="5B6B7F"/>
            </a:solidFill>
            <a:prstDash val="solid"/>
          </a:ln>
        </p:spPr>
      </p:sp>
      <p:sp>
        <p:nvSpPr>
          <p:cNvPr id="34" name="Text 32"/>
          <p:cNvSpPr txBox="1"/>
          <p:nvPr/>
        </p:nvSpPr>
        <p:spPr>
          <a:xfrm>
            <a:off x="2103120" y="4187952"/>
            <a:ext cx="5394960" cy="502920"/>
          </a:xfrm>
          <a:prstGeom prst="rect">
            <a:avLst/>
          </a:prstGeom>
          <a:noFill/>
          <a:ln/>
        </p:spPr>
        <p:txBody>
          <a:bodyPr wrap="square" lIns="0" tIns="0" rIns="0" bIns="0" rtlCol="0" anchor="ct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생성 → 마지막 사용  (384 KiB (입력))</a:t>
            </a:r>
            <a:endParaRPr lang="en-US" sz="9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4892040"/>
          <a:ext cx="6949440" cy="914400"/>
        </p:xfrm>
        <a:graphic>
          <a:graphicData uri="http://schemas.openxmlformats.org/drawingml/2006/table">
            <a:tbl>
              <a:tblPr/>
              <a:tblGrid>
                <a:gridCol w="1097280"/>
                <a:gridCol w="3657600"/>
                <a:gridCol w="2194560"/>
              </a:tblGrid>
              <a:tr h="219456">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계산 중</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동시에 필요한 주요 값</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완료 후 보관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1945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gate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X, G 출력 + W panel 작업 공간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1945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SiLU</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 S + 임시값</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1945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up</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X, S, U + W panel 작업 공간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 U</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1945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multiply</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 U, H</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H</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1945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down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H + W panel(4 MiB) + 출력</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외부 출력 계약에 따른 Y</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36" name="Shape 33"/>
          <p:cNvSpPr/>
          <p:nvPr/>
        </p:nvSpPr>
        <p:spPr>
          <a:xfrm>
            <a:off x="7680960" y="4892040"/>
            <a:ext cx="4050792" cy="914400"/>
          </a:xfrm>
          <a:prstGeom prst="roundRect">
            <a:avLst>
              <a:gd name="adj" fmla="val 6000"/>
            </a:avLst>
          </a:prstGeom>
          <a:solidFill>
            <a:srgbClr val="FFF6DB"/>
          </a:solidFill>
          <a:ln w="12700">
            <a:solidFill>
              <a:srgbClr val="B7791F"/>
            </a:solidFill>
            <a:prstDash val="solid"/>
          </a:ln>
        </p:spPr>
      </p:sp>
      <p:sp>
        <p:nvSpPr>
          <p:cNvPr id="37" name="Text 34"/>
          <p:cNvSpPr txBox="1"/>
          <p:nvPr/>
        </p:nvSpPr>
        <p:spPr>
          <a:xfrm>
            <a:off x="7808976" y="4946904"/>
            <a:ext cx="3794760" cy="80467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실제 peak ≠ 살아 있는 값의 합: </a:t>
            </a:r>
            <a:pPr algn="l" indent="0" marL="0">
              <a:buNone/>
            </a:pPr>
            <a:r>
              <a:rPr lang="en-US" sz="950" dirty="0">
                <a:solidFill>
                  <a:srgbClr val="1F2D3D"/>
                </a:solidFill>
                <a:latin typeface="Malgun Gothic" pitchFamily="34" charset="0"/>
                <a:ea typeface="Malgun Gothic" pitchFamily="34" charset="-122"/>
                <a:cs typeface="Malgun Gothic" pitchFamily="34" charset="-120"/>
              </a:rPr>
              <a:t>weight panel(gate/up 384 KiB, down 4 MiB), scratch, 정렬, 빈 공간이 더해집니다. M=64 MLP 기록의 SRAM peak는 7,446,540 B (8 MiB 중).</a:t>
            </a:r>
            <a:endParaRPr lang="en-US" sz="1200" dirty="0"/>
          </a:p>
        </p:txBody>
      </p:sp>
      <p:sp>
        <p:nvSpPr>
          <p:cNvPr id="38" name="Shape 35"/>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39" name="Text 36"/>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보관 탐색은 이 수명을 값의 버전 단위로 분석하고, 보관할 값의 공간을 예약한 뒤 남은 용량으로 각 커널을 다시 schedule합니다.</a:t>
            </a:r>
            <a:endParaRPr lang="en-US" sz="1250" dirty="0"/>
          </a:p>
        </p:txBody>
      </p:sp>
      <p:sp>
        <p:nvSpPr>
          <p:cNvPr id="40" name="Text 3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41" name="Text 3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docs/current/08_memory.md, evidence/current/mlp64.json</a:t>
            </a:r>
            <a:endParaRPr lang="en-US" sz="850" dirty="0"/>
          </a:p>
        </p:txBody>
      </p:sp>
      <p:sp>
        <p:nvSpPr>
          <p:cNvPr id="42" name="Text 3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49 / 89</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8 · 메모리 계획</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USMP: 커널 내부 buffer의 충돌 분석과 greedy 배치</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작은 예제 fused 커널의 실제 결과. 8개 buffer(총 163,840 nibbles)가 충돌하지 않는 것끼리 offset을 공유해 pool 81,920 nibbles에 들어갑니다 (baseline bump 150,808 → peak 85,016 nibbles, 32,896 B 절약).</a:t>
            </a:r>
            <a:endParaRPr lang="en-US" sz="1250" dirty="0"/>
          </a:p>
        </p:txBody>
      </p:sp>
      <p:sp>
        <p:nvSpPr>
          <p:cNvPr id="5" name="Text 3"/>
          <p:cNvSpPr txBox="1"/>
          <p:nvPr/>
        </p:nvSpPr>
        <p:spPr>
          <a:xfrm>
            <a:off x="448056" y="1783080"/>
            <a:ext cx="2240280" cy="308610"/>
          </a:xfrm>
          <a:prstGeom prst="rect">
            <a:avLst/>
          </a:prstGeom>
          <a:noFill/>
          <a:ln/>
        </p:spPr>
        <p:txBody>
          <a:bodyPr wrap="square" lIns="0" tIns="0" rIns="0" bIns="0" rtlCol="0" anchor="ctr"/>
          <a:lstStyle/>
          <a:p>
            <a:pPr algn="r" indent="0" marL="0">
              <a:buNone/>
            </a:pPr>
            <a:r>
              <a:rPr lang="en-US" sz="750" b="1" dirty="0">
                <a:solidFill>
                  <a:srgbClr val="C0392B"/>
                </a:solidFill>
                <a:latin typeface="Malgun Gothic" pitchFamily="34" charset="0"/>
                <a:ea typeface="Malgun Gothic" pitchFamily="34" charset="-122"/>
                <a:cs typeface="Malgun Gothic" pitchFamily="34" charset="-120"/>
              </a:rPr>
              <a:t>matmul_global.sram (gemm 목적지, pinned)</a:t>
            </a:r>
            <a:endParaRPr lang="en-US" sz="750" dirty="0"/>
          </a:p>
        </p:txBody>
      </p:sp>
      <p:sp>
        <p:nvSpPr>
          <p:cNvPr id="6" name="Shape 4"/>
          <p:cNvSpPr/>
          <p:nvPr/>
        </p:nvSpPr>
        <p:spPr>
          <a:xfrm>
            <a:off x="2743200" y="1826285"/>
            <a:ext cx="4389120" cy="222199"/>
          </a:xfrm>
          <a:prstGeom prst="rect">
            <a:avLst/>
          </a:prstGeom>
          <a:solidFill>
            <a:srgbClr val="EEF2F6"/>
          </a:solidFill>
          <a:ln w="12700">
            <a:solidFill>
              <a:srgbClr val="EEF2F6"/>
            </a:solidFill>
            <a:prstDash val="solid"/>
          </a:ln>
        </p:spPr>
      </p:sp>
      <p:sp>
        <p:nvSpPr>
          <p:cNvPr id="7" name="Shape 5"/>
          <p:cNvSpPr/>
          <p:nvPr/>
        </p:nvSpPr>
        <p:spPr>
          <a:xfrm>
            <a:off x="2743200" y="1826285"/>
            <a:ext cx="877824" cy="222199"/>
          </a:xfrm>
          <a:prstGeom prst="rect">
            <a:avLst/>
          </a:prstGeom>
          <a:solidFill>
            <a:srgbClr val="ECE6FA"/>
          </a:solidFill>
          <a:ln w="19050">
            <a:solidFill>
              <a:srgbClr val="C0392B"/>
            </a:solidFill>
            <a:prstDash val="solid"/>
          </a:ln>
        </p:spPr>
      </p:sp>
      <p:sp>
        <p:nvSpPr>
          <p:cNvPr id="8" name="Text 6"/>
          <p:cNvSpPr txBox="1"/>
          <p:nvPr/>
        </p:nvSpPr>
        <p:spPr>
          <a:xfrm>
            <a:off x="2743200" y="1826285"/>
            <a:ext cx="914400" cy="222199"/>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0 – 16384</a:t>
            </a:r>
            <a:endParaRPr lang="en-US" sz="650" dirty="0"/>
          </a:p>
        </p:txBody>
      </p:sp>
      <p:sp>
        <p:nvSpPr>
          <p:cNvPr id="9" name="Text 7"/>
          <p:cNvSpPr txBox="1"/>
          <p:nvPr/>
        </p:nvSpPr>
        <p:spPr>
          <a:xfrm>
            <a:off x="448056" y="2091690"/>
            <a:ext cx="2240280" cy="308610"/>
          </a:xfrm>
          <a:prstGeom prst="rect">
            <a:avLst/>
          </a:prstGeom>
          <a:noFill/>
          <a:ln/>
        </p:spPr>
        <p:txBody>
          <a:bodyPr wrap="square" lIns="0" tIns="0" rIns="0" bIns="0" rtlCol="0" anchor="ct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T_add_intermediate (A)</a:t>
            </a:r>
            <a:endParaRPr lang="en-US" sz="750" dirty="0"/>
          </a:p>
        </p:txBody>
      </p:sp>
      <p:sp>
        <p:nvSpPr>
          <p:cNvPr id="10" name="Shape 8"/>
          <p:cNvSpPr/>
          <p:nvPr/>
        </p:nvSpPr>
        <p:spPr>
          <a:xfrm>
            <a:off x="2743200" y="2134895"/>
            <a:ext cx="4389120" cy="222199"/>
          </a:xfrm>
          <a:prstGeom prst="rect">
            <a:avLst/>
          </a:prstGeom>
          <a:solidFill>
            <a:srgbClr val="EEF2F6"/>
          </a:solidFill>
          <a:ln w="12700">
            <a:solidFill>
              <a:srgbClr val="EEF2F6"/>
            </a:solidFill>
            <a:prstDash val="solid"/>
          </a:ln>
        </p:spPr>
      </p:sp>
      <p:sp>
        <p:nvSpPr>
          <p:cNvPr id="11" name="Shape 9"/>
          <p:cNvSpPr/>
          <p:nvPr/>
        </p:nvSpPr>
        <p:spPr>
          <a:xfrm>
            <a:off x="3621024" y="2134895"/>
            <a:ext cx="877824" cy="222199"/>
          </a:xfrm>
          <a:prstGeom prst="rect">
            <a:avLst/>
          </a:prstGeom>
          <a:solidFill>
            <a:srgbClr val="DDF3F0"/>
          </a:solidFill>
          <a:ln w="9525">
            <a:solidFill>
              <a:srgbClr val="1F8A8A"/>
            </a:solidFill>
            <a:prstDash val="solid"/>
          </a:ln>
        </p:spPr>
      </p:sp>
      <p:sp>
        <p:nvSpPr>
          <p:cNvPr id="12" name="Text 10"/>
          <p:cNvSpPr txBox="1"/>
          <p:nvPr/>
        </p:nvSpPr>
        <p:spPr>
          <a:xfrm>
            <a:off x="3621024" y="2134895"/>
            <a:ext cx="914400" cy="222199"/>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16384 –</a:t>
            </a:r>
            <a:endParaRPr lang="en-US" sz="650" dirty="0"/>
          </a:p>
        </p:txBody>
      </p:sp>
      <p:sp>
        <p:nvSpPr>
          <p:cNvPr id="13" name="Text 11"/>
          <p:cNvSpPr txBox="1"/>
          <p:nvPr/>
        </p:nvSpPr>
        <p:spPr>
          <a:xfrm>
            <a:off x="448056" y="2400300"/>
            <a:ext cx="2240280" cy="308610"/>
          </a:xfrm>
          <a:prstGeom prst="rect">
            <a:avLst/>
          </a:prstGeom>
          <a:noFill/>
          <a:ln/>
        </p:spPr>
        <p:txBody>
          <a:bodyPr wrap="square" lIns="0" tIns="0" rIns="0" bIns="0" rtlCol="0" anchor="ct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lv panel (Wᵀ 128×64)</a:t>
            </a:r>
            <a:endParaRPr lang="en-US" sz="750" dirty="0"/>
          </a:p>
        </p:txBody>
      </p:sp>
      <p:sp>
        <p:nvSpPr>
          <p:cNvPr id="14" name="Shape 12"/>
          <p:cNvSpPr/>
          <p:nvPr/>
        </p:nvSpPr>
        <p:spPr>
          <a:xfrm>
            <a:off x="2743200" y="2443505"/>
            <a:ext cx="4389120" cy="222199"/>
          </a:xfrm>
          <a:prstGeom prst="rect">
            <a:avLst/>
          </a:prstGeom>
          <a:solidFill>
            <a:srgbClr val="EEF2F6"/>
          </a:solidFill>
          <a:ln w="12700">
            <a:solidFill>
              <a:srgbClr val="EEF2F6"/>
            </a:solidFill>
            <a:prstDash val="solid"/>
          </a:ln>
        </p:spPr>
      </p:sp>
      <p:sp>
        <p:nvSpPr>
          <p:cNvPr id="15" name="Shape 13"/>
          <p:cNvSpPr/>
          <p:nvPr/>
        </p:nvSpPr>
        <p:spPr>
          <a:xfrm>
            <a:off x="3621024" y="2443505"/>
            <a:ext cx="1755648" cy="222199"/>
          </a:xfrm>
          <a:prstGeom prst="rect">
            <a:avLst/>
          </a:prstGeom>
          <a:solidFill>
            <a:srgbClr val="FFF1DC"/>
          </a:solidFill>
          <a:ln w="9525">
            <a:solidFill>
              <a:srgbClr val="D98A1E"/>
            </a:solidFill>
            <a:prstDash val="solid"/>
          </a:ln>
        </p:spPr>
      </p:sp>
      <p:sp>
        <p:nvSpPr>
          <p:cNvPr id="16" name="Text 14"/>
          <p:cNvSpPr txBox="1"/>
          <p:nvPr/>
        </p:nvSpPr>
        <p:spPr>
          <a:xfrm>
            <a:off x="3621024" y="2443505"/>
            <a:ext cx="1755648" cy="222199"/>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16384 – 49152 (공유)</a:t>
            </a:r>
            <a:endParaRPr lang="en-US" sz="650" dirty="0"/>
          </a:p>
        </p:txBody>
      </p:sp>
      <p:sp>
        <p:nvSpPr>
          <p:cNvPr id="17" name="Text 15"/>
          <p:cNvSpPr txBox="1"/>
          <p:nvPr/>
        </p:nvSpPr>
        <p:spPr>
          <a:xfrm>
            <a:off x="448056" y="2708910"/>
            <a:ext cx="2240280" cy="308610"/>
          </a:xfrm>
          <a:prstGeom prst="rect">
            <a:avLst/>
          </a:prstGeom>
          <a:noFill/>
          <a:ln/>
        </p:spPr>
        <p:txBody>
          <a:bodyPr wrap="square" lIns="0" tIns="0" rIns="0" bIns="0" rtlCol="0" anchor="ct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compute_intermediate (P f16)</a:t>
            </a:r>
            <a:endParaRPr lang="en-US" sz="750" dirty="0"/>
          </a:p>
        </p:txBody>
      </p:sp>
      <p:sp>
        <p:nvSpPr>
          <p:cNvPr id="18" name="Shape 16"/>
          <p:cNvSpPr/>
          <p:nvPr/>
        </p:nvSpPr>
        <p:spPr>
          <a:xfrm>
            <a:off x="2743200" y="2752115"/>
            <a:ext cx="4389120" cy="222199"/>
          </a:xfrm>
          <a:prstGeom prst="rect">
            <a:avLst/>
          </a:prstGeom>
          <a:solidFill>
            <a:srgbClr val="EEF2F6"/>
          </a:solidFill>
          <a:ln w="12700">
            <a:solidFill>
              <a:srgbClr val="EEF2F6"/>
            </a:solidFill>
            <a:prstDash val="solid"/>
          </a:ln>
        </p:spPr>
      </p:sp>
      <p:sp>
        <p:nvSpPr>
          <p:cNvPr id="19" name="Shape 17"/>
          <p:cNvSpPr/>
          <p:nvPr/>
        </p:nvSpPr>
        <p:spPr>
          <a:xfrm>
            <a:off x="4498848" y="2752115"/>
            <a:ext cx="877824" cy="222199"/>
          </a:xfrm>
          <a:prstGeom prst="rect">
            <a:avLst/>
          </a:prstGeom>
          <a:solidFill>
            <a:srgbClr val="DDF3F0"/>
          </a:solidFill>
          <a:ln w="9525">
            <a:solidFill>
              <a:srgbClr val="1F8A8A"/>
            </a:solidFill>
            <a:prstDash val="solid"/>
          </a:ln>
        </p:spPr>
      </p:sp>
      <p:sp>
        <p:nvSpPr>
          <p:cNvPr id="20" name="Text 18"/>
          <p:cNvSpPr txBox="1"/>
          <p:nvPr/>
        </p:nvSpPr>
        <p:spPr>
          <a:xfrm>
            <a:off x="4498848" y="2752115"/>
            <a:ext cx="914400" cy="222199"/>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32768 –</a:t>
            </a:r>
            <a:endParaRPr lang="en-US" sz="650" dirty="0"/>
          </a:p>
        </p:txBody>
      </p:sp>
      <p:sp>
        <p:nvSpPr>
          <p:cNvPr id="21" name="Text 19"/>
          <p:cNvSpPr txBox="1"/>
          <p:nvPr/>
        </p:nvSpPr>
        <p:spPr>
          <a:xfrm>
            <a:off x="448056" y="3017520"/>
            <a:ext cx="2240280" cy="308610"/>
          </a:xfrm>
          <a:prstGeom prst="rect">
            <a:avLst/>
          </a:prstGeom>
          <a:noFill/>
          <a:ln/>
        </p:spPr>
        <p:txBody>
          <a:bodyPr wrap="square" lIns="0" tIns="0" rIns="0" bIns="0" rtlCol="0" anchor="ct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T_multiply_intermediate (Y)</a:t>
            </a:r>
            <a:endParaRPr lang="en-US" sz="750" dirty="0"/>
          </a:p>
        </p:txBody>
      </p:sp>
      <p:sp>
        <p:nvSpPr>
          <p:cNvPr id="22" name="Shape 20"/>
          <p:cNvSpPr/>
          <p:nvPr/>
        </p:nvSpPr>
        <p:spPr>
          <a:xfrm>
            <a:off x="2743200" y="3060725"/>
            <a:ext cx="4389120" cy="222199"/>
          </a:xfrm>
          <a:prstGeom prst="rect">
            <a:avLst/>
          </a:prstGeom>
          <a:solidFill>
            <a:srgbClr val="EEF2F6"/>
          </a:solidFill>
          <a:ln w="12700">
            <a:solidFill>
              <a:srgbClr val="EEF2F6"/>
            </a:solidFill>
            <a:prstDash val="solid"/>
          </a:ln>
        </p:spPr>
      </p:sp>
      <p:sp>
        <p:nvSpPr>
          <p:cNvPr id="23" name="Shape 21"/>
          <p:cNvSpPr/>
          <p:nvPr/>
        </p:nvSpPr>
        <p:spPr>
          <a:xfrm>
            <a:off x="4498848" y="3060725"/>
            <a:ext cx="877824" cy="222199"/>
          </a:xfrm>
          <a:prstGeom prst="rect">
            <a:avLst/>
          </a:prstGeom>
          <a:solidFill>
            <a:srgbClr val="E3EEFB"/>
          </a:solidFill>
          <a:ln w="9525">
            <a:solidFill>
              <a:srgbClr val="2F6DB5"/>
            </a:solidFill>
            <a:prstDash val="solid"/>
          </a:ln>
        </p:spPr>
      </p:sp>
      <p:sp>
        <p:nvSpPr>
          <p:cNvPr id="24" name="Text 22"/>
          <p:cNvSpPr txBox="1"/>
          <p:nvPr/>
        </p:nvSpPr>
        <p:spPr>
          <a:xfrm>
            <a:off x="4498848" y="3060725"/>
            <a:ext cx="914400" cy="222199"/>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32768 – (공유)</a:t>
            </a:r>
            <a:endParaRPr lang="en-US" sz="650" dirty="0"/>
          </a:p>
        </p:txBody>
      </p:sp>
      <p:sp>
        <p:nvSpPr>
          <p:cNvPr id="25" name="Text 23"/>
          <p:cNvSpPr txBox="1"/>
          <p:nvPr/>
        </p:nvSpPr>
        <p:spPr>
          <a:xfrm>
            <a:off x="448056" y="3326130"/>
            <a:ext cx="2240280" cy="308610"/>
          </a:xfrm>
          <a:prstGeom prst="rect">
            <a:avLst/>
          </a:prstGeom>
          <a:noFill/>
          <a:ln/>
        </p:spPr>
        <p:txBody>
          <a:bodyPr wrap="square" lIns="0" tIns="0" rIns="0" bIns="0" rtlCol="0" anchor="ct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compute (sigmoid)</a:t>
            </a:r>
            <a:endParaRPr lang="en-US" sz="750" dirty="0"/>
          </a:p>
        </p:txBody>
      </p:sp>
      <p:sp>
        <p:nvSpPr>
          <p:cNvPr id="26" name="Shape 24"/>
          <p:cNvSpPr/>
          <p:nvPr/>
        </p:nvSpPr>
        <p:spPr>
          <a:xfrm>
            <a:off x="2743200" y="3369335"/>
            <a:ext cx="4389120" cy="222199"/>
          </a:xfrm>
          <a:prstGeom prst="rect">
            <a:avLst/>
          </a:prstGeom>
          <a:solidFill>
            <a:srgbClr val="EEF2F6"/>
          </a:solidFill>
          <a:ln w="12700">
            <a:solidFill>
              <a:srgbClr val="EEF2F6"/>
            </a:solidFill>
            <a:prstDash val="solid"/>
          </a:ln>
        </p:spPr>
      </p:sp>
      <p:sp>
        <p:nvSpPr>
          <p:cNvPr id="27" name="Shape 25"/>
          <p:cNvSpPr/>
          <p:nvPr/>
        </p:nvSpPr>
        <p:spPr>
          <a:xfrm>
            <a:off x="5376672" y="3369335"/>
            <a:ext cx="877824" cy="222199"/>
          </a:xfrm>
          <a:prstGeom prst="rect">
            <a:avLst/>
          </a:prstGeom>
          <a:solidFill>
            <a:srgbClr val="DDF3F0"/>
          </a:solidFill>
          <a:ln w="9525">
            <a:solidFill>
              <a:srgbClr val="1F8A8A"/>
            </a:solidFill>
            <a:prstDash val="solid"/>
          </a:ln>
        </p:spPr>
      </p:sp>
      <p:sp>
        <p:nvSpPr>
          <p:cNvPr id="28" name="Text 26"/>
          <p:cNvSpPr txBox="1"/>
          <p:nvPr/>
        </p:nvSpPr>
        <p:spPr>
          <a:xfrm>
            <a:off x="5376672" y="3369335"/>
            <a:ext cx="914400" cy="222199"/>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49152 –</a:t>
            </a:r>
            <a:endParaRPr lang="en-US" sz="650" dirty="0"/>
          </a:p>
        </p:txBody>
      </p:sp>
      <p:sp>
        <p:nvSpPr>
          <p:cNvPr id="29" name="Text 27"/>
          <p:cNvSpPr txBox="1"/>
          <p:nvPr/>
        </p:nvSpPr>
        <p:spPr>
          <a:xfrm>
            <a:off x="448056" y="3634740"/>
            <a:ext cx="2240280" cy="308610"/>
          </a:xfrm>
          <a:prstGeom prst="rect">
            <a:avLst/>
          </a:prstGeom>
          <a:noFill/>
          <a:ln/>
        </p:spPr>
        <p:txBody>
          <a:bodyPr wrap="square" lIns="0" tIns="0" rIns="0" bIns="0" rtlCol="0" anchor="ct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bias (64)</a:t>
            </a:r>
            <a:endParaRPr lang="en-US" sz="750" dirty="0"/>
          </a:p>
        </p:txBody>
      </p:sp>
      <p:sp>
        <p:nvSpPr>
          <p:cNvPr id="30" name="Shape 28"/>
          <p:cNvSpPr/>
          <p:nvPr/>
        </p:nvSpPr>
        <p:spPr>
          <a:xfrm>
            <a:off x="2743200" y="3677945"/>
            <a:ext cx="4389120" cy="222199"/>
          </a:xfrm>
          <a:prstGeom prst="rect">
            <a:avLst/>
          </a:prstGeom>
          <a:solidFill>
            <a:srgbClr val="EEF2F6"/>
          </a:solidFill>
          <a:ln w="12700">
            <a:solidFill>
              <a:srgbClr val="EEF2F6"/>
            </a:solidFill>
            <a:prstDash val="solid"/>
          </a:ln>
        </p:spPr>
      </p:sp>
      <p:sp>
        <p:nvSpPr>
          <p:cNvPr id="31" name="Shape 29"/>
          <p:cNvSpPr/>
          <p:nvPr/>
        </p:nvSpPr>
        <p:spPr>
          <a:xfrm>
            <a:off x="5376672" y="3677945"/>
            <a:ext cx="18288" cy="222199"/>
          </a:xfrm>
          <a:prstGeom prst="rect">
            <a:avLst/>
          </a:prstGeom>
          <a:solidFill>
            <a:srgbClr val="E3EEFB"/>
          </a:solidFill>
          <a:ln w="9525">
            <a:solidFill>
              <a:srgbClr val="2F6DB5"/>
            </a:solidFill>
            <a:prstDash val="solid"/>
          </a:ln>
        </p:spPr>
      </p:sp>
      <p:sp>
        <p:nvSpPr>
          <p:cNvPr id="32" name="Text 30"/>
          <p:cNvSpPr txBox="1"/>
          <p:nvPr/>
        </p:nvSpPr>
        <p:spPr>
          <a:xfrm>
            <a:off x="5376672" y="3677945"/>
            <a:ext cx="914400" cy="222199"/>
          </a:xfrm>
          <a:prstGeom prst="rect">
            <a:avLst/>
          </a:prstGeom>
          <a:noFill/>
          <a:ln/>
        </p:spPr>
        <p:txBody>
          <a:bodyPr wrap="square" lIns="0" tIns="0" rIns="0" bIns="0" rtlCol="0" anchor="ctr"/>
          <a:lstStyle/>
          <a:p>
            <a:pPr algn="l" indent="0" marL="0">
              <a:buNone/>
            </a:pPr>
            <a:r>
              <a:rPr lang="en-US" sz="650" dirty="0">
                <a:solidFill>
                  <a:srgbClr val="1F2D3D"/>
                </a:solidFill>
                <a:latin typeface="Malgun Gothic" pitchFamily="34" charset="0"/>
                <a:ea typeface="Malgun Gothic" pitchFamily="34" charset="-122"/>
                <a:cs typeface="Malgun Gothic" pitchFamily="34" charset="-120"/>
              </a:rPr>
              <a:t>256</a:t>
            </a:r>
            <a:endParaRPr lang="en-US" sz="650" dirty="0"/>
          </a:p>
        </p:txBody>
      </p:sp>
      <p:sp>
        <p:nvSpPr>
          <p:cNvPr id="33" name="Text 31"/>
          <p:cNvSpPr txBox="1"/>
          <p:nvPr/>
        </p:nvSpPr>
        <p:spPr>
          <a:xfrm>
            <a:off x="448056" y="3943350"/>
            <a:ext cx="2240280" cy="308610"/>
          </a:xfrm>
          <a:prstGeom prst="rect">
            <a:avLst/>
          </a:prstGeom>
          <a:noFill/>
          <a:ln/>
        </p:spPr>
        <p:txBody>
          <a:bodyPr wrap="square" lIns="0" tIns="0" rIns="0" bIns="0" rtlCol="0" anchor="ct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x panel (64×128)</a:t>
            </a:r>
            <a:endParaRPr lang="en-US" sz="750" dirty="0"/>
          </a:p>
        </p:txBody>
      </p:sp>
      <p:sp>
        <p:nvSpPr>
          <p:cNvPr id="34" name="Shape 32"/>
          <p:cNvSpPr/>
          <p:nvPr/>
        </p:nvSpPr>
        <p:spPr>
          <a:xfrm>
            <a:off x="2743200" y="3986555"/>
            <a:ext cx="4389120" cy="222199"/>
          </a:xfrm>
          <a:prstGeom prst="rect">
            <a:avLst/>
          </a:prstGeom>
          <a:solidFill>
            <a:srgbClr val="EEF2F6"/>
          </a:solidFill>
          <a:ln w="12700">
            <a:solidFill>
              <a:srgbClr val="EEF2F6"/>
            </a:solidFill>
            <a:prstDash val="solid"/>
          </a:ln>
        </p:spPr>
      </p:sp>
      <p:sp>
        <p:nvSpPr>
          <p:cNvPr id="35" name="Shape 33"/>
          <p:cNvSpPr/>
          <p:nvPr/>
        </p:nvSpPr>
        <p:spPr>
          <a:xfrm>
            <a:off x="5376672" y="3986555"/>
            <a:ext cx="1755648" cy="222199"/>
          </a:xfrm>
          <a:prstGeom prst="rect">
            <a:avLst/>
          </a:prstGeom>
          <a:solidFill>
            <a:srgbClr val="FFF1DC"/>
          </a:solidFill>
          <a:ln w="9525">
            <a:solidFill>
              <a:srgbClr val="D98A1E"/>
            </a:solidFill>
            <a:prstDash val="solid"/>
          </a:ln>
        </p:spPr>
      </p:sp>
      <p:sp>
        <p:nvSpPr>
          <p:cNvPr id="36" name="Text 34"/>
          <p:cNvSpPr txBox="1"/>
          <p:nvPr/>
        </p:nvSpPr>
        <p:spPr>
          <a:xfrm>
            <a:off x="5376672" y="3986555"/>
            <a:ext cx="1755648" cy="222199"/>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49152 – 81920 (공유)</a:t>
            </a:r>
            <a:endParaRPr lang="en-US" sz="650" dirty="0"/>
          </a:p>
        </p:txBody>
      </p:sp>
      <p:sp>
        <p:nvSpPr>
          <p:cNvPr id="37" name="Shape 35"/>
          <p:cNvSpPr/>
          <p:nvPr/>
        </p:nvSpPr>
        <p:spPr>
          <a:xfrm>
            <a:off x="2743200" y="1783080"/>
            <a:ext cx="914" cy="2468880"/>
          </a:xfrm>
          <a:prstGeom prst="line">
            <a:avLst/>
          </a:prstGeom>
          <a:noFill/>
          <a:ln w="6350">
            <a:solidFill>
              <a:srgbClr val="C9D3DF"/>
            </a:solidFill>
            <a:prstDash val="dash"/>
          </a:ln>
        </p:spPr>
      </p:sp>
      <p:sp>
        <p:nvSpPr>
          <p:cNvPr id="38" name="Text 36"/>
          <p:cNvSpPr txBox="1"/>
          <p:nvPr/>
        </p:nvSpPr>
        <p:spPr>
          <a:xfrm>
            <a:off x="2331720" y="4270248"/>
            <a:ext cx="822960" cy="164592"/>
          </a:xfrm>
          <a:prstGeom prst="rect">
            <a:avLst/>
          </a:prstGeom>
          <a:noFill/>
          <a:ln/>
        </p:spPr>
        <p:txBody>
          <a:bodyPr wrap="square" lIns="0" tIns="0" rIns="0" bIns="0" rtlCol="0" anchor="t"/>
          <a:lstStyle/>
          <a:p>
            <a:pPr algn="ctr" indent="0" marL="0">
              <a:buNone/>
            </a:pPr>
            <a:r>
              <a:rPr lang="en-US" sz="700" dirty="0">
                <a:solidFill>
                  <a:srgbClr val="5B6B7F"/>
                </a:solidFill>
                <a:latin typeface="Courier New" pitchFamily="34" charset="0"/>
                <a:ea typeface="Courier New" pitchFamily="34" charset="-122"/>
                <a:cs typeface="Courier New" pitchFamily="34" charset="-120"/>
              </a:rPr>
              <a:t>0</a:t>
            </a:r>
            <a:endParaRPr lang="en-US" sz="700" dirty="0"/>
          </a:p>
        </p:txBody>
      </p:sp>
      <p:sp>
        <p:nvSpPr>
          <p:cNvPr id="39" name="Shape 37"/>
          <p:cNvSpPr/>
          <p:nvPr/>
        </p:nvSpPr>
        <p:spPr>
          <a:xfrm>
            <a:off x="3621024" y="1783080"/>
            <a:ext cx="914" cy="2468880"/>
          </a:xfrm>
          <a:prstGeom prst="line">
            <a:avLst/>
          </a:prstGeom>
          <a:noFill/>
          <a:ln w="6350">
            <a:solidFill>
              <a:srgbClr val="C9D3DF"/>
            </a:solidFill>
            <a:prstDash val="dash"/>
          </a:ln>
        </p:spPr>
      </p:sp>
      <p:sp>
        <p:nvSpPr>
          <p:cNvPr id="40" name="Text 38"/>
          <p:cNvSpPr txBox="1"/>
          <p:nvPr/>
        </p:nvSpPr>
        <p:spPr>
          <a:xfrm>
            <a:off x="3209544" y="4270248"/>
            <a:ext cx="822960" cy="164592"/>
          </a:xfrm>
          <a:prstGeom prst="rect">
            <a:avLst/>
          </a:prstGeom>
          <a:noFill/>
          <a:ln/>
        </p:spPr>
        <p:txBody>
          <a:bodyPr wrap="square" lIns="0" tIns="0" rIns="0" bIns="0" rtlCol="0" anchor="t"/>
          <a:lstStyle/>
          <a:p>
            <a:pPr algn="ctr" indent="0" marL="0">
              <a:buNone/>
            </a:pPr>
            <a:r>
              <a:rPr lang="en-US" sz="700" dirty="0">
                <a:solidFill>
                  <a:srgbClr val="5B6B7F"/>
                </a:solidFill>
                <a:latin typeface="Courier New" pitchFamily="34" charset="0"/>
                <a:ea typeface="Courier New" pitchFamily="34" charset="-122"/>
                <a:cs typeface="Courier New" pitchFamily="34" charset="-120"/>
              </a:rPr>
              <a:t>16384</a:t>
            </a:r>
            <a:endParaRPr lang="en-US" sz="700" dirty="0"/>
          </a:p>
        </p:txBody>
      </p:sp>
      <p:sp>
        <p:nvSpPr>
          <p:cNvPr id="41" name="Shape 39"/>
          <p:cNvSpPr/>
          <p:nvPr/>
        </p:nvSpPr>
        <p:spPr>
          <a:xfrm>
            <a:off x="4498848" y="1783080"/>
            <a:ext cx="914" cy="2468880"/>
          </a:xfrm>
          <a:prstGeom prst="line">
            <a:avLst/>
          </a:prstGeom>
          <a:noFill/>
          <a:ln w="6350">
            <a:solidFill>
              <a:srgbClr val="C9D3DF"/>
            </a:solidFill>
            <a:prstDash val="dash"/>
          </a:ln>
        </p:spPr>
      </p:sp>
      <p:sp>
        <p:nvSpPr>
          <p:cNvPr id="42" name="Text 40"/>
          <p:cNvSpPr txBox="1"/>
          <p:nvPr/>
        </p:nvSpPr>
        <p:spPr>
          <a:xfrm>
            <a:off x="4087368" y="4270248"/>
            <a:ext cx="822960" cy="164592"/>
          </a:xfrm>
          <a:prstGeom prst="rect">
            <a:avLst/>
          </a:prstGeom>
          <a:noFill/>
          <a:ln/>
        </p:spPr>
        <p:txBody>
          <a:bodyPr wrap="square" lIns="0" tIns="0" rIns="0" bIns="0" rtlCol="0" anchor="t"/>
          <a:lstStyle/>
          <a:p>
            <a:pPr algn="ctr" indent="0" marL="0">
              <a:buNone/>
            </a:pPr>
            <a:r>
              <a:rPr lang="en-US" sz="700" dirty="0">
                <a:solidFill>
                  <a:srgbClr val="5B6B7F"/>
                </a:solidFill>
                <a:latin typeface="Courier New" pitchFamily="34" charset="0"/>
                <a:ea typeface="Courier New" pitchFamily="34" charset="-122"/>
                <a:cs typeface="Courier New" pitchFamily="34" charset="-120"/>
              </a:rPr>
              <a:t>32768</a:t>
            </a:r>
            <a:endParaRPr lang="en-US" sz="700" dirty="0"/>
          </a:p>
        </p:txBody>
      </p:sp>
      <p:sp>
        <p:nvSpPr>
          <p:cNvPr id="43" name="Shape 41"/>
          <p:cNvSpPr/>
          <p:nvPr/>
        </p:nvSpPr>
        <p:spPr>
          <a:xfrm>
            <a:off x="5376672" y="1783080"/>
            <a:ext cx="914" cy="2468880"/>
          </a:xfrm>
          <a:prstGeom prst="line">
            <a:avLst/>
          </a:prstGeom>
          <a:noFill/>
          <a:ln w="6350">
            <a:solidFill>
              <a:srgbClr val="C9D3DF"/>
            </a:solidFill>
            <a:prstDash val="dash"/>
          </a:ln>
        </p:spPr>
      </p:sp>
      <p:sp>
        <p:nvSpPr>
          <p:cNvPr id="44" name="Text 42"/>
          <p:cNvSpPr txBox="1"/>
          <p:nvPr/>
        </p:nvSpPr>
        <p:spPr>
          <a:xfrm>
            <a:off x="4965192" y="4270248"/>
            <a:ext cx="822960" cy="164592"/>
          </a:xfrm>
          <a:prstGeom prst="rect">
            <a:avLst/>
          </a:prstGeom>
          <a:noFill/>
          <a:ln/>
        </p:spPr>
        <p:txBody>
          <a:bodyPr wrap="square" lIns="0" tIns="0" rIns="0" bIns="0" rtlCol="0" anchor="t"/>
          <a:lstStyle/>
          <a:p>
            <a:pPr algn="ctr" indent="0" marL="0">
              <a:buNone/>
            </a:pPr>
            <a:r>
              <a:rPr lang="en-US" sz="700" dirty="0">
                <a:solidFill>
                  <a:srgbClr val="5B6B7F"/>
                </a:solidFill>
                <a:latin typeface="Courier New" pitchFamily="34" charset="0"/>
                <a:ea typeface="Courier New" pitchFamily="34" charset="-122"/>
                <a:cs typeface="Courier New" pitchFamily="34" charset="-120"/>
              </a:rPr>
              <a:t>49152</a:t>
            </a:r>
            <a:endParaRPr lang="en-US" sz="700" dirty="0"/>
          </a:p>
        </p:txBody>
      </p:sp>
      <p:sp>
        <p:nvSpPr>
          <p:cNvPr id="45" name="Shape 43"/>
          <p:cNvSpPr/>
          <p:nvPr/>
        </p:nvSpPr>
        <p:spPr>
          <a:xfrm>
            <a:off x="6254496" y="1783080"/>
            <a:ext cx="914" cy="2468880"/>
          </a:xfrm>
          <a:prstGeom prst="line">
            <a:avLst/>
          </a:prstGeom>
          <a:noFill/>
          <a:ln w="6350">
            <a:solidFill>
              <a:srgbClr val="C9D3DF"/>
            </a:solidFill>
            <a:prstDash val="dash"/>
          </a:ln>
        </p:spPr>
      </p:sp>
      <p:sp>
        <p:nvSpPr>
          <p:cNvPr id="46" name="Text 44"/>
          <p:cNvSpPr txBox="1"/>
          <p:nvPr/>
        </p:nvSpPr>
        <p:spPr>
          <a:xfrm>
            <a:off x="5843016" y="4270248"/>
            <a:ext cx="822960" cy="164592"/>
          </a:xfrm>
          <a:prstGeom prst="rect">
            <a:avLst/>
          </a:prstGeom>
          <a:noFill/>
          <a:ln/>
        </p:spPr>
        <p:txBody>
          <a:bodyPr wrap="square" lIns="0" tIns="0" rIns="0" bIns="0" rtlCol="0" anchor="t"/>
          <a:lstStyle/>
          <a:p>
            <a:pPr algn="ctr" indent="0" marL="0">
              <a:buNone/>
            </a:pPr>
            <a:r>
              <a:rPr lang="en-US" sz="700" dirty="0">
                <a:solidFill>
                  <a:srgbClr val="5B6B7F"/>
                </a:solidFill>
                <a:latin typeface="Courier New" pitchFamily="34" charset="0"/>
                <a:ea typeface="Courier New" pitchFamily="34" charset="-122"/>
                <a:cs typeface="Courier New" pitchFamily="34" charset="-120"/>
              </a:rPr>
              <a:t>65536</a:t>
            </a:r>
            <a:endParaRPr lang="en-US" sz="700" dirty="0"/>
          </a:p>
        </p:txBody>
      </p:sp>
      <p:sp>
        <p:nvSpPr>
          <p:cNvPr id="47" name="Shape 45"/>
          <p:cNvSpPr/>
          <p:nvPr/>
        </p:nvSpPr>
        <p:spPr>
          <a:xfrm>
            <a:off x="7132320" y="1783080"/>
            <a:ext cx="914" cy="2468880"/>
          </a:xfrm>
          <a:prstGeom prst="line">
            <a:avLst/>
          </a:prstGeom>
          <a:noFill/>
          <a:ln w="6350">
            <a:solidFill>
              <a:srgbClr val="C9D3DF"/>
            </a:solidFill>
            <a:prstDash val="dash"/>
          </a:ln>
        </p:spPr>
      </p:sp>
      <p:sp>
        <p:nvSpPr>
          <p:cNvPr id="48" name="Text 46"/>
          <p:cNvSpPr txBox="1"/>
          <p:nvPr/>
        </p:nvSpPr>
        <p:spPr>
          <a:xfrm>
            <a:off x="6720840" y="4270248"/>
            <a:ext cx="822960" cy="164592"/>
          </a:xfrm>
          <a:prstGeom prst="rect">
            <a:avLst/>
          </a:prstGeom>
          <a:noFill/>
          <a:ln/>
        </p:spPr>
        <p:txBody>
          <a:bodyPr wrap="square" lIns="0" tIns="0" rIns="0" bIns="0" rtlCol="0" anchor="t"/>
          <a:lstStyle/>
          <a:p>
            <a:pPr algn="ctr" indent="0" marL="0">
              <a:buNone/>
            </a:pPr>
            <a:r>
              <a:rPr lang="en-US" sz="700" dirty="0">
                <a:solidFill>
                  <a:srgbClr val="5B6B7F"/>
                </a:solidFill>
                <a:latin typeface="Courier New" pitchFamily="34" charset="0"/>
                <a:ea typeface="Courier New" pitchFamily="34" charset="-122"/>
                <a:cs typeface="Courier New" pitchFamily="34" charset="-120"/>
              </a:rPr>
              <a:t>81920</a:t>
            </a:r>
            <a:endParaRPr lang="en-US" sz="700" dirty="0"/>
          </a:p>
        </p:txBody>
      </p:sp>
      <p:sp>
        <p:nvSpPr>
          <p:cNvPr id="49" name="Text 47"/>
          <p:cNvSpPr txBox="1"/>
          <p:nvPr/>
        </p:nvSpPr>
        <p:spPr>
          <a:xfrm>
            <a:off x="448056" y="1527048"/>
            <a:ext cx="6629400"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USMP greedy_by_conflicts 결과 — 가로축 = pool 안의 offset (nibble, pool base 3096 기준)</a:t>
            </a:r>
            <a:endParaRPr lang="en-US" sz="900" dirty="0"/>
          </a:p>
        </p:txBody>
      </p:sp>
      <p:sp>
        <p:nvSpPr>
          <p:cNvPr id="50" name="Text 48"/>
          <p:cNvSpPr txBox="1"/>
          <p:nvPr/>
        </p:nvSpPr>
        <p:spPr>
          <a:xfrm>
            <a:off x="457200" y="4526280"/>
            <a:ext cx="6675120" cy="50292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같은 세로 구간을 공유하는 buffer는 conflicts 목록에 서로 없는 쌍(수명이 겹치지 않음). pinned buffer는 모든 buffer와 충돌로 취급되어 혼자 offset 0을 씁니다(SAVE가 지연되는 동안 덮어쓰기 방지).</a:t>
            </a:r>
            <a:endParaRPr lang="en-US" sz="850" dirty="0"/>
          </a:p>
        </p:txBody>
      </p:sp>
      <p:sp>
        <p:nvSpPr>
          <p:cNvPr id="51" name="Text 49"/>
          <p:cNvSpPr txBox="1"/>
          <p:nvPr/>
        </p:nvSpPr>
        <p:spPr>
          <a:xfrm>
            <a:off x="457200" y="5074920"/>
            <a:ext cx="6675120" cy="219456"/>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plan_sram 순서</a:t>
            </a:r>
            <a:endParaRPr lang="en-US" sz="950" dirty="0"/>
          </a:p>
        </p:txBody>
      </p:sp>
      <p:sp>
        <p:nvSpPr>
          <p:cNvPr id="52" name="Text 50"/>
          <p:cNvSpPr txBox="1"/>
          <p:nvPr/>
        </p:nvSpPr>
        <p:spPr>
          <a:xfrm>
            <a:off x="457200" y="5303520"/>
            <a:ext cx="6675120" cy="548640"/>
          </a:xfrm>
          <a:prstGeom prst="rect">
            <a:avLst/>
          </a:prstGeom>
          <a:noFill/>
          <a:ln/>
        </p:spPr>
        <p:txBody>
          <a:bodyPr wrap="square" lIns="0" tIns="0" rIns="0" bIns="0" rtlCol="0" anchor="t"/>
          <a:lstStyle/>
          <a:p>
            <a:pPr algn="l" indent="0" marL="0">
              <a:buNone/>
            </a:pPr>
            <a:r>
              <a:rPr lang="en-US" sz="800" dirty="0">
                <a:solidFill>
                  <a:srgbClr val="1F2D3D"/>
                </a:solidFill>
                <a:latin typeface="Courier New" pitchFamily="34" charset="0"/>
                <a:ea typeface="Courier New" pitchFamily="34" charset="-122"/>
                <a:cs typeface="Courier New" pitchFamily="34" charset="-120"/>
              </a:rPr>
              <a:t>크기(nibble, 8 정렬) → 분석 복사본(LowerMatchBuffer·LowerOpaqueBlock) → pinned 표시 → WorkspacePoolInfo + extract_buffer_info(conflicts) → greedy_by_size / greedy_by_conflicts vs bump → validate(정렬·겹침·peak) → place(cursor, capacity)</a:t>
            </a:r>
            <a:endParaRPr lang="en-US" sz="800" dirty="0"/>
          </a:p>
        </p:txBody>
      </p:sp>
      <p:sp>
        <p:nvSpPr>
          <p:cNvPr id="53" name="Text 51"/>
          <p:cNvSpPr txBox="1"/>
          <p:nvPr/>
        </p:nvSpPr>
        <p:spPr>
          <a:xfrm>
            <a:off x="7360920" y="1371600"/>
            <a:ext cx="438912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SRAM 지도 (주소 0부터 위로)</a:t>
            </a:r>
            <a:endParaRPr lang="en-US" sz="1050" dirty="0"/>
          </a:p>
        </p:txBody>
      </p:sp>
      <p:sp>
        <p:nvSpPr>
          <p:cNvPr id="54" name="Shape 52"/>
          <p:cNvSpPr/>
          <p:nvPr/>
        </p:nvSpPr>
        <p:spPr>
          <a:xfrm>
            <a:off x="7360920" y="1691640"/>
            <a:ext cx="4370832" cy="292608"/>
          </a:xfrm>
          <a:prstGeom prst="roundRect">
            <a:avLst>
              <a:gd name="adj" fmla="val 6250"/>
            </a:avLst>
          </a:prstGeom>
          <a:solidFill>
            <a:srgbClr val="EEF1F5"/>
          </a:solidFill>
          <a:ln w="12700">
            <a:solidFill>
              <a:srgbClr val="5B6B7F"/>
            </a:solidFill>
            <a:prstDash val="solid"/>
          </a:ln>
        </p:spPr>
      </p:sp>
      <p:sp>
        <p:nvSpPr>
          <p:cNvPr id="55" name="Text 53"/>
          <p:cNvSpPr txBox="1"/>
          <p:nvPr/>
        </p:nvSpPr>
        <p:spPr>
          <a:xfrm>
            <a:off x="7452360" y="1691640"/>
            <a:ext cx="4206240" cy="292608"/>
          </a:xfrm>
          <a:prstGeom prst="rect">
            <a:avLst/>
          </a:prstGeom>
          <a:noFill/>
          <a:ln/>
        </p:spPr>
        <p:txBody>
          <a:bodyPr wrap="square" lIns="0" tIns="0" rIns="0" bIns="0" rtlCol="0" anchor="ctr"/>
          <a:lstStyle/>
          <a:p>
            <a:pPr algn="l" indent="0" marL="0">
              <a:buNone/>
            </a:pPr>
            <a:r>
              <a:rPr lang="en-US" sz="900" b="1" dirty="0">
                <a:solidFill>
                  <a:srgbClr val="1F2D3D"/>
                </a:solidFill>
                <a:latin typeface="Malgun Gothic" pitchFamily="34" charset="0"/>
                <a:ea typeface="Malgun Gothic" pitchFamily="34" charset="-122"/>
                <a:cs typeface="Malgun Gothic" pitchFamily="34" charset="-120"/>
              </a:rPr>
              <a:t>FP16 literal pool (nibble 0..)</a:t>
            </a:r>
            <a:endParaRPr lang="en-US" sz="900" dirty="0"/>
          </a:p>
        </p:txBody>
      </p:sp>
      <p:sp>
        <p:nvSpPr>
          <p:cNvPr id="56" name="Shape 54"/>
          <p:cNvSpPr/>
          <p:nvPr/>
        </p:nvSpPr>
        <p:spPr>
          <a:xfrm>
            <a:off x="7360920" y="1984248"/>
            <a:ext cx="4370832" cy="201168"/>
          </a:xfrm>
          <a:prstGeom prst="roundRect">
            <a:avLst>
              <a:gd name="adj" fmla="val 9091"/>
            </a:avLst>
          </a:prstGeom>
          <a:solidFill>
            <a:srgbClr val="EEF1F5"/>
          </a:solidFill>
          <a:ln w="12700">
            <a:solidFill>
              <a:srgbClr val="5B6B7F"/>
            </a:solidFill>
            <a:prstDash val="solid"/>
          </a:ln>
        </p:spPr>
      </p:sp>
      <p:sp>
        <p:nvSpPr>
          <p:cNvPr id="57" name="Text 55"/>
          <p:cNvSpPr txBox="1"/>
          <p:nvPr/>
        </p:nvSpPr>
        <p:spPr>
          <a:xfrm>
            <a:off x="7452360" y="1984248"/>
            <a:ext cx="4206240" cy="201168"/>
          </a:xfrm>
          <a:prstGeom prst="rect">
            <a:avLst/>
          </a:prstGeom>
          <a:noFill/>
          <a:ln/>
        </p:spPr>
        <p:txBody>
          <a:bodyPr wrap="square" lIns="0" tIns="0" rIns="0" bIns="0" rtlCol="0" anchor="ctr"/>
          <a:lstStyle/>
          <a:p>
            <a:pPr algn="l" indent="0" marL="0">
              <a:buNone/>
            </a:pPr>
            <a:r>
              <a:rPr lang="en-US" sz="900" b="1" dirty="0">
                <a:solidFill>
                  <a:srgbClr val="1F2D3D"/>
                </a:solidFill>
                <a:latin typeface="Malgun Gothic" pitchFamily="34" charset="0"/>
                <a:ea typeface="Malgun Gothic" pitchFamily="34" charset="-122"/>
                <a:cs typeface="Malgun Gothic" pitchFamily="34" charset="-120"/>
              </a:rPr>
              <a:t>FP32 1.0</a:t>
            </a:r>
            <a:endParaRPr lang="en-US" sz="900" dirty="0"/>
          </a:p>
        </p:txBody>
      </p:sp>
      <p:sp>
        <p:nvSpPr>
          <p:cNvPr id="58" name="Shape 56"/>
          <p:cNvSpPr/>
          <p:nvPr/>
        </p:nvSpPr>
        <p:spPr>
          <a:xfrm>
            <a:off x="7360920" y="2185416"/>
            <a:ext cx="4370832" cy="457200"/>
          </a:xfrm>
          <a:prstGeom prst="roundRect">
            <a:avLst>
              <a:gd name="adj" fmla="val 4000"/>
            </a:avLst>
          </a:prstGeom>
          <a:solidFill>
            <a:srgbClr val="E3EEFB"/>
          </a:solidFill>
          <a:ln w="12700">
            <a:solidFill>
              <a:srgbClr val="2F6DB5"/>
            </a:solidFill>
            <a:prstDash val="solid"/>
          </a:ln>
        </p:spPr>
      </p:sp>
      <p:sp>
        <p:nvSpPr>
          <p:cNvPr id="59" name="Text 57"/>
          <p:cNvSpPr txBox="1"/>
          <p:nvPr/>
        </p:nvSpPr>
        <p:spPr>
          <a:xfrm>
            <a:off x="7452360" y="2185416"/>
            <a:ext cx="4206240" cy="457200"/>
          </a:xfrm>
          <a:prstGeom prst="rect">
            <a:avLst/>
          </a:prstGeom>
          <a:noFill/>
          <a:ln/>
        </p:spPr>
        <p:txBody>
          <a:bodyPr wrap="square" lIns="0" tIns="0" rIns="0" bIns="0" rtlCol="0" anchor="ctr"/>
          <a:lstStyle/>
          <a:p>
            <a:pPr algn="l" indent="0" marL="0">
              <a:buNone/>
            </a:pPr>
            <a:r>
              <a:rPr lang="en-US" sz="900" b="1" dirty="0">
                <a:solidFill>
                  <a:srgbClr val="1F2D3D"/>
                </a:solidFill>
                <a:latin typeface="Malgun Gothic" pitchFamily="34" charset="0"/>
                <a:ea typeface="Malgun Gothic" pitchFamily="34" charset="-122"/>
                <a:cs typeface="Malgun Gothic" pitchFamily="34" charset="-120"/>
              </a:rPr>
              <a:t>scratch 6 slots × 최대 행 × 4 nib</a:t>
            </a:r>
            <a:endParaRPr lang="en-US" sz="900" dirty="0"/>
          </a:p>
        </p:txBody>
      </p:sp>
      <p:sp>
        <p:nvSpPr>
          <p:cNvPr id="60" name="Shape 58"/>
          <p:cNvSpPr/>
          <p:nvPr/>
        </p:nvSpPr>
        <p:spPr>
          <a:xfrm>
            <a:off x="7360920" y="2642616"/>
            <a:ext cx="4370832" cy="960120"/>
          </a:xfrm>
          <a:prstGeom prst="roundRect">
            <a:avLst>
              <a:gd name="adj" fmla="val 1905"/>
            </a:avLst>
          </a:prstGeom>
          <a:solidFill>
            <a:srgbClr val="DDF3F0"/>
          </a:solidFill>
          <a:ln w="12700">
            <a:solidFill>
              <a:srgbClr val="1F8A8A"/>
            </a:solidFill>
            <a:prstDash val="solid"/>
          </a:ln>
        </p:spPr>
      </p:sp>
      <p:sp>
        <p:nvSpPr>
          <p:cNvPr id="61" name="Text 59"/>
          <p:cNvSpPr txBox="1"/>
          <p:nvPr/>
        </p:nvSpPr>
        <p:spPr>
          <a:xfrm>
            <a:off x="7452360" y="2642616"/>
            <a:ext cx="4206240" cy="960120"/>
          </a:xfrm>
          <a:prstGeom prst="rect">
            <a:avLst/>
          </a:prstGeom>
          <a:noFill/>
          <a:ln/>
        </p:spPr>
        <p:txBody>
          <a:bodyPr wrap="square" lIns="0" tIns="0" rIns="0" bIns="0" rtlCol="0" anchor="ctr"/>
          <a:lstStyle/>
          <a:p>
            <a:pPr algn="l" indent="0" marL="0">
              <a:buNone/>
            </a:pPr>
            <a:r>
              <a:rPr lang="en-US" sz="900" b="1" dirty="0">
                <a:solidFill>
                  <a:srgbClr val="1F2D3D"/>
                </a:solidFill>
                <a:latin typeface="Malgun Gothic" pitchFamily="34" charset="0"/>
                <a:ea typeface="Malgun Gothic" pitchFamily="34" charset="-122"/>
                <a:cs typeface="Malgun Gothic" pitchFamily="34" charset="-120"/>
              </a:rPr>
              <a:t>USMP pool (pool_base 3096 → 위 차트)</a:t>
            </a:r>
            <a:endParaRPr lang="en-US" sz="900" dirty="0"/>
          </a:p>
        </p:txBody>
      </p:sp>
      <p:sp>
        <p:nvSpPr>
          <p:cNvPr id="62" name="Shape 60"/>
          <p:cNvSpPr/>
          <p:nvPr/>
        </p:nvSpPr>
        <p:spPr>
          <a:xfrm>
            <a:off x="7360920" y="3602736"/>
            <a:ext cx="4370832" cy="685800"/>
          </a:xfrm>
          <a:prstGeom prst="roundRect">
            <a:avLst>
              <a:gd name="adj" fmla="val 2667"/>
            </a:avLst>
          </a:prstGeom>
          <a:solidFill>
            <a:srgbClr val="FFF6DB"/>
          </a:solidFill>
          <a:ln w="12700">
            <a:solidFill>
              <a:srgbClr val="B7791F"/>
            </a:solidFill>
            <a:prstDash val="solid"/>
          </a:ln>
        </p:spPr>
      </p:sp>
      <p:sp>
        <p:nvSpPr>
          <p:cNvPr id="63" name="Text 61"/>
          <p:cNvSpPr txBox="1"/>
          <p:nvPr/>
        </p:nvSpPr>
        <p:spPr>
          <a:xfrm>
            <a:off x="7452360" y="3602736"/>
            <a:ext cx="4206240" cy="685800"/>
          </a:xfrm>
          <a:prstGeom prst="rect">
            <a:avLst/>
          </a:prstGeom>
          <a:noFill/>
          <a:ln/>
        </p:spPr>
        <p:txBody>
          <a:bodyPr wrap="square" lIns="0" tIns="0" rIns="0" bIns="0" rtlCol="0" anchor="ctr"/>
          <a:lstStyle/>
          <a:p>
            <a:pPr algn="l" indent="0" marL="0">
              <a:buNone/>
            </a:pPr>
            <a:r>
              <a:rPr lang="en-US" sz="900" b="1" dirty="0">
                <a:solidFill>
                  <a:srgbClr val="1F2D3D"/>
                </a:solidFill>
                <a:latin typeface="Malgun Gothic" pitchFamily="34" charset="0"/>
                <a:ea typeface="Malgun Gothic" pitchFamily="34" charset="-122"/>
                <a:cs typeface="Malgun Gothic" pitchFamily="34" charset="-120"/>
              </a:rPr>
              <a:t>커널 사이 보관값 (top-down 예약)</a:t>
            </a:r>
            <a:endParaRPr lang="en-US" sz="9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7360920" y="4434840"/>
          <a:ext cx="4370832" cy="914400"/>
        </p:xfrm>
        <a:graphic>
          <a:graphicData uri="http://schemas.openxmlformats.org/drawingml/2006/table">
            <a:tbl>
              <a:tblPr/>
              <a:tblGrid>
                <a:gridCol w="1280160"/>
                <a:gridCol w="3090672"/>
              </a:tblGrid>
              <a:tr h="256032">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작은 예제 값</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56032">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pool_base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3096 nibbles = 24 + 6 × 128 × 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56032">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peak / baseline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85,016 / 150,808 nibbles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절약</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32,896 B (usmp_pressure 40,960 B)</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56032">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알고리즘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greedy_by_conflicts ("validated lifetime reuse")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65" name="Shape 62"/>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66" name="Text 63"/>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충돌하지 않는 buffer가 offset을 공유합니다. 지연된 accumulator 상태나 opaque 호출 때문에 사용이 끝났다고 단정할 수 없는 buffer는 pin해 조기 재사용을 막습니다.</a:t>
            </a:r>
            <a:endParaRPr lang="en-US" sz="1250" dirty="0"/>
          </a:p>
        </p:txBody>
      </p:sp>
      <p:sp>
        <p:nvSpPr>
          <p:cNvPr id="67" name="Text 64"/>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68" name="Text 65"/>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npu_compiler/npu_sram.py plan_sram, docs/examples/pipeline/bundle/program.json sram_layouts</a:t>
            </a:r>
            <a:endParaRPr lang="en-US" sz="850" dirty="0"/>
          </a:p>
        </p:txBody>
      </p:sp>
      <p:sp>
        <p:nvSpPr>
          <p:cNvPr id="69" name="Text 66"/>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50 / 89</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8 · 메모리 계획</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1850" b="1" dirty="0">
                <a:solidFill>
                  <a:srgbClr val="15243B"/>
                </a:solidFill>
                <a:latin typeface="Malgun Gothic" pitchFamily="34" charset="0"/>
                <a:ea typeface="Malgun Gothic" pitchFamily="34" charset="-122"/>
                <a:cs typeface="Malgun Gothic" pitchFamily="34" charset="-120"/>
              </a:rPr>
              <a:t>커널 사이 SRAM 보관 탐색: 값의 버전을 찾고, 보관 공간을 예약한 뒤, 호출별로 다시 schedule한다</a:t>
            </a:r>
            <a:endParaRPr lang="en-US" sz="185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npu_memory_search.plan_program. 보관값은 SRAM 위에서 아래로 예약되고, 커널 workspace는 그 아래 천장(cap)까지만 쓰도록 재schedule됩니다. beam width 4, all-DRAM 진행도 항상 비교. tensor 전체 보관만 있습니다.</a:t>
            </a:r>
            <a:endParaRPr lang="en-US" sz="1250" dirty="0"/>
          </a:p>
        </p:txBody>
      </p:sp>
      <p:sp>
        <p:nvSpPr>
          <p:cNvPr id="5" name="Shape 3"/>
          <p:cNvSpPr/>
          <p:nvPr/>
        </p:nvSpPr>
        <p:spPr>
          <a:xfrm>
            <a:off x="457200" y="1371600"/>
            <a:ext cx="6675120" cy="4434840"/>
          </a:xfrm>
          <a:prstGeom prst="roundRect">
            <a:avLst>
              <a:gd name="adj" fmla="val 1031"/>
            </a:avLst>
          </a:prstGeom>
          <a:solidFill>
            <a:srgbClr val="F5F7FA"/>
          </a:solidFill>
          <a:ln w="9525">
            <a:solidFill>
              <a:srgbClr val="C9D3DF"/>
            </a:solidFill>
            <a:prstDash val="solid"/>
          </a:ln>
        </p:spPr>
      </p:sp>
      <p:sp>
        <p:nvSpPr>
          <p:cNvPr id="6" name="Text 4"/>
          <p:cNvSpPr txBox="1"/>
          <p:nvPr/>
        </p:nvSpPr>
        <p:spPr>
          <a:xfrm>
            <a:off x="566928" y="1444752"/>
            <a:ext cx="6455664" cy="4288536"/>
          </a:xfrm>
          <a:prstGeom prst="rect">
            <a:avLst/>
          </a:prstGeom>
          <a:noFill/>
          <a:ln/>
        </p:spPr>
        <p:txBody>
          <a:bodyPr wrap="square" lIns="0" tIns="0" rIns="0" bIns="0" rtlCol="0" anchor="t"/>
          <a:lstStyle/>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calls, values, excluded = discover(module, plan)     # 값 = (생산 호출, 인자) 버전</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states = [(live={}, prefix=[], dma=0, words=0, peak=0)]</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for i, call in enumerate(calls):</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outs = [v for v in values if v.producer == i]; ext = []</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for (live, prefix, dma, words, peak) in states:</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R = [live]                                # 보관/비보관 조합 (≤ 2·beam)</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for v in outs: R += [r + {v: reserve(r, v.size)} for r in R if fits]</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for r in R:</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bind = SRAM 주소 (읽는 입력: live[v], 쓰는 출력: r[v])</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cap  = min(reservation addrs in r) or SRAM   # workspace 천장</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prim = parameter_scopes(call.prim, bind)       # bound param → global.sram</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recipe = _fit_kernel(prim, profile(sram_bytes=cap//2))   # 재schedule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stats  = probe(...)                           # emit (또는 cost cache)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live2 = {v in r : v.last &gt; i}                 # 마지막 소비 지나면 해제</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ext.append((live2, prefix+[choice], dma+stats.dma, words+stats.words, max(peak, top)))</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states = best per live-layout, sorted by (dma, words, peak)[:beam] (+ all-DRAM 상태)</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winner = min(states, key=(dma, words, peak))</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재emit: cost cache 재사용분을 실제 주소로 다시 생성·검증</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보관 arena를 최대 workspace peak 바로 위로 내림 → 재emit</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프로그램 수준: all-DRAM baseline과 cost 비교, 엄격히 작을 때만 채택</a:t>
            </a:r>
            <a:endParaRPr lang="en-US" sz="8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7360920" y="1371600"/>
          <a:ext cx="4370832" cy="914400"/>
        </p:xfrm>
        <a:graphic>
          <a:graphicData uri="http://schemas.openxmlformats.org/drawingml/2006/table">
            <a:tbl>
              <a:tblPr/>
              <a:tblGrid>
                <a:gridCol w="1737360"/>
                <a:gridCol w="2633472"/>
              </a:tblGrid>
              <a:tr h="310896">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discover의 보관 후보 조건</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dtype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FP16</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같은 호출에서 읽지 않음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RMW 제외</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compact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stride 없음, elem_offset 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보호 범위와 겹치지 않음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출력 tree, parameter leaf, graph 상수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이후 호출 검사</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부분 겹침/dtype 재해석 ✗, in-place ✗, 부분 덮어쓰기 ✗, 전체 덮어쓰기 = 버전 종료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8" name="Text 5"/>
          <p:cNvSpPr txBox="1"/>
          <p:nvPr/>
        </p:nvSpPr>
        <p:spPr>
          <a:xfrm>
            <a:off x="7360920" y="3337560"/>
            <a:ext cx="4370832" cy="219456"/>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SRAM 예약 방향 (두 matmul 예제, 44 KiB)</a:t>
            </a:r>
            <a:endParaRPr lang="en-US" sz="950" dirty="0"/>
          </a:p>
        </p:txBody>
      </p:sp>
      <p:sp>
        <p:nvSpPr>
          <p:cNvPr id="9" name="Shape 6"/>
          <p:cNvSpPr/>
          <p:nvPr/>
        </p:nvSpPr>
        <p:spPr>
          <a:xfrm>
            <a:off x="7452360" y="5718658"/>
            <a:ext cx="868680" cy="87782"/>
          </a:xfrm>
          <a:prstGeom prst="roundRect">
            <a:avLst>
              <a:gd name="adj" fmla="val 20833"/>
            </a:avLst>
          </a:prstGeom>
          <a:solidFill>
            <a:srgbClr val="EEF1F5"/>
          </a:solidFill>
          <a:ln w="12700">
            <a:solidFill>
              <a:srgbClr val="5B6B7F"/>
            </a:solidFill>
            <a:prstDash val="solid"/>
          </a:ln>
        </p:spPr>
      </p:sp>
      <p:sp>
        <p:nvSpPr>
          <p:cNvPr id="10" name="Shape 7"/>
          <p:cNvSpPr/>
          <p:nvPr/>
        </p:nvSpPr>
        <p:spPr>
          <a:xfrm>
            <a:off x="7452360" y="4511650"/>
            <a:ext cx="868680" cy="1207008"/>
          </a:xfrm>
          <a:prstGeom prst="roundRect">
            <a:avLst>
              <a:gd name="adj" fmla="val 2105"/>
            </a:avLst>
          </a:prstGeom>
          <a:solidFill>
            <a:srgbClr val="DDF3F0"/>
          </a:solidFill>
          <a:ln w="12700">
            <a:solidFill>
              <a:srgbClr val="1F8A8A"/>
            </a:solidFill>
            <a:prstDash val="solid"/>
          </a:ln>
        </p:spPr>
      </p:sp>
      <p:sp>
        <p:nvSpPr>
          <p:cNvPr id="11" name="Text 8"/>
          <p:cNvSpPr txBox="1"/>
          <p:nvPr/>
        </p:nvSpPr>
        <p:spPr>
          <a:xfrm>
            <a:off x="7479792" y="4511650"/>
            <a:ext cx="813816" cy="120700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커널 workspace</a:t>
            </a:r>
            <a:endParaRPr lang="en-US" sz="600" dirty="0"/>
          </a:p>
          <a:p>
            <a:pPr algn="ctr" indent="0" marL="0">
              <a:buNone/>
            </a:pPr>
            <a:r>
              <a:rPr lang="en-US" sz="600" dirty="0">
                <a:solidFill>
                  <a:srgbClr val="1F2D3D"/>
                </a:solidFill>
                <a:latin typeface="Malgun Gothic" pitchFamily="34" charset="0"/>
                <a:ea typeface="Malgun Gothic" pitchFamily="34" charset="-122"/>
                <a:cs typeface="Malgun Gothic" pitchFamily="34" charset="-120"/>
              </a:rPr>
              <a:t>(USMP pool)</a:t>
            </a:r>
            <a:endParaRPr lang="en-US" sz="600" dirty="0"/>
          </a:p>
          <a:p>
            <a:pPr algn="ctr" indent="0" marL="0">
              <a:buNone/>
            </a:pPr>
            <a:r>
              <a:rPr lang="en-US" sz="600" dirty="0">
                <a:solidFill>
                  <a:srgbClr val="1F2D3D"/>
                </a:solidFill>
                <a:latin typeface="Malgun Gothic" pitchFamily="34" charset="0"/>
                <a:ea typeface="Malgun Gothic" pitchFamily="34" charset="-122"/>
                <a:cs typeface="Malgun Gothic" pitchFamily="34" charset="-120"/>
              </a:rPr>
              <a:t>X·W1 → 26,124 B</a:t>
            </a:r>
            <a:endParaRPr lang="en-US" sz="600" dirty="0"/>
          </a:p>
        </p:txBody>
      </p:sp>
      <p:sp>
        <p:nvSpPr>
          <p:cNvPr id="12" name="Shape 9"/>
          <p:cNvSpPr/>
          <p:nvPr/>
        </p:nvSpPr>
        <p:spPr>
          <a:xfrm>
            <a:off x="7452360" y="4423867"/>
            <a:ext cx="868680" cy="87782"/>
          </a:xfrm>
          <a:prstGeom prst="roundRect">
            <a:avLst>
              <a:gd name="adj" fmla="val 20833"/>
            </a:avLst>
          </a:prstGeom>
          <a:solidFill>
            <a:srgbClr val="EEF2F6"/>
          </a:solidFill>
          <a:ln w="12700">
            <a:solidFill>
              <a:srgbClr val="C9D3DF"/>
            </a:solidFill>
            <a:prstDash val="solid"/>
          </a:ln>
        </p:spPr>
      </p:sp>
      <p:sp>
        <p:nvSpPr>
          <p:cNvPr id="13" name="Shape 10"/>
          <p:cNvSpPr/>
          <p:nvPr/>
        </p:nvSpPr>
        <p:spPr>
          <a:xfrm>
            <a:off x="7452360" y="3743554"/>
            <a:ext cx="868680" cy="680314"/>
          </a:xfrm>
          <a:prstGeom prst="roundRect">
            <a:avLst>
              <a:gd name="adj" fmla="val 2688"/>
            </a:avLst>
          </a:prstGeom>
          <a:solidFill>
            <a:srgbClr val="FFF6DB"/>
          </a:solidFill>
          <a:ln w="12700">
            <a:solidFill>
              <a:srgbClr val="B7791F"/>
            </a:solidFill>
            <a:prstDash val="solid"/>
          </a:ln>
        </p:spPr>
      </p:sp>
      <p:sp>
        <p:nvSpPr>
          <p:cNvPr id="14" name="Text 11"/>
          <p:cNvSpPr txBox="1"/>
          <p:nvPr/>
        </p:nvSpPr>
        <p:spPr>
          <a:xfrm>
            <a:off x="7479792" y="3743554"/>
            <a:ext cx="813816" cy="680314"/>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보관값 H</a:t>
            </a:r>
            <a:endParaRPr lang="en-US" sz="600" dirty="0"/>
          </a:p>
          <a:p>
            <a:pPr algn="ctr" indent="0" marL="0">
              <a:buNone/>
            </a:pPr>
            <a:r>
              <a:rPr lang="en-US" sz="600" dirty="0">
                <a:solidFill>
                  <a:srgbClr val="1F2D3D"/>
                </a:solidFill>
                <a:latin typeface="Malgun Gothic" pitchFamily="34" charset="0"/>
                <a:ea typeface="Malgun Gothic" pitchFamily="34" charset="-122"/>
                <a:cs typeface="Malgun Gothic" pitchFamily="34" charset="-120"/>
              </a:rPr>
              <a:t>26,124 – 42,508</a:t>
            </a:r>
            <a:endParaRPr lang="en-US" sz="600" dirty="0"/>
          </a:p>
          <a:p>
            <a:pPr algn="ctr" indent="0" marL="0">
              <a:buNone/>
            </a:pPr>
            <a:r>
              <a:rPr lang="en-US" sz="600" dirty="0">
                <a:solidFill>
                  <a:srgbClr val="1F2D3D"/>
                </a:solidFill>
                <a:latin typeface="Malgun Gothic" pitchFamily="34" charset="0"/>
                <a:ea typeface="Malgun Gothic" pitchFamily="34" charset="-122"/>
                <a:cs typeface="Malgun Gothic" pitchFamily="34" charset="-120"/>
              </a:rPr>
              <a:t>(16,384 B)</a:t>
            </a:r>
            <a:endParaRPr lang="en-US" sz="600" dirty="0"/>
          </a:p>
        </p:txBody>
      </p:sp>
      <p:sp>
        <p:nvSpPr>
          <p:cNvPr id="15" name="Shape 12"/>
          <p:cNvSpPr/>
          <p:nvPr/>
        </p:nvSpPr>
        <p:spPr>
          <a:xfrm>
            <a:off x="7452360" y="3611880"/>
            <a:ext cx="868680" cy="131674"/>
          </a:xfrm>
          <a:prstGeom prst="roundRect">
            <a:avLst>
              <a:gd name="adj" fmla="val 13889"/>
            </a:avLst>
          </a:prstGeom>
          <a:solidFill>
            <a:srgbClr val="EEF2F6"/>
          </a:solidFill>
          <a:ln w="12700">
            <a:solidFill>
              <a:srgbClr val="C9D3DF"/>
            </a:solidFill>
            <a:prstDash val="solid"/>
          </a:ln>
        </p:spPr>
      </p:sp>
      <p:sp>
        <p:nvSpPr>
          <p:cNvPr id="16" name="Text 13"/>
          <p:cNvSpPr txBox="1"/>
          <p:nvPr/>
        </p:nvSpPr>
        <p:spPr>
          <a:xfrm>
            <a:off x="8412480" y="3611880"/>
            <a:ext cx="3200400" cy="457200"/>
          </a:xfrm>
          <a:prstGeom prst="rect">
            <a:avLst/>
          </a:prstGeom>
          <a:noFill/>
          <a:ln/>
        </p:spPr>
        <p:txBody>
          <a:bodyPr wrap="square" lIns="0" tIns="0" rIns="0" bIns="0" rtlCol="0" anchor="t"/>
          <a:lstStyle/>
          <a:p>
            <a:pPr algn="l" indent="0" marL="0">
              <a:buNone/>
            </a:pPr>
            <a:r>
              <a:rPr lang="en-US" sz="750" dirty="0">
                <a:solidFill>
                  <a:srgbClr val="B7791F"/>
                </a:solidFill>
                <a:latin typeface="Malgun Gothic" pitchFamily="34" charset="0"/>
                <a:ea typeface="Malgun Gothic" pitchFamily="34" charset="-122"/>
                <a:cs typeface="Malgun Gothic" pitchFamily="34" charset="-120"/>
              </a:rPr>
              <a:t>↑ 위: 보관값이 top-down first-fit로 예약 (8-nibble 정렬). 이 예제는 arena를 workspace peak 바로 위(26,124)로 내림</a:t>
            </a:r>
            <a:endParaRPr lang="en-US" sz="750" dirty="0"/>
          </a:p>
        </p:txBody>
      </p:sp>
      <p:sp>
        <p:nvSpPr>
          <p:cNvPr id="17" name="Text 14"/>
          <p:cNvSpPr txBox="1"/>
          <p:nvPr/>
        </p:nvSpPr>
        <p:spPr>
          <a:xfrm>
            <a:off x="8412480" y="4480560"/>
            <a:ext cx="3200400" cy="45720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cap = min(예약 주소) → profile.sram_bytes = cap/2 로 커널 재schedule</a:t>
            </a:r>
            <a:endParaRPr lang="en-US" sz="750" dirty="0"/>
          </a:p>
        </p:txBody>
      </p:sp>
      <p:sp>
        <p:nvSpPr>
          <p:cNvPr id="18" name="Text 15"/>
          <p:cNvSpPr txBox="1"/>
          <p:nvPr/>
        </p:nvSpPr>
        <p:spPr>
          <a:xfrm>
            <a:off x="8412480" y="4983480"/>
            <a:ext cx="3200400" cy="548640"/>
          </a:xfrm>
          <a:prstGeom prst="rect">
            <a:avLst/>
          </a:prstGeom>
          <a:noFill/>
          <a:ln/>
        </p:spPr>
        <p:txBody>
          <a:bodyPr wrap="square" lIns="0" tIns="0" rIns="0" bIns="0" rtlCol="0" anchor="t"/>
          <a:lstStyle/>
          <a:p>
            <a:pPr algn="l" indent="0" marL="0">
              <a:buNone/>
            </a:pPr>
            <a:r>
              <a:rPr lang="en-US" sz="750" dirty="0">
                <a:solidFill>
                  <a:srgbClr val="1F8A8A"/>
                </a:solidFill>
                <a:latin typeface="Malgun Gothic" pitchFamily="34" charset="0"/>
                <a:ea typeface="Malgun Gothic" pitchFamily="34" charset="-122"/>
                <a:cs typeface="Malgun Gothic" pitchFamily="34" charset="-120"/>
              </a:rPr>
              <a:t>↓ 아래: 커널 workspace (scratch + USMP pool). 보관 parameter가 workspace와 겹치면 LinkError</a:t>
            </a:r>
            <a:endParaRPr lang="en-US" sz="750" dirty="0"/>
          </a:p>
        </p:txBody>
      </p:sp>
      <p:sp>
        <p:nvSpPr>
          <p:cNvPr id="19" name="Text 16"/>
          <p:cNvSpPr txBox="1"/>
          <p:nvPr/>
        </p:nvSpPr>
        <p:spPr>
          <a:xfrm>
            <a:off x="7360920" y="3593592"/>
            <a:ext cx="91440" cy="182880"/>
          </a:xfrm>
          <a:prstGeom prst="rect">
            <a:avLst/>
          </a:prstGeom>
          <a:noFill/>
          <a:ln/>
        </p:spPr>
        <p:txBody>
          <a:bodyPr wrap="square" lIns="0" tIns="0" rIns="0" bIns="0" rtlCol="0" anchor="t"/>
          <a:lstStyle/>
          <a:p>
            <a:pPr algn="l" indent="0" marL="0">
              <a:buNone/>
            </a:pPr>
            <a:endParaRPr lang="en-US" sz="600" dirty="0"/>
          </a:p>
        </p:txBody>
      </p:sp>
      <p:sp>
        <p:nvSpPr>
          <p:cNvPr id="20" name="Text 17"/>
          <p:cNvSpPr txBox="1"/>
          <p:nvPr/>
        </p:nvSpPr>
        <p:spPr>
          <a:xfrm>
            <a:off x="8412480" y="5532120"/>
            <a:ext cx="3200400" cy="274320"/>
          </a:xfrm>
          <a:prstGeom prst="rect">
            <a:avLst/>
          </a:prstGeom>
          <a:noFill/>
          <a:ln/>
        </p:spPr>
        <p:txBody>
          <a:bodyPr wrap="square" lIns="0" tIns="0" rIns="0" bIns="0" rtlCol="0" anchor="t"/>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beam 4 + all-DRAM 상태 유지 · residency=True, snapshot 없음, w8a8 tir일 때만</a:t>
            </a:r>
            <a:endParaRPr lang="en-US" sz="700" dirty="0"/>
          </a:p>
        </p:txBody>
      </p:sp>
      <p:sp>
        <p:nvSpPr>
          <p:cNvPr id="21" name="Shape 18"/>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22" name="Text 19"/>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보관하지 못하면 DRAM 경로를 쓰므로 큰 activation이 곧 컴파일 불가는 아닙니다. 보관은 이득이 실제 비용으로 확인될 때만 채택됩니다.</a:t>
            </a:r>
            <a:endParaRPr lang="en-US" sz="1250" dirty="0"/>
          </a:p>
        </p:txBody>
      </p:sp>
      <p:sp>
        <p:nvSpPr>
          <p:cNvPr id="23" name="Text 20"/>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24" name="Text 21"/>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npu_compiler/npu_memory_search.py (discover, reserve, parameter_scopes, plan_program)</a:t>
            </a:r>
            <a:endParaRPr lang="en-US" sz="850" dirty="0"/>
          </a:p>
        </p:txBody>
      </p:sp>
      <p:sp>
        <p:nvSpPr>
          <p:cNvPr id="25" name="Text 22"/>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51 / 89</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8 · 메모리 계획</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작은 예제 ②: 두 matmul이 SRAM 44 KiB에서 H를 공유하는 실제 주소</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X[64,64] @ W1[64,128] → H[64,128]; H @ W2[128,64] → Y[64,64]. 단위 bytes. H는 DRAM에 저장되지 않고 두 번째 matmul이 이 위치를 직접 읽습니다.</a:t>
            </a:r>
            <a:endParaRPr lang="en-US" sz="1250" dirty="0"/>
          </a:p>
        </p:txBody>
      </p:sp>
      <p:sp>
        <p:nvSpPr>
          <p:cNvPr id="5" name="Text 3"/>
          <p:cNvSpPr txBox="1"/>
          <p:nvPr/>
        </p:nvSpPr>
        <p:spPr>
          <a:xfrm>
            <a:off x="457200" y="141732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커널 1: H 생성 (matmul)</a:t>
            </a:r>
            <a:endParaRPr lang="en-US" sz="1100" dirty="0"/>
          </a:p>
        </p:txBody>
      </p:sp>
      <p:sp>
        <p:nvSpPr>
          <p:cNvPr id="6" name="Shape 4"/>
          <p:cNvSpPr/>
          <p:nvPr/>
        </p:nvSpPr>
        <p:spPr>
          <a:xfrm>
            <a:off x="457200" y="1737360"/>
            <a:ext cx="11274552" cy="640080"/>
          </a:xfrm>
          <a:prstGeom prst="rect">
            <a:avLst/>
          </a:prstGeom>
          <a:solidFill>
            <a:srgbClr val="EEF2F6"/>
          </a:solidFill>
          <a:ln w="9525">
            <a:solidFill>
              <a:srgbClr val="C9D3DF"/>
            </a:solidFill>
            <a:prstDash val="solid"/>
          </a:ln>
        </p:spPr>
      </p:sp>
      <p:sp>
        <p:nvSpPr>
          <p:cNvPr id="7" name="Shape 5"/>
          <p:cNvSpPr/>
          <p:nvPr/>
        </p:nvSpPr>
        <p:spPr>
          <a:xfrm>
            <a:off x="457200" y="1737360"/>
            <a:ext cx="387363" cy="640080"/>
          </a:xfrm>
          <a:prstGeom prst="rect">
            <a:avLst/>
          </a:prstGeom>
          <a:solidFill>
            <a:srgbClr val="EEF1F5"/>
          </a:solidFill>
          <a:ln w="12700">
            <a:solidFill>
              <a:srgbClr val="5B6B7F"/>
            </a:solidFill>
            <a:prstDash val="solid"/>
          </a:ln>
        </p:spPr>
      </p:sp>
      <p:sp>
        <p:nvSpPr>
          <p:cNvPr id="8" name="Text 6"/>
          <p:cNvSpPr txBox="1"/>
          <p:nvPr/>
        </p:nvSpPr>
        <p:spPr>
          <a:xfrm>
            <a:off x="457200" y="1737360"/>
            <a:ext cx="387363" cy="352044"/>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pool</a:t>
            </a:r>
            <a:endParaRPr lang="en-US" sz="1000" dirty="0"/>
          </a:p>
        </p:txBody>
      </p:sp>
      <p:sp>
        <p:nvSpPr>
          <p:cNvPr id="9" name="Text 7"/>
          <p:cNvSpPr txBox="1"/>
          <p:nvPr/>
        </p:nvSpPr>
        <p:spPr>
          <a:xfrm>
            <a:off x="457200" y="2057400"/>
            <a:ext cx="387363" cy="288036"/>
          </a:xfrm>
          <a:prstGeom prst="rect">
            <a:avLst/>
          </a:prstGeom>
          <a:noFill/>
          <a:ln/>
        </p:spPr>
        <p:txBody>
          <a:bodyPr wrap="square" lIns="0" tIns="0" rIns="0" bIns="0" rtlCol="0" anchor="ctr"/>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literal·scratch</a:t>
            </a:r>
            <a:endParaRPr lang="en-US" sz="800" dirty="0"/>
          </a:p>
        </p:txBody>
      </p:sp>
      <p:sp>
        <p:nvSpPr>
          <p:cNvPr id="10" name="Shape 8"/>
          <p:cNvSpPr/>
          <p:nvPr/>
        </p:nvSpPr>
        <p:spPr>
          <a:xfrm>
            <a:off x="844563" y="1737360"/>
            <a:ext cx="2049919" cy="640080"/>
          </a:xfrm>
          <a:prstGeom prst="rect">
            <a:avLst/>
          </a:prstGeom>
          <a:solidFill>
            <a:srgbClr val="DDF3F0"/>
          </a:solidFill>
          <a:ln w="12700">
            <a:solidFill>
              <a:srgbClr val="1F8A8A"/>
            </a:solidFill>
            <a:prstDash val="solid"/>
          </a:ln>
        </p:spPr>
      </p:sp>
      <p:sp>
        <p:nvSpPr>
          <p:cNvPr id="11" name="Text 9"/>
          <p:cNvSpPr txBox="1"/>
          <p:nvPr/>
        </p:nvSpPr>
        <p:spPr>
          <a:xfrm>
            <a:off x="844563" y="1737360"/>
            <a:ext cx="2049919" cy="352044"/>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X</a:t>
            </a:r>
            <a:endParaRPr lang="en-US" sz="1000" dirty="0"/>
          </a:p>
        </p:txBody>
      </p:sp>
      <p:sp>
        <p:nvSpPr>
          <p:cNvPr id="12" name="Text 10"/>
          <p:cNvSpPr txBox="1"/>
          <p:nvPr/>
        </p:nvSpPr>
        <p:spPr>
          <a:xfrm>
            <a:off x="844563" y="2057400"/>
            <a:ext cx="2049919" cy="288036"/>
          </a:xfrm>
          <a:prstGeom prst="rect">
            <a:avLst/>
          </a:prstGeom>
          <a:noFill/>
          <a:ln/>
        </p:spPr>
        <p:txBody>
          <a:bodyPr wrap="square" lIns="0" tIns="0" rIns="0" bIns="0" rtlCol="0" anchor="ctr"/>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8,192 B</a:t>
            </a:r>
            <a:endParaRPr lang="en-US" sz="800" dirty="0"/>
          </a:p>
        </p:txBody>
      </p:sp>
      <p:sp>
        <p:nvSpPr>
          <p:cNvPr id="13" name="Shape 11"/>
          <p:cNvSpPr/>
          <p:nvPr/>
        </p:nvSpPr>
        <p:spPr>
          <a:xfrm>
            <a:off x="2894481" y="1737360"/>
            <a:ext cx="4099837" cy="640080"/>
          </a:xfrm>
          <a:prstGeom prst="rect">
            <a:avLst/>
          </a:prstGeom>
          <a:solidFill>
            <a:srgbClr val="FFF1DC"/>
          </a:solidFill>
          <a:ln w="12700">
            <a:solidFill>
              <a:srgbClr val="D98A1E"/>
            </a:solidFill>
            <a:prstDash val="solid"/>
          </a:ln>
        </p:spPr>
      </p:sp>
      <p:sp>
        <p:nvSpPr>
          <p:cNvPr id="14" name="Text 12"/>
          <p:cNvSpPr txBox="1"/>
          <p:nvPr/>
        </p:nvSpPr>
        <p:spPr>
          <a:xfrm>
            <a:off x="2894481" y="1737360"/>
            <a:ext cx="4099837" cy="352044"/>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W1</a:t>
            </a:r>
            <a:endParaRPr lang="en-US" sz="1000" dirty="0"/>
          </a:p>
        </p:txBody>
      </p:sp>
      <p:sp>
        <p:nvSpPr>
          <p:cNvPr id="15" name="Text 13"/>
          <p:cNvSpPr txBox="1"/>
          <p:nvPr/>
        </p:nvSpPr>
        <p:spPr>
          <a:xfrm>
            <a:off x="2894481" y="2057400"/>
            <a:ext cx="4099837" cy="288036"/>
          </a:xfrm>
          <a:prstGeom prst="rect">
            <a:avLst/>
          </a:prstGeom>
          <a:noFill/>
          <a:ln/>
        </p:spPr>
        <p:txBody>
          <a:bodyPr wrap="square" lIns="0" tIns="0" rIns="0" bIns="0" rtlCol="0" anchor="ctr"/>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16,384 B</a:t>
            </a:r>
            <a:endParaRPr lang="en-US" sz="800" dirty="0"/>
          </a:p>
        </p:txBody>
      </p:sp>
      <p:sp>
        <p:nvSpPr>
          <p:cNvPr id="16" name="Shape 14"/>
          <p:cNvSpPr/>
          <p:nvPr/>
        </p:nvSpPr>
        <p:spPr>
          <a:xfrm>
            <a:off x="6994318" y="1737360"/>
            <a:ext cx="4099837" cy="640080"/>
          </a:xfrm>
          <a:prstGeom prst="rect">
            <a:avLst/>
          </a:prstGeom>
          <a:solidFill>
            <a:srgbClr val="ECE6FA"/>
          </a:solidFill>
          <a:ln w="12700">
            <a:solidFill>
              <a:srgbClr val="6C4FBF"/>
            </a:solidFill>
            <a:prstDash val="solid"/>
          </a:ln>
        </p:spPr>
      </p:sp>
      <p:sp>
        <p:nvSpPr>
          <p:cNvPr id="17" name="Text 15"/>
          <p:cNvSpPr txBox="1"/>
          <p:nvPr/>
        </p:nvSpPr>
        <p:spPr>
          <a:xfrm>
            <a:off x="6994318" y="1737360"/>
            <a:ext cx="4099837" cy="352044"/>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H (보관)</a:t>
            </a:r>
            <a:endParaRPr lang="en-US" sz="1000" dirty="0"/>
          </a:p>
        </p:txBody>
      </p:sp>
      <p:sp>
        <p:nvSpPr>
          <p:cNvPr id="18" name="Text 16"/>
          <p:cNvSpPr txBox="1"/>
          <p:nvPr/>
        </p:nvSpPr>
        <p:spPr>
          <a:xfrm>
            <a:off x="6994318" y="2057400"/>
            <a:ext cx="4099837" cy="288036"/>
          </a:xfrm>
          <a:prstGeom prst="rect">
            <a:avLst/>
          </a:prstGeom>
          <a:noFill/>
          <a:ln/>
        </p:spPr>
        <p:txBody>
          <a:bodyPr wrap="square" lIns="0" tIns="0" rIns="0" bIns="0" rtlCol="0" anchor="ctr"/>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16,384 B, 직접 SAVE</a:t>
            </a:r>
            <a:endParaRPr lang="en-US" sz="800" dirty="0"/>
          </a:p>
        </p:txBody>
      </p:sp>
      <p:sp>
        <p:nvSpPr>
          <p:cNvPr id="19" name="Shape 17"/>
          <p:cNvSpPr/>
          <p:nvPr/>
        </p:nvSpPr>
        <p:spPr>
          <a:xfrm>
            <a:off x="457200" y="2377440"/>
            <a:ext cx="914" cy="73152"/>
          </a:xfrm>
          <a:prstGeom prst="line">
            <a:avLst/>
          </a:prstGeom>
          <a:noFill/>
          <a:ln w="9525">
            <a:solidFill>
              <a:srgbClr val="5B6B7F"/>
            </a:solidFill>
            <a:prstDash val="solid"/>
          </a:ln>
        </p:spPr>
      </p:sp>
      <p:sp>
        <p:nvSpPr>
          <p:cNvPr id="20" name="Text 18"/>
          <p:cNvSpPr txBox="1"/>
          <p:nvPr/>
        </p:nvSpPr>
        <p:spPr>
          <a:xfrm>
            <a:off x="0" y="245973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0</a:t>
            </a:r>
            <a:endParaRPr lang="en-US" sz="800" dirty="0"/>
          </a:p>
        </p:txBody>
      </p:sp>
      <p:sp>
        <p:nvSpPr>
          <p:cNvPr id="21" name="Shape 19"/>
          <p:cNvSpPr/>
          <p:nvPr/>
        </p:nvSpPr>
        <p:spPr>
          <a:xfrm>
            <a:off x="844563" y="2377440"/>
            <a:ext cx="914" cy="73152"/>
          </a:xfrm>
          <a:prstGeom prst="line">
            <a:avLst/>
          </a:prstGeom>
          <a:noFill/>
          <a:ln w="9525">
            <a:solidFill>
              <a:srgbClr val="5B6B7F"/>
            </a:solidFill>
            <a:prstDash val="solid"/>
          </a:ln>
        </p:spPr>
      </p:sp>
      <p:sp>
        <p:nvSpPr>
          <p:cNvPr id="22" name="Text 20"/>
          <p:cNvSpPr txBox="1"/>
          <p:nvPr/>
        </p:nvSpPr>
        <p:spPr>
          <a:xfrm>
            <a:off x="387363" y="245973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1548</a:t>
            </a:r>
            <a:endParaRPr lang="en-US" sz="800" dirty="0"/>
          </a:p>
        </p:txBody>
      </p:sp>
      <p:sp>
        <p:nvSpPr>
          <p:cNvPr id="23" name="Shape 21"/>
          <p:cNvSpPr/>
          <p:nvPr/>
        </p:nvSpPr>
        <p:spPr>
          <a:xfrm>
            <a:off x="2894481" y="2377440"/>
            <a:ext cx="914" cy="73152"/>
          </a:xfrm>
          <a:prstGeom prst="line">
            <a:avLst/>
          </a:prstGeom>
          <a:noFill/>
          <a:ln w="9525">
            <a:solidFill>
              <a:srgbClr val="5B6B7F"/>
            </a:solidFill>
            <a:prstDash val="solid"/>
          </a:ln>
        </p:spPr>
      </p:sp>
      <p:sp>
        <p:nvSpPr>
          <p:cNvPr id="24" name="Text 22"/>
          <p:cNvSpPr txBox="1"/>
          <p:nvPr/>
        </p:nvSpPr>
        <p:spPr>
          <a:xfrm>
            <a:off x="2437281" y="245973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9740</a:t>
            </a:r>
            <a:endParaRPr lang="en-US" sz="800" dirty="0"/>
          </a:p>
        </p:txBody>
      </p:sp>
      <p:sp>
        <p:nvSpPr>
          <p:cNvPr id="25" name="Shape 23"/>
          <p:cNvSpPr/>
          <p:nvPr/>
        </p:nvSpPr>
        <p:spPr>
          <a:xfrm>
            <a:off x="6994318" y="2377440"/>
            <a:ext cx="914" cy="73152"/>
          </a:xfrm>
          <a:prstGeom prst="line">
            <a:avLst/>
          </a:prstGeom>
          <a:noFill/>
          <a:ln w="9525">
            <a:solidFill>
              <a:srgbClr val="5B6B7F"/>
            </a:solidFill>
            <a:prstDash val="solid"/>
          </a:ln>
        </p:spPr>
      </p:sp>
      <p:sp>
        <p:nvSpPr>
          <p:cNvPr id="26" name="Text 24"/>
          <p:cNvSpPr txBox="1"/>
          <p:nvPr/>
        </p:nvSpPr>
        <p:spPr>
          <a:xfrm>
            <a:off x="6537118" y="245973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26124</a:t>
            </a:r>
            <a:endParaRPr lang="en-US" sz="800" dirty="0"/>
          </a:p>
        </p:txBody>
      </p:sp>
      <p:sp>
        <p:nvSpPr>
          <p:cNvPr id="27" name="Shape 25"/>
          <p:cNvSpPr/>
          <p:nvPr/>
        </p:nvSpPr>
        <p:spPr>
          <a:xfrm>
            <a:off x="11094155" y="2377440"/>
            <a:ext cx="914" cy="73152"/>
          </a:xfrm>
          <a:prstGeom prst="line">
            <a:avLst/>
          </a:prstGeom>
          <a:noFill/>
          <a:ln w="9525">
            <a:solidFill>
              <a:srgbClr val="5B6B7F"/>
            </a:solidFill>
            <a:prstDash val="solid"/>
          </a:ln>
        </p:spPr>
      </p:sp>
      <p:sp>
        <p:nvSpPr>
          <p:cNvPr id="28" name="Text 26"/>
          <p:cNvSpPr txBox="1"/>
          <p:nvPr/>
        </p:nvSpPr>
        <p:spPr>
          <a:xfrm>
            <a:off x="10636955" y="245973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42508</a:t>
            </a:r>
            <a:endParaRPr lang="en-US" sz="800" dirty="0"/>
          </a:p>
        </p:txBody>
      </p:sp>
      <p:sp>
        <p:nvSpPr>
          <p:cNvPr id="29" name="Shape 27"/>
          <p:cNvSpPr/>
          <p:nvPr/>
        </p:nvSpPr>
        <p:spPr>
          <a:xfrm>
            <a:off x="11731752" y="2377440"/>
            <a:ext cx="914" cy="73152"/>
          </a:xfrm>
          <a:prstGeom prst="line">
            <a:avLst/>
          </a:prstGeom>
          <a:noFill/>
          <a:ln w="9525">
            <a:solidFill>
              <a:srgbClr val="5B6B7F"/>
            </a:solidFill>
            <a:prstDash val="solid"/>
          </a:ln>
        </p:spPr>
      </p:sp>
      <p:sp>
        <p:nvSpPr>
          <p:cNvPr id="30" name="Text 28"/>
          <p:cNvSpPr txBox="1"/>
          <p:nvPr/>
        </p:nvSpPr>
        <p:spPr>
          <a:xfrm>
            <a:off x="11274552" y="245973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45056</a:t>
            </a:r>
            <a:endParaRPr lang="en-US" sz="800" dirty="0"/>
          </a:p>
        </p:txBody>
      </p:sp>
      <p:sp>
        <p:nvSpPr>
          <p:cNvPr id="31" name="Text 29"/>
          <p:cNvSpPr txBox="1"/>
          <p:nvPr/>
        </p:nvSpPr>
        <p:spPr>
          <a:xfrm>
            <a:off x="457200" y="288036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커널 2: H 사용 (matmul1)</a:t>
            </a:r>
            <a:endParaRPr lang="en-US" sz="1100" dirty="0"/>
          </a:p>
        </p:txBody>
      </p:sp>
      <p:sp>
        <p:nvSpPr>
          <p:cNvPr id="32" name="Shape 30"/>
          <p:cNvSpPr/>
          <p:nvPr/>
        </p:nvSpPr>
        <p:spPr>
          <a:xfrm>
            <a:off x="457200" y="3200400"/>
            <a:ext cx="11274552" cy="640080"/>
          </a:xfrm>
          <a:prstGeom prst="rect">
            <a:avLst/>
          </a:prstGeom>
          <a:solidFill>
            <a:srgbClr val="EEF2F6"/>
          </a:solidFill>
          <a:ln w="9525">
            <a:solidFill>
              <a:srgbClr val="C9D3DF"/>
            </a:solidFill>
            <a:prstDash val="solid"/>
          </a:ln>
        </p:spPr>
      </p:sp>
      <p:sp>
        <p:nvSpPr>
          <p:cNvPr id="33" name="Shape 31"/>
          <p:cNvSpPr/>
          <p:nvPr/>
        </p:nvSpPr>
        <p:spPr>
          <a:xfrm>
            <a:off x="457200" y="3200400"/>
            <a:ext cx="387363" cy="640080"/>
          </a:xfrm>
          <a:prstGeom prst="rect">
            <a:avLst/>
          </a:prstGeom>
          <a:solidFill>
            <a:srgbClr val="EEF1F5"/>
          </a:solidFill>
          <a:ln w="12700">
            <a:solidFill>
              <a:srgbClr val="5B6B7F"/>
            </a:solidFill>
            <a:prstDash val="solid"/>
          </a:ln>
        </p:spPr>
      </p:sp>
      <p:sp>
        <p:nvSpPr>
          <p:cNvPr id="34" name="Text 32"/>
          <p:cNvSpPr txBox="1"/>
          <p:nvPr/>
        </p:nvSpPr>
        <p:spPr>
          <a:xfrm>
            <a:off x="457200" y="3200400"/>
            <a:ext cx="387363" cy="640080"/>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pool</a:t>
            </a:r>
            <a:endParaRPr lang="en-US" sz="1000" dirty="0"/>
          </a:p>
        </p:txBody>
      </p:sp>
      <p:sp>
        <p:nvSpPr>
          <p:cNvPr id="35" name="Shape 33"/>
          <p:cNvSpPr/>
          <p:nvPr/>
        </p:nvSpPr>
        <p:spPr>
          <a:xfrm>
            <a:off x="844563" y="3200400"/>
            <a:ext cx="2049919" cy="640080"/>
          </a:xfrm>
          <a:prstGeom prst="rect">
            <a:avLst/>
          </a:prstGeom>
          <a:solidFill>
            <a:srgbClr val="DDF3F0"/>
          </a:solidFill>
          <a:ln w="12700">
            <a:solidFill>
              <a:srgbClr val="1F8A8A"/>
            </a:solidFill>
            <a:prstDash val="solid"/>
          </a:ln>
        </p:spPr>
      </p:sp>
      <p:sp>
        <p:nvSpPr>
          <p:cNvPr id="36" name="Text 34"/>
          <p:cNvSpPr txBox="1"/>
          <p:nvPr/>
        </p:nvSpPr>
        <p:spPr>
          <a:xfrm>
            <a:off x="844563" y="3200400"/>
            <a:ext cx="2049919" cy="352044"/>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Y 작업 공간</a:t>
            </a:r>
            <a:endParaRPr lang="en-US" sz="1000" dirty="0"/>
          </a:p>
        </p:txBody>
      </p:sp>
      <p:sp>
        <p:nvSpPr>
          <p:cNvPr id="37" name="Text 35"/>
          <p:cNvSpPr txBox="1"/>
          <p:nvPr/>
        </p:nvSpPr>
        <p:spPr>
          <a:xfrm>
            <a:off x="844563" y="3520440"/>
            <a:ext cx="2049919" cy="288036"/>
          </a:xfrm>
          <a:prstGeom prst="rect">
            <a:avLst/>
          </a:prstGeom>
          <a:noFill/>
          <a:ln/>
        </p:spPr>
        <p:txBody>
          <a:bodyPr wrap="square" lIns="0" tIns="0" rIns="0" bIns="0" rtlCol="0" anchor="ctr"/>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X 자리 재사용</a:t>
            </a:r>
            <a:endParaRPr lang="en-US" sz="800" dirty="0"/>
          </a:p>
        </p:txBody>
      </p:sp>
      <p:sp>
        <p:nvSpPr>
          <p:cNvPr id="38" name="Shape 36"/>
          <p:cNvSpPr/>
          <p:nvPr/>
        </p:nvSpPr>
        <p:spPr>
          <a:xfrm>
            <a:off x="2894481" y="3200400"/>
            <a:ext cx="4099837" cy="640080"/>
          </a:xfrm>
          <a:prstGeom prst="rect">
            <a:avLst/>
          </a:prstGeom>
          <a:solidFill>
            <a:srgbClr val="FFF1DC"/>
          </a:solidFill>
          <a:ln w="12700">
            <a:solidFill>
              <a:srgbClr val="D98A1E"/>
            </a:solidFill>
            <a:prstDash val="solid"/>
          </a:ln>
        </p:spPr>
      </p:sp>
      <p:sp>
        <p:nvSpPr>
          <p:cNvPr id="39" name="Text 37"/>
          <p:cNvSpPr txBox="1"/>
          <p:nvPr/>
        </p:nvSpPr>
        <p:spPr>
          <a:xfrm>
            <a:off x="2894481" y="3200400"/>
            <a:ext cx="4099837" cy="352044"/>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W2</a:t>
            </a:r>
            <a:endParaRPr lang="en-US" sz="1000" dirty="0"/>
          </a:p>
        </p:txBody>
      </p:sp>
      <p:sp>
        <p:nvSpPr>
          <p:cNvPr id="40" name="Text 38"/>
          <p:cNvSpPr txBox="1"/>
          <p:nvPr/>
        </p:nvSpPr>
        <p:spPr>
          <a:xfrm>
            <a:off x="2894481" y="3520440"/>
            <a:ext cx="4099837" cy="288036"/>
          </a:xfrm>
          <a:prstGeom prst="rect">
            <a:avLst/>
          </a:prstGeom>
          <a:noFill/>
          <a:ln/>
        </p:spPr>
        <p:txBody>
          <a:bodyPr wrap="square" lIns="0" tIns="0" rIns="0" bIns="0" rtlCol="0" anchor="ctr"/>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W1 자리 재사용</a:t>
            </a:r>
            <a:endParaRPr lang="en-US" sz="800" dirty="0"/>
          </a:p>
        </p:txBody>
      </p:sp>
      <p:sp>
        <p:nvSpPr>
          <p:cNvPr id="41" name="Shape 39"/>
          <p:cNvSpPr/>
          <p:nvPr/>
        </p:nvSpPr>
        <p:spPr>
          <a:xfrm>
            <a:off x="6994318" y="3200400"/>
            <a:ext cx="4099837" cy="640080"/>
          </a:xfrm>
          <a:prstGeom prst="rect">
            <a:avLst/>
          </a:prstGeom>
          <a:solidFill>
            <a:srgbClr val="ECE6FA"/>
          </a:solidFill>
          <a:ln w="12700">
            <a:solidFill>
              <a:srgbClr val="6C4FBF"/>
            </a:solidFill>
            <a:prstDash val="solid"/>
          </a:ln>
        </p:spPr>
      </p:sp>
      <p:sp>
        <p:nvSpPr>
          <p:cNvPr id="42" name="Text 40"/>
          <p:cNvSpPr txBox="1"/>
          <p:nvPr/>
        </p:nvSpPr>
        <p:spPr>
          <a:xfrm>
            <a:off x="6994318" y="3200400"/>
            <a:ext cx="4099837" cy="352044"/>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H (유지 → 직접 LOAD)</a:t>
            </a:r>
            <a:endParaRPr lang="en-US" sz="1000" dirty="0"/>
          </a:p>
        </p:txBody>
      </p:sp>
      <p:sp>
        <p:nvSpPr>
          <p:cNvPr id="43" name="Text 41"/>
          <p:cNvSpPr txBox="1"/>
          <p:nvPr/>
        </p:nvSpPr>
        <p:spPr>
          <a:xfrm>
            <a:off x="6994318" y="3520440"/>
            <a:ext cx="4099837" cy="288036"/>
          </a:xfrm>
          <a:prstGeom prst="rect">
            <a:avLst/>
          </a:prstGeom>
          <a:noFill/>
          <a:ln/>
        </p:spPr>
        <p:txBody>
          <a:bodyPr wrap="square" lIns="0" tIns="0" rIns="0" bIns="0" rtlCol="0" anchor="ctr"/>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GSTORE/GLOAD 없음</a:t>
            </a:r>
            <a:endParaRPr lang="en-US" sz="800" dirty="0"/>
          </a:p>
        </p:txBody>
      </p:sp>
      <p:sp>
        <p:nvSpPr>
          <p:cNvPr id="44" name="Shape 42"/>
          <p:cNvSpPr/>
          <p:nvPr/>
        </p:nvSpPr>
        <p:spPr>
          <a:xfrm>
            <a:off x="457200" y="3840480"/>
            <a:ext cx="914" cy="73152"/>
          </a:xfrm>
          <a:prstGeom prst="line">
            <a:avLst/>
          </a:prstGeom>
          <a:noFill/>
          <a:ln w="9525">
            <a:solidFill>
              <a:srgbClr val="5B6B7F"/>
            </a:solidFill>
            <a:prstDash val="solid"/>
          </a:ln>
        </p:spPr>
      </p:sp>
      <p:sp>
        <p:nvSpPr>
          <p:cNvPr id="45" name="Text 43"/>
          <p:cNvSpPr txBox="1"/>
          <p:nvPr/>
        </p:nvSpPr>
        <p:spPr>
          <a:xfrm>
            <a:off x="0" y="392277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0</a:t>
            </a:r>
            <a:endParaRPr lang="en-US" sz="800" dirty="0"/>
          </a:p>
        </p:txBody>
      </p:sp>
      <p:sp>
        <p:nvSpPr>
          <p:cNvPr id="46" name="Shape 44"/>
          <p:cNvSpPr/>
          <p:nvPr/>
        </p:nvSpPr>
        <p:spPr>
          <a:xfrm>
            <a:off x="844563" y="3840480"/>
            <a:ext cx="914" cy="73152"/>
          </a:xfrm>
          <a:prstGeom prst="line">
            <a:avLst/>
          </a:prstGeom>
          <a:noFill/>
          <a:ln w="9525">
            <a:solidFill>
              <a:srgbClr val="5B6B7F"/>
            </a:solidFill>
            <a:prstDash val="solid"/>
          </a:ln>
        </p:spPr>
      </p:sp>
      <p:sp>
        <p:nvSpPr>
          <p:cNvPr id="47" name="Text 45"/>
          <p:cNvSpPr txBox="1"/>
          <p:nvPr/>
        </p:nvSpPr>
        <p:spPr>
          <a:xfrm>
            <a:off x="387363" y="392277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1548</a:t>
            </a:r>
            <a:endParaRPr lang="en-US" sz="800" dirty="0"/>
          </a:p>
        </p:txBody>
      </p:sp>
      <p:sp>
        <p:nvSpPr>
          <p:cNvPr id="48" name="Shape 46"/>
          <p:cNvSpPr/>
          <p:nvPr/>
        </p:nvSpPr>
        <p:spPr>
          <a:xfrm>
            <a:off x="2894481" y="3840480"/>
            <a:ext cx="914" cy="73152"/>
          </a:xfrm>
          <a:prstGeom prst="line">
            <a:avLst/>
          </a:prstGeom>
          <a:noFill/>
          <a:ln w="9525">
            <a:solidFill>
              <a:srgbClr val="5B6B7F"/>
            </a:solidFill>
            <a:prstDash val="solid"/>
          </a:ln>
        </p:spPr>
      </p:sp>
      <p:sp>
        <p:nvSpPr>
          <p:cNvPr id="49" name="Text 47"/>
          <p:cNvSpPr txBox="1"/>
          <p:nvPr/>
        </p:nvSpPr>
        <p:spPr>
          <a:xfrm>
            <a:off x="2437281" y="392277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9740</a:t>
            </a:r>
            <a:endParaRPr lang="en-US" sz="800" dirty="0"/>
          </a:p>
        </p:txBody>
      </p:sp>
      <p:sp>
        <p:nvSpPr>
          <p:cNvPr id="50" name="Shape 48"/>
          <p:cNvSpPr/>
          <p:nvPr/>
        </p:nvSpPr>
        <p:spPr>
          <a:xfrm>
            <a:off x="6994318" y="3840480"/>
            <a:ext cx="914" cy="73152"/>
          </a:xfrm>
          <a:prstGeom prst="line">
            <a:avLst/>
          </a:prstGeom>
          <a:noFill/>
          <a:ln w="9525">
            <a:solidFill>
              <a:srgbClr val="5B6B7F"/>
            </a:solidFill>
            <a:prstDash val="solid"/>
          </a:ln>
        </p:spPr>
      </p:sp>
      <p:sp>
        <p:nvSpPr>
          <p:cNvPr id="51" name="Text 49"/>
          <p:cNvSpPr txBox="1"/>
          <p:nvPr/>
        </p:nvSpPr>
        <p:spPr>
          <a:xfrm>
            <a:off x="6537118" y="392277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26124</a:t>
            </a:r>
            <a:endParaRPr lang="en-US" sz="800" dirty="0"/>
          </a:p>
        </p:txBody>
      </p:sp>
      <p:sp>
        <p:nvSpPr>
          <p:cNvPr id="52" name="Shape 50"/>
          <p:cNvSpPr/>
          <p:nvPr/>
        </p:nvSpPr>
        <p:spPr>
          <a:xfrm>
            <a:off x="11094155" y="3840480"/>
            <a:ext cx="914" cy="73152"/>
          </a:xfrm>
          <a:prstGeom prst="line">
            <a:avLst/>
          </a:prstGeom>
          <a:noFill/>
          <a:ln w="9525">
            <a:solidFill>
              <a:srgbClr val="5B6B7F"/>
            </a:solidFill>
            <a:prstDash val="solid"/>
          </a:ln>
        </p:spPr>
      </p:sp>
      <p:sp>
        <p:nvSpPr>
          <p:cNvPr id="53" name="Text 51"/>
          <p:cNvSpPr txBox="1"/>
          <p:nvPr/>
        </p:nvSpPr>
        <p:spPr>
          <a:xfrm>
            <a:off x="10636955" y="392277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42508</a:t>
            </a:r>
            <a:endParaRPr lang="en-US" sz="800" dirty="0"/>
          </a:p>
        </p:txBody>
      </p:sp>
      <p:sp>
        <p:nvSpPr>
          <p:cNvPr id="54" name="Shape 52"/>
          <p:cNvSpPr/>
          <p:nvPr/>
        </p:nvSpPr>
        <p:spPr>
          <a:xfrm>
            <a:off x="11731752" y="3840480"/>
            <a:ext cx="914" cy="73152"/>
          </a:xfrm>
          <a:prstGeom prst="line">
            <a:avLst/>
          </a:prstGeom>
          <a:noFill/>
          <a:ln w="9525">
            <a:solidFill>
              <a:srgbClr val="5B6B7F"/>
            </a:solidFill>
            <a:prstDash val="solid"/>
          </a:ln>
        </p:spPr>
      </p:sp>
      <p:sp>
        <p:nvSpPr>
          <p:cNvPr id="55" name="Text 53"/>
          <p:cNvSpPr txBox="1"/>
          <p:nvPr/>
        </p:nvSpPr>
        <p:spPr>
          <a:xfrm>
            <a:off x="11274552" y="3922776"/>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45056</a:t>
            </a:r>
            <a:endParaRPr lang="en-US" sz="800" dirty="0"/>
          </a:p>
        </p:txBody>
      </p:sp>
      <p:sp>
        <p:nvSpPr>
          <p:cNvPr id="56" name="Shape 54"/>
          <p:cNvSpPr/>
          <p:nvPr/>
        </p:nvSpPr>
        <p:spPr>
          <a:xfrm>
            <a:off x="9044237" y="2377440"/>
            <a:ext cx="914" cy="822960"/>
          </a:xfrm>
          <a:prstGeom prst="line">
            <a:avLst/>
          </a:prstGeom>
          <a:noFill/>
          <a:ln w="25400">
            <a:solidFill>
              <a:srgbClr val="6C4FBF"/>
            </a:solidFill>
            <a:prstDash val="solid"/>
            <a:tailEnd type="triangle"/>
          </a:ln>
        </p:spPr>
      </p:sp>
      <p:sp>
        <p:nvSpPr>
          <p:cNvPr id="57" name="Text 55"/>
          <p:cNvSpPr txBox="1"/>
          <p:nvPr/>
        </p:nvSpPr>
        <p:spPr>
          <a:xfrm>
            <a:off x="9135677" y="2606040"/>
            <a:ext cx="2286000" cy="228600"/>
          </a:xfrm>
          <a:prstGeom prst="rect">
            <a:avLst/>
          </a:prstGeom>
          <a:noFill/>
          <a:ln/>
        </p:spPr>
        <p:txBody>
          <a:bodyPr wrap="square" lIns="0" tIns="0" rIns="0" bIns="0" rtlCol="0" anchor="t"/>
          <a:lstStyle/>
          <a:p>
            <a:pPr algn="l" indent="0" marL="0">
              <a:buNone/>
            </a:pPr>
            <a:r>
              <a:rPr lang="en-US" sz="900" b="1" dirty="0">
                <a:solidFill>
                  <a:srgbClr val="6C4FBF"/>
                </a:solidFill>
                <a:latin typeface="Malgun Gothic" pitchFamily="34" charset="0"/>
                <a:ea typeface="Malgun Gothic" pitchFamily="34" charset="-122"/>
                <a:cs typeface="Malgun Gothic" pitchFamily="34" charset="-120"/>
              </a:rPr>
              <a:t>H 같은 allocation 유지</a:t>
            </a:r>
            <a:endParaRPr lang="en-US" sz="9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4343400"/>
          <a:ext cx="5852160" cy="914400"/>
        </p:xfrm>
        <a:graphic>
          <a:graphicData uri="http://schemas.openxmlformats.org/drawingml/2006/table">
            <a:tbl>
              <a:tblPr/>
              <a:tblGrid>
                <a:gridCol w="731520"/>
                <a:gridCol w="1097280"/>
                <a:gridCol w="1097280"/>
                <a:gridCol w="2926080"/>
              </a:tblGrid>
              <a:tr h="274320">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값</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00" b="1" dirty="0">
                          <a:solidFill>
                            <a:srgbClr val="FFFFFF"/>
                          </a:solidFill>
                          <a:latin typeface="Malgun Gothic" pitchFamily="34" charset="0"/>
                          <a:ea typeface="Malgun Gothic" pitchFamily="34" charset="-122"/>
                          <a:cs typeface="Malgun Gothic" pitchFamily="34" charset="-120"/>
                        </a:rPr>
                        <a:t>SRAM 시작</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00" b="1" dirty="0">
                          <a:solidFill>
                            <a:srgbClr val="FFFFFF"/>
                          </a:solidFill>
                          <a:latin typeface="Malgun Gothic" pitchFamily="34" charset="0"/>
                          <a:ea typeface="Malgun Gothic" pitchFamily="34" charset="-122"/>
                          <a:cs typeface="Malgun Gothic" pitchFamily="34" charset="-120"/>
                        </a:rPr>
                        <a:t>크기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이후 재사용</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X</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1,548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8,192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두 번째 커널의 Y 작업 공간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W1</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9,740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16,384</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두 번째 커널의 W2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H</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26,124</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16,384</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두 번째 커널까지 유지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peak</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42,508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용량 45,056 (44 KiB)</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graphicFrame>
        <p:nvGraphicFramePr>
          <p:cNvPr id="105" name="Table 1"/>
          <p:cNvGraphicFramePr>
            <a:graphicFrameLocks noGrp="1"/>
          </p:cNvGraphicFramePr>
          <p:nvPr>
            <p:extLst>
              <p:ext uri="{D42A27DB-BD31-4B8C-83A1-F6EECF244321}">
                <p14:modId xmlns:p14="http://schemas.microsoft.com/office/powerpoint/2010/main" val="1579011935"/>
              </p:ext>
            </p:extLst>
          </p:nvPr>
        </p:nvGraphicFramePr>
        <p:xfrm>
          <a:off x="6537960" y="4343400"/>
          <a:ext cx="5193792" cy="914400"/>
        </p:xfrm>
        <a:graphic>
          <a:graphicData uri="http://schemas.openxmlformats.org/drawingml/2006/table">
            <a:tbl>
              <a:tblPr/>
              <a:tblGrid>
                <a:gridCol w="1737360"/>
                <a:gridCol w="3456432"/>
              </a:tblGrid>
              <a:tr h="27432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joint_memory 기록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값</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policy</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bounded call-site schedule and retained-SRAM search</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beam / candidates / trials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4 / 1 / 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H 예약</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nibble 57344 → arena 2,548 B 하향 → 52248 (byte 26,124)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USMP</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두 커널 모두 bump (greedy가 더 줄이지 못함)</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제거된 DRAM pool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storage 16,384 B @ byte 40,960 (H의 DRAM 예약)</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0" name="Shape 56"/>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61" name="Text 57"/>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H의 GSTORE/GLOAD(32,768 B)가 사라져 DMA 81,932 → 49,164 B. 32 KiB에서는 첫 matmul이 더 이상 들어가지 않아 보관이 적용되지 않습니다 (E2).</a:t>
            </a:r>
            <a:endParaRPr lang="en-US" sz="1250" dirty="0"/>
          </a:p>
        </p:txBody>
      </p:sp>
      <p:sp>
        <p:nvSpPr>
          <p:cNvPr id="62" name="Text 58"/>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63" name="Text 59"/>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docs/examples/two_matmuls_recorded/program.json, scheduled_0000.py, scheduled_0001.py, docs/current/08_memory.md</a:t>
            </a:r>
            <a:endParaRPr lang="en-US" sz="850" dirty="0"/>
          </a:p>
        </p:txBody>
      </p:sp>
      <p:sp>
        <p:nvSpPr>
          <p:cNvPr id="64" name="Text 60"/>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52 / 89</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8 · 메모리 계획</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임시 출력 tile을 없애고 H에 바로 쓴다: view와 row stride</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H는 행마다 128 FP16 = row stride 256 B. 두 번째 열 tile의 시작은 H + 128 B이지 H + 8192 B가 아닙니다. 두 tile은 각 행의 왼쪽/오른쪽 절반이므로 stride를 유지해야 합니다.</a:t>
            </a:r>
            <a:endParaRPr lang="en-US" sz="1250" dirty="0"/>
          </a:p>
        </p:txBody>
      </p:sp>
      <p:sp>
        <p:nvSpPr>
          <p:cNvPr id="5" name="Text 3"/>
          <p:cNvSpPr txBox="1"/>
          <p:nvPr/>
        </p:nvSpPr>
        <p:spPr>
          <a:xfrm>
            <a:off x="45720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H [64,128] FP16 in SRAM (row-major, stride 256 B)</a:t>
            </a:r>
            <a:endParaRPr lang="en-US" sz="1100" dirty="0"/>
          </a:p>
        </p:txBody>
      </p:sp>
      <p:sp>
        <p:nvSpPr>
          <p:cNvPr id="6" name="Shape 4"/>
          <p:cNvSpPr/>
          <p:nvPr/>
        </p:nvSpPr>
        <p:spPr>
          <a:xfrm>
            <a:off x="457200" y="1691640"/>
            <a:ext cx="2377440" cy="502920"/>
          </a:xfrm>
          <a:prstGeom prst="rect">
            <a:avLst/>
          </a:prstGeom>
          <a:solidFill>
            <a:srgbClr val="DDF3F0"/>
          </a:solidFill>
          <a:ln w="6350">
            <a:solidFill>
              <a:srgbClr val="1F8A8A"/>
            </a:solidFill>
            <a:prstDash val="solid"/>
          </a:ln>
        </p:spPr>
      </p:sp>
      <p:sp>
        <p:nvSpPr>
          <p:cNvPr id="7" name="Text 5"/>
          <p:cNvSpPr txBox="1"/>
          <p:nvPr/>
        </p:nvSpPr>
        <p:spPr>
          <a:xfrm>
            <a:off x="457200" y="1691640"/>
            <a:ext cx="2377440" cy="502920"/>
          </a:xfrm>
          <a:prstGeom prst="rect">
            <a:avLst/>
          </a:prstGeom>
          <a:noFill/>
          <a:ln/>
        </p:spPr>
        <p:txBody>
          <a:bodyPr wrap="square" lIns="0" tIns="0" rIns="0" bIns="0" rtlCol="0" anchor="ct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tile 0: 열 0..63</a:t>
            </a:r>
            <a:endParaRPr lang="en-US" sz="850" dirty="0"/>
          </a:p>
        </p:txBody>
      </p:sp>
      <p:sp>
        <p:nvSpPr>
          <p:cNvPr id="8" name="Shape 6"/>
          <p:cNvSpPr/>
          <p:nvPr/>
        </p:nvSpPr>
        <p:spPr>
          <a:xfrm>
            <a:off x="2834640" y="1691640"/>
            <a:ext cx="2377440" cy="502920"/>
          </a:xfrm>
          <a:prstGeom prst="rect">
            <a:avLst/>
          </a:prstGeom>
          <a:solidFill>
            <a:srgbClr val="ECE6FA"/>
          </a:solidFill>
          <a:ln w="6350">
            <a:solidFill>
              <a:srgbClr val="6C4FBF"/>
            </a:solidFill>
            <a:prstDash val="solid"/>
          </a:ln>
        </p:spPr>
      </p:sp>
      <p:sp>
        <p:nvSpPr>
          <p:cNvPr id="9" name="Text 7"/>
          <p:cNvSpPr txBox="1"/>
          <p:nvPr/>
        </p:nvSpPr>
        <p:spPr>
          <a:xfrm>
            <a:off x="2834640" y="1691640"/>
            <a:ext cx="2377440" cy="502920"/>
          </a:xfrm>
          <a:prstGeom prst="rect">
            <a:avLst/>
          </a:prstGeom>
          <a:noFill/>
          <a:ln/>
        </p:spPr>
        <p:txBody>
          <a:bodyPr wrap="square" lIns="0" tIns="0" rIns="0" bIns="0" rtlCol="0" anchor="ct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tile 1: 열 64..127</a:t>
            </a:r>
            <a:endParaRPr lang="en-US" sz="850" dirty="0"/>
          </a:p>
        </p:txBody>
      </p:sp>
      <p:sp>
        <p:nvSpPr>
          <p:cNvPr id="10" name="Shape 8"/>
          <p:cNvSpPr/>
          <p:nvPr/>
        </p:nvSpPr>
        <p:spPr>
          <a:xfrm>
            <a:off x="457200" y="2194560"/>
            <a:ext cx="2377440" cy="502920"/>
          </a:xfrm>
          <a:prstGeom prst="rect">
            <a:avLst/>
          </a:prstGeom>
          <a:solidFill>
            <a:srgbClr val="DDF3F0"/>
          </a:solidFill>
          <a:ln w="6350">
            <a:solidFill>
              <a:srgbClr val="1F8A8A"/>
            </a:solidFill>
            <a:prstDash val="solid"/>
          </a:ln>
        </p:spPr>
      </p:sp>
      <p:sp>
        <p:nvSpPr>
          <p:cNvPr id="11" name="Text 9"/>
          <p:cNvSpPr txBox="1"/>
          <p:nvPr/>
        </p:nvSpPr>
        <p:spPr>
          <a:xfrm>
            <a:off x="457200" y="2194560"/>
            <a:ext cx="2377440" cy="502920"/>
          </a:xfrm>
          <a:prstGeom prst="rect">
            <a:avLst/>
          </a:prstGeom>
          <a:noFill/>
          <a:ln/>
        </p:spPr>
        <p:txBody>
          <a:bodyPr wrap="square" lIns="0" tIns="0" rIns="0" bIns="0" rtlCol="0" anchor="ct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H + 256</a:t>
            </a:r>
            <a:endParaRPr lang="en-US" sz="850" dirty="0"/>
          </a:p>
        </p:txBody>
      </p:sp>
      <p:sp>
        <p:nvSpPr>
          <p:cNvPr id="12" name="Shape 10"/>
          <p:cNvSpPr/>
          <p:nvPr/>
        </p:nvSpPr>
        <p:spPr>
          <a:xfrm>
            <a:off x="2834640" y="2194560"/>
            <a:ext cx="2377440" cy="502920"/>
          </a:xfrm>
          <a:prstGeom prst="rect">
            <a:avLst/>
          </a:prstGeom>
          <a:solidFill>
            <a:srgbClr val="ECE6FA"/>
          </a:solidFill>
          <a:ln w="6350">
            <a:solidFill>
              <a:srgbClr val="6C4FBF"/>
            </a:solidFill>
            <a:prstDash val="solid"/>
          </a:ln>
        </p:spPr>
      </p:sp>
      <p:sp>
        <p:nvSpPr>
          <p:cNvPr id="13" name="Text 11"/>
          <p:cNvSpPr txBox="1"/>
          <p:nvPr/>
        </p:nvSpPr>
        <p:spPr>
          <a:xfrm>
            <a:off x="2834640" y="2194560"/>
            <a:ext cx="2377440" cy="502920"/>
          </a:xfrm>
          <a:prstGeom prst="rect">
            <a:avLst/>
          </a:prstGeom>
          <a:noFill/>
          <a:ln/>
        </p:spPr>
        <p:txBody>
          <a:bodyPr wrap="square" lIns="0" tIns="0" rIns="0" bIns="0" rtlCol="0" anchor="ct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H + 256 + 128</a:t>
            </a:r>
            <a:endParaRPr lang="en-US" sz="850" dirty="0"/>
          </a:p>
        </p:txBody>
      </p:sp>
      <p:sp>
        <p:nvSpPr>
          <p:cNvPr id="14" name="Shape 12"/>
          <p:cNvSpPr/>
          <p:nvPr/>
        </p:nvSpPr>
        <p:spPr>
          <a:xfrm>
            <a:off x="457200" y="2697480"/>
            <a:ext cx="2377440" cy="502920"/>
          </a:xfrm>
          <a:prstGeom prst="rect">
            <a:avLst/>
          </a:prstGeom>
          <a:solidFill>
            <a:srgbClr val="DDF3F0"/>
          </a:solidFill>
          <a:ln w="6350">
            <a:solidFill>
              <a:srgbClr val="1F8A8A"/>
            </a:solidFill>
            <a:prstDash val="solid"/>
          </a:ln>
        </p:spPr>
      </p:sp>
      <p:sp>
        <p:nvSpPr>
          <p:cNvPr id="15" name="Shape 13"/>
          <p:cNvSpPr/>
          <p:nvPr/>
        </p:nvSpPr>
        <p:spPr>
          <a:xfrm>
            <a:off x="2834640" y="2697480"/>
            <a:ext cx="2377440" cy="502920"/>
          </a:xfrm>
          <a:prstGeom prst="rect">
            <a:avLst/>
          </a:prstGeom>
          <a:solidFill>
            <a:srgbClr val="ECE6FA"/>
          </a:solidFill>
          <a:ln w="6350">
            <a:solidFill>
              <a:srgbClr val="6C4FBF"/>
            </a:solidFill>
            <a:prstDash val="solid"/>
          </a:ln>
        </p:spPr>
      </p:sp>
      <p:sp>
        <p:nvSpPr>
          <p:cNvPr id="16" name="Shape 14"/>
          <p:cNvSpPr/>
          <p:nvPr/>
        </p:nvSpPr>
        <p:spPr>
          <a:xfrm>
            <a:off x="457200" y="3200400"/>
            <a:ext cx="2377440" cy="502920"/>
          </a:xfrm>
          <a:prstGeom prst="rect">
            <a:avLst/>
          </a:prstGeom>
          <a:solidFill>
            <a:srgbClr val="DDF3F0"/>
          </a:solidFill>
          <a:ln w="6350">
            <a:solidFill>
              <a:srgbClr val="1F8A8A"/>
            </a:solidFill>
            <a:prstDash val="solid"/>
          </a:ln>
        </p:spPr>
      </p:sp>
      <p:sp>
        <p:nvSpPr>
          <p:cNvPr id="17" name="Text 15"/>
          <p:cNvSpPr txBox="1"/>
          <p:nvPr/>
        </p:nvSpPr>
        <p:spPr>
          <a:xfrm>
            <a:off x="457200" y="3200400"/>
            <a:ext cx="2377440" cy="502920"/>
          </a:xfrm>
          <a:prstGeom prst="rect">
            <a:avLst/>
          </a:prstGeom>
          <a:noFill/>
          <a:ln/>
        </p:spPr>
        <p:txBody>
          <a:bodyPr wrap="square" lIns="0" tIns="0" rIns="0" bIns="0" rtlCol="0" anchor="ct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H + 63·256</a:t>
            </a:r>
            <a:endParaRPr lang="en-US" sz="850" dirty="0"/>
          </a:p>
        </p:txBody>
      </p:sp>
      <p:sp>
        <p:nvSpPr>
          <p:cNvPr id="18" name="Shape 16"/>
          <p:cNvSpPr/>
          <p:nvPr/>
        </p:nvSpPr>
        <p:spPr>
          <a:xfrm>
            <a:off x="2834640" y="3200400"/>
            <a:ext cx="2377440" cy="502920"/>
          </a:xfrm>
          <a:prstGeom prst="rect">
            <a:avLst/>
          </a:prstGeom>
          <a:solidFill>
            <a:srgbClr val="ECE6FA"/>
          </a:solidFill>
          <a:ln w="6350">
            <a:solidFill>
              <a:srgbClr val="6C4FBF"/>
            </a:solidFill>
            <a:prstDash val="solid"/>
          </a:ln>
        </p:spPr>
      </p:sp>
      <p:sp>
        <p:nvSpPr>
          <p:cNvPr id="19" name="Text 17"/>
          <p:cNvSpPr txBox="1"/>
          <p:nvPr/>
        </p:nvSpPr>
        <p:spPr>
          <a:xfrm>
            <a:off x="2834640" y="3200400"/>
            <a:ext cx="2377440" cy="502920"/>
          </a:xfrm>
          <a:prstGeom prst="rect">
            <a:avLst/>
          </a:prstGeom>
          <a:noFill/>
          <a:ln/>
        </p:spPr>
        <p:txBody>
          <a:bodyPr wrap="square" lIns="0" tIns="0" rIns="0" bIns="0" rtlCol="0" anchor="ctr"/>
          <a:lstStyle/>
          <a:p>
            <a:pPr algn="ctr" indent="0" marL="0">
              <a:buNone/>
            </a:pPr>
            <a:r>
              <a:rPr lang="en-US" sz="850" dirty="0">
                <a:solidFill>
                  <a:srgbClr val="1F2D3D"/>
                </a:solidFill>
                <a:latin typeface="Malgun Gothic" pitchFamily="34" charset="0"/>
                <a:ea typeface="Malgun Gothic" pitchFamily="34" charset="-122"/>
                <a:cs typeface="Malgun Gothic" pitchFamily="34" charset="-120"/>
              </a:rPr>
              <a:t>H + 63·256 + 128</a:t>
            </a:r>
            <a:endParaRPr lang="en-US" sz="850" dirty="0"/>
          </a:p>
        </p:txBody>
      </p:sp>
      <p:sp>
        <p:nvSpPr>
          <p:cNvPr id="20" name="Text 18"/>
          <p:cNvSpPr txBox="1"/>
          <p:nvPr/>
        </p:nvSpPr>
        <p:spPr>
          <a:xfrm>
            <a:off x="457200" y="3749040"/>
            <a:ext cx="4754880" cy="457200"/>
          </a:xfrm>
          <a:prstGeom prst="rect">
            <a:avLst/>
          </a:prstGeom>
          <a:noFill/>
          <a:ln/>
        </p:spPr>
        <p:txBody>
          <a:bodyPr wrap="square" lIns="0" tIns="0" rIns="0" bIns="0" rtlCol="0" anchor="t"/>
          <a:lstStyle/>
          <a:p>
            <a:pPr algn="l" indent="0" marL="0">
              <a:buNone/>
            </a:pPr>
            <a:r>
              <a:rPr lang="en-US" sz="950" dirty="0">
                <a:solidFill>
                  <a:srgbClr val="5B6B7F"/>
                </a:solidFill>
                <a:latin typeface="Malgun Gothic" pitchFamily="34" charset="0"/>
                <a:ea typeface="Malgun Gothic" pitchFamily="34" charset="-122"/>
                <a:cs typeface="Malgun Gothic" pitchFamily="34" charset="-120"/>
              </a:rPr>
              <a:t>tile 1의 시작 = H + 128 B (첫 행의 오른쪽 절반). MAIN descriptor는 전체 stride(128 elements), PARTIAL descriptor는 이번 tile의 시작과 64×64 크기.</a:t>
            </a:r>
            <a:endParaRPr lang="en-US" sz="950" dirty="0"/>
          </a:p>
        </p:txBody>
      </p:sp>
      <p:sp>
        <p:nvSpPr>
          <p:cNvPr id="21" name="Text 19"/>
          <p:cNvSpPr txBox="1"/>
          <p:nvPr/>
        </p:nvSpPr>
        <p:spPr>
          <a:xfrm>
            <a:off x="5486400" y="1371600"/>
            <a:ext cx="621792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이전 (임시 tile 경유) → 현재 (직접 SAVE)</a:t>
            </a:r>
            <a:endParaRPr lang="en-US" sz="1100" dirty="0"/>
          </a:p>
        </p:txBody>
      </p:sp>
      <p:sp>
        <p:nvSpPr>
          <p:cNvPr id="22" name="Shape 20"/>
          <p:cNvSpPr/>
          <p:nvPr/>
        </p:nvSpPr>
        <p:spPr>
          <a:xfrm>
            <a:off x="5486400" y="1737360"/>
            <a:ext cx="1828800" cy="640080"/>
          </a:xfrm>
          <a:prstGeom prst="roundRect">
            <a:avLst>
              <a:gd name="adj" fmla="val 8571"/>
            </a:avLst>
          </a:prstGeom>
          <a:solidFill>
            <a:srgbClr val="ECE6FA"/>
          </a:solidFill>
          <a:ln w="12700">
            <a:solidFill>
              <a:srgbClr val="6C4FBF"/>
            </a:solidFill>
            <a:prstDash val="solid"/>
          </a:ln>
        </p:spPr>
      </p:sp>
      <p:sp>
        <p:nvSpPr>
          <p:cNvPr id="23" name="Text 21"/>
          <p:cNvSpPr txBox="1"/>
          <p:nvPr/>
        </p:nvSpPr>
        <p:spPr>
          <a:xfrm>
            <a:off x="5559552" y="1810512"/>
            <a:ext cx="1682496"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완성된 출력</a:t>
            </a:r>
            <a:endParaRPr lang="en-US" sz="1050" dirty="0"/>
          </a:p>
        </p:txBody>
      </p:sp>
      <p:sp>
        <p:nvSpPr>
          <p:cNvPr id="24" name="Text 22"/>
          <p:cNvSpPr txBox="1"/>
          <p:nvPr/>
        </p:nvSpPr>
        <p:spPr>
          <a:xfrm>
            <a:off x="5559552" y="2010537"/>
            <a:ext cx="1682496" cy="3303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FP32 acc 완료</a:t>
            </a:r>
            <a:endParaRPr lang="en-US" sz="800" dirty="0"/>
          </a:p>
        </p:txBody>
      </p:sp>
      <p:sp>
        <p:nvSpPr>
          <p:cNvPr id="25" name="Shape 23"/>
          <p:cNvSpPr/>
          <p:nvPr/>
        </p:nvSpPr>
        <p:spPr>
          <a:xfrm>
            <a:off x="7680960" y="1737360"/>
            <a:ext cx="1828800" cy="640080"/>
          </a:xfrm>
          <a:prstGeom prst="roundRect">
            <a:avLst>
              <a:gd name="adj" fmla="val 8571"/>
            </a:avLst>
          </a:prstGeom>
          <a:solidFill>
            <a:srgbClr val="DDF3F0"/>
          </a:solidFill>
          <a:ln w="12700">
            <a:solidFill>
              <a:srgbClr val="1F8A8A"/>
            </a:solidFill>
            <a:prstDash val="solid"/>
          </a:ln>
        </p:spPr>
      </p:sp>
      <p:sp>
        <p:nvSpPr>
          <p:cNvPr id="26" name="Text 24"/>
          <p:cNvSpPr txBox="1"/>
          <p:nvPr/>
        </p:nvSpPr>
        <p:spPr>
          <a:xfrm>
            <a:off x="7754112" y="1810512"/>
            <a:ext cx="1682496"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임시 64×64 tile</a:t>
            </a:r>
            <a:endParaRPr lang="en-US" sz="1050" dirty="0"/>
          </a:p>
        </p:txBody>
      </p:sp>
      <p:sp>
        <p:nvSpPr>
          <p:cNvPr id="27" name="Text 25"/>
          <p:cNvSpPr txBox="1"/>
          <p:nvPr/>
        </p:nvSpPr>
        <p:spPr>
          <a:xfrm>
            <a:off x="7754112" y="2010537"/>
            <a:ext cx="1682496" cy="3303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SAVE</a:t>
            </a:r>
            <a:endParaRPr lang="en-US" sz="800" dirty="0"/>
          </a:p>
        </p:txBody>
      </p:sp>
      <p:sp>
        <p:nvSpPr>
          <p:cNvPr id="28" name="Shape 26"/>
          <p:cNvSpPr/>
          <p:nvPr/>
        </p:nvSpPr>
        <p:spPr>
          <a:xfrm>
            <a:off x="9875520" y="1737360"/>
            <a:ext cx="1856232" cy="640080"/>
          </a:xfrm>
          <a:prstGeom prst="roundRect">
            <a:avLst>
              <a:gd name="adj" fmla="val 8571"/>
            </a:avLst>
          </a:prstGeom>
          <a:solidFill>
            <a:srgbClr val="DDF3F0"/>
          </a:solidFill>
          <a:ln w="12700">
            <a:solidFill>
              <a:srgbClr val="1F8A8A"/>
            </a:solidFill>
            <a:prstDash val="solid"/>
          </a:ln>
        </p:spPr>
      </p:sp>
      <p:sp>
        <p:nvSpPr>
          <p:cNvPr id="29" name="Text 27"/>
          <p:cNvSpPr txBox="1"/>
          <p:nvPr/>
        </p:nvSpPr>
        <p:spPr>
          <a:xfrm>
            <a:off x="9948672" y="1810512"/>
            <a:ext cx="1709928"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보관할 H</a:t>
            </a:r>
            <a:endParaRPr lang="en-US" sz="1050" dirty="0"/>
          </a:p>
        </p:txBody>
      </p:sp>
      <p:sp>
        <p:nvSpPr>
          <p:cNvPr id="30" name="Text 28"/>
          <p:cNvSpPr txBox="1"/>
          <p:nvPr/>
        </p:nvSpPr>
        <p:spPr>
          <a:xfrm>
            <a:off x="9948672" y="2010537"/>
            <a:ext cx="1709928" cy="3303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SRAM→SRAM copy</a:t>
            </a:r>
            <a:endParaRPr lang="en-US" sz="800" dirty="0"/>
          </a:p>
        </p:txBody>
      </p:sp>
      <p:sp>
        <p:nvSpPr>
          <p:cNvPr id="31" name="Shape 29"/>
          <p:cNvSpPr/>
          <p:nvPr/>
        </p:nvSpPr>
        <p:spPr>
          <a:xfrm>
            <a:off x="7315200" y="2057400"/>
            <a:ext cx="365760" cy="914"/>
          </a:xfrm>
          <a:prstGeom prst="line">
            <a:avLst/>
          </a:prstGeom>
          <a:noFill/>
          <a:ln w="19050">
            <a:solidFill>
              <a:srgbClr val="5B6B7F"/>
            </a:solidFill>
            <a:prstDash val="solid"/>
            <a:tailEnd type="triangle"/>
          </a:ln>
        </p:spPr>
      </p:sp>
      <p:sp>
        <p:nvSpPr>
          <p:cNvPr id="32" name="Shape 30"/>
          <p:cNvSpPr/>
          <p:nvPr/>
        </p:nvSpPr>
        <p:spPr>
          <a:xfrm>
            <a:off x="9509760" y="2057400"/>
            <a:ext cx="365760" cy="914"/>
          </a:xfrm>
          <a:prstGeom prst="line">
            <a:avLst/>
          </a:prstGeom>
          <a:noFill/>
          <a:ln w="19050">
            <a:solidFill>
              <a:srgbClr val="5B6B7F"/>
            </a:solidFill>
            <a:prstDash val="solid"/>
            <a:tailEnd type="triangle"/>
          </a:ln>
        </p:spPr>
      </p:sp>
      <p:sp>
        <p:nvSpPr>
          <p:cNvPr id="33" name="Shape 31"/>
          <p:cNvSpPr/>
          <p:nvPr/>
        </p:nvSpPr>
        <p:spPr>
          <a:xfrm>
            <a:off x="5486400" y="2743200"/>
            <a:ext cx="1828800" cy="640080"/>
          </a:xfrm>
          <a:prstGeom prst="roundRect">
            <a:avLst>
              <a:gd name="adj" fmla="val 8571"/>
            </a:avLst>
          </a:prstGeom>
          <a:solidFill>
            <a:srgbClr val="ECE6FA"/>
          </a:solidFill>
          <a:ln w="12700">
            <a:solidFill>
              <a:srgbClr val="6C4FBF"/>
            </a:solidFill>
            <a:prstDash val="solid"/>
          </a:ln>
        </p:spPr>
      </p:sp>
      <p:sp>
        <p:nvSpPr>
          <p:cNvPr id="34" name="Text 32"/>
          <p:cNvSpPr txBox="1"/>
          <p:nvPr/>
        </p:nvSpPr>
        <p:spPr>
          <a:xfrm>
            <a:off x="5559552" y="2816352"/>
            <a:ext cx="1682496"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완성된 출력</a:t>
            </a:r>
            <a:endParaRPr lang="en-US" sz="1050" dirty="0"/>
          </a:p>
        </p:txBody>
      </p:sp>
      <p:sp>
        <p:nvSpPr>
          <p:cNvPr id="35" name="Text 33"/>
          <p:cNvSpPr txBox="1"/>
          <p:nvPr/>
        </p:nvSpPr>
        <p:spPr>
          <a:xfrm>
            <a:off x="5559552" y="3016377"/>
            <a:ext cx="1682496" cy="3303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FP32 acc 완료</a:t>
            </a:r>
            <a:endParaRPr lang="en-US" sz="800" dirty="0"/>
          </a:p>
        </p:txBody>
      </p:sp>
      <p:sp>
        <p:nvSpPr>
          <p:cNvPr id="36" name="Shape 34"/>
          <p:cNvSpPr/>
          <p:nvPr/>
        </p:nvSpPr>
        <p:spPr>
          <a:xfrm>
            <a:off x="9875520" y="2743200"/>
            <a:ext cx="1856232" cy="640080"/>
          </a:xfrm>
          <a:prstGeom prst="roundRect">
            <a:avLst>
              <a:gd name="adj" fmla="val 8571"/>
            </a:avLst>
          </a:prstGeom>
          <a:solidFill>
            <a:srgbClr val="DDF3F0"/>
          </a:solidFill>
          <a:ln w="12700">
            <a:solidFill>
              <a:srgbClr val="1F8A8A"/>
            </a:solidFill>
            <a:prstDash val="solid"/>
          </a:ln>
        </p:spPr>
      </p:sp>
      <p:sp>
        <p:nvSpPr>
          <p:cNvPr id="37" name="Text 35"/>
          <p:cNvSpPr txBox="1"/>
          <p:nvPr/>
        </p:nvSpPr>
        <p:spPr>
          <a:xfrm>
            <a:off x="9948672" y="2816352"/>
            <a:ext cx="1709928"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H의 해당 view</a:t>
            </a:r>
            <a:endParaRPr lang="en-US" sz="1050" dirty="0"/>
          </a:p>
        </p:txBody>
      </p:sp>
      <p:sp>
        <p:nvSpPr>
          <p:cNvPr id="38" name="Text 36"/>
          <p:cNvSpPr txBox="1"/>
          <p:nvPr/>
        </p:nvSpPr>
        <p:spPr>
          <a:xfrm>
            <a:off x="9948672" y="3016377"/>
            <a:ext cx="1709928" cy="3303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직접 SAVE (stride 유지)</a:t>
            </a:r>
            <a:endParaRPr lang="en-US" sz="800" dirty="0"/>
          </a:p>
        </p:txBody>
      </p:sp>
      <p:sp>
        <p:nvSpPr>
          <p:cNvPr id="39" name="Shape 37"/>
          <p:cNvSpPr/>
          <p:nvPr/>
        </p:nvSpPr>
        <p:spPr>
          <a:xfrm>
            <a:off x="7315200" y="3063240"/>
            <a:ext cx="2560320" cy="914"/>
          </a:xfrm>
          <a:prstGeom prst="line">
            <a:avLst/>
          </a:prstGeom>
          <a:noFill/>
          <a:ln w="25400">
            <a:solidFill>
              <a:srgbClr val="2E7D32"/>
            </a:solidFill>
            <a:prstDash val="solid"/>
            <a:tailEnd type="triangle"/>
          </a:ln>
        </p:spPr>
      </p:sp>
      <p:sp>
        <p:nvSpPr>
          <p:cNvPr id="40" name="Text 38"/>
          <p:cNvSpPr txBox="1"/>
          <p:nvPr/>
        </p:nvSpPr>
        <p:spPr>
          <a:xfrm>
            <a:off x="7498080" y="2788920"/>
            <a:ext cx="2194560" cy="274320"/>
          </a:xfrm>
          <a:prstGeom prst="rect">
            <a:avLst/>
          </a:prstGeom>
          <a:noFill/>
          <a:ln/>
        </p:spPr>
        <p:txBody>
          <a:bodyPr wrap="square" lIns="0" tIns="0" rIns="0" bIns="0" rtlCol="0" anchor="t"/>
          <a:lstStyle/>
          <a:p>
            <a:pPr algn="ctr" indent="0" marL="0">
              <a:buNone/>
            </a:pPr>
            <a:r>
              <a:rPr lang="en-US" sz="950" b="1" dirty="0">
                <a:solidFill>
                  <a:srgbClr val="2E7D32"/>
                </a:solidFill>
                <a:latin typeface="Malgun Gothic" pitchFamily="34" charset="0"/>
                <a:ea typeface="Malgun Gothic" pitchFamily="34" charset="-122"/>
                <a:cs typeface="Malgun Gothic" pitchFamily="34" charset="-120"/>
              </a:rPr>
              <a:t>직접 SAVE</a:t>
            </a:r>
            <a:endParaRPr lang="en-US" sz="950" dirty="0"/>
          </a:p>
        </p:txBody>
      </p:sp>
      <p:sp>
        <p:nvSpPr>
          <p:cNvPr id="41" name="Shape 39"/>
          <p:cNvSpPr/>
          <p:nvPr/>
        </p:nvSpPr>
        <p:spPr>
          <a:xfrm>
            <a:off x="5486400" y="3611880"/>
            <a:ext cx="6245352" cy="1280160"/>
          </a:xfrm>
          <a:prstGeom prst="roundRect">
            <a:avLst>
              <a:gd name="adj" fmla="val 3571"/>
            </a:avLst>
          </a:prstGeom>
          <a:solidFill>
            <a:srgbClr val="F5F7FA"/>
          </a:solidFill>
          <a:ln w="9525">
            <a:solidFill>
              <a:srgbClr val="C9D3DF"/>
            </a:solidFill>
            <a:prstDash val="solid"/>
          </a:ln>
        </p:spPr>
      </p:sp>
      <p:sp>
        <p:nvSpPr>
          <p:cNvPr id="42" name="Text 40"/>
          <p:cNvSpPr txBox="1"/>
          <p:nvPr/>
        </p:nvSpPr>
        <p:spPr>
          <a:xfrm>
            <a:off x="5596128" y="3685032"/>
            <a:ext cx="6025896" cy="1133856"/>
          </a:xfrm>
          <a:prstGeom prst="rect">
            <a:avLst/>
          </a:prstGeom>
          <a:noFill/>
          <a:ln/>
        </p:spPr>
        <p:txBody>
          <a:bodyPr wrap="square" lIns="0" tIns="0" rIns="0" bIns="0" rtlCol="0" anchor="t"/>
          <a:lstStyle/>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scheduled_0000.py: 출력 compute가 SRAM scope, gemm view가 compute를 직접 겨냥</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compute = T.match_buffer(var_compute, (64, 128), "float16", scope="global.sram")</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C = T.match_buffer(compute[0:64, i1_1_0*64 : i1_1_0*64+64], (64,64), "float16",</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strides=("C_s0", 1), scope="global.sram", offset_factor=1)</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T.func_attr({"npu.accumulator_store_lowered": 1, "npu.forwarded_output_tiles": 1})</a:t>
            </a:r>
            <a:endParaRPr lang="en-US" sz="8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4343400"/>
          <a:ext cx="4754880" cy="914400"/>
        </p:xfrm>
        <a:graphic>
          <a:graphicData uri="http://schemas.openxmlformats.org/drawingml/2006/table">
            <a:tbl>
              <a:tblPr/>
              <a:tblGrid>
                <a:gridCol w="2011680"/>
                <a:gridCol w="1371600"/>
                <a:gridCol w="1371600"/>
              </a:tblGrid>
              <a:tr h="246888">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E3 (44 KiB 두 matmul)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00" b="1" dirty="0">
                          <a:solidFill>
                            <a:srgbClr val="FFFFFF"/>
                          </a:solidFill>
                          <a:latin typeface="Malgun Gothic" pitchFamily="34" charset="0"/>
                          <a:ea typeface="Malgun Gothic" pitchFamily="34" charset="-122"/>
                          <a:cs typeface="Malgun Gothic" pitchFamily="34" charset="-120"/>
                        </a:rPr>
                        <a:t>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00" b="1" dirty="0">
                          <a:solidFill>
                            <a:srgbClr val="FFFFFF"/>
                          </a:solidFill>
                          <a:latin typeface="Malgun Gothic" pitchFamily="34" charset="0"/>
                          <a:ea typeface="Malgun Gothic" pitchFamily="34" charset="-122"/>
                          <a:cs typeface="Malgun Gothic" pitchFamily="34" charset="-120"/>
                        </a:rPr>
                        <a:t>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4688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ISA words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85</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77</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4688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DMA bytes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49,164</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49,164</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4688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SRAM peak bytes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42,508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42,508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4688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DRAM image bytes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65,548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49,164</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4688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출력</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bit-exact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44" name="Shape 41"/>
          <p:cNvSpPr/>
          <p:nvPr/>
        </p:nvSpPr>
        <p:spPr>
          <a:xfrm>
            <a:off x="5486400" y="5029200"/>
            <a:ext cx="6245352" cy="777240"/>
          </a:xfrm>
          <a:prstGeom prst="roundRect">
            <a:avLst>
              <a:gd name="adj" fmla="val 7059"/>
            </a:avLst>
          </a:prstGeom>
          <a:solidFill>
            <a:srgbClr val="EEF2F6"/>
          </a:solidFill>
          <a:ln w="12700">
            <a:solidFill>
              <a:srgbClr val="C9D3DF"/>
            </a:solidFill>
            <a:prstDash val="solid"/>
          </a:ln>
        </p:spPr>
      </p:sp>
      <p:sp>
        <p:nvSpPr>
          <p:cNvPr id="45" name="Text 42"/>
          <p:cNvSpPr txBox="1"/>
          <p:nvPr/>
        </p:nvSpPr>
        <p:spPr>
          <a:xfrm>
            <a:off x="5614416" y="5084064"/>
            <a:ext cx="5989320" cy="66751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조건: </a:t>
            </a:r>
            <a:pPr algn="l" indent="0" marL="0">
              <a:buNone/>
            </a:pPr>
            <a:r>
              <a:rPr lang="en-US" sz="950" dirty="0">
                <a:solidFill>
                  <a:srgbClr val="1F2D3D"/>
                </a:solidFill>
                <a:latin typeface="Malgun Gothic" pitchFamily="34" charset="0"/>
                <a:ea typeface="Malgun Gothic" pitchFamily="34" charset="-122"/>
                <a:cs typeface="Malgun Gothic" pitchFamily="34" charset="-120"/>
              </a:rPr>
              <a:t>64×64 FP16 tile을 정확히 하나의 npu_fill_zero와 하나의 npu_gemm_acc view가 쓰고 identity copy 하나만 있을 때. 절약한 8 KiB를 더 큰 W panel에 쓸 수 있어 peak가 그대로인 경우도 있습니다.</a:t>
            </a:r>
            <a:endParaRPr lang="en-US" sz="1200" dirty="0"/>
          </a:p>
        </p:txBody>
      </p:sp>
      <p:sp>
        <p:nvSpPr>
          <p:cNvPr id="46" name="Shape 43"/>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47" name="Text 44"/>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FP32 누산이 끝난 최종 저장 위치만 바꾸는 것이며, K 중간 partial sum을 H에 내리는 것이 아닙니다 (누산 계약 유지).</a:t>
            </a:r>
            <a:endParaRPr lang="en-US" sz="1250" dirty="0"/>
          </a:p>
        </p:txBody>
      </p:sp>
      <p:sp>
        <p:nvSpPr>
          <p:cNvPr id="48" name="Text 4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49" name="Text 4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npu_compiler/npu_accumulator.forward_output_tiles, docs/examples/two_matmuls_recorded/scheduled_0000.py, evidence/current/refinement.json (E3)</a:t>
            </a:r>
            <a:endParaRPr lang="en-US" sz="850" dirty="0"/>
          </a:p>
        </p:txBody>
      </p:sp>
      <p:sp>
        <p:nvSpPr>
          <p:cNvPr id="50" name="Text 4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53 / 89</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8 · 메모리 계획</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250" b="1" dirty="0">
                <a:solidFill>
                  <a:srgbClr val="15243B"/>
                </a:solidFill>
                <a:latin typeface="Malgun Gothic" pitchFamily="34" charset="0"/>
                <a:ea typeface="Malgun Gothic" pitchFamily="34" charset="-122"/>
                <a:cs typeface="Malgun Gothic" pitchFamily="34" charset="-120"/>
              </a:rPr>
              <a:t>보관 후 남은 DRAM 예약 제거와 주소 재배치, 그리고 후단 residency forwarding</a:t>
            </a:r>
            <a:endParaRPr lang="en-US" sz="225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SRAM-only 전달이 확정되면 아무 곳에서도 쓰지 않는 pool 전체를 제거하고 나머지 주소를 당깁니다. 두 matmul 예제에서 H의 DRAM pool 16,384 B가 사라지고 출력 gv가 57,344 → 40,960으로 이동합니다.</a:t>
            </a:r>
            <a:endParaRPr lang="en-US" sz="1250" dirty="0"/>
          </a:p>
        </p:txBody>
      </p:sp>
      <p:sp>
        <p:nvSpPr>
          <p:cNvPr id="5" name="Text 3"/>
          <p:cNvSpPr txBox="1"/>
          <p:nvPr/>
        </p:nvSpPr>
        <p:spPr>
          <a:xfrm>
            <a:off x="45720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compact_unused_storage</a:t>
            </a:r>
            <a:endParaRPr lang="en-US" sz="11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5852160" cy="914400"/>
        </p:xfrm>
        <a:graphic>
          <a:graphicData uri="http://schemas.openxmlformats.org/drawingml/2006/table">
            <a:tbl>
              <a:tblPr/>
              <a:tblGrid>
                <a:gridCol w="1188720"/>
                <a:gridCol w="4663440"/>
              </a:tblGrid>
              <a:tr h="384048">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단계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내용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반드시 남김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parameter leaf, 출력, const_data, literal pool, FP32 1.0, 모든 DMA의 strided span(빈틈 포함)</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제거 대상</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cell 반올림 범위가 위와 겹치지 않는 pool 전체 (내부 부분 제거 없음)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relocate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제거된 pool 크기만큼 아래 주소를 당김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갱신 metadata</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DMA g_addr word, plan.address, pool_base/bytes, const_data, constant_base, one_fp32_base, top, outputs offset, views, kernel_records storage(sram/dram/unused), joint_memory, residency</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후속</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saved_bytes &gt; 0 이고 KV 계약이 있으면 AppendPlan 재구성 (주소 기준 변경)</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109" name="Table 1"/>
          <p:cNvGraphicFramePr>
            <a:graphicFrameLocks noGrp="1"/>
          </p:cNvGraphicFramePr>
          <p:nvPr>
            <p:extLst>
              <p:ext uri="{D42A27DB-BD31-4B8C-83A1-F6EECF244321}">
                <p14:modId xmlns:p14="http://schemas.microsoft.com/office/powerpoint/2010/main" val="1579011935"/>
              </p:ext>
            </p:extLst>
          </p:nvPr>
        </p:nvGraphicFramePr>
        <p:xfrm>
          <a:off x="457200" y="4160520"/>
          <a:ext cx="5852160" cy="914400"/>
        </p:xfrm>
        <a:graphic>
          <a:graphicData uri="http://schemas.openxmlformats.org/drawingml/2006/table">
            <a:tbl>
              <a:tblPr/>
              <a:tblGrid>
                <a:gridCol w="1463040"/>
                <a:gridCol w="2194560"/>
                <a:gridCol w="2194560"/>
              </a:tblGrid>
              <a:tr h="329184">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예</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before → after</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제거</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2918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두 matmul (44 KiB)</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65,548 → 49,164 B</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storage 16,384 B (H의 DRAM 예약)</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Llama prefill_cache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6,429,599,864 → 6,429,587,576 B</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storage61/62 각 6,144 B (작은 중간값 pool)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실제 폭 MLP M=64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154,927,116 → 151,781,388 B</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3 MiB (중간값이 같은 pool을 재사용해 4 MiB 아님)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8" name="Text 4"/>
          <p:cNvSpPr txBox="1"/>
          <p:nvPr/>
        </p:nvSpPr>
        <p:spPr>
          <a:xfrm>
            <a:off x="653796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npu_memory_search vs npu_residency (둘 다 켜져 있음)</a:t>
            </a:r>
            <a:endParaRPr lang="en-US" sz="1100" dirty="0"/>
          </a:p>
        </p:txBody>
      </p:sp>
      <p:graphicFrame>
        <p:nvGraphicFramePr>
          <p:cNvPr id="163" name="Table 2"/>
          <p:cNvGraphicFramePr>
            <a:graphicFrameLocks noGrp="1"/>
          </p:cNvGraphicFramePr>
          <p:nvPr>
            <p:extLst>
              <p:ext uri="{D42A27DB-BD31-4B8C-83A1-F6EECF244321}">
                <p14:modId xmlns:p14="http://schemas.microsoft.com/office/powerpoint/2010/main" val="1579011935"/>
              </p:ext>
            </p:extLst>
          </p:nvPr>
        </p:nvGraphicFramePr>
        <p:xfrm>
          <a:off x="6537960" y="1645920"/>
          <a:ext cx="5193792" cy="914400"/>
        </p:xfrm>
        <a:graphic>
          <a:graphicData uri="http://schemas.openxmlformats.org/drawingml/2006/table">
            <a:tbl>
              <a:tblPr/>
              <a:tblGrid>
                <a:gridCol w="1188720"/>
                <a:gridCol w="1920240"/>
                <a:gridCol w="2084832"/>
              </a:tblGrid>
              <a:tr h="310896">
                <a:tc>
                  <a:txBody>
                    <a:bodyPr/>
                    <a:lstStyle/>
                    <a:p>
                      <a:pPr algn="l" indent="0" marL="0">
                        <a:buNone/>
                      </a:pP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memory search (보관 탐색)</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residency forwarding</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실행 시점</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codegen 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codegen 뒤, peephole 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SRAM 공간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명시적으로 예약</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예약 없음, 기회주의적</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커널 재schedule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함</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안 함</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생산자 GSTORE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제거</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유지 (write-through)</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소비자 GLOAD</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애초에 없음 (SRAM 입력)</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커널 진입 시 완전 포함되면 제거 또는 SRAM→SRAM V_COPY</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효과 분석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값 버전/byte 범위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WriteEffects: 각 명령의 쓰기 범위; 미지 opcode → cache 전체 무효</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10" name="Text 5"/>
          <p:cNvSpPr txBox="1"/>
          <p:nvPr/>
        </p:nvSpPr>
        <p:spPr>
          <a:xfrm>
            <a:off x="6537960" y="4297680"/>
            <a:ext cx="5193792" cy="219456"/>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두 matmul 예제의 DRAM image (bytes)</a:t>
            </a:r>
            <a:endParaRPr lang="en-US" sz="950" dirty="0"/>
          </a:p>
        </p:txBody>
      </p:sp>
      <p:sp>
        <p:nvSpPr>
          <p:cNvPr id="11" name="Text 6"/>
          <p:cNvSpPr txBox="1"/>
          <p:nvPr/>
        </p:nvSpPr>
        <p:spPr>
          <a:xfrm>
            <a:off x="6537960" y="4535424"/>
            <a:ext cx="548640" cy="274320"/>
          </a:xfrm>
          <a:prstGeom prst="rect">
            <a:avLst/>
          </a:prstGeom>
          <a:noFill/>
          <a:ln/>
        </p:spPr>
        <p:txBody>
          <a:bodyPr wrap="square" lIns="0" tIns="0" rIns="0" bIns="0" rtlCol="0" anchor="ctr"/>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before</a:t>
            </a:r>
            <a:endParaRPr lang="en-US" sz="750" dirty="0"/>
          </a:p>
        </p:txBody>
      </p:sp>
      <p:sp>
        <p:nvSpPr>
          <p:cNvPr id="12" name="Shape 7"/>
          <p:cNvSpPr/>
          <p:nvPr/>
        </p:nvSpPr>
        <p:spPr>
          <a:xfrm>
            <a:off x="7086600" y="4535424"/>
            <a:ext cx="4645152" cy="310896"/>
          </a:xfrm>
          <a:prstGeom prst="rect">
            <a:avLst/>
          </a:prstGeom>
          <a:solidFill>
            <a:srgbClr val="EEF2F6"/>
          </a:solidFill>
          <a:ln w="9525">
            <a:solidFill>
              <a:srgbClr val="C9D3DF"/>
            </a:solidFill>
            <a:prstDash val="solid"/>
          </a:ln>
        </p:spPr>
      </p:sp>
      <p:sp>
        <p:nvSpPr>
          <p:cNvPr id="13" name="Shape 8"/>
          <p:cNvSpPr/>
          <p:nvPr/>
        </p:nvSpPr>
        <p:spPr>
          <a:xfrm>
            <a:off x="7086600" y="4535424"/>
            <a:ext cx="580538" cy="310896"/>
          </a:xfrm>
          <a:prstGeom prst="rect">
            <a:avLst/>
          </a:prstGeom>
          <a:solidFill>
            <a:srgbClr val="EEF1F5"/>
          </a:solidFill>
          <a:ln w="12700">
            <a:solidFill>
              <a:srgbClr val="5B6B7F"/>
            </a:solidFill>
            <a:prstDash val="solid"/>
          </a:ln>
        </p:spPr>
      </p:sp>
      <p:sp>
        <p:nvSpPr>
          <p:cNvPr id="14" name="Text 9"/>
          <p:cNvSpPr txBox="1"/>
          <p:nvPr/>
        </p:nvSpPr>
        <p:spPr>
          <a:xfrm>
            <a:off x="7086600" y="4535424"/>
            <a:ext cx="580538" cy="310896"/>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x</a:t>
            </a:r>
            <a:endParaRPr lang="en-US" sz="700" dirty="0"/>
          </a:p>
        </p:txBody>
      </p:sp>
      <p:sp>
        <p:nvSpPr>
          <p:cNvPr id="15" name="Shape 10"/>
          <p:cNvSpPr/>
          <p:nvPr/>
        </p:nvSpPr>
        <p:spPr>
          <a:xfrm>
            <a:off x="7667138" y="4535424"/>
            <a:ext cx="1161075" cy="310896"/>
          </a:xfrm>
          <a:prstGeom prst="rect">
            <a:avLst/>
          </a:prstGeom>
          <a:solidFill>
            <a:srgbClr val="FFF1DC"/>
          </a:solidFill>
          <a:ln w="12700">
            <a:solidFill>
              <a:srgbClr val="D98A1E"/>
            </a:solidFill>
            <a:prstDash val="solid"/>
          </a:ln>
        </p:spPr>
      </p:sp>
      <p:sp>
        <p:nvSpPr>
          <p:cNvPr id="16" name="Text 11"/>
          <p:cNvSpPr txBox="1"/>
          <p:nvPr/>
        </p:nvSpPr>
        <p:spPr>
          <a:xfrm>
            <a:off x="7667138" y="4535424"/>
            <a:ext cx="1161075" cy="310896"/>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w</a:t>
            </a:r>
            <a:endParaRPr lang="en-US" sz="700" dirty="0"/>
          </a:p>
        </p:txBody>
      </p:sp>
      <p:sp>
        <p:nvSpPr>
          <p:cNvPr id="17" name="Shape 12"/>
          <p:cNvSpPr/>
          <p:nvPr/>
        </p:nvSpPr>
        <p:spPr>
          <a:xfrm>
            <a:off x="8828213" y="4535424"/>
            <a:ext cx="1161075" cy="310896"/>
          </a:xfrm>
          <a:prstGeom prst="rect">
            <a:avLst/>
          </a:prstGeom>
          <a:solidFill>
            <a:srgbClr val="FFF1DC"/>
          </a:solidFill>
          <a:ln w="12700">
            <a:solidFill>
              <a:srgbClr val="D98A1E"/>
            </a:solidFill>
            <a:prstDash val="solid"/>
          </a:ln>
        </p:spPr>
      </p:sp>
      <p:sp>
        <p:nvSpPr>
          <p:cNvPr id="18" name="Text 13"/>
          <p:cNvSpPr txBox="1"/>
          <p:nvPr/>
        </p:nvSpPr>
        <p:spPr>
          <a:xfrm>
            <a:off x="8828213" y="4535424"/>
            <a:ext cx="1161075" cy="310896"/>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v</a:t>
            </a:r>
            <a:endParaRPr lang="en-US" sz="700" dirty="0"/>
          </a:p>
        </p:txBody>
      </p:sp>
      <p:sp>
        <p:nvSpPr>
          <p:cNvPr id="19" name="Shape 14"/>
          <p:cNvSpPr/>
          <p:nvPr/>
        </p:nvSpPr>
        <p:spPr>
          <a:xfrm>
            <a:off x="9989289" y="4535424"/>
            <a:ext cx="1161075" cy="310896"/>
          </a:xfrm>
          <a:prstGeom prst="rect">
            <a:avLst/>
          </a:prstGeom>
          <a:solidFill>
            <a:srgbClr val="FBE9E7"/>
          </a:solidFill>
          <a:ln w="12700">
            <a:solidFill>
              <a:srgbClr val="C0392B"/>
            </a:solidFill>
            <a:prstDash val="solid"/>
          </a:ln>
        </p:spPr>
      </p:sp>
      <p:sp>
        <p:nvSpPr>
          <p:cNvPr id="20" name="Text 15"/>
          <p:cNvSpPr txBox="1"/>
          <p:nvPr/>
        </p:nvSpPr>
        <p:spPr>
          <a:xfrm>
            <a:off x="9989289" y="4535424"/>
            <a:ext cx="1161075" cy="310896"/>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storage (H) ✗</a:t>
            </a:r>
            <a:endParaRPr lang="en-US" sz="700" dirty="0"/>
          </a:p>
        </p:txBody>
      </p:sp>
      <p:sp>
        <p:nvSpPr>
          <p:cNvPr id="21" name="Shape 16"/>
          <p:cNvSpPr/>
          <p:nvPr/>
        </p:nvSpPr>
        <p:spPr>
          <a:xfrm>
            <a:off x="11150364" y="4535424"/>
            <a:ext cx="581388" cy="310896"/>
          </a:xfrm>
          <a:prstGeom prst="rect">
            <a:avLst/>
          </a:prstGeom>
          <a:solidFill>
            <a:srgbClr val="ECE6FA"/>
          </a:solidFill>
          <a:ln w="12700">
            <a:solidFill>
              <a:srgbClr val="6C4FBF"/>
            </a:solidFill>
            <a:prstDash val="solid"/>
          </a:ln>
        </p:spPr>
      </p:sp>
      <p:sp>
        <p:nvSpPr>
          <p:cNvPr id="22" name="Text 17"/>
          <p:cNvSpPr txBox="1"/>
          <p:nvPr/>
        </p:nvSpPr>
        <p:spPr>
          <a:xfrm>
            <a:off x="11150364" y="4535424"/>
            <a:ext cx="581388" cy="310896"/>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gv</a:t>
            </a:r>
            <a:endParaRPr lang="en-US" sz="700" dirty="0"/>
          </a:p>
        </p:txBody>
      </p:sp>
      <p:sp>
        <p:nvSpPr>
          <p:cNvPr id="23" name="Text 18"/>
          <p:cNvSpPr txBox="1"/>
          <p:nvPr/>
        </p:nvSpPr>
        <p:spPr>
          <a:xfrm>
            <a:off x="6537960" y="5029200"/>
            <a:ext cx="548640" cy="274320"/>
          </a:xfrm>
          <a:prstGeom prst="rect">
            <a:avLst/>
          </a:prstGeom>
          <a:noFill/>
          <a:ln/>
        </p:spPr>
        <p:txBody>
          <a:bodyPr wrap="square" lIns="0" tIns="0" rIns="0" bIns="0" rtlCol="0" anchor="ctr"/>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after</a:t>
            </a:r>
            <a:endParaRPr lang="en-US" sz="750" dirty="0"/>
          </a:p>
        </p:txBody>
      </p:sp>
      <p:sp>
        <p:nvSpPr>
          <p:cNvPr id="24" name="Shape 19"/>
          <p:cNvSpPr/>
          <p:nvPr/>
        </p:nvSpPr>
        <p:spPr>
          <a:xfrm>
            <a:off x="7086600" y="5029200"/>
            <a:ext cx="3484077" cy="310896"/>
          </a:xfrm>
          <a:prstGeom prst="rect">
            <a:avLst/>
          </a:prstGeom>
          <a:solidFill>
            <a:srgbClr val="EEF2F6"/>
          </a:solidFill>
          <a:ln w="9525">
            <a:solidFill>
              <a:srgbClr val="C9D3DF"/>
            </a:solidFill>
            <a:prstDash val="solid"/>
          </a:ln>
        </p:spPr>
      </p:sp>
      <p:sp>
        <p:nvSpPr>
          <p:cNvPr id="25" name="Shape 20"/>
          <p:cNvSpPr/>
          <p:nvPr/>
        </p:nvSpPr>
        <p:spPr>
          <a:xfrm>
            <a:off x="7086600" y="5029200"/>
            <a:ext cx="580538" cy="310896"/>
          </a:xfrm>
          <a:prstGeom prst="rect">
            <a:avLst/>
          </a:prstGeom>
          <a:solidFill>
            <a:srgbClr val="EEF1F5"/>
          </a:solidFill>
          <a:ln w="12700">
            <a:solidFill>
              <a:srgbClr val="5B6B7F"/>
            </a:solidFill>
            <a:prstDash val="solid"/>
          </a:ln>
        </p:spPr>
      </p:sp>
      <p:sp>
        <p:nvSpPr>
          <p:cNvPr id="26" name="Text 21"/>
          <p:cNvSpPr txBox="1"/>
          <p:nvPr/>
        </p:nvSpPr>
        <p:spPr>
          <a:xfrm>
            <a:off x="7086600" y="5029200"/>
            <a:ext cx="580538" cy="310896"/>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x</a:t>
            </a:r>
            <a:endParaRPr lang="en-US" sz="700" dirty="0"/>
          </a:p>
        </p:txBody>
      </p:sp>
      <p:sp>
        <p:nvSpPr>
          <p:cNvPr id="27" name="Shape 22"/>
          <p:cNvSpPr/>
          <p:nvPr/>
        </p:nvSpPr>
        <p:spPr>
          <a:xfrm>
            <a:off x="7667138" y="5029200"/>
            <a:ext cx="1161075" cy="310896"/>
          </a:xfrm>
          <a:prstGeom prst="rect">
            <a:avLst/>
          </a:prstGeom>
          <a:solidFill>
            <a:srgbClr val="FFF1DC"/>
          </a:solidFill>
          <a:ln w="12700">
            <a:solidFill>
              <a:srgbClr val="D98A1E"/>
            </a:solidFill>
            <a:prstDash val="solid"/>
          </a:ln>
        </p:spPr>
      </p:sp>
      <p:sp>
        <p:nvSpPr>
          <p:cNvPr id="28" name="Text 23"/>
          <p:cNvSpPr txBox="1"/>
          <p:nvPr/>
        </p:nvSpPr>
        <p:spPr>
          <a:xfrm>
            <a:off x="7667138" y="5029200"/>
            <a:ext cx="1161075" cy="310896"/>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w</a:t>
            </a:r>
            <a:endParaRPr lang="en-US" sz="700" dirty="0"/>
          </a:p>
        </p:txBody>
      </p:sp>
      <p:sp>
        <p:nvSpPr>
          <p:cNvPr id="29" name="Shape 24"/>
          <p:cNvSpPr/>
          <p:nvPr/>
        </p:nvSpPr>
        <p:spPr>
          <a:xfrm>
            <a:off x="8828213" y="5029200"/>
            <a:ext cx="1161075" cy="310896"/>
          </a:xfrm>
          <a:prstGeom prst="rect">
            <a:avLst/>
          </a:prstGeom>
          <a:solidFill>
            <a:srgbClr val="FFF1DC"/>
          </a:solidFill>
          <a:ln w="12700">
            <a:solidFill>
              <a:srgbClr val="D98A1E"/>
            </a:solidFill>
            <a:prstDash val="solid"/>
          </a:ln>
        </p:spPr>
      </p:sp>
      <p:sp>
        <p:nvSpPr>
          <p:cNvPr id="30" name="Text 25"/>
          <p:cNvSpPr txBox="1"/>
          <p:nvPr/>
        </p:nvSpPr>
        <p:spPr>
          <a:xfrm>
            <a:off x="8828213" y="5029200"/>
            <a:ext cx="1161075" cy="310896"/>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v</a:t>
            </a:r>
            <a:endParaRPr lang="en-US" sz="700" dirty="0"/>
          </a:p>
        </p:txBody>
      </p:sp>
      <p:sp>
        <p:nvSpPr>
          <p:cNvPr id="31" name="Shape 26"/>
          <p:cNvSpPr/>
          <p:nvPr/>
        </p:nvSpPr>
        <p:spPr>
          <a:xfrm>
            <a:off x="9989289" y="5029200"/>
            <a:ext cx="581388" cy="310896"/>
          </a:xfrm>
          <a:prstGeom prst="rect">
            <a:avLst/>
          </a:prstGeom>
          <a:solidFill>
            <a:srgbClr val="ECE6FA"/>
          </a:solidFill>
          <a:ln w="12700">
            <a:solidFill>
              <a:srgbClr val="6C4FBF"/>
            </a:solidFill>
            <a:prstDash val="solid"/>
          </a:ln>
        </p:spPr>
      </p:sp>
      <p:sp>
        <p:nvSpPr>
          <p:cNvPr id="32" name="Text 27"/>
          <p:cNvSpPr txBox="1"/>
          <p:nvPr/>
        </p:nvSpPr>
        <p:spPr>
          <a:xfrm>
            <a:off x="9989289" y="5029200"/>
            <a:ext cx="581388" cy="310896"/>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gv</a:t>
            </a:r>
            <a:endParaRPr lang="en-US" sz="700" dirty="0"/>
          </a:p>
        </p:txBody>
      </p:sp>
      <p:sp>
        <p:nvSpPr>
          <p:cNvPr id="33" name="Text 28"/>
          <p:cNvSpPr txBox="1"/>
          <p:nvPr/>
        </p:nvSpPr>
        <p:spPr>
          <a:xfrm>
            <a:off x="7086600" y="5394960"/>
            <a:ext cx="4645152"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gv 57,344 → 40,960; GSTORE packet의 g_addr word와 plan.outputs.offset_bytes를 함께 갱신. residency.events = [] (보관 탐색이 이미 H 전송을 없앰)</a:t>
            </a:r>
            <a:endParaRPr lang="en-US" sz="750" dirty="0"/>
          </a:p>
        </p:txBody>
      </p:sp>
      <p:sp>
        <p:nvSpPr>
          <p:cNvPr id="34" name="Shape 29"/>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35" name="Text 30"/>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DMA 49,164 B와 최종 image 49,164 B가 같아진 것은 이 예제의 우연이며 두 지표는 원래 다른 양입니다.</a:t>
            </a:r>
            <a:endParaRPr lang="en-US" sz="1250" dirty="0"/>
          </a:p>
        </p:txBody>
      </p:sp>
      <p:sp>
        <p:nvSpPr>
          <p:cNvPr id="36" name="Text 31"/>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37" name="Text 32"/>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npu_compiler/npu_memplan.compact_unused_storage, npu_residency.forward, docs/examples/two_matmuls_recorded/program.json (memory, dram_compaction)</a:t>
            </a:r>
            <a:endParaRPr lang="en-US" sz="850" dirty="0"/>
          </a:p>
        </p:txBody>
      </p:sp>
      <p:sp>
        <p:nvSpPr>
          <p:cNvPr id="38" name="Text 33"/>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54 / 89</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8 · 메모리 계획</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300" b="1" dirty="0">
                <a:solidFill>
                  <a:srgbClr val="15243B"/>
                </a:solidFill>
                <a:latin typeface="Malgun Gothic" pitchFamily="34" charset="0"/>
                <a:ea typeface="Malgun Gothic" pitchFamily="34" charset="-122"/>
                <a:cs typeface="Malgun Gothic" pitchFamily="34" charset="-120"/>
              </a:rPr>
              <a:t>Residual과 KV cache는 왜 다르게 취급되는가, 그리고 현재 메모리 계획의 경계</a:t>
            </a:r>
            <a:endParaRPr lang="en-US" sz="23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Residual도 중간값이면 마지막 add까지 보관 후보입니다. KV cache는 다음 프로그램 호출에도 필요하고 ABI 입력/출력으로 관찰되므로 DRAM 상태를 유지합니다.</a:t>
            </a:r>
            <a:endParaRPr lang="en-US" sz="125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6583680" cy="914400"/>
        </p:xfrm>
        <a:graphic>
          <a:graphicData uri="http://schemas.openxmlformats.org/drawingml/2006/table">
            <a:tbl>
              <a:tblPr/>
              <a:tblGrid>
                <a:gridCol w="2103120"/>
                <a:gridCol w="822960"/>
                <a:gridCol w="3657600"/>
              </a:tblGrid>
              <a:tr h="457200">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값</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보관 후보?</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이유</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Residual X (attention 전 hidden)</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후보</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중간값. 마지막 add(R = X + attn)까지 SRAM 보관 가능. 384 KiB(M=64)이지만 사이 작업 공간과 비용에 따라 결정</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MLP 중간 G/S/U/H</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후보</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FP16, 같은 호출에서 RMW 아님, compact → 실제 폭 MLP에서 보관 적용 기록</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KV cache (k_cache, v_cache)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보호</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ABI 입력 parameter이자 append 대상. 다음 호출에서 관찰 → DRAM 유지</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최종 출력 (logits, K_new, V_new)</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보호</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출력 tree의 leaf: runtime이 그 주소에서 읽음</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graph 상수, literal pool</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보호</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const_data / constant_base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alias가 모호한 view, in-place 갱신</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제외</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값 버전을 확신할 수 없음 → DRAM 계약 유지</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7269480" y="1371600"/>
            <a:ext cx="45720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현재 메모리 계획의 경계</a:t>
            </a:r>
            <a:endParaRPr lang="en-US" sz="1100" dirty="0"/>
          </a:p>
        </p:txBody>
      </p:sp>
      <p:sp>
        <p:nvSpPr>
          <p:cNvPr id="7" name="Text 4"/>
          <p:cNvSpPr txBox="1"/>
          <p:nvPr/>
        </p:nvSpPr>
        <p:spPr>
          <a:xfrm>
            <a:off x="7269480" y="1691640"/>
            <a:ext cx="4462272" cy="4114800"/>
          </a:xfrm>
          <a:prstGeom prst="rect">
            <a:avLst/>
          </a:prstGeom>
          <a:noFill/>
          <a:ln/>
        </p:spPr>
        <p:txBody>
          <a:bodyPr wrap="square" lIns="0" tIns="0" rIns="0" bIns="0" rtlCol="0" anchor="t"/>
          <a:lstStyle/>
          <a:p>
            <a:pPr algn="l" marL="152400" indent="-152400">
              <a:spcAft>
                <a:spcPts val="5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Whole-tensor 보관만: </a:t>
            </a:r>
            <a:pPr algn="l" indent="0" marL="0">
              <a:spcAft>
                <a:spcPts val="500"/>
              </a:spcAft>
              <a:buNone/>
            </a:pPr>
            <a:r>
              <a:rPr lang="en-US" sz="950" dirty="0">
                <a:solidFill>
                  <a:srgbClr val="1F2D3D"/>
                </a:solidFill>
                <a:latin typeface="Malgun Gothic" pitchFamily="34" charset="0"/>
                <a:ea typeface="Malgun Gothic" pitchFamily="34" charset="-122"/>
                <a:cs typeface="Malgun Gothic" pitchFamily="34" charset="-120"/>
              </a:rPr>
              <a:t>일부 tile만 남기기, 중간 퇴거, 호출 순서 변경은 없음</a:t>
            </a:r>
            <a:endParaRPr lang="en-US" sz="950" dirty="0"/>
          </a:p>
          <a:p>
            <a:pPr algn="l" marL="152400" indent="-152400">
              <a:spcAft>
                <a:spcPts val="5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고정 호출 순서: </a:t>
            </a:r>
            <a:pPr algn="l" indent="0" marL="0">
              <a:spcAft>
                <a:spcPts val="500"/>
              </a:spcAft>
              <a:buNone/>
            </a:pPr>
            <a:r>
              <a:rPr lang="en-US" sz="950" dirty="0">
                <a:solidFill>
                  <a:srgbClr val="1F2D3D"/>
                </a:solidFill>
                <a:latin typeface="Malgun Gothic" pitchFamily="34" charset="0"/>
                <a:ea typeface="Malgun Gothic" pitchFamily="34" charset="-122"/>
                <a:cs typeface="Malgun Gothic" pitchFamily="34" charset="-120"/>
              </a:rPr>
              <a:t>Relax binding 순서대로. 재배치로 수명을 줄이는 최적화 없음</a:t>
            </a:r>
            <a:endParaRPr lang="en-US" sz="950" dirty="0"/>
          </a:p>
          <a:p>
            <a:pPr algn="l" marL="152400" indent="-152400">
              <a:spcAft>
                <a:spcPts val="5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조각화: </a:t>
            </a:r>
            <a:pPr algn="l" indent="0" marL="0">
              <a:spcAft>
                <a:spcPts val="500"/>
              </a:spcAft>
              <a:buNone/>
            </a:pPr>
            <a:r>
              <a:rPr lang="en-US" sz="950" dirty="0">
                <a:solidFill>
                  <a:srgbClr val="1F2D3D"/>
                </a:solidFill>
                <a:latin typeface="Malgun Gothic" pitchFamily="34" charset="0"/>
                <a:ea typeface="Malgun Gothic" pitchFamily="34" charset="-122"/>
                <a:cs typeface="Malgun Gothic" pitchFamily="34" charset="-120"/>
              </a:rPr>
              <a:t>빈 구간 재사용과 arena 하향은 있지만 전역 allocator는 아님</a:t>
            </a:r>
            <a:endParaRPr lang="en-US" sz="950" dirty="0"/>
          </a:p>
          <a:p>
            <a:pPr algn="l" marL="152400" indent="-152400">
              <a:spcAft>
                <a:spcPts val="5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DRAM 압축: </a:t>
            </a:r>
            <a:pPr algn="l" indent="0" marL="0">
              <a:spcAft>
                <a:spcPts val="500"/>
              </a:spcAft>
              <a:buNone/>
            </a:pPr>
            <a:r>
              <a:rPr lang="en-US" sz="950" dirty="0">
                <a:solidFill>
                  <a:srgbClr val="1F2D3D"/>
                </a:solidFill>
                <a:latin typeface="Malgun Gothic" pitchFamily="34" charset="0"/>
                <a:ea typeface="Malgun Gothic" pitchFamily="34" charset="-122"/>
                <a:cs typeface="Malgun Gothic" pitchFamily="34" charset="-120"/>
              </a:rPr>
              <a:t>완전히 미사용인 pool만 제거. 사용 중 pool 내부 낭비는 미해결</a:t>
            </a:r>
            <a:endParaRPr lang="en-US" sz="950" dirty="0"/>
          </a:p>
          <a:p>
            <a:pPr algn="l" marL="152400" indent="-152400">
              <a:spcAft>
                <a:spcPts val="5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Snapshot: </a:t>
            </a:r>
            <a:pPr algn="l" indent="0" marL="0">
              <a:spcAft>
                <a:spcPts val="500"/>
              </a:spcAft>
              <a:buNone/>
            </a:pPr>
            <a:r>
              <a:rPr lang="en-US" sz="950" dirty="0">
                <a:solidFill>
                  <a:srgbClr val="1F2D3D"/>
                </a:solidFill>
                <a:latin typeface="Malgun Gothic" pitchFamily="34" charset="0"/>
                <a:ea typeface="Malgun Gothic" pitchFamily="34" charset="-122"/>
                <a:cs typeface="Malgun Gothic" pitchFamily="34" charset="-120"/>
              </a:rPr>
              <a:t>관찰해야 하는 중간값이 있으면 SRAM-only 전달을 제한하거나 끔</a:t>
            </a:r>
            <a:endParaRPr lang="en-US" sz="950" dirty="0"/>
          </a:p>
          <a:p>
            <a:pPr algn="l" marL="152400" indent="-152400">
              <a:spcAft>
                <a:spcPts val="5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실패 시: </a:t>
            </a:r>
            <a:pPr algn="l" indent="0" marL="0">
              <a:spcAft>
                <a:spcPts val="500"/>
              </a:spcAft>
              <a:buNone/>
            </a:pPr>
            <a:r>
              <a:rPr lang="en-US" sz="950" dirty="0">
                <a:solidFill>
                  <a:srgbClr val="1F2D3D"/>
                </a:solidFill>
                <a:latin typeface="Malgun Gothic" pitchFamily="34" charset="0"/>
                <a:ea typeface="Malgun Gothic" pitchFamily="34" charset="-122"/>
                <a:cs typeface="Malgun Gothic" pitchFamily="34" charset="-120"/>
              </a:rPr>
              <a:t>보관하지 못하면 DRAM 경로 → 큰 activation이 곧 컴파일 불가는 아님. 개별 연산의 shape/reduction 한도는 별개</a:t>
            </a:r>
            <a:endParaRPr lang="en-US" sz="950" dirty="0"/>
          </a:p>
        </p:txBody>
      </p:sp>
      <p:sp>
        <p:nvSpPr>
          <p:cNvPr id="8" name="Shape 5"/>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9" name="Text 6"/>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"kv"라는 이름이 아니라 외부 가시성 계약으로 보호합니다. 남은 낭비가 실제 프로그램 비용에 큰지 확인한 뒤에 다음 개선을 검토합니다.</a:t>
            </a:r>
            <a:endParaRPr lang="en-US" sz="1250" dirty="0"/>
          </a:p>
        </p:txBody>
      </p:sp>
      <p:sp>
        <p:nvSpPr>
          <p:cNvPr id="10" name="Text 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1" name="Text 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docs/current/08_memory.md, npu_memory_search.discover (보호 범위)</a:t>
            </a:r>
            <a:endParaRPr lang="en-US" sz="850" dirty="0"/>
          </a:p>
        </p:txBody>
      </p:sp>
      <p:sp>
        <p:nvSpPr>
          <p:cNvPr id="12" name="Text 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55 / 89</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Codegen: 주소가 연결된 scheduled TIR를 정적으로 전개된 명령 stream으로</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Walker는 TIR을 직접 해석합니다. 모든 For는 완전히 unroll되고 loop/branch 명령은 없습니다. 아래는 두 matmul 예제의 두 번째 커널(K loop 2회)이 29 words의 직선 stream이 되는 실제 결과입니다.</a:t>
            </a:r>
            <a:endParaRPr lang="en-US" sz="1250" dirty="0"/>
          </a:p>
        </p:txBody>
      </p:sp>
      <p:sp>
        <p:nvSpPr>
          <p:cNvPr id="5" name="Shape 3"/>
          <p:cNvSpPr/>
          <p:nvPr/>
        </p:nvSpPr>
        <p:spPr>
          <a:xfrm>
            <a:off x="457200" y="1417320"/>
            <a:ext cx="3520440" cy="1188720"/>
          </a:xfrm>
          <a:prstGeom prst="roundRect">
            <a:avLst>
              <a:gd name="adj" fmla="val 3846"/>
            </a:avLst>
          </a:prstGeom>
          <a:solidFill>
            <a:srgbClr val="F5F7FA"/>
          </a:solidFill>
          <a:ln w="9525">
            <a:solidFill>
              <a:srgbClr val="C9D3DF"/>
            </a:solidFill>
            <a:prstDash val="solid"/>
          </a:ln>
        </p:spPr>
      </p:sp>
      <p:sp>
        <p:nvSpPr>
          <p:cNvPr id="6" name="Text 4"/>
          <p:cNvSpPr txBox="1"/>
          <p:nvPr/>
        </p:nvSpPr>
        <p:spPr>
          <a:xfrm>
            <a:off x="566928" y="1490472"/>
            <a:ext cx="3300984" cy="1042416"/>
          </a:xfrm>
          <a:prstGeom prst="rect">
            <a:avLst/>
          </a:prstGeom>
          <a:noFill/>
          <a:ln/>
        </p:spPr>
        <p:txBody>
          <a:bodyPr wrap="square" lIns="0" tIns="0" rIns="0" bIns="0" rtlCol="0" anchor="t"/>
          <a:lstStyle/>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scheduled_0001.py (핵심만)</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v_sram = cache_read(W2) → GLOAD</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npu_fill_zero(C)        # MAC=0 상태</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for k_0 in range(2):    # unroll</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npu_gemm_acc(C, lv[:,k_0*64:], v_sram[k_0*64:,:])</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compute[i,j] = C[i,j]   # SAVE → GSTORE</a:t>
            </a:r>
            <a:endParaRPr lang="en-US" sz="780" dirty="0"/>
          </a:p>
        </p:txBody>
      </p:sp>
      <p:sp>
        <p:nvSpPr>
          <p:cNvPr id="7" name="Shape 5"/>
          <p:cNvSpPr/>
          <p:nvPr/>
        </p:nvSpPr>
        <p:spPr>
          <a:xfrm>
            <a:off x="4023360" y="2011680"/>
            <a:ext cx="411480" cy="914"/>
          </a:xfrm>
          <a:prstGeom prst="line">
            <a:avLst/>
          </a:prstGeom>
          <a:noFill/>
          <a:ln w="25400">
            <a:solidFill>
              <a:srgbClr val="5B6B7F"/>
            </a:solidFill>
            <a:prstDash val="solid"/>
            <a:tailEnd type="triangle"/>
          </a:ln>
        </p:spPr>
      </p:sp>
      <p:sp>
        <p:nvSpPr>
          <p:cNvPr id="8" name="Text 6"/>
          <p:cNvSpPr txBox="1"/>
          <p:nvPr/>
        </p:nvSpPr>
        <p:spPr>
          <a:xfrm>
            <a:off x="3931920" y="1554480"/>
            <a:ext cx="685800" cy="411480"/>
          </a:xfrm>
          <a:prstGeom prst="rect">
            <a:avLst/>
          </a:prstGeom>
          <a:noFill/>
          <a:ln/>
        </p:spPr>
        <p:txBody>
          <a:bodyPr wrap="square" lIns="0" tIns="0" rIns="0" bIns="0" rtlCol="0" anchor="t"/>
          <a:lstStyle/>
          <a:p>
            <a:pPr algn="ctr" indent="0" marL="0">
              <a:buNone/>
            </a:pPr>
            <a:r>
              <a:rPr lang="en-US" sz="750" b="1" dirty="0">
                <a:solidFill>
                  <a:srgbClr val="5B6B7F"/>
                </a:solidFill>
                <a:latin typeface="Malgun Gothic" pitchFamily="34" charset="0"/>
                <a:ea typeface="Malgun Gothic" pitchFamily="34" charset="-122"/>
                <a:cs typeface="Malgun Gothic" pitchFamily="34" charset="-120"/>
              </a:rPr>
              <a:t>Walker</a:t>
            </a:r>
            <a:endParaRPr lang="en-US" sz="750" dirty="0"/>
          </a:p>
          <a:p>
            <a:pPr algn="ctr" indent="0" marL="0">
              <a:buNone/>
            </a:pPr>
            <a:r>
              <a:rPr lang="en-US" sz="750" b="1" dirty="0">
                <a:solidFill>
                  <a:srgbClr val="5B6B7F"/>
                </a:solidFill>
                <a:latin typeface="Malgun Gothic" pitchFamily="34" charset="0"/>
                <a:ea typeface="Malgun Gothic" pitchFamily="34" charset="-122"/>
                <a:cs typeface="Malgun Gothic" pitchFamily="34" charset="-120"/>
              </a:rPr>
              <a:t>unroll</a:t>
            </a:r>
            <a:endParaRPr lang="en-US" sz="750" dirty="0"/>
          </a:p>
        </p:txBody>
      </p:sp>
      <p:sp>
        <p:nvSpPr>
          <p:cNvPr id="9" name="Text 7"/>
          <p:cNvSpPr txBox="1"/>
          <p:nvPr/>
        </p:nvSpPr>
        <p:spPr>
          <a:xfrm>
            <a:off x="4480560" y="1371600"/>
            <a:ext cx="72237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실제 word 48–76 (29 words = 22 instructions): 4-word DMA packet 2개 + 1-word 명령 20개 + HALT</a:t>
            </a:r>
            <a:endParaRPr lang="en-US" sz="850" dirty="0"/>
          </a:p>
        </p:txBody>
      </p:sp>
      <p:sp>
        <p:nvSpPr>
          <p:cNvPr id="10" name="Shape 8"/>
          <p:cNvSpPr/>
          <p:nvPr/>
        </p:nvSpPr>
        <p:spPr>
          <a:xfrm>
            <a:off x="4480560" y="1645920"/>
            <a:ext cx="1000164" cy="384048"/>
          </a:xfrm>
          <a:prstGeom prst="rect">
            <a:avLst/>
          </a:prstGeom>
          <a:solidFill>
            <a:srgbClr val="FFF1DC"/>
          </a:solidFill>
          <a:ln w="6350">
            <a:solidFill>
              <a:srgbClr val="D98A1E"/>
            </a:solidFill>
            <a:prstDash val="solid"/>
          </a:ln>
        </p:spPr>
      </p:sp>
      <p:sp>
        <p:nvSpPr>
          <p:cNvPr id="11" name="Text 9"/>
          <p:cNvSpPr txBox="1"/>
          <p:nvPr/>
        </p:nvSpPr>
        <p:spPr>
          <a:xfrm>
            <a:off x="4480560" y="1645920"/>
            <a:ext cx="1000164"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GLOAD W2</a:t>
            </a:r>
            <a:endParaRPr lang="en-US" sz="600" dirty="0"/>
          </a:p>
          <a:p>
            <a:pPr algn="ctr" indent="0" marL="0">
              <a:buNone/>
            </a:pPr>
            <a:r>
              <a:rPr lang="en-US" sz="600" dirty="0">
                <a:solidFill>
                  <a:srgbClr val="1F2D3D"/>
                </a:solidFill>
                <a:latin typeface="Malgun Gothic" pitchFamily="34" charset="0"/>
                <a:ea typeface="Malgun Gothic" pitchFamily="34" charset="-122"/>
                <a:cs typeface="Malgun Gothic" pitchFamily="34" charset="-120"/>
              </a:rPr>
              <a:t>(4 words)</a:t>
            </a:r>
            <a:endParaRPr lang="en-US" sz="600" dirty="0"/>
          </a:p>
        </p:txBody>
      </p:sp>
      <p:sp>
        <p:nvSpPr>
          <p:cNvPr id="12" name="Text 10"/>
          <p:cNvSpPr txBox="1"/>
          <p:nvPr/>
        </p:nvSpPr>
        <p:spPr>
          <a:xfrm>
            <a:off x="4251960" y="2048256"/>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48</a:t>
            </a:r>
            <a:endParaRPr lang="en-US" sz="650" dirty="0"/>
          </a:p>
        </p:txBody>
      </p:sp>
      <p:sp>
        <p:nvSpPr>
          <p:cNvPr id="13" name="Shape 11"/>
          <p:cNvSpPr/>
          <p:nvPr/>
        </p:nvSpPr>
        <p:spPr>
          <a:xfrm>
            <a:off x="5480724" y="1645920"/>
            <a:ext cx="250041" cy="384048"/>
          </a:xfrm>
          <a:prstGeom prst="rect">
            <a:avLst/>
          </a:prstGeom>
          <a:solidFill>
            <a:srgbClr val="E3EEFB"/>
          </a:solidFill>
          <a:ln w="6350">
            <a:solidFill>
              <a:srgbClr val="2F6DB5"/>
            </a:solidFill>
            <a:prstDash val="solid"/>
          </a:ln>
        </p:spPr>
      </p:sp>
      <p:sp>
        <p:nvSpPr>
          <p:cNvPr id="14" name="Text 12"/>
          <p:cNvSpPr txBox="1"/>
          <p:nvPr/>
        </p:nvSpPr>
        <p:spPr>
          <a:xfrm>
            <a:off x="5480724"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A</a:t>
            </a:r>
            <a:endParaRPr lang="en-US" sz="600" dirty="0"/>
          </a:p>
        </p:txBody>
      </p:sp>
      <p:sp>
        <p:nvSpPr>
          <p:cNvPr id="15" name="Text 13"/>
          <p:cNvSpPr txBox="1"/>
          <p:nvPr/>
        </p:nvSpPr>
        <p:spPr>
          <a:xfrm>
            <a:off x="5206404" y="1463040"/>
            <a:ext cx="798681" cy="164592"/>
          </a:xfrm>
          <a:prstGeom prst="rect">
            <a:avLst/>
          </a:prstGeom>
          <a:noFill/>
          <a:ln/>
        </p:spPr>
        <p:txBody>
          <a:bodyPr wrap="square" lIns="0" tIns="0" rIns="0" bIns="0" rtlCol="0" anchor="t"/>
          <a:lstStyle/>
          <a:p>
            <a:pPr algn="ctr" indent="0" marL="0">
              <a:buNone/>
            </a:pPr>
            <a:r>
              <a:rPr lang="en-US" sz="700" b="1" dirty="0">
                <a:solidFill>
                  <a:srgbClr val="15243B"/>
                </a:solidFill>
                <a:latin typeface="Malgun Gothic" pitchFamily="34" charset="0"/>
                <a:ea typeface="Malgun Gothic" pitchFamily="34" charset="-122"/>
                <a:cs typeface="Malgun Gothic" pitchFamily="34" charset="-120"/>
              </a:rPr>
              <a:t>K tile 0</a:t>
            </a:r>
            <a:endParaRPr lang="en-US" sz="700" dirty="0"/>
          </a:p>
        </p:txBody>
      </p:sp>
      <p:sp>
        <p:nvSpPr>
          <p:cNvPr id="16" name="Shape 14"/>
          <p:cNvSpPr/>
          <p:nvPr/>
        </p:nvSpPr>
        <p:spPr>
          <a:xfrm>
            <a:off x="5730766" y="1645920"/>
            <a:ext cx="250041" cy="384048"/>
          </a:xfrm>
          <a:prstGeom prst="rect">
            <a:avLst/>
          </a:prstGeom>
          <a:solidFill>
            <a:srgbClr val="EEF1F5"/>
          </a:solidFill>
          <a:ln w="6350">
            <a:solidFill>
              <a:srgbClr val="5B6B7F"/>
            </a:solidFill>
            <a:prstDash val="solid"/>
          </a:ln>
        </p:spPr>
      </p:sp>
      <p:sp>
        <p:nvSpPr>
          <p:cNvPr id="17" name="Text 15"/>
          <p:cNvSpPr txBox="1"/>
          <p:nvPr/>
        </p:nvSpPr>
        <p:spPr>
          <a:xfrm>
            <a:off x="5730766"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C</a:t>
            </a:r>
            <a:endParaRPr lang="en-US" sz="600" dirty="0"/>
          </a:p>
        </p:txBody>
      </p:sp>
      <p:sp>
        <p:nvSpPr>
          <p:cNvPr id="18" name="Shape 16"/>
          <p:cNvSpPr/>
          <p:nvPr/>
        </p:nvSpPr>
        <p:spPr>
          <a:xfrm>
            <a:off x="5980807" y="1645920"/>
            <a:ext cx="250041" cy="384048"/>
          </a:xfrm>
          <a:prstGeom prst="rect">
            <a:avLst/>
          </a:prstGeom>
          <a:solidFill>
            <a:srgbClr val="E3EEFB"/>
          </a:solidFill>
          <a:ln w="6350">
            <a:solidFill>
              <a:srgbClr val="2F6DB5"/>
            </a:solidFill>
            <a:prstDash val="solid"/>
          </a:ln>
        </p:spPr>
      </p:sp>
      <p:sp>
        <p:nvSpPr>
          <p:cNvPr id="19" name="Text 17"/>
          <p:cNvSpPr txBox="1"/>
          <p:nvPr/>
        </p:nvSpPr>
        <p:spPr>
          <a:xfrm>
            <a:off x="5980807"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A</a:t>
            </a:r>
            <a:endParaRPr lang="en-US" sz="600" dirty="0"/>
          </a:p>
        </p:txBody>
      </p:sp>
      <p:sp>
        <p:nvSpPr>
          <p:cNvPr id="20" name="Shape 18"/>
          <p:cNvSpPr/>
          <p:nvPr/>
        </p:nvSpPr>
        <p:spPr>
          <a:xfrm>
            <a:off x="6230848" y="1645920"/>
            <a:ext cx="250041" cy="384048"/>
          </a:xfrm>
          <a:prstGeom prst="rect">
            <a:avLst/>
          </a:prstGeom>
          <a:solidFill>
            <a:srgbClr val="DDF3F0"/>
          </a:solidFill>
          <a:ln w="6350">
            <a:solidFill>
              <a:srgbClr val="1F8A8A"/>
            </a:solidFill>
            <a:prstDash val="solid"/>
          </a:ln>
        </p:spPr>
      </p:sp>
      <p:sp>
        <p:nvSpPr>
          <p:cNvPr id="21" name="Text 19"/>
          <p:cNvSpPr txBox="1"/>
          <p:nvPr/>
        </p:nvSpPr>
        <p:spPr>
          <a:xfrm>
            <a:off x="6230848" y="1645920"/>
            <a:ext cx="250041" cy="384048"/>
          </a:xfrm>
          <a:prstGeom prst="rect">
            <a:avLst/>
          </a:prstGeom>
          <a:noFill/>
          <a:ln/>
        </p:spPr>
        <p:txBody>
          <a:bodyPr wrap="square" lIns="0" tIns="0" rIns="0" bIns="0" rtlCol="0" anchor="ctr"/>
          <a:lstStyle/>
          <a:p>
            <a:pPr algn="ctr" indent="0" marL="0">
              <a:buNone/>
            </a:pPr>
            <a:r>
              <a:rPr lang="en-US" sz="600" b="1" dirty="0">
                <a:solidFill>
                  <a:srgbClr val="1F2D3D"/>
                </a:solidFill>
                <a:latin typeface="Malgun Gothic" pitchFamily="34" charset="0"/>
                <a:ea typeface="Malgun Gothic" pitchFamily="34" charset="-122"/>
                <a:cs typeface="Malgun Gothic" pitchFamily="34" charset="-120"/>
              </a:rPr>
              <a:t>L</a:t>
            </a:r>
            <a:endParaRPr lang="en-US" sz="600" dirty="0"/>
          </a:p>
        </p:txBody>
      </p:sp>
      <p:sp>
        <p:nvSpPr>
          <p:cNvPr id="22" name="Shape 20"/>
          <p:cNvSpPr/>
          <p:nvPr/>
        </p:nvSpPr>
        <p:spPr>
          <a:xfrm>
            <a:off x="6480889" y="1645920"/>
            <a:ext cx="250041" cy="384048"/>
          </a:xfrm>
          <a:prstGeom prst="rect">
            <a:avLst/>
          </a:prstGeom>
          <a:solidFill>
            <a:srgbClr val="E3EEFB"/>
          </a:solidFill>
          <a:ln w="6350">
            <a:solidFill>
              <a:srgbClr val="2F6DB5"/>
            </a:solidFill>
            <a:prstDash val="solid"/>
          </a:ln>
        </p:spPr>
      </p:sp>
      <p:sp>
        <p:nvSpPr>
          <p:cNvPr id="23" name="Text 21"/>
          <p:cNvSpPr txBox="1"/>
          <p:nvPr/>
        </p:nvSpPr>
        <p:spPr>
          <a:xfrm>
            <a:off x="6480889"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A</a:t>
            </a:r>
            <a:endParaRPr lang="en-US" sz="600" dirty="0"/>
          </a:p>
        </p:txBody>
      </p:sp>
      <p:sp>
        <p:nvSpPr>
          <p:cNvPr id="24" name="Shape 22"/>
          <p:cNvSpPr/>
          <p:nvPr/>
        </p:nvSpPr>
        <p:spPr>
          <a:xfrm>
            <a:off x="6730930" y="1645920"/>
            <a:ext cx="250041" cy="384048"/>
          </a:xfrm>
          <a:prstGeom prst="rect">
            <a:avLst/>
          </a:prstGeom>
          <a:solidFill>
            <a:srgbClr val="EEF1F5"/>
          </a:solidFill>
          <a:ln w="6350">
            <a:solidFill>
              <a:srgbClr val="5B6B7F"/>
            </a:solidFill>
            <a:prstDash val="solid"/>
          </a:ln>
        </p:spPr>
      </p:sp>
      <p:sp>
        <p:nvSpPr>
          <p:cNvPr id="25" name="Text 23"/>
          <p:cNvSpPr txBox="1"/>
          <p:nvPr/>
        </p:nvSpPr>
        <p:spPr>
          <a:xfrm>
            <a:off x="6730930"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C</a:t>
            </a:r>
            <a:endParaRPr lang="en-US" sz="600" dirty="0"/>
          </a:p>
        </p:txBody>
      </p:sp>
      <p:sp>
        <p:nvSpPr>
          <p:cNvPr id="26" name="Shape 24"/>
          <p:cNvSpPr/>
          <p:nvPr/>
        </p:nvSpPr>
        <p:spPr>
          <a:xfrm>
            <a:off x="6980971" y="1645920"/>
            <a:ext cx="250041" cy="384048"/>
          </a:xfrm>
          <a:prstGeom prst="rect">
            <a:avLst/>
          </a:prstGeom>
          <a:solidFill>
            <a:srgbClr val="E3EEFB"/>
          </a:solidFill>
          <a:ln w="6350">
            <a:solidFill>
              <a:srgbClr val="2F6DB5"/>
            </a:solidFill>
            <a:prstDash val="solid"/>
          </a:ln>
        </p:spPr>
      </p:sp>
      <p:sp>
        <p:nvSpPr>
          <p:cNvPr id="27" name="Text 25"/>
          <p:cNvSpPr txBox="1"/>
          <p:nvPr/>
        </p:nvSpPr>
        <p:spPr>
          <a:xfrm>
            <a:off x="6980971"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A</a:t>
            </a:r>
            <a:endParaRPr lang="en-US" sz="600" dirty="0"/>
          </a:p>
        </p:txBody>
      </p:sp>
      <p:sp>
        <p:nvSpPr>
          <p:cNvPr id="28" name="Shape 26"/>
          <p:cNvSpPr/>
          <p:nvPr/>
        </p:nvSpPr>
        <p:spPr>
          <a:xfrm>
            <a:off x="7231012" y="1645920"/>
            <a:ext cx="250041" cy="384048"/>
          </a:xfrm>
          <a:prstGeom prst="rect">
            <a:avLst/>
          </a:prstGeom>
          <a:solidFill>
            <a:srgbClr val="DDF3F0"/>
          </a:solidFill>
          <a:ln w="6350">
            <a:solidFill>
              <a:srgbClr val="1F8A8A"/>
            </a:solidFill>
            <a:prstDash val="solid"/>
          </a:ln>
        </p:spPr>
      </p:sp>
      <p:sp>
        <p:nvSpPr>
          <p:cNvPr id="29" name="Text 27"/>
          <p:cNvSpPr txBox="1"/>
          <p:nvPr/>
        </p:nvSpPr>
        <p:spPr>
          <a:xfrm>
            <a:off x="7231012" y="1645920"/>
            <a:ext cx="250041" cy="384048"/>
          </a:xfrm>
          <a:prstGeom prst="rect">
            <a:avLst/>
          </a:prstGeom>
          <a:noFill/>
          <a:ln/>
        </p:spPr>
        <p:txBody>
          <a:bodyPr wrap="square" lIns="0" tIns="0" rIns="0" bIns="0" rtlCol="0" anchor="ctr"/>
          <a:lstStyle/>
          <a:p>
            <a:pPr algn="ctr" indent="0" marL="0">
              <a:buNone/>
            </a:pPr>
            <a:r>
              <a:rPr lang="en-US" sz="600" b="1" dirty="0">
                <a:solidFill>
                  <a:srgbClr val="1F2D3D"/>
                </a:solidFill>
                <a:latin typeface="Malgun Gothic" pitchFamily="34" charset="0"/>
                <a:ea typeface="Malgun Gothic" pitchFamily="34" charset="-122"/>
                <a:cs typeface="Malgun Gothic" pitchFamily="34" charset="-120"/>
              </a:rPr>
              <a:t>L</a:t>
            </a:r>
            <a:endParaRPr lang="en-US" sz="600" dirty="0"/>
          </a:p>
        </p:txBody>
      </p:sp>
      <p:sp>
        <p:nvSpPr>
          <p:cNvPr id="30" name="Shape 28"/>
          <p:cNvSpPr/>
          <p:nvPr/>
        </p:nvSpPr>
        <p:spPr>
          <a:xfrm>
            <a:off x="7481053" y="1645920"/>
            <a:ext cx="250041" cy="384048"/>
          </a:xfrm>
          <a:prstGeom prst="rect">
            <a:avLst/>
          </a:prstGeom>
          <a:solidFill>
            <a:srgbClr val="ECE6FA"/>
          </a:solidFill>
          <a:ln w="6350">
            <a:solidFill>
              <a:srgbClr val="6C4FBF"/>
            </a:solidFill>
            <a:prstDash val="solid"/>
          </a:ln>
        </p:spPr>
      </p:sp>
      <p:sp>
        <p:nvSpPr>
          <p:cNvPr id="31" name="Text 29"/>
          <p:cNvSpPr txBox="1"/>
          <p:nvPr/>
        </p:nvSpPr>
        <p:spPr>
          <a:xfrm>
            <a:off x="7481053" y="1645920"/>
            <a:ext cx="250041" cy="384048"/>
          </a:xfrm>
          <a:prstGeom prst="rect">
            <a:avLst/>
          </a:prstGeom>
          <a:noFill/>
          <a:ln/>
        </p:spPr>
        <p:txBody>
          <a:bodyPr wrap="square" lIns="0" tIns="0" rIns="0" bIns="0" rtlCol="0" anchor="ctr"/>
          <a:lstStyle/>
          <a:p>
            <a:pPr algn="ctr" indent="0" marL="0">
              <a:buNone/>
            </a:pPr>
            <a:r>
              <a:rPr lang="en-US" sz="600" b="1" dirty="0">
                <a:solidFill>
                  <a:srgbClr val="1F2D3D"/>
                </a:solidFill>
                <a:latin typeface="Malgun Gothic" pitchFamily="34" charset="0"/>
                <a:ea typeface="Malgun Gothic" pitchFamily="34" charset="-122"/>
                <a:cs typeface="Malgun Gothic" pitchFamily="34" charset="-120"/>
              </a:rPr>
              <a:t>M0</a:t>
            </a:r>
            <a:endParaRPr lang="en-US" sz="600" dirty="0"/>
          </a:p>
        </p:txBody>
      </p:sp>
      <p:sp>
        <p:nvSpPr>
          <p:cNvPr id="32" name="Text 30"/>
          <p:cNvSpPr txBox="1"/>
          <p:nvPr/>
        </p:nvSpPr>
        <p:spPr>
          <a:xfrm>
            <a:off x="7252453" y="2048256"/>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60</a:t>
            </a:r>
            <a:endParaRPr lang="en-US" sz="650" dirty="0"/>
          </a:p>
        </p:txBody>
      </p:sp>
      <p:sp>
        <p:nvSpPr>
          <p:cNvPr id="33" name="Shape 31"/>
          <p:cNvSpPr/>
          <p:nvPr/>
        </p:nvSpPr>
        <p:spPr>
          <a:xfrm>
            <a:off x="7731094" y="1645920"/>
            <a:ext cx="250041" cy="384048"/>
          </a:xfrm>
          <a:prstGeom prst="rect">
            <a:avLst/>
          </a:prstGeom>
          <a:solidFill>
            <a:srgbClr val="E3EEFB"/>
          </a:solidFill>
          <a:ln w="6350">
            <a:solidFill>
              <a:srgbClr val="2F6DB5"/>
            </a:solidFill>
            <a:prstDash val="solid"/>
          </a:ln>
        </p:spPr>
      </p:sp>
      <p:sp>
        <p:nvSpPr>
          <p:cNvPr id="34" name="Text 32"/>
          <p:cNvSpPr txBox="1"/>
          <p:nvPr/>
        </p:nvSpPr>
        <p:spPr>
          <a:xfrm>
            <a:off x="7731094"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A</a:t>
            </a:r>
            <a:endParaRPr lang="en-US" sz="600" dirty="0"/>
          </a:p>
        </p:txBody>
      </p:sp>
      <p:sp>
        <p:nvSpPr>
          <p:cNvPr id="35" name="Text 33"/>
          <p:cNvSpPr txBox="1"/>
          <p:nvPr/>
        </p:nvSpPr>
        <p:spPr>
          <a:xfrm>
            <a:off x="7456774" y="1463040"/>
            <a:ext cx="798681" cy="164592"/>
          </a:xfrm>
          <a:prstGeom prst="rect">
            <a:avLst/>
          </a:prstGeom>
          <a:noFill/>
          <a:ln/>
        </p:spPr>
        <p:txBody>
          <a:bodyPr wrap="square" lIns="0" tIns="0" rIns="0" bIns="0" rtlCol="0" anchor="t"/>
          <a:lstStyle/>
          <a:p>
            <a:pPr algn="ctr" indent="0" marL="0">
              <a:buNone/>
            </a:pPr>
            <a:r>
              <a:rPr lang="en-US" sz="700" b="1" dirty="0">
                <a:solidFill>
                  <a:srgbClr val="15243B"/>
                </a:solidFill>
                <a:latin typeface="Malgun Gothic" pitchFamily="34" charset="0"/>
                <a:ea typeface="Malgun Gothic" pitchFamily="34" charset="-122"/>
                <a:cs typeface="Malgun Gothic" pitchFamily="34" charset="-120"/>
              </a:rPr>
              <a:t>K tile 1</a:t>
            </a:r>
            <a:endParaRPr lang="en-US" sz="700" dirty="0"/>
          </a:p>
        </p:txBody>
      </p:sp>
      <p:sp>
        <p:nvSpPr>
          <p:cNvPr id="36" name="Shape 34"/>
          <p:cNvSpPr/>
          <p:nvPr/>
        </p:nvSpPr>
        <p:spPr>
          <a:xfrm>
            <a:off x="7981135" y="1645920"/>
            <a:ext cx="250041" cy="384048"/>
          </a:xfrm>
          <a:prstGeom prst="rect">
            <a:avLst/>
          </a:prstGeom>
          <a:solidFill>
            <a:srgbClr val="E3EEFB"/>
          </a:solidFill>
          <a:ln w="6350">
            <a:solidFill>
              <a:srgbClr val="2F6DB5"/>
            </a:solidFill>
            <a:prstDash val="solid"/>
          </a:ln>
        </p:spPr>
      </p:sp>
      <p:sp>
        <p:nvSpPr>
          <p:cNvPr id="37" name="Text 35"/>
          <p:cNvSpPr txBox="1"/>
          <p:nvPr/>
        </p:nvSpPr>
        <p:spPr>
          <a:xfrm>
            <a:off x="7981135"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A</a:t>
            </a:r>
            <a:endParaRPr lang="en-US" sz="600" dirty="0"/>
          </a:p>
        </p:txBody>
      </p:sp>
      <p:sp>
        <p:nvSpPr>
          <p:cNvPr id="38" name="Shape 36"/>
          <p:cNvSpPr/>
          <p:nvPr/>
        </p:nvSpPr>
        <p:spPr>
          <a:xfrm>
            <a:off x="8231177" y="1645920"/>
            <a:ext cx="250041" cy="384048"/>
          </a:xfrm>
          <a:prstGeom prst="rect">
            <a:avLst/>
          </a:prstGeom>
          <a:solidFill>
            <a:srgbClr val="DDF3F0"/>
          </a:solidFill>
          <a:ln w="6350">
            <a:solidFill>
              <a:srgbClr val="1F8A8A"/>
            </a:solidFill>
            <a:prstDash val="solid"/>
          </a:ln>
        </p:spPr>
      </p:sp>
      <p:sp>
        <p:nvSpPr>
          <p:cNvPr id="39" name="Text 37"/>
          <p:cNvSpPr txBox="1"/>
          <p:nvPr/>
        </p:nvSpPr>
        <p:spPr>
          <a:xfrm>
            <a:off x="8231177" y="1645920"/>
            <a:ext cx="250041" cy="384048"/>
          </a:xfrm>
          <a:prstGeom prst="rect">
            <a:avLst/>
          </a:prstGeom>
          <a:noFill/>
          <a:ln/>
        </p:spPr>
        <p:txBody>
          <a:bodyPr wrap="square" lIns="0" tIns="0" rIns="0" bIns="0" rtlCol="0" anchor="ctr"/>
          <a:lstStyle/>
          <a:p>
            <a:pPr algn="ctr" indent="0" marL="0">
              <a:buNone/>
            </a:pPr>
            <a:r>
              <a:rPr lang="en-US" sz="600" b="1" dirty="0">
                <a:solidFill>
                  <a:srgbClr val="1F2D3D"/>
                </a:solidFill>
                <a:latin typeface="Malgun Gothic" pitchFamily="34" charset="0"/>
                <a:ea typeface="Malgun Gothic" pitchFamily="34" charset="-122"/>
                <a:cs typeface="Malgun Gothic" pitchFamily="34" charset="-120"/>
              </a:rPr>
              <a:t>L</a:t>
            </a:r>
            <a:endParaRPr lang="en-US" sz="600" dirty="0"/>
          </a:p>
        </p:txBody>
      </p:sp>
      <p:sp>
        <p:nvSpPr>
          <p:cNvPr id="40" name="Shape 38"/>
          <p:cNvSpPr/>
          <p:nvPr/>
        </p:nvSpPr>
        <p:spPr>
          <a:xfrm>
            <a:off x="8481218" y="1645920"/>
            <a:ext cx="250041" cy="384048"/>
          </a:xfrm>
          <a:prstGeom prst="rect">
            <a:avLst/>
          </a:prstGeom>
          <a:solidFill>
            <a:srgbClr val="E3EEFB"/>
          </a:solidFill>
          <a:ln w="6350">
            <a:solidFill>
              <a:srgbClr val="2F6DB5"/>
            </a:solidFill>
            <a:prstDash val="solid"/>
          </a:ln>
        </p:spPr>
      </p:sp>
      <p:sp>
        <p:nvSpPr>
          <p:cNvPr id="41" name="Text 39"/>
          <p:cNvSpPr txBox="1"/>
          <p:nvPr/>
        </p:nvSpPr>
        <p:spPr>
          <a:xfrm>
            <a:off x="8481218"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A</a:t>
            </a:r>
            <a:endParaRPr lang="en-US" sz="600" dirty="0"/>
          </a:p>
        </p:txBody>
      </p:sp>
      <p:sp>
        <p:nvSpPr>
          <p:cNvPr id="42" name="Shape 40"/>
          <p:cNvSpPr/>
          <p:nvPr/>
        </p:nvSpPr>
        <p:spPr>
          <a:xfrm>
            <a:off x="8731259" y="1645920"/>
            <a:ext cx="250041" cy="384048"/>
          </a:xfrm>
          <a:prstGeom prst="rect">
            <a:avLst/>
          </a:prstGeom>
          <a:solidFill>
            <a:srgbClr val="E3EEFB"/>
          </a:solidFill>
          <a:ln w="6350">
            <a:solidFill>
              <a:srgbClr val="2F6DB5"/>
            </a:solidFill>
            <a:prstDash val="solid"/>
          </a:ln>
        </p:spPr>
      </p:sp>
      <p:sp>
        <p:nvSpPr>
          <p:cNvPr id="43" name="Text 41"/>
          <p:cNvSpPr txBox="1"/>
          <p:nvPr/>
        </p:nvSpPr>
        <p:spPr>
          <a:xfrm>
            <a:off x="8731259"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A</a:t>
            </a:r>
            <a:endParaRPr lang="en-US" sz="600" dirty="0"/>
          </a:p>
        </p:txBody>
      </p:sp>
      <p:sp>
        <p:nvSpPr>
          <p:cNvPr id="44" name="Shape 42"/>
          <p:cNvSpPr/>
          <p:nvPr/>
        </p:nvSpPr>
        <p:spPr>
          <a:xfrm>
            <a:off x="8981300" y="1645920"/>
            <a:ext cx="250041" cy="384048"/>
          </a:xfrm>
          <a:prstGeom prst="rect">
            <a:avLst/>
          </a:prstGeom>
          <a:solidFill>
            <a:srgbClr val="DDF3F0"/>
          </a:solidFill>
          <a:ln w="6350">
            <a:solidFill>
              <a:srgbClr val="1F8A8A"/>
            </a:solidFill>
            <a:prstDash val="solid"/>
          </a:ln>
        </p:spPr>
      </p:sp>
      <p:sp>
        <p:nvSpPr>
          <p:cNvPr id="45" name="Text 43"/>
          <p:cNvSpPr txBox="1"/>
          <p:nvPr/>
        </p:nvSpPr>
        <p:spPr>
          <a:xfrm>
            <a:off x="8981300" y="1645920"/>
            <a:ext cx="250041" cy="384048"/>
          </a:xfrm>
          <a:prstGeom prst="rect">
            <a:avLst/>
          </a:prstGeom>
          <a:noFill/>
          <a:ln/>
        </p:spPr>
        <p:txBody>
          <a:bodyPr wrap="square" lIns="0" tIns="0" rIns="0" bIns="0" rtlCol="0" anchor="ctr"/>
          <a:lstStyle/>
          <a:p>
            <a:pPr algn="ctr" indent="0" marL="0">
              <a:buNone/>
            </a:pPr>
            <a:r>
              <a:rPr lang="en-US" sz="600" b="1" dirty="0">
                <a:solidFill>
                  <a:srgbClr val="1F2D3D"/>
                </a:solidFill>
                <a:latin typeface="Malgun Gothic" pitchFamily="34" charset="0"/>
                <a:ea typeface="Malgun Gothic" pitchFamily="34" charset="-122"/>
                <a:cs typeface="Malgun Gothic" pitchFamily="34" charset="-120"/>
              </a:rPr>
              <a:t>L</a:t>
            </a:r>
            <a:endParaRPr lang="en-US" sz="600" dirty="0"/>
          </a:p>
        </p:txBody>
      </p:sp>
      <p:sp>
        <p:nvSpPr>
          <p:cNvPr id="46" name="Shape 44"/>
          <p:cNvSpPr/>
          <p:nvPr/>
        </p:nvSpPr>
        <p:spPr>
          <a:xfrm>
            <a:off x="9231341" y="1645920"/>
            <a:ext cx="250041" cy="384048"/>
          </a:xfrm>
          <a:prstGeom prst="rect">
            <a:avLst/>
          </a:prstGeom>
          <a:solidFill>
            <a:srgbClr val="ECE6FA"/>
          </a:solidFill>
          <a:ln w="6350">
            <a:solidFill>
              <a:srgbClr val="6C4FBF"/>
            </a:solidFill>
            <a:prstDash val="solid"/>
          </a:ln>
        </p:spPr>
      </p:sp>
      <p:sp>
        <p:nvSpPr>
          <p:cNvPr id="47" name="Text 45"/>
          <p:cNvSpPr txBox="1"/>
          <p:nvPr/>
        </p:nvSpPr>
        <p:spPr>
          <a:xfrm>
            <a:off x="9231341" y="1645920"/>
            <a:ext cx="250041" cy="384048"/>
          </a:xfrm>
          <a:prstGeom prst="rect">
            <a:avLst/>
          </a:prstGeom>
          <a:noFill/>
          <a:ln/>
        </p:spPr>
        <p:txBody>
          <a:bodyPr wrap="square" lIns="0" tIns="0" rIns="0" bIns="0" rtlCol="0" anchor="ctr"/>
          <a:lstStyle/>
          <a:p>
            <a:pPr algn="ctr" indent="0" marL="0">
              <a:buNone/>
            </a:pPr>
            <a:r>
              <a:rPr lang="en-US" sz="600" b="1" dirty="0">
                <a:solidFill>
                  <a:srgbClr val="1F2D3D"/>
                </a:solidFill>
                <a:latin typeface="Malgun Gothic" pitchFamily="34" charset="0"/>
                <a:ea typeface="Malgun Gothic" pitchFamily="34" charset="-122"/>
                <a:cs typeface="Malgun Gothic" pitchFamily="34" charset="-120"/>
              </a:rPr>
              <a:t>M1</a:t>
            </a:r>
            <a:endParaRPr lang="en-US" sz="600" dirty="0"/>
          </a:p>
        </p:txBody>
      </p:sp>
      <p:sp>
        <p:nvSpPr>
          <p:cNvPr id="48" name="Text 46"/>
          <p:cNvSpPr txBox="1"/>
          <p:nvPr/>
        </p:nvSpPr>
        <p:spPr>
          <a:xfrm>
            <a:off x="9002741" y="2048256"/>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67</a:t>
            </a:r>
            <a:endParaRPr lang="en-US" sz="650" dirty="0"/>
          </a:p>
        </p:txBody>
      </p:sp>
      <p:sp>
        <p:nvSpPr>
          <p:cNvPr id="49" name="Shape 47"/>
          <p:cNvSpPr/>
          <p:nvPr/>
        </p:nvSpPr>
        <p:spPr>
          <a:xfrm>
            <a:off x="9481382" y="1645920"/>
            <a:ext cx="250041" cy="384048"/>
          </a:xfrm>
          <a:prstGeom prst="rect">
            <a:avLst/>
          </a:prstGeom>
          <a:solidFill>
            <a:srgbClr val="E3EEFB"/>
          </a:solidFill>
          <a:ln w="6350">
            <a:solidFill>
              <a:srgbClr val="2F6DB5"/>
            </a:solidFill>
            <a:prstDash val="solid"/>
          </a:ln>
        </p:spPr>
      </p:sp>
      <p:sp>
        <p:nvSpPr>
          <p:cNvPr id="50" name="Text 48"/>
          <p:cNvSpPr txBox="1"/>
          <p:nvPr/>
        </p:nvSpPr>
        <p:spPr>
          <a:xfrm>
            <a:off x="9481382"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A</a:t>
            </a:r>
            <a:endParaRPr lang="en-US" sz="600" dirty="0"/>
          </a:p>
        </p:txBody>
      </p:sp>
      <p:sp>
        <p:nvSpPr>
          <p:cNvPr id="51" name="Text 49"/>
          <p:cNvSpPr txBox="1"/>
          <p:nvPr/>
        </p:nvSpPr>
        <p:spPr>
          <a:xfrm>
            <a:off x="9207062" y="1463040"/>
            <a:ext cx="798681" cy="164592"/>
          </a:xfrm>
          <a:prstGeom prst="rect">
            <a:avLst/>
          </a:prstGeom>
          <a:noFill/>
          <a:ln/>
        </p:spPr>
        <p:txBody>
          <a:bodyPr wrap="square" lIns="0" tIns="0" rIns="0" bIns="0" rtlCol="0" anchor="t"/>
          <a:lstStyle/>
          <a:p>
            <a:pPr algn="ctr" indent="0" marL="0">
              <a:buNone/>
            </a:pPr>
            <a:r>
              <a:rPr lang="en-US" sz="700" b="1" dirty="0">
                <a:solidFill>
                  <a:srgbClr val="15243B"/>
                </a:solidFill>
                <a:latin typeface="Malgun Gothic" pitchFamily="34" charset="0"/>
                <a:ea typeface="Malgun Gothic" pitchFamily="34" charset="-122"/>
                <a:cs typeface="Malgun Gothic" pitchFamily="34" charset="-120"/>
              </a:rPr>
              <a:t>DST</a:t>
            </a:r>
            <a:endParaRPr lang="en-US" sz="700" dirty="0"/>
          </a:p>
        </p:txBody>
      </p:sp>
      <p:sp>
        <p:nvSpPr>
          <p:cNvPr id="52" name="Shape 50"/>
          <p:cNvSpPr/>
          <p:nvPr/>
        </p:nvSpPr>
        <p:spPr>
          <a:xfrm>
            <a:off x="9731423" y="1645920"/>
            <a:ext cx="250041" cy="384048"/>
          </a:xfrm>
          <a:prstGeom prst="rect">
            <a:avLst/>
          </a:prstGeom>
          <a:solidFill>
            <a:srgbClr val="EEF1F5"/>
          </a:solidFill>
          <a:ln w="6350">
            <a:solidFill>
              <a:srgbClr val="5B6B7F"/>
            </a:solidFill>
            <a:prstDash val="solid"/>
          </a:ln>
        </p:spPr>
      </p:sp>
      <p:sp>
        <p:nvSpPr>
          <p:cNvPr id="53" name="Text 51"/>
          <p:cNvSpPr txBox="1"/>
          <p:nvPr/>
        </p:nvSpPr>
        <p:spPr>
          <a:xfrm>
            <a:off x="9731423"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C</a:t>
            </a:r>
            <a:endParaRPr lang="en-US" sz="600" dirty="0"/>
          </a:p>
        </p:txBody>
      </p:sp>
      <p:sp>
        <p:nvSpPr>
          <p:cNvPr id="54" name="Shape 52"/>
          <p:cNvSpPr/>
          <p:nvPr/>
        </p:nvSpPr>
        <p:spPr>
          <a:xfrm>
            <a:off x="9981464" y="1645920"/>
            <a:ext cx="250041" cy="384048"/>
          </a:xfrm>
          <a:prstGeom prst="rect">
            <a:avLst/>
          </a:prstGeom>
          <a:solidFill>
            <a:srgbClr val="E3EEFB"/>
          </a:solidFill>
          <a:ln w="6350">
            <a:solidFill>
              <a:srgbClr val="2F6DB5"/>
            </a:solidFill>
            <a:prstDash val="solid"/>
          </a:ln>
        </p:spPr>
      </p:sp>
      <p:sp>
        <p:nvSpPr>
          <p:cNvPr id="55" name="Text 53"/>
          <p:cNvSpPr txBox="1"/>
          <p:nvPr/>
        </p:nvSpPr>
        <p:spPr>
          <a:xfrm>
            <a:off x="9981464"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A</a:t>
            </a:r>
            <a:endParaRPr lang="en-US" sz="600" dirty="0"/>
          </a:p>
        </p:txBody>
      </p:sp>
      <p:sp>
        <p:nvSpPr>
          <p:cNvPr id="56" name="Shape 54"/>
          <p:cNvSpPr/>
          <p:nvPr/>
        </p:nvSpPr>
        <p:spPr>
          <a:xfrm>
            <a:off x="10231505" y="1645920"/>
            <a:ext cx="250041" cy="384048"/>
          </a:xfrm>
          <a:prstGeom prst="rect">
            <a:avLst/>
          </a:prstGeom>
          <a:solidFill>
            <a:srgbClr val="E5F3E7"/>
          </a:solidFill>
          <a:ln w="6350">
            <a:solidFill>
              <a:srgbClr val="2E7D32"/>
            </a:solidFill>
            <a:prstDash val="solid"/>
          </a:ln>
        </p:spPr>
      </p:sp>
      <p:sp>
        <p:nvSpPr>
          <p:cNvPr id="57" name="Text 55"/>
          <p:cNvSpPr txBox="1"/>
          <p:nvPr/>
        </p:nvSpPr>
        <p:spPr>
          <a:xfrm>
            <a:off x="10231505" y="1645920"/>
            <a:ext cx="250041" cy="384048"/>
          </a:xfrm>
          <a:prstGeom prst="rect">
            <a:avLst/>
          </a:prstGeom>
          <a:noFill/>
          <a:ln/>
        </p:spPr>
        <p:txBody>
          <a:bodyPr wrap="square" lIns="0" tIns="0" rIns="0" bIns="0" rtlCol="0" anchor="ctr"/>
          <a:lstStyle/>
          <a:p>
            <a:pPr algn="ctr" indent="0" marL="0">
              <a:buNone/>
            </a:pPr>
            <a:r>
              <a:rPr lang="en-US" sz="600" b="1" dirty="0">
                <a:solidFill>
                  <a:srgbClr val="1F2D3D"/>
                </a:solidFill>
                <a:latin typeface="Malgun Gothic" pitchFamily="34" charset="0"/>
                <a:ea typeface="Malgun Gothic" pitchFamily="34" charset="-122"/>
                <a:cs typeface="Malgun Gothic" pitchFamily="34" charset="-120"/>
              </a:rPr>
              <a:t>S</a:t>
            </a:r>
            <a:endParaRPr lang="en-US" sz="600" dirty="0"/>
          </a:p>
        </p:txBody>
      </p:sp>
      <p:sp>
        <p:nvSpPr>
          <p:cNvPr id="58" name="Shape 56"/>
          <p:cNvSpPr/>
          <p:nvPr/>
        </p:nvSpPr>
        <p:spPr>
          <a:xfrm>
            <a:off x="10481546" y="1645920"/>
            <a:ext cx="1000164" cy="384048"/>
          </a:xfrm>
          <a:prstGeom prst="rect">
            <a:avLst/>
          </a:prstGeom>
          <a:solidFill>
            <a:srgbClr val="FFF1DC"/>
          </a:solidFill>
          <a:ln w="6350">
            <a:solidFill>
              <a:srgbClr val="D98A1E"/>
            </a:solidFill>
            <a:prstDash val="solid"/>
          </a:ln>
        </p:spPr>
      </p:sp>
      <p:sp>
        <p:nvSpPr>
          <p:cNvPr id="59" name="Text 57"/>
          <p:cNvSpPr txBox="1"/>
          <p:nvPr/>
        </p:nvSpPr>
        <p:spPr>
          <a:xfrm>
            <a:off x="10481546" y="1645920"/>
            <a:ext cx="1000164"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GSTORE Y</a:t>
            </a:r>
            <a:endParaRPr lang="en-US" sz="600" dirty="0"/>
          </a:p>
          <a:p>
            <a:pPr algn="ctr" indent="0" marL="0">
              <a:buNone/>
            </a:pPr>
            <a:r>
              <a:rPr lang="en-US" sz="600" dirty="0">
                <a:solidFill>
                  <a:srgbClr val="1F2D3D"/>
                </a:solidFill>
                <a:latin typeface="Malgun Gothic" pitchFamily="34" charset="0"/>
                <a:ea typeface="Malgun Gothic" pitchFamily="34" charset="-122"/>
                <a:cs typeface="Malgun Gothic" pitchFamily="34" charset="-120"/>
              </a:rPr>
              <a:t>(4 words)</a:t>
            </a:r>
            <a:endParaRPr lang="en-US" sz="600" dirty="0"/>
          </a:p>
        </p:txBody>
      </p:sp>
      <p:sp>
        <p:nvSpPr>
          <p:cNvPr id="60" name="Text 58"/>
          <p:cNvSpPr txBox="1"/>
          <p:nvPr/>
        </p:nvSpPr>
        <p:spPr>
          <a:xfrm>
            <a:off x="10252946" y="2048256"/>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72</a:t>
            </a:r>
            <a:endParaRPr lang="en-US" sz="650" dirty="0"/>
          </a:p>
        </p:txBody>
      </p:sp>
      <p:sp>
        <p:nvSpPr>
          <p:cNvPr id="61" name="Shape 59"/>
          <p:cNvSpPr/>
          <p:nvPr/>
        </p:nvSpPr>
        <p:spPr>
          <a:xfrm>
            <a:off x="11481711" y="1645920"/>
            <a:ext cx="250041" cy="384048"/>
          </a:xfrm>
          <a:prstGeom prst="rect">
            <a:avLst/>
          </a:prstGeom>
          <a:solidFill>
            <a:srgbClr val="FBE9E7"/>
          </a:solidFill>
          <a:ln w="6350">
            <a:solidFill>
              <a:srgbClr val="C0392B"/>
            </a:solidFill>
            <a:prstDash val="solid"/>
          </a:ln>
        </p:spPr>
      </p:sp>
      <p:sp>
        <p:nvSpPr>
          <p:cNvPr id="62" name="Text 60"/>
          <p:cNvSpPr txBox="1"/>
          <p:nvPr/>
        </p:nvSpPr>
        <p:spPr>
          <a:xfrm>
            <a:off x="11481711" y="1645920"/>
            <a:ext cx="25004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HALT</a:t>
            </a:r>
            <a:endParaRPr lang="en-US" sz="600" dirty="0"/>
          </a:p>
        </p:txBody>
      </p:sp>
      <p:sp>
        <p:nvSpPr>
          <p:cNvPr id="63" name="Text 61"/>
          <p:cNvSpPr txBox="1"/>
          <p:nvPr/>
        </p:nvSpPr>
        <p:spPr>
          <a:xfrm>
            <a:off x="11253111" y="2048256"/>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76</a:t>
            </a:r>
            <a:endParaRPr lang="en-US" sz="650" dirty="0"/>
          </a:p>
        </p:txBody>
      </p:sp>
      <p:sp>
        <p:nvSpPr>
          <p:cNvPr id="64" name="Text 62"/>
          <p:cNvSpPr txBox="1"/>
          <p:nvPr/>
        </p:nvSpPr>
        <p:spPr>
          <a:xfrm>
            <a:off x="4480560" y="2212848"/>
            <a:ext cx="7251192" cy="201168"/>
          </a:xfrm>
          <a:prstGeom prst="rect">
            <a:avLst/>
          </a:prstGeom>
          <a:noFill/>
          <a:ln/>
        </p:spPr>
        <p:txBody>
          <a:bodyPr wrap="square" lIns="0" tIns="0" rIns="0" bIns="0" rtlCol="0" anchor="t"/>
          <a:lstStyle/>
          <a:p>
            <a:pPr algn="l" indent="0" marL="0">
              <a:buNone/>
            </a:pPr>
            <a:r>
              <a:rPr lang="en-US" sz="700" dirty="0">
                <a:solidFill>
                  <a:srgbClr val="5B6B7F"/>
                </a:solidFill>
                <a:latin typeface="Courier New" pitchFamily="34" charset="0"/>
                <a:ea typeface="Courier New" pitchFamily="34" charset="-122"/>
                <a:cs typeface="Courier New" pitchFamily="34" charset="-120"/>
              </a:rPr>
              <a:t>A = ADDR(0x80)  C = ROWS/COLS(0x88/0x89)  L = LOAD(0x90)  M0/M1 = M_MUL MAC 0/1(0x42)  S = SAVE(0x98)  — loop·branch 명령 없음</a:t>
            </a:r>
            <a:endParaRPr lang="en-US" sz="7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2542032"/>
          <a:ext cx="11274552" cy="914400"/>
        </p:xfrm>
        <a:graphic>
          <a:graphicData uri="http://schemas.openxmlformats.org/drawingml/2006/table">
            <a:tbl>
              <a:tblPr/>
              <a:tblGrid>
                <a:gridCol w="3017520"/>
                <a:gridCol w="2743200"/>
                <a:gridCol w="5513832"/>
              </a:tblGrid>
              <a:tr h="393192">
                <a:tc>
                  <a:txBody>
                    <a:bodyPr/>
                    <a:lstStyle/>
                    <a:p>
                      <a:pPr algn="l" indent="0" marL="0">
                        <a:buNone/>
                      </a:pPr>
                      <a:r>
                        <a:rPr lang="en-US" sz="820" b="1" dirty="0">
                          <a:solidFill>
                            <a:srgbClr val="FFFFFF"/>
                          </a:solidFill>
                          <a:latin typeface="Malgun Gothic" pitchFamily="34" charset="0"/>
                          <a:ea typeface="Malgun Gothic" pitchFamily="34" charset="-122"/>
                          <a:cs typeface="Malgun Gothic" pitchFamily="34" charset="-120"/>
                        </a:rPr>
                        <a:t>TIR 조각</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20" b="1" dirty="0">
                          <a:solidFill>
                            <a:srgbClr val="FFFFFF"/>
                          </a:solidFill>
                          <a:latin typeface="Malgun Gothic" pitchFamily="34" charset="0"/>
                          <a:ea typeface="Malgun Gothic" pitchFamily="34" charset="-122"/>
                          <a:cs typeface="Malgun Gothic" pitchFamily="34" charset="-120"/>
                        </a:rPr>
                        <a:t>인식</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20" b="1" dirty="0">
                          <a:solidFill>
                            <a:srgbClr val="FFFFFF"/>
                          </a:solidFill>
                          <a:latin typeface="Malgun Gothic" pitchFamily="34" charset="0"/>
                          <a:ea typeface="Malgun Gothic" pitchFamily="34" charset="-122"/>
                          <a:cs typeface="Malgun Gothic" pitchFamily="34" charset="-120"/>
                        </a:rPr>
                        <a:t>생성하는 명령</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9319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call_extern npu_fill_zero / npu_gemm_acc (tensorize 결과)</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_bind_match로 64×64 view 해석</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fill: 명령 없음(zeroed 기록). gemm: region(SRC1) LOAD, region(SRC2) LOAD, M_MUL(mac). flush: region(DST) SAVE</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9319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원소별 BufferStore (innermost 축 = 행)</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_emit_pointwise → _materialize (6 scratch slot)</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VLEN, ADDR SRC1.P, LOAD, ADDR SRC2.P, LOAD, OP(VECTOR), ADDR DST.P, SAVE. 상수/stride-0 → BROADCAST</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9319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reduction (LowerInitBlock 형태: init + 누산 store)</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_emit_reduction (Add/npu_sum_fp32_update → RSUM, Max → RMAX)</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출력 위치마다 VLEN, SRC1.P(행 또는 x·x 같은 materialized 피연산자), LOAD, REDUCE, DST.P, SAVE. 길이 ≤ 65535</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9319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복사 block (scope 다름: global ↔ global.sram)</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_emit_dma: [global byte, sram nibble, nbytes] 구간 병합</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2D DMA(정규 행·cell 정렬) / 1D dma_in·out / bounce(scratch gather + cell RMW)</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9319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복사 block (같은 scope)</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_emit_movement</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연속: LOAD → COPY(0x17) → SAVE; stride-0: BROADCAST; strided: strided LOAD(matrix, ncols=1)</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9319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select / if_then_else 구간 (concat, padding)</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_pieces / _split_row</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행을 구간 경계에서 나눠 각각 emission</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66" name="Text 63"/>
          <p:cNvSpPr txBox="1"/>
          <p:nvPr/>
        </p:nvSpPr>
        <p:spPr>
          <a:xfrm>
            <a:off x="457200" y="5504688"/>
            <a:ext cx="11274552" cy="365760"/>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주소 단위: _flat은 SRAM 주소를 nibble(fp16 4, fp32 8, int8 2, int4 1)로, global 주소를 byte로 돌려줍니다. Python walker(tir_codegen_v09.py)와 native C++ walker(v09_walker.cc)는 같은 contract JSON hash를 공유하며 커널 단위로 섞일 수 있습니다.</a:t>
            </a:r>
            <a:endParaRPr lang="en-US" sz="800" dirty="0"/>
          </a:p>
        </p:txBody>
      </p:sp>
      <p:sp>
        <p:nvSpPr>
          <p:cNvPr id="67" name="Shape 64"/>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68" name="Text 65"/>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TIR에 loop가 있어도 최종 ISA에는 loop 명령이 없습니다. words는 "명령 저장 공간"이며 실행 cycle이 아닙니다 (Llama prefill 8.58M words).</a:t>
            </a:r>
            <a:endParaRPr lang="en-US" sz="1250" dirty="0"/>
          </a:p>
        </p:txBody>
      </p:sp>
      <p:sp>
        <p:nvSpPr>
          <p:cNvPr id="69" name="Text 66"/>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70" name="Text 67"/>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npu_compiler/tir_codegen_v09.py (Walker.visit, _match_nest, _emit_pointwise, _emit_reduction, _emit_movement, emit_gemm), docs/examples/two_matmuls_recorded/program.json</a:t>
            </a:r>
            <a:endParaRPr lang="en-US" sz="850" dirty="0"/>
          </a:p>
        </p:txBody>
      </p:sp>
      <p:sp>
        <p:nvSpPr>
          <p:cNvPr id="71" name="Text 68"/>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56 / 89</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네 가지 이동 명령, 세 가지 주소 단위, descriptor 상태 모델</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Descriptor는 다음 LOAD/연산/SAVE가 쓸 주소·shape·dtype "상태"입니다. 명령마다 배열 정보를 반복하는 대신 register를 바꾸고 뒤 명령이 참조합니다. 아래는 77-word 예제 두 번째 matmul 직전의 실제 register 값입니다.</a:t>
            </a:r>
            <a:endParaRPr lang="en-US" sz="125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120640" cy="914400"/>
        </p:xfrm>
        <a:graphic>
          <a:graphicData uri="http://schemas.openxmlformats.org/drawingml/2006/table">
            <a:tbl>
              <a:tblPr/>
              <a:tblGrid>
                <a:gridCol w="1280160"/>
                <a:gridCol w="2194560"/>
                <a:gridCol w="1645920"/>
              </a:tblGrid>
              <a:tr h="292608">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명령</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출발 → 도착</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DRAM을 지나는가</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GLOAD 0xA0</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DRAM → SRAM</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예 (4-word packet)</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LOAD 0x90</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SRAM → 연산장치 입력</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아니오</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SAVE 0x98</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연산장치 결과 → SRAM</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아니오</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GSTORE 0xA8</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SRAM → DRAM</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예 (4-word packet)</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graphicFrame>
        <p:nvGraphicFramePr>
          <p:cNvPr id="115" name="Table 1"/>
          <p:cNvGraphicFramePr>
            <a:graphicFrameLocks noGrp="1"/>
          </p:cNvGraphicFramePr>
          <p:nvPr>
            <p:extLst>
              <p:ext uri="{D42A27DB-BD31-4B8C-83A1-F6EECF244321}">
                <p14:modId xmlns:p14="http://schemas.microsoft.com/office/powerpoint/2010/main" val="1579011935"/>
              </p:ext>
            </p:extLst>
          </p:nvPr>
        </p:nvGraphicFramePr>
        <p:xfrm>
          <a:off x="457200" y="3017520"/>
          <a:ext cx="5120640" cy="914400"/>
        </p:xfrm>
        <a:graphic>
          <a:graphicData uri="http://schemas.openxmlformats.org/drawingml/2006/table">
            <a:tbl>
              <a:tblPr/>
              <a:tblGrid>
                <a:gridCol w="2194560"/>
                <a:gridCol w="1463040"/>
                <a:gridCol w="1463040"/>
              </a:tblGrid>
              <a:tr h="292608">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위치</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단위</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byte 변환</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plan.address (DRAM)</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unit_bytes = 2</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 2</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DMA global 주소 / stride / cols</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32-bit cell</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 4</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SRAM descriptor 주소</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nibble</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 2 (fp16 = 4 nibbles)</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shape / row stride / VLEN</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element</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 dtype 크기</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806440" y="1371600"/>
            <a:ext cx="59436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Descriptor 상태 모델 (설정 → 참조)</a:t>
            </a:r>
            <a:endParaRPr lang="en-US" sz="1100" dirty="0"/>
          </a:p>
        </p:txBody>
      </p:sp>
      <p:graphicFrame>
        <p:nvGraphicFramePr>
          <p:cNvPr id="172" name="Table 2"/>
          <p:cNvGraphicFramePr>
            <a:graphicFrameLocks noGrp="1"/>
          </p:cNvGraphicFramePr>
          <p:nvPr>
            <p:extLst>
              <p:ext uri="{D42A27DB-BD31-4B8C-83A1-F6EECF244321}">
                <p14:modId xmlns:p14="http://schemas.microsoft.com/office/powerpoint/2010/main" val="1579011935"/>
              </p:ext>
            </p:extLst>
          </p:nvPr>
        </p:nvGraphicFramePr>
        <p:xfrm>
          <a:off x="5806440" y="1645920"/>
          <a:ext cx="5925312" cy="914400"/>
        </p:xfrm>
        <a:graphic>
          <a:graphicData uri="http://schemas.openxmlformats.org/drawingml/2006/table">
            <a:tbl>
              <a:tblPr/>
              <a:tblGrid>
                <a:gridCol w="1371600"/>
                <a:gridCol w="2651760"/>
                <a:gridCol w="1901952"/>
              </a:tblGrid>
              <a:tr h="365760">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opcode</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field</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쓰는 상태</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65760">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0x80 ADDR</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operand[31:30], high[29], PARTIAL[28], value[23:8]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{SRC1,SRC2,DST} × {MAIN,PARTIAL} 주소의 16-bit 절반 (nibble)</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0x88 / 0x89 ROWS / COLS</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operand[31:30], PARTIAL[29], dtype[26:25], count[23:8]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rows/cols (element) + 그 operand의 dtype. MAIN cols = 전체 row stride</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0x82 VLEN</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n[23:8]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vector 논리 길이 1..65535</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0x90 LOAD</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matrix[31], operand[30], strided[29], ncols[23:16], start[15:8]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SRAM→unit. matrix는 PARTIAL rows/cols + MAIN stride, vector는 VLEN</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0x98 SAVE</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matrix[31], strided[29], ncols, start</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결과 → DST</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0x42 M_MUL</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mode[31:30], activation[29:28], MAC[27], imm[23:8]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SRC1×SRC2 → accumulator (MAC=0 새로, 1 누적)</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0x8A / 0x8B</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high[29], value[23:8]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activation / weight scale의 SRAM 주소 (양자화)</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9" name="Text 4"/>
          <p:cNvSpPr txBox="1"/>
          <p:nvPr/>
        </p:nvSpPr>
        <p:spPr>
          <a:xfrm>
            <a:off x="457200" y="4590288"/>
            <a:ext cx="5120640" cy="219456"/>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Register 상태 예 (word 52–71, H[64,128] @ W2[128,64] → Y)</a:t>
            </a:r>
            <a:endParaRPr lang="en-US" sz="950" dirty="0"/>
          </a:p>
        </p:txBody>
      </p:sp>
      <p:graphicFrame>
        <p:nvGraphicFramePr>
          <p:cNvPr id="229" name="Table 3"/>
          <p:cNvGraphicFramePr>
            <a:graphicFrameLocks noGrp="1"/>
          </p:cNvGraphicFramePr>
          <p:nvPr>
            <p:extLst>
              <p:ext uri="{D42A27DB-BD31-4B8C-83A1-F6EECF244321}">
                <p14:modId xmlns:p14="http://schemas.microsoft.com/office/powerpoint/2010/main" val="1579011935"/>
              </p:ext>
            </p:extLst>
          </p:nvPr>
        </p:nvGraphicFramePr>
        <p:xfrm>
          <a:off x="457200" y="4828032"/>
          <a:ext cx="5120640" cy="914400"/>
        </p:xfrm>
        <a:graphic>
          <a:graphicData uri="http://schemas.openxmlformats.org/drawingml/2006/table">
            <a:tbl>
              <a:tblPr/>
              <a:tblGrid>
                <a:gridCol w="1188720"/>
                <a:gridCol w="1508760"/>
                <a:gridCol w="1280160"/>
                <a:gridCol w="1143000"/>
              </a:tblGrid>
              <a:tr h="201168">
                <a:tc>
                  <a:txBody>
                    <a:bodyPr/>
                    <a:lstStyle/>
                    <a:p>
                      <a:pPr algn="l" indent="0" marL="0">
                        <a:buNone/>
                      </a:pPr>
                      <a:r>
                        <a:rPr lang="en-US" sz="750" b="1" dirty="0">
                          <a:solidFill>
                            <a:srgbClr val="FFFFFF"/>
                          </a:solidFill>
                          <a:latin typeface="Malgun Gothic" pitchFamily="34" charset="0"/>
                          <a:ea typeface="Malgun Gothic" pitchFamily="34" charset="-122"/>
                          <a:cs typeface="Malgun Gothic" pitchFamily="34" charset="-120"/>
                        </a:rPr>
                        <a:t>register</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750" b="1" dirty="0">
                          <a:solidFill>
                            <a:srgbClr val="FFFFFF"/>
                          </a:solidFill>
                          <a:latin typeface="Malgun Gothic" pitchFamily="34" charset="0"/>
                          <a:ea typeface="Malgun Gothic" pitchFamily="34" charset="-122"/>
                          <a:cs typeface="Malgun Gothic" pitchFamily="34" charset="-120"/>
                        </a:rPr>
                        <a:t>SRC1 (A = H)</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750" b="1" dirty="0">
                          <a:solidFill>
                            <a:srgbClr val="FFFFFF"/>
                          </a:solidFill>
                          <a:latin typeface="Malgun Gothic" pitchFamily="34" charset="0"/>
                          <a:ea typeface="Malgun Gothic" pitchFamily="34" charset="-122"/>
                          <a:cs typeface="Malgun Gothic" pitchFamily="34" charset="-120"/>
                        </a:rPr>
                        <a:t>SRC2 (B = W2)</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750" b="1" dirty="0">
                          <a:solidFill>
                            <a:srgbClr val="FFFFFF"/>
                          </a:solidFill>
                          <a:latin typeface="Malgun Gothic" pitchFamily="34" charset="0"/>
                          <a:ea typeface="Malgun Gothic" pitchFamily="34" charset="-122"/>
                          <a:cs typeface="Malgun Gothic" pitchFamily="34" charset="-120"/>
                        </a:rPr>
                        <a:t>DST (Y)</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01168">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MAIN addr</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0xCC18 → nib 52,248 (byte 26,124)</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0x4C18 → 19,480 (9,740)</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0x0C18 → 3,096 (1,548)</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01168">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MAIN cols = stride</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128 el (256 B)</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64 el</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64 el</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01168">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PARTIAL addr (K tile 1)</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+0x100 = +64열</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+0x4000 = +64행</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01168">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rows × cols / dtype</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64 × 64 FP16</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64 × 64 FP16</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64 × 64 FP16</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11" name="Text 5"/>
          <p:cNvSpPr txBox="1"/>
          <p:nvPr/>
        </p:nvSpPr>
        <p:spPr>
          <a:xfrm>
            <a:off x="5806440" y="4663440"/>
            <a:ext cx="5925312" cy="1143000"/>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region(operand, view) = 8 words: ADDR MAIN lo/hi, ROWS MAIN, COLS MAIN(=stride), ADDR PARTIAL lo/hi, ROWS/COLS PARTIAL. 주소가 이전과 같아 보여도 중간 명령이 설정을 바꾸었는지 확인해야 합니다.</a:t>
            </a:r>
            <a:endParaRPr lang="en-US" sz="800" dirty="0"/>
          </a:p>
          <a:p>
            <a:pPr algn="l" indent="0" marL="0">
              <a:buNone/>
            </a:pPr>
            <a:r>
              <a:rPr lang="en-US" sz="800" dirty="0">
                <a:solidFill>
                  <a:srgbClr val="5B6B7F"/>
                </a:solidFill>
                <a:latin typeface="Malgun Gothic" pitchFamily="34" charset="0"/>
                <a:ea typeface="Malgun Gothic" pitchFamily="34" charset="-122"/>
                <a:cs typeface="Malgun Gothic" pitchFamily="34" charset="-120"/>
              </a:rPr>
              <a:t>Enum: operand SRC1=0, SRC2=1, DST=2 · mode IMM=0, SCALAR=1, VECTOR=2 · dtype FP16=0, FP32=1, INT8=2, INT4=3 · activation OFF=0, tanh-GELU=1, SiLU=2, legacy GELU=3. 모든 field는 range-check됩니다 ([7,128256] tensor가 16-bit field를 조용히 넘친 사례 이후).</a:t>
            </a:r>
            <a:endParaRPr lang="en-US" sz="800" dirty="0"/>
          </a:p>
        </p:txBody>
      </p:sp>
      <p:sp>
        <p:nvSpPr>
          <p:cNvPr id="12" name="Shape 6"/>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3" name="Text 7"/>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기본 FP16 행렬의 stride 128은 128 bytes가 아니라 256 bytes입니다. MAIN stride는 유지하고 PARTIAL 주소·크기만 바꿔야 올바른 위치에 SAVE합니다.</a:t>
            </a:r>
            <a:endParaRPr lang="en-US" sz="1250" dirty="0"/>
          </a:p>
        </p:txBody>
      </p:sp>
      <p:sp>
        <p:nvSpPr>
          <p:cNvPr id="14" name="Text 8"/>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5" name="Text 9"/>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docs/current/09_isa.md, reference/execution_contract.md, npu_compiler/isa_compute.py, isa_v09.py, two_matmuls_recorded/program.json</a:t>
            </a:r>
            <a:endParaRPr lang="en-US" sz="850" dirty="0"/>
          </a:p>
        </p:txBody>
      </p:sp>
      <p:sp>
        <p:nvSpPr>
          <p:cNvPr id="16" name="Text 10"/>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57 / 89</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실제 명령 해독 ①: X를 SRAM으로 가져오는 4-word GLOAD packet</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77-word 예제의 word offset 8: 000c18a0 00000000 00000800 00010800. DRAM의 X[64,64] FP16 8,192 B가 SRAM byte 1548에 도착합니다.</a:t>
            </a:r>
            <a:endParaRPr lang="en-US" sz="1250" dirty="0"/>
          </a:p>
        </p:txBody>
      </p:sp>
      <p:sp>
        <p:nvSpPr>
          <p:cNvPr id="5" name="Text 3"/>
          <p:cNvSpPr txBox="1"/>
          <p:nvPr/>
        </p:nvSpPr>
        <p:spPr>
          <a:xfrm>
            <a:off x="457200" y="1856232"/>
            <a:ext cx="457200" cy="274320"/>
          </a:xfrm>
          <a:prstGeom prst="rect">
            <a:avLst/>
          </a:prstGeom>
          <a:noFill/>
          <a:ln/>
        </p:spPr>
        <p:txBody>
          <a:bodyPr wrap="square" lIns="0" tIns="0" rIns="0" bIns="0" rtlCol="0" anchor="t"/>
          <a:lstStyle/>
          <a:p>
            <a:pPr algn="l" indent="0" marL="0">
              <a:buNone/>
            </a:pPr>
            <a:r>
              <a:rPr lang="en-US" sz="1200" b="1" dirty="0">
                <a:solidFill>
                  <a:srgbClr val="15243B"/>
                </a:solidFill>
                <a:latin typeface="Malgun Gothic" pitchFamily="34" charset="0"/>
                <a:ea typeface="Malgun Gothic" pitchFamily="34" charset="-122"/>
                <a:cs typeface="Malgun Gothic" pitchFamily="34" charset="-120"/>
              </a:rPr>
              <a:t>w0</a:t>
            </a:r>
            <a:endParaRPr lang="en-US" sz="1200" dirty="0"/>
          </a:p>
        </p:txBody>
      </p:sp>
      <p:sp>
        <p:nvSpPr>
          <p:cNvPr id="6" name="Text 4"/>
          <p:cNvSpPr txBox="1"/>
          <p:nvPr/>
        </p:nvSpPr>
        <p:spPr>
          <a:xfrm>
            <a:off x="914400" y="1856232"/>
            <a:ext cx="1188720" cy="274320"/>
          </a:xfrm>
          <a:prstGeom prst="rect">
            <a:avLst/>
          </a:prstGeom>
          <a:noFill/>
          <a:ln/>
        </p:spPr>
        <p:txBody>
          <a:bodyPr wrap="square" lIns="0" tIns="0" rIns="0" bIns="0" rtlCol="0" anchor="t"/>
          <a:lstStyle/>
          <a:p>
            <a:pPr algn="l" indent="0" marL="0">
              <a:buNone/>
            </a:pPr>
            <a:r>
              <a:rPr lang="en-US" sz="1200" b="1" dirty="0">
                <a:solidFill>
                  <a:srgbClr val="1F2D3D"/>
                </a:solidFill>
                <a:latin typeface="Courier New" pitchFamily="34" charset="0"/>
                <a:ea typeface="Courier New" pitchFamily="34" charset="-122"/>
                <a:cs typeface="Courier New" pitchFamily="34" charset="-120"/>
              </a:rPr>
              <a:t>000c18a0</a:t>
            </a:r>
            <a:endParaRPr lang="en-US" sz="1200" dirty="0"/>
          </a:p>
        </p:txBody>
      </p:sp>
      <p:sp>
        <p:nvSpPr>
          <p:cNvPr id="7" name="Shape 5"/>
          <p:cNvSpPr/>
          <p:nvPr/>
        </p:nvSpPr>
        <p:spPr>
          <a:xfrm>
            <a:off x="2286000" y="1783080"/>
            <a:ext cx="7063740" cy="502920"/>
          </a:xfrm>
          <a:prstGeom prst="rect">
            <a:avLst/>
          </a:prstGeom>
          <a:solidFill>
            <a:srgbClr val="DDF3F0"/>
          </a:solidFill>
          <a:ln w="9525">
            <a:solidFill>
              <a:srgbClr val="1F8A8A"/>
            </a:solidFill>
            <a:prstDash val="solid"/>
          </a:ln>
        </p:spPr>
      </p:sp>
      <p:sp>
        <p:nvSpPr>
          <p:cNvPr id="8" name="Text 6"/>
          <p:cNvSpPr txBox="1"/>
          <p:nvPr/>
        </p:nvSpPr>
        <p:spPr>
          <a:xfrm>
            <a:off x="2286000" y="1801368"/>
            <a:ext cx="7063740"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SRAM nibble 주소</a:t>
            </a:r>
            <a:endParaRPr lang="en-US" sz="850" dirty="0"/>
          </a:p>
        </p:txBody>
      </p:sp>
      <p:sp>
        <p:nvSpPr>
          <p:cNvPr id="9" name="Text 7"/>
          <p:cNvSpPr txBox="1"/>
          <p:nvPr/>
        </p:nvSpPr>
        <p:spPr>
          <a:xfrm>
            <a:off x="2286000" y="2034540"/>
            <a:ext cx="7063740" cy="231343"/>
          </a:xfrm>
          <a:prstGeom prst="rect">
            <a:avLst/>
          </a:prstGeom>
          <a:noFill/>
          <a:ln/>
        </p:spPr>
        <p:txBody>
          <a:bodyPr wrap="square" lIns="0" tIns="0" rIns="0" bIns="0" rtlCol="0" anchor="ctr"/>
          <a:lstStyle/>
          <a:p>
            <a:pPr algn="ctr" indent="0" marL="0">
              <a:buNone/>
            </a:pPr>
            <a:r>
              <a:rPr lang="en-US" sz="800" dirty="0">
                <a:solidFill>
                  <a:srgbClr val="5B6B7F"/>
                </a:solidFill>
                <a:latin typeface="Courier New" pitchFamily="34" charset="0"/>
                <a:ea typeface="Courier New" pitchFamily="34" charset="-122"/>
                <a:cs typeface="Courier New" pitchFamily="34" charset="-120"/>
              </a:rPr>
              <a:t>0x000C18 = 3096 nib = byte 1548</a:t>
            </a:r>
            <a:endParaRPr lang="en-US" sz="800" dirty="0"/>
          </a:p>
        </p:txBody>
      </p:sp>
      <p:sp>
        <p:nvSpPr>
          <p:cNvPr id="10" name="Text 8"/>
          <p:cNvSpPr txBox="1"/>
          <p:nvPr/>
        </p:nvSpPr>
        <p:spPr>
          <a:xfrm>
            <a:off x="2286000" y="1600200"/>
            <a:ext cx="706374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31..8</a:t>
            </a:r>
            <a:endParaRPr lang="en-US" sz="700" dirty="0"/>
          </a:p>
        </p:txBody>
      </p:sp>
      <p:sp>
        <p:nvSpPr>
          <p:cNvPr id="11" name="Shape 9"/>
          <p:cNvSpPr/>
          <p:nvPr/>
        </p:nvSpPr>
        <p:spPr>
          <a:xfrm>
            <a:off x="9349740" y="1783080"/>
            <a:ext cx="2354580" cy="502920"/>
          </a:xfrm>
          <a:prstGeom prst="rect">
            <a:avLst/>
          </a:prstGeom>
          <a:solidFill>
            <a:srgbClr val="ECE6FA"/>
          </a:solidFill>
          <a:ln w="9525">
            <a:solidFill>
              <a:srgbClr val="6C4FBF"/>
            </a:solidFill>
            <a:prstDash val="solid"/>
          </a:ln>
        </p:spPr>
      </p:sp>
      <p:sp>
        <p:nvSpPr>
          <p:cNvPr id="12" name="Text 10"/>
          <p:cNvSpPr txBox="1"/>
          <p:nvPr/>
        </p:nvSpPr>
        <p:spPr>
          <a:xfrm>
            <a:off x="9349740" y="1801368"/>
            <a:ext cx="2354580"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opcode</a:t>
            </a:r>
            <a:endParaRPr lang="en-US" sz="850" dirty="0"/>
          </a:p>
        </p:txBody>
      </p:sp>
      <p:sp>
        <p:nvSpPr>
          <p:cNvPr id="13" name="Text 11"/>
          <p:cNvSpPr txBox="1"/>
          <p:nvPr/>
        </p:nvSpPr>
        <p:spPr>
          <a:xfrm>
            <a:off x="9349740" y="2034540"/>
            <a:ext cx="2354580" cy="231343"/>
          </a:xfrm>
          <a:prstGeom prst="rect">
            <a:avLst/>
          </a:prstGeom>
          <a:noFill/>
          <a:ln/>
        </p:spPr>
        <p:txBody>
          <a:bodyPr wrap="square" lIns="0" tIns="0" rIns="0" bIns="0" rtlCol="0" anchor="ctr"/>
          <a:lstStyle/>
          <a:p>
            <a:pPr algn="ctr" indent="0" marL="0">
              <a:buNone/>
            </a:pPr>
            <a:r>
              <a:rPr lang="en-US" sz="800" dirty="0">
                <a:solidFill>
                  <a:srgbClr val="5B6B7F"/>
                </a:solidFill>
                <a:latin typeface="Courier New" pitchFamily="34" charset="0"/>
                <a:ea typeface="Courier New" pitchFamily="34" charset="-122"/>
                <a:cs typeface="Courier New" pitchFamily="34" charset="-120"/>
              </a:rPr>
              <a:t>0xA0 GLOAD</a:t>
            </a:r>
            <a:endParaRPr lang="en-US" sz="800" dirty="0"/>
          </a:p>
        </p:txBody>
      </p:sp>
      <p:sp>
        <p:nvSpPr>
          <p:cNvPr id="14" name="Text 12"/>
          <p:cNvSpPr txBox="1"/>
          <p:nvPr/>
        </p:nvSpPr>
        <p:spPr>
          <a:xfrm>
            <a:off x="9349740" y="1600200"/>
            <a:ext cx="235458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7..0</a:t>
            </a:r>
            <a:endParaRPr lang="en-US" sz="700" dirty="0"/>
          </a:p>
        </p:txBody>
      </p:sp>
      <p:sp>
        <p:nvSpPr>
          <p:cNvPr id="15" name="Text 13"/>
          <p:cNvSpPr txBox="1"/>
          <p:nvPr/>
        </p:nvSpPr>
        <p:spPr>
          <a:xfrm>
            <a:off x="457200" y="2724912"/>
            <a:ext cx="457200" cy="274320"/>
          </a:xfrm>
          <a:prstGeom prst="rect">
            <a:avLst/>
          </a:prstGeom>
          <a:noFill/>
          <a:ln/>
        </p:spPr>
        <p:txBody>
          <a:bodyPr wrap="square" lIns="0" tIns="0" rIns="0" bIns="0" rtlCol="0" anchor="t"/>
          <a:lstStyle/>
          <a:p>
            <a:pPr algn="l" indent="0" marL="0">
              <a:buNone/>
            </a:pPr>
            <a:r>
              <a:rPr lang="en-US" sz="1200" b="1" dirty="0">
                <a:solidFill>
                  <a:srgbClr val="15243B"/>
                </a:solidFill>
                <a:latin typeface="Malgun Gothic" pitchFamily="34" charset="0"/>
                <a:ea typeface="Malgun Gothic" pitchFamily="34" charset="-122"/>
                <a:cs typeface="Malgun Gothic" pitchFamily="34" charset="-120"/>
              </a:rPr>
              <a:t>w1</a:t>
            </a:r>
            <a:endParaRPr lang="en-US" sz="1200" dirty="0"/>
          </a:p>
        </p:txBody>
      </p:sp>
      <p:sp>
        <p:nvSpPr>
          <p:cNvPr id="16" name="Text 14"/>
          <p:cNvSpPr txBox="1"/>
          <p:nvPr/>
        </p:nvSpPr>
        <p:spPr>
          <a:xfrm>
            <a:off x="914400" y="2724912"/>
            <a:ext cx="1188720" cy="274320"/>
          </a:xfrm>
          <a:prstGeom prst="rect">
            <a:avLst/>
          </a:prstGeom>
          <a:noFill/>
          <a:ln/>
        </p:spPr>
        <p:txBody>
          <a:bodyPr wrap="square" lIns="0" tIns="0" rIns="0" bIns="0" rtlCol="0" anchor="t"/>
          <a:lstStyle/>
          <a:p>
            <a:pPr algn="l" indent="0" marL="0">
              <a:buNone/>
            </a:pPr>
            <a:r>
              <a:rPr lang="en-US" sz="1200" b="1" dirty="0">
                <a:solidFill>
                  <a:srgbClr val="1F2D3D"/>
                </a:solidFill>
                <a:latin typeface="Courier New" pitchFamily="34" charset="0"/>
                <a:ea typeface="Courier New" pitchFamily="34" charset="-122"/>
                <a:cs typeface="Courier New" pitchFamily="34" charset="-120"/>
              </a:rPr>
              <a:t>00000000</a:t>
            </a:r>
            <a:endParaRPr lang="en-US" sz="1200" dirty="0"/>
          </a:p>
        </p:txBody>
      </p:sp>
      <p:sp>
        <p:nvSpPr>
          <p:cNvPr id="17" name="Shape 15"/>
          <p:cNvSpPr/>
          <p:nvPr/>
        </p:nvSpPr>
        <p:spPr>
          <a:xfrm>
            <a:off x="2286000" y="2651760"/>
            <a:ext cx="9418320" cy="502920"/>
          </a:xfrm>
          <a:prstGeom prst="rect">
            <a:avLst/>
          </a:prstGeom>
          <a:solidFill>
            <a:srgbClr val="FFF1DC"/>
          </a:solidFill>
          <a:ln w="9525">
            <a:solidFill>
              <a:srgbClr val="D98A1E"/>
            </a:solidFill>
            <a:prstDash val="solid"/>
          </a:ln>
        </p:spPr>
      </p:sp>
      <p:sp>
        <p:nvSpPr>
          <p:cNvPr id="18" name="Text 16"/>
          <p:cNvSpPr txBox="1"/>
          <p:nvPr/>
        </p:nvSpPr>
        <p:spPr>
          <a:xfrm>
            <a:off x="2286000" y="2670048"/>
            <a:ext cx="9418320"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global cell 주소</a:t>
            </a:r>
            <a:endParaRPr lang="en-US" sz="850" dirty="0"/>
          </a:p>
        </p:txBody>
      </p:sp>
      <p:sp>
        <p:nvSpPr>
          <p:cNvPr id="19" name="Text 17"/>
          <p:cNvSpPr txBox="1"/>
          <p:nvPr/>
        </p:nvSpPr>
        <p:spPr>
          <a:xfrm>
            <a:off x="2286000" y="2903220"/>
            <a:ext cx="9418320" cy="231343"/>
          </a:xfrm>
          <a:prstGeom prst="rect">
            <a:avLst/>
          </a:prstGeom>
          <a:noFill/>
          <a:ln/>
        </p:spPr>
        <p:txBody>
          <a:bodyPr wrap="square" lIns="0" tIns="0" rIns="0" bIns="0" rtlCol="0" anchor="ctr"/>
          <a:lstStyle/>
          <a:p>
            <a:pPr algn="ctr" indent="0" marL="0">
              <a:buNone/>
            </a:pPr>
            <a:r>
              <a:rPr lang="en-US" sz="800" dirty="0">
                <a:solidFill>
                  <a:srgbClr val="5B6B7F"/>
                </a:solidFill>
                <a:latin typeface="Courier New" pitchFamily="34" charset="0"/>
                <a:ea typeface="Courier New" pitchFamily="34" charset="-122"/>
                <a:cs typeface="Courier New" pitchFamily="34" charset="-120"/>
              </a:rPr>
              <a:t>0 → byte 0 (image 맨 앞 = X)</a:t>
            </a:r>
            <a:endParaRPr lang="en-US" sz="800" dirty="0"/>
          </a:p>
        </p:txBody>
      </p:sp>
      <p:sp>
        <p:nvSpPr>
          <p:cNvPr id="20" name="Text 18"/>
          <p:cNvSpPr txBox="1"/>
          <p:nvPr/>
        </p:nvSpPr>
        <p:spPr>
          <a:xfrm>
            <a:off x="2286000" y="2468880"/>
            <a:ext cx="941832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31..0</a:t>
            </a:r>
            <a:endParaRPr lang="en-US" sz="700" dirty="0"/>
          </a:p>
        </p:txBody>
      </p:sp>
      <p:sp>
        <p:nvSpPr>
          <p:cNvPr id="21" name="Text 19"/>
          <p:cNvSpPr txBox="1"/>
          <p:nvPr/>
        </p:nvSpPr>
        <p:spPr>
          <a:xfrm>
            <a:off x="457200" y="3593592"/>
            <a:ext cx="457200" cy="274320"/>
          </a:xfrm>
          <a:prstGeom prst="rect">
            <a:avLst/>
          </a:prstGeom>
          <a:noFill/>
          <a:ln/>
        </p:spPr>
        <p:txBody>
          <a:bodyPr wrap="square" lIns="0" tIns="0" rIns="0" bIns="0" rtlCol="0" anchor="t"/>
          <a:lstStyle/>
          <a:p>
            <a:pPr algn="l" indent="0" marL="0">
              <a:buNone/>
            </a:pPr>
            <a:r>
              <a:rPr lang="en-US" sz="1200" b="1" dirty="0">
                <a:solidFill>
                  <a:srgbClr val="15243B"/>
                </a:solidFill>
                <a:latin typeface="Malgun Gothic" pitchFamily="34" charset="0"/>
                <a:ea typeface="Malgun Gothic" pitchFamily="34" charset="-122"/>
                <a:cs typeface="Malgun Gothic" pitchFamily="34" charset="-120"/>
              </a:rPr>
              <a:t>w2</a:t>
            </a:r>
            <a:endParaRPr lang="en-US" sz="1200" dirty="0"/>
          </a:p>
        </p:txBody>
      </p:sp>
      <p:sp>
        <p:nvSpPr>
          <p:cNvPr id="22" name="Text 20"/>
          <p:cNvSpPr txBox="1"/>
          <p:nvPr/>
        </p:nvSpPr>
        <p:spPr>
          <a:xfrm>
            <a:off x="914400" y="3593592"/>
            <a:ext cx="1188720" cy="274320"/>
          </a:xfrm>
          <a:prstGeom prst="rect">
            <a:avLst/>
          </a:prstGeom>
          <a:noFill/>
          <a:ln/>
        </p:spPr>
        <p:txBody>
          <a:bodyPr wrap="square" lIns="0" tIns="0" rIns="0" bIns="0" rtlCol="0" anchor="t"/>
          <a:lstStyle/>
          <a:p>
            <a:pPr algn="l" indent="0" marL="0">
              <a:buNone/>
            </a:pPr>
            <a:r>
              <a:rPr lang="en-US" sz="1200" b="1" dirty="0">
                <a:solidFill>
                  <a:srgbClr val="1F2D3D"/>
                </a:solidFill>
                <a:latin typeface="Courier New" pitchFamily="34" charset="0"/>
                <a:ea typeface="Courier New" pitchFamily="34" charset="-122"/>
                <a:cs typeface="Courier New" pitchFamily="34" charset="-120"/>
              </a:rPr>
              <a:t>00000800</a:t>
            </a:r>
            <a:endParaRPr lang="en-US" sz="1200" dirty="0"/>
          </a:p>
        </p:txBody>
      </p:sp>
      <p:sp>
        <p:nvSpPr>
          <p:cNvPr id="23" name="Shape 21"/>
          <p:cNvSpPr/>
          <p:nvPr/>
        </p:nvSpPr>
        <p:spPr>
          <a:xfrm>
            <a:off x="2286000" y="3520440"/>
            <a:ext cx="9418320" cy="502920"/>
          </a:xfrm>
          <a:prstGeom prst="rect">
            <a:avLst/>
          </a:prstGeom>
          <a:solidFill>
            <a:srgbClr val="FFF1DC"/>
          </a:solidFill>
          <a:ln w="9525">
            <a:solidFill>
              <a:srgbClr val="D98A1E"/>
            </a:solidFill>
            <a:prstDash val="solid"/>
          </a:ln>
        </p:spPr>
      </p:sp>
      <p:sp>
        <p:nvSpPr>
          <p:cNvPr id="24" name="Text 22"/>
          <p:cNvSpPr txBox="1"/>
          <p:nvPr/>
        </p:nvSpPr>
        <p:spPr>
          <a:xfrm>
            <a:off x="2286000" y="3538728"/>
            <a:ext cx="9418320"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global row stride (cells)</a:t>
            </a:r>
            <a:endParaRPr lang="en-US" sz="850" dirty="0"/>
          </a:p>
        </p:txBody>
      </p:sp>
      <p:sp>
        <p:nvSpPr>
          <p:cNvPr id="25" name="Text 23"/>
          <p:cNvSpPr txBox="1"/>
          <p:nvPr/>
        </p:nvSpPr>
        <p:spPr>
          <a:xfrm>
            <a:off x="2286000" y="3771900"/>
            <a:ext cx="9418320" cy="231343"/>
          </a:xfrm>
          <a:prstGeom prst="rect">
            <a:avLst/>
          </a:prstGeom>
          <a:noFill/>
          <a:ln/>
        </p:spPr>
        <p:txBody>
          <a:bodyPr wrap="square" lIns="0" tIns="0" rIns="0" bIns="0" rtlCol="0" anchor="ctr"/>
          <a:lstStyle/>
          <a:p>
            <a:pPr algn="ctr" indent="0" marL="0">
              <a:buNone/>
            </a:pPr>
            <a:r>
              <a:rPr lang="en-US" sz="800" dirty="0">
                <a:solidFill>
                  <a:srgbClr val="5B6B7F"/>
                </a:solidFill>
                <a:latin typeface="Courier New" pitchFamily="34" charset="0"/>
                <a:ea typeface="Courier New" pitchFamily="34" charset="-122"/>
                <a:cs typeface="Courier New" pitchFamily="34" charset="-120"/>
              </a:rPr>
              <a:t>0x800 = 2048 cells = 8192 B</a:t>
            </a:r>
            <a:endParaRPr lang="en-US" sz="800" dirty="0"/>
          </a:p>
        </p:txBody>
      </p:sp>
      <p:sp>
        <p:nvSpPr>
          <p:cNvPr id="26" name="Text 24"/>
          <p:cNvSpPr txBox="1"/>
          <p:nvPr/>
        </p:nvSpPr>
        <p:spPr>
          <a:xfrm>
            <a:off x="2286000" y="3337560"/>
            <a:ext cx="941832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31..0</a:t>
            </a:r>
            <a:endParaRPr lang="en-US" sz="700" dirty="0"/>
          </a:p>
        </p:txBody>
      </p:sp>
      <p:sp>
        <p:nvSpPr>
          <p:cNvPr id="27" name="Text 25"/>
          <p:cNvSpPr txBox="1"/>
          <p:nvPr/>
        </p:nvSpPr>
        <p:spPr>
          <a:xfrm>
            <a:off x="457200" y="4462272"/>
            <a:ext cx="457200" cy="274320"/>
          </a:xfrm>
          <a:prstGeom prst="rect">
            <a:avLst/>
          </a:prstGeom>
          <a:noFill/>
          <a:ln/>
        </p:spPr>
        <p:txBody>
          <a:bodyPr wrap="square" lIns="0" tIns="0" rIns="0" bIns="0" rtlCol="0" anchor="t"/>
          <a:lstStyle/>
          <a:p>
            <a:pPr algn="l" indent="0" marL="0">
              <a:buNone/>
            </a:pPr>
            <a:r>
              <a:rPr lang="en-US" sz="1200" b="1" dirty="0">
                <a:solidFill>
                  <a:srgbClr val="15243B"/>
                </a:solidFill>
                <a:latin typeface="Malgun Gothic" pitchFamily="34" charset="0"/>
                <a:ea typeface="Malgun Gothic" pitchFamily="34" charset="-122"/>
                <a:cs typeface="Malgun Gothic" pitchFamily="34" charset="-120"/>
              </a:rPr>
              <a:t>w3</a:t>
            </a:r>
            <a:endParaRPr lang="en-US" sz="1200" dirty="0"/>
          </a:p>
        </p:txBody>
      </p:sp>
      <p:sp>
        <p:nvSpPr>
          <p:cNvPr id="28" name="Text 26"/>
          <p:cNvSpPr txBox="1"/>
          <p:nvPr/>
        </p:nvSpPr>
        <p:spPr>
          <a:xfrm>
            <a:off x="914400" y="4462272"/>
            <a:ext cx="1188720" cy="274320"/>
          </a:xfrm>
          <a:prstGeom prst="rect">
            <a:avLst/>
          </a:prstGeom>
          <a:noFill/>
          <a:ln/>
        </p:spPr>
        <p:txBody>
          <a:bodyPr wrap="square" lIns="0" tIns="0" rIns="0" bIns="0" rtlCol="0" anchor="t"/>
          <a:lstStyle/>
          <a:p>
            <a:pPr algn="l" indent="0" marL="0">
              <a:buNone/>
            </a:pPr>
            <a:r>
              <a:rPr lang="en-US" sz="1200" b="1" dirty="0">
                <a:solidFill>
                  <a:srgbClr val="1F2D3D"/>
                </a:solidFill>
                <a:latin typeface="Courier New" pitchFamily="34" charset="0"/>
                <a:ea typeface="Courier New" pitchFamily="34" charset="-122"/>
                <a:cs typeface="Courier New" pitchFamily="34" charset="-120"/>
              </a:rPr>
              <a:t>00010800</a:t>
            </a:r>
            <a:endParaRPr lang="en-US" sz="1200" dirty="0"/>
          </a:p>
        </p:txBody>
      </p:sp>
      <p:sp>
        <p:nvSpPr>
          <p:cNvPr id="29" name="Shape 27"/>
          <p:cNvSpPr/>
          <p:nvPr/>
        </p:nvSpPr>
        <p:spPr>
          <a:xfrm>
            <a:off x="2286000" y="4389120"/>
            <a:ext cx="4709160" cy="502920"/>
          </a:xfrm>
          <a:prstGeom prst="rect">
            <a:avLst/>
          </a:prstGeom>
          <a:solidFill>
            <a:srgbClr val="E3EEFB"/>
          </a:solidFill>
          <a:ln w="9525">
            <a:solidFill>
              <a:srgbClr val="2F6DB5"/>
            </a:solidFill>
            <a:prstDash val="solid"/>
          </a:ln>
        </p:spPr>
      </p:sp>
      <p:sp>
        <p:nvSpPr>
          <p:cNvPr id="30" name="Text 28"/>
          <p:cNvSpPr txBox="1"/>
          <p:nvPr/>
        </p:nvSpPr>
        <p:spPr>
          <a:xfrm>
            <a:off x="2286000" y="4407408"/>
            <a:ext cx="4709160"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rows</a:t>
            </a:r>
            <a:endParaRPr lang="en-US" sz="850" dirty="0"/>
          </a:p>
        </p:txBody>
      </p:sp>
      <p:sp>
        <p:nvSpPr>
          <p:cNvPr id="31" name="Text 29"/>
          <p:cNvSpPr txBox="1"/>
          <p:nvPr/>
        </p:nvSpPr>
        <p:spPr>
          <a:xfrm>
            <a:off x="2286000" y="4640580"/>
            <a:ext cx="4709160" cy="231343"/>
          </a:xfrm>
          <a:prstGeom prst="rect">
            <a:avLst/>
          </a:prstGeom>
          <a:noFill/>
          <a:ln/>
        </p:spPr>
        <p:txBody>
          <a:bodyPr wrap="square" lIns="0" tIns="0" rIns="0" bIns="0" rtlCol="0" anchor="ctr"/>
          <a:lstStyle/>
          <a:p>
            <a:pPr algn="ctr" indent="0" marL="0">
              <a:buNone/>
            </a:pPr>
            <a:r>
              <a:rPr lang="en-US" sz="800" dirty="0">
                <a:solidFill>
                  <a:srgbClr val="5B6B7F"/>
                </a:solidFill>
                <a:latin typeface="Courier New" pitchFamily="34" charset="0"/>
                <a:ea typeface="Courier New" pitchFamily="34" charset="-122"/>
                <a:cs typeface="Courier New" pitchFamily="34" charset="-120"/>
              </a:rPr>
              <a:t>1</a:t>
            </a:r>
            <a:endParaRPr lang="en-US" sz="800" dirty="0"/>
          </a:p>
        </p:txBody>
      </p:sp>
      <p:sp>
        <p:nvSpPr>
          <p:cNvPr id="32" name="Text 30"/>
          <p:cNvSpPr txBox="1"/>
          <p:nvPr/>
        </p:nvSpPr>
        <p:spPr>
          <a:xfrm>
            <a:off x="2286000" y="4206240"/>
            <a:ext cx="470916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31..16</a:t>
            </a:r>
            <a:endParaRPr lang="en-US" sz="700" dirty="0"/>
          </a:p>
        </p:txBody>
      </p:sp>
      <p:sp>
        <p:nvSpPr>
          <p:cNvPr id="33" name="Shape 31"/>
          <p:cNvSpPr/>
          <p:nvPr/>
        </p:nvSpPr>
        <p:spPr>
          <a:xfrm>
            <a:off x="6995160" y="4389120"/>
            <a:ext cx="4709160" cy="502920"/>
          </a:xfrm>
          <a:prstGeom prst="rect">
            <a:avLst/>
          </a:prstGeom>
          <a:solidFill>
            <a:srgbClr val="E3EEFB"/>
          </a:solidFill>
          <a:ln w="9525">
            <a:solidFill>
              <a:srgbClr val="2F6DB5"/>
            </a:solidFill>
            <a:prstDash val="solid"/>
          </a:ln>
        </p:spPr>
      </p:sp>
      <p:sp>
        <p:nvSpPr>
          <p:cNvPr id="34" name="Text 32"/>
          <p:cNvSpPr txBox="1"/>
          <p:nvPr/>
        </p:nvSpPr>
        <p:spPr>
          <a:xfrm>
            <a:off x="6995160" y="4407408"/>
            <a:ext cx="4709160"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cols (cells)</a:t>
            </a:r>
            <a:endParaRPr lang="en-US" sz="850" dirty="0"/>
          </a:p>
        </p:txBody>
      </p:sp>
      <p:sp>
        <p:nvSpPr>
          <p:cNvPr id="35" name="Text 33"/>
          <p:cNvSpPr txBox="1"/>
          <p:nvPr/>
        </p:nvSpPr>
        <p:spPr>
          <a:xfrm>
            <a:off x="6995160" y="4640580"/>
            <a:ext cx="4709160" cy="231343"/>
          </a:xfrm>
          <a:prstGeom prst="rect">
            <a:avLst/>
          </a:prstGeom>
          <a:noFill/>
          <a:ln/>
        </p:spPr>
        <p:txBody>
          <a:bodyPr wrap="square" lIns="0" tIns="0" rIns="0" bIns="0" rtlCol="0" anchor="ctr"/>
          <a:lstStyle/>
          <a:p>
            <a:pPr algn="ctr" indent="0" marL="0">
              <a:buNone/>
            </a:pPr>
            <a:r>
              <a:rPr lang="en-US" sz="800" dirty="0">
                <a:solidFill>
                  <a:srgbClr val="5B6B7F"/>
                </a:solidFill>
                <a:latin typeface="Courier New" pitchFamily="34" charset="0"/>
                <a:ea typeface="Courier New" pitchFamily="34" charset="-122"/>
                <a:cs typeface="Courier New" pitchFamily="34" charset="-120"/>
              </a:rPr>
              <a:t>0x800 = 2048 cells = 8192 B</a:t>
            </a:r>
            <a:endParaRPr lang="en-US" sz="800" dirty="0"/>
          </a:p>
        </p:txBody>
      </p:sp>
      <p:sp>
        <p:nvSpPr>
          <p:cNvPr id="36" name="Text 34"/>
          <p:cNvSpPr txBox="1"/>
          <p:nvPr/>
        </p:nvSpPr>
        <p:spPr>
          <a:xfrm>
            <a:off x="6995160" y="4206240"/>
            <a:ext cx="470916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15..0</a:t>
            </a:r>
            <a:endParaRPr lang="en-US" sz="7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5349240"/>
          <a:ext cx="11274552" cy="914400"/>
        </p:xfrm>
        <a:graphic>
          <a:graphicData uri="http://schemas.openxmlformats.org/drawingml/2006/table">
            <a:tbl>
              <a:tblPr/>
              <a:tblGrid>
                <a:gridCol w="2377440"/>
                <a:gridCol w="8897112"/>
              </a:tblGrid>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해독 결과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X[64,64] FP16 = 64 × 64 × 2 = 8,192 B = 2,048 cells를 DRAM byte 0에서 SRAM byte 1548로 한 행(1D)으로 이동. rows 1 이므로 stride는 의미 없음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같은 프로그램의 GSTORE (offset 72)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000c18a8 00002800 …: opcode 0xA8, SRAM nibble 3096 → global cell 0x2800 = byte 40,960 (Y 출력, plan.outputs.offset_bytes = 40960)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38" name="Shape 35"/>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39" name="Text 36"/>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77 words = 62 instructions인 이유: DMA는 명령 하나가 4 words이고 나머지는 1 word입니다 (GLOAD 4개, GSTORE 1개 → 15 words 추가).</a:t>
            </a:r>
            <a:endParaRPr lang="en-US" sz="1250" dirty="0"/>
          </a:p>
        </p:txBody>
      </p:sp>
      <p:sp>
        <p:nvSpPr>
          <p:cNvPr id="40" name="Text 3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41" name="Text 3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docs/examples/two_matmuls_recorded/program_memory.bin, program.json, npu_compiler/isa_v09.py</a:t>
            </a:r>
            <a:endParaRPr lang="en-US" sz="850" dirty="0"/>
          </a:p>
        </p:txBody>
      </p:sp>
      <p:sp>
        <p:nvSpPr>
          <p:cNvPr id="42" name="Text 3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58 / 89</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실제 명령 해독 ②: M_MUL의 MAC bit와 77-word 프로그램의 흐름</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80000042와 88000042의 차이는 bit 27(MAC)뿐입니다. 둘 다 mode VECTOR, activation OFF. 아래 strip은 77 words 전체를 opcode 종류별로 칠한 것입니다.</a:t>
            </a:r>
            <a:endParaRPr lang="en-US" sz="1250" dirty="0"/>
          </a:p>
        </p:txBody>
      </p:sp>
      <p:sp>
        <p:nvSpPr>
          <p:cNvPr id="5" name="Text 3"/>
          <p:cNvSpPr txBox="1"/>
          <p:nvPr/>
        </p:nvSpPr>
        <p:spPr>
          <a:xfrm>
            <a:off x="45720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M_MUL word (opcode 0x42)</a:t>
            </a:r>
            <a:endParaRPr lang="en-US" sz="1100" dirty="0"/>
          </a:p>
        </p:txBody>
      </p:sp>
      <p:sp>
        <p:nvSpPr>
          <p:cNvPr id="6" name="Shape 4"/>
          <p:cNvSpPr/>
          <p:nvPr/>
        </p:nvSpPr>
        <p:spPr>
          <a:xfrm>
            <a:off x="457200" y="1874520"/>
            <a:ext cx="417195" cy="502920"/>
          </a:xfrm>
          <a:prstGeom prst="rect">
            <a:avLst/>
          </a:prstGeom>
          <a:solidFill>
            <a:srgbClr val="ECE6FA"/>
          </a:solidFill>
          <a:ln w="9525">
            <a:solidFill>
              <a:srgbClr val="6C4FBF"/>
            </a:solidFill>
            <a:prstDash val="solid"/>
          </a:ln>
        </p:spPr>
      </p:sp>
      <p:sp>
        <p:nvSpPr>
          <p:cNvPr id="7" name="Text 5"/>
          <p:cNvSpPr txBox="1"/>
          <p:nvPr/>
        </p:nvSpPr>
        <p:spPr>
          <a:xfrm>
            <a:off x="457200" y="1892808"/>
            <a:ext cx="417195" cy="25146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mode</a:t>
            </a:r>
            <a:endParaRPr lang="en-US" sz="800" dirty="0"/>
          </a:p>
        </p:txBody>
      </p:sp>
      <p:sp>
        <p:nvSpPr>
          <p:cNvPr id="8" name="Text 6"/>
          <p:cNvSpPr txBox="1"/>
          <p:nvPr/>
        </p:nvSpPr>
        <p:spPr>
          <a:xfrm>
            <a:off x="457200" y="2125980"/>
            <a:ext cx="417195" cy="231343"/>
          </a:xfrm>
          <a:prstGeom prst="rect">
            <a:avLst/>
          </a:prstGeom>
          <a:noFill/>
          <a:ln/>
        </p:spPr>
        <p:txBody>
          <a:bodyPr wrap="square" lIns="0" tIns="0" rIns="0" bIns="0" rtlCol="0" anchor="ctr"/>
          <a:lstStyle/>
          <a:p>
            <a:pPr algn="ctr" indent="0" marL="0">
              <a:buNone/>
            </a:pPr>
            <a:r>
              <a:rPr lang="en-US" sz="750" dirty="0">
                <a:solidFill>
                  <a:srgbClr val="5B6B7F"/>
                </a:solidFill>
                <a:latin typeface="Courier New" pitchFamily="34" charset="0"/>
                <a:ea typeface="Courier New" pitchFamily="34" charset="-122"/>
                <a:cs typeface="Courier New" pitchFamily="34" charset="-120"/>
              </a:rPr>
              <a:t>2 = VECTOR</a:t>
            </a:r>
            <a:endParaRPr lang="en-US" sz="750" dirty="0"/>
          </a:p>
        </p:txBody>
      </p:sp>
      <p:sp>
        <p:nvSpPr>
          <p:cNvPr id="9" name="Text 7"/>
          <p:cNvSpPr txBox="1"/>
          <p:nvPr/>
        </p:nvSpPr>
        <p:spPr>
          <a:xfrm>
            <a:off x="457200" y="1691640"/>
            <a:ext cx="417195"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31..30</a:t>
            </a:r>
            <a:endParaRPr lang="en-US" sz="700" dirty="0"/>
          </a:p>
        </p:txBody>
      </p:sp>
      <p:sp>
        <p:nvSpPr>
          <p:cNvPr id="10" name="Shape 8"/>
          <p:cNvSpPr/>
          <p:nvPr/>
        </p:nvSpPr>
        <p:spPr>
          <a:xfrm>
            <a:off x="874395" y="1874520"/>
            <a:ext cx="417195" cy="502920"/>
          </a:xfrm>
          <a:prstGeom prst="rect">
            <a:avLst/>
          </a:prstGeom>
          <a:solidFill>
            <a:srgbClr val="E3EEFB"/>
          </a:solidFill>
          <a:ln w="9525">
            <a:solidFill>
              <a:srgbClr val="2F6DB5"/>
            </a:solidFill>
            <a:prstDash val="solid"/>
          </a:ln>
        </p:spPr>
      </p:sp>
      <p:sp>
        <p:nvSpPr>
          <p:cNvPr id="11" name="Text 9"/>
          <p:cNvSpPr txBox="1"/>
          <p:nvPr/>
        </p:nvSpPr>
        <p:spPr>
          <a:xfrm>
            <a:off x="874395" y="1892808"/>
            <a:ext cx="417195" cy="25146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act</a:t>
            </a:r>
            <a:endParaRPr lang="en-US" sz="800" dirty="0"/>
          </a:p>
        </p:txBody>
      </p:sp>
      <p:sp>
        <p:nvSpPr>
          <p:cNvPr id="12" name="Text 10"/>
          <p:cNvSpPr txBox="1"/>
          <p:nvPr/>
        </p:nvSpPr>
        <p:spPr>
          <a:xfrm>
            <a:off x="874395" y="2125980"/>
            <a:ext cx="417195" cy="231343"/>
          </a:xfrm>
          <a:prstGeom prst="rect">
            <a:avLst/>
          </a:prstGeom>
          <a:noFill/>
          <a:ln/>
        </p:spPr>
        <p:txBody>
          <a:bodyPr wrap="square" lIns="0" tIns="0" rIns="0" bIns="0" rtlCol="0" anchor="ctr"/>
          <a:lstStyle/>
          <a:p>
            <a:pPr algn="ctr" indent="0" marL="0">
              <a:buNone/>
            </a:pPr>
            <a:r>
              <a:rPr lang="en-US" sz="750" dirty="0">
                <a:solidFill>
                  <a:srgbClr val="5B6B7F"/>
                </a:solidFill>
                <a:latin typeface="Courier New" pitchFamily="34" charset="0"/>
                <a:ea typeface="Courier New" pitchFamily="34" charset="-122"/>
                <a:cs typeface="Courier New" pitchFamily="34" charset="-120"/>
              </a:rPr>
              <a:t>OFF</a:t>
            </a:r>
            <a:endParaRPr lang="en-US" sz="750" dirty="0"/>
          </a:p>
        </p:txBody>
      </p:sp>
      <p:sp>
        <p:nvSpPr>
          <p:cNvPr id="13" name="Text 11"/>
          <p:cNvSpPr txBox="1"/>
          <p:nvPr/>
        </p:nvSpPr>
        <p:spPr>
          <a:xfrm>
            <a:off x="874395" y="1691640"/>
            <a:ext cx="417195"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29..28</a:t>
            </a:r>
            <a:endParaRPr lang="en-US" sz="700" dirty="0"/>
          </a:p>
        </p:txBody>
      </p:sp>
      <p:sp>
        <p:nvSpPr>
          <p:cNvPr id="14" name="Shape 12"/>
          <p:cNvSpPr/>
          <p:nvPr/>
        </p:nvSpPr>
        <p:spPr>
          <a:xfrm>
            <a:off x="1291590" y="1874520"/>
            <a:ext cx="208598" cy="502920"/>
          </a:xfrm>
          <a:prstGeom prst="rect">
            <a:avLst/>
          </a:prstGeom>
          <a:solidFill>
            <a:srgbClr val="FBE9E7"/>
          </a:solidFill>
          <a:ln w="9525">
            <a:solidFill>
              <a:srgbClr val="C0392B"/>
            </a:solidFill>
            <a:prstDash val="solid"/>
          </a:ln>
        </p:spPr>
      </p:sp>
      <p:sp>
        <p:nvSpPr>
          <p:cNvPr id="15" name="Text 13"/>
          <p:cNvSpPr txBox="1"/>
          <p:nvPr/>
        </p:nvSpPr>
        <p:spPr>
          <a:xfrm>
            <a:off x="1291590" y="1892808"/>
            <a:ext cx="208598" cy="25146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MAC</a:t>
            </a:r>
            <a:endParaRPr lang="en-US" sz="800" dirty="0"/>
          </a:p>
        </p:txBody>
      </p:sp>
      <p:sp>
        <p:nvSpPr>
          <p:cNvPr id="16" name="Text 14"/>
          <p:cNvSpPr txBox="1"/>
          <p:nvPr/>
        </p:nvSpPr>
        <p:spPr>
          <a:xfrm>
            <a:off x="1291590" y="2125980"/>
            <a:ext cx="208598" cy="231343"/>
          </a:xfrm>
          <a:prstGeom prst="rect">
            <a:avLst/>
          </a:prstGeom>
          <a:noFill/>
          <a:ln/>
        </p:spPr>
        <p:txBody>
          <a:bodyPr wrap="square" lIns="0" tIns="0" rIns="0" bIns="0" rtlCol="0" anchor="ctr"/>
          <a:lstStyle/>
          <a:p>
            <a:pPr algn="ctr" indent="0" marL="0">
              <a:buNone/>
            </a:pPr>
            <a:r>
              <a:rPr lang="en-US" sz="750" dirty="0">
                <a:solidFill>
                  <a:srgbClr val="5B6B7F"/>
                </a:solidFill>
                <a:latin typeface="Courier New" pitchFamily="34" charset="0"/>
                <a:ea typeface="Courier New" pitchFamily="34" charset="-122"/>
                <a:cs typeface="Courier New" pitchFamily="34" charset="-120"/>
              </a:rPr>
              <a:t>0/1</a:t>
            </a:r>
            <a:endParaRPr lang="en-US" sz="750" dirty="0"/>
          </a:p>
        </p:txBody>
      </p:sp>
      <p:sp>
        <p:nvSpPr>
          <p:cNvPr id="17" name="Text 15"/>
          <p:cNvSpPr txBox="1"/>
          <p:nvPr/>
        </p:nvSpPr>
        <p:spPr>
          <a:xfrm>
            <a:off x="1291590" y="1691640"/>
            <a:ext cx="208598"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27</a:t>
            </a:r>
            <a:endParaRPr lang="en-US" sz="700" dirty="0"/>
          </a:p>
        </p:txBody>
      </p:sp>
      <p:sp>
        <p:nvSpPr>
          <p:cNvPr id="18" name="Shape 16"/>
          <p:cNvSpPr/>
          <p:nvPr/>
        </p:nvSpPr>
        <p:spPr>
          <a:xfrm>
            <a:off x="1500188" y="1874520"/>
            <a:ext cx="625793" cy="502920"/>
          </a:xfrm>
          <a:prstGeom prst="rect">
            <a:avLst/>
          </a:prstGeom>
          <a:solidFill>
            <a:srgbClr val="EEF2F6"/>
          </a:solidFill>
          <a:ln w="9525">
            <a:solidFill>
              <a:srgbClr val="C9D3DF"/>
            </a:solidFill>
            <a:prstDash val="solid"/>
          </a:ln>
        </p:spPr>
      </p:sp>
      <p:sp>
        <p:nvSpPr>
          <p:cNvPr id="19" name="Text 17"/>
          <p:cNvSpPr txBox="1"/>
          <p:nvPr/>
        </p:nvSpPr>
        <p:spPr>
          <a:xfrm>
            <a:off x="1500188" y="1892808"/>
            <a:ext cx="625793" cy="25146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reserved</a:t>
            </a:r>
            <a:endParaRPr lang="en-US" sz="800" dirty="0"/>
          </a:p>
        </p:txBody>
      </p:sp>
      <p:sp>
        <p:nvSpPr>
          <p:cNvPr id="20" name="Text 18"/>
          <p:cNvSpPr txBox="1"/>
          <p:nvPr/>
        </p:nvSpPr>
        <p:spPr>
          <a:xfrm>
            <a:off x="1500188" y="1691640"/>
            <a:ext cx="625793"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26..24</a:t>
            </a:r>
            <a:endParaRPr lang="en-US" sz="700" dirty="0"/>
          </a:p>
        </p:txBody>
      </p:sp>
      <p:sp>
        <p:nvSpPr>
          <p:cNvPr id="21" name="Shape 19"/>
          <p:cNvSpPr/>
          <p:nvPr/>
        </p:nvSpPr>
        <p:spPr>
          <a:xfrm>
            <a:off x="2125980" y="1874520"/>
            <a:ext cx="3337560" cy="502920"/>
          </a:xfrm>
          <a:prstGeom prst="rect">
            <a:avLst/>
          </a:prstGeom>
          <a:solidFill>
            <a:srgbClr val="EEF2F6"/>
          </a:solidFill>
          <a:ln w="9525">
            <a:solidFill>
              <a:srgbClr val="C9D3DF"/>
            </a:solidFill>
            <a:prstDash val="solid"/>
          </a:ln>
        </p:spPr>
      </p:sp>
      <p:sp>
        <p:nvSpPr>
          <p:cNvPr id="22" name="Text 20"/>
          <p:cNvSpPr txBox="1"/>
          <p:nvPr/>
        </p:nvSpPr>
        <p:spPr>
          <a:xfrm>
            <a:off x="2125980" y="1892808"/>
            <a:ext cx="3337560" cy="25146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imm[23:8]</a:t>
            </a:r>
            <a:endParaRPr lang="en-US" sz="800" dirty="0"/>
          </a:p>
        </p:txBody>
      </p:sp>
      <p:sp>
        <p:nvSpPr>
          <p:cNvPr id="23" name="Text 21"/>
          <p:cNvSpPr txBox="1"/>
          <p:nvPr/>
        </p:nvSpPr>
        <p:spPr>
          <a:xfrm>
            <a:off x="2125980" y="2125980"/>
            <a:ext cx="3337560" cy="231343"/>
          </a:xfrm>
          <a:prstGeom prst="rect">
            <a:avLst/>
          </a:prstGeom>
          <a:noFill/>
          <a:ln/>
        </p:spPr>
        <p:txBody>
          <a:bodyPr wrap="square" lIns="0" tIns="0" rIns="0" bIns="0" rtlCol="0" anchor="ctr"/>
          <a:lstStyle/>
          <a:p>
            <a:pPr algn="ctr" indent="0" marL="0">
              <a:buNone/>
            </a:pPr>
            <a:r>
              <a:rPr lang="en-US" sz="750" dirty="0">
                <a:solidFill>
                  <a:srgbClr val="5B6B7F"/>
                </a:solidFill>
                <a:latin typeface="Courier New" pitchFamily="34" charset="0"/>
                <a:ea typeface="Courier New" pitchFamily="34" charset="-122"/>
                <a:cs typeface="Courier New" pitchFamily="34" charset="-120"/>
              </a:rPr>
              <a:t>0</a:t>
            </a:r>
            <a:endParaRPr lang="en-US" sz="750" dirty="0"/>
          </a:p>
        </p:txBody>
      </p:sp>
      <p:sp>
        <p:nvSpPr>
          <p:cNvPr id="24" name="Text 22"/>
          <p:cNvSpPr txBox="1"/>
          <p:nvPr/>
        </p:nvSpPr>
        <p:spPr>
          <a:xfrm>
            <a:off x="2125980" y="1691640"/>
            <a:ext cx="333756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23..8</a:t>
            </a:r>
            <a:endParaRPr lang="en-US" sz="700" dirty="0"/>
          </a:p>
        </p:txBody>
      </p:sp>
      <p:sp>
        <p:nvSpPr>
          <p:cNvPr id="25" name="Shape 23"/>
          <p:cNvSpPr/>
          <p:nvPr/>
        </p:nvSpPr>
        <p:spPr>
          <a:xfrm>
            <a:off x="5463540" y="1874520"/>
            <a:ext cx="1668780" cy="502920"/>
          </a:xfrm>
          <a:prstGeom prst="rect">
            <a:avLst/>
          </a:prstGeom>
          <a:solidFill>
            <a:srgbClr val="ECE6FA"/>
          </a:solidFill>
          <a:ln w="9525">
            <a:solidFill>
              <a:srgbClr val="6C4FBF"/>
            </a:solidFill>
            <a:prstDash val="solid"/>
          </a:ln>
        </p:spPr>
      </p:sp>
      <p:sp>
        <p:nvSpPr>
          <p:cNvPr id="26" name="Text 24"/>
          <p:cNvSpPr txBox="1"/>
          <p:nvPr/>
        </p:nvSpPr>
        <p:spPr>
          <a:xfrm>
            <a:off x="5463540" y="1892808"/>
            <a:ext cx="1668780" cy="25146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opcode</a:t>
            </a:r>
            <a:endParaRPr lang="en-US" sz="800" dirty="0"/>
          </a:p>
        </p:txBody>
      </p:sp>
      <p:sp>
        <p:nvSpPr>
          <p:cNvPr id="27" name="Text 25"/>
          <p:cNvSpPr txBox="1"/>
          <p:nvPr/>
        </p:nvSpPr>
        <p:spPr>
          <a:xfrm>
            <a:off x="5463540" y="2125980"/>
            <a:ext cx="1668780" cy="231343"/>
          </a:xfrm>
          <a:prstGeom prst="rect">
            <a:avLst/>
          </a:prstGeom>
          <a:noFill/>
          <a:ln/>
        </p:spPr>
        <p:txBody>
          <a:bodyPr wrap="square" lIns="0" tIns="0" rIns="0" bIns="0" rtlCol="0" anchor="ctr"/>
          <a:lstStyle/>
          <a:p>
            <a:pPr algn="ctr" indent="0" marL="0">
              <a:buNone/>
            </a:pPr>
            <a:r>
              <a:rPr lang="en-US" sz="750" dirty="0">
                <a:solidFill>
                  <a:srgbClr val="5B6B7F"/>
                </a:solidFill>
                <a:latin typeface="Courier New" pitchFamily="34" charset="0"/>
                <a:ea typeface="Courier New" pitchFamily="34" charset="-122"/>
                <a:cs typeface="Courier New" pitchFamily="34" charset="-120"/>
              </a:rPr>
              <a:t>0x42</a:t>
            </a:r>
            <a:endParaRPr lang="en-US" sz="750" dirty="0"/>
          </a:p>
        </p:txBody>
      </p:sp>
      <p:sp>
        <p:nvSpPr>
          <p:cNvPr id="28" name="Text 26"/>
          <p:cNvSpPr txBox="1"/>
          <p:nvPr/>
        </p:nvSpPr>
        <p:spPr>
          <a:xfrm>
            <a:off x="5463540" y="1691640"/>
            <a:ext cx="166878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7..0</a:t>
            </a:r>
            <a:endParaRPr lang="en-US" sz="7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6675120" cy="914400"/>
        </p:xfrm>
        <a:graphic>
          <a:graphicData uri="http://schemas.openxmlformats.org/drawingml/2006/table">
            <a:tbl>
              <a:tblPr/>
              <a:tblGrid>
                <a:gridCol w="1463040"/>
                <a:gridCol w="1188720"/>
                <a:gridCol w="4023360"/>
              </a:tblGrid>
              <a:tr h="274320">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word</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값</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뜻</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30, 44</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80000042</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첫 matmul의 두 H 출력 tile, 각각 MAC=0 (새 accumulator)</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60</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80000042</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두 번째 matmul, 첫 K tile, MAC=0</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67</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88000042</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같은 출력의 다음 K tile, MAC=1 (bit 27)</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404c1880 / 504c1880</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ADDR</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SRC2 MAIN lo = 0x4C18 (W1 nibble 19480 = byte 9740) / PARTIAL</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40008089</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COLS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SRC2 MAIN cols = 128 (= row stride, elements)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c0000090 / 80000098</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LOAD / SAVE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matrix LOAD SRC2 / matrix SAVE → DST</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30" name="Text 27"/>
          <p:cNvSpPr txBox="1"/>
          <p:nvPr/>
        </p:nvSpPr>
        <p:spPr>
          <a:xfrm>
            <a:off x="7360920" y="1371600"/>
            <a:ext cx="438912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77-word 프로그램 timeline</a:t>
            </a:r>
            <a:endParaRPr lang="en-US" sz="1100" dirty="0"/>
          </a:p>
        </p:txBody>
      </p:sp>
      <p:sp>
        <p:nvSpPr>
          <p:cNvPr id="31" name="Shape 28"/>
          <p:cNvSpPr/>
          <p:nvPr/>
        </p:nvSpPr>
        <p:spPr>
          <a:xfrm>
            <a:off x="7360920" y="1691640"/>
            <a:ext cx="4370832" cy="228600"/>
          </a:xfrm>
          <a:prstGeom prst="roundRect">
            <a:avLst>
              <a:gd name="adj" fmla="val 8000"/>
            </a:avLst>
          </a:prstGeom>
          <a:solidFill>
            <a:srgbClr val="EEF1F5"/>
          </a:solidFill>
          <a:ln w="6350">
            <a:solidFill>
              <a:srgbClr val="5B6B7F"/>
            </a:solidFill>
            <a:prstDash val="solid"/>
          </a:ln>
        </p:spPr>
      </p:sp>
      <p:sp>
        <p:nvSpPr>
          <p:cNvPr id="32" name="Text 29"/>
          <p:cNvSpPr txBox="1"/>
          <p:nvPr/>
        </p:nvSpPr>
        <p:spPr>
          <a:xfrm>
            <a:off x="7424928" y="1691640"/>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0–3</a:t>
            </a:r>
            <a:endParaRPr lang="en-US" sz="800" dirty="0"/>
          </a:p>
        </p:txBody>
      </p:sp>
      <p:sp>
        <p:nvSpPr>
          <p:cNvPr id="33" name="Text 30"/>
          <p:cNvSpPr txBox="1"/>
          <p:nvPr/>
        </p:nvSpPr>
        <p:spPr>
          <a:xfrm>
            <a:off x="8138160" y="1691640"/>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상수 pool GLOAD (3 cells → SRAM nibble 0)</a:t>
            </a:r>
            <a:endParaRPr lang="en-US" sz="800" dirty="0"/>
          </a:p>
        </p:txBody>
      </p:sp>
      <p:sp>
        <p:nvSpPr>
          <p:cNvPr id="34" name="Shape 31"/>
          <p:cNvSpPr/>
          <p:nvPr/>
        </p:nvSpPr>
        <p:spPr>
          <a:xfrm>
            <a:off x="7360920" y="1938528"/>
            <a:ext cx="4370832" cy="228600"/>
          </a:xfrm>
          <a:prstGeom prst="roundRect">
            <a:avLst>
              <a:gd name="adj" fmla="val 8000"/>
            </a:avLst>
          </a:prstGeom>
          <a:solidFill>
            <a:srgbClr val="FFF1DC"/>
          </a:solidFill>
          <a:ln w="6350">
            <a:solidFill>
              <a:srgbClr val="D98A1E"/>
            </a:solidFill>
            <a:prstDash val="solid"/>
          </a:ln>
        </p:spPr>
      </p:sp>
      <p:sp>
        <p:nvSpPr>
          <p:cNvPr id="35" name="Text 32"/>
          <p:cNvSpPr txBox="1"/>
          <p:nvPr/>
        </p:nvSpPr>
        <p:spPr>
          <a:xfrm>
            <a:off x="7424928" y="1938528"/>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4–7</a:t>
            </a:r>
            <a:endParaRPr lang="en-US" sz="800" dirty="0"/>
          </a:p>
        </p:txBody>
      </p:sp>
      <p:sp>
        <p:nvSpPr>
          <p:cNvPr id="36" name="Text 33"/>
          <p:cNvSpPr txBox="1"/>
          <p:nvPr/>
        </p:nvSpPr>
        <p:spPr>
          <a:xfrm>
            <a:off x="8138160" y="1938528"/>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W1 GLOAD → SRAM 9740</a:t>
            </a:r>
            <a:endParaRPr lang="en-US" sz="800" dirty="0"/>
          </a:p>
        </p:txBody>
      </p:sp>
      <p:sp>
        <p:nvSpPr>
          <p:cNvPr id="37" name="Shape 34"/>
          <p:cNvSpPr/>
          <p:nvPr/>
        </p:nvSpPr>
        <p:spPr>
          <a:xfrm>
            <a:off x="7360920" y="2185416"/>
            <a:ext cx="4370832" cy="228600"/>
          </a:xfrm>
          <a:prstGeom prst="roundRect">
            <a:avLst>
              <a:gd name="adj" fmla="val 8000"/>
            </a:avLst>
          </a:prstGeom>
          <a:solidFill>
            <a:srgbClr val="FFF1DC"/>
          </a:solidFill>
          <a:ln w="6350">
            <a:solidFill>
              <a:srgbClr val="D98A1E"/>
            </a:solidFill>
            <a:prstDash val="solid"/>
          </a:ln>
        </p:spPr>
      </p:sp>
      <p:sp>
        <p:nvSpPr>
          <p:cNvPr id="38" name="Text 35"/>
          <p:cNvSpPr txBox="1"/>
          <p:nvPr/>
        </p:nvSpPr>
        <p:spPr>
          <a:xfrm>
            <a:off x="7424928" y="2185416"/>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8–11</a:t>
            </a:r>
            <a:endParaRPr lang="en-US" sz="800" dirty="0"/>
          </a:p>
        </p:txBody>
      </p:sp>
      <p:sp>
        <p:nvSpPr>
          <p:cNvPr id="39" name="Text 36"/>
          <p:cNvSpPr txBox="1"/>
          <p:nvPr/>
        </p:nvSpPr>
        <p:spPr>
          <a:xfrm>
            <a:off x="8138160" y="2185416"/>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X GLOAD → SRAM 1548</a:t>
            </a:r>
            <a:endParaRPr lang="en-US" sz="800" dirty="0"/>
          </a:p>
        </p:txBody>
      </p:sp>
      <p:sp>
        <p:nvSpPr>
          <p:cNvPr id="40" name="Shape 37"/>
          <p:cNvSpPr/>
          <p:nvPr/>
        </p:nvSpPr>
        <p:spPr>
          <a:xfrm>
            <a:off x="7360920" y="2432304"/>
            <a:ext cx="4370832" cy="228600"/>
          </a:xfrm>
          <a:prstGeom prst="roundRect">
            <a:avLst>
              <a:gd name="adj" fmla="val 8000"/>
            </a:avLst>
          </a:prstGeom>
          <a:solidFill>
            <a:srgbClr val="E3EEFB"/>
          </a:solidFill>
          <a:ln w="6350">
            <a:solidFill>
              <a:srgbClr val="2F6DB5"/>
            </a:solidFill>
            <a:prstDash val="solid"/>
          </a:ln>
        </p:spPr>
      </p:sp>
      <p:sp>
        <p:nvSpPr>
          <p:cNvPr id="41" name="Text 38"/>
          <p:cNvSpPr txBox="1"/>
          <p:nvPr/>
        </p:nvSpPr>
        <p:spPr>
          <a:xfrm>
            <a:off x="7424928" y="2432304"/>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12–29</a:t>
            </a:r>
            <a:endParaRPr lang="en-US" sz="800" dirty="0"/>
          </a:p>
        </p:txBody>
      </p:sp>
      <p:sp>
        <p:nvSpPr>
          <p:cNvPr id="42" name="Text 39"/>
          <p:cNvSpPr txBox="1"/>
          <p:nvPr/>
        </p:nvSpPr>
        <p:spPr>
          <a:xfrm>
            <a:off x="8138160" y="2432304"/>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descriptor 설정 (SRC1/SRC2 region)</a:t>
            </a:r>
            <a:endParaRPr lang="en-US" sz="800" dirty="0"/>
          </a:p>
        </p:txBody>
      </p:sp>
      <p:sp>
        <p:nvSpPr>
          <p:cNvPr id="43" name="Shape 40"/>
          <p:cNvSpPr/>
          <p:nvPr/>
        </p:nvSpPr>
        <p:spPr>
          <a:xfrm>
            <a:off x="7360920" y="2679192"/>
            <a:ext cx="4370832" cy="228600"/>
          </a:xfrm>
          <a:prstGeom prst="roundRect">
            <a:avLst>
              <a:gd name="adj" fmla="val 8000"/>
            </a:avLst>
          </a:prstGeom>
          <a:solidFill>
            <a:srgbClr val="ECE6FA"/>
          </a:solidFill>
          <a:ln w="6350">
            <a:solidFill>
              <a:srgbClr val="6C4FBF"/>
            </a:solidFill>
            <a:prstDash val="solid"/>
          </a:ln>
        </p:spPr>
      </p:sp>
      <p:sp>
        <p:nvSpPr>
          <p:cNvPr id="44" name="Text 41"/>
          <p:cNvSpPr txBox="1"/>
          <p:nvPr/>
        </p:nvSpPr>
        <p:spPr>
          <a:xfrm>
            <a:off x="7424928" y="2679192"/>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30</a:t>
            </a:r>
            <a:endParaRPr lang="en-US" sz="800" dirty="0"/>
          </a:p>
        </p:txBody>
      </p:sp>
      <p:sp>
        <p:nvSpPr>
          <p:cNvPr id="45" name="Text 42"/>
          <p:cNvSpPr txBox="1"/>
          <p:nvPr/>
        </p:nvSpPr>
        <p:spPr>
          <a:xfrm>
            <a:off x="8138160" y="2679192"/>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M_MUL MAC=0 → H tile 0</a:t>
            </a:r>
            <a:endParaRPr lang="en-US" sz="800" dirty="0"/>
          </a:p>
        </p:txBody>
      </p:sp>
      <p:sp>
        <p:nvSpPr>
          <p:cNvPr id="46" name="Shape 43"/>
          <p:cNvSpPr/>
          <p:nvPr/>
        </p:nvSpPr>
        <p:spPr>
          <a:xfrm>
            <a:off x="7360920" y="2926080"/>
            <a:ext cx="4370832" cy="228600"/>
          </a:xfrm>
          <a:prstGeom prst="roundRect">
            <a:avLst>
              <a:gd name="adj" fmla="val 8000"/>
            </a:avLst>
          </a:prstGeom>
          <a:solidFill>
            <a:srgbClr val="E3EEFB"/>
          </a:solidFill>
          <a:ln w="6350">
            <a:solidFill>
              <a:srgbClr val="2F6DB5"/>
            </a:solidFill>
            <a:prstDash val="solid"/>
          </a:ln>
        </p:spPr>
      </p:sp>
      <p:sp>
        <p:nvSpPr>
          <p:cNvPr id="47" name="Text 44"/>
          <p:cNvSpPr txBox="1"/>
          <p:nvPr/>
        </p:nvSpPr>
        <p:spPr>
          <a:xfrm>
            <a:off x="7424928" y="2926080"/>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31–43</a:t>
            </a:r>
            <a:endParaRPr lang="en-US" sz="800" dirty="0"/>
          </a:p>
        </p:txBody>
      </p:sp>
      <p:sp>
        <p:nvSpPr>
          <p:cNvPr id="48" name="Text 45"/>
          <p:cNvSpPr txBox="1"/>
          <p:nvPr/>
        </p:nvSpPr>
        <p:spPr>
          <a:xfrm>
            <a:off x="8138160" y="2926080"/>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SAVE tile 0, SRC2 재설정 (+64열)</a:t>
            </a:r>
            <a:endParaRPr lang="en-US" sz="800" dirty="0"/>
          </a:p>
        </p:txBody>
      </p:sp>
      <p:sp>
        <p:nvSpPr>
          <p:cNvPr id="49" name="Shape 46"/>
          <p:cNvSpPr/>
          <p:nvPr/>
        </p:nvSpPr>
        <p:spPr>
          <a:xfrm>
            <a:off x="7360920" y="3172968"/>
            <a:ext cx="4370832" cy="228600"/>
          </a:xfrm>
          <a:prstGeom prst="roundRect">
            <a:avLst>
              <a:gd name="adj" fmla="val 8000"/>
            </a:avLst>
          </a:prstGeom>
          <a:solidFill>
            <a:srgbClr val="ECE6FA"/>
          </a:solidFill>
          <a:ln w="6350">
            <a:solidFill>
              <a:srgbClr val="6C4FBF"/>
            </a:solidFill>
            <a:prstDash val="solid"/>
          </a:ln>
        </p:spPr>
      </p:sp>
      <p:sp>
        <p:nvSpPr>
          <p:cNvPr id="50" name="Text 47"/>
          <p:cNvSpPr txBox="1"/>
          <p:nvPr/>
        </p:nvSpPr>
        <p:spPr>
          <a:xfrm>
            <a:off x="7424928" y="3172968"/>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44</a:t>
            </a:r>
            <a:endParaRPr lang="en-US" sz="800" dirty="0"/>
          </a:p>
        </p:txBody>
      </p:sp>
      <p:sp>
        <p:nvSpPr>
          <p:cNvPr id="51" name="Text 48"/>
          <p:cNvSpPr txBox="1"/>
          <p:nvPr/>
        </p:nvSpPr>
        <p:spPr>
          <a:xfrm>
            <a:off x="8138160" y="3172968"/>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M_MUL MAC=0 → H tile 1</a:t>
            </a:r>
            <a:endParaRPr lang="en-US" sz="800" dirty="0"/>
          </a:p>
        </p:txBody>
      </p:sp>
      <p:sp>
        <p:nvSpPr>
          <p:cNvPr id="52" name="Shape 49"/>
          <p:cNvSpPr/>
          <p:nvPr/>
        </p:nvSpPr>
        <p:spPr>
          <a:xfrm>
            <a:off x="7360920" y="3419856"/>
            <a:ext cx="4370832" cy="228600"/>
          </a:xfrm>
          <a:prstGeom prst="roundRect">
            <a:avLst>
              <a:gd name="adj" fmla="val 8000"/>
            </a:avLst>
          </a:prstGeom>
          <a:solidFill>
            <a:srgbClr val="E3EEFB"/>
          </a:solidFill>
          <a:ln w="6350">
            <a:solidFill>
              <a:srgbClr val="2F6DB5"/>
            </a:solidFill>
            <a:prstDash val="solid"/>
          </a:ln>
        </p:spPr>
      </p:sp>
      <p:sp>
        <p:nvSpPr>
          <p:cNvPr id="53" name="Text 50"/>
          <p:cNvSpPr txBox="1"/>
          <p:nvPr/>
        </p:nvSpPr>
        <p:spPr>
          <a:xfrm>
            <a:off x="7424928" y="3419856"/>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45–47</a:t>
            </a:r>
            <a:endParaRPr lang="en-US" sz="800" dirty="0"/>
          </a:p>
        </p:txBody>
      </p:sp>
      <p:sp>
        <p:nvSpPr>
          <p:cNvPr id="54" name="Text 51"/>
          <p:cNvSpPr txBox="1"/>
          <p:nvPr/>
        </p:nvSpPr>
        <p:spPr>
          <a:xfrm>
            <a:off x="8138160" y="3419856"/>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SAVE tile 1 (H 직접)</a:t>
            </a:r>
            <a:endParaRPr lang="en-US" sz="800" dirty="0"/>
          </a:p>
        </p:txBody>
      </p:sp>
      <p:sp>
        <p:nvSpPr>
          <p:cNvPr id="55" name="Shape 52"/>
          <p:cNvSpPr/>
          <p:nvPr/>
        </p:nvSpPr>
        <p:spPr>
          <a:xfrm>
            <a:off x="7360920" y="3666744"/>
            <a:ext cx="4370832" cy="228600"/>
          </a:xfrm>
          <a:prstGeom prst="roundRect">
            <a:avLst>
              <a:gd name="adj" fmla="val 8000"/>
            </a:avLst>
          </a:prstGeom>
          <a:solidFill>
            <a:srgbClr val="FFF1DC"/>
          </a:solidFill>
          <a:ln w="6350">
            <a:solidFill>
              <a:srgbClr val="D98A1E"/>
            </a:solidFill>
            <a:prstDash val="solid"/>
          </a:ln>
        </p:spPr>
      </p:sp>
      <p:sp>
        <p:nvSpPr>
          <p:cNvPr id="56" name="Text 53"/>
          <p:cNvSpPr txBox="1"/>
          <p:nvPr/>
        </p:nvSpPr>
        <p:spPr>
          <a:xfrm>
            <a:off x="7424928" y="3666744"/>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48–51</a:t>
            </a:r>
            <a:endParaRPr lang="en-US" sz="800" dirty="0"/>
          </a:p>
        </p:txBody>
      </p:sp>
      <p:sp>
        <p:nvSpPr>
          <p:cNvPr id="57" name="Text 54"/>
          <p:cNvSpPr txBox="1"/>
          <p:nvPr/>
        </p:nvSpPr>
        <p:spPr>
          <a:xfrm>
            <a:off x="8138160" y="3666744"/>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W2 GLOAD → SRAM 9740 (W1 재사용)</a:t>
            </a:r>
            <a:endParaRPr lang="en-US" sz="800" dirty="0"/>
          </a:p>
        </p:txBody>
      </p:sp>
      <p:sp>
        <p:nvSpPr>
          <p:cNvPr id="58" name="Shape 55"/>
          <p:cNvSpPr/>
          <p:nvPr/>
        </p:nvSpPr>
        <p:spPr>
          <a:xfrm>
            <a:off x="7360920" y="3913632"/>
            <a:ext cx="4370832" cy="228600"/>
          </a:xfrm>
          <a:prstGeom prst="roundRect">
            <a:avLst>
              <a:gd name="adj" fmla="val 8000"/>
            </a:avLst>
          </a:prstGeom>
          <a:solidFill>
            <a:srgbClr val="E3EEFB"/>
          </a:solidFill>
          <a:ln w="6350">
            <a:solidFill>
              <a:srgbClr val="2F6DB5"/>
            </a:solidFill>
            <a:prstDash val="solid"/>
          </a:ln>
        </p:spPr>
      </p:sp>
      <p:sp>
        <p:nvSpPr>
          <p:cNvPr id="59" name="Text 56"/>
          <p:cNvSpPr txBox="1"/>
          <p:nvPr/>
        </p:nvSpPr>
        <p:spPr>
          <a:xfrm>
            <a:off x="7424928" y="3913632"/>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52–59</a:t>
            </a:r>
            <a:endParaRPr lang="en-US" sz="800" dirty="0"/>
          </a:p>
        </p:txBody>
      </p:sp>
      <p:sp>
        <p:nvSpPr>
          <p:cNvPr id="60" name="Text 57"/>
          <p:cNvSpPr txBox="1"/>
          <p:nvPr/>
        </p:nvSpPr>
        <p:spPr>
          <a:xfrm>
            <a:off x="8138160" y="3913632"/>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descriptor (0x88 없음: rows 64 유지)</a:t>
            </a:r>
            <a:endParaRPr lang="en-US" sz="800" dirty="0"/>
          </a:p>
        </p:txBody>
      </p:sp>
      <p:sp>
        <p:nvSpPr>
          <p:cNvPr id="61" name="Shape 58"/>
          <p:cNvSpPr/>
          <p:nvPr/>
        </p:nvSpPr>
        <p:spPr>
          <a:xfrm>
            <a:off x="7360920" y="4160520"/>
            <a:ext cx="4370832" cy="228600"/>
          </a:xfrm>
          <a:prstGeom prst="roundRect">
            <a:avLst>
              <a:gd name="adj" fmla="val 8000"/>
            </a:avLst>
          </a:prstGeom>
          <a:solidFill>
            <a:srgbClr val="ECE6FA"/>
          </a:solidFill>
          <a:ln w="6350">
            <a:solidFill>
              <a:srgbClr val="6C4FBF"/>
            </a:solidFill>
            <a:prstDash val="solid"/>
          </a:ln>
        </p:spPr>
      </p:sp>
      <p:sp>
        <p:nvSpPr>
          <p:cNvPr id="62" name="Text 59"/>
          <p:cNvSpPr txBox="1"/>
          <p:nvPr/>
        </p:nvSpPr>
        <p:spPr>
          <a:xfrm>
            <a:off x="7424928" y="4160520"/>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60</a:t>
            </a:r>
            <a:endParaRPr lang="en-US" sz="800" dirty="0"/>
          </a:p>
        </p:txBody>
      </p:sp>
      <p:sp>
        <p:nvSpPr>
          <p:cNvPr id="63" name="Text 60"/>
          <p:cNvSpPr txBox="1"/>
          <p:nvPr/>
        </p:nvSpPr>
        <p:spPr>
          <a:xfrm>
            <a:off x="8138160" y="4160520"/>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M_MUL MAC=0 (K tile 0)</a:t>
            </a:r>
            <a:endParaRPr lang="en-US" sz="800" dirty="0"/>
          </a:p>
        </p:txBody>
      </p:sp>
      <p:sp>
        <p:nvSpPr>
          <p:cNvPr id="64" name="Shape 61"/>
          <p:cNvSpPr/>
          <p:nvPr/>
        </p:nvSpPr>
        <p:spPr>
          <a:xfrm>
            <a:off x="7360920" y="4407408"/>
            <a:ext cx="4370832" cy="228600"/>
          </a:xfrm>
          <a:prstGeom prst="roundRect">
            <a:avLst>
              <a:gd name="adj" fmla="val 8000"/>
            </a:avLst>
          </a:prstGeom>
          <a:solidFill>
            <a:srgbClr val="E3EEFB"/>
          </a:solidFill>
          <a:ln w="6350">
            <a:solidFill>
              <a:srgbClr val="2F6DB5"/>
            </a:solidFill>
            <a:prstDash val="solid"/>
          </a:ln>
        </p:spPr>
      </p:sp>
      <p:sp>
        <p:nvSpPr>
          <p:cNvPr id="65" name="Text 62"/>
          <p:cNvSpPr txBox="1"/>
          <p:nvPr/>
        </p:nvSpPr>
        <p:spPr>
          <a:xfrm>
            <a:off x="7424928" y="4407408"/>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61–66</a:t>
            </a:r>
            <a:endParaRPr lang="en-US" sz="800" dirty="0"/>
          </a:p>
        </p:txBody>
      </p:sp>
      <p:sp>
        <p:nvSpPr>
          <p:cNvPr id="66" name="Text 63"/>
          <p:cNvSpPr txBox="1"/>
          <p:nvPr/>
        </p:nvSpPr>
        <p:spPr>
          <a:xfrm>
            <a:off x="8138160" y="4407408"/>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K tile 1 operand 설정</a:t>
            </a:r>
            <a:endParaRPr lang="en-US" sz="800" dirty="0"/>
          </a:p>
        </p:txBody>
      </p:sp>
      <p:sp>
        <p:nvSpPr>
          <p:cNvPr id="67" name="Shape 64"/>
          <p:cNvSpPr/>
          <p:nvPr/>
        </p:nvSpPr>
        <p:spPr>
          <a:xfrm>
            <a:off x="7360920" y="4654296"/>
            <a:ext cx="4370832" cy="228600"/>
          </a:xfrm>
          <a:prstGeom prst="roundRect">
            <a:avLst>
              <a:gd name="adj" fmla="val 8000"/>
            </a:avLst>
          </a:prstGeom>
          <a:solidFill>
            <a:srgbClr val="ECE6FA"/>
          </a:solidFill>
          <a:ln w="6350">
            <a:solidFill>
              <a:srgbClr val="6C4FBF"/>
            </a:solidFill>
            <a:prstDash val="solid"/>
          </a:ln>
        </p:spPr>
      </p:sp>
      <p:sp>
        <p:nvSpPr>
          <p:cNvPr id="68" name="Text 65"/>
          <p:cNvSpPr txBox="1"/>
          <p:nvPr/>
        </p:nvSpPr>
        <p:spPr>
          <a:xfrm>
            <a:off x="7424928" y="4654296"/>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67</a:t>
            </a:r>
            <a:endParaRPr lang="en-US" sz="800" dirty="0"/>
          </a:p>
        </p:txBody>
      </p:sp>
      <p:sp>
        <p:nvSpPr>
          <p:cNvPr id="69" name="Text 66"/>
          <p:cNvSpPr txBox="1"/>
          <p:nvPr/>
        </p:nvSpPr>
        <p:spPr>
          <a:xfrm>
            <a:off x="8138160" y="4654296"/>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M_MUL MAC=1 (K tile 1)</a:t>
            </a:r>
            <a:endParaRPr lang="en-US" sz="800" dirty="0"/>
          </a:p>
        </p:txBody>
      </p:sp>
      <p:sp>
        <p:nvSpPr>
          <p:cNvPr id="70" name="Shape 67"/>
          <p:cNvSpPr/>
          <p:nvPr/>
        </p:nvSpPr>
        <p:spPr>
          <a:xfrm>
            <a:off x="7360920" y="4901184"/>
            <a:ext cx="4370832" cy="228600"/>
          </a:xfrm>
          <a:prstGeom prst="roundRect">
            <a:avLst>
              <a:gd name="adj" fmla="val 8000"/>
            </a:avLst>
          </a:prstGeom>
          <a:solidFill>
            <a:srgbClr val="E3EEFB"/>
          </a:solidFill>
          <a:ln w="6350">
            <a:solidFill>
              <a:srgbClr val="2F6DB5"/>
            </a:solidFill>
            <a:prstDash val="solid"/>
          </a:ln>
        </p:spPr>
      </p:sp>
      <p:sp>
        <p:nvSpPr>
          <p:cNvPr id="71" name="Text 68"/>
          <p:cNvSpPr txBox="1"/>
          <p:nvPr/>
        </p:nvSpPr>
        <p:spPr>
          <a:xfrm>
            <a:off x="7424928" y="4901184"/>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68–71</a:t>
            </a:r>
            <a:endParaRPr lang="en-US" sz="800" dirty="0"/>
          </a:p>
        </p:txBody>
      </p:sp>
      <p:sp>
        <p:nvSpPr>
          <p:cNvPr id="72" name="Text 69"/>
          <p:cNvSpPr txBox="1"/>
          <p:nvPr/>
        </p:nvSpPr>
        <p:spPr>
          <a:xfrm>
            <a:off x="8138160" y="4901184"/>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Y SAVE (FP16)</a:t>
            </a:r>
            <a:endParaRPr lang="en-US" sz="800" dirty="0"/>
          </a:p>
        </p:txBody>
      </p:sp>
      <p:sp>
        <p:nvSpPr>
          <p:cNvPr id="73" name="Shape 70"/>
          <p:cNvSpPr/>
          <p:nvPr/>
        </p:nvSpPr>
        <p:spPr>
          <a:xfrm>
            <a:off x="7360920" y="5148072"/>
            <a:ext cx="4370832" cy="228600"/>
          </a:xfrm>
          <a:prstGeom prst="roundRect">
            <a:avLst>
              <a:gd name="adj" fmla="val 8000"/>
            </a:avLst>
          </a:prstGeom>
          <a:solidFill>
            <a:srgbClr val="FFF1DC"/>
          </a:solidFill>
          <a:ln w="6350">
            <a:solidFill>
              <a:srgbClr val="D98A1E"/>
            </a:solidFill>
            <a:prstDash val="solid"/>
          </a:ln>
        </p:spPr>
      </p:sp>
      <p:sp>
        <p:nvSpPr>
          <p:cNvPr id="74" name="Text 71"/>
          <p:cNvSpPr txBox="1"/>
          <p:nvPr/>
        </p:nvSpPr>
        <p:spPr>
          <a:xfrm>
            <a:off x="7424928" y="5148072"/>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72–75</a:t>
            </a:r>
            <a:endParaRPr lang="en-US" sz="800" dirty="0"/>
          </a:p>
        </p:txBody>
      </p:sp>
      <p:sp>
        <p:nvSpPr>
          <p:cNvPr id="75" name="Text 72"/>
          <p:cNvSpPr txBox="1"/>
          <p:nvPr/>
        </p:nvSpPr>
        <p:spPr>
          <a:xfrm>
            <a:off x="8138160" y="5148072"/>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Y GSTORE → DRAM byte 40960</a:t>
            </a:r>
            <a:endParaRPr lang="en-US" sz="800" dirty="0"/>
          </a:p>
        </p:txBody>
      </p:sp>
      <p:sp>
        <p:nvSpPr>
          <p:cNvPr id="76" name="Shape 73"/>
          <p:cNvSpPr/>
          <p:nvPr/>
        </p:nvSpPr>
        <p:spPr>
          <a:xfrm>
            <a:off x="7360920" y="5394960"/>
            <a:ext cx="4370832" cy="228600"/>
          </a:xfrm>
          <a:prstGeom prst="roundRect">
            <a:avLst>
              <a:gd name="adj" fmla="val 8000"/>
            </a:avLst>
          </a:prstGeom>
          <a:solidFill>
            <a:srgbClr val="EEF1F5"/>
          </a:solidFill>
          <a:ln w="6350">
            <a:solidFill>
              <a:srgbClr val="5B6B7F"/>
            </a:solidFill>
            <a:prstDash val="solid"/>
          </a:ln>
        </p:spPr>
      </p:sp>
      <p:sp>
        <p:nvSpPr>
          <p:cNvPr id="77" name="Text 74"/>
          <p:cNvSpPr txBox="1"/>
          <p:nvPr/>
        </p:nvSpPr>
        <p:spPr>
          <a:xfrm>
            <a:off x="7424928" y="5394960"/>
            <a:ext cx="685800" cy="228600"/>
          </a:xfrm>
          <a:prstGeom prst="rect">
            <a:avLst/>
          </a:prstGeom>
          <a:noFill/>
          <a:ln/>
        </p:spPr>
        <p:txBody>
          <a:bodyPr wrap="square" lIns="0" tIns="0" rIns="0" bIns="0" rtlCol="0" anchor="ctr"/>
          <a:lstStyle/>
          <a:p>
            <a:pPr algn="l" indent="0" marL="0">
              <a:buNone/>
            </a:pPr>
            <a:r>
              <a:rPr lang="en-US" sz="800" b="1" dirty="0">
                <a:solidFill>
                  <a:srgbClr val="1F2D3D"/>
                </a:solidFill>
                <a:latin typeface="Courier New" pitchFamily="34" charset="0"/>
                <a:ea typeface="Courier New" pitchFamily="34" charset="-122"/>
                <a:cs typeface="Courier New" pitchFamily="34" charset="-120"/>
              </a:rPr>
              <a:t>76</a:t>
            </a:r>
            <a:endParaRPr lang="en-US" sz="800" dirty="0"/>
          </a:p>
        </p:txBody>
      </p:sp>
      <p:sp>
        <p:nvSpPr>
          <p:cNvPr id="78" name="Text 75"/>
          <p:cNvSpPr txBox="1"/>
          <p:nvPr/>
        </p:nvSpPr>
        <p:spPr>
          <a:xfrm>
            <a:off x="8138160" y="5394960"/>
            <a:ext cx="3566160" cy="228600"/>
          </a:xfrm>
          <a:prstGeom prst="rect">
            <a:avLst/>
          </a:prstGeom>
          <a:noFill/>
          <a:ln/>
        </p:spPr>
        <p:txBody>
          <a:bodyPr wrap="square" lIns="0" tIns="0" rIns="0" bIns="0" rtlCol="0" anchor="ct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HALT 0xFF</a:t>
            </a:r>
            <a:endParaRPr lang="en-US" sz="800" dirty="0"/>
          </a:p>
        </p:txBody>
      </p:sp>
      <p:sp>
        <p:nvSpPr>
          <p:cNvPr id="79" name="Text 76"/>
          <p:cNvSpPr txBox="1"/>
          <p:nvPr/>
        </p:nvSpPr>
        <p:spPr>
          <a:xfrm>
            <a:off x="457200" y="4709160"/>
            <a:ext cx="6675120" cy="201168"/>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77 words 전체 (색 = opcode 종류; 주황 4칸 = DMA packet 1개)</a:t>
            </a:r>
            <a:endParaRPr lang="en-US" sz="900" dirty="0"/>
          </a:p>
        </p:txBody>
      </p:sp>
      <p:sp>
        <p:nvSpPr>
          <p:cNvPr id="80" name="Shape 77"/>
          <p:cNvSpPr/>
          <p:nvPr/>
        </p:nvSpPr>
        <p:spPr>
          <a:xfrm>
            <a:off x="457200" y="4937760"/>
            <a:ext cx="346759" cy="310896"/>
          </a:xfrm>
          <a:prstGeom prst="rect">
            <a:avLst/>
          </a:prstGeom>
          <a:solidFill>
            <a:srgbClr val="FFF1DC"/>
          </a:solidFill>
          <a:ln w="6350">
            <a:solidFill>
              <a:srgbClr val="D98A1E"/>
            </a:solidFill>
            <a:prstDash val="solid"/>
          </a:ln>
        </p:spPr>
      </p:sp>
      <p:sp>
        <p:nvSpPr>
          <p:cNvPr id="81" name="Text 78"/>
          <p:cNvSpPr txBox="1"/>
          <p:nvPr/>
        </p:nvSpPr>
        <p:spPr>
          <a:xfrm>
            <a:off x="457200" y="4937760"/>
            <a:ext cx="346759" cy="310896"/>
          </a:xfrm>
          <a:prstGeom prst="rect">
            <a:avLst/>
          </a:prstGeom>
          <a:noFill/>
          <a:ln/>
        </p:spPr>
        <p:txBody>
          <a:bodyPr wrap="square" lIns="0" tIns="0" rIns="0" bIns="0" rtlCol="0" anchor="ctr"/>
          <a:lstStyle/>
          <a:p>
            <a:pPr algn="ctr" indent="0" marL="0">
              <a:buNone/>
            </a:pPr>
            <a:r>
              <a:rPr lang="en-US" sz="550" dirty="0">
                <a:solidFill>
                  <a:srgbClr val="1F2D3D"/>
                </a:solidFill>
                <a:latin typeface="Malgun Gothic" pitchFamily="34" charset="0"/>
                <a:ea typeface="Malgun Gothic" pitchFamily="34" charset="-122"/>
                <a:cs typeface="Malgun Gothic" pitchFamily="34" charset="-120"/>
              </a:rPr>
              <a:t>GLOAD</a:t>
            </a:r>
            <a:endParaRPr lang="en-US" sz="550" dirty="0"/>
          </a:p>
        </p:txBody>
      </p:sp>
      <p:sp>
        <p:nvSpPr>
          <p:cNvPr id="82" name="Text 79"/>
          <p:cNvSpPr txBox="1"/>
          <p:nvPr/>
        </p:nvSpPr>
        <p:spPr>
          <a:xfrm>
            <a:off x="228600" y="5266944"/>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0</a:t>
            </a:r>
            <a:endParaRPr lang="en-US" sz="650" dirty="0"/>
          </a:p>
        </p:txBody>
      </p:sp>
      <p:sp>
        <p:nvSpPr>
          <p:cNvPr id="83" name="Shape 80"/>
          <p:cNvSpPr/>
          <p:nvPr/>
        </p:nvSpPr>
        <p:spPr>
          <a:xfrm>
            <a:off x="803959" y="4937760"/>
            <a:ext cx="346759" cy="310896"/>
          </a:xfrm>
          <a:prstGeom prst="rect">
            <a:avLst/>
          </a:prstGeom>
          <a:solidFill>
            <a:srgbClr val="FFF1DC"/>
          </a:solidFill>
          <a:ln w="6350">
            <a:solidFill>
              <a:srgbClr val="D98A1E"/>
            </a:solidFill>
            <a:prstDash val="solid"/>
          </a:ln>
        </p:spPr>
      </p:sp>
      <p:sp>
        <p:nvSpPr>
          <p:cNvPr id="84" name="Text 81"/>
          <p:cNvSpPr txBox="1"/>
          <p:nvPr/>
        </p:nvSpPr>
        <p:spPr>
          <a:xfrm>
            <a:off x="803959" y="4937760"/>
            <a:ext cx="346759" cy="310896"/>
          </a:xfrm>
          <a:prstGeom prst="rect">
            <a:avLst/>
          </a:prstGeom>
          <a:noFill/>
          <a:ln/>
        </p:spPr>
        <p:txBody>
          <a:bodyPr wrap="square" lIns="0" tIns="0" rIns="0" bIns="0" rtlCol="0" anchor="ctr"/>
          <a:lstStyle/>
          <a:p>
            <a:pPr algn="ctr" indent="0" marL="0">
              <a:buNone/>
            </a:pPr>
            <a:r>
              <a:rPr lang="en-US" sz="550" dirty="0">
                <a:solidFill>
                  <a:srgbClr val="1F2D3D"/>
                </a:solidFill>
                <a:latin typeface="Malgun Gothic" pitchFamily="34" charset="0"/>
                <a:ea typeface="Malgun Gothic" pitchFamily="34" charset="-122"/>
                <a:cs typeface="Malgun Gothic" pitchFamily="34" charset="-120"/>
              </a:rPr>
              <a:t>GLOAD</a:t>
            </a:r>
            <a:endParaRPr lang="en-US" sz="550" dirty="0"/>
          </a:p>
        </p:txBody>
      </p:sp>
      <p:sp>
        <p:nvSpPr>
          <p:cNvPr id="85" name="Text 82"/>
          <p:cNvSpPr txBox="1"/>
          <p:nvPr/>
        </p:nvSpPr>
        <p:spPr>
          <a:xfrm>
            <a:off x="575359" y="5266944"/>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4</a:t>
            </a:r>
            <a:endParaRPr lang="en-US" sz="650" dirty="0"/>
          </a:p>
        </p:txBody>
      </p:sp>
      <p:sp>
        <p:nvSpPr>
          <p:cNvPr id="86" name="Shape 83"/>
          <p:cNvSpPr/>
          <p:nvPr/>
        </p:nvSpPr>
        <p:spPr>
          <a:xfrm>
            <a:off x="1150719" y="4937760"/>
            <a:ext cx="346759" cy="310896"/>
          </a:xfrm>
          <a:prstGeom prst="rect">
            <a:avLst/>
          </a:prstGeom>
          <a:solidFill>
            <a:srgbClr val="FFF1DC"/>
          </a:solidFill>
          <a:ln w="6350">
            <a:solidFill>
              <a:srgbClr val="D98A1E"/>
            </a:solidFill>
            <a:prstDash val="solid"/>
          </a:ln>
        </p:spPr>
      </p:sp>
      <p:sp>
        <p:nvSpPr>
          <p:cNvPr id="87" name="Text 84"/>
          <p:cNvSpPr txBox="1"/>
          <p:nvPr/>
        </p:nvSpPr>
        <p:spPr>
          <a:xfrm>
            <a:off x="1150719" y="4937760"/>
            <a:ext cx="346759" cy="310896"/>
          </a:xfrm>
          <a:prstGeom prst="rect">
            <a:avLst/>
          </a:prstGeom>
          <a:noFill/>
          <a:ln/>
        </p:spPr>
        <p:txBody>
          <a:bodyPr wrap="square" lIns="0" tIns="0" rIns="0" bIns="0" rtlCol="0" anchor="ctr"/>
          <a:lstStyle/>
          <a:p>
            <a:pPr algn="ctr" indent="0" marL="0">
              <a:buNone/>
            </a:pPr>
            <a:r>
              <a:rPr lang="en-US" sz="550" dirty="0">
                <a:solidFill>
                  <a:srgbClr val="1F2D3D"/>
                </a:solidFill>
                <a:latin typeface="Malgun Gothic" pitchFamily="34" charset="0"/>
                <a:ea typeface="Malgun Gothic" pitchFamily="34" charset="-122"/>
                <a:cs typeface="Malgun Gothic" pitchFamily="34" charset="-120"/>
              </a:rPr>
              <a:t>GLOAD</a:t>
            </a:r>
            <a:endParaRPr lang="en-US" sz="550" dirty="0"/>
          </a:p>
        </p:txBody>
      </p:sp>
      <p:sp>
        <p:nvSpPr>
          <p:cNvPr id="88" name="Shape 85"/>
          <p:cNvSpPr/>
          <p:nvPr/>
        </p:nvSpPr>
        <p:spPr>
          <a:xfrm>
            <a:off x="1497478" y="4937760"/>
            <a:ext cx="86690" cy="310896"/>
          </a:xfrm>
          <a:prstGeom prst="rect">
            <a:avLst/>
          </a:prstGeom>
          <a:solidFill>
            <a:srgbClr val="E3EEFB"/>
          </a:solidFill>
          <a:ln w="6350">
            <a:solidFill>
              <a:srgbClr val="2F6DB5"/>
            </a:solidFill>
            <a:prstDash val="solid"/>
          </a:ln>
        </p:spPr>
      </p:sp>
      <p:sp>
        <p:nvSpPr>
          <p:cNvPr id="89" name="Shape 86"/>
          <p:cNvSpPr/>
          <p:nvPr/>
        </p:nvSpPr>
        <p:spPr>
          <a:xfrm>
            <a:off x="1584168" y="4937760"/>
            <a:ext cx="86690" cy="310896"/>
          </a:xfrm>
          <a:prstGeom prst="rect">
            <a:avLst/>
          </a:prstGeom>
          <a:solidFill>
            <a:srgbClr val="E3EEFB"/>
          </a:solidFill>
          <a:ln w="6350">
            <a:solidFill>
              <a:srgbClr val="2F6DB5"/>
            </a:solidFill>
            <a:prstDash val="solid"/>
          </a:ln>
        </p:spPr>
      </p:sp>
      <p:sp>
        <p:nvSpPr>
          <p:cNvPr id="90" name="Shape 87"/>
          <p:cNvSpPr/>
          <p:nvPr/>
        </p:nvSpPr>
        <p:spPr>
          <a:xfrm>
            <a:off x="1670858" y="4937760"/>
            <a:ext cx="86690" cy="310896"/>
          </a:xfrm>
          <a:prstGeom prst="rect">
            <a:avLst/>
          </a:prstGeom>
          <a:solidFill>
            <a:srgbClr val="EEF1F5"/>
          </a:solidFill>
          <a:ln w="6350">
            <a:solidFill>
              <a:srgbClr val="5B6B7F"/>
            </a:solidFill>
            <a:prstDash val="solid"/>
          </a:ln>
        </p:spPr>
      </p:sp>
      <p:sp>
        <p:nvSpPr>
          <p:cNvPr id="91" name="Shape 88"/>
          <p:cNvSpPr/>
          <p:nvPr/>
        </p:nvSpPr>
        <p:spPr>
          <a:xfrm>
            <a:off x="1757548" y="4937760"/>
            <a:ext cx="86690" cy="310896"/>
          </a:xfrm>
          <a:prstGeom prst="rect">
            <a:avLst/>
          </a:prstGeom>
          <a:solidFill>
            <a:srgbClr val="EEF1F5"/>
          </a:solidFill>
          <a:ln w="6350">
            <a:solidFill>
              <a:srgbClr val="5B6B7F"/>
            </a:solidFill>
            <a:prstDash val="solid"/>
          </a:ln>
        </p:spPr>
      </p:sp>
      <p:sp>
        <p:nvSpPr>
          <p:cNvPr id="92" name="Shape 89"/>
          <p:cNvSpPr/>
          <p:nvPr/>
        </p:nvSpPr>
        <p:spPr>
          <a:xfrm>
            <a:off x="1844238" y="4937760"/>
            <a:ext cx="86690" cy="310896"/>
          </a:xfrm>
          <a:prstGeom prst="rect">
            <a:avLst/>
          </a:prstGeom>
          <a:solidFill>
            <a:srgbClr val="E3EEFB"/>
          </a:solidFill>
          <a:ln w="6350">
            <a:solidFill>
              <a:srgbClr val="2F6DB5"/>
            </a:solidFill>
            <a:prstDash val="solid"/>
          </a:ln>
        </p:spPr>
      </p:sp>
      <p:sp>
        <p:nvSpPr>
          <p:cNvPr id="93" name="Shape 90"/>
          <p:cNvSpPr/>
          <p:nvPr/>
        </p:nvSpPr>
        <p:spPr>
          <a:xfrm>
            <a:off x="1930928" y="4937760"/>
            <a:ext cx="86690" cy="310896"/>
          </a:xfrm>
          <a:prstGeom prst="rect">
            <a:avLst/>
          </a:prstGeom>
          <a:solidFill>
            <a:srgbClr val="E3EEFB"/>
          </a:solidFill>
          <a:ln w="6350">
            <a:solidFill>
              <a:srgbClr val="2F6DB5"/>
            </a:solidFill>
            <a:prstDash val="solid"/>
          </a:ln>
        </p:spPr>
      </p:sp>
      <p:sp>
        <p:nvSpPr>
          <p:cNvPr id="94" name="Shape 91"/>
          <p:cNvSpPr/>
          <p:nvPr/>
        </p:nvSpPr>
        <p:spPr>
          <a:xfrm>
            <a:off x="2017618" y="4937760"/>
            <a:ext cx="86690" cy="310896"/>
          </a:xfrm>
          <a:prstGeom prst="rect">
            <a:avLst/>
          </a:prstGeom>
          <a:solidFill>
            <a:srgbClr val="EEF1F5"/>
          </a:solidFill>
          <a:ln w="6350">
            <a:solidFill>
              <a:srgbClr val="5B6B7F"/>
            </a:solidFill>
            <a:prstDash val="solid"/>
          </a:ln>
        </p:spPr>
      </p:sp>
      <p:sp>
        <p:nvSpPr>
          <p:cNvPr id="95" name="Shape 92"/>
          <p:cNvSpPr/>
          <p:nvPr/>
        </p:nvSpPr>
        <p:spPr>
          <a:xfrm>
            <a:off x="2104308" y="4937760"/>
            <a:ext cx="86690" cy="310896"/>
          </a:xfrm>
          <a:prstGeom prst="rect">
            <a:avLst/>
          </a:prstGeom>
          <a:solidFill>
            <a:srgbClr val="EEF1F5"/>
          </a:solidFill>
          <a:ln w="6350">
            <a:solidFill>
              <a:srgbClr val="5B6B7F"/>
            </a:solidFill>
            <a:prstDash val="solid"/>
          </a:ln>
        </p:spPr>
      </p:sp>
      <p:sp>
        <p:nvSpPr>
          <p:cNvPr id="96" name="Shape 93"/>
          <p:cNvSpPr/>
          <p:nvPr/>
        </p:nvSpPr>
        <p:spPr>
          <a:xfrm>
            <a:off x="2190997" y="4937760"/>
            <a:ext cx="86690" cy="310896"/>
          </a:xfrm>
          <a:prstGeom prst="rect">
            <a:avLst/>
          </a:prstGeom>
          <a:solidFill>
            <a:srgbClr val="DDF3F0"/>
          </a:solidFill>
          <a:ln w="6350">
            <a:solidFill>
              <a:srgbClr val="1F8A8A"/>
            </a:solidFill>
            <a:prstDash val="solid"/>
          </a:ln>
        </p:spPr>
      </p:sp>
      <p:sp>
        <p:nvSpPr>
          <p:cNvPr id="97" name="Shape 94"/>
          <p:cNvSpPr/>
          <p:nvPr/>
        </p:nvSpPr>
        <p:spPr>
          <a:xfrm>
            <a:off x="2277687" y="4937760"/>
            <a:ext cx="86690" cy="310896"/>
          </a:xfrm>
          <a:prstGeom prst="rect">
            <a:avLst/>
          </a:prstGeom>
          <a:solidFill>
            <a:srgbClr val="E3EEFB"/>
          </a:solidFill>
          <a:ln w="6350">
            <a:solidFill>
              <a:srgbClr val="2F6DB5"/>
            </a:solidFill>
            <a:prstDash val="solid"/>
          </a:ln>
        </p:spPr>
      </p:sp>
      <p:sp>
        <p:nvSpPr>
          <p:cNvPr id="98" name="Shape 95"/>
          <p:cNvSpPr/>
          <p:nvPr/>
        </p:nvSpPr>
        <p:spPr>
          <a:xfrm>
            <a:off x="2364377" y="4937760"/>
            <a:ext cx="86690" cy="310896"/>
          </a:xfrm>
          <a:prstGeom prst="rect">
            <a:avLst/>
          </a:prstGeom>
          <a:solidFill>
            <a:srgbClr val="E3EEFB"/>
          </a:solidFill>
          <a:ln w="6350">
            <a:solidFill>
              <a:srgbClr val="2F6DB5"/>
            </a:solidFill>
            <a:prstDash val="solid"/>
          </a:ln>
        </p:spPr>
      </p:sp>
      <p:sp>
        <p:nvSpPr>
          <p:cNvPr id="99" name="Shape 96"/>
          <p:cNvSpPr/>
          <p:nvPr/>
        </p:nvSpPr>
        <p:spPr>
          <a:xfrm>
            <a:off x="2451067" y="4937760"/>
            <a:ext cx="86690" cy="310896"/>
          </a:xfrm>
          <a:prstGeom prst="rect">
            <a:avLst/>
          </a:prstGeom>
          <a:solidFill>
            <a:srgbClr val="EEF1F5"/>
          </a:solidFill>
          <a:ln w="6350">
            <a:solidFill>
              <a:srgbClr val="5B6B7F"/>
            </a:solidFill>
            <a:prstDash val="solid"/>
          </a:ln>
        </p:spPr>
      </p:sp>
      <p:sp>
        <p:nvSpPr>
          <p:cNvPr id="100" name="Shape 97"/>
          <p:cNvSpPr/>
          <p:nvPr/>
        </p:nvSpPr>
        <p:spPr>
          <a:xfrm>
            <a:off x="2537757" y="4937760"/>
            <a:ext cx="86690" cy="310896"/>
          </a:xfrm>
          <a:prstGeom prst="rect">
            <a:avLst/>
          </a:prstGeom>
          <a:solidFill>
            <a:srgbClr val="EEF1F5"/>
          </a:solidFill>
          <a:ln w="6350">
            <a:solidFill>
              <a:srgbClr val="5B6B7F"/>
            </a:solidFill>
            <a:prstDash val="solid"/>
          </a:ln>
        </p:spPr>
      </p:sp>
      <p:sp>
        <p:nvSpPr>
          <p:cNvPr id="101" name="Shape 98"/>
          <p:cNvSpPr/>
          <p:nvPr/>
        </p:nvSpPr>
        <p:spPr>
          <a:xfrm>
            <a:off x="2624447" y="4937760"/>
            <a:ext cx="86690" cy="310896"/>
          </a:xfrm>
          <a:prstGeom prst="rect">
            <a:avLst/>
          </a:prstGeom>
          <a:solidFill>
            <a:srgbClr val="E3EEFB"/>
          </a:solidFill>
          <a:ln w="6350">
            <a:solidFill>
              <a:srgbClr val="2F6DB5"/>
            </a:solidFill>
            <a:prstDash val="solid"/>
          </a:ln>
        </p:spPr>
      </p:sp>
      <p:sp>
        <p:nvSpPr>
          <p:cNvPr id="102" name="Shape 99"/>
          <p:cNvSpPr/>
          <p:nvPr/>
        </p:nvSpPr>
        <p:spPr>
          <a:xfrm>
            <a:off x="2711137" y="4937760"/>
            <a:ext cx="86690" cy="310896"/>
          </a:xfrm>
          <a:prstGeom prst="rect">
            <a:avLst/>
          </a:prstGeom>
          <a:solidFill>
            <a:srgbClr val="E3EEFB"/>
          </a:solidFill>
          <a:ln w="6350">
            <a:solidFill>
              <a:srgbClr val="2F6DB5"/>
            </a:solidFill>
            <a:prstDash val="solid"/>
          </a:ln>
        </p:spPr>
      </p:sp>
      <p:sp>
        <p:nvSpPr>
          <p:cNvPr id="103" name="Shape 100"/>
          <p:cNvSpPr/>
          <p:nvPr/>
        </p:nvSpPr>
        <p:spPr>
          <a:xfrm>
            <a:off x="2797826" y="4937760"/>
            <a:ext cx="86690" cy="310896"/>
          </a:xfrm>
          <a:prstGeom prst="rect">
            <a:avLst/>
          </a:prstGeom>
          <a:solidFill>
            <a:srgbClr val="EEF1F5"/>
          </a:solidFill>
          <a:ln w="6350">
            <a:solidFill>
              <a:srgbClr val="5B6B7F"/>
            </a:solidFill>
            <a:prstDash val="solid"/>
          </a:ln>
        </p:spPr>
      </p:sp>
      <p:sp>
        <p:nvSpPr>
          <p:cNvPr id="104" name="Shape 101"/>
          <p:cNvSpPr/>
          <p:nvPr/>
        </p:nvSpPr>
        <p:spPr>
          <a:xfrm>
            <a:off x="2884516" y="4937760"/>
            <a:ext cx="86690" cy="310896"/>
          </a:xfrm>
          <a:prstGeom prst="rect">
            <a:avLst/>
          </a:prstGeom>
          <a:solidFill>
            <a:srgbClr val="EEF1F5"/>
          </a:solidFill>
          <a:ln w="6350">
            <a:solidFill>
              <a:srgbClr val="5B6B7F"/>
            </a:solidFill>
            <a:prstDash val="solid"/>
          </a:ln>
        </p:spPr>
      </p:sp>
      <p:sp>
        <p:nvSpPr>
          <p:cNvPr id="105" name="Shape 102"/>
          <p:cNvSpPr/>
          <p:nvPr/>
        </p:nvSpPr>
        <p:spPr>
          <a:xfrm>
            <a:off x="2971206" y="4937760"/>
            <a:ext cx="86690" cy="310896"/>
          </a:xfrm>
          <a:prstGeom prst="rect">
            <a:avLst/>
          </a:prstGeom>
          <a:solidFill>
            <a:srgbClr val="DDF3F0"/>
          </a:solidFill>
          <a:ln w="6350">
            <a:solidFill>
              <a:srgbClr val="1F8A8A"/>
            </a:solidFill>
            <a:prstDash val="solid"/>
          </a:ln>
        </p:spPr>
      </p:sp>
      <p:sp>
        <p:nvSpPr>
          <p:cNvPr id="106" name="Shape 103"/>
          <p:cNvSpPr/>
          <p:nvPr/>
        </p:nvSpPr>
        <p:spPr>
          <a:xfrm>
            <a:off x="3057896" y="4937760"/>
            <a:ext cx="86690" cy="310896"/>
          </a:xfrm>
          <a:prstGeom prst="rect">
            <a:avLst/>
          </a:prstGeom>
          <a:solidFill>
            <a:srgbClr val="ECE6FA"/>
          </a:solidFill>
          <a:ln w="6350">
            <a:solidFill>
              <a:srgbClr val="6C4FBF"/>
            </a:solidFill>
            <a:prstDash val="solid"/>
          </a:ln>
        </p:spPr>
      </p:sp>
      <p:sp>
        <p:nvSpPr>
          <p:cNvPr id="107" name="Text 104"/>
          <p:cNvSpPr txBox="1"/>
          <p:nvPr/>
        </p:nvSpPr>
        <p:spPr>
          <a:xfrm>
            <a:off x="2829296" y="5266944"/>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30</a:t>
            </a:r>
            <a:endParaRPr lang="en-US" sz="650" dirty="0"/>
          </a:p>
        </p:txBody>
      </p:sp>
      <p:sp>
        <p:nvSpPr>
          <p:cNvPr id="108" name="Shape 105"/>
          <p:cNvSpPr/>
          <p:nvPr/>
        </p:nvSpPr>
        <p:spPr>
          <a:xfrm>
            <a:off x="3144586" y="4937760"/>
            <a:ext cx="86690" cy="310896"/>
          </a:xfrm>
          <a:prstGeom prst="rect">
            <a:avLst/>
          </a:prstGeom>
          <a:solidFill>
            <a:srgbClr val="E3EEFB"/>
          </a:solidFill>
          <a:ln w="6350">
            <a:solidFill>
              <a:srgbClr val="2F6DB5"/>
            </a:solidFill>
            <a:prstDash val="solid"/>
          </a:ln>
        </p:spPr>
      </p:sp>
      <p:sp>
        <p:nvSpPr>
          <p:cNvPr id="109" name="Shape 106"/>
          <p:cNvSpPr/>
          <p:nvPr/>
        </p:nvSpPr>
        <p:spPr>
          <a:xfrm>
            <a:off x="3231276" y="4937760"/>
            <a:ext cx="86690" cy="310896"/>
          </a:xfrm>
          <a:prstGeom prst="rect">
            <a:avLst/>
          </a:prstGeom>
          <a:solidFill>
            <a:srgbClr val="E3EEFB"/>
          </a:solidFill>
          <a:ln w="6350">
            <a:solidFill>
              <a:srgbClr val="2F6DB5"/>
            </a:solidFill>
            <a:prstDash val="solid"/>
          </a:ln>
        </p:spPr>
      </p:sp>
      <p:sp>
        <p:nvSpPr>
          <p:cNvPr id="110" name="Shape 107"/>
          <p:cNvSpPr/>
          <p:nvPr/>
        </p:nvSpPr>
        <p:spPr>
          <a:xfrm>
            <a:off x="3317966" y="4937760"/>
            <a:ext cx="86690" cy="310896"/>
          </a:xfrm>
          <a:prstGeom prst="rect">
            <a:avLst/>
          </a:prstGeom>
          <a:solidFill>
            <a:srgbClr val="EEF1F5"/>
          </a:solidFill>
          <a:ln w="6350">
            <a:solidFill>
              <a:srgbClr val="5B6B7F"/>
            </a:solidFill>
            <a:prstDash val="solid"/>
          </a:ln>
        </p:spPr>
      </p:sp>
      <p:sp>
        <p:nvSpPr>
          <p:cNvPr id="111" name="Shape 108"/>
          <p:cNvSpPr/>
          <p:nvPr/>
        </p:nvSpPr>
        <p:spPr>
          <a:xfrm>
            <a:off x="3404656" y="4937760"/>
            <a:ext cx="86690" cy="310896"/>
          </a:xfrm>
          <a:prstGeom prst="rect">
            <a:avLst/>
          </a:prstGeom>
          <a:solidFill>
            <a:srgbClr val="EEF1F5"/>
          </a:solidFill>
          <a:ln w="6350">
            <a:solidFill>
              <a:srgbClr val="5B6B7F"/>
            </a:solidFill>
            <a:prstDash val="solid"/>
          </a:ln>
        </p:spPr>
      </p:sp>
      <p:sp>
        <p:nvSpPr>
          <p:cNvPr id="112" name="Shape 109"/>
          <p:cNvSpPr/>
          <p:nvPr/>
        </p:nvSpPr>
        <p:spPr>
          <a:xfrm>
            <a:off x="3491345" y="4937760"/>
            <a:ext cx="86690" cy="310896"/>
          </a:xfrm>
          <a:prstGeom prst="rect">
            <a:avLst/>
          </a:prstGeom>
          <a:solidFill>
            <a:srgbClr val="E3EEFB"/>
          </a:solidFill>
          <a:ln w="6350">
            <a:solidFill>
              <a:srgbClr val="2F6DB5"/>
            </a:solidFill>
            <a:prstDash val="solid"/>
          </a:ln>
        </p:spPr>
      </p:sp>
      <p:sp>
        <p:nvSpPr>
          <p:cNvPr id="113" name="Shape 110"/>
          <p:cNvSpPr/>
          <p:nvPr/>
        </p:nvSpPr>
        <p:spPr>
          <a:xfrm>
            <a:off x="3578035" y="4937760"/>
            <a:ext cx="86690" cy="310896"/>
          </a:xfrm>
          <a:prstGeom prst="rect">
            <a:avLst/>
          </a:prstGeom>
          <a:solidFill>
            <a:srgbClr val="E3EEFB"/>
          </a:solidFill>
          <a:ln w="6350">
            <a:solidFill>
              <a:srgbClr val="2F6DB5"/>
            </a:solidFill>
            <a:prstDash val="solid"/>
          </a:ln>
        </p:spPr>
      </p:sp>
      <p:sp>
        <p:nvSpPr>
          <p:cNvPr id="114" name="Shape 111"/>
          <p:cNvSpPr/>
          <p:nvPr/>
        </p:nvSpPr>
        <p:spPr>
          <a:xfrm>
            <a:off x="3664725" y="4937760"/>
            <a:ext cx="86690" cy="310896"/>
          </a:xfrm>
          <a:prstGeom prst="rect">
            <a:avLst/>
          </a:prstGeom>
          <a:solidFill>
            <a:srgbClr val="EEF1F5"/>
          </a:solidFill>
          <a:ln w="6350">
            <a:solidFill>
              <a:srgbClr val="5B6B7F"/>
            </a:solidFill>
            <a:prstDash val="solid"/>
          </a:ln>
        </p:spPr>
      </p:sp>
      <p:sp>
        <p:nvSpPr>
          <p:cNvPr id="115" name="Shape 112"/>
          <p:cNvSpPr/>
          <p:nvPr/>
        </p:nvSpPr>
        <p:spPr>
          <a:xfrm>
            <a:off x="3751415" y="4937760"/>
            <a:ext cx="86690" cy="310896"/>
          </a:xfrm>
          <a:prstGeom prst="rect">
            <a:avLst/>
          </a:prstGeom>
          <a:solidFill>
            <a:srgbClr val="EEF1F5"/>
          </a:solidFill>
          <a:ln w="6350">
            <a:solidFill>
              <a:srgbClr val="5B6B7F"/>
            </a:solidFill>
            <a:prstDash val="solid"/>
          </a:ln>
        </p:spPr>
      </p:sp>
      <p:sp>
        <p:nvSpPr>
          <p:cNvPr id="116" name="Shape 113"/>
          <p:cNvSpPr/>
          <p:nvPr/>
        </p:nvSpPr>
        <p:spPr>
          <a:xfrm>
            <a:off x="3838105" y="4937760"/>
            <a:ext cx="86690" cy="310896"/>
          </a:xfrm>
          <a:prstGeom prst="rect">
            <a:avLst/>
          </a:prstGeom>
          <a:solidFill>
            <a:srgbClr val="E5F3E7"/>
          </a:solidFill>
          <a:ln w="6350">
            <a:solidFill>
              <a:srgbClr val="2E7D32"/>
            </a:solidFill>
            <a:prstDash val="solid"/>
          </a:ln>
        </p:spPr>
      </p:sp>
      <p:sp>
        <p:nvSpPr>
          <p:cNvPr id="117" name="Shape 114"/>
          <p:cNvSpPr/>
          <p:nvPr/>
        </p:nvSpPr>
        <p:spPr>
          <a:xfrm>
            <a:off x="3924795" y="4937760"/>
            <a:ext cx="86690" cy="310896"/>
          </a:xfrm>
          <a:prstGeom prst="rect">
            <a:avLst/>
          </a:prstGeom>
          <a:solidFill>
            <a:srgbClr val="DDF3F0"/>
          </a:solidFill>
          <a:ln w="6350">
            <a:solidFill>
              <a:srgbClr val="1F8A8A"/>
            </a:solidFill>
            <a:prstDash val="solid"/>
          </a:ln>
        </p:spPr>
      </p:sp>
      <p:sp>
        <p:nvSpPr>
          <p:cNvPr id="118" name="Shape 115"/>
          <p:cNvSpPr/>
          <p:nvPr/>
        </p:nvSpPr>
        <p:spPr>
          <a:xfrm>
            <a:off x="4011485" y="4937760"/>
            <a:ext cx="86690" cy="310896"/>
          </a:xfrm>
          <a:prstGeom prst="rect">
            <a:avLst/>
          </a:prstGeom>
          <a:solidFill>
            <a:srgbClr val="E3EEFB"/>
          </a:solidFill>
          <a:ln w="6350">
            <a:solidFill>
              <a:srgbClr val="2F6DB5"/>
            </a:solidFill>
            <a:prstDash val="solid"/>
          </a:ln>
        </p:spPr>
      </p:sp>
      <p:sp>
        <p:nvSpPr>
          <p:cNvPr id="119" name="Shape 116"/>
          <p:cNvSpPr/>
          <p:nvPr/>
        </p:nvSpPr>
        <p:spPr>
          <a:xfrm>
            <a:off x="4098175" y="4937760"/>
            <a:ext cx="86690" cy="310896"/>
          </a:xfrm>
          <a:prstGeom prst="rect">
            <a:avLst/>
          </a:prstGeom>
          <a:solidFill>
            <a:srgbClr val="E3EEFB"/>
          </a:solidFill>
          <a:ln w="6350">
            <a:solidFill>
              <a:srgbClr val="2F6DB5"/>
            </a:solidFill>
            <a:prstDash val="solid"/>
          </a:ln>
        </p:spPr>
      </p:sp>
      <p:sp>
        <p:nvSpPr>
          <p:cNvPr id="120" name="Shape 117"/>
          <p:cNvSpPr/>
          <p:nvPr/>
        </p:nvSpPr>
        <p:spPr>
          <a:xfrm>
            <a:off x="4184864" y="4937760"/>
            <a:ext cx="86690" cy="310896"/>
          </a:xfrm>
          <a:prstGeom prst="rect">
            <a:avLst/>
          </a:prstGeom>
          <a:solidFill>
            <a:srgbClr val="DDF3F0"/>
          </a:solidFill>
          <a:ln w="6350">
            <a:solidFill>
              <a:srgbClr val="1F8A8A"/>
            </a:solidFill>
            <a:prstDash val="solid"/>
          </a:ln>
        </p:spPr>
      </p:sp>
      <p:sp>
        <p:nvSpPr>
          <p:cNvPr id="121" name="Shape 118"/>
          <p:cNvSpPr/>
          <p:nvPr/>
        </p:nvSpPr>
        <p:spPr>
          <a:xfrm>
            <a:off x="4271554" y="4937760"/>
            <a:ext cx="86690" cy="310896"/>
          </a:xfrm>
          <a:prstGeom prst="rect">
            <a:avLst/>
          </a:prstGeom>
          <a:solidFill>
            <a:srgbClr val="ECE6FA"/>
          </a:solidFill>
          <a:ln w="6350">
            <a:solidFill>
              <a:srgbClr val="6C4FBF"/>
            </a:solidFill>
            <a:prstDash val="solid"/>
          </a:ln>
        </p:spPr>
      </p:sp>
      <p:sp>
        <p:nvSpPr>
          <p:cNvPr id="122" name="Text 119"/>
          <p:cNvSpPr txBox="1"/>
          <p:nvPr/>
        </p:nvSpPr>
        <p:spPr>
          <a:xfrm>
            <a:off x="4042954" y="5266944"/>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44</a:t>
            </a:r>
            <a:endParaRPr lang="en-US" sz="650" dirty="0"/>
          </a:p>
        </p:txBody>
      </p:sp>
      <p:sp>
        <p:nvSpPr>
          <p:cNvPr id="123" name="Shape 120"/>
          <p:cNvSpPr/>
          <p:nvPr/>
        </p:nvSpPr>
        <p:spPr>
          <a:xfrm>
            <a:off x="4358244" y="4937760"/>
            <a:ext cx="86690" cy="310896"/>
          </a:xfrm>
          <a:prstGeom prst="rect">
            <a:avLst/>
          </a:prstGeom>
          <a:solidFill>
            <a:srgbClr val="E3EEFB"/>
          </a:solidFill>
          <a:ln w="6350">
            <a:solidFill>
              <a:srgbClr val="2F6DB5"/>
            </a:solidFill>
            <a:prstDash val="solid"/>
          </a:ln>
        </p:spPr>
      </p:sp>
      <p:sp>
        <p:nvSpPr>
          <p:cNvPr id="124" name="Shape 121"/>
          <p:cNvSpPr/>
          <p:nvPr/>
        </p:nvSpPr>
        <p:spPr>
          <a:xfrm>
            <a:off x="4444934" y="4937760"/>
            <a:ext cx="86690" cy="310896"/>
          </a:xfrm>
          <a:prstGeom prst="rect">
            <a:avLst/>
          </a:prstGeom>
          <a:solidFill>
            <a:srgbClr val="E3EEFB"/>
          </a:solidFill>
          <a:ln w="6350">
            <a:solidFill>
              <a:srgbClr val="2F6DB5"/>
            </a:solidFill>
            <a:prstDash val="solid"/>
          </a:ln>
        </p:spPr>
      </p:sp>
      <p:sp>
        <p:nvSpPr>
          <p:cNvPr id="125" name="Shape 122"/>
          <p:cNvSpPr/>
          <p:nvPr/>
        </p:nvSpPr>
        <p:spPr>
          <a:xfrm>
            <a:off x="4531624" y="4937760"/>
            <a:ext cx="86690" cy="310896"/>
          </a:xfrm>
          <a:prstGeom prst="rect">
            <a:avLst/>
          </a:prstGeom>
          <a:solidFill>
            <a:srgbClr val="E5F3E7"/>
          </a:solidFill>
          <a:ln w="6350">
            <a:solidFill>
              <a:srgbClr val="2E7D32"/>
            </a:solidFill>
            <a:prstDash val="solid"/>
          </a:ln>
        </p:spPr>
      </p:sp>
      <p:sp>
        <p:nvSpPr>
          <p:cNvPr id="126" name="Shape 123"/>
          <p:cNvSpPr/>
          <p:nvPr/>
        </p:nvSpPr>
        <p:spPr>
          <a:xfrm>
            <a:off x="4618314" y="4937760"/>
            <a:ext cx="346759" cy="310896"/>
          </a:xfrm>
          <a:prstGeom prst="rect">
            <a:avLst/>
          </a:prstGeom>
          <a:solidFill>
            <a:srgbClr val="FFF1DC"/>
          </a:solidFill>
          <a:ln w="6350">
            <a:solidFill>
              <a:srgbClr val="D98A1E"/>
            </a:solidFill>
            <a:prstDash val="solid"/>
          </a:ln>
        </p:spPr>
      </p:sp>
      <p:sp>
        <p:nvSpPr>
          <p:cNvPr id="127" name="Text 124"/>
          <p:cNvSpPr txBox="1"/>
          <p:nvPr/>
        </p:nvSpPr>
        <p:spPr>
          <a:xfrm>
            <a:off x="4618314" y="4937760"/>
            <a:ext cx="346759" cy="310896"/>
          </a:xfrm>
          <a:prstGeom prst="rect">
            <a:avLst/>
          </a:prstGeom>
          <a:noFill/>
          <a:ln/>
        </p:spPr>
        <p:txBody>
          <a:bodyPr wrap="square" lIns="0" tIns="0" rIns="0" bIns="0" rtlCol="0" anchor="ctr"/>
          <a:lstStyle/>
          <a:p>
            <a:pPr algn="ctr" indent="0" marL="0">
              <a:buNone/>
            </a:pPr>
            <a:r>
              <a:rPr lang="en-US" sz="550" dirty="0">
                <a:solidFill>
                  <a:srgbClr val="1F2D3D"/>
                </a:solidFill>
                <a:latin typeface="Malgun Gothic" pitchFamily="34" charset="0"/>
                <a:ea typeface="Malgun Gothic" pitchFamily="34" charset="-122"/>
                <a:cs typeface="Malgun Gothic" pitchFamily="34" charset="-120"/>
              </a:rPr>
              <a:t>GLOAD</a:t>
            </a:r>
            <a:endParaRPr lang="en-US" sz="550" dirty="0"/>
          </a:p>
        </p:txBody>
      </p:sp>
      <p:sp>
        <p:nvSpPr>
          <p:cNvPr id="128" name="Text 125"/>
          <p:cNvSpPr txBox="1"/>
          <p:nvPr/>
        </p:nvSpPr>
        <p:spPr>
          <a:xfrm>
            <a:off x="4389714" y="5266944"/>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48</a:t>
            </a:r>
            <a:endParaRPr lang="en-US" sz="650" dirty="0"/>
          </a:p>
        </p:txBody>
      </p:sp>
      <p:sp>
        <p:nvSpPr>
          <p:cNvPr id="129" name="Shape 126"/>
          <p:cNvSpPr/>
          <p:nvPr/>
        </p:nvSpPr>
        <p:spPr>
          <a:xfrm>
            <a:off x="4965073" y="4937760"/>
            <a:ext cx="86690" cy="310896"/>
          </a:xfrm>
          <a:prstGeom prst="rect">
            <a:avLst/>
          </a:prstGeom>
          <a:solidFill>
            <a:srgbClr val="E3EEFB"/>
          </a:solidFill>
          <a:ln w="6350">
            <a:solidFill>
              <a:srgbClr val="2F6DB5"/>
            </a:solidFill>
            <a:prstDash val="solid"/>
          </a:ln>
        </p:spPr>
      </p:sp>
      <p:sp>
        <p:nvSpPr>
          <p:cNvPr id="130" name="Shape 127"/>
          <p:cNvSpPr/>
          <p:nvPr/>
        </p:nvSpPr>
        <p:spPr>
          <a:xfrm>
            <a:off x="5051763" y="4937760"/>
            <a:ext cx="86690" cy="310896"/>
          </a:xfrm>
          <a:prstGeom prst="rect">
            <a:avLst/>
          </a:prstGeom>
          <a:solidFill>
            <a:srgbClr val="EEF1F5"/>
          </a:solidFill>
          <a:ln w="6350">
            <a:solidFill>
              <a:srgbClr val="5B6B7F"/>
            </a:solidFill>
            <a:prstDash val="solid"/>
          </a:ln>
        </p:spPr>
      </p:sp>
      <p:sp>
        <p:nvSpPr>
          <p:cNvPr id="131" name="Shape 128"/>
          <p:cNvSpPr/>
          <p:nvPr/>
        </p:nvSpPr>
        <p:spPr>
          <a:xfrm>
            <a:off x="5138453" y="4937760"/>
            <a:ext cx="86690" cy="310896"/>
          </a:xfrm>
          <a:prstGeom prst="rect">
            <a:avLst/>
          </a:prstGeom>
          <a:solidFill>
            <a:srgbClr val="E3EEFB"/>
          </a:solidFill>
          <a:ln w="6350">
            <a:solidFill>
              <a:srgbClr val="2F6DB5"/>
            </a:solidFill>
            <a:prstDash val="solid"/>
          </a:ln>
        </p:spPr>
      </p:sp>
      <p:sp>
        <p:nvSpPr>
          <p:cNvPr id="132" name="Shape 129"/>
          <p:cNvSpPr/>
          <p:nvPr/>
        </p:nvSpPr>
        <p:spPr>
          <a:xfrm>
            <a:off x="5225143" y="4937760"/>
            <a:ext cx="86690" cy="310896"/>
          </a:xfrm>
          <a:prstGeom prst="rect">
            <a:avLst/>
          </a:prstGeom>
          <a:solidFill>
            <a:srgbClr val="DDF3F0"/>
          </a:solidFill>
          <a:ln w="6350">
            <a:solidFill>
              <a:srgbClr val="1F8A8A"/>
            </a:solidFill>
            <a:prstDash val="solid"/>
          </a:ln>
        </p:spPr>
      </p:sp>
      <p:sp>
        <p:nvSpPr>
          <p:cNvPr id="133" name="Shape 130"/>
          <p:cNvSpPr/>
          <p:nvPr/>
        </p:nvSpPr>
        <p:spPr>
          <a:xfrm>
            <a:off x="5311833" y="4937760"/>
            <a:ext cx="86690" cy="310896"/>
          </a:xfrm>
          <a:prstGeom prst="rect">
            <a:avLst/>
          </a:prstGeom>
          <a:solidFill>
            <a:srgbClr val="E3EEFB"/>
          </a:solidFill>
          <a:ln w="6350">
            <a:solidFill>
              <a:srgbClr val="2F6DB5"/>
            </a:solidFill>
            <a:prstDash val="solid"/>
          </a:ln>
        </p:spPr>
      </p:sp>
      <p:sp>
        <p:nvSpPr>
          <p:cNvPr id="134" name="Shape 131"/>
          <p:cNvSpPr/>
          <p:nvPr/>
        </p:nvSpPr>
        <p:spPr>
          <a:xfrm>
            <a:off x="5398523" y="4937760"/>
            <a:ext cx="86690" cy="310896"/>
          </a:xfrm>
          <a:prstGeom prst="rect">
            <a:avLst/>
          </a:prstGeom>
          <a:solidFill>
            <a:srgbClr val="EEF1F5"/>
          </a:solidFill>
          <a:ln w="6350">
            <a:solidFill>
              <a:srgbClr val="5B6B7F"/>
            </a:solidFill>
            <a:prstDash val="solid"/>
          </a:ln>
        </p:spPr>
      </p:sp>
      <p:sp>
        <p:nvSpPr>
          <p:cNvPr id="135" name="Shape 132"/>
          <p:cNvSpPr/>
          <p:nvPr/>
        </p:nvSpPr>
        <p:spPr>
          <a:xfrm>
            <a:off x="5485212" y="4937760"/>
            <a:ext cx="86690" cy="310896"/>
          </a:xfrm>
          <a:prstGeom prst="rect">
            <a:avLst/>
          </a:prstGeom>
          <a:solidFill>
            <a:srgbClr val="E3EEFB"/>
          </a:solidFill>
          <a:ln w="6350">
            <a:solidFill>
              <a:srgbClr val="2F6DB5"/>
            </a:solidFill>
            <a:prstDash val="solid"/>
          </a:ln>
        </p:spPr>
      </p:sp>
      <p:sp>
        <p:nvSpPr>
          <p:cNvPr id="136" name="Shape 133"/>
          <p:cNvSpPr/>
          <p:nvPr/>
        </p:nvSpPr>
        <p:spPr>
          <a:xfrm>
            <a:off x="5571902" y="4937760"/>
            <a:ext cx="86690" cy="310896"/>
          </a:xfrm>
          <a:prstGeom prst="rect">
            <a:avLst/>
          </a:prstGeom>
          <a:solidFill>
            <a:srgbClr val="DDF3F0"/>
          </a:solidFill>
          <a:ln w="6350">
            <a:solidFill>
              <a:srgbClr val="1F8A8A"/>
            </a:solidFill>
            <a:prstDash val="solid"/>
          </a:ln>
        </p:spPr>
      </p:sp>
      <p:sp>
        <p:nvSpPr>
          <p:cNvPr id="137" name="Shape 134"/>
          <p:cNvSpPr/>
          <p:nvPr/>
        </p:nvSpPr>
        <p:spPr>
          <a:xfrm>
            <a:off x="5658592" y="4937760"/>
            <a:ext cx="86690" cy="310896"/>
          </a:xfrm>
          <a:prstGeom prst="rect">
            <a:avLst/>
          </a:prstGeom>
          <a:solidFill>
            <a:srgbClr val="ECE6FA"/>
          </a:solidFill>
          <a:ln w="6350">
            <a:solidFill>
              <a:srgbClr val="6C4FBF"/>
            </a:solidFill>
            <a:prstDash val="solid"/>
          </a:ln>
        </p:spPr>
      </p:sp>
      <p:sp>
        <p:nvSpPr>
          <p:cNvPr id="138" name="Text 135"/>
          <p:cNvSpPr txBox="1"/>
          <p:nvPr/>
        </p:nvSpPr>
        <p:spPr>
          <a:xfrm>
            <a:off x="5429992" y="5266944"/>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60</a:t>
            </a:r>
            <a:endParaRPr lang="en-US" sz="650" dirty="0"/>
          </a:p>
        </p:txBody>
      </p:sp>
      <p:sp>
        <p:nvSpPr>
          <p:cNvPr id="139" name="Shape 136"/>
          <p:cNvSpPr/>
          <p:nvPr/>
        </p:nvSpPr>
        <p:spPr>
          <a:xfrm>
            <a:off x="5745282" y="4937760"/>
            <a:ext cx="86690" cy="310896"/>
          </a:xfrm>
          <a:prstGeom prst="rect">
            <a:avLst/>
          </a:prstGeom>
          <a:solidFill>
            <a:srgbClr val="E3EEFB"/>
          </a:solidFill>
          <a:ln w="6350">
            <a:solidFill>
              <a:srgbClr val="2F6DB5"/>
            </a:solidFill>
            <a:prstDash val="solid"/>
          </a:ln>
        </p:spPr>
      </p:sp>
      <p:sp>
        <p:nvSpPr>
          <p:cNvPr id="140" name="Shape 137"/>
          <p:cNvSpPr/>
          <p:nvPr/>
        </p:nvSpPr>
        <p:spPr>
          <a:xfrm>
            <a:off x="5831972" y="4937760"/>
            <a:ext cx="86690" cy="310896"/>
          </a:xfrm>
          <a:prstGeom prst="rect">
            <a:avLst/>
          </a:prstGeom>
          <a:solidFill>
            <a:srgbClr val="E3EEFB"/>
          </a:solidFill>
          <a:ln w="6350">
            <a:solidFill>
              <a:srgbClr val="2F6DB5"/>
            </a:solidFill>
            <a:prstDash val="solid"/>
          </a:ln>
        </p:spPr>
      </p:sp>
      <p:sp>
        <p:nvSpPr>
          <p:cNvPr id="141" name="Shape 138"/>
          <p:cNvSpPr/>
          <p:nvPr/>
        </p:nvSpPr>
        <p:spPr>
          <a:xfrm>
            <a:off x="5918662" y="4937760"/>
            <a:ext cx="86690" cy="310896"/>
          </a:xfrm>
          <a:prstGeom prst="rect">
            <a:avLst/>
          </a:prstGeom>
          <a:solidFill>
            <a:srgbClr val="DDF3F0"/>
          </a:solidFill>
          <a:ln w="6350">
            <a:solidFill>
              <a:srgbClr val="1F8A8A"/>
            </a:solidFill>
            <a:prstDash val="solid"/>
          </a:ln>
        </p:spPr>
      </p:sp>
      <p:sp>
        <p:nvSpPr>
          <p:cNvPr id="142" name="Shape 139"/>
          <p:cNvSpPr/>
          <p:nvPr/>
        </p:nvSpPr>
        <p:spPr>
          <a:xfrm>
            <a:off x="6005352" y="4937760"/>
            <a:ext cx="86690" cy="310896"/>
          </a:xfrm>
          <a:prstGeom prst="rect">
            <a:avLst/>
          </a:prstGeom>
          <a:solidFill>
            <a:srgbClr val="E3EEFB"/>
          </a:solidFill>
          <a:ln w="6350">
            <a:solidFill>
              <a:srgbClr val="2F6DB5"/>
            </a:solidFill>
            <a:prstDash val="solid"/>
          </a:ln>
        </p:spPr>
      </p:sp>
      <p:sp>
        <p:nvSpPr>
          <p:cNvPr id="143" name="Shape 140"/>
          <p:cNvSpPr/>
          <p:nvPr/>
        </p:nvSpPr>
        <p:spPr>
          <a:xfrm>
            <a:off x="6092042" y="4937760"/>
            <a:ext cx="86690" cy="310896"/>
          </a:xfrm>
          <a:prstGeom prst="rect">
            <a:avLst/>
          </a:prstGeom>
          <a:solidFill>
            <a:srgbClr val="E3EEFB"/>
          </a:solidFill>
          <a:ln w="6350">
            <a:solidFill>
              <a:srgbClr val="2F6DB5"/>
            </a:solidFill>
            <a:prstDash val="solid"/>
          </a:ln>
        </p:spPr>
      </p:sp>
      <p:sp>
        <p:nvSpPr>
          <p:cNvPr id="144" name="Shape 141"/>
          <p:cNvSpPr/>
          <p:nvPr/>
        </p:nvSpPr>
        <p:spPr>
          <a:xfrm>
            <a:off x="6178731" y="4937760"/>
            <a:ext cx="86690" cy="310896"/>
          </a:xfrm>
          <a:prstGeom prst="rect">
            <a:avLst/>
          </a:prstGeom>
          <a:solidFill>
            <a:srgbClr val="DDF3F0"/>
          </a:solidFill>
          <a:ln w="6350">
            <a:solidFill>
              <a:srgbClr val="1F8A8A"/>
            </a:solidFill>
            <a:prstDash val="solid"/>
          </a:ln>
        </p:spPr>
      </p:sp>
      <p:sp>
        <p:nvSpPr>
          <p:cNvPr id="145" name="Shape 142"/>
          <p:cNvSpPr/>
          <p:nvPr/>
        </p:nvSpPr>
        <p:spPr>
          <a:xfrm>
            <a:off x="6265421" y="4937760"/>
            <a:ext cx="86690" cy="310896"/>
          </a:xfrm>
          <a:prstGeom prst="rect">
            <a:avLst/>
          </a:prstGeom>
          <a:solidFill>
            <a:srgbClr val="ECE6FA"/>
          </a:solidFill>
          <a:ln w="6350">
            <a:solidFill>
              <a:srgbClr val="6C4FBF"/>
            </a:solidFill>
            <a:prstDash val="solid"/>
          </a:ln>
        </p:spPr>
      </p:sp>
      <p:sp>
        <p:nvSpPr>
          <p:cNvPr id="146" name="Text 143"/>
          <p:cNvSpPr txBox="1"/>
          <p:nvPr/>
        </p:nvSpPr>
        <p:spPr>
          <a:xfrm>
            <a:off x="6036821" y="5266944"/>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67</a:t>
            </a:r>
            <a:endParaRPr lang="en-US" sz="650" dirty="0"/>
          </a:p>
        </p:txBody>
      </p:sp>
      <p:sp>
        <p:nvSpPr>
          <p:cNvPr id="147" name="Shape 144"/>
          <p:cNvSpPr/>
          <p:nvPr/>
        </p:nvSpPr>
        <p:spPr>
          <a:xfrm>
            <a:off x="6352111" y="4937760"/>
            <a:ext cx="86690" cy="310896"/>
          </a:xfrm>
          <a:prstGeom prst="rect">
            <a:avLst/>
          </a:prstGeom>
          <a:solidFill>
            <a:srgbClr val="E3EEFB"/>
          </a:solidFill>
          <a:ln w="6350">
            <a:solidFill>
              <a:srgbClr val="2F6DB5"/>
            </a:solidFill>
            <a:prstDash val="solid"/>
          </a:ln>
        </p:spPr>
      </p:sp>
      <p:sp>
        <p:nvSpPr>
          <p:cNvPr id="148" name="Shape 145"/>
          <p:cNvSpPr/>
          <p:nvPr/>
        </p:nvSpPr>
        <p:spPr>
          <a:xfrm>
            <a:off x="6438801" y="4937760"/>
            <a:ext cx="86690" cy="310896"/>
          </a:xfrm>
          <a:prstGeom prst="rect">
            <a:avLst/>
          </a:prstGeom>
          <a:solidFill>
            <a:srgbClr val="EEF1F5"/>
          </a:solidFill>
          <a:ln w="6350">
            <a:solidFill>
              <a:srgbClr val="5B6B7F"/>
            </a:solidFill>
            <a:prstDash val="solid"/>
          </a:ln>
        </p:spPr>
      </p:sp>
      <p:sp>
        <p:nvSpPr>
          <p:cNvPr id="149" name="Shape 146"/>
          <p:cNvSpPr/>
          <p:nvPr/>
        </p:nvSpPr>
        <p:spPr>
          <a:xfrm>
            <a:off x="6525491" y="4937760"/>
            <a:ext cx="86690" cy="310896"/>
          </a:xfrm>
          <a:prstGeom prst="rect">
            <a:avLst/>
          </a:prstGeom>
          <a:solidFill>
            <a:srgbClr val="E3EEFB"/>
          </a:solidFill>
          <a:ln w="6350">
            <a:solidFill>
              <a:srgbClr val="2F6DB5"/>
            </a:solidFill>
            <a:prstDash val="solid"/>
          </a:ln>
        </p:spPr>
      </p:sp>
      <p:sp>
        <p:nvSpPr>
          <p:cNvPr id="150" name="Shape 147"/>
          <p:cNvSpPr/>
          <p:nvPr/>
        </p:nvSpPr>
        <p:spPr>
          <a:xfrm>
            <a:off x="6612181" y="4937760"/>
            <a:ext cx="86690" cy="310896"/>
          </a:xfrm>
          <a:prstGeom prst="rect">
            <a:avLst/>
          </a:prstGeom>
          <a:solidFill>
            <a:srgbClr val="E5F3E7"/>
          </a:solidFill>
          <a:ln w="6350">
            <a:solidFill>
              <a:srgbClr val="2E7D32"/>
            </a:solidFill>
            <a:prstDash val="solid"/>
          </a:ln>
        </p:spPr>
      </p:sp>
      <p:sp>
        <p:nvSpPr>
          <p:cNvPr id="151" name="Shape 148"/>
          <p:cNvSpPr/>
          <p:nvPr/>
        </p:nvSpPr>
        <p:spPr>
          <a:xfrm>
            <a:off x="6698871" y="4937760"/>
            <a:ext cx="346759" cy="310896"/>
          </a:xfrm>
          <a:prstGeom prst="rect">
            <a:avLst/>
          </a:prstGeom>
          <a:solidFill>
            <a:srgbClr val="FFF1DC"/>
          </a:solidFill>
          <a:ln w="6350">
            <a:solidFill>
              <a:srgbClr val="D98A1E"/>
            </a:solidFill>
            <a:prstDash val="solid"/>
          </a:ln>
        </p:spPr>
      </p:sp>
      <p:sp>
        <p:nvSpPr>
          <p:cNvPr id="152" name="Text 149"/>
          <p:cNvSpPr txBox="1"/>
          <p:nvPr/>
        </p:nvSpPr>
        <p:spPr>
          <a:xfrm>
            <a:off x="6698871" y="4937760"/>
            <a:ext cx="346759" cy="310896"/>
          </a:xfrm>
          <a:prstGeom prst="rect">
            <a:avLst/>
          </a:prstGeom>
          <a:noFill/>
          <a:ln/>
        </p:spPr>
        <p:txBody>
          <a:bodyPr wrap="square" lIns="0" tIns="0" rIns="0" bIns="0" rtlCol="0" anchor="ctr"/>
          <a:lstStyle/>
          <a:p>
            <a:pPr algn="ctr" indent="0" marL="0">
              <a:buNone/>
            </a:pPr>
            <a:r>
              <a:rPr lang="en-US" sz="550" dirty="0">
                <a:solidFill>
                  <a:srgbClr val="1F2D3D"/>
                </a:solidFill>
                <a:latin typeface="Malgun Gothic" pitchFamily="34" charset="0"/>
                <a:ea typeface="Malgun Gothic" pitchFamily="34" charset="-122"/>
                <a:cs typeface="Malgun Gothic" pitchFamily="34" charset="-120"/>
              </a:rPr>
              <a:t>GSTORE</a:t>
            </a:r>
            <a:endParaRPr lang="en-US" sz="550" dirty="0"/>
          </a:p>
        </p:txBody>
      </p:sp>
      <p:sp>
        <p:nvSpPr>
          <p:cNvPr id="153" name="Text 150"/>
          <p:cNvSpPr txBox="1"/>
          <p:nvPr/>
        </p:nvSpPr>
        <p:spPr>
          <a:xfrm>
            <a:off x="6470271" y="5266944"/>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72</a:t>
            </a:r>
            <a:endParaRPr lang="en-US" sz="650" dirty="0"/>
          </a:p>
        </p:txBody>
      </p:sp>
      <p:sp>
        <p:nvSpPr>
          <p:cNvPr id="154" name="Shape 151"/>
          <p:cNvSpPr/>
          <p:nvPr/>
        </p:nvSpPr>
        <p:spPr>
          <a:xfrm>
            <a:off x="7045630" y="4937760"/>
            <a:ext cx="86690" cy="310896"/>
          </a:xfrm>
          <a:prstGeom prst="rect">
            <a:avLst/>
          </a:prstGeom>
          <a:solidFill>
            <a:srgbClr val="FBE9E7"/>
          </a:solidFill>
          <a:ln w="6350">
            <a:solidFill>
              <a:srgbClr val="C0392B"/>
            </a:solidFill>
            <a:prstDash val="solid"/>
          </a:ln>
        </p:spPr>
      </p:sp>
      <p:sp>
        <p:nvSpPr>
          <p:cNvPr id="155" name="Text 152"/>
          <p:cNvSpPr txBox="1"/>
          <p:nvPr/>
        </p:nvSpPr>
        <p:spPr>
          <a:xfrm>
            <a:off x="6817030" y="5266944"/>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76</a:t>
            </a:r>
            <a:endParaRPr lang="en-US" sz="650" dirty="0"/>
          </a:p>
        </p:txBody>
      </p:sp>
      <p:sp>
        <p:nvSpPr>
          <p:cNvPr id="156" name="Text 153"/>
          <p:cNvSpPr txBox="1"/>
          <p:nvPr/>
        </p:nvSpPr>
        <p:spPr>
          <a:xfrm>
            <a:off x="457200" y="5440680"/>
            <a:ext cx="6675120" cy="384048"/>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주황 DMA (0xA0/0xA8) · 파랑 ADDR (0x80) · 회색 ROWS/COLS (0x88/0x89) · 청록 LOAD (0x90) · 초록 SAVE (0x98) · 보라 M_MUL (0x42) · 빨강 HALT.  62 instructions = 77 words = 308 bytes. DMA load 40,972 B + store 8,192 B (C-model counters와 일치).</a:t>
            </a:r>
            <a:endParaRPr lang="en-US" sz="750" dirty="0"/>
          </a:p>
        </p:txBody>
      </p:sp>
      <p:sp>
        <p:nvSpPr>
          <p:cNvPr id="157" name="Shape 154"/>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58" name="Text 155"/>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Peephole의 효과: 두 번째 tile에서 SRC1 descriptor 생략, 커널 1에서 0x88 생략. 값이 알려져 있고 바뀌지 않았을 때만 삭제합니다.</a:t>
            </a:r>
            <a:endParaRPr lang="en-US" sz="1250" dirty="0"/>
          </a:p>
        </p:txBody>
      </p:sp>
      <p:sp>
        <p:nvSpPr>
          <p:cNvPr id="159" name="Text 156"/>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60" name="Text 157"/>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docs/examples/two_matmuls_recorded/program.json, program_memory.bin, docs/current/09_isa.md, npu_compiler/isa_compute.py</a:t>
            </a:r>
            <a:endParaRPr lang="en-US" sz="850" dirty="0"/>
          </a:p>
        </p:txBody>
      </p:sp>
      <p:sp>
        <p:nvSpPr>
          <p:cNvPr id="161" name="Text 158"/>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59 / 89</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1900" b="1" dirty="0">
                <a:solidFill>
                  <a:srgbClr val="15243B"/>
                </a:solidFill>
                <a:latin typeface="Malgun Gothic" pitchFamily="34" charset="0"/>
                <a:ea typeface="Malgun Gothic" pitchFamily="34" charset="-122"/>
                <a:cs typeface="Malgun Gothic" pitchFamily="34" charset="-120"/>
              </a:rPr>
              <a:t>Linker: 커널 stream을 호출 순서로 연결하고, forwarding·peephole·주소 압축으로 마무리한다</a:t>
            </a:r>
            <a:endParaRPr lang="en-US" sz="19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npu_link._compile_program. 커널은 독립적으로 emit되고(각자 필요한 descriptor를 다시 냄) 경계의 중복 설정은 뒤의 peephole이 제거합니다. 아래 strip은 77-word 예제의 실제 구성입니다.</a:t>
            </a:r>
            <a:endParaRPr lang="en-US" sz="1250" dirty="0"/>
          </a:p>
        </p:txBody>
      </p:sp>
      <p:sp>
        <p:nvSpPr>
          <p:cNvPr id="5" name="Shape 3"/>
          <p:cNvSpPr/>
          <p:nvPr/>
        </p:nvSpPr>
        <p:spPr>
          <a:xfrm>
            <a:off x="457200" y="1417320"/>
            <a:ext cx="1045159" cy="822960"/>
          </a:xfrm>
          <a:prstGeom prst="roundRect">
            <a:avLst>
              <a:gd name="adj" fmla="val 6667"/>
            </a:avLst>
          </a:prstGeom>
          <a:solidFill>
            <a:srgbClr val="EEF1F5"/>
          </a:solidFill>
          <a:ln w="12700">
            <a:solidFill>
              <a:srgbClr val="5B6B7F"/>
            </a:solidFill>
            <a:prstDash val="solid"/>
          </a:ln>
        </p:spPr>
      </p:sp>
      <p:sp>
        <p:nvSpPr>
          <p:cNvPr id="6" name="Text 4"/>
          <p:cNvSpPr txBox="1"/>
          <p:nvPr/>
        </p:nvSpPr>
        <p:spPr>
          <a:xfrm>
            <a:off x="530352" y="1490472"/>
            <a:ext cx="898855"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계약 검사</a:t>
            </a:r>
            <a:endParaRPr lang="en-US" sz="850" dirty="0"/>
          </a:p>
        </p:txBody>
      </p:sp>
      <p:sp>
        <p:nvSpPr>
          <p:cNvPr id="7" name="Text 5"/>
          <p:cNvSpPr txBox="1"/>
          <p:nvPr/>
        </p:nvSpPr>
        <p:spPr>
          <a:xfrm>
            <a:off x="530352" y="1652397"/>
            <a:ext cx="898855" cy="55130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tile 64 · cell 32</a:t>
            </a:r>
            <a:endParaRPr lang="en-US" sz="700" dirty="0"/>
          </a:p>
          <a:p>
            <a:pPr algn="ctr" indent="0" marL="0">
              <a:buNone/>
            </a:pPr>
            <a:r>
              <a:rPr lang="en-US" sz="700" dirty="0">
                <a:solidFill>
                  <a:srgbClr val="5B6B7F"/>
                </a:solidFill>
                <a:latin typeface="Malgun Gothic" pitchFamily="34" charset="0"/>
                <a:ea typeface="Malgun Gothic" pitchFamily="34" charset="-122"/>
                <a:cs typeface="Malgun Gothic" pitchFamily="34" charset="-120"/>
              </a:rPr>
              <a:t>numeric policy</a:t>
            </a:r>
            <a:endParaRPr lang="en-US" sz="700" dirty="0"/>
          </a:p>
        </p:txBody>
      </p:sp>
      <p:sp>
        <p:nvSpPr>
          <p:cNvPr id="8" name="Shape 6"/>
          <p:cNvSpPr/>
          <p:nvPr/>
        </p:nvSpPr>
        <p:spPr>
          <a:xfrm>
            <a:off x="1506931" y="1828800"/>
            <a:ext cx="82296" cy="914"/>
          </a:xfrm>
          <a:prstGeom prst="line">
            <a:avLst/>
          </a:prstGeom>
          <a:noFill/>
          <a:ln w="9525">
            <a:solidFill>
              <a:srgbClr val="5B6B7F"/>
            </a:solidFill>
            <a:prstDash val="solid"/>
            <a:tailEnd type="triangle"/>
          </a:ln>
        </p:spPr>
      </p:sp>
      <p:sp>
        <p:nvSpPr>
          <p:cNvPr id="9" name="Shape 7"/>
          <p:cNvSpPr/>
          <p:nvPr/>
        </p:nvSpPr>
        <p:spPr>
          <a:xfrm>
            <a:off x="1593799" y="1417320"/>
            <a:ext cx="1045159" cy="822960"/>
          </a:xfrm>
          <a:prstGeom prst="roundRect">
            <a:avLst>
              <a:gd name="adj" fmla="val 6667"/>
            </a:avLst>
          </a:prstGeom>
          <a:solidFill>
            <a:srgbClr val="FFF1DC"/>
          </a:solidFill>
          <a:ln w="12700">
            <a:solidFill>
              <a:srgbClr val="D98A1E"/>
            </a:solidFill>
            <a:prstDash val="solid"/>
          </a:ln>
        </p:spPr>
      </p:sp>
      <p:sp>
        <p:nvSpPr>
          <p:cNvPr id="10" name="Text 8"/>
          <p:cNvSpPr txBox="1"/>
          <p:nvPr/>
        </p:nvSpPr>
        <p:spPr>
          <a:xfrm>
            <a:off x="1666951" y="1490472"/>
            <a:ext cx="898855"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DRAM plan</a:t>
            </a:r>
            <a:endParaRPr lang="en-US" sz="850" dirty="0"/>
          </a:p>
        </p:txBody>
      </p:sp>
      <p:sp>
        <p:nvSpPr>
          <p:cNvPr id="11" name="Text 9"/>
          <p:cNvSpPr txBox="1"/>
          <p:nvPr/>
        </p:nvSpPr>
        <p:spPr>
          <a:xfrm>
            <a:off x="1666951" y="1652397"/>
            <a:ext cx="898855" cy="55130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assign_addresses</a:t>
            </a:r>
            <a:endParaRPr lang="en-US" sz="700" dirty="0"/>
          </a:p>
          <a:p>
            <a:pPr algn="ctr" indent="0" marL="0">
              <a:buNone/>
            </a:pPr>
            <a:r>
              <a:rPr lang="en-US" sz="700" dirty="0">
                <a:solidFill>
                  <a:srgbClr val="5B6B7F"/>
                </a:solidFill>
                <a:latin typeface="Malgun Gothic" pitchFamily="34" charset="0"/>
                <a:ea typeface="Malgun Gothic" pitchFamily="34" charset="-122"/>
                <a:cs typeface="Malgun Gothic" pitchFamily="34" charset="-120"/>
              </a:rPr>
              <a:t>codegen_contract hash</a:t>
            </a:r>
            <a:endParaRPr lang="en-US" sz="700" dirty="0"/>
          </a:p>
        </p:txBody>
      </p:sp>
      <p:sp>
        <p:nvSpPr>
          <p:cNvPr id="12" name="Shape 10"/>
          <p:cNvSpPr/>
          <p:nvPr/>
        </p:nvSpPr>
        <p:spPr>
          <a:xfrm>
            <a:off x="2643530" y="1828800"/>
            <a:ext cx="82296" cy="914"/>
          </a:xfrm>
          <a:prstGeom prst="line">
            <a:avLst/>
          </a:prstGeom>
          <a:noFill/>
          <a:ln w="9525">
            <a:solidFill>
              <a:srgbClr val="5B6B7F"/>
            </a:solidFill>
            <a:prstDash val="solid"/>
            <a:tailEnd type="triangle"/>
          </a:ln>
        </p:spPr>
      </p:sp>
      <p:sp>
        <p:nvSpPr>
          <p:cNvPr id="13" name="Shape 11"/>
          <p:cNvSpPr/>
          <p:nvPr/>
        </p:nvSpPr>
        <p:spPr>
          <a:xfrm>
            <a:off x="2730398" y="1417320"/>
            <a:ext cx="1045159" cy="822960"/>
          </a:xfrm>
          <a:prstGeom prst="roundRect">
            <a:avLst>
              <a:gd name="adj" fmla="val 6667"/>
            </a:avLst>
          </a:prstGeom>
          <a:solidFill>
            <a:srgbClr val="EEF1F5"/>
          </a:solidFill>
          <a:ln w="12700">
            <a:solidFill>
              <a:srgbClr val="5B6B7F"/>
            </a:solidFill>
            <a:prstDash val="solid"/>
          </a:ln>
        </p:spPr>
      </p:sp>
      <p:sp>
        <p:nvSpPr>
          <p:cNvPr id="14" name="Text 12"/>
          <p:cNvSpPr txBox="1"/>
          <p:nvPr/>
        </p:nvSpPr>
        <p:spPr>
          <a:xfrm>
            <a:off x="2803550" y="1490472"/>
            <a:ext cx="898855"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scalar pool</a:t>
            </a:r>
            <a:endParaRPr lang="en-US" sz="850" dirty="0"/>
          </a:p>
        </p:txBody>
      </p:sp>
      <p:sp>
        <p:nvSpPr>
          <p:cNvPr id="15" name="Text 13"/>
          <p:cNvSpPr txBox="1"/>
          <p:nvPr/>
        </p:nvSpPr>
        <p:spPr>
          <a:xfrm>
            <a:off x="2803550" y="1652397"/>
            <a:ext cx="898855" cy="55130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FP16 literal (+1.0, 2.0)</a:t>
            </a:r>
            <a:endParaRPr lang="en-US" sz="700" dirty="0"/>
          </a:p>
          <a:p>
            <a:pPr algn="ctr" indent="0" marL="0">
              <a:buNone/>
            </a:pPr>
            <a:r>
              <a:rPr lang="en-US" sz="700" dirty="0">
                <a:solidFill>
                  <a:srgbClr val="5B6B7F"/>
                </a:solidFill>
                <a:latin typeface="Malgun Gothic" pitchFamily="34" charset="0"/>
                <a:ea typeface="Malgun Gothic" pitchFamily="34" charset="-122"/>
                <a:cs typeface="Malgun Gothic" pitchFamily="34" charset="-120"/>
              </a:rPr>
              <a:t>→ SRAM nibble 0 GLOAD</a:t>
            </a:r>
            <a:endParaRPr lang="en-US" sz="700" dirty="0"/>
          </a:p>
        </p:txBody>
      </p:sp>
      <p:sp>
        <p:nvSpPr>
          <p:cNvPr id="16" name="Shape 14"/>
          <p:cNvSpPr/>
          <p:nvPr/>
        </p:nvSpPr>
        <p:spPr>
          <a:xfrm>
            <a:off x="3780130" y="1828800"/>
            <a:ext cx="82296" cy="914"/>
          </a:xfrm>
          <a:prstGeom prst="line">
            <a:avLst/>
          </a:prstGeom>
          <a:noFill/>
          <a:ln w="9525">
            <a:solidFill>
              <a:srgbClr val="5B6B7F"/>
            </a:solidFill>
            <a:prstDash val="solid"/>
            <a:tailEnd type="triangle"/>
          </a:ln>
        </p:spPr>
      </p:sp>
      <p:sp>
        <p:nvSpPr>
          <p:cNvPr id="17" name="Shape 15"/>
          <p:cNvSpPr/>
          <p:nvPr/>
        </p:nvSpPr>
        <p:spPr>
          <a:xfrm>
            <a:off x="3866998" y="1417320"/>
            <a:ext cx="1045159" cy="822960"/>
          </a:xfrm>
          <a:prstGeom prst="roundRect">
            <a:avLst>
              <a:gd name="adj" fmla="val 6667"/>
            </a:avLst>
          </a:prstGeom>
          <a:solidFill>
            <a:srgbClr val="ECE6FA"/>
          </a:solidFill>
          <a:ln w="12700">
            <a:solidFill>
              <a:srgbClr val="6C4FBF"/>
            </a:solidFill>
            <a:prstDash val="solid"/>
          </a:ln>
        </p:spPr>
      </p:sp>
      <p:sp>
        <p:nvSpPr>
          <p:cNvPr id="18" name="Text 16"/>
          <p:cNvSpPr txBox="1"/>
          <p:nvPr/>
        </p:nvSpPr>
        <p:spPr>
          <a:xfrm>
            <a:off x="3940150" y="1490472"/>
            <a:ext cx="898855"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커널 emission</a:t>
            </a:r>
            <a:endParaRPr lang="en-US" sz="850" dirty="0"/>
          </a:p>
        </p:txBody>
      </p:sp>
      <p:sp>
        <p:nvSpPr>
          <p:cNvPr id="19" name="Text 17"/>
          <p:cNvSpPr txBox="1"/>
          <p:nvPr/>
        </p:nvSpPr>
        <p:spPr>
          <a:xfrm>
            <a:off x="3940150" y="1652397"/>
            <a:ext cx="898855" cy="55130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binding 순서</a:t>
            </a:r>
            <a:endParaRPr lang="en-US" sz="700" dirty="0"/>
          </a:p>
          <a:p>
            <a:pPr algn="ctr" indent="0" marL="0">
              <a:buNone/>
            </a:pPr>
            <a:r>
              <a:rPr lang="en-US" sz="700" dirty="0">
                <a:solidFill>
                  <a:srgbClr val="5B6B7F"/>
                </a:solidFill>
                <a:latin typeface="Malgun Gothic" pitchFamily="34" charset="0"/>
                <a:ea typeface="Malgun Gothic" pitchFamily="34" charset="-122"/>
                <a:cs typeface="Malgun Gothic" pitchFamily="34" charset="-120"/>
              </a:rPr>
              <a:t>3 경로 (joint / W8A8 / recipe)</a:t>
            </a:r>
            <a:endParaRPr lang="en-US" sz="700" dirty="0"/>
          </a:p>
        </p:txBody>
      </p:sp>
      <p:sp>
        <p:nvSpPr>
          <p:cNvPr id="20" name="Shape 18"/>
          <p:cNvSpPr/>
          <p:nvPr/>
        </p:nvSpPr>
        <p:spPr>
          <a:xfrm>
            <a:off x="4916729" y="1828800"/>
            <a:ext cx="82296" cy="914"/>
          </a:xfrm>
          <a:prstGeom prst="line">
            <a:avLst/>
          </a:prstGeom>
          <a:noFill/>
          <a:ln w="9525">
            <a:solidFill>
              <a:srgbClr val="5B6B7F"/>
            </a:solidFill>
            <a:prstDash val="solid"/>
            <a:tailEnd type="triangle"/>
          </a:ln>
        </p:spPr>
      </p:sp>
      <p:sp>
        <p:nvSpPr>
          <p:cNvPr id="21" name="Shape 19"/>
          <p:cNvSpPr/>
          <p:nvPr/>
        </p:nvSpPr>
        <p:spPr>
          <a:xfrm>
            <a:off x="5003597" y="1417320"/>
            <a:ext cx="1045159" cy="822960"/>
          </a:xfrm>
          <a:prstGeom prst="roundRect">
            <a:avLst>
              <a:gd name="adj" fmla="val 6667"/>
            </a:avLst>
          </a:prstGeom>
          <a:solidFill>
            <a:srgbClr val="EEF1F5"/>
          </a:solidFill>
          <a:ln w="12700">
            <a:solidFill>
              <a:srgbClr val="5B6B7F"/>
            </a:solidFill>
            <a:prstDash val="solid"/>
          </a:ln>
        </p:spPr>
      </p:sp>
      <p:sp>
        <p:nvSpPr>
          <p:cNvPr id="22" name="Text 20"/>
          <p:cNvSpPr txBox="1"/>
          <p:nvPr/>
        </p:nvSpPr>
        <p:spPr>
          <a:xfrm>
            <a:off x="5076749" y="1490472"/>
            <a:ext cx="898855"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HALT</a:t>
            </a:r>
            <a:endParaRPr lang="en-US" sz="850" dirty="0"/>
          </a:p>
        </p:txBody>
      </p:sp>
      <p:sp>
        <p:nvSpPr>
          <p:cNvPr id="23" name="Text 21"/>
          <p:cNvSpPr txBox="1"/>
          <p:nvPr/>
        </p:nvSpPr>
        <p:spPr>
          <a:xfrm>
            <a:off x="5076749" y="1652397"/>
            <a:ext cx="898855" cy="55130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0xFF</a:t>
            </a:r>
            <a:endParaRPr lang="en-US" sz="700" dirty="0"/>
          </a:p>
        </p:txBody>
      </p:sp>
      <p:sp>
        <p:nvSpPr>
          <p:cNvPr id="24" name="Shape 22"/>
          <p:cNvSpPr/>
          <p:nvPr/>
        </p:nvSpPr>
        <p:spPr>
          <a:xfrm>
            <a:off x="6053328" y="1828800"/>
            <a:ext cx="82296" cy="914"/>
          </a:xfrm>
          <a:prstGeom prst="line">
            <a:avLst/>
          </a:prstGeom>
          <a:noFill/>
          <a:ln w="9525">
            <a:solidFill>
              <a:srgbClr val="5B6B7F"/>
            </a:solidFill>
            <a:prstDash val="solid"/>
            <a:tailEnd type="triangle"/>
          </a:ln>
        </p:spPr>
      </p:sp>
      <p:sp>
        <p:nvSpPr>
          <p:cNvPr id="25" name="Shape 23"/>
          <p:cNvSpPr/>
          <p:nvPr/>
        </p:nvSpPr>
        <p:spPr>
          <a:xfrm>
            <a:off x="6140196" y="1417320"/>
            <a:ext cx="1045159" cy="822960"/>
          </a:xfrm>
          <a:prstGeom prst="roundRect">
            <a:avLst>
              <a:gd name="adj" fmla="val 6667"/>
            </a:avLst>
          </a:prstGeom>
          <a:solidFill>
            <a:srgbClr val="DDF3F0"/>
          </a:solidFill>
          <a:ln w="12700">
            <a:solidFill>
              <a:srgbClr val="1F8A8A"/>
            </a:solidFill>
            <a:prstDash val="solid"/>
          </a:ln>
        </p:spPr>
      </p:sp>
      <p:sp>
        <p:nvSpPr>
          <p:cNvPr id="26" name="Text 24"/>
          <p:cNvSpPr txBox="1"/>
          <p:nvPr/>
        </p:nvSpPr>
        <p:spPr>
          <a:xfrm>
            <a:off x="6213348" y="1490472"/>
            <a:ext cx="898855"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residency</a:t>
            </a:r>
            <a:endParaRPr lang="en-US" sz="850" dirty="0"/>
          </a:p>
        </p:txBody>
      </p:sp>
      <p:sp>
        <p:nvSpPr>
          <p:cNvPr id="27" name="Text 25"/>
          <p:cNvSpPr txBox="1"/>
          <p:nvPr/>
        </p:nvSpPr>
        <p:spPr>
          <a:xfrm>
            <a:off x="6213348" y="1652397"/>
            <a:ext cx="898855" cy="55130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GSTORE 사본 → GLOAD 제거/복사</a:t>
            </a:r>
            <a:endParaRPr lang="en-US" sz="700" dirty="0"/>
          </a:p>
        </p:txBody>
      </p:sp>
      <p:sp>
        <p:nvSpPr>
          <p:cNvPr id="28" name="Shape 26"/>
          <p:cNvSpPr/>
          <p:nvPr/>
        </p:nvSpPr>
        <p:spPr>
          <a:xfrm>
            <a:off x="7189927" y="1828800"/>
            <a:ext cx="82296" cy="914"/>
          </a:xfrm>
          <a:prstGeom prst="line">
            <a:avLst/>
          </a:prstGeom>
          <a:noFill/>
          <a:ln w="9525">
            <a:solidFill>
              <a:srgbClr val="5B6B7F"/>
            </a:solidFill>
            <a:prstDash val="solid"/>
            <a:tailEnd type="triangle"/>
          </a:ln>
        </p:spPr>
      </p:sp>
      <p:sp>
        <p:nvSpPr>
          <p:cNvPr id="29" name="Shape 27"/>
          <p:cNvSpPr/>
          <p:nvPr/>
        </p:nvSpPr>
        <p:spPr>
          <a:xfrm>
            <a:off x="7276795" y="1417320"/>
            <a:ext cx="1045159" cy="822960"/>
          </a:xfrm>
          <a:prstGeom prst="roundRect">
            <a:avLst>
              <a:gd name="adj" fmla="val 6667"/>
            </a:avLst>
          </a:prstGeom>
          <a:solidFill>
            <a:srgbClr val="DDF3F0"/>
          </a:solidFill>
          <a:ln w="12700">
            <a:solidFill>
              <a:srgbClr val="1F8A8A"/>
            </a:solidFill>
            <a:prstDash val="solid"/>
          </a:ln>
        </p:spPr>
      </p:sp>
      <p:sp>
        <p:nvSpPr>
          <p:cNvPr id="30" name="Text 28"/>
          <p:cNvSpPr txBox="1"/>
          <p:nvPr/>
        </p:nvSpPr>
        <p:spPr>
          <a:xfrm>
            <a:off x="7349947" y="1490472"/>
            <a:ext cx="898855"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peephole</a:t>
            </a:r>
            <a:endParaRPr lang="en-US" sz="850" dirty="0"/>
          </a:p>
        </p:txBody>
      </p:sp>
      <p:sp>
        <p:nvSpPr>
          <p:cNvPr id="31" name="Text 29"/>
          <p:cNvSpPr txBox="1"/>
          <p:nvPr/>
        </p:nvSpPr>
        <p:spPr>
          <a:xfrm>
            <a:off x="7349947" y="1652397"/>
            <a:ext cx="898855" cy="55130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descriptor 중복 제거</a:t>
            </a:r>
            <a:endParaRPr lang="en-US" sz="700" dirty="0"/>
          </a:p>
        </p:txBody>
      </p:sp>
      <p:sp>
        <p:nvSpPr>
          <p:cNvPr id="32" name="Shape 30"/>
          <p:cNvSpPr/>
          <p:nvPr/>
        </p:nvSpPr>
        <p:spPr>
          <a:xfrm>
            <a:off x="8326526" y="1828800"/>
            <a:ext cx="82296" cy="914"/>
          </a:xfrm>
          <a:prstGeom prst="line">
            <a:avLst/>
          </a:prstGeom>
          <a:noFill/>
          <a:ln w="9525">
            <a:solidFill>
              <a:srgbClr val="5B6B7F"/>
            </a:solidFill>
            <a:prstDash val="solid"/>
            <a:tailEnd type="triangle"/>
          </a:ln>
        </p:spPr>
      </p:sp>
      <p:sp>
        <p:nvSpPr>
          <p:cNvPr id="33" name="Shape 31"/>
          <p:cNvSpPr/>
          <p:nvPr/>
        </p:nvSpPr>
        <p:spPr>
          <a:xfrm>
            <a:off x="8413394" y="1417320"/>
            <a:ext cx="1045159" cy="822960"/>
          </a:xfrm>
          <a:prstGeom prst="roundRect">
            <a:avLst>
              <a:gd name="adj" fmla="val 6667"/>
            </a:avLst>
          </a:prstGeom>
          <a:solidFill>
            <a:srgbClr val="FFF6DB"/>
          </a:solidFill>
          <a:ln w="12700">
            <a:solidFill>
              <a:srgbClr val="B7791F"/>
            </a:solidFill>
            <a:prstDash val="solid"/>
          </a:ln>
        </p:spPr>
      </p:sp>
      <p:sp>
        <p:nvSpPr>
          <p:cNvPr id="34" name="Text 32"/>
          <p:cNvSpPr txBox="1"/>
          <p:nvPr/>
        </p:nvSpPr>
        <p:spPr>
          <a:xfrm>
            <a:off x="8486546" y="1490472"/>
            <a:ext cx="898855"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baseline 비교</a:t>
            </a:r>
            <a:endParaRPr lang="en-US" sz="850" dirty="0"/>
          </a:p>
        </p:txBody>
      </p:sp>
      <p:sp>
        <p:nvSpPr>
          <p:cNvPr id="35" name="Text 33"/>
          <p:cNvSpPr txBox="1"/>
          <p:nvPr/>
        </p:nvSpPr>
        <p:spPr>
          <a:xfrm>
            <a:off x="8486546" y="1652397"/>
            <a:ext cx="898855" cy="55130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joint vs all-DRAM cost</a:t>
            </a:r>
            <a:endParaRPr lang="en-US" sz="700" dirty="0"/>
          </a:p>
        </p:txBody>
      </p:sp>
      <p:sp>
        <p:nvSpPr>
          <p:cNvPr id="36" name="Shape 34"/>
          <p:cNvSpPr/>
          <p:nvPr/>
        </p:nvSpPr>
        <p:spPr>
          <a:xfrm>
            <a:off x="9463126" y="1828800"/>
            <a:ext cx="82296" cy="914"/>
          </a:xfrm>
          <a:prstGeom prst="line">
            <a:avLst/>
          </a:prstGeom>
          <a:noFill/>
          <a:ln w="9525">
            <a:solidFill>
              <a:srgbClr val="5B6B7F"/>
            </a:solidFill>
            <a:prstDash val="solid"/>
            <a:tailEnd type="triangle"/>
          </a:ln>
        </p:spPr>
      </p:sp>
      <p:sp>
        <p:nvSpPr>
          <p:cNvPr id="37" name="Shape 35"/>
          <p:cNvSpPr/>
          <p:nvPr/>
        </p:nvSpPr>
        <p:spPr>
          <a:xfrm>
            <a:off x="9549994" y="1417320"/>
            <a:ext cx="1045159" cy="822960"/>
          </a:xfrm>
          <a:prstGeom prst="roundRect">
            <a:avLst>
              <a:gd name="adj" fmla="val 6667"/>
            </a:avLst>
          </a:prstGeom>
          <a:solidFill>
            <a:srgbClr val="FFF1DC"/>
          </a:solidFill>
          <a:ln w="12700">
            <a:solidFill>
              <a:srgbClr val="D98A1E"/>
            </a:solidFill>
            <a:prstDash val="solid"/>
          </a:ln>
        </p:spPr>
      </p:sp>
      <p:sp>
        <p:nvSpPr>
          <p:cNvPr id="38" name="Text 36"/>
          <p:cNvSpPr txBox="1"/>
          <p:nvPr/>
        </p:nvSpPr>
        <p:spPr>
          <a:xfrm>
            <a:off x="9623146" y="1490472"/>
            <a:ext cx="898855"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DRAM 압축</a:t>
            </a:r>
            <a:endParaRPr lang="en-US" sz="850" dirty="0"/>
          </a:p>
        </p:txBody>
      </p:sp>
      <p:sp>
        <p:nvSpPr>
          <p:cNvPr id="39" name="Text 37"/>
          <p:cNvSpPr txBox="1"/>
          <p:nvPr/>
        </p:nvSpPr>
        <p:spPr>
          <a:xfrm>
            <a:off x="9623146" y="1652397"/>
            <a:ext cx="898855" cy="55130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compact_unused_storage</a:t>
            </a:r>
            <a:endParaRPr lang="en-US" sz="700" dirty="0"/>
          </a:p>
        </p:txBody>
      </p:sp>
      <p:sp>
        <p:nvSpPr>
          <p:cNvPr id="40" name="Shape 38"/>
          <p:cNvSpPr/>
          <p:nvPr/>
        </p:nvSpPr>
        <p:spPr>
          <a:xfrm>
            <a:off x="10599725" y="1828800"/>
            <a:ext cx="82296" cy="914"/>
          </a:xfrm>
          <a:prstGeom prst="line">
            <a:avLst/>
          </a:prstGeom>
          <a:noFill/>
          <a:ln w="9525">
            <a:solidFill>
              <a:srgbClr val="5B6B7F"/>
            </a:solidFill>
            <a:prstDash val="solid"/>
            <a:tailEnd type="triangle"/>
          </a:ln>
        </p:spPr>
      </p:sp>
      <p:sp>
        <p:nvSpPr>
          <p:cNvPr id="41" name="Shape 39"/>
          <p:cNvSpPr/>
          <p:nvPr/>
        </p:nvSpPr>
        <p:spPr>
          <a:xfrm>
            <a:off x="10686593" y="1417320"/>
            <a:ext cx="1045159" cy="822960"/>
          </a:xfrm>
          <a:prstGeom prst="roundRect">
            <a:avLst>
              <a:gd name="adj" fmla="val 6667"/>
            </a:avLst>
          </a:prstGeom>
          <a:solidFill>
            <a:srgbClr val="FFF1DC"/>
          </a:solidFill>
          <a:ln w="12700">
            <a:solidFill>
              <a:srgbClr val="D98A1E"/>
            </a:solidFill>
            <a:prstDash val="solid"/>
          </a:ln>
        </p:spPr>
      </p:sp>
      <p:sp>
        <p:nvSpPr>
          <p:cNvPr id="42" name="Text 40"/>
          <p:cNvSpPr txBox="1"/>
          <p:nvPr/>
        </p:nvSpPr>
        <p:spPr>
          <a:xfrm>
            <a:off x="10759745" y="1490472"/>
            <a:ext cx="898855" cy="161925"/>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KV append</a:t>
            </a:r>
            <a:endParaRPr lang="en-US" sz="850" dirty="0"/>
          </a:p>
        </p:txBody>
      </p:sp>
      <p:sp>
        <p:nvSpPr>
          <p:cNvPr id="43" name="Text 41"/>
          <p:cNvSpPr txBox="1"/>
          <p:nvPr/>
        </p:nvSpPr>
        <p:spPr>
          <a:xfrm>
            <a:off x="10759745" y="1652397"/>
            <a:ext cx="898855" cy="551307"/>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AppendPlan 재구성</a:t>
            </a:r>
            <a:endParaRPr lang="en-US" sz="700" dirty="0"/>
          </a:p>
        </p:txBody>
      </p:sp>
      <p:sp>
        <p:nvSpPr>
          <p:cNvPr id="44" name="Text 42"/>
          <p:cNvSpPr txBox="1"/>
          <p:nvPr/>
        </p:nvSpPr>
        <p:spPr>
          <a:xfrm>
            <a:off x="457200" y="2395728"/>
            <a:ext cx="11274552" cy="201168"/>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연결된 stream (77 words): kernel_records.span = [4, 48), [48, 76)</a:t>
            </a:r>
            <a:endParaRPr lang="en-US" sz="900" dirty="0"/>
          </a:p>
        </p:txBody>
      </p:sp>
      <p:sp>
        <p:nvSpPr>
          <p:cNvPr id="45" name="Shape 43"/>
          <p:cNvSpPr/>
          <p:nvPr/>
        </p:nvSpPr>
        <p:spPr>
          <a:xfrm>
            <a:off x="457200" y="2624328"/>
            <a:ext cx="585691" cy="384048"/>
          </a:xfrm>
          <a:prstGeom prst="rect">
            <a:avLst/>
          </a:prstGeom>
          <a:solidFill>
            <a:srgbClr val="EEF1F5"/>
          </a:solidFill>
          <a:ln w="6350">
            <a:solidFill>
              <a:srgbClr val="5B6B7F"/>
            </a:solidFill>
            <a:prstDash val="solid"/>
          </a:ln>
        </p:spPr>
      </p:sp>
      <p:sp>
        <p:nvSpPr>
          <p:cNvPr id="46" name="Text 44"/>
          <p:cNvSpPr txBox="1"/>
          <p:nvPr/>
        </p:nvSpPr>
        <p:spPr>
          <a:xfrm>
            <a:off x="457200" y="2624328"/>
            <a:ext cx="585691"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const</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GLOAD</a:t>
            </a:r>
            <a:endParaRPr lang="en-US" sz="650" dirty="0"/>
          </a:p>
        </p:txBody>
      </p:sp>
      <p:sp>
        <p:nvSpPr>
          <p:cNvPr id="47" name="Text 45"/>
          <p:cNvSpPr txBox="1"/>
          <p:nvPr/>
        </p:nvSpPr>
        <p:spPr>
          <a:xfrm>
            <a:off x="228600" y="3026664"/>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0</a:t>
            </a:r>
            <a:endParaRPr lang="en-US" sz="650" dirty="0"/>
          </a:p>
        </p:txBody>
      </p:sp>
      <p:sp>
        <p:nvSpPr>
          <p:cNvPr id="48" name="Shape 46"/>
          <p:cNvSpPr/>
          <p:nvPr/>
        </p:nvSpPr>
        <p:spPr>
          <a:xfrm>
            <a:off x="1042891" y="2624328"/>
            <a:ext cx="6442601" cy="384048"/>
          </a:xfrm>
          <a:prstGeom prst="rect">
            <a:avLst/>
          </a:prstGeom>
          <a:solidFill>
            <a:srgbClr val="ECE6FA"/>
          </a:solidFill>
          <a:ln w="6350">
            <a:solidFill>
              <a:srgbClr val="6C4FBF"/>
            </a:solidFill>
            <a:prstDash val="solid"/>
          </a:ln>
        </p:spPr>
      </p:sp>
      <p:sp>
        <p:nvSpPr>
          <p:cNvPr id="49" name="Text 47"/>
          <p:cNvSpPr txBox="1"/>
          <p:nvPr/>
        </p:nvSpPr>
        <p:spPr>
          <a:xfrm>
            <a:off x="1042891" y="2624328"/>
            <a:ext cx="6442601" cy="384048"/>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kernel 0 = matmul (44 words): GLOAD W1, GLOAD X · tile 0 MAC=0 SAVE · tile 1 MAC=0 SAVE (H 직접)</a:t>
            </a:r>
            <a:endParaRPr lang="en-US" sz="700" dirty="0"/>
          </a:p>
        </p:txBody>
      </p:sp>
      <p:sp>
        <p:nvSpPr>
          <p:cNvPr id="50" name="Text 48"/>
          <p:cNvSpPr txBox="1"/>
          <p:nvPr/>
        </p:nvSpPr>
        <p:spPr>
          <a:xfrm>
            <a:off x="814291" y="3026664"/>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4</a:t>
            </a:r>
            <a:endParaRPr lang="en-US" sz="650" dirty="0"/>
          </a:p>
        </p:txBody>
      </p:sp>
      <p:sp>
        <p:nvSpPr>
          <p:cNvPr id="51" name="Shape 49"/>
          <p:cNvSpPr/>
          <p:nvPr/>
        </p:nvSpPr>
        <p:spPr>
          <a:xfrm>
            <a:off x="7485492" y="2624328"/>
            <a:ext cx="4099837" cy="384048"/>
          </a:xfrm>
          <a:prstGeom prst="rect">
            <a:avLst/>
          </a:prstGeom>
          <a:solidFill>
            <a:srgbClr val="DDF3F0"/>
          </a:solidFill>
          <a:ln w="6350">
            <a:solidFill>
              <a:srgbClr val="1F8A8A"/>
            </a:solidFill>
            <a:prstDash val="solid"/>
          </a:ln>
        </p:spPr>
      </p:sp>
      <p:sp>
        <p:nvSpPr>
          <p:cNvPr id="52" name="Text 50"/>
          <p:cNvSpPr txBox="1"/>
          <p:nvPr/>
        </p:nvSpPr>
        <p:spPr>
          <a:xfrm>
            <a:off x="7485492" y="2624328"/>
            <a:ext cx="4099837" cy="384048"/>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kernel 1 = matmul1 (28 words): GLOAD W2 · MAC 0/1 · SAVE Y · GSTORE Y</a:t>
            </a:r>
            <a:endParaRPr lang="en-US" sz="700" dirty="0"/>
          </a:p>
        </p:txBody>
      </p:sp>
      <p:sp>
        <p:nvSpPr>
          <p:cNvPr id="53" name="Text 51"/>
          <p:cNvSpPr txBox="1"/>
          <p:nvPr/>
        </p:nvSpPr>
        <p:spPr>
          <a:xfrm>
            <a:off x="7256892" y="3026664"/>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48</a:t>
            </a:r>
            <a:endParaRPr lang="en-US" sz="650" dirty="0"/>
          </a:p>
        </p:txBody>
      </p:sp>
      <p:sp>
        <p:nvSpPr>
          <p:cNvPr id="54" name="Shape 52"/>
          <p:cNvSpPr/>
          <p:nvPr/>
        </p:nvSpPr>
        <p:spPr>
          <a:xfrm>
            <a:off x="11585329" y="2624328"/>
            <a:ext cx="146423" cy="384048"/>
          </a:xfrm>
          <a:prstGeom prst="rect">
            <a:avLst/>
          </a:prstGeom>
          <a:solidFill>
            <a:srgbClr val="FBE9E7"/>
          </a:solidFill>
          <a:ln w="6350">
            <a:solidFill>
              <a:srgbClr val="C0392B"/>
            </a:solidFill>
            <a:prstDash val="solid"/>
          </a:ln>
        </p:spPr>
      </p:sp>
      <p:sp>
        <p:nvSpPr>
          <p:cNvPr id="55" name="Text 53"/>
          <p:cNvSpPr txBox="1"/>
          <p:nvPr/>
        </p:nvSpPr>
        <p:spPr>
          <a:xfrm>
            <a:off x="11585329" y="2624328"/>
            <a:ext cx="146423"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H</a:t>
            </a:r>
            <a:endParaRPr lang="en-US" sz="600" dirty="0"/>
          </a:p>
        </p:txBody>
      </p:sp>
      <p:sp>
        <p:nvSpPr>
          <p:cNvPr id="56" name="Text 54"/>
          <p:cNvSpPr txBox="1"/>
          <p:nvPr/>
        </p:nvSpPr>
        <p:spPr>
          <a:xfrm>
            <a:off x="11356729" y="3026664"/>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76</a:t>
            </a:r>
            <a:endParaRPr lang="en-US" sz="650" dirty="0"/>
          </a:p>
        </p:txBody>
      </p:sp>
      <p:sp>
        <p:nvSpPr>
          <p:cNvPr id="57" name="Text 55"/>
          <p:cNvSpPr txBox="1"/>
          <p:nvPr/>
        </p:nvSpPr>
        <p:spPr>
          <a:xfrm>
            <a:off x="457200" y="3145536"/>
            <a:ext cx="11274552" cy="201168"/>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각 커널은 독립적으로 emit(필요한 descriptor를 다시 냄) → 경계의 중복 설정은 peephole이 제거(커널 1에 0x88 없음). residency는 GSTORE된 SRAM 사본을 커널 진입에서 재사용.</a:t>
            </a:r>
            <a:endParaRPr lang="en-US" sz="750" dirty="0"/>
          </a:p>
        </p:txBody>
      </p:sp>
      <p:sp>
        <p:nvSpPr>
          <p:cNvPr id="58" name="Text 56"/>
          <p:cNvSpPr txBox="1"/>
          <p:nvPr/>
        </p:nvSpPr>
        <p:spPr>
          <a:xfrm>
            <a:off x="457200" y="3383280"/>
            <a:ext cx="5486400" cy="256032"/>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Peephole (peephole.py): 정확한 register 상태 추적</a:t>
            </a:r>
            <a:endParaRPr lang="en-US" sz="1050" dirty="0"/>
          </a:p>
        </p:txBody>
      </p:sp>
      <p:sp>
        <p:nvSpPr>
          <p:cNvPr id="59" name="Text 57"/>
          <p:cNvSpPr txBox="1"/>
          <p:nvPr/>
        </p:nvSpPr>
        <p:spPr>
          <a:xfrm>
            <a:off x="457200" y="3657600"/>
            <a:ext cx="5577840" cy="1188720"/>
          </a:xfrm>
          <a:prstGeom prst="rect">
            <a:avLst/>
          </a:prstGeom>
          <a:noFill/>
          <a:ln/>
        </p:spPr>
        <p:txBody>
          <a:bodyPr wrap="square" lIns="0" tIns="0" rIns="0" bIns="0" rtlCol="0" anchor="t"/>
          <a:lstStyle/>
          <a:p>
            <a:pPr algn="l" marL="152400" indent="-152400">
              <a:spcAft>
                <a:spcPts val="300"/>
              </a:spcAft>
              <a:buSzPct val="100000"/>
              <a:buChar char="•"/>
            </a:pPr>
            <a:r>
              <a:rPr lang="en-US" sz="880" dirty="0">
                <a:solidFill>
                  <a:srgbClr val="1F2D3D"/>
                </a:solidFill>
                <a:latin typeface="Malgun Gothic" pitchFamily="34" charset="0"/>
                <a:ea typeface="Malgun Gothic" pitchFamily="34" charset="-122"/>
                <a:cs typeface="Malgun Gothic" pitchFamily="34" charset="-120"/>
              </a:rPr>
              <a:t>추적 상태: (addr, operand, partial, high), (vlen), (0x88/0x89, operand, partial), (dtype, operand), (scale, op, high)</a:t>
            </a:r>
            <a:endParaRPr lang="en-US" sz="880" dirty="0"/>
          </a:p>
          <a:p>
            <a:pPr algn="l" marL="152400" indent="-152400">
              <a:spcAft>
                <a:spcPts val="300"/>
              </a:spcAft>
              <a:buSzPct val="100000"/>
              <a:buChar char="•"/>
            </a:pPr>
            <a:r>
              <a:rPr lang="en-US" sz="880" dirty="0">
                <a:solidFill>
                  <a:srgbClr val="1F2D3D"/>
                </a:solidFill>
                <a:latin typeface="Malgun Gothic" pitchFamily="34" charset="0"/>
                <a:ea typeface="Malgun Gothic" pitchFamily="34" charset="-122"/>
                <a:cs typeface="Malgun Gothic" pitchFamily="34" charset="-120"/>
              </a:rPr>
              <a:t>값이 알려져 있고 같을 때만 write 삭제. shape word는 count 또는 dtype이 바뀌면 유지</a:t>
            </a:r>
            <a:endParaRPr lang="en-US" sz="880" dirty="0"/>
          </a:p>
          <a:p>
            <a:pPr algn="l" marL="152400" indent="-152400">
              <a:spcAft>
                <a:spcPts val="300"/>
              </a:spcAft>
              <a:buSzPct val="100000"/>
              <a:buChar char="•"/>
            </a:pPr>
            <a:r>
              <a:rPr lang="en-US" sz="880" dirty="0">
                <a:solidFill>
                  <a:srgbClr val="1F2D3D"/>
                </a:solidFill>
                <a:latin typeface="Malgun Gothic" pitchFamily="34" charset="0"/>
                <a:ea typeface="Malgun Gothic" pitchFamily="34" charset="-122"/>
                <a:cs typeface="Malgun Gothic" pitchFamily="34" charset="-120"/>
              </a:rPr>
              <a:t>DMA packet은 4-word 단위로 건너뜀. LOAD·SAVE·연산·DMA·BROADCAST(0x15)는 건드리지 않음. branch가 없어 정확함</a:t>
            </a:r>
            <a:endParaRPr lang="en-US" sz="880" dirty="0"/>
          </a:p>
        </p:txBody>
      </p:sp>
      <p:sp>
        <p:nvSpPr>
          <p:cNvPr id="60" name="Text 58"/>
          <p:cNvSpPr txBox="1"/>
          <p:nvPr/>
        </p:nvSpPr>
        <p:spPr>
          <a:xfrm>
            <a:off x="6263640" y="3383280"/>
            <a:ext cx="5486400" cy="256032"/>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Residency forwarding (npu_residency.forward): 효과 분석 기반</a:t>
            </a:r>
            <a:endParaRPr lang="en-US" sz="1050" dirty="0"/>
          </a:p>
        </p:txBody>
      </p:sp>
      <p:sp>
        <p:nvSpPr>
          <p:cNvPr id="61" name="Text 59"/>
          <p:cNvSpPr txBox="1"/>
          <p:nvPr/>
        </p:nvSpPr>
        <p:spPr>
          <a:xfrm>
            <a:off x="6263640" y="3657600"/>
            <a:ext cx="5468112" cy="1188720"/>
          </a:xfrm>
          <a:prstGeom prst="rect">
            <a:avLst/>
          </a:prstGeom>
          <a:noFill/>
          <a:ln/>
        </p:spPr>
        <p:txBody>
          <a:bodyPr wrap="square" lIns="0" tIns="0" rIns="0" bIns="0" rtlCol="0" anchor="t"/>
          <a:lstStyle/>
          <a:p>
            <a:pPr algn="l" marL="152400" indent="-152400">
              <a:spcAft>
                <a:spcPts val="300"/>
              </a:spcAft>
              <a:buSzPct val="100000"/>
              <a:buChar char="•"/>
            </a:pPr>
            <a:r>
              <a:rPr lang="en-US" sz="850" dirty="0">
                <a:solidFill>
                  <a:srgbClr val="1F2D3D"/>
                </a:solidFill>
                <a:latin typeface="Malgun Gothic" pitchFamily="34" charset="0"/>
                <a:ea typeface="Malgun Gothic" pitchFamily="34" charset="-122"/>
                <a:cs typeface="Malgun Gothic" pitchFamily="34" charset="-120"/>
              </a:rPr>
              <a:t>GSTORE마다 (global byte 구간 ↔ SRAM nibble 구간, version, producer, canonical FP16) 사본 등록. GSTORE 자체는 유지 (write-through)</a:t>
            </a:r>
            <a:endParaRPr lang="en-US" sz="850" dirty="0"/>
          </a:p>
          <a:p>
            <a:pPr algn="l" marL="152400" indent="-152400">
              <a:spcAft>
                <a:spcPts val="300"/>
              </a:spcAft>
              <a:buSzPct val="100000"/>
              <a:buChar char="•"/>
            </a:pPr>
            <a:r>
              <a:rPr lang="en-US" sz="850" dirty="0">
                <a:solidFill>
                  <a:srgbClr val="1F2D3D"/>
                </a:solidFill>
                <a:latin typeface="Malgun Gothic" pitchFamily="34" charset="0"/>
                <a:ea typeface="Malgun Gothic" pitchFamily="34" charset="-122"/>
                <a:cs typeface="Malgun Gothic" pitchFamily="34" charset="-120"/>
              </a:rPr>
              <a:t>겹치는 GSTORE는 global 쪽, GLOAD 목적지와 정밀 compute write는 SRAM 쪽에서 무효화. WriteEffects.step: vector SAVE = 길이 × dtype nibble, matrix SAVE = ((rows−1)·stride + cols)·4; 미지 opcode → cache 전체 무효</a:t>
            </a:r>
            <a:endParaRPr lang="en-US" sz="850" dirty="0"/>
          </a:p>
          <a:p>
            <a:pPr algn="l" marL="152400" indent="-152400">
              <a:spcAft>
                <a:spcPts val="300"/>
              </a:spcAft>
              <a:buSzPct val="100000"/>
              <a:buChar char="•"/>
            </a:pPr>
            <a:r>
              <a:rPr lang="en-US" sz="850" dirty="0">
                <a:solidFill>
                  <a:srgbClr val="1F2D3D"/>
                </a:solidFill>
                <a:latin typeface="Malgun Gothic" pitchFamily="34" charset="0"/>
                <a:ea typeface="Malgun Gothic" pitchFamily="34" charset="-122"/>
                <a:cs typeface="Malgun Gothic" pitchFamily="34" charset="-120"/>
              </a:rPr>
              <a:t>커널 진입 시 완전 포함된 연속 GLOAD만: 같은 주소면 삭제, 아니면 SRAM→SRAM V_COPY + descriptor 복원</a:t>
            </a:r>
            <a:endParaRPr lang="en-US" sz="85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7200" y="4937760"/>
          <a:ext cx="11274552" cy="914400"/>
        </p:xfrm>
        <a:graphic>
          <a:graphicData uri="http://schemas.openxmlformats.org/drawingml/2006/table">
            <a:tbl>
              <a:tblPr/>
              <a:tblGrid>
                <a:gridCol w="2377440"/>
                <a:gridCol w="2743200"/>
                <a:gridCol w="6153912"/>
              </a:tblGrid>
              <a:tr h="237744">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커널 emission 경로</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언제</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내용</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37744">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joint search가 미리 emit한 words</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plan_program이 채택된 호출 (이 예제의 두 커널)</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보관 주소로 이미 검증된 stream 재사용 (재link 없음)</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37744">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W8A8 reference emitter</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w8a8 PrimFunc</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전용 경로 (부록 A2)</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37744">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scheduled recipe</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나머지 호출</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GlobalVar별 recipe cache (28 layers: 약 32개 커널이 1,206회 호출) → _place_sram → native/Python walker</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3" name="Shape 60"/>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64" name="Text 61"/>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효과 분석은 "이 명령이 어떤 주소를 읽고 쓰는가"를 아는 것입니다. 인코딩이 같다는 이유로 명령을 삭제하지 않습니다.</a:t>
            </a:r>
            <a:endParaRPr lang="en-US" sz="1250" dirty="0"/>
          </a:p>
        </p:txBody>
      </p:sp>
      <p:sp>
        <p:nvSpPr>
          <p:cNvPr id="65" name="Text 62"/>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66" name="Text 63"/>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npu_compiler/npu_link.py, peephole.py, npu_residency.py, v09_effects.py, two_matmuls_recorded/program.json kernel_records</a:t>
            </a:r>
            <a:endParaRPr lang="en-US" sz="850" dirty="0"/>
          </a:p>
        </p:txBody>
      </p:sp>
      <p:sp>
        <p:nvSpPr>
          <p:cNvPr id="67" name="Text 64"/>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60 / 89</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Python codegen과 native C++ codegen의 일치, 그리고 통계의 정의</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하나의 contract JSON이 양쪽 op table을 만들고 hash로 묶입니다. native의 unsupported는 Python fallback, invalid_schedule은 fallback 없는 LinkError, 내부 오류는 propagate합니다.</a:t>
            </a:r>
            <a:endParaRPr lang="en-US" sz="1250" dirty="0"/>
          </a:p>
        </p:txBody>
      </p:sp>
      <p:sp>
        <p:nvSpPr>
          <p:cNvPr id="5" name="Shape 3"/>
          <p:cNvSpPr/>
          <p:nvPr/>
        </p:nvSpPr>
        <p:spPr>
          <a:xfrm>
            <a:off x="457200" y="1463040"/>
            <a:ext cx="2377440" cy="822960"/>
          </a:xfrm>
          <a:prstGeom prst="roundRect">
            <a:avLst>
              <a:gd name="adj" fmla="val 6667"/>
            </a:avLst>
          </a:prstGeom>
          <a:solidFill>
            <a:srgbClr val="EEF1F5"/>
          </a:solidFill>
          <a:ln w="12700">
            <a:solidFill>
              <a:srgbClr val="5B6B7F"/>
            </a:solidFill>
            <a:prstDash val="solid"/>
          </a:ln>
        </p:spPr>
      </p:sp>
      <p:sp>
        <p:nvSpPr>
          <p:cNvPr id="6" name="Text 4"/>
          <p:cNvSpPr txBox="1"/>
          <p:nvPr/>
        </p:nvSpPr>
        <p:spPr>
          <a:xfrm>
            <a:off x="530352" y="1536192"/>
            <a:ext cx="2231136" cy="209550"/>
          </a:xfrm>
          <a:prstGeom prst="rect">
            <a:avLst/>
          </a:prstGeom>
          <a:noFill/>
          <a:ln/>
        </p:spPr>
        <p:txBody>
          <a:bodyPr wrap="square" lIns="0" tIns="0" rIns="0" bIns="0" rtlCol="0" anchor="ctr"/>
          <a:lstStyle/>
          <a:p>
            <a:pPr algn="ctr" indent="0" marL="0">
              <a:buNone/>
            </a:pPr>
            <a:r>
              <a:rPr lang="en-US" sz="1100" b="1" dirty="0">
                <a:solidFill>
                  <a:srgbClr val="1F2D3D"/>
                </a:solidFill>
                <a:latin typeface="Malgun Gothic" pitchFamily="34" charset="0"/>
                <a:ea typeface="Malgun Gothic" pitchFamily="34" charset="-122"/>
                <a:cs typeface="Malgun Gothic" pitchFamily="34" charset="-120"/>
              </a:rPr>
              <a:t>v09_contract.json</a:t>
            </a:r>
            <a:endParaRPr lang="en-US" sz="1100" dirty="0"/>
          </a:p>
        </p:txBody>
      </p:sp>
      <p:sp>
        <p:nvSpPr>
          <p:cNvPr id="7" name="Text 5"/>
          <p:cNvSpPr txBox="1"/>
          <p:nvPr/>
        </p:nvSpPr>
        <p:spPr>
          <a:xfrm>
            <a:off x="530352" y="1745742"/>
            <a:ext cx="2231136" cy="503682"/>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dtype nibble, opcode, max_vlen,</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numeric policy, op 목록</a:t>
            </a:r>
            <a:endParaRPr lang="en-US" sz="800" dirty="0"/>
          </a:p>
        </p:txBody>
      </p:sp>
      <p:sp>
        <p:nvSpPr>
          <p:cNvPr id="8" name="Shape 6"/>
          <p:cNvSpPr/>
          <p:nvPr/>
        </p:nvSpPr>
        <p:spPr>
          <a:xfrm>
            <a:off x="3383280" y="1463040"/>
            <a:ext cx="2377440" cy="822960"/>
          </a:xfrm>
          <a:prstGeom prst="roundRect">
            <a:avLst>
              <a:gd name="adj" fmla="val 6667"/>
            </a:avLst>
          </a:prstGeom>
          <a:solidFill>
            <a:srgbClr val="E3EEFB"/>
          </a:solidFill>
          <a:ln w="12700">
            <a:solidFill>
              <a:srgbClr val="2F6DB5"/>
            </a:solidFill>
            <a:prstDash val="solid"/>
          </a:ln>
        </p:spPr>
      </p:sp>
      <p:sp>
        <p:nvSpPr>
          <p:cNvPr id="9" name="Text 7"/>
          <p:cNvSpPr txBox="1"/>
          <p:nvPr/>
        </p:nvSpPr>
        <p:spPr>
          <a:xfrm>
            <a:off x="3456432" y="1536192"/>
            <a:ext cx="2231136"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Python: v09_contract.py</a:t>
            </a:r>
            <a:endParaRPr lang="en-US" sz="1050" dirty="0"/>
          </a:p>
        </p:txBody>
      </p:sp>
      <p:sp>
        <p:nvSpPr>
          <p:cNvPr id="10" name="Text 8"/>
          <p:cNvSpPr txBox="1"/>
          <p:nvPr/>
        </p:nvSpPr>
        <p:spPr>
          <a:xfrm>
            <a:off x="3456432" y="1736217"/>
            <a:ext cx="2231136" cy="51320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CONTRACT_HASH = sha256(bytes)</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tir_codegen_v09 op table</a:t>
            </a:r>
            <a:endParaRPr lang="en-US" sz="800" dirty="0"/>
          </a:p>
        </p:txBody>
      </p:sp>
      <p:sp>
        <p:nvSpPr>
          <p:cNvPr id="11" name="Shape 9"/>
          <p:cNvSpPr/>
          <p:nvPr/>
        </p:nvSpPr>
        <p:spPr>
          <a:xfrm>
            <a:off x="3383280" y="2514600"/>
            <a:ext cx="2377440" cy="822960"/>
          </a:xfrm>
          <a:prstGeom prst="roundRect">
            <a:avLst>
              <a:gd name="adj" fmla="val 6667"/>
            </a:avLst>
          </a:prstGeom>
          <a:solidFill>
            <a:srgbClr val="ECE6FA"/>
          </a:solidFill>
          <a:ln w="12700">
            <a:solidFill>
              <a:srgbClr val="6C4FBF"/>
            </a:solidFill>
            <a:prstDash val="solid"/>
          </a:ln>
        </p:spPr>
      </p:sp>
      <p:sp>
        <p:nvSpPr>
          <p:cNvPr id="12" name="Text 10"/>
          <p:cNvSpPr txBox="1"/>
          <p:nvPr/>
        </p:nvSpPr>
        <p:spPr>
          <a:xfrm>
            <a:off x="3456432" y="2587752"/>
            <a:ext cx="2231136"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C++: v09_contract.h</a:t>
            </a:r>
            <a:endParaRPr lang="en-US" sz="1050" dirty="0"/>
          </a:p>
        </p:txBody>
      </p:sp>
      <p:sp>
        <p:nvSpPr>
          <p:cNvPr id="13" name="Text 11"/>
          <p:cNvSpPr txBox="1"/>
          <p:nvPr/>
        </p:nvSpPr>
        <p:spPr>
          <a:xfrm>
            <a:off x="3456432" y="2787777"/>
            <a:ext cx="2231136" cy="51320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generate_contract.py → 같은 hash,</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kMaxVlen, X-macro op 목록</a:t>
            </a:r>
            <a:endParaRPr lang="en-US" sz="800" dirty="0"/>
          </a:p>
        </p:txBody>
      </p:sp>
      <p:sp>
        <p:nvSpPr>
          <p:cNvPr id="14" name="Shape 12"/>
          <p:cNvSpPr/>
          <p:nvPr/>
        </p:nvSpPr>
        <p:spPr>
          <a:xfrm>
            <a:off x="2834640" y="1874520"/>
            <a:ext cx="548640" cy="914"/>
          </a:xfrm>
          <a:prstGeom prst="line">
            <a:avLst/>
          </a:prstGeom>
          <a:noFill/>
          <a:ln w="19050">
            <a:solidFill>
              <a:srgbClr val="5B6B7F"/>
            </a:solidFill>
            <a:prstDash val="solid"/>
            <a:tailEnd type="triangle"/>
          </a:ln>
        </p:spPr>
      </p:sp>
      <p:sp>
        <p:nvSpPr>
          <p:cNvPr id="15" name="Shape 13"/>
          <p:cNvSpPr/>
          <p:nvPr/>
        </p:nvSpPr>
        <p:spPr>
          <a:xfrm>
            <a:off x="2834640" y="2057400"/>
            <a:ext cx="548640" cy="868680"/>
          </a:xfrm>
          <a:prstGeom prst="line">
            <a:avLst/>
          </a:prstGeom>
          <a:noFill/>
          <a:ln w="19050">
            <a:solidFill>
              <a:srgbClr val="5B6B7F"/>
            </a:solidFill>
            <a:prstDash val="solid"/>
            <a:tailEnd type="triangle"/>
          </a:ln>
        </p:spPr>
      </p:sp>
      <p:sp>
        <p:nvSpPr>
          <p:cNvPr id="16" name="Shape 14"/>
          <p:cNvSpPr/>
          <p:nvPr/>
        </p:nvSpPr>
        <p:spPr>
          <a:xfrm>
            <a:off x="6309360" y="1965960"/>
            <a:ext cx="2377440" cy="822960"/>
          </a:xfrm>
          <a:prstGeom prst="roundRect">
            <a:avLst>
              <a:gd name="adj" fmla="val 6667"/>
            </a:avLst>
          </a:prstGeom>
          <a:solidFill>
            <a:srgbClr val="DDF3F0"/>
          </a:solidFill>
          <a:ln w="12700">
            <a:solidFill>
              <a:srgbClr val="1F8A8A"/>
            </a:solidFill>
            <a:prstDash val="solid"/>
          </a:ln>
        </p:spPr>
      </p:sp>
      <p:sp>
        <p:nvSpPr>
          <p:cNvPr id="17" name="Text 15"/>
          <p:cNvSpPr txBox="1"/>
          <p:nvPr/>
        </p:nvSpPr>
        <p:spPr>
          <a:xfrm>
            <a:off x="6382512" y="2039112"/>
            <a:ext cx="2231136" cy="209550"/>
          </a:xfrm>
          <a:prstGeom prst="rect">
            <a:avLst/>
          </a:prstGeom>
          <a:noFill/>
          <a:ln/>
        </p:spPr>
        <p:txBody>
          <a:bodyPr wrap="square" lIns="0" tIns="0" rIns="0" bIns="0" rtlCol="0" anchor="ctr"/>
          <a:lstStyle/>
          <a:p>
            <a:pPr algn="ctr" indent="0" marL="0">
              <a:buNone/>
            </a:pPr>
            <a:r>
              <a:rPr lang="en-US" sz="1100" b="1" dirty="0">
                <a:solidFill>
                  <a:srgbClr val="1F2D3D"/>
                </a:solidFill>
                <a:latin typeface="Malgun Gothic" pitchFamily="34" charset="0"/>
                <a:ea typeface="Malgun Gothic" pitchFamily="34" charset="-122"/>
                <a:cs typeface="Malgun Gothic" pitchFamily="34" charset="-120"/>
              </a:rPr>
              <a:t>native.load()</a:t>
            </a:r>
            <a:endParaRPr lang="en-US" sz="1100" dirty="0"/>
          </a:p>
        </p:txBody>
      </p:sp>
      <p:sp>
        <p:nvSpPr>
          <p:cNvPr id="18" name="Text 16"/>
          <p:cNvSpPr txBox="1"/>
          <p:nvPr/>
        </p:nvSpPr>
        <p:spPr>
          <a:xfrm>
            <a:off x="6382512" y="2248662"/>
            <a:ext cx="2231136" cy="503682"/>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.so 없음 → Python</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hash 불일치 → RuntimeError("rebuild")</a:t>
            </a:r>
            <a:endParaRPr lang="en-US" sz="800" dirty="0"/>
          </a:p>
        </p:txBody>
      </p:sp>
      <p:sp>
        <p:nvSpPr>
          <p:cNvPr id="19" name="Shape 17"/>
          <p:cNvSpPr/>
          <p:nvPr/>
        </p:nvSpPr>
        <p:spPr>
          <a:xfrm>
            <a:off x="5760720" y="1874520"/>
            <a:ext cx="548640" cy="365760"/>
          </a:xfrm>
          <a:prstGeom prst="line">
            <a:avLst/>
          </a:prstGeom>
          <a:noFill/>
          <a:ln w="19050">
            <a:solidFill>
              <a:srgbClr val="5B6B7F"/>
            </a:solidFill>
            <a:prstDash val="solid"/>
            <a:tailEnd type="triangle"/>
          </a:ln>
        </p:spPr>
      </p:sp>
      <p:sp>
        <p:nvSpPr>
          <p:cNvPr id="20" name="Shape 18"/>
          <p:cNvSpPr/>
          <p:nvPr/>
        </p:nvSpPr>
        <p:spPr>
          <a:xfrm flipV="1">
            <a:off x="5760720" y="2514600"/>
            <a:ext cx="548640" cy="411480"/>
          </a:xfrm>
          <a:prstGeom prst="line">
            <a:avLst/>
          </a:prstGeom>
          <a:noFill/>
          <a:ln w="19050">
            <a:solidFill>
              <a:srgbClr val="5B6B7F"/>
            </a:solidFill>
            <a:prstDash val="solid"/>
            <a:tailEnd type="triangle"/>
          </a:ln>
        </p:spPr>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8961120" y="1463040"/>
          <a:ext cx="2770632" cy="914400"/>
        </p:xfrm>
        <a:graphic>
          <a:graphicData uri="http://schemas.openxmlformats.org/drawingml/2006/table">
            <a:tbl>
              <a:tblPr/>
              <a:tblGrid>
                <a:gridCol w="1005840"/>
                <a:gridCol w="1764792"/>
              </a:tblGrid>
              <a:tr h="310896">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status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처리</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ok</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native words 사용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unsupported</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Python fallback (native_fallbacks 기록)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invalid_schedule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LinkError, fallback 없음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그 외 오류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propagate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22" name="Text 19"/>
          <p:cNvSpPr txBox="1"/>
          <p:nvPr/>
        </p:nvSpPr>
        <p:spPr>
          <a:xfrm>
            <a:off x="457200" y="3520440"/>
            <a:ext cx="548640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모드와 검증</a:t>
            </a:r>
            <a:endParaRPr lang="en-US" sz="1050" dirty="0"/>
          </a:p>
        </p:txBody>
      </p:sp>
      <p:sp>
        <p:nvSpPr>
          <p:cNvPr id="23" name="Text 20"/>
          <p:cNvSpPr txBox="1"/>
          <p:nvPr/>
        </p:nvSpPr>
        <p:spPr>
          <a:xfrm>
            <a:off x="457200" y="3794760"/>
            <a:ext cx="5577840" cy="1463040"/>
          </a:xfrm>
          <a:prstGeom prst="rect">
            <a:avLst/>
          </a:prstGeom>
          <a:noFill/>
          <a:ln/>
        </p:spPr>
        <p:txBody>
          <a:bodyPr wrap="square" lIns="0" tIns="0" rIns="0" bIns="0" rtlCol="0" anchor="t"/>
          <a:lstStyle/>
          <a:p>
            <a:pPr algn="l" marL="152400" indent="-152400">
              <a:spcAft>
                <a:spcPts val="300"/>
              </a:spcAft>
              <a:buSzPct val="100000"/>
              <a:buChar char="•"/>
            </a:pPr>
            <a:r>
              <a:rPr lang="en-US" sz="900" b="1" dirty="0">
                <a:solidFill>
                  <a:srgbClr val="1F2D3D"/>
                </a:solidFill>
                <a:latin typeface="Malgun Gothic" pitchFamily="34" charset="0"/>
                <a:ea typeface="Malgun Gothic" pitchFamily="34" charset="-122"/>
                <a:cs typeface="Malgun Gothic" pitchFamily="34" charset="-120"/>
              </a:rPr>
              <a:t>use (기본): </a:t>
            </a:r>
            <a:pPr algn="l" indent="0" marL="0">
              <a:spcAft>
                <a:spcPts val="300"/>
              </a:spcAft>
              <a:buNone/>
            </a:pPr>
            <a:r>
              <a:rPr lang="en-US" sz="900" dirty="0">
                <a:solidFill>
                  <a:srgbClr val="1F2D3D"/>
                </a:solidFill>
                <a:latin typeface="Malgun Gothic" pitchFamily="34" charset="0"/>
                <a:ea typeface="Malgun Gothic" pitchFamily="34" charset="-122"/>
                <a:cs typeface="Malgun Gothic" pitchFamily="34" charset="-120"/>
              </a:rPr>
              <a:t>native 사용. NPU_NATIVE=0으로 끔, NPU_CODEGEN_SO로 경로 지정</a:t>
            </a:r>
            <a:endParaRPr lang="en-US" sz="900" dirty="0"/>
          </a:p>
          <a:p>
            <a:pPr algn="l" marL="152400" indent="-152400">
              <a:spcAft>
                <a:spcPts val="300"/>
              </a:spcAft>
              <a:buSzPct val="100000"/>
              <a:buChar char="•"/>
            </a:pPr>
            <a:r>
              <a:rPr lang="en-US" sz="900" b="1" dirty="0">
                <a:solidFill>
                  <a:srgbClr val="1F2D3D"/>
                </a:solidFill>
                <a:latin typeface="Malgun Gothic" pitchFamily="34" charset="0"/>
                <a:ea typeface="Malgun Gothic" pitchFamily="34" charset="-122"/>
                <a:cs typeface="Malgun Gothic" pitchFamily="34" charset="-120"/>
              </a:rPr>
              <a:t>compare: </a:t>
            </a:r>
            <a:pPr algn="l" indent="0" marL="0">
              <a:spcAft>
                <a:spcPts val="300"/>
              </a:spcAft>
              <a:buNone/>
            </a:pPr>
            <a:r>
              <a:rPr lang="en-US" sz="900" dirty="0">
                <a:solidFill>
                  <a:srgbClr val="1F2D3D"/>
                </a:solidFill>
                <a:latin typeface="Malgun Gothic" pitchFamily="34" charset="0"/>
                <a:ea typeface="Malgun Gothic" pitchFamily="34" charset="-122"/>
                <a:cs typeface="Malgun Gothic" pitchFamily="34" charset="-120"/>
              </a:rPr>
              <a:t>둘 다 실행해 첫 번째 다른 word를 보고 (_compare_native)</a:t>
            </a:r>
            <a:endParaRPr lang="en-US" sz="900" dirty="0"/>
          </a:p>
          <a:p>
            <a:pPr algn="l" marL="152400" indent="-152400">
              <a:spcAft>
                <a:spcPts val="300"/>
              </a:spcAft>
              <a:buSzPct val="100000"/>
              <a:buChar char="•"/>
            </a:pPr>
            <a:r>
              <a:rPr lang="en-US" sz="900" b="1" dirty="0">
                <a:solidFill>
                  <a:srgbClr val="1F2D3D"/>
                </a:solidFill>
                <a:latin typeface="Malgun Gothic" pitchFamily="34" charset="0"/>
                <a:ea typeface="Malgun Gothic" pitchFamily="34" charset="-122"/>
                <a:cs typeface="Malgun Gothic" pitchFamily="34" charset="-120"/>
              </a:rPr>
              <a:t>build_identity: </a:t>
            </a:r>
            <a:pPr algn="l" indent="0" marL="0">
              <a:spcAft>
                <a:spcPts val="300"/>
              </a:spcAft>
              <a:buNone/>
            </a:pPr>
            <a:r>
              <a:rPr lang="en-US" sz="900" dirty="0">
                <a:solidFill>
                  <a:srgbClr val="1F2D3D"/>
                </a:solidFill>
                <a:latin typeface="Malgun Gothic" pitchFamily="34" charset="0"/>
                <a:ea typeface="Malgun Gothic" pitchFamily="34" charset="-122"/>
                <a:cs typeface="Malgun Gothic" pitchFamily="34" charset="-120"/>
              </a:rPr>
              <a:t>npu_codegen/*.cc,*.h 정렬 hash → npu.codegen_source_hash로 export, provenance에 기록</a:t>
            </a:r>
            <a:endParaRPr lang="en-US" sz="900" dirty="0"/>
          </a:p>
          <a:p>
            <a:pPr algn="l" marL="152400" indent="-152400">
              <a:spcAft>
                <a:spcPts val="300"/>
              </a:spcAft>
              <a:buSzPct val="100000"/>
              <a:buChar char="•"/>
            </a:pPr>
            <a:r>
              <a:rPr lang="en-US" sz="900" b="1" dirty="0">
                <a:solidFill>
                  <a:srgbClr val="1F2D3D"/>
                </a:solidFill>
                <a:latin typeface="Malgun Gothic" pitchFamily="34" charset="0"/>
                <a:ea typeface="Malgun Gothic" pitchFamily="34" charset="-122"/>
                <a:cs typeface="Malgun Gothic" pitchFamily="34" charset="-120"/>
              </a:rPr>
              <a:t>gate: </a:t>
            </a:r>
            <a:pPr algn="l" indent="0" marL="0">
              <a:spcAft>
                <a:spcPts val="300"/>
              </a:spcAft>
              <a:buNone/>
            </a:pPr>
            <a:r>
              <a:rPr lang="en-US" sz="900" dirty="0">
                <a:solidFill>
                  <a:srgbClr val="1F2D3D"/>
                </a:solidFill>
                <a:latin typeface="Malgun Gothic" pitchFamily="34" charset="0"/>
                <a:ea typeface="Malgun Gothic" pitchFamily="34" charset="-122"/>
                <a:cs typeface="Malgun Gothic" pitchFamily="34" charset="-120"/>
              </a:rPr>
              <a:t>EncodeSelfTest 인코더 자체 검사, family별 compare, 전체 프로그램 end-to-end 비교</a:t>
            </a:r>
            <a:endParaRPr lang="en-US" sz="900" dirty="0"/>
          </a:p>
        </p:txBody>
      </p:sp>
      <p:sp>
        <p:nvSpPr>
          <p:cNvPr id="24" name="Text 21"/>
          <p:cNvSpPr txBox="1"/>
          <p:nvPr/>
        </p:nvSpPr>
        <p:spPr>
          <a:xfrm>
            <a:off x="6309360" y="3520440"/>
            <a:ext cx="548640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v09_stats.analyze / cost</a:t>
            </a:r>
            <a:endParaRPr lang="en-US" sz="1050" dirty="0"/>
          </a:p>
        </p:txBody>
      </p:sp>
      <p:graphicFrame>
        <p:nvGraphicFramePr>
          <p:cNvPr id="123" name="Table 1"/>
          <p:cNvGraphicFramePr>
            <a:graphicFrameLocks noGrp="1"/>
          </p:cNvGraphicFramePr>
          <p:nvPr>
            <p:extLst>
              <p:ext uri="{D42A27DB-BD31-4B8C-83A1-F6EECF244321}">
                <p14:modId xmlns:p14="http://schemas.microsoft.com/office/powerpoint/2010/main" val="1579011935"/>
              </p:ext>
            </p:extLst>
          </p:nvPr>
        </p:nvGraphicFramePr>
        <p:xfrm>
          <a:off x="6309360" y="3794760"/>
          <a:ext cx="5422392" cy="914400"/>
        </p:xfrm>
        <a:graphic>
          <a:graphicData uri="http://schemas.openxmlformats.org/drawingml/2006/table">
            <a:tbl>
              <a:tblPr/>
              <a:tblGrid>
                <a:gridCol w="1554480"/>
                <a:gridCol w="3867912"/>
              </a:tblGrid>
              <a:tr h="27432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지표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정의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words / instructions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32-bit word 수 / packet 수 (DMA = 4 words = 1 instruction)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opcodes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각 packet 첫 word의 하위 byte histogram</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dma_load/store_bytes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Σ rows × cols × 4 (이동 bytes, strided span 아님)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sram_peak_bytes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max(커널 top) ÷ 2 (pool + scratch + buffers)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global_image_bytes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plan.top × unit_bytes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cost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(dma_bytes, words, sram_peak_bytes) 사전식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26" name="Shape 22"/>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27" name="Text 23"/>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Native/Python 일치는 두 구현이 같은 계약을 따른다는 근거입니다. 둘이 공유한 모델 수식의 오류는 HF/NumPy 또는 LLVM 기준으로 따로 확인합니다.</a:t>
            </a:r>
            <a:endParaRPr lang="en-US" sz="1250" dirty="0"/>
          </a:p>
        </p:txBody>
      </p:sp>
      <p:sp>
        <p:nvSpPr>
          <p:cNvPr id="28" name="Text 24"/>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29" name="Text 25"/>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npu_compiler/v09_contract.json, native.py, npu_codegen/build_identity.py, v09_stats.py, tests/test_native_codegen.py</a:t>
            </a:r>
            <a:endParaRPr lang="en-US" sz="850" dirty="0"/>
          </a:p>
        </p:txBody>
      </p:sp>
      <p:sp>
        <p:nvSpPr>
          <p:cNvPr id="30" name="Text 26"/>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61 / 89</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결과물: NpuExecutable과 export_bundle</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Binary만으로는 inference 결과를 얻을 수 없습니다. 같은 plan에 맞는 입력과 weight image, 그리고 출력 tree의 shape/dtype/offset이 필요합니다.</a:t>
            </a:r>
            <a:endParaRPr lang="en-US" sz="125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6766560" cy="914400"/>
        </p:xfrm>
        <a:graphic>
          <a:graphicData uri="http://schemas.openxmlformats.org/drawingml/2006/table">
            <a:tbl>
              <a:tblPr/>
              <a:tblGrid>
                <a:gridCol w="1554480"/>
                <a:gridCol w="3566160"/>
                <a:gridCol w="1645920"/>
              </a:tblGrid>
              <a:tr h="457200">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파일</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담긴 내용</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담기지 않은 것</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program_memory.bin</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little-endian uint32 명령 stream (HALT로 끝)</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weight 값 전체</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program.json</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statistics, memory(addresses/sizes), schedules, sram_layouts, joint_memory, kernel_records, dram_compaction, fusion, residency, outputs, cache_append, provenance, compilation</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실장치 측정 cycle (hardware_measurement = null)</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lowered.py</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선택된 semantic IRModule (TVM Script)</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최종 주소를 포함한 runtime 상태</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scheduled_NNNN.py</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joint-memory에서 실제 선택된 호출별 TIR</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원래 모델 설명 전체</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global_memory.bin</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values를 지정한 경우 초기 DRAM image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지속적인 SRAM 상태</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 name="Shape 3"/>
          <p:cNvSpPr/>
          <p:nvPr/>
        </p:nvSpPr>
        <p:spPr>
          <a:xfrm>
            <a:off x="7452360" y="1417320"/>
            <a:ext cx="4279392" cy="2377440"/>
          </a:xfrm>
          <a:prstGeom prst="roundRect">
            <a:avLst>
              <a:gd name="adj" fmla="val 1923"/>
            </a:avLst>
          </a:prstGeom>
          <a:solidFill>
            <a:srgbClr val="F5F7FA"/>
          </a:solidFill>
          <a:ln w="9525">
            <a:solidFill>
              <a:srgbClr val="C9D3DF"/>
            </a:solidFill>
            <a:prstDash val="solid"/>
          </a:ln>
        </p:spPr>
      </p:sp>
      <p:sp>
        <p:nvSpPr>
          <p:cNvPr id="7" name="Text 4"/>
          <p:cNvSpPr txBox="1"/>
          <p:nvPr/>
        </p:nvSpPr>
        <p:spPr>
          <a:xfrm>
            <a:off x="7562088" y="1490472"/>
            <a:ext cx="4059936" cy="2231136"/>
          </a:xfrm>
          <a:prstGeom prst="rect">
            <a:avLst/>
          </a:prstGeom>
          <a:noFill/>
          <a:ln/>
        </p:spPr>
        <p:txBody>
          <a:bodyPr wrap="square" lIns="0" tIns="0" rIns="0" bIns="0" rtlCol="0" anchor="t"/>
          <a:lstStyle/>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class NpuExecutable: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words, plan, func, kernel_count, target, module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param_names   # 최종 signature 순서</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image_bytes = plan.top * plan.unit_bytes</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build_image(values) → npu_link.build_image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run(values) → (output, counters)   # C-model</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save(path)  # little-endian &lt;u4</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export_bundle(dir, values=None)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provenance: python/numpy/torch/transformers,</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tvm 0.19.0 commit, llvm 18.1.8, compiler_head,</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compiler_source_sha256, native .so sha256,</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cmodel_source_sha256, contract_sha256</a:t>
            </a:r>
            <a:endParaRPr lang="en-US" sz="800" dirty="0"/>
          </a:p>
        </p:txBody>
      </p:sp>
      <p:sp>
        <p:nvSpPr>
          <p:cNvPr id="8" name="Text 5"/>
          <p:cNvSpPr txBox="1"/>
          <p:nvPr/>
        </p:nvSpPr>
        <p:spPr>
          <a:xfrm>
            <a:off x="7452360" y="3931920"/>
            <a:ext cx="4279392"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작은 예제 bundle/program.json 발췌</a:t>
            </a:r>
            <a:endParaRPr lang="en-US" sz="1050" dirty="0"/>
          </a:p>
        </p:txBody>
      </p:sp>
      <p:sp>
        <p:nvSpPr>
          <p:cNvPr id="9" name="Shape 6"/>
          <p:cNvSpPr/>
          <p:nvPr/>
        </p:nvSpPr>
        <p:spPr>
          <a:xfrm>
            <a:off x="7452360" y="4206240"/>
            <a:ext cx="4279392" cy="1600200"/>
          </a:xfrm>
          <a:prstGeom prst="roundRect">
            <a:avLst>
              <a:gd name="adj" fmla="val 2857"/>
            </a:avLst>
          </a:prstGeom>
          <a:solidFill>
            <a:srgbClr val="F5F7FA"/>
          </a:solidFill>
          <a:ln w="9525">
            <a:solidFill>
              <a:srgbClr val="C9D3DF"/>
            </a:solidFill>
            <a:prstDash val="solid"/>
          </a:ln>
        </p:spPr>
      </p:sp>
      <p:sp>
        <p:nvSpPr>
          <p:cNvPr id="10" name="Text 7"/>
          <p:cNvSpPr txBox="1"/>
          <p:nvPr/>
        </p:nvSpPr>
        <p:spPr>
          <a:xfrm>
            <a:off x="7562088" y="4279392"/>
            <a:ext cx="4059936" cy="1453896"/>
          </a:xfrm>
          <a:prstGeom prst="rect">
            <a:avLst/>
          </a:prstGeom>
          <a:noFill/>
          <a:ln/>
        </p:spPr>
        <p:txBody>
          <a:bodyPr wrap="square" lIns="0" tIns="0" rIns="0" bIns="0" rtlCol="0" anchor="t"/>
          <a:lstStyle/>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"statistics": {"words": 1577, "instructions": 1562,</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"dma_packets": 5, "dma_bytes": 41100,</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"sram_peak_bytes": 42508, "global_image_bytes": 41100}</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"outputs": {"name": "gv", "shape": [64, 64],</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"dtype": "float16", "offset_bytes": 32896}</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"kernel_records": [{"name": "fused_matmul_add_silu",</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"backend": "native", "sram_peak_nibbles": 85016,</a:t>
            </a:r>
            <a:endParaRPr lang="en-US" sz="780" dirty="0"/>
          </a:p>
          <a:p>
            <a:pPr algn="l" indent="0" marL="0">
              <a:lnSpc>
                <a:spcPct val="105000"/>
              </a:lnSpc>
              <a:buNone/>
            </a:pPr>
            <a:r>
              <a:rPr lang="en-US" sz="780" dirty="0">
                <a:solidFill>
                  <a:srgbClr val="1F2D3D"/>
                </a:solidFill>
                <a:latin typeface="Courier New" pitchFamily="34" charset="0"/>
                <a:ea typeface="Courier New" pitchFamily="34" charset="-122"/>
                <a:cs typeface="Courier New" pitchFamily="34" charset="-120"/>
              </a:rPr>
              <a:t>   "arguments": [{"address_bytes": 0, "size_bytes": 16384}, …]}]</a:t>
            </a:r>
            <a:endParaRPr lang="en-US" sz="780" dirty="0"/>
          </a:p>
        </p:txBody>
      </p:sp>
      <p:sp>
        <p:nvSpPr>
          <p:cNvPr id="11" name="Shape 8"/>
          <p:cNvSpPr/>
          <p:nvPr/>
        </p:nvSpPr>
        <p:spPr>
          <a:xfrm>
            <a:off x="457200" y="4343400"/>
            <a:ext cx="6766560" cy="1463040"/>
          </a:xfrm>
          <a:prstGeom prst="roundRect">
            <a:avLst>
              <a:gd name="adj" fmla="val 3750"/>
            </a:avLst>
          </a:prstGeom>
          <a:solidFill>
            <a:srgbClr val="EEF2F6"/>
          </a:solidFill>
          <a:ln w="12700">
            <a:solidFill>
              <a:srgbClr val="C9D3DF"/>
            </a:solidFill>
            <a:prstDash val="solid"/>
          </a:ln>
        </p:spPr>
      </p:sp>
      <p:sp>
        <p:nvSpPr>
          <p:cNvPr id="12" name="Text 9"/>
          <p:cNvSpPr txBox="1"/>
          <p:nvPr/>
        </p:nvSpPr>
        <p:spPr>
          <a:xfrm>
            <a:off x="585216" y="4398264"/>
            <a:ext cx="6510528" cy="135331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Runtime이 필요로 하는 것: </a:t>
            </a:r>
            <a:pPr algn="l" indent="0" marL="0">
              <a:buNone/>
            </a:pPr>
            <a:r>
              <a:rPr lang="en-US" sz="1000" dirty="0">
                <a:solidFill>
                  <a:srgbClr val="1F2D3D"/>
                </a:solidFill>
                <a:latin typeface="Malgun Gothic" pitchFamily="34" charset="0"/>
                <a:ea typeface="Malgun Gothic" pitchFamily="34" charset="-122"/>
                <a:cs typeface="Malgun Gothic" pitchFamily="34" charset="-120"/>
              </a:rPr>
              <a:t>program words + plan.address(입력·parameter 위치) + plan.outputs(leaf별 shape/dtype/offset) + cache_append(있으면). C-model은 program_memory.bin과 global_memory.bin을 읽고 saved_global_memory.bin(HALT 시 1개, SNAPSHOT마다 추가)과 perf_counters.txt를 씁니다.</a:t>
            </a:r>
            <a:endParaRPr lang="en-US" sz="1200" dirty="0"/>
          </a:p>
          <a:p>
            <a:pPr algn="l" indent="0" marL="0">
              <a:buNone/>
            </a:pPr>
            <a:r>
              <a:rPr lang="en-US" sz="400" dirty="0">
                <a:solidFill>
                  <a:srgbClr val="1F2D3D"/>
                </a:solidFill>
                <a:latin typeface="Malgun Gothic" pitchFamily="34" charset="0"/>
                <a:ea typeface="Malgun Gothic" pitchFamily="34" charset="-122"/>
                <a:cs typeface="Malgun Gothic" pitchFamily="34" charset="-120"/>
              </a:rPr>
              <a:t> </a:t>
            </a:r>
            <a:endParaRPr lang="en-US" sz="1200" dirty="0"/>
          </a:p>
          <a:p>
            <a:pPr algn="l" indent="0" marL="0">
              <a:buNone/>
            </a:pPr>
            <a:r>
              <a:rPr lang="en-US" sz="1200" b="1" dirty="0">
                <a:solidFill>
                  <a:srgbClr val="1F2D3D"/>
                </a:solidFill>
                <a:latin typeface="Malgun Gothic" pitchFamily="34" charset="0"/>
                <a:ea typeface="Malgun Gothic" pitchFamily="34" charset="-122"/>
                <a:cs typeface="Malgun Gothic" pitchFamily="34" charset="-120"/>
              </a:rPr>
              <a:t>C-model counters: </a:t>
            </a:r>
            <a:pPr algn="l" indent="0" marL="0">
              <a:buNone/>
            </a:pPr>
            <a:r>
              <a:rPr lang="en-US" sz="1000" dirty="0">
                <a:solidFill>
                  <a:srgbClr val="1F2D3D"/>
                </a:solidFill>
                <a:latin typeface="Malgun Gothic" pitchFamily="34" charset="0"/>
                <a:ea typeface="Malgun Gothic" pitchFamily="34" charset="-122"/>
                <a:cs typeface="Malgun Gothic" pitchFamily="34" charset="-120"/>
              </a:rPr>
              <a:t>words_executed, gload/gstore, dma_cells_loaded/stored, loads/saves, vector_ops, matrix_ops, vquant/vdequant → v09_stats.check_counters가 정적 해독과 대조</a:t>
            </a:r>
            <a:endParaRPr lang="en-US" sz="1200" dirty="0"/>
          </a:p>
        </p:txBody>
      </p:sp>
      <p:sp>
        <p:nvSpPr>
          <p:cNvPr id="13" name="Shape 10"/>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4" name="Text 11"/>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작은 pipeline bundle은 입력 image까지 보존합니다. 전체 모델은 수 GB image 대신 측정값과 hash를 evidence로 남겼습니다.</a:t>
            </a:r>
            <a:endParaRPr lang="en-US" sz="1250" dirty="0"/>
          </a:p>
        </p:txBody>
      </p:sp>
      <p:sp>
        <p:nvSpPr>
          <p:cNvPr id="15" name="Text 12"/>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6" name="Text 13"/>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npu_compiler/npu_target.py NpuExecutable, docs/current/09_isa.md, docs/examples/pipeline/bundle/</a:t>
            </a:r>
            <a:endParaRPr lang="en-US" sz="850" dirty="0"/>
          </a:p>
        </p:txBody>
      </p:sp>
      <p:sp>
        <p:nvSpPr>
          <p:cNvPr id="17" name="Text 14"/>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62 / 89</a:t>
            </a:r>
            <a:endParaRPr lang="en-US" sz="8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100" b="1" dirty="0">
                <a:solidFill>
                  <a:srgbClr val="15243B"/>
                </a:solidFill>
                <a:latin typeface="Malgun Gothic" pitchFamily="34" charset="0"/>
                <a:ea typeface="Malgun Gothic" pitchFamily="34" charset="-122"/>
                <a:cs typeface="Malgun Gothic" pitchFamily="34" charset="-120"/>
              </a:rPr>
              <a:t>Runtime 전체 흐름: generate()는 프로그램 2개를 한 번 링크하고 입력만 바꿔 반복한다</a:t>
            </a:r>
            <a:endParaRPr lang="en-US" sz="21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배포된 모델 = prompt 길이 S의 prefill_cache 1개 + 고정 capacity C의 decode 1개. 장치에 동적 shape가 없으므로 decode는 항상 C+1 슬롯을 attention하고 mask가 현재 길이를 전달합니다.</a:t>
            </a:r>
            <a:endParaRPr lang="en-US" sz="1250" dirty="0"/>
          </a:p>
        </p:txBody>
      </p:sp>
      <p:sp>
        <p:nvSpPr>
          <p:cNvPr id="5" name="Shape 3"/>
          <p:cNvSpPr/>
          <p:nvPr/>
        </p:nvSpPr>
        <p:spPr>
          <a:xfrm>
            <a:off x="457200" y="1463040"/>
            <a:ext cx="2108606" cy="868680"/>
          </a:xfrm>
          <a:prstGeom prst="roundRect">
            <a:avLst>
              <a:gd name="adj" fmla="val 6316"/>
            </a:avLst>
          </a:prstGeom>
          <a:solidFill>
            <a:srgbClr val="E3EEFB"/>
          </a:solidFill>
          <a:ln w="12700">
            <a:solidFill>
              <a:srgbClr val="2F6DB5"/>
            </a:solidFill>
            <a:prstDash val="solid"/>
          </a:ln>
        </p:spPr>
      </p:sp>
      <p:sp>
        <p:nvSpPr>
          <p:cNvPr id="6" name="Text 4"/>
          <p:cNvSpPr txBox="1"/>
          <p:nvPr/>
        </p:nvSpPr>
        <p:spPr>
          <a:xfrm>
            <a:off x="530352" y="1536192"/>
            <a:ext cx="1962302"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build_generate</a:t>
            </a:r>
            <a:endParaRPr lang="en-US" sz="1050" dirty="0"/>
          </a:p>
        </p:txBody>
      </p:sp>
      <p:sp>
        <p:nvSpPr>
          <p:cNvPr id="7" name="Text 5"/>
          <p:cNvSpPr txBox="1"/>
          <p:nvPr/>
        </p:nvSpPr>
        <p:spPr>
          <a:xfrm>
            <a:off x="530352" y="1736217"/>
            <a:ext cx="1962302" cy="5589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prefill / prefill_cache / decode</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export + npu.cache_append 선언</a:t>
            </a:r>
            <a:endParaRPr lang="en-US" sz="800" dirty="0"/>
          </a:p>
        </p:txBody>
      </p:sp>
      <p:sp>
        <p:nvSpPr>
          <p:cNvPr id="8" name="Shape 6"/>
          <p:cNvSpPr/>
          <p:nvPr/>
        </p:nvSpPr>
        <p:spPr>
          <a:xfrm>
            <a:off x="2584094" y="1892808"/>
            <a:ext cx="146304" cy="914"/>
          </a:xfrm>
          <a:prstGeom prst="line">
            <a:avLst/>
          </a:prstGeom>
          <a:noFill/>
          <a:ln w="15240">
            <a:solidFill>
              <a:srgbClr val="5B6B7F"/>
            </a:solidFill>
            <a:prstDash val="solid"/>
            <a:tailEnd type="triangle"/>
          </a:ln>
        </p:spPr>
      </p:sp>
      <p:sp>
        <p:nvSpPr>
          <p:cNvPr id="9" name="Shape 7"/>
          <p:cNvSpPr/>
          <p:nvPr/>
        </p:nvSpPr>
        <p:spPr>
          <a:xfrm>
            <a:off x="2748686" y="1463040"/>
            <a:ext cx="2108606" cy="868680"/>
          </a:xfrm>
          <a:prstGeom prst="roundRect">
            <a:avLst>
              <a:gd name="adj" fmla="val 6316"/>
            </a:avLst>
          </a:prstGeom>
          <a:solidFill>
            <a:srgbClr val="DDF3F0"/>
          </a:solidFill>
          <a:ln w="12700">
            <a:solidFill>
              <a:srgbClr val="1F8A8A"/>
            </a:solidFill>
            <a:prstDash val="solid"/>
          </a:ln>
        </p:spPr>
      </p:sp>
      <p:sp>
        <p:nvSpPr>
          <p:cNvPr id="10" name="Text 8"/>
          <p:cNvSpPr txBox="1"/>
          <p:nvPr/>
        </p:nvSpPr>
        <p:spPr>
          <a:xfrm>
            <a:off x="2821838" y="1536192"/>
            <a:ext cx="1962302"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lower_and_select</a:t>
            </a:r>
            <a:endParaRPr lang="en-US" sz="1050" dirty="0"/>
          </a:p>
        </p:txBody>
      </p:sp>
      <p:sp>
        <p:nvSpPr>
          <p:cNvPr id="11" name="Text 9"/>
          <p:cNvSpPr txBox="1"/>
          <p:nvPr/>
        </p:nvSpPr>
        <p:spPr>
          <a:xfrm>
            <a:off x="2821838" y="1736217"/>
            <a:ext cx="1962302" cy="5589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entries = (prefill_cache, decode)</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후보 비교 → 프로그램 2개</a:t>
            </a:r>
            <a:endParaRPr lang="en-US" sz="800" dirty="0"/>
          </a:p>
        </p:txBody>
      </p:sp>
      <p:sp>
        <p:nvSpPr>
          <p:cNvPr id="12" name="Shape 10"/>
          <p:cNvSpPr/>
          <p:nvPr/>
        </p:nvSpPr>
        <p:spPr>
          <a:xfrm>
            <a:off x="4875581" y="1892808"/>
            <a:ext cx="146304" cy="914"/>
          </a:xfrm>
          <a:prstGeom prst="line">
            <a:avLst/>
          </a:prstGeom>
          <a:noFill/>
          <a:ln w="15240">
            <a:solidFill>
              <a:srgbClr val="5B6B7F"/>
            </a:solidFill>
            <a:prstDash val="solid"/>
            <a:tailEnd type="triangle"/>
          </a:ln>
        </p:spPr>
      </p:sp>
      <p:sp>
        <p:nvSpPr>
          <p:cNvPr id="13" name="Shape 11"/>
          <p:cNvSpPr/>
          <p:nvPr/>
        </p:nvSpPr>
        <p:spPr>
          <a:xfrm>
            <a:off x="5040173" y="1463040"/>
            <a:ext cx="2108606" cy="868680"/>
          </a:xfrm>
          <a:prstGeom prst="roundRect">
            <a:avLst>
              <a:gd name="adj" fmla="val 6316"/>
            </a:avLst>
          </a:prstGeom>
          <a:solidFill>
            <a:srgbClr val="FFF1DC"/>
          </a:solidFill>
          <a:ln w="12700">
            <a:solidFill>
              <a:srgbClr val="D98A1E"/>
            </a:solidFill>
            <a:prstDash val="solid"/>
          </a:ln>
        </p:spPr>
      </p:sp>
      <p:sp>
        <p:nvSpPr>
          <p:cNvPr id="14" name="Text 12"/>
          <p:cNvSpPr txBox="1"/>
          <p:nvPr/>
        </p:nvSpPr>
        <p:spPr>
          <a:xfrm>
            <a:off x="5113325" y="1536192"/>
            <a:ext cx="1962302"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load_params (1회)</a:t>
            </a:r>
            <a:endParaRPr lang="en-US" sz="1050" dirty="0"/>
          </a:p>
        </p:txBody>
      </p:sp>
      <p:sp>
        <p:nvSpPr>
          <p:cNvPr id="15" name="Text 13"/>
          <p:cNvSpPr txBox="1"/>
          <p:nvPr/>
        </p:nvSpPr>
        <p:spPr>
          <a:xfrm>
            <a:off x="5113325" y="1736217"/>
            <a:ext cx="1962302" cy="5589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checkpoint → FP16 배열</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host transform + params-cache</a:t>
            </a:r>
            <a:endParaRPr lang="en-US" sz="800" dirty="0"/>
          </a:p>
        </p:txBody>
      </p:sp>
      <p:sp>
        <p:nvSpPr>
          <p:cNvPr id="16" name="Shape 14"/>
          <p:cNvSpPr/>
          <p:nvPr/>
        </p:nvSpPr>
        <p:spPr>
          <a:xfrm>
            <a:off x="7167067" y="1892808"/>
            <a:ext cx="146304" cy="914"/>
          </a:xfrm>
          <a:prstGeom prst="line">
            <a:avLst/>
          </a:prstGeom>
          <a:noFill/>
          <a:ln w="15240">
            <a:solidFill>
              <a:srgbClr val="5B6B7F"/>
            </a:solidFill>
            <a:prstDash val="solid"/>
            <a:tailEnd type="triangle"/>
          </a:ln>
        </p:spPr>
      </p:sp>
      <p:sp>
        <p:nvSpPr>
          <p:cNvPr id="17" name="Shape 15"/>
          <p:cNvSpPr/>
          <p:nvPr/>
        </p:nvSpPr>
        <p:spPr>
          <a:xfrm>
            <a:off x="7331659" y="1463040"/>
            <a:ext cx="2108606" cy="868680"/>
          </a:xfrm>
          <a:prstGeom prst="roundRect">
            <a:avLst>
              <a:gd name="adj" fmla="val 6316"/>
            </a:avLst>
          </a:prstGeom>
          <a:solidFill>
            <a:srgbClr val="ECE6FA"/>
          </a:solidFill>
          <a:ln w="12700">
            <a:solidFill>
              <a:srgbClr val="6C4FBF"/>
            </a:solidFill>
            <a:prstDash val="solid"/>
          </a:ln>
        </p:spPr>
      </p:sp>
      <p:sp>
        <p:nvSpPr>
          <p:cNvPr id="18" name="Text 16"/>
          <p:cNvSpPr txBox="1"/>
          <p:nvPr/>
        </p:nvSpPr>
        <p:spPr>
          <a:xfrm>
            <a:off x="7404811" y="1536192"/>
            <a:ext cx="1962302"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prefill 실행</a:t>
            </a:r>
            <a:endParaRPr lang="en-US" sz="1050" dirty="0"/>
          </a:p>
        </p:txBody>
      </p:sp>
      <p:sp>
        <p:nvSpPr>
          <p:cNvPr id="19" name="Text 17"/>
          <p:cNvSpPr txBox="1"/>
          <p:nvPr/>
        </p:nvSpPr>
        <p:spPr>
          <a:xfrm>
            <a:off x="7404811" y="1736217"/>
            <a:ext cx="1962302" cy="5589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run_tuple_program</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 logits, K_rows, V_rows</a:t>
            </a:r>
            <a:endParaRPr lang="en-US" sz="800" dirty="0"/>
          </a:p>
        </p:txBody>
      </p:sp>
      <p:sp>
        <p:nvSpPr>
          <p:cNvPr id="20" name="Shape 18"/>
          <p:cNvSpPr/>
          <p:nvPr/>
        </p:nvSpPr>
        <p:spPr>
          <a:xfrm>
            <a:off x="9458554" y="1892808"/>
            <a:ext cx="146304" cy="914"/>
          </a:xfrm>
          <a:prstGeom prst="line">
            <a:avLst/>
          </a:prstGeom>
          <a:noFill/>
          <a:ln w="15240">
            <a:solidFill>
              <a:srgbClr val="5B6B7F"/>
            </a:solidFill>
            <a:prstDash val="solid"/>
            <a:tailEnd type="triangle"/>
          </a:ln>
        </p:spPr>
      </p:sp>
      <p:sp>
        <p:nvSpPr>
          <p:cNvPr id="21" name="Shape 19"/>
          <p:cNvSpPr/>
          <p:nvPr/>
        </p:nvSpPr>
        <p:spPr>
          <a:xfrm>
            <a:off x="9623146" y="1463040"/>
            <a:ext cx="2108606" cy="868680"/>
          </a:xfrm>
          <a:prstGeom prst="roundRect">
            <a:avLst>
              <a:gd name="adj" fmla="val 6316"/>
            </a:avLst>
          </a:prstGeom>
          <a:solidFill>
            <a:srgbClr val="ECE6FA"/>
          </a:solidFill>
          <a:ln w="12700">
            <a:solidFill>
              <a:srgbClr val="6C4FBF"/>
            </a:solidFill>
            <a:prstDash val="solid"/>
          </a:ln>
        </p:spPr>
      </p:sp>
      <p:sp>
        <p:nvSpPr>
          <p:cNvPr id="22" name="Text 20"/>
          <p:cNvSpPr txBox="1"/>
          <p:nvPr/>
        </p:nvSpPr>
        <p:spPr>
          <a:xfrm>
            <a:off x="9696298" y="1536192"/>
            <a:ext cx="1962302" cy="200025"/>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decode loop</a:t>
            </a:r>
            <a:endParaRPr lang="en-US" sz="1050" dirty="0"/>
          </a:p>
        </p:txBody>
      </p:sp>
      <p:sp>
        <p:nvSpPr>
          <p:cNvPr id="23" name="Text 21"/>
          <p:cNvSpPr txBox="1"/>
          <p:nvPr/>
        </p:nvSpPr>
        <p:spPr>
          <a:xfrm>
            <a:off x="9696298" y="1736217"/>
            <a:ext cx="1962302" cy="558927"/>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DecodeSession.run(step 입력)</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 logits, K_new, V_new</a:t>
            </a:r>
            <a:endParaRPr lang="en-US" sz="800" dirty="0"/>
          </a:p>
        </p:txBody>
      </p:sp>
      <p:sp>
        <p:nvSpPr>
          <p:cNvPr id="24" name="Shape 22"/>
          <p:cNvSpPr/>
          <p:nvPr/>
        </p:nvSpPr>
        <p:spPr>
          <a:xfrm>
            <a:off x="457200" y="2606040"/>
            <a:ext cx="6949440" cy="3200400"/>
          </a:xfrm>
          <a:prstGeom prst="roundRect">
            <a:avLst>
              <a:gd name="adj" fmla="val 1429"/>
            </a:avLst>
          </a:prstGeom>
          <a:solidFill>
            <a:srgbClr val="F5F7FA"/>
          </a:solidFill>
          <a:ln w="9525">
            <a:solidFill>
              <a:srgbClr val="C9D3DF"/>
            </a:solidFill>
            <a:prstDash val="solid"/>
          </a:ln>
        </p:spPr>
      </p:sp>
      <p:sp>
        <p:nvSpPr>
          <p:cNvPr id="25" name="Text 23"/>
          <p:cNvSpPr txBox="1"/>
          <p:nvPr/>
        </p:nvSpPr>
        <p:spPr>
          <a:xfrm>
            <a:off x="566928" y="2679192"/>
            <a:ext cx="6729984" cy="3054096"/>
          </a:xfrm>
          <a:prstGeom prst="rect">
            <a:avLst/>
          </a:prstGeom>
          <a:noFill/>
          <a:ln/>
        </p:spPr>
        <p:txBody>
          <a:bodyPr wrap="square" lIns="0" tIns="0" rIns="0" bIns="0" rtlCol="0" anchor="t"/>
          <a:lstStyle/>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def generate(family, config, assets, token_ids, steps, capacity=None, ...):</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capacity = seq + steps - 1 if capacity is None else capacity</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for cap in used:                                   # bucket별 (기본 1개)</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mod, params, cfg = family.build_generate(config, seq, cap, last_logits=True)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weights = load once; ABI signature must match across buckets</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modules[cap] = _lower(mod, fusion, compiled=programs[cap],</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entries=("prefill_cache", "decode"))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inputs = family.runtime_inputs(assets, cfg, tokens)      # embeds, mask</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cos, sin = family.rope_inputs(cfg, np.arange(seq))</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(logits, k_rows, v_rows) = execute(cap, "prefill_cache", {...})</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generated = [argmax(logits[-1].astype(float32))]        # host greedy</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k_cache[:, :, :, :seq] = k_rows;  v_cache[:, :, :seq, :] = v_rows</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for step in range(1, steps):</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position = seq + step - 1</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step_inputs = {input_embeds: embedding([last]), cos, sin: rope_inputs([position]),</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mask: length_mask(cap, position)}    # + cache (첫 step만)</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(logits, k_new, v_new), words, decode = execute(cap, "decode", step_inputs, decode)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generated.append(argmax(logits[-1]))</a:t>
            </a:r>
            <a:endParaRPr lang="en-US" sz="8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7635240" y="2606040"/>
          <a:ext cx="4096512" cy="914400"/>
        </p:xfrm>
        <a:graphic>
          <a:graphicData uri="http://schemas.openxmlformats.org/drawingml/2006/table">
            <a:tbl>
              <a:tblPr/>
              <a:tblGrid>
                <a:gridCol w="1737360"/>
                <a:gridCol w="2359152"/>
              </a:tblGrid>
              <a:tr h="45720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runner</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무엇을 실행하나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run_stateful_tuple_program (기본)</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DecodeSession: persistent image + DMA append tail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run_tuple_program</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호출마다 image 전체 재구성 (cache를 host가 전달)</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llvm_runner</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같은 프로그램을 tile_order_reference로 CPU 실행 (step별 cross-check)</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27" name="Shape 24"/>
          <p:cNvSpPr/>
          <p:nvPr/>
        </p:nvSpPr>
        <p:spPr>
          <a:xfrm>
            <a:off x="7635240" y="4480560"/>
            <a:ext cx="4096512" cy="1325880"/>
          </a:xfrm>
          <a:prstGeom prst="roundRect">
            <a:avLst>
              <a:gd name="adj" fmla="val 4138"/>
            </a:avLst>
          </a:prstGeom>
          <a:solidFill>
            <a:srgbClr val="EEF2F6"/>
          </a:solidFill>
          <a:ln w="12700">
            <a:solidFill>
              <a:srgbClr val="C9D3DF"/>
            </a:solidFill>
            <a:prstDash val="solid"/>
          </a:ln>
        </p:spPr>
      </p:sp>
      <p:sp>
        <p:nvSpPr>
          <p:cNvPr id="28" name="Text 25"/>
          <p:cNvSpPr txBox="1"/>
          <p:nvPr/>
        </p:nvSpPr>
        <p:spPr>
          <a:xfrm>
            <a:off x="7763256" y="4535424"/>
            <a:ext cx="3840480" cy="121615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프로그램 수 ≠ layer 수 ≠ 후보 수: </a:t>
            </a:r>
            <a:pPr algn="l" indent="0" marL="0">
              <a:buNone/>
            </a:pPr>
            <a:r>
              <a:rPr lang="en-US" sz="1000" dirty="0">
                <a:solidFill>
                  <a:srgbClr val="1F2D3D"/>
                </a:solidFill>
                <a:latin typeface="Malgun Gothic" pitchFamily="34" charset="0"/>
                <a:ea typeface="Malgun Gothic" pitchFamily="34" charset="-122"/>
                <a:cs typeface="Malgun Gothic" pitchFamily="34" charset="-120"/>
              </a:rPr>
              <a:t>기본은 S에 대한 prefill 1개와 C에 대한 decode 1개. 28층은 하나의 entry stream 안에 모두 전개되어 있습니다.</a:t>
            </a:r>
            <a:endParaRPr lang="en-US" sz="1200" dirty="0"/>
          </a:p>
        </p:txBody>
      </p:sp>
      <p:sp>
        <p:nvSpPr>
          <p:cNvPr id="29" name="Shape 26"/>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30" name="Text 27"/>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Greedy argmax는 host에서 합니다. 마지막으로 예측한 token은 아직 NPU 입력으로 처리되지 않았으므로 생성 token 수와 decode 실행 횟수가 한 번 차이 납니다.</a:t>
            </a:r>
            <a:endParaRPr lang="en-US" sz="1250" dirty="0"/>
          </a:p>
        </p:txBody>
      </p:sp>
      <p:sp>
        <p:nvSpPr>
          <p:cNvPr id="31" name="Text 28"/>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32" name="Text 29"/>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npu_compiler/npu_generate.py generate(), run_tuple_program, DecodeSession; d_compiler/run_nn_generate.py</a:t>
            </a:r>
            <a:endParaRPr lang="en-US" sz="850" dirty="0"/>
          </a:p>
        </p:txBody>
      </p:sp>
      <p:sp>
        <p:nvSpPr>
          <p:cNvPr id="33" name="Text 30"/>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63 / 89</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Prefill 프로그램과 decode 프로그램: host와 NPU가 나누어 맡는 일</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Prefill은 prompt S개 token을 한 번에, decode는 새 token 하나와 과거 cache를 입력으로 다음 logits를 만듭니다.</a:t>
            </a:r>
            <a:endParaRPr lang="en-US" sz="1250" dirty="0"/>
          </a:p>
        </p:txBody>
      </p:sp>
      <p:sp>
        <p:nvSpPr>
          <p:cNvPr id="5" name="Shape 3"/>
          <p:cNvSpPr/>
          <p:nvPr/>
        </p:nvSpPr>
        <p:spPr>
          <a:xfrm>
            <a:off x="457200" y="1463040"/>
            <a:ext cx="2468880" cy="1005840"/>
          </a:xfrm>
          <a:prstGeom prst="roundRect">
            <a:avLst>
              <a:gd name="adj" fmla="val 5455"/>
            </a:avLst>
          </a:prstGeom>
          <a:solidFill>
            <a:srgbClr val="EEF1F5"/>
          </a:solidFill>
          <a:ln w="12700">
            <a:solidFill>
              <a:srgbClr val="5B6B7F"/>
            </a:solidFill>
            <a:prstDash val="solid"/>
          </a:ln>
        </p:spPr>
      </p:sp>
      <p:sp>
        <p:nvSpPr>
          <p:cNvPr id="6" name="Text 4"/>
          <p:cNvSpPr txBox="1"/>
          <p:nvPr/>
        </p:nvSpPr>
        <p:spPr>
          <a:xfrm>
            <a:off x="530352" y="1536192"/>
            <a:ext cx="2322576" cy="209550"/>
          </a:xfrm>
          <a:prstGeom prst="rect">
            <a:avLst/>
          </a:prstGeom>
          <a:noFill/>
          <a:ln/>
        </p:spPr>
        <p:txBody>
          <a:bodyPr wrap="square" lIns="0" tIns="0" rIns="0" bIns="0" rtlCol="0" anchor="ctr"/>
          <a:lstStyle/>
          <a:p>
            <a:pPr algn="ctr" indent="0" marL="0">
              <a:buNone/>
            </a:pPr>
            <a:r>
              <a:rPr lang="en-US" sz="1100" b="1" dirty="0">
                <a:solidFill>
                  <a:srgbClr val="1F2D3D"/>
                </a:solidFill>
                <a:latin typeface="Malgun Gothic" pitchFamily="34" charset="0"/>
                <a:ea typeface="Malgun Gothic" pitchFamily="34" charset="-122"/>
                <a:cs typeface="Malgun Gothic" pitchFamily="34" charset="-120"/>
              </a:rPr>
              <a:t>host: prompt 준비</a:t>
            </a:r>
            <a:endParaRPr lang="en-US" sz="1100" dirty="0"/>
          </a:p>
        </p:txBody>
      </p:sp>
      <p:sp>
        <p:nvSpPr>
          <p:cNvPr id="7" name="Text 5"/>
          <p:cNvSpPr txBox="1"/>
          <p:nvPr/>
        </p:nvSpPr>
        <p:spPr>
          <a:xfrm>
            <a:off x="530352" y="1745742"/>
            <a:ext cx="2322576" cy="686562"/>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token → embedding [S,3072]</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cos/sin [S,1,128], causal mask [1,S,S]</a:t>
            </a:r>
            <a:endParaRPr lang="en-US" sz="800" dirty="0"/>
          </a:p>
        </p:txBody>
      </p:sp>
      <p:sp>
        <p:nvSpPr>
          <p:cNvPr id="8" name="Shape 6"/>
          <p:cNvSpPr/>
          <p:nvPr/>
        </p:nvSpPr>
        <p:spPr>
          <a:xfrm>
            <a:off x="3291840" y="1463040"/>
            <a:ext cx="2651760" cy="1005840"/>
          </a:xfrm>
          <a:prstGeom prst="roundRect">
            <a:avLst>
              <a:gd name="adj" fmla="val 5455"/>
            </a:avLst>
          </a:prstGeom>
          <a:solidFill>
            <a:srgbClr val="ECE6FA"/>
          </a:solidFill>
          <a:ln w="12700">
            <a:solidFill>
              <a:srgbClr val="6C4FBF"/>
            </a:solidFill>
            <a:prstDash val="solid"/>
          </a:ln>
        </p:spPr>
      </p:sp>
      <p:sp>
        <p:nvSpPr>
          <p:cNvPr id="9" name="Text 7"/>
          <p:cNvSpPr txBox="1"/>
          <p:nvPr/>
        </p:nvSpPr>
        <p:spPr>
          <a:xfrm>
            <a:off x="3364992" y="1536192"/>
            <a:ext cx="2505456" cy="209550"/>
          </a:xfrm>
          <a:prstGeom prst="rect">
            <a:avLst/>
          </a:prstGeom>
          <a:noFill/>
          <a:ln/>
        </p:spPr>
        <p:txBody>
          <a:bodyPr wrap="square" lIns="0" tIns="0" rIns="0" bIns="0" rtlCol="0" anchor="ctr"/>
          <a:lstStyle/>
          <a:p>
            <a:pPr algn="ctr" indent="0" marL="0">
              <a:buNone/>
            </a:pPr>
            <a:r>
              <a:rPr lang="en-US" sz="1100" b="1" dirty="0">
                <a:solidFill>
                  <a:srgbClr val="1F2D3D"/>
                </a:solidFill>
                <a:latin typeface="Malgun Gothic" pitchFamily="34" charset="0"/>
                <a:ea typeface="Malgun Gothic" pitchFamily="34" charset="-122"/>
                <a:cs typeface="Malgun Gothic" pitchFamily="34" charset="-120"/>
              </a:rPr>
              <a:t>NPU: prefill_cache</a:t>
            </a:r>
            <a:endParaRPr lang="en-US" sz="1100" dirty="0"/>
          </a:p>
        </p:txBody>
      </p:sp>
      <p:sp>
        <p:nvSpPr>
          <p:cNvPr id="10" name="Text 8"/>
          <p:cNvSpPr txBox="1"/>
          <p:nvPr/>
        </p:nvSpPr>
        <p:spPr>
          <a:xfrm>
            <a:off x="3364992" y="1745742"/>
            <a:ext cx="2505456" cy="686562"/>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28 layers → last hidden → norm → LM head</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 logits [1,V], K [28,8,128,S], V [28,8,S,128]</a:t>
            </a:r>
            <a:endParaRPr lang="en-US" sz="800" dirty="0"/>
          </a:p>
        </p:txBody>
      </p:sp>
      <p:sp>
        <p:nvSpPr>
          <p:cNvPr id="11" name="Shape 9"/>
          <p:cNvSpPr/>
          <p:nvPr/>
        </p:nvSpPr>
        <p:spPr>
          <a:xfrm>
            <a:off x="6309360" y="1463040"/>
            <a:ext cx="2194560" cy="1005840"/>
          </a:xfrm>
          <a:prstGeom prst="roundRect">
            <a:avLst>
              <a:gd name="adj" fmla="val 5455"/>
            </a:avLst>
          </a:prstGeom>
          <a:solidFill>
            <a:srgbClr val="EEF1F5"/>
          </a:solidFill>
          <a:ln w="12700">
            <a:solidFill>
              <a:srgbClr val="5B6B7F"/>
            </a:solidFill>
            <a:prstDash val="solid"/>
          </a:ln>
        </p:spPr>
      </p:sp>
      <p:sp>
        <p:nvSpPr>
          <p:cNvPr id="12" name="Text 10"/>
          <p:cNvSpPr txBox="1"/>
          <p:nvPr/>
        </p:nvSpPr>
        <p:spPr>
          <a:xfrm>
            <a:off x="6382512" y="1536192"/>
            <a:ext cx="2048256" cy="209550"/>
          </a:xfrm>
          <a:prstGeom prst="rect">
            <a:avLst/>
          </a:prstGeom>
          <a:noFill/>
          <a:ln/>
        </p:spPr>
        <p:txBody>
          <a:bodyPr wrap="square" lIns="0" tIns="0" rIns="0" bIns="0" rtlCol="0" anchor="ctr"/>
          <a:lstStyle/>
          <a:p>
            <a:pPr algn="ctr" indent="0" marL="0">
              <a:buNone/>
            </a:pPr>
            <a:r>
              <a:rPr lang="en-US" sz="1100" b="1" dirty="0">
                <a:solidFill>
                  <a:srgbClr val="1F2D3D"/>
                </a:solidFill>
                <a:latin typeface="Malgun Gothic" pitchFamily="34" charset="0"/>
                <a:ea typeface="Malgun Gothic" pitchFamily="34" charset="-122"/>
                <a:cs typeface="Malgun Gothic" pitchFamily="34" charset="-120"/>
              </a:rPr>
              <a:t>host: 첫 token</a:t>
            </a:r>
            <a:endParaRPr lang="en-US" sz="1100" dirty="0"/>
          </a:p>
        </p:txBody>
      </p:sp>
      <p:sp>
        <p:nvSpPr>
          <p:cNvPr id="13" name="Text 11"/>
          <p:cNvSpPr txBox="1"/>
          <p:nvPr/>
        </p:nvSpPr>
        <p:spPr>
          <a:xfrm>
            <a:off x="6382512" y="1745742"/>
            <a:ext cx="2048256" cy="686562"/>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argmax(logits) → token₀</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cache 배열 [.., C] 에 S행 복사</a:t>
            </a:r>
            <a:endParaRPr lang="en-US" sz="800" dirty="0"/>
          </a:p>
        </p:txBody>
      </p:sp>
      <p:sp>
        <p:nvSpPr>
          <p:cNvPr id="14" name="Shape 12"/>
          <p:cNvSpPr/>
          <p:nvPr/>
        </p:nvSpPr>
        <p:spPr>
          <a:xfrm>
            <a:off x="2926080" y="1965960"/>
            <a:ext cx="365760" cy="914"/>
          </a:xfrm>
          <a:prstGeom prst="line">
            <a:avLst/>
          </a:prstGeom>
          <a:noFill/>
          <a:ln w="19050">
            <a:solidFill>
              <a:srgbClr val="5B6B7F"/>
            </a:solidFill>
            <a:prstDash val="solid"/>
            <a:tailEnd type="triangle"/>
          </a:ln>
        </p:spPr>
      </p:sp>
      <p:sp>
        <p:nvSpPr>
          <p:cNvPr id="15" name="Shape 13"/>
          <p:cNvSpPr/>
          <p:nvPr/>
        </p:nvSpPr>
        <p:spPr>
          <a:xfrm>
            <a:off x="5943600" y="1965960"/>
            <a:ext cx="365760" cy="914"/>
          </a:xfrm>
          <a:prstGeom prst="line">
            <a:avLst/>
          </a:prstGeom>
          <a:noFill/>
          <a:ln w="19050">
            <a:solidFill>
              <a:srgbClr val="5B6B7F"/>
            </a:solidFill>
            <a:prstDash val="solid"/>
            <a:tailEnd type="triangle"/>
          </a:ln>
        </p:spPr>
      </p:sp>
      <p:sp>
        <p:nvSpPr>
          <p:cNvPr id="16" name="Shape 14"/>
          <p:cNvSpPr/>
          <p:nvPr/>
        </p:nvSpPr>
        <p:spPr>
          <a:xfrm>
            <a:off x="457200" y="2834640"/>
            <a:ext cx="2468880" cy="1005840"/>
          </a:xfrm>
          <a:prstGeom prst="roundRect">
            <a:avLst>
              <a:gd name="adj" fmla="val 5455"/>
            </a:avLst>
          </a:prstGeom>
          <a:solidFill>
            <a:srgbClr val="EEF1F5"/>
          </a:solidFill>
          <a:ln w="12700">
            <a:solidFill>
              <a:srgbClr val="5B6B7F"/>
            </a:solidFill>
            <a:prstDash val="solid"/>
          </a:ln>
        </p:spPr>
      </p:sp>
      <p:sp>
        <p:nvSpPr>
          <p:cNvPr id="17" name="Text 15"/>
          <p:cNvSpPr txBox="1"/>
          <p:nvPr/>
        </p:nvSpPr>
        <p:spPr>
          <a:xfrm>
            <a:off x="530352" y="2907792"/>
            <a:ext cx="2322576" cy="209550"/>
          </a:xfrm>
          <a:prstGeom prst="rect">
            <a:avLst/>
          </a:prstGeom>
          <a:noFill/>
          <a:ln/>
        </p:spPr>
        <p:txBody>
          <a:bodyPr wrap="square" lIns="0" tIns="0" rIns="0" bIns="0" rtlCol="0" anchor="ctr"/>
          <a:lstStyle/>
          <a:p>
            <a:pPr algn="ctr" indent="0" marL="0">
              <a:buNone/>
            </a:pPr>
            <a:r>
              <a:rPr lang="en-US" sz="1100" b="1" dirty="0">
                <a:solidFill>
                  <a:srgbClr val="1F2D3D"/>
                </a:solidFill>
                <a:latin typeface="Malgun Gothic" pitchFamily="34" charset="0"/>
                <a:ea typeface="Malgun Gothic" pitchFamily="34" charset="-122"/>
                <a:cs typeface="Malgun Gothic" pitchFamily="34" charset="-120"/>
              </a:rPr>
              <a:t>host: step 입력</a:t>
            </a:r>
            <a:endParaRPr lang="en-US" sz="1100" dirty="0"/>
          </a:p>
        </p:txBody>
      </p:sp>
      <p:sp>
        <p:nvSpPr>
          <p:cNvPr id="18" name="Text 16"/>
          <p:cNvSpPr txBox="1"/>
          <p:nvPr/>
        </p:nvSpPr>
        <p:spPr>
          <a:xfrm>
            <a:off x="530352" y="3117342"/>
            <a:ext cx="2322576" cy="686562"/>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embedding [1,3072] of token</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cos/sin(position), length_mask [1,1,C+1]</a:t>
            </a:r>
            <a:endParaRPr lang="en-US" sz="800" dirty="0"/>
          </a:p>
        </p:txBody>
      </p:sp>
      <p:sp>
        <p:nvSpPr>
          <p:cNvPr id="19" name="Shape 17"/>
          <p:cNvSpPr/>
          <p:nvPr/>
        </p:nvSpPr>
        <p:spPr>
          <a:xfrm>
            <a:off x="3291840" y="2834640"/>
            <a:ext cx="2651760" cy="1005840"/>
          </a:xfrm>
          <a:prstGeom prst="roundRect">
            <a:avLst>
              <a:gd name="adj" fmla="val 5455"/>
            </a:avLst>
          </a:prstGeom>
          <a:solidFill>
            <a:srgbClr val="ECE6FA"/>
          </a:solidFill>
          <a:ln w="12700">
            <a:solidFill>
              <a:srgbClr val="6C4FBF"/>
            </a:solidFill>
            <a:prstDash val="solid"/>
          </a:ln>
        </p:spPr>
      </p:sp>
      <p:sp>
        <p:nvSpPr>
          <p:cNvPr id="20" name="Text 18"/>
          <p:cNvSpPr txBox="1"/>
          <p:nvPr/>
        </p:nvSpPr>
        <p:spPr>
          <a:xfrm>
            <a:off x="3364992" y="2907792"/>
            <a:ext cx="2505456" cy="209550"/>
          </a:xfrm>
          <a:prstGeom prst="rect">
            <a:avLst/>
          </a:prstGeom>
          <a:noFill/>
          <a:ln/>
        </p:spPr>
        <p:txBody>
          <a:bodyPr wrap="square" lIns="0" tIns="0" rIns="0" bIns="0" rtlCol="0" anchor="ctr"/>
          <a:lstStyle/>
          <a:p>
            <a:pPr algn="ctr" indent="0" marL="0">
              <a:buNone/>
            </a:pPr>
            <a:r>
              <a:rPr lang="en-US" sz="1100" b="1" dirty="0">
                <a:solidFill>
                  <a:srgbClr val="1F2D3D"/>
                </a:solidFill>
                <a:latin typeface="Malgun Gothic" pitchFamily="34" charset="0"/>
                <a:ea typeface="Malgun Gothic" pitchFamily="34" charset="-122"/>
                <a:cs typeface="Malgun Gothic" pitchFamily="34" charset="-120"/>
              </a:rPr>
              <a:t>NPU: decode + append</a:t>
            </a:r>
            <a:endParaRPr lang="en-US" sz="1100" dirty="0"/>
          </a:p>
        </p:txBody>
      </p:sp>
      <p:sp>
        <p:nvSpPr>
          <p:cNvPr id="21" name="Text 19"/>
          <p:cNvSpPr txBox="1"/>
          <p:nvPr/>
        </p:nvSpPr>
        <p:spPr>
          <a:xfrm>
            <a:off x="3364992" y="3117342"/>
            <a:ext cx="2505456" cy="686562"/>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cache C + 현재 1 → attention C+1</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 logits, K_new, V_new; DMA tail → slot L</a:t>
            </a:r>
            <a:endParaRPr lang="en-US" sz="800" dirty="0"/>
          </a:p>
        </p:txBody>
      </p:sp>
      <p:sp>
        <p:nvSpPr>
          <p:cNvPr id="22" name="Shape 20"/>
          <p:cNvSpPr/>
          <p:nvPr/>
        </p:nvSpPr>
        <p:spPr>
          <a:xfrm>
            <a:off x="6309360" y="2834640"/>
            <a:ext cx="2194560" cy="1005840"/>
          </a:xfrm>
          <a:prstGeom prst="roundRect">
            <a:avLst>
              <a:gd name="adj" fmla="val 5455"/>
            </a:avLst>
          </a:prstGeom>
          <a:solidFill>
            <a:srgbClr val="EEF1F5"/>
          </a:solidFill>
          <a:ln w="12700">
            <a:solidFill>
              <a:srgbClr val="5B6B7F"/>
            </a:solidFill>
            <a:prstDash val="solid"/>
          </a:ln>
        </p:spPr>
      </p:sp>
      <p:sp>
        <p:nvSpPr>
          <p:cNvPr id="23" name="Text 21"/>
          <p:cNvSpPr txBox="1"/>
          <p:nvPr/>
        </p:nvSpPr>
        <p:spPr>
          <a:xfrm>
            <a:off x="6382512" y="2907792"/>
            <a:ext cx="2048256" cy="209550"/>
          </a:xfrm>
          <a:prstGeom prst="rect">
            <a:avLst/>
          </a:prstGeom>
          <a:noFill/>
          <a:ln/>
        </p:spPr>
        <p:txBody>
          <a:bodyPr wrap="square" lIns="0" tIns="0" rIns="0" bIns="0" rtlCol="0" anchor="ctr"/>
          <a:lstStyle/>
          <a:p>
            <a:pPr algn="ctr" indent="0" marL="0">
              <a:buNone/>
            </a:pPr>
            <a:r>
              <a:rPr lang="en-US" sz="1100" b="1" dirty="0">
                <a:solidFill>
                  <a:srgbClr val="1F2D3D"/>
                </a:solidFill>
                <a:latin typeface="Malgun Gothic" pitchFamily="34" charset="0"/>
                <a:ea typeface="Malgun Gothic" pitchFamily="34" charset="-122"/>
                <a:cs typeface="Malgun Gothic" pitchFamily="34" charset="-120"/>
              </a:rPr>
              <a:t>host: 다음 token</a:t>
            </a:r>
            <a:endParaRPr lang="en-US" sz="1100" dirty="0"/>
          </a:p>
        </p:txBody>
      </p:sp>
      <p:sp>
        <p:nvSpPr>
          <p:cNvPr id="24" name="Text 22"/>
          <p:cNvSpPr txBox="1"/>
          <p:nvPr/>
        </p:nvSpPr>
        <p:spPr>
          <a:xfrm>
            <a:off x="6382512" y="3117342"/>
            <a:ext cx="2048256" cy="686562"/>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argmax → token₁</a:t>
            </a:r>
            <a:endParaRPr lang="en-US" sz="800" dirty="0"/>
          </a:p>
          <a:p>
            <a:pPr algn="ctr" indent="0" marL="0">
              <a:buNone/>
            </a:pPr>
            <a:r>
              <a:rPr lang="en-US" sz="800" dirty="0">
                <a:solidFill>
                  <a:srgbClr val="5B6B7F"/>
                </a:solidFill>
                <a:latin typeface="Malgun Gothic" pitchFamily="34" charset="0"/>
                <a:ea typeface="Malgun Gothic" pitchFamily="34" charset="-122"/>
                <a:cs typeface="Malgun Gothic" pitchFamily="34" charset="-120"/>
              </a:rPr>
              <a:t>다음 step 입력으로</a:t>
            </a:r>
            <a:endParaRPr lang="en-US" sz="800" dirty="0"/>
          </a:p>
        </p:txBody>
      </p:sp>
      <p:sp>
        <p:nvSpPr>
          <p:cNvPr id="25" name="Shape 23"/>
          <p:cNvSpPr/>
          <p:nvPr/>
        </p:nvSpPr>
        <p:spPr>
          <a:xfrm>
            <a:off x="2926080" y="3337560"/>
            <a:ext cx="365760" cy="914"/>
          </a:xfrm>
          <a:prstGeom prst="line">
            <a:avLst/>
          </a:prstGeom>
          <a:noFill/>
          <a:ln w="19050">
            <a:solidFill>
              <a:srgbClr val="5B6B7F"/>
            </a:solidFill>
            <a:prstDash val="solid"/>
            <a:tailEnd type="triangle"/>
          </a:ln>
        </p:spPr>
      </p:sp>
      <p:sp>
        <p:nvSpPr>
          <p:cNvPr id="26" name="Shape 24"/>
          <p:cNvSpPr/>
          <p:nvPr/>
        </p:nvSpPr>
        <p:spPr>
          <a:xfrm>
            <a:off x="5943600" y="3337560"/>
            <a:ext cx="365760" cy="914"/>
          </a:xfrm>
          <a:prstGeom prst="line">
            <a:avLst/>
          </a:prstGeom>
          <a:noFill/>
          <a:ln w="19050">
            <a:solidFill>
              <a:srgbClr val="5B6B7F"/>
            </a:solidFill>
            <a:prstDash val="solid"/>
            <a:tailEnd type="triangle"/>
          </a:ln>
        </p:spPr>
      </p:sp>
      <p:sp>
        <p:nvSpPr>
          <p:cNvPr id="27" name="Shape 25"/>
          <p:cNvSpPr/>
          <p:nvPr/>
        </p:nvSpPr>
        <p:spPr>
          <a:xfrm>
            <a:off x="7406640" y="2468880"/>
            <a:ext cx="914" cy="182880"/>
          </a:xfrm>
          <a:prstGeom prst="line">
            <a:avLst/>
          </a:prstGeom>
          <a:noFill/>
          <a:ln w="19050">
            <a:solidFill>
              <a:srgbClr val="5B6B7F"/>
            </a:solidFill>
            <a:prstDash val="solid"/>
          </a:ln>
        </p:spPr>
      </p:sp>
      <p:sp>
        <p:nvSpPr>
          <p:cNvPr id="28" name="Shape 26"/>
          <p:cNvSpPr/>
          <p:nvPr/>
        </p:nvSpPr>
        <p:spPr>
          <a:xfrm flipH="1">
            <a:off x="1691640" y="2651760"/>
            <a:ext cx="5715000" cy="914"/>
          </a:xfrm>
          <a:prstGeom prst="line">
            <a:avLst/>
          </a:prstGeom>
          <a:noFill/>
          <a:ln w="19050">
            <a:solidFill>
              <a:srgbClr val="5B6B7F"/>
            </a:solidFill>
            <a:prstDash val="solid"/>
          </a:ln>
        </p:spPr>
      </p:sp>
      <p:sp>
        <p:nvSpPr>
          <p:cNvPr id="29" name="Shape 27"/>
          <p:cNvSpPr/>
          <p:nvPr/>
        </p:nvSpPr>
        <p:spPr>
          <a:xfrm>
            <a:off x="1691640" y="2651760"/>
            <a:ext cx="914" cy="182880"/>
          </a:xfrm>
          <a:prstGeom prst="line">
            <a:avLst/>
          </a:prstGeom>
          <a:noFill/>
          <a:ln w="19050">
            <a:solidFill>
              <a:srgbClr val="5B6B7F"/>
            </a:solidFill>
            <a:prstDash val="solid"/>
            <a:tailEnd type="triangle"/>
          </a:ln>
        </p:spPr>
      </p:sp>
      <p:sp>
        <p:nvSpPr>
          <p:cNvPr id="30" name="Shape 28"/>
          <p:cNvSpPr/>
          <p:nvPr/>
        </p:nvSpPr>
        <p:spPr>
          <a:xfrm>
            <a:off x="7406640" y="3840480"/>
            <a:ext cx="914" cy="182880"/>
          </a:xfrm>
          <a:prstGeom prst="line">
            <a:avLst/>
          </a:prstGeom>
          <a:noFill/>
          <a:ln w="19050">
            <a:solidFill>
              <a:srgbClr val="B7791F"/>
            </a:solidFill>
            <a:prstDash val="solid"/>
          </a:ln>
        </p:spPr>
      </p:sp>
      <p:sp>
        <p:nvSpPr>
          <p:cNvPr id="31" name="Shape 29"/>
          <p:cNvSpPr/>
          <p:nvPr/>
        </p:nvSpPr>
        <p:spPr>
          <a:xfrm flipH="1">
            <a:off x="1691640" y="4023360"/>
            <a:ext cx="5715000" cy="914"/>
          </a:xfrm>
          <a:prstGeom prst="line">
            <a:avLst/>
          </a:prstGeom>
          <a:noFill/>
          <a:ln w="19050">
            <a:solidFill>
              <a:srgbClr val="B7791F"/>
            </a:solidFill>
            <a:prstDash val="solid"/>
          </a:ln>
        </p:spPr>
      </p:sp>
      <p:sp>
        <p:nvSpPr>
          <p:cNvPr id="32" name="Shape 30"/>
          <p:cNvSpPr/>
          <p:nvPr/>
        </p:nvSpPr>
        <p:spPr>
          <a:xfrm flipV="1">
            <a:off x="1691640" y="3840480"/>
            <a:ext cx="914" cy="182880"/>
          </a:xfrm>
          <a:prstGeom prst="line">
            <a:avLst/>
          </a:prstGeom>
          <a:noFill/>
          <a:ln w="19050">
            <a:solidFill>
              <a:srgbClr val="B7791F"/>
            </a:solidFill>
            <a:prstDash val="solid"/>
            <a:tailEnd type="triangle"/>
          </a:ln>
        </p:spPr>
      </p:sp>
      <p:sp>
        <p:nvSpPr>
          <p:cNvPr id="33" name="Text 31"/>
          <p:cNvSpPr txBox="1"/>
          <p:nvPr/>
        </p:nvSpPr>
        <p:spPr>
          <a:xfrm>
            <a:off x="2743200" y="4041648"/>
            <a:ext cx="3200400" cy="228600"/>
          </a:xfrm>
          <a:prstGeom prst="rect">
            <a:avLst/>
          </a:prstGeom>
          <a:noFill/>
          <a:ln/>
        </p:spPr>
        <p:txBody>
          <a:bodyPr wrap="square" lIns="0" tIns="0" rIns="0" bIns="0" rtlCol="0" anchor="t"/>
          <a:lstStyle/>
          <a:p>
            <a:pPr algn="l" indent="0" marL="0">
              <a:buNone/>
            </a:pPr>
            <a:r>
              <a:rPr lang="en-US" sz="850" b="1" dirty="0">
                <a:solidFill>
                  <a:srgbClr val="B7791F"/>
                </a:solidFill>
                <a:latin typeface="Malgun Gothic" pitchFamily="34" charset="0"/>
                <a:ea typeface="Malgun Gothic" pitchFamily="34" charset="-122"/>
                <a:cs typeface="Malgun Gothic" pitchFamily="34" charset="-120"/>
              </a:rPr>
              <a:t>반복 (같은 decode 프로그램, 입력 patch만)</a:t>
            </a:r>
            <a:endParaRPr lang="en-US" sz="85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8778240" y="1463040"/>
          <a:ext cx="2953512" cy="914400"/>
        </p:xfrm>
        <a:graphic>
          <a:graphicData uri="http://schemas.openxmlformats.org/drawingml/2006/table">
            <a:tbl>
              <a:tblPr/>
              <a:tblGrid>
                <a:gridCol w="1371600"/>
                <a:gridCol w="1581912"/>
              </a:tblGrid>
              <a:tr h="384048">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mask</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값</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prefill causal [1,S,S]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대각선 위 −1e4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decode length [1,1,C+1]</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유효 슬롯 0, 나머지 −65504, 마지막(현재) 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이유</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FP16 floor; softmax가 exp를 0으로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129" name="Table 1"/>
          <p:cNvGraphicFramePr>
            <a:graphicFrameLocks noGrp="1"/>
          </p:cNvGraphicFramePr>
          <p:nvPr>
            <p:extLst>
              <p:ext uri="{D42A27DB-BD31-4B8C-83A1-F6EECF244321}">
                <p14:modId xmlns:p14="http://schemas.microsoft.com/office/powerpoint/2010/main" val="1579011935"/>
              </p:ext>
            </p:extLst>
          </p:nvPr>
        </p:nvGraphicFramePr>
        <p:xfrm>
          <a:off x="457200" y="4206240"/>
          <a:ext cx="11274552" cy="914400"/>
        </p:xfrm>
        <a:graphic>
          <a:graphicData uri="http://schemas.openxmlformats.org/drawingml/2006/table">
            <a:tbl>
              <a:tblPr/>
              <a:tblGrid>
                <a:gridCol w="1737360"/>
                <a:gridCol w="4572000"/>
                <a:gridCol w="4965192"/>
              </a:tblGrid>
              <a:tr h="365760">
                <a:tc>
                  <a:txBody>
                    <a:bodyPr/>
                    <a:lstStyle/>
                    <a:p>
                      <a:pPr algn="l" indent="0" marL="0">
                        <a:buNone/>
                      </a:pP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Prefill (S=7)</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Decode (C=9)</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6576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device 입력</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input_embeds [7,3072], cos/sin [7,1,128], mask [1,7,7], packed_params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input_embeds [1,3072], cos/sin [1,1,128], k_cache [28,8,128,9], v_cache [28,8,9,128], mask [1,1,10], packed_params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출력</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logits [1,128256] (last_logits), K [28,8,128,7], V [28,8,7,128]</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logits [1,128256], K_new [28,8,128,1], V_new [28,8,1,128]</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프로그램 통계 (기록)</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8,582,352 words, DMA 6.46 GB, SRAM peak 8.37 MB</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7,310,801 words (+ append tail 13,896 words), DMA 6.44 GB, SRAM peak 7.34 MB</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36" name="Shape 32"/>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37" name="Text 33"/>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Prefill의 logits는 마지막 hidden 행만 (last_logits). 전체 위치 logits를 반환하는 prefill API와 구분합니다.</a:t>
            </a:r>
            <a:endParaRPr lang="en-US" sz="1250" dirty="0"/>
          </a:p>
        </p:txBody>
      </p:sp>
      <p:sp>
        <p:nvSpPr>
          <p:cNvPr id="38" name="Text 34"/>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39" name="Text 35"/>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docs/current/10_runtime_llama.md, npu_compiler/nn_models/llama.py (runtime_inputs, causal_mask), npu_generate.length_mask</a:t>
            </a:r>
            <a:endParaRPr lang="en-US" sz="850" dirty="0"/>
          </a:p>
        </p:txBody>
      </p:sp>
      <p:sp>
        <p:nvSpPr>
          <p:cNvPr id="40" name="Text 36"/>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64 / 89</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고정 shape와 유효 길이는 다르다: capacity C=9, 유효 길이 L=7</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Decode는 기존 C개 슬롯과 현재 K/V 하나를 논리적으로 연결해 C+1 길이로 attention합니다. 현재 token의 임시 위치는 C, persistent cache에 기록할 위치는 첫 빈 슬롯 L입니다.</a:t>
            </a:r>
            <a:endParaRPr lang="en-US" sz="1250" dirty="0"/>
          </a:p>
        </p:txBody>
      </p:sp>
      <p:sp>
        <p:nvSpPr>
          <p:cNvPr id="5" name="Text 3"/>
          <p:cNvSpPr txBox="1"/>
          <p:nvPr/>
        </p:nvSpPr>
        <p:spPr>
          <a:xfrm>
            <a:off x="457200" y="1417320"/>
            <a:ext cx="73152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이번 attention이 보는 논리적 입력 (C+1 = 10 슬롯)</a:t>
            </a:r>
            <a:endParaRPr lang="en-US" sz="1100" dirty="0"/>
          </a:p>
        </p:txBody>
      </p:sp>
      <p:sp>
        <p:nvSpPr>
          <p:cNvPr id="6" name="Shape 4"/>
          <p:cNvSpPr/>
          <p:nvPr/>
        </p:nvSpPr>
        <p:spPr>
          <a:xfrm>
            <a:off x="457200" y="1783080"/>
            <a:ext cx="1033272" cy="822960"/>
          </a:xfrm>
          <a:prstGeom prst="roundRect">
            <a:avLst>
              <a:gd name="adj" fmla="val 5556"/>
            </a:avLst>
          </a:prstGeom>
          <a:solidFill>
            <a:srgbClr val="FFF1DC"/>
          </a:solidFill>
          <a:ln w="12700">
            <a:solidFill>
              <a:srgbClr val="D98A1E"/>
            </a:solidFill>
            <a:prstDash val="solid"/>
          </a:ln>
        </p:spPr>
      </p:sp>
      <p:sp>
        <p:nvSpPr>
          <p:cNvPr id="7" name="Text 5"/>
          <p:cNvSpPr txBox="1"/>
          <p:nvPr/>
        </p:nvSpPr>
        <p:spPr>
          <a:xfrm>
            <a:off x="457200" y="1828800"/>
            <a:ext cx="1033272" cy="320040"/>
          </a:xfrm>
          <a:prstGeom prst="rect">
            <a:avLst/>
          </a:prstGeom>
          <a:noFill/>
          <a:ln/>
        </p:spPr>
        <p:txBody>
          <a:bodyPr wrap="square" lIns="0" tIns="0" rIns="0" bIns="0" rtlCol="0" anchor="t"/>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0</a:t>
            </a:r>
            <a:endParaRPr lang="en-US" sz="1400" dirty="0"/>
          </a:p>
        </p:txBody>
      </p:sp>
      <p:sp>
        <p:nvSpPr>
          <p:cNvPr id="8" name="Text 6"/>
          <p:cNvSpPr txBox="1"/>
          <p:nvPr/>
        </p:nvSpPr>
        <p:spPr>
          <a:xfrm>
            <a:off x="457200" y="2176272"/>
            <a:ext cx="1033272" cy="36576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과거 (유효)</a:t>
            </a:r>
            <a:endParaRPr lang="en-US" sz="850" dirty="0"/>
          </a:p>
        </p:txBody>
      </p:sp>
      <p:sp>
        <p:nvSpPr>
          <p:cNvPr id="9" name="Shape 7"/>
          <p:cNvSpPr/>
          <p:nvPr/>
        </p:nvSpPr>
        <p:spPr>
          <a:xfrm>
            <a:off x="1581912" y="1783080"/>
            <a:ext cx="1033272" cy="822960"/>
          </a:xfrm>
          <a:prstGeom prst="roundRect">
            <a:avLst>
              <a:gd name="adj" fmla="val 5556"/>
            </a:avLst>
          </a:prstGeom>
          <a:solidFill>
            <a:srgbClr val="FFF1DC"/>
          </a:solidFill>
          <a:ln w="12700">
            <a:solidFill>
              <a:srgbClr val="D98A1E"/>
            </a:solidFill>
            <a:prstDash val="solid"/>
          </a:ln>
        </p:spPr>
      </p:sp>
      <p:sp>
        <p:nvSpPr>
          <p:cNvPr id="10" name="Text 8"/>
          <p:cNvSpPr txBox="1"/>
          <p:nvPr/>
        </p:nvSpPr>
        <p:spPr>
          <a:xfrm>
            <a:off x="1581912" y="1828800"/>
            <a:ext cx="1033272" cy="320040"/>
          </a:xfrm>
          <a:prstGeom prst="rect">
            <a:avLst/>
          </a:prstGeom>
          <a:noFill/>
          <a:ln/>
        </p:spPr>
        <p:txBody>
          <a:bodyPr wrap="square" lIns="0" tIns="0" rIns="0" bIns="0" rtlCol="0" anchor="t"/>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1</a:t>
            </a:r>
            <a:endParaRPr lang="en-US" sz="1400" dirty="0"/>
          </a:p>
        </p:txBody>
      </p:sp>
      <p:sp>
        <p:nvSpPr>
          <p:cNvPr id="11" name="Text 9"/>
          <p:cNvSpPr txBox="1"/>
          <p:nvPr/>
        </p:nvSpPr>
        <p:spPr>
          <a:xfrm>
            <a:off x="1581912" y="2176272"/>
            <a:ext cx="1033272" cy="36576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과거 (유효)</a:t>
            </a:r>
            <a:endParaRPr lang="en-US" sz="850" dirty="0"/>
          </a:p>
        </p:txBody>
      </p:sp>
      <p:sp>
        <p:nvSpPr>
          <p:cNvPr id="12" name="Shape 10"/>
          <p:cNvSpPr/>
          <p:nvPr/>
        </p:nvSpPr>
        <p:spPr>
          <a:xfrm>
            <a:off x="2706624" y="1783080"/>
            <a:ext cx="1033272" cy="822960"/>
          </a:xfrm>
          <a:prstGeom prst="roundRect">
            <a:avLst>
              <a:gd name="adj" fmla="val 5556"/>
            </a:avLst>
          </a:prstGeom>
          <a:solidFill>
            <a:srgbClr val="FFF1DC"/>
          </a:solidFill>
          <a:ln w="12700">
            <a:solidFill>
              <a:srgbClr val="D98A1E"/>
            </a:solidFill>
            <a:prstDash val="solid"/>
          </a:ln>
        </p:spPr>
      </p:sp>
      <p:sp>
        <p:nvSpPr>
          <p:cNvPr id="13" name="Text 11"/>
          <p:cNvSpPr txBox="1"/>
          <p:nvPr/>
        </p:nvSpPr>
        <p:spPr>
          <a:xfrm>
            <a:off x="2706624" y="1828800"/>
            <a:ext cx="1033272" cy="320040"/>
          </a:xfrm>
          <a:prstGeom prst="rect">
            <a:avLst/>
          </a:prstGeom>
          <a:noFill/>
          <a:ln/>
        </p:spPr>
        <p:txBody>
          <a:bodyPr wrap="square" lIns="0" tIns="0" rIns="0" bIns="0" rtlCol="0" anchor="t"/>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2</a:t>
            </a:r>
            <a:endParaRPr lang="en-US" sz="1400" dirty="0"/>
          </a:p>
        </p:txBody>
      </p:sp>
      <p:sp>
        <p:nvSpPr>
          <p:cNvPr id="14" name="Text 12"/>
          <p:cNvSpPr txBox="1"/>
          <p:nvPr/>
        </p:nvSpPr>
        <p:spPr>
          <a:xfrm>
            <a:off x="2706624" y="2176272"/>
            <a:ext cx="1033272" cy="36576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과거 (유효)</a:t>
            </a:r>
            <a:endParaRPr lang="en-US" sz="850" dirty="0"/>
          </a:p>
        </p:txBody>
      </p:sp>
      <p:sp>
        <p:nvSpPr>
          <p:cNvPr id="15" name="Shape 13"/>
          <p:cNvSpPr/>
          <p:nvPr/>
        </p:nvSpPr>
        <p:spPr>
          <a:xfrm>
            <a:off x="3831336" y="1783080"/>
            <a:ext cx="1033272" cy="822960"/>
          </a:xfrm>
          <a:prstGeom prst="roundRect">
            <a:avLst>
              <a:gd name="adj" fmla="val 5556"/>
            </a:avLst>
          </a:prstGeom>
          <a:solidFill>
            <a:srgbClr val="FFF1DC"/>
          </a:solidFill>
          <a:ln w="12700">
            <a:solidFill>
              <a:srgbClr val="D98A1E"/>
            </a:solidFill>
            <a:prstDash val="solid"/>
          </a:ln>
        </p:spPr>
      </p:sp>
      <p:sp>
        <p:nvSpPr>
          <p:cNvPr id="16" name="Text 14"/>
          <p:cNvSpPr txBox="1"/>
          <p:nvPr/>
        </p:nvSpPr>
        <p:spPr>
          <a:xfrm>
            <a:off x="3831336" y="1828800"/>
            <a:ext cx="1033272" cy="320040"/>
          </a:xfrm>
          <a:prstGeom prst="rect">
            <a:avLst/>
          </a:prstGeom>
          <a:noFill/>
          <a:ln/>
        </p:spPr>
        <p:txBody>
          <a:bodyPr wrap="square" lIns="0" tIns="0" rIns="0" bIns="0" rtlCol="0" anchor="t"/>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3</a:t>
            </a:r>
            <a:endParaRPr lang="en-US" sz="1400" dirty="0"/>
          </a:p>
        </p:txBody>
      </p:sp>
      <p:sp>
        <p:nvSpPr>
          <p:cNvPr id="17" name="Text 15"/>
          <p:cNvSpPr txBox="1"/>
          <p:nvPr/>
        </p:nvSpPr>
        <p:spPr>
          <a:xfrm>
            <a:off x="3831336" y="2176272"/>
            <a:ext cx="1033272" cy="36576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과거 (유효)</a:t>
            </a:r>
            <a:endParaRPr lang="en-US" sz="850" dirty="0"/>
          </a:p>
        </p:txBody>
      </p:sp>
      <p:sp>
        <p:nvSpPr>
          <p:cNvPr id="18" name="Shape 16"/>
          <p:cNvSpPr/>
          <p:nvPr/>
        </p:nvSpPr>
        <p:spPr>
          <a:xfrm>
            <a:off x="4956048" y="1783080"/>
            <a:ext cx="1033272" cy="822960"/>
          </a:xfrm>
          <a:prstGeom prst="roundRect">
            <a:avLst>
              <a:gd name="adj" fmla="val 5556"/>
            </a:avLst>
          </a:prstGeom>
          <a:solidFill>
            <a:srgbClr val="FFF1DC"/>
          </a:solidFill>
          <a:ln w="12700">
            <a:solidFill>
              <a:srgbClr val="D98A1E"/>
            </a:solidFill>
            <a:prstDash val="solid"/>
          </a:ln>
        </p:spPr>
      </p:sp>
      <p:sp>
        <p:nvSpPr>
          <p:cNvPr id="19" name="Text 17"/>
          <p:cNvSpPr txBox="1"/>
          <p:nvPr/>
        </p:nvSpPr>
        <p:spPr>
          <a:xfrm>
            <a:off x="4956048" y="1828800"/>
            <a:ext cx="1033272" cy="320040"/>
          </a:xfrm>
          <a:prstGeom prst="rect">
            <a:avLst/>
          </a:prstGeom>
          <a:noFill/>
          <a:ln/>
        </p:spPr>
        <p:txBody>
          <a:bodyPr wrap="square" lIns="0" tIns="0" rIns="0" bIns="0" rtlCol="0" anchor="t"/>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4</a:t>
            </a:r>
            <a:endParaRPr lang="en-US" sz="1400" dirty="0"/>
          </a:p>
        </p:txBody>
      </p:sp>
      <p:sp>
        <p:nvSpPr>
          <p:cNvPr id="20" name="Text 18"/>
          <p:cNvSpPr txBox="1"/>
          <p:nvPr/>
        </p:nvSpPr>
        <p:spPr>
          <a:xfrm>
            <a:off x="4956048" y="2176272"/>
            <a:ext cx="1033272" cy="36576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과거 (유효)</a:t>
            </a:r>
            <a:endParaRPr lang="en-US" sz="850" dirty="0"/>
          </a:p>
        </p:txBody>
      </p:sp>
      <p:sp>
        <p:nvSpPr>
          <p:cNvPr id="21" name="Shape 19"/>
          <p:cNvSpPr/>
          <p:nvPr/>
        </p:nvSpPr>
        <p:spPr>
          <a:xfrm>
            <a:off x="6080760" y="1783080"/>
            <a:ext cx="1033272" cy="822960"/>
          </a:xfrm>
          <a:prstGeom prst="roundRect">
            <a:avLst>
              <a:gd name="adj" fmla="val 5556"/>
            </a:avLst>
          </a:prstGeom>
          <a:solidFill>
            <a:srgbClr val="FFF1DC"/>
          </a:solidFill>
          <a:ln w="12700">
            <a:solidFill>
              <a:srgbClr val="D98A1E"/>
            </a:solidFill>
            <a:prstDash val="solid"/>
          </a:ln>
        </p:spPr>
      </p:sp>
      <p:sp>
        <p:nvSpPr>
          <p:cNvPr id="22" name="Text 20"/>
          <p:cNvSpPr txBox="1"/>
          <p:nvPr/>
        </p:nvSpPr>
        <p:spPr>
          <a:xfrm>
            <a:off x="6080760" y="1828800"/>
            <a:ext cx="1033272" cy="320040"/>
          </a:xfrm>
          <a:prstGeom prst="rect">
            <a:avLst/>
          </a:prstGeom>
          <a:noFill/>
          <a:ln/>
        </p:spPr>
        <p:txBody>
          <a:bodyPr wrap="square" lIns="0" tIns="0" rIns="0" bIns="0" rtlCol="0" anchor="t"/>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5</a:t>
            </a:r>
            <a:endParaRPr lang="en-US" sz="1400" dirty="0"/>
          </a:p>
        </p:txBody>
      </p:sp>
      <p:sp>
        <p:nvSpPr>
          <p:cNvPr id="23" name="Text 21"/>
          <p:cNvSpPr txBox="1"/>
          <p:nvPr/>
        </p:nvSpPr>
        <p:spPr>
          <a:xfrm>
            <a:off x="6080760" y="2176272"/>
            <a:ext cx="1033272" cy="36576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과거 (유효)</a:t>
            </a:r>
            <a:endParaRPr lang="en-US" sz="850" dirty="0"/>
          </a:p>
        </p:txBody>
      </p:sp>
      <p:sp>
        <p:nvSpPr>
          <p:cNvPr id="24" name="Shape 22"/>
          <p:cNvSpPr/>
          <p:nvPr/>
        </p:nvSpPr>
        <p:spPr>
          <a:xfrm>
            <a:off x="7205472" y="1783080"/>
            <a:ext cx="1033272" cy="822960"/>
          </a:xfrm>
          <a:prstGeom prst="roundRect">
            <a:avLst>
              <a:gd name="adj" fmla="val 5556"/>
            </a:avLst>
          </a:prstGeom>
          <a:solidFill>
            <a:srgbClr val="FFF1DC"/>
          </a:solidFill>
          <a:ln w="12700">
            <a:solidFill>
              <a:srgbClr val="D98A1E"/>
            </a:solidFill>
            <a:prstDash val="solid"/>
          </a:ln>
        </p:spPr>
      </p:sp>
      <p:sp>
        <p:nvSpPr>
          <p:cNvPr id="25" name="Text 23"/>
          <p:cNvSpPr txBox="1"/>
          <p:nvPr/>
        </p:nvSpPr>
        <p:spPr>
          <a:xfrm>
            <a:off x="7205472" y="1828800"/>
            <a:ext cx="1033272" cy="320040"/>
          </a:xfrm>
          <a:prstGeom prst="rect">
            <a:avLst/>
          </a:prstGeom>
          <a:noFill/>
          <a:ln/>
        </p:spPr>
        <p:txBody>
          <a:bodyPr wrap="square" lIns="0" tIns="0" rIns="0" bIns="0" rtlCol="0" anchor="t"/>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6</a:t>
            </a:r>
            <a:endParaRPr lang="en-US" sz="1400" dirty="0"/>
          </a:p>
        </p:txBody>
      </p:sp>
      <p:sp>
        <p:nvSpPr>
          <p:cNvPr id="26" name="Text 24"/>
          <p:cNvSpPr txBox="1"/>
          <p:nvPr/>
        </p:nvSpPr>
        <p:spPr>
          <a:xfrm>
            <a:off x="7205472" y="2176272"/>
            <a:ext cx="1033272" cy="36576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과거 (유효)</a:t>
            </a:r>
            <a:endParaRPr lang="en-US" sz="850" dirty="0"/>
          </a:p>
        </p:txBody>
      </p:sp>
      <p:sp>
        <p:nvSpPr>
          <p:cNvPr id="27" name="Shape 25"/>
          <p:cNvSpPr/>
          <p:nvPr/>
        </p:nvSpPr>
        <p:spPr>
          <a:xfrm>
            <a:off x="8330184" y="1783080"/>
            <a:ext cx="1033272" cy="822960"/>
          </a:xfrm>
          <a:prstGeom prst="roundRect">
            <a:avLst>
              <a:gd name="adj" fmla="val 5556"/>
            </a:avLst>
          </a:prstGeom>
          <a:solidFill>
            <a:srgbClr val="EEF2F6"/>
          </a:solidFill>
          <a:ln w="12700">
            <a:solidFill>
              <a:srgbClr val="C9D3DF"/>
            </a:solidFill>
            <a:prstDash val="solid"/>
          </a:ln>
        </p:spPr>
      </p:sp>
      <p:sp>
        <p:nvSpPr>
          <p:cNvPr id="28" name="Text 26"/>
          <p:cNvSpPr txBox="1"/>
          <p:nvPr/>
        </p:nvSpPr>
        <p:spPr>
          <a:xfrm>
            <a:off x="8330184" y="1828800"/>
            <a:ext cx="1033272" cy="320040"/>
          </a:xfrm>
          <a:prstGeom prst="rect">
            <a:avLst/>
          </a:prstGeom>
          <a:noFill/>
          <a:ln/>
        </p:spPr>
        <p:txBody>
          <a:bodyPr wrap="square" lIns="0" tIns="0" rIns="0" bIns="0" rtlCol="0" anchor="t"/>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7</a:t>
            </a:r>
            <a:endParaRPr lang="en-US" sz="1400" dirty="0"/>
          </a:p>
        </p:txBody>
      </p:sp>
      <p:sp>
        <p:nvSpPr>
          <p:cNvPr id="29" name="Text 27"/>
          <p:cNvSpPr txBox="1"/>
          <p:nvPr/>
        </p:nvSpPr>
        <p:spPr>
          <a:xfrm>
            <a:off x="8330184" y="2176272"/>
            <a:ext cx="1033272" cy="36576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빈 슬롯</a:t>
            </a:r>
            <a:endParaRPr lang="en-US" sz="850" dirty="0"/>
          </a:p>
        </p:txBody>
      </p:sp>
      <p:sp>
        <p:nvSpPr>
          <p:cNvPr id="30" name="Shape 28"/>
          <p:cNvSpPr/>
          <p:nvPr/>
        </p:nvSpPr>
        <p:spPr>
          <a:xfrm>
            <a:off x="9454896" y="1783080"/>
            <a:ext cx="1033272" cy="822960"/>
          </a:xfrm>
          <a:prstGeom prst="roundRect">
            <a:avLst>
              <a:gd name="adj" fmla="val 5556"/>
            </a:avLst>
          </a:prstGeom>
          <a:solidFill>
            <a:srgbClr val="EEF2F6"/>
          </a:solidFill>
          <a:ln w="12700">
            <a:solidFill>
              <a:srgbClr val="C9D3DF"/>
            </a:solidFill>
            <a:prstDash val="solid"/>
          </a:ln>
        </p:spPr>
      </p:sp>
      <p:sp>
        <p:nvSpPr>
          <p:cNvPr id="31" name="Text 29"/>
          <p:cNvSpPr txBox="1"/>
          <p:nvPr/>
        </p:nvSpPr>
        <p:spPr>
          <a:xfrm>
            <a:off x="9454896" y="1828800"/>
            <a:ext cx="1033272" cy="320040"/>
          </a:xfrm>
          <a:prstGeom prst="rect">
            <a:avLst/>
          </a:prstGeom>
          <a:noFill/>
          <a:ln/>
        </p:spPr>
        <p:txBody>
          <a:bodyPr wrap="square" lIns="0" tIns="0" rIns="0" bIns="0" rtlCol="0" anchor="t"/>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8</a:t>
            </a:r>
            <a:endParaRPr lang="en-US" sz="1400" dirty="0"/>
          </a:p>
        </p:txBody>
      </p:sp>
      <p:sp>
        <p:nvSpPr>
          <p:cNvPr id="32" name="Text 30"/>
          <p:cNvSpPr txBox="1"/>
          <p:nvPr/>
        </p:nvSpPr>
        <p:spPr>
          <a:xfrm>
            <a:off x="9454896" y="2176272"/>
            <a:ext cx="1033272" cy="36576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빈 슬롯</a:t>
            </a:r>
            <a:endParaRPr lang="en-US" sz="850" dirty="0"/>
          </a:p>
        </p:txBody>
      </p:sp>
      <p:sp>
        <p:nvSpPr>
          <p:cNvPr id="33" name="Shape 31"/>
          <p:cNvSpPr/>
          <p:nvPr/>
        </p:nvSpPr>
        <p:spPr>
          <a:xfrm>
            <a:off x="10579608" y="1783080"/>
            <a:ext cx="1033272" cy="822960"/>
          </a:xfrm>
          <a:prstGeom prst="roundRect">
            <a:avLst>
              <a:gd name="adj" fmla="val 5556"/>
            </a:avLst>
          </a:prstGeom>
          <a:solidFill>
            <a:srgbClr val="ECE6FA"/>
          </a:solidFill>
          <a:ln w="12700">
            <a:solidFill>
              <a:srgbClr val="6C4FBF"/>
            </a:solidFill>
            <a:prstDash val="solid"/>
          </a:ln>
        </p:spPr>
      </p:sp>
      <p:sp>
        <p:nvSpPr>
          <p:cNvPr id="34" name="Text 32"/>
          <p:cNvSpPr txBox="1"/>
          <p:nvPr/>
        </p:nvSpPr>
        <p:spPr>
          <a:xfrm>
            <a:off x="10579608" y="1828800"/>
            <a:ext cx="1033272" cy="320040"/>
          </a:xfrm>
          <a:prstGeom prst="rect">
            <a:avLst/>
          </a:prstGeom>
          <a:noFill/>
          <a:ln/>
        </p:spPr>
        <p:txBody>
          <a:bodyPr wrap="square" lIns="0" tIns="0" rIns="0" bIns="0" rtlCol="0" anchor="t"/>
          <a:lstStyle/>
          <a:p>
            <a:pPr algn="ctr" indent="0" marL="0">
              <a:buNone/>
            </a:pPr>
            <a:r>
              <a:rPr lang="en-US" sz="1400" b="1" dirty="0">
                <a:solidFill>
                  <a:srgbClr val="1F2D3D"/>
                </a:solidFill>
                <a:latin typeface="Malgun Gothic" pitchFamily="34" charset="0"/>
                <a:ea typeface="Malgun Gothic" pitchFamily="34" charset="-122"/>
                <a:cs typeface="Malgun Gothic" pitchFamily="34" charset="-120"/>
              </a:rPr>
              <a:t>9</a:t>
            </a:r>
            <a:endParaRPr lang="en-US" sz="1400" dirty="0"/>
          </a:p>
        </p:txBody>
      </p:sp>
      <p:sp>
        <p:nvSpPr>
          <p:cNvPr id="35" name="Text 33"/>
          <p:cNvSpPr txBox="1"/>
          <p:nvPr/>
        </p:nvSpPr>
        <p:spPr>
          <a:xfrm>
            <a:off x="10579608" y="2176272"/>
            <a:ext cx="1033272" cy="36576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현재 token</a:t>
            </a:r>
            <a:endParaRPr lang="en-US" sz="850" dirty="0"/>
          </a:p>
        </p:txBody>
      </p:sp>
      <p:sp>
        <p:nvSpPr>
          <p:cNvPr id="36" name="Text 34"/>
          <p:cNvSpPr txBox="1"/>
          <p:nvPr/>
        </p:nvSpPr>
        <p:spPr>
          <a:xfrm>
            <a:off x="457200" y="2697480"/>
            <a:ext cx="11274552" cy="274320"/>
          </a:xfrm>
          <a:prstGeom prst="rect">
            <a:avLst/>
          </a:prstGeom>
          <a:noFill/>
          <a:ln/>
        </p:spPr>
        <p:txBody>
          <a:bodyPr wrap="square" lIns="0" tIns="0" rIns="0" bIns="0" rtlCol="0" anchor="t"/>
          <a:lstStyle/>
          <a:p>
            <a:pPr algn="l" indent="0" marL="0">
              <a:buNone/>
            </a:pPr>
            <a:r>
              <a:rPr lang="en-US" sz="1100" b="1" dirty="0">
                <a:solidFill>
                  <a:srgbClr val="15243B"/>
                </a:solidFill>
                <a:latin typeface="Courier New" pitchFamily="34" charset="0"/>
                <a:ea typeface="Courier New" pitchFamily="34" charset="-122"/>
                <a:cs typeface="Courier New" pitchFamily="34" charset="-120"/>
              </a:rPr>
              <a:t>mask [1,1,10]:   0   0   0   0   0   0   0   −65504   −65504   0</a:t>
            </a:r>
            <a:endParaRPr lang="en-US" sz="1100" dirty="0"/>
          </a:p>
        </p:txBody>
      </p:sp>
      <p:sp>
        <p:nvSpPr>
          <p:cNvPr id="37" name="Text 35"/>
          <p:cNvSpPr txBox="1"/>
          <p:nvPr/>
        </p:nvSpPr>
        <p:spPr>
          <a:xfrm>
            <a:off x="457200" y="3017520"/>
            <a:ext cx="11274552" cy="274320"/>
          </a:xfrm>
          <a:prstGeom prst="rect">
            <a:avLst/>
          </a:prstGeom>
          <a:noFill/>
          <a:ln/>
        </p:spPr>
        <p:txBody>
          <a:bodyPr wrap="square" lIns="0" tIns="0" rIns="0" bIns="0" rtlCol="0" anchor="t"/>
          <a:lstStyle/>
          <a:p>
            <a:pPr algn="l" indent="0" marL="0">
              <a:buNone/>
            </a:pPr>
            <a:r>
              <a:rPr lang="en-US" sz="1050" dirty="0">
                <a:solidFill>
                  <a:srgbClr val="5B6B7F"/>
                </a:solidFill>
                <a:latin typeface="Malgun Gothic" pitchFamily="34" charset="0"/>
                <a:ea typeface="Malgun Gothic" pitchFamily="34" charset="-122"/>
                <a:cs typeface="Malgun Gothic" pitchFamily="34" charset="-120"/>
              </a:rPr>
              <a:t>cache 갱신: 현재 K/V를 persistent 슬롯 L = 7에 기록 → 다음 step의 유효 길이 8</a:t>
            </a:r>
            <a:endParaRPr lang="en-US" sz="1050" dirty="0"/>
          </a:p>
        </p:txBody>
      </p:sp>
      <p:sp>
        <p:nvSpPr>
          <p:cNvPr id="38" name="Shape 36"/>
          <p:cNvSpPr/>
          <p:nvPr/>
        </p:nvSpPr>
        <p:spPr>
          <a:xfrm>
            <a:off x="457200" y="3474720"/>
            <a:ext cx="5577840" cy="1417320"/>
          </a:xfrm>
          <a:prstGeom prst="roundRect">
            <a:avLst>
              <a:gd name="adj" fmla="val 3226"/>
            </a:avLst>
          </a:prstGeom>
          <a:solidFill>
            <a:srgbClr val="F5F7FA"/>
          </a:solidFill>
          <a:ln w="9525">
            <a:solidFill>
              <a:srgbClr val="C9D3DF"/>
            </a:solidFill>
            <a:prstDash val="solid"/>
          </a:ln>
        </p:spPr>
      </p:sp>
      <p:sp>
        <p:nvSpPr>
          <p:cNvPr id="39" name="Text 37"/>
          <p:cNvSpPr txBox="1"/>
          <p:nvPr/>
        </p:nvSpPr>
        <p:spPr>
          <a:xfrm>
            <a:off x="566928" y="3547872"/>
            <a:ext cx="5358384" cy="127101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def length_mask(capacity, length, dtype=np.float16):</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mask = np.full((1, 1, capacity + 1), -65504.0, dtype=np.float32)</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mask[0, 0, :length] = 0.0        # 유효 prefix</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mask[0, 0, capacity] = 0.0       # 현재 token (임시 슬롯 C)</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return mask.astype(dtype)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AppendPlan.position(mask): 유효 prefix 길이 L 복원, L &gt;= C 이면 "cache is full"</a:t>
            </a:r>
            <a:endParaRPr lang="en-US" sz="85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6263640" y="3474720"/>
          <a:ext cx="5468112" cy="914400"/>
        </p:xfrm>
        <a:graphic>
          <a:graphicData uri="http://schemas.openxmlformats.org/drawingml/2006/table">
            <a:tbl>
              <a:tblPr/>
              <a:tblGrid>
                <a:gridCol w="1828800"/>
                <a:gridCol w="3639312"/>
              </a:tblGrid>
              <a:tr h="274320">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구분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값 (C=9, L=7)</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persistent cache shape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 [28,8,128,9], V [28,8,9,128] (고정)</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attention 길이</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 + 1 = 10 (항상)</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현재 token의 임시 위치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 = 9 (concat 결과의 마지막)</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기록 위치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 = 7 (첫 빈 슬롯), 다음 step L = 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빈 슬롯의 계산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shape·명령에 남아 있음. mask가 기여만 막음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41" name="Shape 38"/>
          <p:cNvSpPr/>
          <p:nvPr/>
        </p:nvSpPr>
        <p:spPr>
          <a:xfrm>
            <a:off x="457200" y="5074920"/>
            <a:ext cx="11274552" cy="731520"/>
          </a:xfrm>
          <a:prstGeom prst="roundRect">
            <a:avLst>
              <a:gd name="adj" fmla="val 7500"/>
            </a:avLst>
          </a:prstGeom>
          <a:solidFill>
            <a:srgbClr val="EEF2F6"/>
          </a:solidFill>
          <a:ln w="12700">
            <a:solidFill>
              <a:srgbClr val="C9D3DF"/>
            </a:solidFill>
            <a:prstDash val="solid"/>
          </a:ln>
        </p:spPr>
      </p:sp>
      <p:sp>
        <p:nvSpPr>
          <p:cNvPr id="42" name="Text 39"/>
          <p:cNvSpPr txBox="1"/>
          <p:nvPr/>
        </p:nvSpPr>
        <p:spPr>
          <a:xfrm>
            <a:off x="585216" y="5129784"/>
            <a:ext cx="11018520" cy="62179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Prefill → decode 초기화: </a:t>
            </a:r>
            <a:pPr algn="l" indent="0" marL="0">
              <a:buNone/>
            </a:pPr>
            <a:r>
              <a:rPr lang="en-US" sz="1000" dirty="0">
                <a:solidFill>
                  <a:srgbClr val="1F2D3D"/>
                </a:solidFill>
                <a:latin typeface="Malgun Gothic" pitchFamily="34" charset="0"/>
                <a:ea typeface="Malgun Gothic" pitchFamily="34" charset="-122"/>
                <a:cs typeface="Malgun Gothic" pitchFamily="34" charset="-120"/>
              </a:rPr>
              <a:t>host가 prefill K/V를 capacity 크기 배열의 앞부분에 복사합니다. 이후 step에서는 새 K/V가 별도 DRAM 출력으로 나오고 program 끝의 DMA tail이 cache의 올바른 슬롯으로 옮깁니다. "매 step NPU가 마지막 슬롯에 저장하면 CPU가 다시 옮긴다"는 설명과 다릅니다.</a:t>
            </a:r>
            <a:endParaRPr lang="en-US" sz="1200" dirty="0"/>
          </a:p>
        </p:txBody>
      </p:sp>
      <p:sp>
        <p:nvSpPr>
          <p:cNvPr id="43" name="Shape 40"/>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44" name="Text 41"/>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큰 음수는 FP16 −65504입니다. 의미상 제외할 슬롯도 계산은 수행되며, capacity 전체 계산이 현재 decode 길이 비용의 한계입니다 (bucket으로 완화).</a:t>
            </a:r>
            <a:endParaRPr lang="en-US" sz="1250" dirty="0"/>
          </a:p>
        </p:txBody>
      </p:sp>
      <p:sp>
        <p:nvSpPr>
          <p:cNvPr id="45" name="Text 42"/>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46" name="Text 43"/>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docs/current/10_runtime_llama.md, npu_generate.length_mask, npu_cache.AppendPlan.position</a:t>
            </a:r>
            <a:endParaRPr lang="en-US" sz="850" dirty="0"/>
          </a:p>
        </p:txBody>
      </p:sp>
      <p:sp>
        <p:nvSpPr>
          <p:cNvPr id="47" name="Text 44"/>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65 / 89</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200" b="1" dirty="0">
                <a:solidFill>
                  <a:srgbClr val="15243B"/>
                </a:solidFill>
                <a:latin typeface="Malgun Gothic" pitchFamily="34" charset="0"/>
                <a:ea typeface="Malgun Gothic" pitchFamily="34" charset="-122"/>
                <a:cs typeface="Malgun Gothic" pitchFamily="34" charset="-120"/>
              </a:rPr>
              <a:t>KV append는 누가 실행하는가: npu.cache_append 계약 → AppendPlan → DMA tail</a:t>
            </a:r>
            <a:endParaRPr lang="en-US" sz="22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K cache는 [128, C]로 transposed 저장이라 새 K(128×1)는 열 하나 = 행마다 2 B를 stride C·2 B로 쓰고, V cache는 [C, 128]이라 새 V는 연속 256 B 행 하나입니다. host는 position으로 주소를 정하고 전송은 NPU 명령이 합니다.</a:t>
            </a:r>
            <a:endParaRPr lang="en-US" sz="1250" dirty="0"/>
          </a:p>
        </p:txBody>
      </p:sp>
      <p:sp>
        <p:nvSpPr>
          <p:cNvPr id="5" name="Shape 3"/>
          <p:cNvSpPr/>
          <p:nvPr/>
        </p:nvSpPr>
        <p:spPr>
          <a:xfrm>
            <a:off x="457200" y="1691640"/>
            <a:ext cx="2468880" cy="1463040"/>
          </a:xfrm>
          <a:prstGeom prst="rect">
            <a:avLst/>
          </a:prstGeom>
          <a:solidFill>
            <a:srgbClr val="EEF2F6"/>
          </a:solidFill>
          <a:ln w="12700">
            <a:solidFill>
              <a:srgbClr val="C9D3DF"/>
            </a:solidFill>
            <a:prstDash val="solid"/>
          </a:ln>
        </p:spPr>
      </p:sp>
      <p:sp>
        <p:nvSpPr>
          <p:cNvPr id="6" name="Shape 4"/>
          <p:cNvSpPr/>
          <p:nvPr/>
        </p:nvSpPr>
        <p:spPr>
          <a:xfrm>
            <a:off x="457200" y="1691640"/>
            <a:ext cx="1920240" cy="1463040"/>
          </a:xfrm>
          <a:prstGeom prst="rect">
            <a:avLst/>
          </a:prstGeom>
          <a:solidFill>
            <a:srgbClr val="FFF1DC"/>
          </a:solidFill>
          <a:ln w="15875">
            <a:solidFill>
              <a:srgbClr val="D98A1E"/>
            </a:solidFill>
            <a:prstDash val="solid"/>
          </a:ln>
        </p:spPr>
      </p:sp>
      <p:sp>
        <p:nvSpPr>
          <p:cNvPr id="7" name="Shape 5"/>
          <p:cNvSpPr/>
          <p:nvPr/>
        </p:nvSpPr>
        <p:spPr>
          <a:xfrm>
            <a:off x="2377440" y="1691640"/>
            <a:ext cx="274320" cy="1463040"/>
          </a:xfrm>
          <a:prstGeom prst="rect">
            <a:avLst/>
          </a:prstGeom>
          <a:solidFill>
            <a:srgbClr val="FFF6DB"/>
          </a:solidFill>
          <a:ln w="15875">
            <a:solidFill>
              <a:srgbClr val="B7791F"/>
            </a:solidFill>
            <a:prstDash val="solid"/>
          </a:ln>
        </p:spPr>
      </p:sp>
      <p:sp>
        <p:nvSpPr>
          <p:cNvPr id="8" name="Shape 6"/>
          <p:cNvSpPr/>
          <p:nvPr/>
        </p:nvSpPr>
        <p:spPr>
          <a:xfrm>
            <a:off x="2651760" y="1691640"/>
            <a:ext cx="274320" cy="1463040"/>
          </a:xfrm>
          <a:prstGeom prst="rect">
            <a:avLst/>
          </a:prstGeom>
          <a:solidFill>
            <a:srgbClr val="EEF2F6"/>
          </a:solidFill>
          <a:ln w="15875">
            <a:solidFill>
              <a:srgbClr val="C9D3DF"/>
            </a:solidFill>
            <a:prstDash val="solid"/>
          </a:ln>
        </p:spPr>
      </p:sp>
      <p:sp>
        <p:nvSpPr>
          <p:cNvPr id="9" name="Shape 7"/>
          <p:cNvSpPr/>
          <p:nvPr/>
        </p:nvSpPr>
        <p:spPr>
          <a:xfrm>
            <a:off x="731520" y="1691640"/>
            <a:ext cx="914" cy="1463040"/>
          </a:xfrm>
          <a:prstGeom prst="line">
            <a:avLst/>
          </a:prstGeom>
          <a:noFill/>
          <a:ln w="5080">
            <a:solidFill>
              <a:srgbClr val="D5DCE5"/>
            </a:solidFill>
            <a:prstDash val="solid"/>
          </a:ln>
        </p:spPr>
      </p:sp>
      <p:sp>
        <p:nvSpPr>
          <p:cNvPr id="10" name="Shape 8"/>
          <p:cNvSpPr/>
          <p:nvPr/>
        </p:nvSpPr>
        <p:spPr>
          <a:xfrm>
            <a:off x="1005840" y="1691640"/>
            <a:ext cx="914" cy="1463040"/>
          </a:xfrm>
          <a:prstGeom prst="line">
            <a:avLst/>
          </a:prstGeom>
          <a:noFill/>
          <a:ln w="5080">
            <a:solidFill>
              <a:srgbClr val="D5DCE5"/>
            </a:solidFill>
            <a:prstDash val="solid"/>
          </a:ln>
        </p:spPr>
      </p:sp>
      <p:sp>
        <p:nvSpPr>
          <p:cNvPr id="11" name="Shape 9"/>
          <p:cNvSpPr/>
          <p:nvPr/>
        </p:nvSpPr>
        <p:spPr>
          <a:xfrm>
            <a:off x="1280160" y="1691640"/>
            <a:ext cx="914" cy="1463040"/>
          </a:xfrm>
          <a:prstGeom prst="line">
            <a:avLst/>
          </a:prstGeom>
          <a:noFill/>
          <a:ln w="5080">
            <a:solidFill>
              <a:srgbClr val="D5DCE5"/>
            </a:solidFill>
            <a:prstDash val="solid"/>
          </a:ln>
        </p:spPr>
      </p:sp>
      <p:sp>
        <p:nvSpPr>
          <p:cNvPr id="12" name="Shape 10"/>
          <p:cNvSpPr/>
          <p:nvPr/>
        </p:nvSpPr>
        <p:spPr>
          <a:xfrm>
            <a:off x="1554480" y="1691640"/>
            <a:ext cx="914" cy="1463040"/>
          </a:xfrm>
          <a:prstGeom prst="line">
            <a:avLst/>
          </a:prstGeom>
          <a:noFill/>
          <a:ln w="5080">
            <a:solidFill>
              <a:srgbClr val="D5DCE5"/>
            </a:solidFill>
            <a:prstDash val="solid"/>
          </a:ln>
        </p:spPr>
      </p:sp>
      <p:sp>
        <p:nvSpPr>
          <p:cNvPr id="13" name="Shape 11"/>
          <p:cNvSpPr/>
          <p:nvPr/>
        </p:nvSpPr>
        <p:spPr>
          <a:xfrm>
            <a:off x="1828800" y="1691640"/>
            <a:ext cx="914" cy="1463040"/>
          </a:xfrm>
          <a:prstGeom prst="line">
            <a:avLst/>
          </a:prstGeom>
          <a:noFill/>
          <a:ln w="5080">
            <a:solidFill>
              <a:srgbClr val="D5DCE5"/>
            </a:solidFill>
            <a:prstDash val="solid"/>
          </a:ln>
        </p:spPr>
      </p:sp>
      <p:sp>
        <p:nvSpPr>
          <p:cNvPr id="14" name="Shape 12"/>
          <p:cNvSpPr/>
          <p:nvPr/>
        </p:nvSpPr>
        <p:spPr>
          <a:xfrm>
            <a:off x="2103120" y="1691640"/>
            <a:ext cx="914" cy="1463040"/>
          </a:xfrm>
          <a:prstGeom prst="line">
            <a:avLst/>
          </a:prstGeom>
          <a:noFill/>
          <a:ln w="5080">
            <a:solidFill>
              <a:srgbClr val="D5DCE5"/>
            </a:solidFill>
            <a:prstDash val="solid"/>
          </a:ln>
        </p:spPr>
      </p:sp>
      <p:sp>
        <p:nvSpPr>
          <p:cNvPr id="15" name="Shape 13"/>
          <p:cNvSpPr/>
          <p:nvPr/>
        </p:nvSpPr>
        <p:spPr>
          <a:xfrm>
            <a:off x="2377440" y="1691640"/>
            <a:ext cx="914" cy="1463040"/>
          </a:xfrm>
          <a:prstGeom prst="line">
            <a:avLst/>
          </a:prstGeom>
          <a:noFill/>
          <a:ln w="5080">
            <a:solidFill>
              <a:srgbClr val="D5DCE5"/>
            </a:solidFill>
            <a:prstDash val="solid"/>
          </a:ln>
        </p:spPr>
      </p:sp>
      <p:sp>
        <p:nvSpPr>
          <p:cNvPr id="16" name="Shape 14"/>
          <p:cNvSpPr/>
          <p:nvPr/>
        </p:nvSpPr>
        <p:spPr>
          <a:xfrm>
            <a:off x="2651760" y="1691640"/>
            <a:ext cx="914" cy="1463040"/>
          </a:xfrm>
          <a:prstGeom prst="line">
            <a:avLst/>
          </a:prstGeom>
          <a:noFill/>
          <a:ln w="5080">
            <a:solidFill>
              <a:srgbClr val="D5DCE5"/>
            </a:solidFill>
            <a:prstDash val="solid"/>
          </a:ln>
        </p:spPr>
      </p:sp>
      <p:sp>
        <p:nvSpPr>
          <p:cNvPr id="17" name="Shape 15"/>
          <p:cNvSpPr/>
          <p:nvPr/>
        </p:nvSpPr>
        <p:spPr>
          <a:xfrm>
            <a:off x="457200" y="1874520"/>
            <a:ext cx="2468880" cy="914"/>
          </a:xfrm>
          <a:prstGeom prst="line">
            <a:avLst/>
          </a:prstGeom>
          <a:noFill/>
          <a:ln w="5080">
            <a:solidFill>
              <a:srgbClr val="D5DCE5"/>
            </a:solidFill>
            <a:prstDash val="solid"/>
          </a:ln>
        </p:spPr>
      </p:sp>
      <p:sp>
        <p:nvSpPr>
          <p:cNvPr id="18" name="Shape 16"/>
          <p:cNvSpPr/>
          <p:nvPr/>
        </p:nvSpPr>
        <p:spPr>
          <a:xfrm>
            <a:off x="457200" y="2057400"/>
            <a:ext cx="2468880" cy="914"/>
          </a:xfrm>
          <a:prstGeom prst="line">
            <a:avLst/>
          </a:prstGeom>
          <a:noFill/>
          <a:ln w="5080">
            <a:solidFill>
              <a:srgbClr val="D5DCE5"/>
            </a:solidFill>
            <a:prstDash val="solid"/>
          </a:ln>
        </p:spPr>
      </p:sp>
      <p:sp>
        <p:nvSpPr>
          <p:cNvPr id="19" name="Shape 17"/>
          <p:cNvSpPr/>
          <p:nvPr/>
        </p:nvSpPr>
        <p:spPr>
          <a:xfrm>
            <a:off x="457200" y="2240280"/>
            <a:ext cx="2468880" cy="914"/>
          </a:xfrm>
          <a:prstGeom prst="line">
            <a:avLst/>
          </a:prstGeom>
          <a:noFill/>
          <a:ln w="5080">
            <a:solidFill>
              <a:srgbClr val="D5DCE5"/>
            </a:solidFill>
            <a:prstDash val="solid"/>
          </a:ln>
        </p:spPr>
      </p:sp>
      <p:sp>
        <p:nvSpPr>
          <p:cNvPr id="20" name="Shape 18"/>
          <p:cNvSpPr/>
          <p:nvPr/>
        </p:nvSpPr>
        <p:spPr>
          <a:xfrm>
            <a:off x="457200" y="2423160"/>
            <a:ext cx="2468880" cy="914"/>
          </a:xfrm>
          <a:prstGeom prst="line">
            <a:avLst/>
          </a:prstGeom>
          <a:noFill/>
          <a:ln w="5080">
            <a:solidFill>
              <a:srgbClr val="D5DCE5"/>
            </a:solidFill>
            <a:prstDash val="solid"/>
          </a:ln>
        </p:spPr>
      </p:sp>
      <p:sp>
        <p:nvSpPr>
          <p:cNvPr id="21" name="Shape 19"/>
          <p:cNvSpPr/>
          <p:nvPr/>
        </p:nvSpPr>
        <p:spPr>
          <a:xfrm>
            <a:off x="457200" y="2606040"/>
            <a:ext cx="2468880" cy="914"/>
          </a:xfrm>
          <a:prstGeom prst="line">
            <a:avLst/>
          </a:prstGeom>
          <a:noFill/>
          <a:ln w="5080">
            <a:solidFill>
              <a:srgbClr val="D5DCE5"/>
            </a:solidFill>
            <a:prstDash val="solid"/>
          </a:ln>
        </p:spPr>
      </p:sp>
      <p:sp>
        <p:nvSpPr>
          <p:cNvPr id="22" name="Shape 20"/>
          <p:cNvSpPr/>
          <p:nvPr/>
        </p:nvSpPr>
        <p:spPr>
          <a:xfrm>
            <a:off x="457200" y="2788920"/>
            <a:ext cx="2468880" cy="914"/>
          </a:xfrm>
          <a:prstGeom prst="line">
            <a:avLst/>
          </a:prstGeom>
          <a:noFill/>
          <a:ln w="5080">
            <a:solidFill>
              <a:srgbClr val="D5DCE5"/>
            </a:solidFill>
            <a:prstDash val="solid"/>
          </a:ln>
        </p:spPr>
      </p:sp>
      <p:sp>
        <p:nvSpPr>
          <p:cNvPr id="23" name="Shape 21"/>
          <p:cNvSpPr/>
          <p:nvPr/>
        </p:nvSpPr>
        <p:spPr>
          <a:xfrm>
            <a:off x="457200" y="2971800"/>
            <a:ext cx="2468880" cy="914"/>
          </a:xfrm>
          <a:prstGeom prst="line">
            <a:avLst/>
          </a:prstGeom>
          <a:noFill/>
          <a:ln w="5080">
            <a:solidFill>
              <a:srgbClr val="D5DCE5"/>
            </a:solidFill>
            <a:prstDash val="solid"/>
          </a:ln>
        </p:spPr>
      </p:sp>
      <p:sp>
        <p:nvSpPr>
          <p:cNvPr id="24" name="Text 22"/>
          <p:cNvSpPr txBox="1"/>
          <p:nvPr/>
        </p:nvSpPr>
        <p:spPr>
          <a:xfrm>
            <a:off x="457200" y="1691640"/>
            <a:ext cx="1920240" cy="146304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유효 slot 0 … 6</a:t>
            </a:r>
            <a:endParaRPr lang="en-US" sz="700" dirty="0"/>
          </a:p>
        </p:txBody>
      </p:sp>
      <p:sp>
        <p:nvSpPr>
          <p:cNvPr id="25" name="Text 23"/>
          <p:cNvSpPr txBox="1"/>
          <p:nvPr/>
        </p:nvSpPr>
        <p:spPr>
          <a:xfrm>
            <a:off x="2377440" y="1691640"/>
            <a:ext cx="274320" cy="146304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L=7</a:t>
            </a:r>
            <a:endParaRPr lang="en-US" sz="700" dirty="0"/>
          </a:p>
        </p:txBody>
      </p:sp>
      <p:sp>
        <p:nvSpPr>
          <p:cNvPr id="26" name="Text 24"/>
          <p:cNvSpPr txBox="1"/>
          <p:nvPr/>
        </p:nvSpPr>
        <p:spPr>
          <a:xfrm>
            <a:off x="2651760" y="1691640"/>
            <a:ext cx="274320" cy="1463040"/>
          </a:xfrm>
          <a:prstGeom prst="rect">
            <a:avLst/>
          </a:prstGeom>
          <a:noFill/>
          <a:ln/>
        </p:spPr>
        <p:txBody>
          <a:bodyPr wrap="square" lIns="0" tIns="0" rIns="0" bIns="0" rtlCol="0" anchor="ctr"/>
          <a:lstStyle/>
          <a:p>
            <a:pPr algn="ctr" indent="0" marL="0">
              <a:buNone/>
            </a:pPr>
            <a:r>
              <a:rPr lang="en-US" sz="700" b="1" dirty="0">
                <a:solidFill>
                  <a:srgbClr val="5B6B7F"/>
                </a:solidFill>
                <a:latin typeface="Malgun Gothic" pitchFamily="34" charset="0"/>
                <a:ea typeface="Malgun Gothic" pitchFamily="34" charset="-122"/>
                <a:cs typeface="Malgun Gothic" pitchFamily="34" charset="-120"/>
              </a:rPr>
              <a:t>8</a:t>
            </a:r>
            <a:endParaRPr lang="en-US" sz="700" dirty="0"/>
          </a:p>
        </p:txBody>
      </p:sp>
      <p:sp>
        <p:nvSpPr>
          <p:cNvPr id="27" name="Text 25"/>
          <p:cNvSpPr txBox="1"/>
          <p:nvPr/>
        </p:nvSpPr>
        <p:spPr>
          <a:xfrm>
            <a:off x="457200" y="1463040"/>
            <a:ext cx="31089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k_cache[l, h] = [128, C=9]  (열 = slot, transposed 저장)</a:t>
            </a:r>
            <a:endParaRPr lang="en-US" sz="850" dirty="0"/>
          </a:p>
        </p:txBody>
      </p:sp>
      <p:sp>
        <p:nvSpPr>
          <p:cNvPr id="28" name="Text 26"/>
          <p:cNvSpPr txBox="1"/>
          <p:nvPr/>
        </p:nvSpPr>
        <p:spPr>
          <a:xfrm>
            <a:off x="457200" y="3191256"/>
            <a:ext cx="310896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append = 128행 × 2 B, stride C×2 = 18 B → 2D DMA (row_bytes % 4 검사; 홀수면 cell RMW)</a:t>
            </a:r>
            <a:endParaRPr lang="en-US" sz="750" dirty="0"/>
          </a:p>
        </p:txBody>
      </p:sp>
      <p:sp>
        <p:nvSpPr>
          <p:cNvPr id="29" name="Shape 27"/>
          <p:cNvSpPr/>
          <p:nvPr/>
        </p:nvSpPr>
        <p:spPr>
          <a:xfrm>
            <a:off x="3429000" y="1691640"/>
            <a:ext cx="274320" cy="1463040"/>
          </a:xfrm>
          <a:prstGeom prst="rect">
            <a:avLst/>
          </a:prstGeom>
          <a:solidFill>
            <a:srgbClr val="ECE6FA"/>
          </a:solidFill>
          <a:ln w="12700">
            <a:solidFill>
              <a:srgbClr val="6C4FBF"/>
            </a:solidFill>
            <a:prstDash val="solid"/>
          </a:ln>
        </p:spPr>
      </p:sp>
      <p:sp>
        <p:nvSpPr>
          <p:cNvPr id="30" name="Shape 28"/>
          <p:cNvSpPr/>
          <p:nvPr/>
        </p:nvSpPr>
        <p:spPr>
          <a:xfrm>
            <a:off x="3429000" y="1691640"/>
            <a:ext cx="274320" cy="1463040"/>
          </a:xfrm>
          <a:prstGeom prst="rect">
            <a:avLst/>
          </a:prstGeom>
          <a:solidFill>
            <a:srgbClr val="ECE6FA"/>
          </a:solidFill>
          <a:ln w="15875">
            <a:solidFill>
              <a:srgbClr val="6C4FBF"/>
            </a:solidFill>
            <a:prstDash val="solid"/>
          </a:ln>
        </p:spPr>
      </p:sp>
      <p:sp>
        <p:nvSpPr>
          <p:cNvPr id="31" name="Shape 29"/>
          <p:cNvSpPr/>
          <p:nvPr/>
        </p:nvSpPr>
        <p:spPr>
          <a:xfrm>
            <a:off x="3429000" y="1874520"/>
            <a:ext cx="274320" cy="914"/>
          </a:xfrm>
          <a:prstGeom prst="line">
            <a:avLst/>
          </a:prstGeom>
          <a:noFill/>
          <a:ln w="5080">
            <a:solidFill>
              <a:srgbClr val="D5DCE5"/>
            </a:solidFill>
            <a:prstDash val="solid"/>
          </a:ln>
        </p:spPr>
      </p:sp>
      <p:sp>
        <p:nvSpPr>
          <p:cNvPr id="32" name="Shape 30"/>
          <p:cNvSpPr/>
          <p:nvPr/>
        </p:nvSpPr>
        <p:spPr>
          <a:xfrm>
            <a:off x="3429000" y="2057400"/>
            <a:ext cx="274320" cy="914"/>
          </a:xfrm>
          <a:prstGeom prst="line">
            <a:avLst/>
          </a:prstGeom>
          <a:noFill/>
          <a:ln w="5080">
            <a:solidFill>
              <a:srgbClr val="D5DCE5"/>
            </a:solidFill>
            <a:prstDash val="solid"/>
          </a:ln>
        </p:spPr>
      </p:sp>
      <p:sp>
        <p:nvSpPr>
          <p:cNvPr id="33" name="Shape 31"/>
          <p:cNvSpPr/>
          <p:nvPr/>
        </p:nvSpPr>
        <p:spPr>
          <a:xfrm>
            <a:off x="3429000" y="2240280"/>
            <a:ext cx="274320" cy="914"/>
          </a:xfrm>
          <a:prstGeom prst="line">
            <a:avLst/>
          </a:prstGeom>
          <a:noFill/>
          <a:ln w="5080">
            <a:solidFill>
              <a:srgbClr val="D5DCE5"/>
            </a:solidFill>
            <a:prstDash val="solid"/>
          </a:ln>
        </p:spPr>
      </p:sp>
      <p:sp>
        <p:nvSpPr>
          <p:cNvPr id="34" name="Shape 32"/>
          <p:cNvSpPr/>
          <p:nvPr/>
        </p:nvSpPr>
        <p:spPr>
          <a:xfrm>
            <a:off x="3429000" y="2423160"/>
            <a:ext cx="274320" cy="914"/>
          </a:xfrm>
          <a:prstGeom prst="line">
            <a:avLst/>
          </a:prstGeom>
          <a:noFill/>
          <a:ln w="5080">
            <a:solidFill>
              <a:srgbClr val="D5DCE5"/>
            </a:solidFill>
            <a:prstDash val="solid"/>
          </a:ln>
        </p:spPr>
      </p:sp>
      <p:sp>
        <p:nvSpPr>
          <p:cNvPr id="35" name="Shape 33"/>
          <p:cNvSpPr/>
          <p:nvPr/>
        </p:nvSpPr>
        <p:spPr>
          <a:xfrm>
            <a:off x="3429000" y="2606040"/>
            <a:ext cx="274320" cy="914"/>
          </a:xfrm>
          <a:prstGeom prst="line">
            <a:avLst/>
          </a:prstGeom>
          <a:noFill/>
          <a:ln w="5080">
            <a:solidFill>
              <a:srgbClr val="D5DCE5"/>
            </a:solidFill>
            <a:prstDash val="solid"/>
          </a:ln>
        </p:spPr>
      </p:sp>
      <p:sp>
        <p:nvSpPr>
          <p:cNvPr id="36" name="Shape 34"/>
          <p:cNvSpPr/>
          <p:nvPr/>
        </p:nvSpPr>
        <p:spPr>
          <a:xfrm>
            <a:off x="3429000" y="2788920"/>
            <a:ext cx="274320" cy="914"/>
          </a:xfrm>
          <a:prstGeom prst="line">
            <a:avLst/>
          </a:prstGeom>
          <a:noFill/>
          <a:ln w="5080">
            <a:solidFill>
              <a:srgbClr val="D5DCE5"/>
            </a:solidFill>
            <a:prstDash val="solid"/>
          </a:ln>
        </p:spPr>
      </p:sp>
      <p:sp>
        <p:nvSpPr>
          <p:cNvPr id="37" name="Shape 35"/>
          <p:cNvSpPr/>
          <p:nvPr/>
        </p:nvSpPr>
        <p:spPr>
          <a:xfrm>
            <a:off x="3429000" y="2971800"/>
            <a:ext cx="274320" cy="914"/>
          </a:xfrm>
          <a:prstGeom prst="line">
            <a:avLst/>
          </a:prstGeom>
          <a:noFill/>
          <a:ln w="5080">
            <a:solidFill>
              <a:srgbClr val="D5DCE5"/>
            </a:solidFill>
            <a:prstDash val="solid"/>
          </a:ln>
        </p:spPr>
      </p:sp>
      <p:sp>
        <p:nvSpPr>
          <p:cNvPr id="38" name="Text 36"/>
          <p:cNvSpPr txBox="1"/>
          <p:nvPr/>
        </p:nvSpPr>
        <p:spPr>
          <a:xfrm>
            <a:off x="3429000" y="1463040"/>
            <a:ext cx="64008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K_new</a:t>
            </a:r>
            <a:endParaRPr lang="en-US" sz="850" dirty="0"/>
          </a:p>
          <a:p>
            <a:pPr algn="l" indent="0" marL="0">
              <a:buNone/>
            </a:pPr>
            <a:r>
              <a:rPr lang="en-US" sz="850" b="1" dirty="0">
                <a:solidFill>
                  <a:srgbClr val="15243B"/>
                </a:solidFill>
                <a:latin typeface="Malgun Gothic" pitchFamily="34" charset="0"/>
                <a:ea typeface="Malgun Gothic" pitchFamily="34" charset="-122"/>
                <a:cs typeface="Malgun Gothic" pitchFamily="34" charset="-120"/>
              </a:rPr>
              <a:t>[128,1]</a:t>
            </a:r>
            <a:endParaRPr lang="en-US" sz="850" dirty="0"/>
          </a:p>
        </p:txBody>
      </p:sp>
      <p:sp>
        <p:nvSpPr>
          <p:cNvPr id="39" name="Shape 37"/>
          <p:cNvSpPr/>
          <p:nvPr/>
        </p:nvSpPr>
        <p:spPr>
          <a:xfrm flipH="1">
            <a:off x="2514600" y="2423160"/>
            <a:ext cx="914400" cy="914"/>
          </a:xfrm>
          <a:prstGeom prst="line">
            <a:avLst/>
          </a:prstGeom>
          <a:noFill/>
          <a:ln w="25400">
            <a:solidFill>
              <a:srgbClr val="B7791F"/>
            </a:solidFill>
            <a:prstDash val="solid"/>
            <a:tailEnd type="triangle"/>
          </a:ln>
        </p:spPr>
      </p:sp>
      <p:sp>
        <p:nvSpPr>
          <p:cNvPr id="40" name="Text 38"/>
          <p:cNvSpPr txBox="1"/>
          <p:nvPr/>
        </p:nvSpPr>
        <p:spPr>
          <a:xfrm>
            <a:off x="3749040" y="2194560"/>
            <a:ext cx="822960" cy="457200"/>
          </a:xfrm>
          <a:prstGeom prst="rect">
            <a:avLst/>
          </a:prstGeom>
          <a:noFill/>
          <a:ln/>
        </p:spPr>
        <p:txBody>
          <a:bodyPr wrap="square" lIns="0" tIns="0" rIns="0" bIns="0" rtlCol="0" anchor="t"/>
          <a:lstStyle/>
          <a:p>
            <a:pPr algn="l" indent="0" marL="0">
              <a:buNone/>
            </a:pPr>
            <a:r>
              <a:rPr lang="en-US" sz="650" dirty="0">
                <a:solidFill>
                  <a:srgbClr val="B7791F"/>
                </a:solidFill>
                <a:latin typeface="Malgun Gothic" pitchFamily="34" charset="0"/>
                <a:ea typeface="Malgun Gothic" pitchFamily="34" charset="-122"/>
                <a:cs typeface="Malgun Gothic" pitchFamily="34" charset="-120"/>
              </a:rPr>
              <a:t>DMA tail</a:t>
            </a:r>
            <a:endParaRPr lang="en-US" sz="650" dirty="0"/>
          </a:p>
          <a:p>
            <a:pPr algn="l" indent="0" marL="0">
              <a:buNone/>
            </a:pPr>
            <a:r>
              <a:rPr lang="en-US" sz="650" dirty="0">
                <a:solidFill>
                  <a:srgbClr val="B7791F"/>
                </a:solidFill>
                <a:latin typeface="Malgun Gothic" pitchFamily="34" charset="0"/>
                <a:ea typeface="Malgun Gothic" pitchFamily="34" charset="-122"/>
                <a:cs typeface="Malgun Gothic" pitchFamily="34" charset="-120"/>
              </a:rPr>
              <a:t>(별도 DRAM</a:t>
            </a:r>
            <a:endParaRPr lang="en-US" sz="650" dirty="0"/>
          </a:p>
          <a:p>
            <a:pPr algn="l" indent="0" marL="0">
              <a:buNone/>
            </a:pPr>
            <a:r>
              <a:rPr lang="en-US" sz="650" dirty="0">
                <a:solidFill>
                  <a:srgbClr val="B7791F"/>
                </a:solidFill>
                <a:latin typeface="Malgun Gothic" pitchFamily="34" charset="0"/>
                <a:ea typeface="Malgun Gothic" pitchFamily="34" charset="-122"/>
                <a:cs typeface="Malgun Gothic" pitchFamily="34" charset="-120"/>
              </a:rPr>
              <a:t>출력에서)</a:t>
            </a:r>
            <a:endParaRPr lang="en-US" sz="650" dirty="0"/>
          </a:p>
        </p:txBody>
      </p:sp>
      <p:sp>
        <p:nvSpPr>
          <p:cNvPr id="41" name="Shape 39"/>
          <p:cNvSpPr/>
          <p:nvPr/>
        </p:nvSpPr>
        <p:spPr>
          <a:xfrm>
            <a:off x="4572000" y="1508760"/>
            <a:ext cx="2194560" cy="1828800"/>
          </a:xfrm>
          <a:prstGeom prst="rect">
            <a:avLst/>
          </a:prstGeom>
          <a:solidFill>
            <a:srgbClr val="EEF2F6"/>
          </a:solidFill>
          <a:ln w="12700">
            <a:solidFill>
              <a:srgbClr val="C9D3DF"/>
            </a:solidFill>
            <a:prstDash val="solid"/>
          </a:ln>
        </p:spPr>
      </p:sp>
      <p:sp>
        <p:nvSpPr>
          <p:cNvPr id="42" name="Shape 40"/>
          <p:cNvSpPr/>
          <p:nvPr/>
        </p:nvSpPr>
        <p:spPr>
          <a:xfrm>
            <a:off x="4572000" y="1508760"/>
            <a:ext cx="2194560" cy="1422400"/>
          </a:xfrm>
          <a:prstGeom prst="rect">
            <a:avLst/>
          </a:prstGeom>
          <a:solidFill>
            <a:srgbClr val="FFF1DC"/>
          </a:solidFill>
          <a:ln w="15875">
            <a:solidFill>
              <a:srgbClr val="D98A1E"/>
            </a:solidFill>
            <a:prstDash val="solid"/>
          </a:ln>
        </p:spPr>
      </p:sp>
      <p:sp>
        <p:nvSpPr>
          <p:cNvPr id="43" name="Shape 41"/>
          <p:cNvSpPr/>
          <p:nvPr/>
        </p:nvSpPr>
        <p:spPr>
          <a:xfrm>
            <a:off x="4572000" y="2931160"/>
            <a:ext cx="2194560" cy="203200"/>
          </a:xfrm>
          <a:prstGeom prst="rect">
            <a:avLst/>
          </a:prstGeom>
          <a:solidFill>
            <a:srgbClr val="FFF6DB"/>
          </a:solidFill>
          <a:ln w="15875">
            <a:solidFill>
              <a:srgbClr val="B7791F"/>
            </a:solidFill>
            <a:prstDash val="solid"/>
          </a:ln>
        </p:spPr>
      </p:sp>
      <p:sp>
        <p:nvSpPr>
          <p:cNvPr id="44" name="Shape 42"/>
          <p:cNvSpPr/>
          <p:nvPr/>
        </p:nvSpPr>
        <p:spPr>
          <a:xfrm>
            <a:off x="4572000" y="3134360"/>
            <a:ext cx="2194560" cy="203200"/>
          </a:xfrm>
          <a:prstGeom prst="rect">
            <a:avLst/>
          </a:prstGeom>
          <a:solidFill>
            <a:srgbClr val="EEF2F6"/>
          </a:solidFill>
          <a:ln w="15875">
            <a:solidFill>
              <a:srgbClr val="C9D3DF"/>
            </a:solidFill>
            <a:prstDash val="solid"/>
          </a:ln>
        </p:spPr>
      </p:sp>
      <p:sp>
        <p:nvSpPr>
          <p:cNvPr id="45" name="Shape 43"/>
          <p:cNvSpPr/>
          <p:nvPr/>
        </p:nvSpPr>
        <p:spPr>
          <a:xfrm>
            <a:off x="4846320" y="1508760"/>
            <a:ext cx="914" cy="1828800"/>
          </a:xfrm>
          <a:prstGeom prst="line">
            <a:avLst/>
          </a:prstGeom>
          <a:noFill/>
          <a:ln w="5080">
            <a:solidFill>
              <a:srgbClr val="D5DCE5"/>
            </a:solidFill>
            <a:prstDash val="solid"/>
          </a:ln>
        </p:spPr>
      </p:sp>
      <p:sp>
        <p:nvSpPr>
          <p:cNvPr id="46" name="Shape 44"/>
          <p:cNvSpPr/>
          <p:nvPr/>
        </p:nvSpPr>
        <p:spPr>
          <a:xfrm>
            <a:off x="5120640" y="1508760"/>
            <a:ext cx="914" cy="1828800"/>
          </a:xfrm>
          <a:prstGeom prst="line">
            <a:avLst/>
          </a:prstGeom>
          <a:noFill/>
          <a:ln w="5080">
            <a:solidFill>
              <a:srgbClr val="D5DCE5"/>
            </a:solidFill>
            <a:prstDash val="solid"/>
          </a:ln>
        </p:spPr>
      </p:sp>
      <p:sp>
        <p:nvSpPr>
          <p:cNvPr id="47" name="Shape 45"/>
          <p:cNvSpPr/>
          <p:nvPr/>
        </p:nvSpPr>
        <p:spPr>
          <a:xfrm>
            <a:off x="5394960" y="1508760"/>
            <a:ext cx="914" cy="1828800"/>
          </a:xfrm>
          <a:prstGeom prst="line">
            <a:avLst/>
          </a:prstGeom>
          <a:noFill/>
          <a:ln w="5080">
            <a:solidFill>
              <a:srgbClr val="D5DCE5"/>
            </a:solidFill>
            <a:prstDash val="solid"/>
          </a:ln>
        </p:spPr>
      </p:sp>
      <p:sp>
        <p:nvSpPr>
          <p:cNvPr id="48" name="Shape 46"/>
          <p:cNvSpPr/>
          <p:nvPr/>
        </p:nvSpPr>
        <p:spPr>
          <a:xfrm>
            <a:off x="5669280" y="1508760"/>
            <a:ext cx="914" cy="1828800"/>
          </a:xfrm>
          <a:prstGeom prst="line">
            <a:avLst/>
          </a:prstGeom>
          <a:noFill/>
          <a:ln w="5080">
            <a:solidFill>
              <a:srgbClr val="D5DCE5"/>
            </a:solidFill>
            <a:prstDash val="solid"/>
          </a:ln>
        </p:spPr>
      </p:sp>
      <p:sp>
        <p:nvSpPr>
          <p:cNvPr id="49" name="Shape 47"/>
          <p:cNvSpPr/>
          <p:nvPr/>
        </p:nvSpPr>
        <p:spPr>
          <a:xfrm>
            <a:off x="5943600" y="1508760"/>
            <a:ext cx="914" cy="1828800"/>
          </a:xfrm>
          <a:prstGeom prst="line">
            <a:avLst/>
          </a:prstGeom>
          <a:noFill/>
          <a:ln w="5080">
            <a:solidFill>
              <a:srgbClr val="D5DCE5"/>
            </a:solidFill>
            <a:prstDash val="solid"/>
          </a:ln>
        </p:spPr>
      </p:sp>
      <p:sp>
        <p:nvSpPr>
          <p:cNvPr id="50" name="Shape 48"/>
          <p:cNvSpPr/>
          <p:nvPr/>
        </p:nvSpPr>
        <p:spPr>
          <a:xfrm>
            <a:off x="6217920" y="1508760"/>
            <a:ext cx="914" cy="1828800"/>
          </a:xfrm>
          <a:prstGeom prst="line">
            <a:avLst/>
          </a:prstGeom>
          <a:noFill/>
          <a:ln w="5080">
            <a:solidFill>
              <a:srgbClr val="D5DCE5"/>
            </a:solidFill>
            <a:prstDash val="solid"/>
          </a:ln>
        </p:spPr>
      </p:sp>
      <p:sp>
        <p:nvSpPr>
          <p:cNvPr id="51" name="Shape 49"/>
          <p:cNvSpPr/>
          <p:nvPr/>
        </p:nvSpPr>
        <p:spPr>
          <a:xfrm>
            <a:off x="6492240" y="1508760"/>
            <a:ext cx="914" cy="1828800"/>
          </a:xfrm>
          <a:prstGeom prst="line">
            <a:avLst/>
          </a:prstGeom>
          <a:noFill/>
          <a:ln w="5080">
            <a:solidFill>
              <a:srgbClr val="D5DCE5"/>
            </a:solidFill>
            <a:prstDash val="solid"/>
          </a:ln>
        </p:spPr>
      </p:sp>
      <p:sp>
        <p:nvSpPr>
          <p:cNvPr id="52" name="Shape 50"/>
          <p:cNvSpPr/>
          <p:nvPr/>
        </p:nvSpPr>
        <p:spPr>
          <a:xfrm>
            <a:off x="4572000" y="1711960"/>
            <a:ext cx="2194560" cy="914"/>
          </a:xfrm>
          <a:prstGeom prst="line">
            <a:avLst/>
          </a:prstGeom>
          <a:noFill/>
          <a:ln w="5080">
            <a:solidFill>
              <a:srgbClr val="D5DCE5"/>
            </a:solidFill>
            <a:prstDash val="solid"/>
          </a:ln>
        </p:spPr>
      </p:sp>
      <p:sp>
        <p:nvSpPr>
          <p:cNvPr id="53" name="Shape 51"/>
          <p:cNvSpPr/>
          <p:nvPr/>
        </p:nvSpPr>
        <p:spPr>
          <a:xfrm>
            <a:off x="4572000" y="1915160"/>
            <a:ext cx="2194560" cy="914"/>
          </a:xfrm>
          <a:prstGeom prst="line">
            <a:avLst/>
          </a:prstGeom>
          <a:noFill/>
          <a:ln w="5080">
            <a:solidFill>
              <a:srgbClr val="D5DCE5"/>
            </a:solidFill>
            <a:prstDash val="solid"/>
          </a:ln>
        </p:spPr>
      </p:sp>
      <p:sp>
        <p:nvSpPr>
          <p:cNvPr id="54" name="Shape 52"/>
          <p:cNvSpPr/>
          <p:nvPr/>
        </p:nvSpPr>
        <p:spPr>
          <a:xfrm>
            <a:off x="4572000" y="2118360"/>
            <a:ext cx="2194560" cy="914"/>
          </a:xfrm>
          <a:prstGeom prst="line">
            <a:avLst/>
          </a:prstGeom>
          <a:noFill/>
          <a:ln w="5080">
            <a:solidFill>
              <a:srgbClr val="D5DCE5"/>
            </a:solidFill>
            <a:prstDash val="solid"/>
          </a:ln>
        </p:spPr>
      </p:sp>
      <p:sp>
        <p:nvSpPr>
          <p:cNvPr id="55" name="Shape 53"/>
          <p:cNvSpPr/>
          <p:nvPr/>
        </p:nvSpPr>
        <p:spPr>
          <a:xfrm>
            <a:off x="4572000" y="2321560"/>
            <a:ext cx="2194560" cy="914"/>
          </a:xfrm>
          <a:prstGeom prst="line">
            <a:avLst/>
          </a:prstGeom>
          <a:noFill/>
          <a:ln w="5080">
            <a:solidFill>
              <a:srgbClr val="D5DCE5"/>
            </a:solidFill>
            <a:prstDash val="solid"/>
          </a:ln>
        </p:spPr>
      </p:sp>
      <p:sp>
        <p:nvSpPr>
          <p:cNvPr id="56" name="Shape 54"/>
          <p:cNvSpPr/>
          <p:nvPr/>
        </p:nvSpPr>
        <p:spPr>
          <a:xfrm>
            <a:off x="4572000" y="2524760"/>
            <a:ext cx="2194560" cy="914"/>
          </a:xfrm>
          <a:prstGeom prst="line">
            <a:avLst/>
          </a:prstGeom>
          <a:noFill/>
          <a:ln w="5080">
            <a:solidFill>
              <a:srgbClr val="D5DCE5"/>
            </a:solidFill>
            <a:prstDash val="solid"/>
          </a:ln>
        </p:spPr>
      </p:sp>
      <p:sp>
        <p:nvSpPr>
          <p:cNvPr id="57" name="Shape 55"/>
          <p:cNvSpPr/>
          <p:nvPr/>
        </p:nvSpPr>
        <p:spPr>
          <a:xfrm>
            <a:off x="4572000" y="2727960"/>
            <a:ext cx="2194560" cy="914"/>
          </a:xfrm>
          <a:prstGeom prst="line">
            <a:avLst/>
          </a:prstGeom>
          <a:noFill/>
          <a:ln w="5080">
            <a:solidFill>
              <a:srgbClr val="D5DCE5"/>
            </a:solidFill>
            <a:prstDash val="solid"/>
          </a:ln>
        </p:spPr>
      </p:sp>
      <p:sp>
        <p:nvSpPr>
          <p:cNvPr id="58" name="Shape 56"/>
          <p:cNvSpPr/>
          <p:nvPr/>
        </p:nvSpPr>
        <p:spPr>
          <a:xfrm>
            <a:off x="4572000" y="2931160"/>
            <a:ext cx="2194560" cy="914"/>
          </a:xfrm>
          <a:prstGeom prst="line">
            <a:avLst/>
          </a:prstGeom>
          <a:noFill/>
          <a:ln w="5080">
            <a:solidFill>
              <a:srgbClr val="D5DCE5"/>
            </a:solidFill>
            <a:prstDash val="solid"/>
          </a:ln>
        </p:spPr>
      </p:sp>
      <p:sp>
        <p:nvSpPr>
          <p:cNvPr id="59" name="Shape 57"/>
          <p:cNvSpPr/>
          <p:nvPr/>
        </p:nvSpPr>
        <p:spPr>
          <a:xfrm>
            <a:off x="4572000" y="3134360"/>
            <a:ext cx="2194560" cy="914"/>
          </a:xfrm>
          <a:prstGeom prst="line">
            <a:avLst/>
          </a:prstGeom>
          <a:noFill/>
          <a:ln w="5080">
            <a:solidFill>
              <a:srgbClr val="D5DCE5"/>
            </a:solidFill>
            <a:prstDash val="solid"/>
          </a:ln>
        </p:spPr>
      </p:sp>
      <p:sp>
        <p:nvSpPr>
          <p:cNvPr id="60" name="Text 58"/>
          <p:cNvSpPr txBox="1"/>
          <p:nvPr/>
        </p:nvSpPr>
        <p:spPr>
          <a:xfrm>
            <a:off x="4572000" y="1508760"/>
            <a:ext cx="2194560" cy="142240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유효 slot 0 … 6</a:t>
            </a:r>
            <a:endParaRPr lang="en-US" sz="700" dirty="0"/>
          </a:p>
        </p:txBody>
      </p:sp>
      <p:sp>
        <p:nvSpPr>
          <p:cNvPr id="61" name="Text 59"/>
          <p:cNvSpPr txBox="1"/>
          <p:nvPr/>
        </p:nvSpPr>
        <p:spPr>
          <a:xfrm>
            <a:off x="4572000" y="2931160"/>
            <a:ext cx="2194560" cy="20320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L=7</a:t>
            </a:r>
            <a:endParaRPr lang="en-US" sz="700" dirty="0"/>
          </a:p>
        </p:txBody>
      </p:sp>
      <p:sp>
        <p:nvSpPr>
          <p:cNvPr id="62" name="Text 60"/>
          <p:cNvSpPr txBox="1"/>
          <p:nvPr/>
        </p:nvSpPr>
        <p:spPr>
          <a:xfrm>
            <a:off x="4572000" y="3134360"/>
            <a:ext cx="2194560" cy="203200"/>
          </a:xfrm>
          <a:prstGeom prst="rect">
            <a:avLst/>
          </a:prstGeom>
          <a:noFill/>
          <a:ln/>
        </p:spPr>
        <p:txBody>
          <a:bodyPr wrap="square" lIns="0" tIns="0" rIns="0" bIns="0" rtlCol="0" anchor="ctr"/>
          <a:lstStyle/>
          <a:p>
            <a:pPr algn="ctr" indent="0" marL="0">
              <a:buNone/>
            </a:pPr>
            <a:r>
              <a:rPr lang="en-US" sz="700" b="1" dirty="0">
                <a:solidFill>
                  <a:srgbClr val="5B6B7F"/>
                </a:solidFill>
                <a:latin typeface="Malgun Gothic" pitchFamily="34" charset="0"/>
                <a:ea typeface="Malgun Gothic" pitchFamily="34" charset="-122"/>
                <a:cs typeface="Malgun Gothic" pitchFamily="34" charset="-120"/>
              </a:rPr>
              <a:t>8</a:t>
            </a:r>
            <a:endParaRPr lang="en-US" sz="700" dirty="0"/>
          </a:p>
        </p:txBody>
      </p:sp>
      <p:sp>
        <p:nvSpPr>
          <p:cNvPr id="63" name="Text 61"/>
          <p:cNvSpPr txBox="1"/>
          <p:nvPr/>
        </p:nvSpPr>
        <p:spPr>
          <a:xfrm>
            <a:off x="4572000" y="1280160"/>
            <a:ext cx="237744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v_cache[l, h] = [C=9, 128]  (행 = slot)</a:t>
            </a:r>
            <a:endParaRPr lang="en-US" sz="850" dirty="0"/>
          </a:p>
        </p:txBody>
      </p:sp>
      <p:sp>
        <p:nvSpPr>
          <p:cNvPr id="64" name="Text 62"/>
          <p:cNvSpPr txBox="1"/>
          <p:nvPr/>
        </p:nvSpPr>
        <p:spPr>
          <a:xfrm>
            <a:off x="4572000" y="3374136"/>
            <a:ext cx="237744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append = 연속 256 B 행 1개 → 1D DMA</a:t>
            </a:r>
            <a:endParaRPr lang="en-US" sz="750" dirty="0"/>
          </a:p>
        </p:txBody>
      </p:sp>
      <p:sp>
        <p:nvSpPr>
          <p:cNvPr id="65" name="Shape 63"/>
          <p:cNvSpPr/>
          <p:nvPr/>
        </p:nvSpPr>
        <p:spPr>
          <a:xfrm>
            <a:off x="7178040" y="3017520"/>
            <a:ext cx="2194560" cy="201168"/>
          </a:xfrm>
          <a:prstGeom prst="rect">
            <a:avLst/>
          </a:prstGeom>
          <a:solidFill>
            <a:srgbClr val="ECE6FA"/>
          </a:solidFill>
          <a:ln w="12700">
            <a:solidFill>
              <a:srgbClr val="6C4FBF"/>
            </a:solidFill>
            <a:prstDash val="solid"/>
          </a:ln>
        </p:spPr>
      </p:sp>
      <p:sp>
        <p:nvSpPr>
          <p:cNvPr id="66" name="Shape 64"/>
          <p:cNvSpPr/>
          <p:nvPr/>
        </p:nvSpPr>
        <p:spPr>
          <a:xfrm>
            <a:off x="7178040" y="3017520"/>
            <a:ext cx="2194560" cy="201168"/>
          </a:xfrm>
          <a:prstGeom prst="rect">
            <a:avLst/>
          </a:prstGeom>
          <a:solidFill>
            <a:srgbClr val="ECE6FA"/>
          </a:solidFill>
          <a:ln w="15875">
            <a:solidFill>
              <a:srgbClr val="6C4FBF"/>
            </a:solidFill>
            <a:prstDash val="solid"/>
          </a:ln>
        </p:spPr>
      </p:sp>
      <p:sp>
        <p:nvSpPr>
          <p:cNvPr id="67" name="Shape 65"/>
          <p:cNvSpPr/>
          <p:nvPr/>
        </p:nvSpPr>
        <p:spPr>
          <a:xfrm>
            <a:off x="7452360" y="3017520"/>
            <a:ext cx="914" cy="201168"/>
          </a:xfrm>
          <a:prstGeom prst="line">
            <a:avLst/>
          </a:prstGeom>
          <a:noFill/>
          <a:ln w="5080">
            <a:solidFill>
              <a:srgbClr val="D5DCE5"/>
            </a:solidFill>
            <a:prstDash val="solid"/>
          </a:ln>
        </p:spPr>
      </p:sp>
      <p:sp>
        <p:nvSpPr>
          <p:cNvPr id="68" name="Shape 66"/>
          <p:cNvSpPr/>
          <p:nvPr/>
        </p:nvSpPr>
        <p:spPr>
          <a:xfrm>
            <a:off x="7726680" y="3017520"/>
            <a:ext cx="914" cy="201168"/>
          </a:xfrm>
          <a:prstGeom prst="line">
            <a:avLst/>
          </a:prstGeom>
          <a:noFill/>
          <a:ln w="5080">
            <a:solidFill>
              <a:srgbClr val="D5DCE5"/>
            </a:solidFill>
            <a:prstDash val="solid"/>
          </a:ln>
        </p:spPr>
      </p:sp>
      <p:sp>
        <p:nvSpPr>
          <p:cNvPr id="69" name="Shape 67"/>
          <p:cNvSpPr/>
          <p:nvPr/>
        </p:nvSpPr>
        <p:spPr>
          <a:xfrm>
            <a:off x="8001000" y="3017520"/>
            <a:ext cx="914" cy="201168"/>
          </a:xfrm>
          <a:prstGeom prst="line">
            <a:avLst/>
          </a:prstGeom>
          <a:noFill/>
          <a:ln w="5080">
            <a:solidFill>
              <a:srgbClr val="D5DCE5"/>
            </a:solidFill>
            <a:prstDash val="solid"/>
          </a:ln>
        </p:spPr>
      </p:sp>
      <p:sp>
        <p:nvSpPr>
          <p:cNvPr id="70" name="Shape 68"/>
          <p:cNvSpPr/>
          <p:nvPr/>
        </p:nvSpPr>
        <p:spPr>
          <a:xfrm>
            <a:off x="8275320" y="3017520"/>
            <a:ext cx="914" cy="201168"/>
          </a:xfrm>
          <a:prstGeom prst="line">
            <a:avLst/>
          </a:prstGeom>
          <a:noFill/>
          <a:ln w="5080">
            <a:solidFill>
              <a:srgbClr val="D5DCE5"/>
            </a:solidFill>
            <a:prstDash val="solid"/>
          </a:ln>
        </p:spPr>
      </p:sp>
      <p:sp>
        <p:nvSpPr>
          <p:cNvPr id="71" name="Shape 69"/>
          <p:cNvSpPr/>
          <p:nvPr/>
        </p:nvSpPr>
        <p:spPr>
          <a:xfrm>
            <a:off x="8549640" y="3017520"/>
            <a:ext cx="914" cy="201168"/>
          </a:xfrm>
          <a:prstGeom prst="line">
            <a:avLst/>
          </a:prstGeom>
          <a:noFill/>
          <a:ln w="5080">
            <a:solidFill>
              <a:srgbClr val="D5DCE5"/>
            </a:solidFill>
            <a:prstDash val="solid"/>
          </a:ln>
        </p:spPr>
      </p:sp>
      <p:sp>
        <p:nvSpPr>
          <p:cNvPr id="72" name="Shape 70"/>
          <p:cNvSpPr/>
          <p:nvPr/>
        </p:nvSpPr>
        <p:spPr>
          <a:xfrm>
            <a:off x="8823960" y="3017520"/>
            <a:ext cx="914" cy="201168"/>
          </a:xfrm>
          <a:prstGeom prst="line">
            <a:avLst/>
          </a:prstGeom>
          <a:noFill/>
          <a:ln w="5080">
            <a:solidFill>
              <a:srgbClr val="D5DCE5"/>
            </a:solidFill>
            <a:prstDash val="solid"/>
          </a:ln>
        </p:spPr>
      </p:sp>
      <p:sp>
        <p:nvSpPr>
          <p:cNvPr id="73" name="Shape 71"/>
          <p:cNvSpPr/>
          <p:nvPr/>
        </p:nvSpPr>
        <p:spPr>
          <a:xfrm>
            <a:off x="9098280" y="3017520"/>
            <a:ext cx="914" cy="201168"/>
          </a:xfrm>
          <a:prstGeom prst="line">
            <a:avLst/>
          </a:prstGeom>
          <a:noFill/>
          <a:ln w="5080">
            <a:solidFill>
              <a:srgbClr val="D5DCE5"/>
            </a:solidFill>
            <a:prstDash val="solid"/>
          </a:ln>
        </p:spPr>
      </p:sp>
      <p:sp>
        <p:nvSpPr>
          <p:cNvPr id="74" name="Text 72"/>
          <p:cNvSpPr txBox="1"/>
          <p:nvPr/>
        </p:nvSpPr>
        <p:spPr>
          <a:xfrm>
            <a:off x="7178040" y="2788920"/>
            <a:ext cx="274320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V_new [1,128] (별도 DRAM 출력 → tail)</a:t>
            </a:r>
            <a:endParaRPr lang="en-US" sz="850" dirty="0"/>
          </a:p>
        </p:txBody>
      </p:sp>
      <p:sp>
        <p:nvSpPr>
          <p:cNvPr id="75" name="Shape 73"/>
          <p:cNvSpPr/>
          <p:nvPr/>
        </p:nvSpPr>
        <p:spPr>
          <a:xfrm flipH="1" flipV="1">
            <a:off x="6766560" y="3032760"/>
            <a:ext cx="411480" cy="85344"/>
          </a:xfrm>
          <a:prstGeom prst="line">
            <a:avLst/>
          </a:prstGeom>
          <a:noFill/>
          <a:ln w="25400">
            <a:solidFill>
              <a:srgbClr val="B7791F"/>
            </a:solidFill>
            <a:prstDash val="solid"/>
            <a:tailEnd type="triangle"/>
          </a:ln>
        </p:spPr>
      </p:sp>
      <p:sp>
        <p:nvSpPr>
          <p:cNvPr id="76" name="Text 74"/>
          <p:cNvSpPr txBox="1"/>
          <p:nvPr/>
        </p:nvSpPr>
        <p:spPr>
          <a:xfrm>
            <a:off x="7178040" y="1417320"/>
            <a:ext cx="4553712" cy="1097280"/>
          </a:xfrm>
          <a:prstGeom prst="rect">
            <a:avLst/>
          </a:prstGeom>
          <a:noFill/>
          <a:ln/>
        </p:spPr>
        <p:txBody>
          <a:bodyPr wrap="square" lIns="0" tIns="0" rIns="0" bIns="0" rtlCol="0" anchor="t"/>
          <a:lstStyle/>
          <a:p>
            <a:pPr algn="l" marL="152400" indent="-152400">
              <a:spcAft>
                <a:spcPts val="300"/>
              </a:spcAft>
              <a:buSzPct val="100000"/>
              <a:buChar char="•"/>
            </a:pPr>
            <a:r>
              <a:rPr lang="en-US" sz="850" b="1" dirty="0">
                <a:solidFill>
                  <a:srgbClr val="1F2D3D"/>
                </a:solidFill>
                <a:latin typeface="Malgun Gothic" pitchFamily="34" charset="0"/>
                <a:ea typeface="Malgun Gothic" pitchFamily="34" charset="-122"/>
                <a:cs typeface="Malgun Gothic" pitchFamily="34" charset="-120"/>
              </a:rPr>
              <a:t>① decode 계산: </a:t>
            </a:r>
            <a:pPr algn="l" indent="0" marL="0">
              <a:spcAft>
                <a:spcPts val="300"/>
              </a:spcAft>
              <a:buNone/>
            </a:pPr>
            <a:r>
              <a:rPr lang="en-US" sz="850" dirty="0">
                <a:solidFill>
                  <a:srgbClr val="1F2D3D"/>
                </a:solidFill>
                <a:latin typeface="Malgun Gothic" pitchFamily="34" charset="0"/>
                <a:ea typeface="Malgun Gothic" pitchFamily="34" charset="-122"/>
                <a:cs typeface="Malgun Gothic" pitchFamily="34" charset="-120"/>
              </a:rPr>
              <a:t>K_new/V_new를 별도 DRAM 출력에 SAVE→GSTORE</a:t>
            </a:r>
            <a:endParaRPr lang="en-US" sz="850" dirty="0"/>
          </a:p>
          <a:p>
            <a:pPr algn="l" marL="152400" indent="-152400">
              <a:spcAft>
                <a:spcPts val="300"/>
              </a:spcAft>
              <a:buSzPct val="100000"/>
              <a:buChar char="•"/>
            </a:pPr>
            <a:r>
              <a:rPr lang="en-US" sz="850" b="1" dirty="0">
                <a:solidFill>
                  <a:srgbClr val="1F2D3D"/>
                </a:solidFill>
                <a:latin typeface="Malgun Gothic" pitchFamily="34" charset="0"/>
                <a:ea typeface="Malgun Gothic" pitchFamily="34" charset="-122"/>
                <a:cs typeface="Malgun Gothic" pitchFamily="34" charset="-120"/>
              </a:rPr>
              <a:t>② tail (HALT 앞): </a:t>
            </a:r>
            <a:pPr algn="l" indent="0" marL="0">
              <a:spcAft>
                <a:spcPts val="300"/>
              </a:spcAft>
              <a:buNone/>
            </a:pPr>
            <a:r>
              <a:rPr lang="en-US" sz="850" dirty="0">
                <a:solidFill>
                  <a:srgbClr val="1F2D3D"/>
                </a:solidFill>
                <a:latin typeface="Malgun Gothic" pitchFamily="34" charset="0"/>
                <a:ea typeface="Malgun Gothic" pitchFamily="34" charset="-122"/>
                <a:cs typeface="Malgun Gothic" pitchFamily="34" charset="-120"/>
              </a:rPr>
              <a:t>출력 → SRAM GLOAD → cache[…, L] GSTORE. 주소는 position fixup</a:t>
            </a:r>
            <a:endParaRPr lang="en-US" sz="850" dirty="0"/>
          </a:p>
          <a:p>
            <a:pPr algn="l" marL="152400" indent="-152400">
              <a:spcAft>
                <a:spcPts val="300"/>
              </a:spcAft>
              <a:buSzPct val="100000"/>
              <a:buChar char="•"/>
            </a:pPr>
            <a:r>
              <a:rPr lang="en-US" sz="850" b="1" dirty="0">
                <a:solidFill>
                  <a:srgbClr val="1F2D3D"/>
                </a:solidFill>
                <a:latin typeface="Malgun Gothic" pitchFamily="34" charset="0"/>
                <a:ea typeface="Malgun Gothic" pitchFamily="34" charset="-122"/>
                <a:cs typeface="Malgun Gothic" pitchFamily="34" charset="-120"/>
              </a:rPr>
              <a:t>③ 다음 step: </a:t>
            </a:r>
            <a:pPr algn="l" indent="0" marL="0">
              <a:spcAft>
                <a:spcPts val="300"/>
              </a:spcAft>
              <a:buNone/>
            </a:pPr>
            <a:r>
              <a:rPr lang="en-US" sz="850" dirty="0">
                <a:solidFill>
                  <a:srgbClr val="1F2D3D"/>
                </a:solidFill>
                <a:latin typeface="Malgun Gothic" pitchFamily="34" charset="0"/>
                <a:ea typeface="Malgun Gothic" pitchFamily="34" charset="-122"/>
                <a:cs typeface="Malgun Gothic" pitchFamily="34" charset="-120"/>
              </a:rPr>
              <a:t>유효 길이 8, mask의 0이 하나 늘어남</a:t>
            </a:r>
            <a:endParaRPr lang="en-US" sz="850" dirty="0"/>
          </a:p>
        </p:txBody>
      </p:sp>
      <p:sp>
        <p:nvSpPr>
          <p:cNvPr id="77" name="Shape 75"/>
          <p:cNvSpPr/>
          <p:nvPr/>
        </p:nvSpPr>
        <p:spPr>
          <a:xfrm>
            <a:off x="457200" y="3611880"/>
            <a:ext cx="5852160" cy="1097280"/>
          </a:xfrm>
          <a:prstGeom prst="roundRect">
            <a:avLst>
              <a:gd name="adj" fmla="val 4167"/>
            </a:avLst>
          </a:prstGeom>
          <a:solidFill>
            <a:srgbClr val="F5F7FA"/>
          </a:solidFill>
          <a:ln w="9525">
            <a:solidFill>
              <a:srgbClr val="C9D3DF"/>
            </a:solidFill>
            <a:prstDash val="solid"/>
          </a:ln>
        </p:spPr>
      </p:sp>
      <p:sp>
        <p:nvSpPr>
          <p:cNvPr id="78" name="Text 76"/>
          <p:cNvSpPr txBox="1"/>
          <p:nvPr/>
        </p:nvSpPr>
        <p:spPr>
          <a:xfrm>
            <a:off x="566928" y="3685032"/>
            <a:ext cx="5632704" cy="950976"/>
          </a:xfrm>
          <a:prstGeom prst="rect">
            <a:avLst/>
          </a:prstGeom>
          <a:noFill/>
          <a:ln/>
        </p:spPr>
        <p:txBody>
          <a:bodyPr wrap="square" lIns="0" tIns="0" rIns="0" bIns="0" rtlCol="0" anchor="t"/>
          <a:lstStyle/>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mod["decode"] = npu_cache.declare(mod["decode"],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[("k_cache", 1, 3), ("v_cache", 2, 2)])   # (param, output idx, time axis)</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templates = [_template(parity) for parity in (0, 1)]   # 짝/홀 position</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def words(position):</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words, fixups = templates[position % 2]</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for index, coeff in fixups: words[index] += (position // 2) * coeff   # g_addr만 재배치</a:t>
            </a:r>
            <a:endParaRPr lang="en-US" sz="8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6537960" y="3611880"/>
          <a:ext cx="5193792" cy="914400"/>
        </p:xfrm>
        <a:graphic>
          <a:graphicData uri="http://schemas.openxmlformats.org/drawingml/2006/table">
            <a:tbl>
              <a:tblPr/>
              <a:tblGrid>
                <a:gridCol w="1280160"/>
                <a:gridCol w="3913632"/>
              </a:tblGrid>
              <a:tr h="274320">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AppendPlan 검사</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조건</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출력 tuple</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FP16, output[i].shape == cache.shape with axis → 1</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alias</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source(출력)와 destination(cache)이 겹치지 않음</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capacity / mask</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모든 slice 동일; mask FP16 [1,1,C+1], position은 mask에서 복원</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133" name="Table 1"/>
          <p:cNvGraphicFramePr>
            <a:graphicFrameLocks noGrp="1"/>
          </p:cNvGraphicFramePr>
          <p:nvPr>
            <p:extLst>
              <p:ext uri="{D42A27DB-BD31-4B8C-83A1-F6EECF244321}">
                <p14:modId xmlns:p14="http://schemas.microsoft.com/office/powerpoint/2010/main" val="1579011935"/>
              </p:ext>
            </p:extLst>
          </p:nvPr>
        </p:nvGraphicFramePr>
        <p:xfrm>
          <a:off x="457200" y="5029200"/>
          <a:ext cx="11274552" cy="914400"/>
        </p:xfrm>
        <a:graphic>
          <a:graphicData uri="http://schemas.openxmlformats.org/drawingml/2006/table">
            <a:tbl>
              <a:tblPr/>
              <a:tblGrid>
                <a:gridCol w="2377440"/>
                <a:gridCol w="2194560"/>
                <a:gridCol w="6702552"/>
              </a:tblGrid>
              <a:tr h="173736">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기록 (C=9, 28 layers)</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bytes / words</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뜻</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173736">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host 입력 patch (step당)</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6,676 B</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embedding 6,144 + cos 256 + sin 256 + mask 20</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173736">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새 K/V 논리 크기</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114,688 B</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2 × 28 × 8 × 128 × 2 B</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173736">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append DMA 전송</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458,752 B</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layout·정렬·이동 명령 때문에 논리 크기보다 큼</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173736">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decode base / 실행 stream</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7,310,801 / 7,324,697 words</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tail 13,896 words; 두 번째 decode의 program suffix patch 55,568 B</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81" name="Shape 77"/>
          <p:cNvSpPr/>
          <p:nvPr/>
        </p:nvSpPr>
        <p:spPr>
          <a:xfrm>
            <a:off x="457200" y="6016752"/>
            <a:ext cx="11274552" cy="420624"/>
          </a:xfrm>
          <a:prstGeom prst="roundRect">
            <a:avLst>
              <a:gd name="adj" fmla="val 10870"/>
            </a:avLst>
          </a:prstGeom>
          <a:solidFill>
            <a:srgbClr val="EEF2F6"/>
          </a:solidFill>
          <a:ln w="12700">
            <a:solidFill>
              <a:srgbClr val="EEF2F6"/>
            </a:solidFill>
            <a:prstDash val="solid"/>
          </a:ln>
        </p:spPr>
      </p:sp>
      <p:sp>
        <p:nvSpPr>
          <p:cNvPr id="82" name="Text 78"/>
          <p:cNvSpPr txBox="1"/>
          <p:nvPr/>
        </p:nvSpPr>
        <p:spPr>
          <a:xfrm>
            <a:off x="621792" y="6071616"/>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cache 이름을 추측하거나 layer 수를 codegen에 하드코딩하지 않습니다. metadata의 parameter·output index·time axis로만 append를 만듭니다.</a:t>
            </a:r>
            <a:endParaRPr lang="en-US" sz="1250" dirty="0"/>
          </a:p>
        </p:txBody>
      </p:sp>
      <p:sp>
        <p:nvSpPr>
          <p:cNvPr id="83" name="Text 79"/>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84" name="Text 80"/>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npu_compiler/npu_cache.py (declare, AppendPlan, _template, words), docs/current/10_runtime_llama.md</a:t>
            </a:r>
            <a:endParaRPr lang="en-US" sz="850" dirty="0"/>
          </a:p>
        </p:txBody>
      </p:sp>
      <p:sp>
        <p:nvSpPr>
          <p:cNvPr id="85" name="Text 81"/>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66 / 89</a:t>
            </a:r>
            <a:endParaRPr lang="en-US" sz="8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350" b="1" dirty="0">
                <a:solidFill>
                  <a:srgbClr val="15243B"/>
                </a:solidFill>
                <a:latin typeface="Malgun Gothic" pitchFamily="34" charset="0"/>
                <a:ea typeface="Malgun Gothic" pitchFamily="34" charset="-122"/>
                <a:cs typeface="Malgun Gothic" pitchFamily="34" charset="-120"/>
              </a:rPr>
              <a:t>DecodeSession과 PersistentTransport: 무엇이 재사용되고 무엇이 바뀌는가</a:t>
            </a:r>
            <a:endParaRPr lang="en-US" sz="235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이전 실행의 최종 global image 파일을 다음 입력으로 이어 쓰고, 바뀐 host 입력과 program suffix만 patch합니다. 아래 두 strip은 step마다 실제로 바뀌는 바이트입니다.</a:t>
            </a:r>
            <a:endParaRPr lang="en-US" sz="125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760720" cy="914400"/>
        </p:xfrm>
        <a:graphic>
          <a:graphicData uri="http://schemas.openxmlformats.org/drawingml/2006/table">
            <a:tbl>
              <a:tblPr/>
              <a:tblGrid>
                <a:gridCol w="2011680"/>
                <a:gridCol w="3749040"/>
              </a:tblGrid>
              <a:tr h="310896">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대상</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step 사이의 동작</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기본 decode 계산 명령</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재사용 (prefix 동일)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KV append 명령의 주소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position에 맞춰 변경 (program suffix patch)</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embedding, cos/sin, mask</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host가 새 값으로 patch (6,676 B)</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DRAM weight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초기 image 이후 host가 다시 쓰지 않음 (rewrite 0 B)</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SRAM의 weight 조각</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실행 중 NPU가 DRAM에서 다시 가져옴</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Persistent DRAM cache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saved image → 다음 입력 image (rename)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C-model 내부 SRAM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호출 사이 지속성을 전제하지 않음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 name="Text 3"/>
          <p:cNvSpPr txBox="1"/>
          <p:nvPr/>
        </p:nvSpPr>
        <p:spPr>
          <a:xfrm>
            <a:off x="6446520" y="1371600"/>
            <a:ext cx="5285232" cy="219456"/>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global_memory.bin (≈6.43 GB): step마다 바뀌는 곳</a:t>
            </a:r>
            <a:endParaRPr lang="en-US" sz="950" dirty="0"/>
          </a:p>
        </p:txBody>
      </p:sp>
      <p:sp>
        <p:nvSpPr>
          <p:cNvPr id="7" name="Shape 4"/>
          <p:cNvSpPr/>
          <p:nvPr/>
        </p:nvSpPr>
        <p:spPr>
          <a:xfrm>
            <a:off x="6446520" y="1618488"/>
            <a:ext cx="5285232" cy="457200"/>
          </a:xfrm>
          <a:prstGeom prst="rect">
            <a:avLst/>
          </a:prstGeom>
          <a:solidFill>
            <a:srgbClr val="EEF2F6"/>
          </a:solidFill>
          <a:ln w="9525">
            <a:solidFill>
              <a:srgbClr val="C9D3DF"/>
            </a:solidFill>
            <a:prstDash val="solid"/>
          </a:ln>
        </p:spPr>
      </p:sp>
      <p:sp>
        <p:nvSpPr>
          <p:cNvPr id="8" name="Shape 5"/>
          <p:cNvSpPr/>
          <p:nvPr/>
        </p:nvSpPr>
        <p:spPr>
          <a:xfrm>
            <a:off x="6446520" y="1618488"/>
            <a:ext cx="3593958" cy="457200"/>
          </a:xfrm>
          <a:prstGeom prst="rect">
            <a:avLst/>
          </a:prstGeom>
          <a:solidFill>
            <a:srgbClr val="FFF1DC"/>
          </a:solidFill>
          <a:ln w="12700">
            <a:solidFill>
              <a:srgbClr val="D98A1E"/>
            </a:solidFill>
            <a:prstDash val="solid"/>
          </a:ln>
        </p:spPr>
      </p:sp>
      <p:sp>
        <p:nvSpPr>
          <p:cNvPr id="9" name="Text 6"/>
          <p:cNvSpPr txBox="1"/>
          <p:nvPr/>
        </p:nvSpPr>
        <p:spPr>
          <a:xfrm>
            <a:off x="6446520" y="1618488"/>
            <a:ext cx="3593958" cy="25146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weight (변환된 parameter)</a:t>
            </a:r>
            <a:endParaRPr lang="en-US" sz="750" dirty="0"/>
          </a:p>
        </p:txBody>
      </p:sp>
      <p:sp>
        <p:nvSpPr>
          <p:cNvPr id="10" name="Text 7"/>
          <p:cNvSpPr txBox="1"/>
          <p:nvPr/>
        </p:nvSpPr>
        <p:spPr>
          <a:xfrm>
            <a:off x="6446520" y="1847088"/>
            <a:ext cx="3593958" cy="205740"/>
          </a:xfrm>
          <a:prstGeom prst="rect">
            <a:avLst/>
          </a:prstGeom>
          <a:noFill/>
          <a:ln/>
        </p:spPr>
        <p:txBody>
          <a:bodyPr wrap="square" lIns="0" tIns="0" rIns="0" bIns="0" rtlCol="0" anchor="ctr"/>
          <a:lstStyle/>
          <a:p>
            <a:pPr algn="ctr" indent="0" marL="0">
              <a:buNone/>
            </a:pPr>
            <a:r>
              <a:rPr lang="en-US" sz="550" dirty="0">
                <a:solidFill>
                  <a:srgbClr val="5B6B7F"/>
                </a:solidFill>
                <a:latin typeface="Malgun Gothic" pitchFamily="34" charset="0"/>
                <a:ea typeface="Malgun Gothic" pitchFamily="34" charset="-122"/>
                <a:cs typeface="Malgun Gothic" pitchFamily="34" charset="-120"/>
              </a:rPr>
              <a:t>host rewrite 0 B</a:t>
            </a:r>
            <a:endParaRPr lang="en-US" sz="550" dirty="0"/>
          </a:p>
        </p:txBody>
      </p:sp>
      <p:sp>
        <p:nvSpPr>
          <p:cNvPr id="11" name="Shape 8"/>
          <p:cNvSpPr/>
          <p:nvPr/>
        </p:nvSpPr>
        <p:spPr>
          <a:xfrm>
            <a:off x="10040478" y="1618488"/>
            <a:ext cx="422819" cy="457200"/>
          </a:xfrm>
          <a:prstGeom prst="rect">
            <a:avLst/>
          </a:prstGeom>
          <a:solidFill>
            <a:srgbClr val="FFF6DB"/>
          </a:solidFill>
          <a:ln w="12700">
            <a:solidFill>
              <a:srgbClr val="B7791F"/>
            </a:solidFill>
            <a:prstDash val="solid"/>
          </a:ln>
        </p:spPr>
      </p:sp>
      <p:sp>
        <p:nvSpPr>
          <p:cNvPr id="12" name="Text 9"/>
          <p:cNvSpPr txBox="1"/>
          <p:nvPr/>
        </p:nvSpPr>
        <p:spPr>
          <a:xfrm>
            <a:off x="10040478" y="1618488"/>
            <a:ext cx="422819" cy="25146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입력</a:t>
            </a:r>
            <a:endParaRPr lang="en-US" sz="750" dirty="0"/>
          </a:p>
        </p:txBody>
      </p:sp>
      <p:sp>
        <p:nvSpPr>
          <p:cNvPr id="13" name="Text 10"/>
          <p:cNvSpPr txBox="1"/>
          <p:nvPr/>
        </p:nvSpPr>
        <p:spPr>
          <a:xfrm>
            <a:off x="10040478" y="1847088"/>
            <a:ext cx="422819" cy="205740"/>
          </a:xfrm>
          <a:prstGeom prst="rect">
            <a:avLst/>
          </a:prstGeom>
          <a:noFill/>
          <a:ln/>
        </p:spPr>
        <p:txBody>
          <a:bodyPr wrap="square" lIns="0" tIns="0" rIns="0" bIns="0" rtlCol="0" anchor="ctr"/>
          <a:lstStyle/>
          <a:p>
            <a:pPr algn="ctr" indent="0" marL="0">
              <a:buNone/>
            </a:pPr>
            <a:r>
              <a:rPr lang="en-US" sz="550" dirty="0">
                <a:solidFill>
                  <a:srgbClr val="5B6B7F"/>
                </a:solidFill>
                <a:latin typeface="Malgun Gothic" pitchFamily="34" charset="0"/>
                <a:ea typeface="Malgun Gothic" pitchFamily="34" charset="-122"/>
                <a:cs typeface="Malgun Gothic" pitchFamily="34" charset="-120"/>
              </a:rPr>
              <a:t>patch 6,676 B</a:t>
            </a:r>
            <a:endParaRPr lang="en-US" sz="550" dirty="0"/>
          </a:p>
        </p:txBody>
      </p:sp>
      <p:sp>
        <p:nvSpPr>
          <p:cNvPr id="14" name="Shape 11"/>
          <p:cNvSpPr/>
          <p:nvPr/>
        </p:nvSpPr>
        <p:spPr>
          <a:xfrm>
            <a:off x="10463296" y="1618488"/>
            <a:ext cx="845637" cy="457200"/>
          </a:xfrm>
          <a:prstGeom prst="rect">
            <a:avLst/>
          </a:prstGeom>
          <a:solidFill>
            <a:srgbClr val="DDF3F0"/>
          </a:solidFill>
          <a:ln w="12700">
            <a:solidFill>
              <a:srgbClr val="1F8A8A"/>
            </a:solidFill>
            <a:prstDash val="solid"/>
          </a:ln>
        </p:spPr>
      </p:sp>
      <p:sp>
        <p:nvSpPr>
          <p:cNvPr id="15" name="Text 12"/>
          <p:cNvSpPr txBox="1"/>
          <p:nvPr/>
        </p:nvSpPr>
        <p:spPr>
          <a:xfrm>
            <a:off x="10463296" y="1618488"/>
            <a:ext cx="845637" cy="25146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KV cache</a:t>
            </a:r>
            <a:endParaRPr lang="en-US" sz="750" dirty="0"/>
          </a:p>
        </p:txBody>
      </p:sp>
      <p:sp>
        <p:nvSpPr>
          <p:cNvPr id="16" name="Text 13"/>
          <p:cNvSpPr txBox="1"/>
          <p:nvPr/>
        </p:nvSpPr>
        <p:spPr>
          <a:xfrm>
            <a:off x="10463296" y="1847088"/>
            <a:ext cx="845637" cy="205740"/>
          </a:xfrm>
          <a:prstGeom prst="rect">
            <a:avLst/>
          </a:prstGeom>
          <a:noFill/>
          <a:ln/>
        </p:spPr>
        <p:txBody>
          <a:bodyPr wrap="square" lIns="0" tIns="0" rIns="0" bIns="0" rtlCol="0" anchor="ctr"/>
          <a:lstStyle/>
          <a:p>
            <a:pPr algn="ctr" indent="0" marL="0">
              <a:buNone/>
            </a:pPr>
            <a:r>
              <a:rPr lang="en-US" sz="550" dirty="0">
                <a:solidFill>
                  <a:srgbClr val="5B6B7F"/>
                </a:solidFill>
                <a:latin typeface="Malgun Gothic" pitchFamily="34" charset="0"/>
                <a:ea typeface="Malgun Gothic" pitchFamily="34" charset="-122"/>
                <a:cs typeface="Malgun Gothic" pitchFamily="34" charset="-120"/>
              </a:rPr>
              <a:t>device tail이 갱신</a:t>
            </a:r>
            <a:endParaRPr lang="en-US" sz="550" dirty="0"/>
          </a:p>
        </p:txBody>
      </p:sp>
      <p:sp>
        <p:nvSpPr>
          <p:cNvPr id="17" name="Shape 14"/>
          <p:cNvSpPr/>
          <p:nvPr/>
        </p:nvSpPr>
        <p:spPr>
          <a:xfrm>
            <a:off x="11308933" y="1618488"/>
            <a:ext cx="422819" cy="457200"/>
          </a:xfrm>
          <a:prstGeom prst="rect">
            <a:avLst/>
          </a:prstGeom>
          <a:solidFill>
            <a:srgbClr val="ECE6FA"/>
          </a:solidFill>
          <a:ln w="12700">
            <a:solidFill>
              <a:srgbClr val="6C4FBF"/>
            </a:solidFill>
            <a:prstDash val="solid"/>
          </a:ln>
        </p:spPr>
      </p:sp>
      <p:sp>
        <p:nvSpPr>
          <p:cNvPr id="18" name="Text 15"/>
          <p:cNvSpPr txBox="1"/>
          <p:nvPr/>
        </p:nvSpPr>
        <p:spPr>
          <a:xfrm>
            <a:off x="11308933" y="1618488"/>
            <a:ext cx="422819" cy="25146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출력</a:t>
            </a:r>
            <a:endParaRPr lang="en-US" sz="750" dirty="0"/>
          </a:p>
        </p:txBody>
      </p:sp>
      <p:sp>
        <p:nvSpPr>
          <p:cNvPr id="19" name="Text 16"/>
          <p:cNvSpPr txBox="1"/>
          <p:nvPr/>
        </p:nvSpPr>
        <p:spPr>
          <a:xfrm>
            <a:off x="11308933" y="1847088"/>
            <a:ext cx="422819" cy="205740"/>
          </a:xfrm>
          <a:prstGeom prst="rect">
            <a:avLst/>
          </a:prstGeom>
          <a:noFill/>
          <a:ln/>
        </p:spPr>
        <p:txBody>
          <a:bodyPr wrap="square" lIns="0" tIns="0" rIns="0" bIns="0" rtlCol="0" anchor="ctr"/>
          <a:lstStyle/>
          <a:p>
            <a:pPr algn="ctr" indent="0" marL="0">
              <a:buNone/>
            </a:pPr>
            <a:r>
              <a:rPr lang="en-US" sz="550" dirty="0">
                <a:solidFill>
                  <a:srgbClr val="5B6B7F"/>
                </a:solidFill>
                <a:latin typeface="Malgun Gothic" pitchFamily="34" charset="0"/>
                <a:ea typeface="Malgun Gothic" pitchFamily="34" charset="-122"/>
                <a:cs typeface="Malgun Gothic" pitchFamily="34" charset="-120"/>
              </a:rPr>
              <a:t>logits</a:t>
            </a:r>
            <a:endParaRPr lang="en-US" sz="550" dirty="0"/>
          </a:p>
        </p:txBody>
      </p:sp>
      <p:sp>
        <p:nvSpPr>
          <p:cNvPr id="20" name="Text 17"/>
          <p:cNvSpPr txBox="1"/>
          <p:nvPr/>
        </p:nvSpPr>
        <p:spPr>
          <a:xfrm>
            <a:off x="6446520" y="2286000"/>
            <a:ext cx="5285232" cy="219456"/>
          </a:xfrm>
          <a:prstGeom prst="rect">
            <a:avLst/>
          </a:prstGeom>
          <a:noFill/>
          <a:ln/>
        </p:spPr>
        <p:txBody>
          <a:bodyPr wrap="square" lIns="0" tIns="0" rIns="0" bIns="0" rtlCol="0" anchor="t"/>
          <a:lstStyle/>
          <a:p>
            <a:pPr algn="l" indent="0" marL="0">
              <a:buNone/>
            </a:pPr>
            <a:r>
              <a:rPr lang="en-US" sz="950" b="1" dirty="0">
                <a:solidFill>
                  <a:srgbClr val="15243B"/>
                </a:solidFill>
                <a:latin typeface="Malgun Gothic" pitchFamily="34" charset="0"/>
                <a:ea typeface="Malgun Gothic" pitchFamily="34" charset="-122"/>
                <a:cs typeface="Malgun Gothic" pitchFamily="34" charset="-120"/>
              </a:rPr>
              <a:t>program_memory.bin (7,324,697 words): 바뀐 첫 word부터만 다시 씀</a:t>
            </a:r>
            <a:endParaRPr lang="en-US" sz="950" dirty="0"/>
          </a:p>
        </p:txBody>
      </p:sp>
      <p:sp>
        <p:nvSpPr>
          <p:cNvPr id="21" name="Shape 18"/>
          <p:cNvSpPr/>
          <p:nvPr/>
        </p:nvSpPr>
        <p:spPr>
          <a:xfrm>
            <a:off x="6446520" y="2532888"/>
            <a:ext cx="5285232" cy="457200"/>
          </a:xfrm>
          <a:prstGeom prst="rect">
            <a:avLst/>
          </a:prstGeom>
          <a:solidFill>
            <a:srgbClr val="EEF2F6"/>
          </a:solidFill>
          <a:ln w="9525">
            <a:solidFill>
              <a:srgbClr val="C9D3DF"/>
            </a:solidFill>
            <a:prstDash val="solid"/>
          </a:ln>
        </p:spPr>
      </p:sp>
      <p:sp>
        <p:nvSpPr>
          <p:cNvPr id="22" name="Shape 19"/>
          <p:cNvSpPr/>
          <p:nvPr/>
        </p:nvSpPr>
        <p:spPr>
          <a:xfrm>
            <a:off x="6446520" y="2532888"/>
            <a:ext cx="4651004" cy="457200"/>
          </a:xfrm>
          <a:prstGeom prst="rect">
            <a:avLst/>
          </a:prstGeom>
          <a:solidFill>
            <a:srgbClr val="E3EEFB"/>
          </a:solidFill>
          <a:ln w="12700">
            <a:solidFill>
              <a:srgbClr val="2F6DB5"/>
            </a:solidFill>
            <a:prstDash val="solid"/>
          </a:ln>
        </p:spPr>
      </p:sp>
      <p:sp>
        <p:nvSpPr>
          <p:cNvPr id="23" name="Text 20"/>
          <p:cNvSpPr txBox="1"/>
          <p:nvPr/>
        </p:nvSpPr>
        <p:spPr>
          <a:xfrm>
            <a:off x="6446520" y="2532888"/>
            <a:ext cx="4651004" cy="25146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decode base 7,310,801 words</a:t>
            </a:r>
            <a:endParaRPr lang="en-US" sz="750" dirty="0"/>
          </a:p>
        </p:txBody>
      </p:sp>
      <p:sp>
        <p:nvSpPr>
          <p:cNvPr id="24" name="Text 21"/>
          <p:cNvSpPr txBox="1"/>
          <p:nvPr/>
        </p:nvSpPr>
        <p:spPr>
          <a:xfrm>
            <a:off x="6446520" y="2761488"/>
            <a:ext cx="4651004" cy="205740"/>
          </a:xfrm>
          <a:prstGeom prst="rect">
            <a:avLst/>
          </a:prstGeom>
          <a:noFill/>
          <a:ln/>
        </p:spPr>
        <p:txBody>
          <a:bodyPr wrap="square" lIns="0" tIns="0" rIns="0" bIns="0" rtlCol="0" anchor="ctr"/>
          <a:lstStyle/>
          <a:p>
            <a:pPr algn="ctr" indent="0" marL="0">
              <a:buNone/>
            </a:pPr>
            <a:r>
              <a:rPr lang="en-US" sz="550" dirty="0">
                <a:solidFill>
                  <a:srgbClr val="5B6B7F"/>
                </a:solidFill>
                <a:latin typeface="Malgun Gothic" pitchFamily="34" charset="0"/>
                <a:ea typeface="Malgun Gothic" pitchFamily="34" charset="-122"/>
                <a:cs typeface="Malgun Gothic" pitchFamily="34" charset="-120"/>
              </a:rPr>
              <a:t>변경 없음 (재link 없음)</a:t>
            </a:r>
            <a:endParaRPr lang="en-US" sz="550" dirty="0"/>
          </a:p>
        </p:txBody>
      </p:sp>
      <p:sp>
        <p:nvSpPr>
          <p:cNvPr id="25" name="Shape 22"/>
          <p:cNvSpPr/>
          <p:nvPr/>
        </p:nvSpPr>
        <p:spPr>
          <a:xfrm>
            <a:off x="11097524" y="2532888"/>
            <a:ext cx="581376" cy="457200"/>
          </a:xfrm>
          <a:prstGeom prst="rect">
            <a:avLst/>
          </a:prstGeom>
          <a:solidFill>
            <a:srgbClr val="FFF6DB"/>
          </a:solidFill>
          <a:ln w="12700">
            <a:solidFill>
              <a:srgbClr val="B7791F"/>
            </a:solidFill>
            <a:prstDash val="solid"/>
          </a:ln>
        </p:spPr>
      </p:sp>
      <p:sp>
        <p:nvSpPr>
          <p:cNvPr id="26" name="Text 23"/>
          <p:cNvSpPr txBox="1"/>
          <p:nvPr/>
        </p:nvSpPr>
        <p:spPr>
          <a:xfrm>
            <a:off x="11097524" y="2532888"/>
            <a:ext cx="581376" cy="25146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tail</a:t>
            </a:r>
            <a:endParaRPr lang="en-US" sz="750" dirty="0"/>
          </a:p>
        </p:txBody>
      </p:sp>
      <p:sp>
        <p:nvSpPr>
          <p:cNvPr id="27" name="Text 24"/>
          <p:cNvSpPr txBox="1"/>
          <p:nvPr/>
        </p:nvSpPr>
        <p:spPr>
          <a:xfrm>
            <a:off x="11097524" y="2761488"/>
            <a:ext cx="581376" cy="205740"/>
          </a:xfrm>
          <a:prstGeom prst="rect">
            <a:avLst/>
          </a:prstGeom>
          <a:noFill/>
          <a:ln/>
        </p:spPr>
        <p:txBody>
          <a:bodyPr wrap="square" lIns="0" tIns="0" rIns="0" bIns="0" rtlCol="0" anchor="ctr"/>
          <a:lstStyle/>
          <a:p>
            <a:pPr algn="ctr" indent="0" marL="0">
              <a:buNone/>
            </a:pPr>
            <a:r>
              <a:rPr lang="en-US" sz="550" dirty="0">
                <a:solidFill>
                  <a:srgbClr val="5B6B7F"/>
                </a:solidFill>
                <a:latin typeface="Malgun Gothic" pitchFamily="34" charset="0"/>
                <a:ea typeface="Malgun Gothic" pitchFamily="34" charset="-122"/>
                <a:cs typeface="Malgun Gothic" pitchFamily="34" charset="-120"/>
              </a:rPr>
              <a:t>13,896 w, fixup</a:t>
            </a:r>
            <a:endParaRPr lang="en-US" sz="550" dirty="0"/>
          </a:p>
        </p:txBody>
      </p:sp>
      <p:sp>
        <p:nvSpPr>
          <p:cNvPr id="28" name="Shape 25"/>
          <p:cNvSpPr/>
          <p:nvPr/>
        </p:nvSpPr>
        <p:spPr>
          <a:xfrm>
            <a:off x="11678900" y="2532888"/>
            <a:ext cx="52852" cy="457200"/>
          </a:xfrm>
          <a:prstGeom prst="rect">
            <a:avLst/>
          </a:prstGeom>
          <a:solidFill>
            <a:srgbClr val="FBE9E7"/>
          </a:solidFill>
          <a:ln w="12700">
            <a:solidFill>
              <a:srgbClr val="C0392B"/>
            </a:solidFill>
            <a:prstDash val="solid"/>
          </a:ln>
        </p:spPr>
      </p:sp>
      <p:sp>
        <p:nvSpPr>
          <p:cNvPr id="29" name="Text 26"/>
          <p:cNvSpPr txBox="1"/>
          <p:nvPr/>
        </p:nvSpPr>
        <p:spPr>
          <a:xfrm>
            <a:off x="6446520" y="3035808"/>
            <a:ext cx="5285232"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suffix patch 55,568 B (두 번째 decode). C-model subprocess는 호출마다 두 파일을 읽고 saved_global_memory.bin(전체 image)을 씀 → rename으로 다음 입력.</a:t>
            </a:r>
            <a:endParaRPr lang="en-US" sz="750" dirty="0"/>
          </a:p>
        </p:txBody>
      </p:sp>
      <p:sp>
        <p:nvSpPr>
          <p:cNvPr id="30" name="Shape 27"/>
          <p:cNvSpPr/>
          <p:nvPr/>
        </p:nvSpPr>
        <p:spPr>
          <a:xfrm>
            <a:off x="6446520" y="3474720"/>
            <a:ext cx="5285232" cy="914400"/>
          </a:xfrm>
          <a:prstGeom prst="roundRect">
            <a:avLst>
              <a:gd name="adj" fmla="val 5000"/>
            </a:avLst>
          </a:prstGeom>
          <a:solidFill>
            <a:srgbClr val="F5F7FA"/>
          </a:solidFill>
          <a:ln w="9525">
            <a:solidFill>
              <a:srgbClr val="C9D3DF"/>
            </a:solidFill>
            <a:prstDash val="solid"/>
          </a:ln>
        </p:spPr>
      </p:sp>
      <p:sp>
        <p:nvSpPr>
          <p:cNvPr id="31" name="Text 28"/>
          <p:cNvSpPr txBox="1"/>
          <p:nvPr/>
        </p:nvSpPr>
        <p:spPr>
          <a:xfrm>
            <a:off x="6556248" y="3547872"/>
            <a:ext cx="5065776" cy="768096"/>
          </a:xfrm>
          <a:prstGeom prst="rect">
            <a:avLst/>
          </a:prstGeom>
          <a:noFill/>
          <a:ln/>
        </p:spPr>
        <p:txBody>
          <a:bodyPr wrap="square" lIns="0" tIns="0" rIns="0" bIns="0" rtlCol="0" anchor="t"/>
          <a:lstStyle/>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changed = flatnonzero(program[:common] != self.program[:common])</a:t>
            </a:r>
            <a:endParaRPr lang="en-US" sz="750" dirty="0"/>
          </a:p>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file.seek(first*4); program[first:].tofile(file)      # program suffix</a:t>
            </a:r>
            <a:endParaRPr lang="en-US" sz="750" dirty="0"/>
          </a:p>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for offset, data in patches: file.seek(offset); data.tofile(file)</a:t>
            </a:r>
            <a:endParaRPr lang="en-US" sz="750" dirty="0"/>
          </a:p>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subprocess.run([mysim_v09]); saved.replace(global_path)</a:t>
            </a:r>
            <a:endParaRPr lang="en-US" sz="750" dirty="0"/>
          </a:p>
        </p:txBody>
      </p:sp>
      <p:graphicFrame>
        <p:nvGraphicFramePr>
          <p:cNvPr id="135" name="Table 1"/>
          <p:cNvGraphicFramePr>
            <a:graphicFrameLocks noGrp="1"/>
          </p:cNvGraphicFramePr>
          <p:nvPr>
            <p:extLst>
              <p:ext uri="{D42A27DB-BD31-4B8C-83A1-F6EECF244321}">
                <p14:modId xmlns:p14="http://schemas.microsoft.com/office/powerpoint/2010/main" val="1579011935"/>
              </p:ext>
            </p:extLst>
          </p:nvPr>
        </p:nvGraphicFramePr>
        <p:xfrm>
          <a:off x="6446520" y="4526280"/>
          <a:ext cx="5285232" cy="914400"/>
        </p:xfrm>
        <a:graphic>
          <a:graphicData uri="http://schemas.openxmlformats.org/drawingml/2006/table">
            <a:tbl>
              <a:tblPr/>
              <a:tblGrid>
                <a:gridCol w="1554480"/>
                <a:gridCol w="2103120"/>
                <a:gridCol w="1627632"/>
              </a:tblGrid>
              <a:tr h="274320">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측정 층</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지표</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30" b="1" dirty="0">
                          <a:solidFill>
                            <a:srgbClr val="FFFFFF"/>
                          </a:solidFill>
                          <a:latin typeface="Malgun Gothic" pitchFamily="34" charset="0"/>
                          <a:ea typeface="Malgun Gothic" pitchFamily="34" charset="-122"/>
                          <a:cs typeface="Malgun Gothic" pitchFamily="34" charset="-120"/>
                        </a:rPr>
                        <a:t>섞지 않을 것</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compiler 정적 통계</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DMA bytes, words, SRAM peak</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실장치 latency</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host 전송</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input patch, program patch bytes</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NPU bandwidth</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simulator 파일 I/O</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image read/write (전체 image)</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30" dirty="0">
                          <a:solidFill>
                            <a:srgbClr val="1F2D3D"/>
                          </a:solidFill>
                          <a:latin typeface="Malgun Gothic" pitchFamily="34" charset="0"/>
                          <a:ea typeface="Malgun Gothic" pitchFamily="34" charset="-122"/>
                          <a:cs typeface="Malgun Gothic" pitchFamily="34" charset="-120"/>
                        </a:rPr>
                        <a:t>zero-copy runtime</a:t>
                      </a:r>
                      <a:endParaRPr lang="en-US" sz="8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33" name="Shape 29"/>
          <p:cNvSpPr/>
          <p:nvPr/>
        </p:nvSpPr>
        <p:spPr>
          <a:xfrm>
            <a:off x="457200" y="4114800"/>
            <a:ext cx="5760720" cy="1691640"/>
          </a:xfrm>
          <a:prstGeom prst="roundRect">
            <a:avLst>
              <a:gd name="adj" fmla="val 3243"/>
            </a:avLst>
          </a:prstGeom>
          <a:solidFill>
            <a:srgbClr val="EEF2F6"/>
          </a:solidFill>
          <a:ln w="12700">
            <a:solidFill>
              <a:srgbClr val="C9D3DF"/>
            </a:solidFill>
            <a:prstDash val="solid"/>
          </a:ln>
        </p:spPr>
      </p:sp>
      <p:sp>
        <p:nvSpPr>
          <p:cNvPr id="34" name="Text 30"/>
          <p:cNvSpPr txBox="1"/>
          <p:nvPr/>
        </p:nvSpPr>
        <p:spPr>
          <a:xfrm>
            <a:off x="585216" y="4169664"/>
            <a:ext cx="5504688" cy="158191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Persistent transport의 실제 뜻: </a:t>
            </a:r>
            <a:pPr algn="l" indent="0" marL="0">
              <a:buNone/>
            </a:pPr>
            <a:r>
              <a:rPr lang="en-US" sz="950" dirty="0">
                <a:solidFill>
                  <a:srgbClr val="1F2D3D"/>
                </a:solidFill>
                <a:latin typeface="Malgun Gothic" pitchFamily="34" charset="0"/>
                <a:ea typeface="Malgun Gothic" pitchFamily="34" charset="-122"/>
                <a:cs typeface="Malgun Gothic" pitchFamily="34" charset="-120"/>
              </a:rPr>
              <a:t>host weight rewrite를 없애는 transport 재사용입니다. 지속적인 simulator process나 실제 장치의 zero-copy runtime이 아니며, C-model subprocess는 호출마다 전체 image를 읽고 씁니다. NPU_V09_TMPDIR로 큰 image의 임시 위치를 지정합니다.</a:t>
            </a:r>
            <a:endParaRPr lang="en-US" sz="1200" dirty="0"/>
          </a:p>
          <a:p>
            <a:pPr algn="l" indent="0" marL="0">
              <a:buNone/>
            </a:pPr>
            <a:r>
              <a:rPr lang="en-US" sz="400" dirty="0">
                <a:solidFill>
                  <a:srgbClr val="1F2D3D"/>
                </a:solidFill>
                <a:latin typeface="Malgun Gothic" pitchFamily="34" charset="0"/>
                <a:ea typeface="Malgun Gothic" pitchFamily="34" charset="-122"/>
                <a:cs typeface="Malgun Gothic" pitchFamily="34" charset="-120"/>
              </a:rPr>
              <a:t> </a:t>
            </a:r>
            <a:endParaRPr lang="en-US" sz="1200" dirty="0"/>
          </a:p>
          <a:p>
            <a:pPr algn="l" indent="0" marL="0">
              <a:buNone/>
            </a:pPr>
            <a:r>
              <a:rPr lang="en-US" sz="1200" b="1" dirty="0">
                <a:solidFill>
                  <a:srgbClr val="1F2D3D"/>
                </a:solidFill>
                <a:latin typeface="Malgun Gothic" pitchFamily="34" charset="0"/>
                <a:ea typeface="Malgun Gothic" pitchFamily="34" charset="-122"/>
                <a:cs typeface="Malgun Gothic" pitchFamily="34" charset="-120"/>
              </a:rPr>
              <a:t>검사: </a:t>
            </a:r>
            <a:pPr algn="l" indent="0" marL="0">
              <a:buNone/>
            </a:pPr>
            <a:r>
              <a:rPr lang="en-US" sz="950" dirty="0">
                <a:solidFill>
                  <a:srgbClr val="1F2D3D"/>
                </a:solidFill>
                <a:latin typeface="Malgun Gothic" pitchFamily="34" charset="0"/>
                <a:ea typeface="Malgun Gothic" pitchFamily="34" charset="-122"/>
                <a:cs typeface="Malgun Gothic" pitchFamily="34" charset="-120"/>
              </a:rPr>
              <a:t>position 순차성, cache 입력 재전달 거부, 입력 shape/dtype, HALT로 끝나는 프로그램, patch 범위가 image 안인지, 최종 image가 정확히 1개인지.</a:t>
            </a:r>
            <a:endParaRPr lang="en-US" sz="1200" dirty="0"/>
          </a:p>
        </p:txBody>
      </p:sp>
      <p:sp>
        <p:nvSpPr>
          <p:cNvPr id="35" name="Shape 31"/>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36" name="Text 32"/>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Compiler의 DMA 통계, host patch bytes, simulator 파일 I/O를 한 표에서 더해 "NPU bandwidth"로 보고하지 않습니다. 측정 층이 다릅니다.</a:t>
            </a:r>
            <a:endParaRPr lang="en-US" sz="1250" dirty="0"/>
          </a:p>
        </p:txBody>
      </p:sp>
      <p:sp>
        <p:nvSpPr>
          <p:cNvPr id="37" name="Text 33"/>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38" name="Text 34"/>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npu_compiler/npu_generate.DecodeSession, v09_runtime.PersistentTransport, docs/current/10_runtime_llama.md</a:t>
            </a:r>
            <a:endParaRPr lang="en-US" sz="850" dirty="0"/>
          </a:p>
        </p:txBody>
      </p:sp>
      <p:sp>
        <p:nvSpPr>
          <p:cNvPr id="39" name="Text 35"/>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67 / 89</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실제 검증된 3-token 생성: "Hello, NPU compiler!" → " I'm trying"</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FP16, 28 layers, prompt 7 tokens, capacity 9, greedy 3 tokens. 보존된 기록이며 이번 문서 작업에서 전체 모델을 다시 실행하지 않았습니다.</a:t>
            </a:r>
            <a:endParaRPr lang="en-US" sz="1250" dirty="0"/>
          </a:p>
        </p:txBody>
      </p:sp>
      <p:sp>
        <p:nvSpPr>
          <p:cNvPr id="5" name="Text 3"/>
          <p:cNvSpPr txBox="1"/>
          <p:nvPr/>
        </p:nvSpPr>
        <p:spPr>
          <a:xfrm>
            <a:off x="45720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prompt 7 tokens</a:t>
            </a:r>
            <a:endParaRPr lang="en-US" sz="1100" dirty="0"/>
          </a:p>
        </p:txBody>
      </p:sp>
      <p:sp>
        <p:nvSpPr>
          <p:cNvPr id="6" name="Shape 4"/>
          <p:cNvSpPr/>
          <p:nvPr/>
        </p:nvSpPr>
        <p:spPr>
          <a:xfrm>
            <a:off x="457200" y="1691640"/>
            <a:ext cx="777240" cy="640080"/>
          </a:xfrm>
          <a:prstGeom prst="roundRect">
            <a:avLst>
              <a:gd name="adj" fmla="val 7143"/>
            </a:avLst>
          </a:prstGeom>
          <a:solidFill>
            <a:srgbClr val="FFF1DC"/>
          </a:solidFill>
          <a:ln w="12700">
            <a:solidFill>
              <a:srgbClr val="D98A1E"/>
            </a:solidFill>
            <a:prstDash val="solid"/>
          </a:ln>
        </p:spPr>
      </p:sp>
      <p:sp>
        <p:nvSpPr>
          <p:cNvPr id="7" name="Text 5"/>
          <p:cNvSpPr txBox="1"/>
          <p:nvPr/>
        </p:nvSpPr>
        <p:spPr>
          <a:xfrm>
            <a:off x="457200" y="1719072"/>
            <a:ext cx="777240" cy="274320"/>
          </a:xfrm>
          <a:prstGeom prst="rect">
            <a:avLst/>
          </a:prstGeom>
          <a:noFill/>
          <a:ln/>
        </p:spPr>
        <p:txBody>
          <a:bodyPr wrap="square" lIns="0" tIns="0" rIns="0" bIns="0" rtlCol="0" anchor="t"/>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&lt;bos&gt;</a:t>
            </a:r>
            <a:endParaRPr lang="en-US" sz="850" dirty="0"/>
          </a:p>
        </p:txBody>
      </p:sp>
      <p:sp>
        <p:nvSpPr>
          <p:cNvPr id="8" name="Text 6"/>
          <p:cNvSpPr txBox="1"/>
          <p:nvPr/>
        </p:nvSpPr>
        <p:spPr>
          <a:xfrm>
            <a:off x="457200" y="1993392"/>
            <a:ext cx="777240" cy="274320"/>
          </a:xfrm>
          <a:prstGeom prst="rect">
            <a:avLst/>
          </a:prstGeom>
          <a:noFill/>
          <a:ln/>
        </p:spPr>
        <p:txBody>
          <a:bodyPr wrap="square" lIns="0" tIns="0" rIns="0" bIns="0" rtlCol="0" anchor="t"/>
          <a:lstStyle/>
          <a:p>
            <a:pPr algn="ctr" indent="0" marL="0">
              <a:buNone/>
            </a:pPr>
            <a:r>
              <a:rPr lang="en-US" sz="800" dirty="0">
                <a:solidFill>
                  <a:srgbClr val="5B6B7F"/>
                </a:solidFill>
                <a:latin typeface="Courier New" pitchFamily="34" charset="0"/>
                <a:ea typeface="Courier New" pitchFamily="34" charset="-122"/>
                <a:cs typeface="Courier New" pitchFamily="34" charset="-120"/>
              </a:rPr>
              <a:t>128000</a:t>
            </a:r>
            <a:endParaRPr lang="en-US" sz="800" dirty="0"/>
          </a:p>
        </p:txBody>
      </p:sp>
      <p:sp>
        <p:nvSpPr>
          <p:cNvPr id="9" name="Shape 7"/>
          <p:cNvSpPr/>
          <p:nvPr/>
        </p:nvSpPr>
        <p:spPr>
          <a:xfrm>
            <a:off x="1325880" y="1691640"/>
            <a:ext cx="777240" cy="640080"/>
          </a:xfrm>
          <a:prstGeom prst="roundRect">
            <a:avLst>
              <a:gd name="adj" fmla="val 7143"/>
            </a:avLst>
          </a:prstGeom>
          <a:solidFill>
            <a:srgbClr val="FFF1DC"/>
          </a:solidFill>
          <a:ln w="12700">
            <a:solidFill>
              <a:srgbClr val="D98A1E"/>
            </a:solidFill>
            <a:prstDash val="solid"/>
          </a:ln>
        </p:spPr>
      </p:sp>
      <p:sp>
        <p:nvSpPr>
          <p:cNvPr id="10" name="Text 8"/>
          <p:cNvSpPr txBox="1"/>
          <p:nvPr/>
        </p:nvSpPr>
        <p:spPr>
          <a:xfrm>
            <a:off x="1325880" y="1719072"/>
            <a:ext cx="777240" cy="274320"/>
          </a:xfrm>
          <a:prstGeom prst="rect">
            <a:avLst/>
          </a:prstGeom>
          <a:noFill/>
          <a:ln/>
        </p:spPr>
        <p:txBody>
          <a:bodyPr wrap="square" lIns="0" tIns="0" rIns="0" bIns="0" rtlCol="0" anchor="t"/>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Hello</a:t>
            </a:r>
            <a:endParaRPr lang="en-US" sz="850" dirty="0"/>
          </a:p>
        </p:txBody>
      </p:sp>
      <p:sp>
        <p:nvSpPr>
          <p:cNvPr id="11" name="Text 9"/>
          <p:cNvSpPr txBox="1"/>
          <p:nvPr/>
        </p:nvSpPr>
        <p:spPr>
          <a:xfrm>
            <a:off x="1325880" y="1993392"/>
            <a:ext cx="777240" cy="274320"/>
          </a:xfrm>
          <a:prstGeom prst="rect">
            <a:avLst/>
          </a:prstGeom>
          <a:noFill/>
          <a:ln/>
        </p:spPr>
        <p:txBody>
          <a:bodyPr wrap="square" lIns="0" tIns="0" rIns="0" bIns="0" rtlCol="0" anchor="t"/>
          <a:lstStyle/>
          <a:p>
            <a:pPr algn="ctr" indent="0" marL="0">
              <a:buNone/>
            </a:pPr>
            <a:r>
              <a:rPr lang="en-US" sz="800" dirty="0">
                <a:solidFill>
                  <a:srgbClr val="5B6B7F"/>
                </a:solidFill>
                <a:latin typeface="Courier New" pitchFamily="34" charset="0"/>
                <a:ea typeface="Courier New" pitchFamily="34" charset="-122"/>
                <a:cs typeface="Courier New" pitchFamily="34" charset="-120"/>
              </a:rPr>
              <a:t>9906</a:t>
            </a:r>
            <a:endParaRPr lang="en-US" sz="800" dirty="0"/>
          </a:p>
        </p:txBody>
      </p:sp>
      <p:sp>
        <p:nvSpPr>
          <p:cNvPr id="12" name="Shape 10"/>
          <p:cNvSpPr/>
          <p:nvPr/>
        </p:nvSpPr>
        <p:spPr>
          <a:xfrm>
            <a:off x="2194560" y="1691640"/>
            <a:ext cx="777240" cy="640080"/>
          </a:xfrm>
          <a:prstGeom prst="roundRect">
            <a:avLst>
              <a:gd name="adj" fmla="val 7143"/>
            </a:avLst>
          </a:prstGeom>
          <a:solidFill>
            <a:srgbClr val="FFF1DC"/>
          </a:solidFill>
          <a:ln w="12700">
            <a:solidFill>
              <a:srgbClr val="D98A1E"/>
            </a:solidFill>
            <a:prstDash val="solid"/>
          </a:ln>
        </p:spPr>
      </p:sp>
      <p:sp>
        <p:nvSpPr>
          <p:cNvPr id="13" name="Text 11"/>
          <p:cNvSpPr txBox="1"/>
          <p:nvPr/>
        </p:nvSpPr>
        <p:spPr>
          <a:xfrm>
            <a:off x="2194560" y="1719072"/>
            <a:ext cx="777240" cy="274320"/>
          </a:xfrm>
          <a:prstGeom prst="rect">
            <a:avLst/>
          </a:prstGeom>
          <a:noFill/>
          <a:ln/>
        </p:spPr>
        <p:txBody>
          <a:bodyPr wrap="square" lIns="0" tIns="0" rIns="0" bIns="0" rtlCol="0" anchor="t"/>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a:t>
            </a:r>
            <a:endParaRPr lang="en-US" sz="850" dirty="0"/>
          </a:p>
        </p:txBody>
      </p:sp>
      <p:sp>
        <p:nvSpPr>
          <p:cNvPr id="14" name="Text 12"/>
          <p:cNvSpPr txBox="1"/>
          <p:nvPr/>
        </p:nvSpPr>
        <p:spPr>
          <a:xfrm>
            <a:off x="2194560" y="1993392"/>
            <a:ext cx="777240" cy="274320"/>
          </a:xfrm>
          <a:prstGeom prst="rect">
            <a:avLst/>
          </a:prstGeom>
          <a:noFill/>
          <a:ln/>
        </p:spPr>
        <p:txBody>
          <a:bodyPr wrap="square" lIns="0" tIns="0" rIns="0" bIns="0" rtlCol="0" anchor="t"/>
          <a:lstStyle/>
          <a:p>
            <a:pPr algn="ctr" indent="0" marL="0">
              <a:buNone/>
            </a:pPr>
            <a:r>
              <a:rPr lang="en-US" sz="800" dirty="0">
                <a:solidFill>
                  <a:srgbClr val="5B6B7F"/>
                </a:solidFill>
                <a:latin typeface="Courier New" pitchFamily="34" charset="0"/>
                <a:ea typeface="Courier New" pitchFamily="34" charset="-122"/>
                <a:cs typeface="Courier New" pitchFamily="34" charset="-120"/>
              </a:rPr>
              <a:t>11</a:t>
            </a:r>
            <a:endParaRPr lang="en-US" sz="800" dirty="0"/>
          </a:p>
        </p:txBody>
      </p:sp>
      <p:sp>
        <p:nvSpPr>
          <p:cNvPr id="15" name="Shape 13"/>
          <p:cNvSpPr/>
          <p:nvPr/>
        </p:nvSpPr>
        <p:spPr>
          <a:xfrm>
            <a:off x="3063240" y="1691640"/>
            <a:ext cx="777240" cy="640080"/>
          </a:xfrm>
          <a:prstGeom prst="roundRect">
            <a:avLst>
              <a:gd name="adj" fmla="val 7143"/>
            </a:avLst>
          </a:prstGeom>
          <a:solidFill>
            <a:srgbClr val="FFF1DC"/>
          </a:solidFill>
          <a:ln w="12700">
            <a:solidFill>
              <a:srgbClr val="D98A1E"/>
            </a:solidFill>
            <a:prstDash val="solid"/>
          </a:ln>
        </p:spPr>
      </p:sp>
      <p:sp>
        <p:nvSpPr>
          <p:cNvPr id="16" name="Text 14"/>
          <p:cNvSpPr txBox="1"/>
          <p:nvPr/>
        </p:nvSpPr>
        <p:spPr>
          <a:xfrm>
            <a:off x="3063240" y="1719072"/>
            <a:ext cx="777240" cy="274320"/>
          </a:xfrm>
          <a:prstGeom prst="rect">
            <a:avLst/>
          </a:prstGeom>
          <a:noFill/>
          <a:ln/>
        </p:spPr>
        <p:txBody>
          <a:bodyPr wrap="square" lIns="0" tIns="0" rIns="0" bIns="0" rtlCol="0" anchor="t"/>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 N</a:t>
            </a:r>
            <a:endParaRPr lang="en-US" sz="850" dirty="0"/>
          </a:p>
        </p:txBody>
      </p:sp>
      <p:sp>
        <p:nvSpPr>
          <p:cNvPr id="17" name="Text 15"/>
          <p:cNvSpPr txBox="1"/>
          <p:nvPr/>
        </p:nvSpPr>
        <p:spPr>
          <a:xfrm>
            <a:off x="3063240" y="1993392"/>
            <a:ext cx="777240" cy="274320"/>
          </a:xfrm>
          <a:prstGeom prst="rect">
            <a:avLst/>
          </a:prstGeom>
          <a:noFill/>
          <a:ln/>
        </p:spPr>
        <p:txBody>
          <a:bodyPr wrap="square" lIns="0" tIns="0" rIns="0" bIns="0" rtlCol="0" anchor="t"/>
          <a:lstStyle/>
          <a:p>
            <a:pPr algn="ctr" indent="0" marL="0">
              <a:buNone/>
            </a:pPr>
            <a:r>
              <a:rPr lang="en-US" sz="800" dirty="0">
                <a:solidFill>
                  <a:srgbClr val="5B6B7F"/>
                </a:solidFill>
                <a:latin typeface="Courier New" pitchFamily="34" charset="0"/>
                <a:ea typeface="Courier New" pitchFamily="34" charset="-122"/>
                <a:cs typeface="Courier New" pitchFamily="34" charset="-120"/>
              </a:rPr>
              <a:t>452</a:t>
            </a:r>
            <a:endParaRPr lang="en-US" sz="800" dirty="0"/>
          </a:p>
        </p:txBody>
      </p:sp>
      <p:sp>
        <p:nvSpPr>
          <p:cNvPr id="18" name="Shape 16"/>
          <p:cNvSpPr/>
          <p:nvPr/>
        </p:nvSpPr>
        <p:spPr>
          <a:xfrm>
            <a:off x="3931920" y="1691640"/>
            <a:ext cx="777240" cy="640080"/>
          </a:xfrm>
          <a:prstGeom prst="roundRect">
            <a:avLst>
              <a:gd name="adj" fmla="val 7143"/>
            </a:avLst>
          </a:prstGeom>
          <a:solidFill>
            <a:srgbClr val="FFF1DC"/>
          </a:solidFill>
          <a:ln w="12700">
            <a:solidFill>
              <a:srgbClr val="D98A1E"/>
            </a:solidFill>
            <a:prstDash val="solid"/>
          </a:ln>
        </p:spPr>
      </p:sp>
      <p:sp>
        <p:nvSpPr>
          <p:cNvPr id="19" name="Text 17"/>
          <p:cNvSpPr txBox="1"/>
          <p:nvPr/>
        </p:nvSpPr>
        <p:spPr>
          <a:xfrm>
            <a:off x="3931920" y="1719072"/>
            <a:ext cx="777240" cy="274320"/>
          </a:xfrm>
          <a:prstGeom prst="rect">
            <a:avLst/>
          </a:prstGeom>
          <a:noFill/>
          <a:ln/>
        </p:spPr>
        <p:txBody>
          <a:bodyPr wrap="square" lIns="0" tIns="0" rIns="0" bIns="0" rtlCol="0" anchor="t"/>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PU</a:t>
            </a:r>
            <a:endParaRPr lang="en-US" sz="850" dirty="0"/>
          </a:p>
        </p:txBody>
      </p:sp>
      <p:sp>
        <p:nvSpPr>
          <p:cNvPr id="20" name="Text 18"/>
          <p:cNvSpPr txBox="1"/>
          <p:nvPr/>
        </p:nvSpPr>
        <p:spPr>
          <a:xfrm>
            <a:off x="3931920" y="1993392"/>
            <a:ext cx="777240" cy="274320"/>
          </a:xfrm>
          <a:prstGeom prst="rect">
            <a:avLst/>
          </a:prstGeom>
          <a:noFill/>
          <a:ln/>
        </p:spPr>
        <p:txBody>
          <a:bodyPr wrap="square" lIns="0" tIns="0" rIns="0" bIns="0" rtlCol="0" anchor="t"/>
          <a:lstStyle/>
          <a:p>
            <a:pPr algn="ctr" indent="0" marL="0">
              <a:buNone/>
            </a:pPr>
            <a:r>
              <a:rPr lang="en-US" sz="800" dirty="0">
                <a:solidFill>
                  <a:srgbClr val="5B6B7F"/>
                </a:solidFill>
                <a:latin typeface="Courier New" pitchFamily="34" charset="0"/>
                <a:ea typeface="Courier New" pitchFamily="34" charset="-122"/>
                <a:cs typeface="Courier New" pitchFamily="34" charset="-120"/>
              </a:rPr>
              <a:t>6459</a:t>
            </a:r>
            <a:endParaRPr lang="en-US" sz="800" dirty="0"/>
          </a:p>
        </p:txBody>
      </p:sp>
      <p:sp>
        <p:nvSpPr>
          <p:cNvPr id="21" name="Shape 19"/>
          <p:cNvSpPr/>
          <p:nvPr/>
        </p:nvSpPr>
        <p:spPr>
          <a:xfrm>
            <a:off x="4800600" y="1691640"/>
            <a:ext cx="777240" cy="640080"/>
          </a:xfrm>
          <a:prstGeom prst="roundRect">
            <a:avLst>
              <a:gd name="adj" fmla="val 7143"/>
            </a:avLst>
          </a:prstGeom>
          <a:solidFill>
            <a:srgbClr val="FFF1DC"/>
          </a:solidFill>
          <a:ln w="12700">
            <a:solidFill>
              <a:srgbClr val="D98A1E"/>
            </a:solidFill>
            <a:prstDash val="solid"/>
          </a:ln>
        </p:spPr>
      </p:sp>
      <p:sp>
        <p:nvSpPr>
          <p:cNvPr id="22" name="Text 20"/>
          <p:cNvSpPr txBox="1"/>
          <p:nvPr/>
        </p:nvSpPr>
        <p:spPr>
          <a:xfrm>
            <a:off x="4800600" y="1719072"/>
            <a:ext cx="777240" cy="274320"/>
          </a:xfrm>
          <a:prstGeom prst="rect">
            <a:avLst/>
          </a:prstGeom>
          <a:noFill/>
          <a:ln/>
        </p:spPr>
        <p:txBody>
          <a:bodyPr wrap="square" lIns="0" tIns="0" rIns="0" bIns="0" rtlCol="0" anchor="t"/>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 compiler</a:t>
            </a:r>
            <a:endParaRPr lang="en-US" sz="850" dirty="0"/>
          </a:p>
        </p:txBody>
      </p:sp>
      <p:sp>
        <p:nvSpPr>
          <p:cNvPr id="23" name="Text 21"/>
          <p:cNvSpPr txBox="1"/>
          <p:nvPr/>
        </p:nvSpPr>
        <p:spPr>
          <a:xfrm>
            <a:off x="4800600" y="1993392"/>
            <a:ext cx="777240" cy="274320"/>
          </a:xfrm>
          <a:prstGeom prst="rect">
            <a:avLst/>
          </a:prstGeom>
          <a:noFill/>
          <a:ln/>
        </p:spPr>
        <p:txBody>
          <a:bodyPr wrap="square" lIns="0" tIns="0" rIns="0" bIns="0" rtlCol="0" anchor="t"/>
          <a:lstStyle/>
          <a:p>
            <a:pPr algn="ctr" indent="0" marL="0">
              <a:buNone/>
            </a:pPr>
            <a:r>
              <a:rPr lang="en-US" sz="800" dirty="0">
                <a:solidFill>
                  <a:srgbClr val="5B6B7F"/>
                </a:solidFill>
                <a:latin typeface="Courier New" pitchFamily="34" charset="0"/>
                <a:ea typeface="Courier New" pitchFamily="34" charset="-122"/>
                <a:cs typeface="Courier New" pitchFamily="34" charset="-120"/>
              </a:rPr>
              <a:t>19979</a:t>
            </a:r>
            <a:endParaRPr lang="en-US" sz="800" dirty="0"/>
          </a:p>
        </p:txBody>
      </p:sp>
      <p:sp>
        <p:nvSpPr>
          <p:cNvPr id="24" name="Shape 22"/>
          <p:cNvSpPr/>
          <p:nvPr/>
        </p:nvSpPr>
        <p:spPr>
          <a:xfrm>
            <a:off x="5669280" y="1691640"/>
            <a:ext cx="777240" cy="640080"/>
          </a:xfrm>
          <a:prstGeom prst="roundRect">
            <a:avLst>
              <a:gd name="adj" fmla="val 7143"/>
            </a:avLst>
          </a:prstGeom>
          <a:solidFill>
            <a:srgbClr val="FFF1DC"/>
          </a:solidFill>
          <a:ln w="12700">
            <a:solidFill>
              <a:srgbClr val="D98A1E"/>
            </a:solidFill>
            <a:prstDash val="solid"/>
          </a:ln>
        </p:spPr>
      </p:sp>
      <p:sp>
        <p:nvSpPr>
          <p:cNvPr id="25" name="Text 23"/>
          <p:cNvSpPr txBox="1"/>
          <p:nvPr/>
        </p:nvSpPr>
        <p:spPr>
          <a:xfrm>
            <a:off x="5669280" y="1719072"/>
            <a:ext cx="777240" cy="274320"/>
          </a:xfrm>
          <a:prstGeom prst="rect">
            <a:avLst/>
          </a:prstGeom>
          <a:noFill/>
          <a:ln/>
        </p:spPr>
        <p:txBody>
          <a:bodyPr wrap="square" lIns="0" tIns="0" rIns="0" bIns="0" rtlCol="0" anchor="t"/>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a:t>
            </a:r>
            <a:endParaRPr lang="en-US" sz="850" dirty="0"/>
          </a:p>
        </p:txBody>
      </p:sp>
      <p:sp>
        <p:nvSpPr>
          <p:cNvPr id="26" name="Text 24"/>
          <p:cNvSpPr txBox="1"/>
          <p:nvPr/>
        </p:nvSpPr>
        <p:spPr>
          <a:xfrm>
            <a:off x="5669280" y="1993392"/>
            <a:ext cx="777240" cy="274320"/>
          </a:xfrm>
          <a:prstGeom prst="rect">
            <a:avLst/>
          </a:prstGeom>
          <a:noFill/>
          <a:ln/>
        </p:spPr>
        <p:txBody>
          <a:bodyPr wrap="square" lIns="0" tIns="0" rIns="0" bIns="0" rtlCol="0" anchor="t"/>
          <a:lstStyle/>
          <a:p>
            <a:pPr algn="ctr" indent="0" marL="0">
              <a:buNone/>
            </a:pPr>
            <a:r>
              <a:rPr lang="en-US" sz="800" dirty="0">
                <a:solidFill>
                  <a:srgbClr val="5B6B7F"/>
                </a:solidFill>
                <a:latin typeface="Courier New" pitchFamily="34" charset="0"/>
                <a:ea typeface="Courier New" pitchFamily="34" charset="-122"/>
                <a:cs typeface="Courier New" pitchFamily="34" charset="-120"/>
              </a:rPr>
              <a:t>0</a:t>
            </a:r>
            <a:endParaRPr lang="en-US" sz="800" dirty="0"/>
          </a:p>
        </p:txBody>
      </p:sp>
      <p:sp>
        <p:nvSpPr>
          <p:cNvPr id="27" name="Shape 25"/>
          <p:cNvSpPr/>
          <p:nvPr/>
        </p:nvSpPr>
        <p:spPr>
          <a:xfrm>
            <a:off x="6766560" y="1691640"/>
            <a:ext cx="1463040" cy="640080"/>
          </a:xfrm>
          <a:prstGeom prst="roundRect">
            <a:avLst>
              <a:gd name="adj" fmla="val 7143"/>
            </a:avLst>
          </a:prstGeom>
          <a:solidFill>
            <a:srgbClr val="ECE6FA"/>
          </a:solidFill>
          <a:ln w="12700">
            <a:solidFill>
              <a:srgbClr val="6C4FBF"/>
            </a:solidFill>
            <a:prstDash val="solid"/>
          </a:ln>
        </p:spPr>
      </p:sp>
      <p:sp>
        <p:nvSpPr>
          <p:cNvPr id="28" name="Text 26"/>
          <p:cNvSpPr txBox="1"/>
          <p:nvPr/>
        </p:nvSpPr>
        <p:spPr>
          <a:xfrm>
            <a:off x="6766560" y="1719072"/>
            <a:ext cx="1463040" cy="274320"/>
          </a:xfrm>
          <a:prstGeom prst="rect">
            <a:avLst/>
          </a:prstGeom>
          <a:noFill/>
          <a:ln/>
        </p:spPr>
        <p:txBody>
          <a:bodyPr wrap="square" lIns="0" tIns="0" rIns="0" bIns="0" rtlCol="0" anchor="t"/>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 I  (358)</a:t>
            </a:r>
            <a:endParaRPr lang="en-US" sz="950" dirty="0"/>
          </a:p>
        </p:txBody>
      </p:sp>
      <p:sp>
        <p:nvSpPr>
          <p:cNvPr id="29" name="Text 27"/>
          <p:cNvSpPr txBox="1"/>
          <p:nvPr/>
        </p:nvSpPr>
        <p:spPr>
          <a:xfrm>
            <a:off x="6766560" y="1993392"/>
            <a:ext cx="1463040" cy="27432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prefill</a:t>
            </a:r>
            <a:endParaRPr lang="en-US" sz="800" dirty="0"/>
          </a:p>
        </p:txBody>
      </p:sp>
      <p:sp>
        <p:nvSpPr>
          <p:cNvPr id="30" name="Shape 28"/>
          <p:cNvSpPr/>
          <p:nvPr/>
        </p:nvSpPr>
        <p:spPr>
          <a:xfrm>
            <a:off x="8247888" y="2011680"/>
            <a:ext cx="100584" cy="914"/>
          </a:xfrm>
          <a:prstGeom prst="line">
            <a:avLst/>
          </a:prstGeom>
          <a:noFill/>
          <a:ln w="12700">
            <a:solidFill>
              <a:srgbClr val="5B6B7F"/>
            </a:solidFill>
            <a:prstDash val="solid"/>
            <a:tailEnd type="triangle"/>
          </a:ln>
        </p:spPr>
      </p:sp>
      <p:sp>
        <p:nvSpPr>
          <p:cNvPr id="31" name="Shape 29"/>
          <p:cNvSpPr/>
          <p:nvPr/>
        </p:nvSpPr>
        <p:spPr>
          <a:xfrm>
            <a:off x="8366760" y="1691640"/>
            <a:ext cx="1463040" cy="640080"/>
          </a:xfrm>
          <a:prstGeom prst="roundRect">
            <a:avLst>
              <a:gd name="adj" fmla="val 7143"/>
            </a:avLst>
          </a:prstGeom>
          <a:solidFill>
            <a:srgbClr val="ECE6FA"/>
          </a:solidFill>
          <a:ln w="12700">
            <a:solidFill>
              <a:srgbClr val="6C4FBF"/>
            </a:solidFill>
            <a:prstDash val="solid"/>
          </a:ln>
        </p:spPr>
      </p:sp>
      <p:sp>
        <p:nvSpPr>
          <p:cNvPr id="32" name="Text 30"/>
          <p:cNvSpPr txBox="1"/>
          <p:nvPr/>
        </p:nvSpPr>
        <p:spPr>
          <a:xfrm>
            <a:off x="8366760" y="1719072"/>
            <a:ext cx="1463040" cy="274320"/>
          </a:xfrm>
          <a:prstGeom prst="rect">
            <a:avLst/>
          </a:prstGeom>
          <a:noFill/>
          <a:ln/>
        </p:spPr>
        <p:txBody>
          <a:bodyPr wrap="square" lIns="0" tIns="0" rIns="0" bIns="0" rtlCol="0" anchor="t"/>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'm  (2846)</a:t>
            </a:r>
            <a:endParaRPr lang="en-US" sz="950" dirty="0"/>
          </a:p>
        </p:txBody>
      </p:sp>
      <p:sp>
        <p:nvSpPr>
          <p:cNvPr id="33" name="Text 31"/>
          <p:cNvSpPr txBox="1"/>
          <p:nvPr/>
        </p:nvSpPr>
        <p:spPr>
          <a:xfrm>
            <a:off x="8366760" y="1993392"/>
            <a:ext cx="1463040" cy="27432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decode @7</a:t>
            </a:r>
            <a:endParaRPr lang="en-US" sz="800" dirty="0"/>
          </a:p>
        </p:txBody>
      </p:sp>
      <p:sp>
        <p:nvSpPr>
          <p:cNvPr id="34" name="Shape 32"/>
          <p:cNvSpPr/>
          <p:nvPr/>
        </p:nvSpPr>
        <p:spPr>
          <a:xfrm>
            <a:off x="9848088" y="2011680"/>
            <a:ext cx="100584" cy="914"/>
          </a:xfrm>
          <a:prstGeom prst="line">
            <a:avLst/>
          </a:prstGeom>
          <a:noFill/>
          <a:ln w="12700">
            <a:solidFill>
              <a:srgbClr val="5B6B7F"/>
            </a:solidFill>
            <a:prstDash val="solid"/>
            <a:tailEnd type="triangle"/>
          </a:ln>
        </p:spPr>
      </p:sp>
      <p:sp>
        <p:nvSpPr>
          <p:cNvPr id="35" name="Shape 33"/>
          <p:cNvSpPr/>
          <p:nvPr/>
        </p:nvSpPr>
        <p:spPr>
          <a:xfrm>
            <a:off x="9966960" y="1691640"/>
            <a:ext cx="1463040" cy="640080"/>
          </a:xfrm>
          <a:prstGeom prst="roundRect">
            <a:avLst>
              <a:gd name="adj" fmla="val 7143"/>
            </a:avLst>
          </a:prstGeom>
          <a:solidFill>
            <a:srgbClr val="ECE6FA"/>
          </a:solidFill>
          <a:ln w="12700">
            <a:solidFill>
              <a:srgbClr val="6C4FBF"/>
            </a:solidFill>
            <a:prstDash val="solid"/>
          </a:ln>
        </p:spPr>
      </p:sp>
      <p:sp>
        <p:nvSpPr>
          <p:cNvPr id="36" name="Text 34"/>
          <p:cNvSpPr txBox="1"/>
          <p:nvPr/>
        </p:nvSpPr>
        <p:spPr>
          <a:xfrm>
            <a:off x="9966960" y="1719072"/>
            <a:ext cx="1463040" cy="274320"/>
          </a:xfrm>
          <a:prstGeom prst="rect">
            <a:avLst/>
          </a:prstGeom>
          <a:noFill/>
          <a:ln/>
        </p:spPr>
        <p:txBody>
          <a:bodyPr wrap="square" lIns="0" tIns="0" rIns="0" bIns="0" rtlCol="0" anchor="t"/>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 trying  (4560)</a:t>
            </a:r>
            <a:endParaRPr lang="en-US" sz="950" dirty="0"/>
          </a:p>
        </p:txBody>
      </p:sp>
      <p:sp>
        <p:nvSpPr>
          <p:cNvPr id="37" name="Text 35"/>
          <p:cNvSpPr txBox="1"/>
          <p:nvPr/>
        </p:nvSpPr>
        <p:spPr>
          <a:xfrm>
            <a:off x="9966960" y="1993392"/>
            <a:ext cx="1463040" cy="27432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decode @8</a:t>
            </a:r>
            <a:endParaRPr lang="en-US" sz="800" dirty="0"/>
          </a:p>
        </p:txBody>
      </p:sp>
      <p:sp>
        <p:nvSpPr>
          <p:cNvPr id="38" name="Shape 36"/>
          <p:cNvSpPr/>
          <p:nvPr/>
        </p:nvSpPr>
        <p:spPr>
          <a:xfrm>
            <a:off x="6583680" y="2011680"/>
            <a:ext cx="164592" cy="914"/>
          </a:xfrm>
          <a:prstGeom prst="line">
            <a:avLst/>
          </a:prstGeom>
          <a:noFill/>
          <a:ln w="19050">
            <a:solidFill>
              <a:srgbClr val="5B6B7F"/>
            </a:solidFill>
            <a:prstDash val="solid"/>
            <a:tailEnd type="triangle"/>
          </a:ln>
        </p:spPr>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2606040"/>
          <a:ext cx="11274552" cy="914400"/>
        </p:xfrm>
        <a:graphic>
          <a:graphicData uri="http://schemas.openxmlformats.org/drawingml/2006/table">
            <a:tbl>
              <a:tblPr/>
              <a:tblGrid>
                <a:gridCol w="1188720"/>
                <a:gridCol w="2011680"/>
                <a:gridCol w="1737360"/>
                <a:gridCol w="1554480"/>
                <a:gridCol w="1280160"/>
                <a:gridCol w="1737360"/>
                <a:gridCol w="1764792"/>
              </a:tblGrid>
              <a:tr h="310896">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단계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NPU에 넣는 것</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계산 후 cache 유효 길이</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예측 token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HF argmax 일치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00" b="1" dirty="0">
                          <a:solidFill>
                            <a:srgbClr val="FFFFFF"/>
                          </a:solidFill>
                          <a:latin typeface="Malgun Gothic" pitchFamily="34" charset="0"/>
                          <a:ea typeface="Malgun Gothic" pitchFamily="34" charset="-122"/>
                          <a:cs typeface="Malgun Gothic" pitchFamily="34" charset="-120"/>
                        </a:rPr>
                        <a:t>logits cosine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00" b="1" dirty="0">
                          <a:solidFill>
                            <a:srgbClr val="FFFFFF"/>
                          </a:solidFill>
                          <a:latin typeface="Malgun Gothic" pitchFamily="34" charset="0"/>
                          <a:ea typeface="Malgun Gothic" pitchFamily="34" charset="-122"/>
                          <a:cs typeface="Malgun Gothic" pitchFamily="34" charset="-120"/>
                        </a:rPr>
                        <a:t>최대 절대차</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prefill_cache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prompt 7 tokens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7</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358 (" I")</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예</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0.9999977148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0.03515625</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decode 1</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token 358, position 7</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2846 ("'m")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예</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0.9999958473</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0.02343750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decode 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token 2846, position 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9</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4560 (" trying")</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900" dirty="0">
                          <a:solidFill>
                            <a:srgbClr val="1F2D3D"/>
                          </a:solidFill>
                          <a:latin typeface="Malgun Gothic" pitchFamily="34" charset="0"/>
                          <a:ea typeface="Malgun Gothic" pitchFamily="34" charset="-122"/>
                          <a:cs typeface="Malgun Gothic" pitchFamily="34" charset="-120"/>
                        </a:rPr>
                        <a:t>예</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0.9999929546</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00" dirty="0">
                          <a:solidFill>
                            <a:srgbClr val="1F2D3D"/>
                          </a:solidFill>
                          <a:latin typeface="Malgun Gothic" pitchFamily="34" charset="0"/>
                          <a:ea typeface="Malgun Gothic" pitchFamily="34" charset="-122"/>
                          <a:cs typeface="Malgun Gothic" pitchFamily="34" charset="-120"/>
                        </a:rPr>
                        <a:t>0.03906250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40" name="Shape 37"/>
          <p:cNvSpPr/>
          <p:nvPr/>
        </p:nvSpPr>
        <p:spPr>
          <a:xfrm>
            <a:off x="457200" y="4114800"/>
            <a:ext cx="5852160" cy="914400"/>
          </a:xfrm>
          <a:prstGeom prst="roundRect">
            <a:avLst>
              <a:gd name="adj" fmla="val 5000"/>
            </a:avLst>
          </a:prstGeom>
          <a:solidFill>
            <a:srgbClr val="F5F7FA"/>
          </a:solidFill>
          <a:ln w="9525">
            <a:solidFill>
              <a:srgbClr val="C9D3DF"/>
            </a:solidFill>
            <a:prstDash val="solid"/>
          </a:ln>
        </p:spPr>
      </p:sp>
      <p:sp>
        <p:nvSpPr>
          <p:cNvPr id="41" name="Text 38"/>
          <p:cNvSpPr txBox="1"/>
          <p:nvPr/>
        </p:nvSpPr>
        <p:spPr>
          <a:xfrm>
            <a:off x="566928" y="4187952"/>
            <a:ext cx="5632704" cy="76809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python d_compiler/run_nn_generate.py --model llama \</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--prompt "Hello, NPU compiler!" --tokens 3 --capacity 9</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--llvm: 같은 프로그램을 CPU에서, --cache-buckets, --fusion auto|off|on, --params-cache DIR</a:t>
            </a:r>
            <a:endParaRPr lang="en-US" sz="850" dirty="0"/>
          </a:p>
        </p:txBody>
      </p:sp>
      <p:graphicFrame>
        <p:nvGraphicFramePr>
          <p:cNvPr id="137" name="Table 1"/>
          <p:cNvGraphicFramePr>
            <a:graphicFrameLocks noGrp="1"/>
          </p:cNvGraphicFramePr>
          <p:nvPr>
            <p:extLst>
              <p:ext uri="{D42A27DB-BD31-4B8C-83A1-F6EECF244321}">
                <p14:modId xmlns:p14="http://schemas.microsoft.com/office/powerpoint/2010/main" val="1579011935"/>
              </p:ext>
            </p:extLst>
          </p:nvPr>
        </p:nvGraphicFramePr>
        <p:xfrm>
          <a:off x="6537960" y="4114800"/>
          <a:ext cx="5193792" cy="914400"/>
        </p:xfrm>
        <a:graphic>
          <a:graphicData uri="http://schemas.openxmlformats.org/drawingml/2006/table">
            <a:tbl>
              <a:tblPr/>
              <a:tblGrid>
                <a:gridCol w="1463040"/>
                <a:gridCol w="3730752"/>
              </a:tblGrid>
              <a:tr h="27432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판정 기준 / 기록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값</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판정</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유한 logits, token 일치, cosine ≥ 0.999 (절대차는 기록만)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실행 시간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948.99 s (첫 entry 재사용 검증; cold compile 아님)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graph 탐색</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120 s 예산 소진 → unfused 기준 module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compiler source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sha256 44694fc6…, TVM 0.19.0 c4dc0c29, LLVM 18.1.8</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43" name="Shape 39"/>
          <p:cNvSpPr/>
          <p:nvPr/>
        </p:nvSpPr>
        <p:spPr>
          <a:xfrm>
            <a:off x="457200" y="5166360"/>
            <a:ext cx="5852160" cy="640080"/>
          </a:xfrm>
          <a:prstGeom prst="roundRect">
            <a:avLst>
              <a:gd name="adj" fmla="val 8571"/>
            </a:avLst>
          </a:prstGeom>
          <a:solidFill>
            <a:srgbClr val="FFF6DB"/>
          </a:solidFill>
          <a:ln w="12700">
            <a:solidFill>
              <a:srgbClr val="B7791F"/>
            </a:solidFill>
            <a:prstDash val="solid"/>
          </a:ln>
        </p:spPr>
      </p:sp>
      <p:sp>
        <p:nvSpPr>
          <p:cNvPr id="44" name="Text 40"/>
          <p:cNvSpPr txBox="1"/>
          <p:nvPr/>
        </p:nvSpPr>
        <p:spPr>
          <a:xfrm>
            <a:off x="585216" y="5221224"/>
            <a:ext cx="5596128" cy="53035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범위: </a:t>
            </a:r>
            <a:pPr algn="l" indent="0" marL="0">
              <a:buNone/>
            </a:pPr>
            <a:r>
              <a:rPr lang="en-US" sz="950" dirty="0">
                <a:solidFill>
                  <a:srgbClr val="1F2D3D"/>
                </a:solidFill>
                <a:latin typeface="Malgun Gothic" pitchFamily="34" charset="0"/>
                <a:ea typeface="Malgun Gothic" pitchFamily="34" charset="-122"/>
                <a:cs typeface="Malgun Gothic" pitchFamily="34" charset="-120"/>
              </a:rPr>
              <a:t>한 prompt의 짧은 greedy 생성입니다. 긴 문맥 품질, 다양한 prompt, 양자화 generation까지 검증됐다고 확대하지 않습니다.</a:t>
            </a:r>
            <a:endParaRPr lang="en-US" sz="1200" dirty="0"/>
          </a:p>
        </p:txBody>
      </p:sp>
      <p:sp>
        <p:nvSpPr>
          <p:cNvPr id="45" name="Shape 41"/>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46" name="Text 42"/>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최종 문자열 " I'm trying". 마지막 4560은 아직 NPU 입력으로 처리되지 않았으므로 이 시점 cache에는 그 token의 K/V가 없습니다.</a:t>
            </a:r>
            <a:endParaRPr lang="en-US" sz="1250" dirty="0"/>
          </a:p>
        </p:txBody>
      </p:sp>
      <p:sp>
        <p:nvSpPr>
          <p:cNvPr id="47" name="Text 43"/>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48" name="Text 44"/>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docs/evidence/current/llama_validation.json, completion.json (compiler source sha256 44694fc6…)</a:t>
            </a:r>
            <a:endParaRPr lang="en-US" sz="850" dirty="0"/>
          </a:p>
        </p:txBody>
      </p:sp>
      <p:sp>
        <p:nvSpPr>
          <p:cNvPr id="49" name="Text 45"/>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68 / 89</a:t>
            </a:r>
            <a:endParaRPr lang="en-US" sz="8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9 · ISA · linker · runtime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Bucket, layer 반복, 그리고 C-model 실행 규약</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여러 capacity를 미리 컴파일하고 유효 길이가 커질 때 큰 bucket으로 바꿀 수 있습니다. 전환 시 유효 prefix를 한 번 복사합니다. 28층은 최종 stream에 모두 전개되며 schedule 판단만 재사용합니다.</a:t>
            </a:r>
            <a:endParaRPr lang="en-US" sz="1250" dirty="0"/>
          </a:p>
        </p:txBody>
      </p:sp>
      <p:sp>
        <p:nvSpPr>
          <p:cNvPr id="5" name="Text 3"/>
          <p:cNvSpPr txBox="1"/>
          <p:nvPr/>
        </p:nvSpPr>
        <p:spPr>
          <a:xfrm>
            <a:off x="457200" y="1371600"/>
            <a:ext cx="5760720" cy="256032"/>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cache_buckets = [16, 32, 64] (capacity 64): slot 사용과 전환</a:t>
            </a:r>
            <a:endParaRPr lang="en-US" sz="1050" dirty="0"/>
          </a:p>
        </p:txBody>
      </p:sp>
      <p:sp>
        <p:nvSpPr>
          <p:cNvPr id="6" name="Shape 4"/>
          <p:cNvSpPr/>
          <p:nvPr/>
        </p:nvSpPr>
        <p:spPr>
          <a:xfrm>
            <a:off x="1828800" y="1691640"/>
            <a:ext cx="85725" cy="237744"/>
          </a:xfrm>
          <a:prstGeom prst="rect">
            <a:avLst/>
          </a:prstGeom>
          <a:solidFill>
            <a:srgbClr val="FFF1DC"/>
          </a:solidFill>
          <a:ln w="6350">
            <a:solidFill>
              <a:srgbClr val="D98A1E"/>
            </a:solidFill>
            <a:prstDash val="solid"/>
          </a:ln>
        </p:spPr>
      </p:sp>
      <p:sp>
        <p:nvSpPr>
          <p:cNvPr id="7" name="Shape 5"/>
          <p:cNvSpPr/>
          <p:nvPr/>
        </p:nvSpPr>
        <p:spPr>
          <a:xfrm>
            <a:off x="1914525" y="1691640"/>
            <a:ext cx="85725" cy="237744"/>
          </a:xfrm>
          <a:prstGeom prst="rect">
            <a:avLst/>
          </a:prstGeom>
          <a:solidFill>
            <a:srgbClr val="FFF1DC"/>
          </a:solidFill>
          <a:ln w="6350">
            <a:solidFill>
              <a:srgbClr val="D98A1E"/>
            </a:solidFill>
            <a:prstDash val="solid"/>
          </a:ln>
        </p:spPr>
      </p:sp>
      <p:sp>
        <p:nvSpPr>
          <p:cNvPr id="8" name="Shape 6"/>
          <p:cNvSpPr/>
          <p:nvPr/>
        </p:nvSpPr>
        <p:spPr>
          <a:xfrm>
            <a:off x="2000250" y="1691640"/>
            <a:ext cx="85725" cy="237744"/>
          </a:xfrm>
          <a:prstGeom prst="rect">
            <a:avLst/>
          </a:prstGeom>
          <a:solidFill>
            <a:srgbClr val="FFF1DC"/>
          </a:solidFill>
          <a:ln w="6350">
            <a:solidFill>
              <a:srgbClr val="D98A1E"/>
            </a:solidFill>
            <a:prstDash val="solid"/>
          </a:ln>
        </p:spPr>
      </p:sp>
      <p:sp>
        <p:nvSpPr>
          <p:cNvPr id="9" name="Shape 7"/>
          <p:cNvSpPr/>
          <p:nvPr/>
        </p:nvSpPr>
        <p:spPr>
          <a:xfrm>
            <a:off x="2085975" y="1691640"/>
            <a:ext cx="85725" cy="237744"/>
          </a:xfrm>
          <a:prstGeom prst="rect">
            <a:avLst/>
          </a:prstGeom>
          <a:solidFill>
            <a:srgbClr val="FFF1DC"/>
          </a:solidFill>
          <a:ln w="6350">
            <a:solidFill>
              <a:srgbClr val="D98A1E"/>
            </a:solidFill>
            <a:prstDash val="solid"/>
          </a:ln>
        </p:spPr>
      </p:sp>
      <p:sp>
        <p:nvSpPr>
          <p:cNvPr id="10" name="Shape 8"/>
          <p:cNvSpPr/>
          <p:nvPr/>
        </p:nvSpPr>
        <p:spPr>
          <a:xfrm>
            <a:off x="2171700" y="1691640"/>
            <a:ext cx="85725" cy="237744"/>
          </a:xfrm>
          <a:prstGeom prst="rect">
            <a:avLst/>
          </a:prstGeom>
          <a:solidFill>
            <a:srgbClr val="FFF1DC"/>
          </a:solidFill>
          <a:ln w="6350">
            <a:solidFill>
              <a:srgbClr val="D98A1E"/>
            </a:solidFill>
            <a:prstDash val="solid"/>
          </a:ln>
        </p:spPr>
      </p:sp>
      <p:sp>
        <p:nvSpPr>
          <p:cNvPr id="11" name="Shape 9"/>
          <p:cNvSpPr/>
          <p:nvPr/>
        </p:nvSpPr>
        <p:spPr>
          <a:xfrm>
            <a:off x="2257425" y="1691640"/>
            <a:ext cx="85725" cy="237744"/>
          </a:xfrm>
          <a:prstGeom prst="rect">
            <a:avLst/>
          </a:prstGeom>
          <a:solidFill>
            <a:srgbClr val="FFF1DC"/>
          </a:solidFill>
          <a:ln w="6350">
            <a:solidFill>
              <a:srgbClr val="D98A1E"/>
            </a:solidFill>
            <a:prstDash val="solid"/>
          </a:ln>
        </p:spPr>
      </p:sp>
      <p:sp>
        <p:nvSpPr>
          <p:cNvPr id="12" name="Shape 10"/>
          <p:cNvSpPr/>
          <p:nvPr/>
        </p:nvSpPr>
        <p:spPr>
          <a:xfrm>
            <a:off x="2343150" y="1691640"/>
            <a:ext cx="85725" cy="237744"/>
          </a:xfrm>
          <a:prstGeom prst="rect">
            <a:avLst/>
          </a:prstGeom>
          <a:solidFill>
            <a:srgbClr val="FFF1DC"/>
          </a:solidFill>
          <a:ln w="6350">
            <a:solidFill>
              <a:srgbClr val="D98A1E"/>
            </a:solidFill>
            <a:prstDash val="solid"/>
          </a:ln>
        </p:spPr>
      </p:sp>
      <p:sp>
        <p:nvSpPr>
          <p:cNvPr id="13" name="Shape 11"/>
          <p:cNvSpPr/>
          <p:nvPr/>
        </p:nvSpPr>
        <p:spPr>
          <a:xfrm>
            <a:off x="2428875" y="1691640"/>
            <a:ext cx="85725" cy="237744"/>
          </a:xfrm>
          <a:prstGeom prst="rect">
            <a:avLst/>
          </a:prstGeom>
          <a:solidFill>
            <a:srgbClr val="FFF1DC"/>
          </a:solidFill>
          <a:ln w="6350">
            <a:solidFill>
              <a:srgbClr val="D98A1E"/>
            </a:solidFill>
            <a:prstDash val="solid"/>
          </a:ln>
        </p:spPr>
      </p:sp>
      <p:sp>
        <p:nvSpPr>
          <p:cNvPr id="14" name="Shape 12"/>
          <p:cNvSpPr/>
          <p:nvPr/>
        </p:nvSpPr>
        <p:spPr>
          <a:xfrm>
            <a:off x="2514600" y="1691640"/>
            <a:ext cx="85725" cy="237744"/>
          </a:xfrm>
          <a:prstGeom prst="rect">
            <a:avLst/>
          </a:prstGeom>
          <a:solidFill>
            <a:srgbClr val="FFF1DC"/>
          </a:solidFill>
          <a:ln w="6350">
            <a:solidFill>
              <a:srgbClr val="D98A1E"/>
            </a:solidFill>
            <a:prstDash val="solid"/>
          </a:ln>
        </p:spPr>
      </p:sp>
      <p:sp>
        <p:nvSpPr>
          <p:cNvPr id="15" name="Shape 13"/>
          <p:cNvSpPr/>
          <p:nvPr/>
        </p:nvSpPr>
        <p:spPr>
          <a:xfrm>
            <a:off x="2600325" y="1691640"/>
            <a:ext cx="85725" cy="237744"/>
          </a:xfrm>
          <a:prstGeom prst="rect">
            <a:avLst/>
          </a:prstGeom>
          <a:solidFill>
            <a:srgbClr val="FFF1DC"/>
          </a:solidFill>
          <a:ln w="6350">
            <a:solidFill>
              <a:srgbClr val="D98A1E"/>
            </a:solidFill>
            <a:prstDash val="solid"/>
          </a:ln>
        </p:spPr>
      </p:sp>
      <p:sp>
        <p:nvSpPr>
          <p:cNvPr id="16" name="Shape 14"/>
          <p:cNvSpPr/>
          <p:nvPr/>
        </p:nvSpPr>
        <p:spPr>
          <a:xfrm>
            <a:off x="2686050" y="1691640"/>
            <a:ext cx="85725" cy="237744"/>
          </a:xfrm>
          <a:prstGeom prst="rect">
            <a:avLst/>
          </a:prstGeom>
          <a:solidFill>
            <a:srgbClr val="FFF1DC"/>
          </a:solidFill>
          <a:ln w="6350">
            <a:solidFill>
              <a:srgbClr val="D98A1E"/>
            </a:solidFill>
            <a:prstDash val="solid"/>
          </a:ln>
        </p:spPr>
      </p:sp>
      <p:sp>
        <p:nvSpPr>
          <p:cNvPr id="17" name="Shape 15"/>
          <p:cNvSpPr/>
          <p:nvPr/>
        </p:nvSpPr>
        <p:spPr>
          <a:xfrm>
            <a:off x="2771775" y="1691640"/>
            <a:ext cx="85725" cy="237744"/>
          </a:xfrm>
          <a:prstGeom prst="rect">
            <a:avLst/>
          </a:prstGeom>
          <a:solidFill>
            <a:srgbClr val="FFF1DC"/>
          </a:solidFill>
          <a:ln w="6350">
            <a:solidFill>
              <a:srgbClr val="D98A1E"/>
            </a:solidFill>
            <a:prstDash val="solid"/>
          </a:ln>
        </p:spPr>
      </p:sp>
      <p:sp>
        <p:nvSpPr>
          <p:cNvPr id="18" name="Shape 16"/>
          <p:cNvSpPr/>
          <p:nvPr/>
        </p:nvSpPr>
        <p:spPr>
          <a:xfrm>
            <a:off x="2857500" y="1691640"/>
            <a:ext cx="85725" cy="237744"/>
          </a:xfrm>
          <a:prstGeom prst="rect">
            <a:avLst/>
          </a:prstGeom>
          <a:solidFill>
            <a:srgbClr val="FFF6DB"/>
          </a:solidFill>
          <a:ln w="6350">
            <a:solidFill>
              <a:srgbClr val="B7791F"/>
            </a:solidFill>
            <a:prstDash val="solid"/>
          </a:ln>
        </p:spPr>
      </p:sp>
      <p:sp>
        <p:nvSpPr>
          <p:cNvPr id="19" name="Shape 17"/>
          <p:cNvSpPr/>
          <p:nvPr/>
        </p:nvSpPr>
        <p:spPr>
          <a:xfrm>
            <a:off x="2943225" y="1691640"/>
            <a:ext cx="85725" cy="237744"/>
          </a:xfrm>
          <a:prstGeom prst="rect">
            <a:avLst/>
          </a:prstGeom>
          <a:solidFill>
            <a:srgbClr val="EEF2F6"/>
          </a:solidFill>
          <a:ln w="6350">
            <a:solidFill>
              <a:srgbClr val="C9D3DF"/>
            </a:solidFill>
            <a:prstDash val="solid"/>
          </a:ln>
        </p:spPr>
      </p:sp>
      <p:sp>
        <p:nvSpPr>
          <p:cNvPr id="20" name="Shape 18"/>
          <p:cNvSpPr/>
          <p:nvPr/>
        </p:nvSpPr>
        <p:spPr>
          <a:xfrm>
            <a:off x="3028950" y="1691640"/>
            <a:ext cx="85725" cy="237744"/>
          </a:xfrm>
          <a:prstGeom prst="rect">
            <a:avLst/>
          </a:prstGeom>
          <a:solidFill>
            <a:srgbClr val="EEF2F6"/>
          </a:solidFill>
          <a:ln w="6350">
            <a:solidFill>
              <a:srgbClr val="C9D3DF"/>
            </a:solidFill>
            <a:prstDash val="solid"/>
          </a:ln>
        </p:spPr>
      </p:sp>
      <p:sp>
        <p:nvSpPr>
          <p:cNvPr id="21" name="Shape 19"/>
          <p:cNvSpPr/>
          <p:nvPr/>
        </p:nvSpPr>
        <p:spPr>
          <a:xfrm>
            <a:off x="3114675" y="1691640"/>
            <a:ext cx="85725" cy="237744"/>
          </a:xfrm>
          <a:prstGeom prst="rect">
            <a:avLst/>
          </a:prstGeom>
          <a:solidFill>
            <a:srgbClr val="EEF2F6"/>
          </a:solidFill>
          <a:ln w="6350">
            <a:solidFill>
              <a:srgbClr val="C9D3DF"/>
            </a:solidFill>
            <a:prstDash val="solid"/>
          </a:ln>
        </p:spPr>
      </p:sp>
      <p:sp>
        <p:nvSpPr>
          <p:cNvPr id="22" name="Text 20"/>
          <p:cNvSpPr txBox="1"/>
          <p:nvPr/>
        </p:nvSpPr>
        <p:spPr>
          <a:xfrm>
            <a:off x="448056" y="1691640"/>
            <a:ext cx="1325880" cy="237744"/>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C=16 (pos &lt; 16)</a:t>
            </a:r>
            <a:endParaRPr lang="en-US" sz="800" dirty="0"/>
          </a:p>
        </p:txBody>
      </p:sp>
      <p:sp>
        <p:nvSpPr>
          <p:cNvPr id="23" name="Text 21"/>
          <p:cNvSpPr txBox="1"/>
          <p:nvPr/>
        </p:nvSpPr>
        <p:spPr>
          <a:xfrm>
            <a:off x="3273552" y="1691640"/>
            <a:ext cx="2743200" cy="237744"/>
          </a:xfrm>
          <a:prstGeom prst="rect">
            <a:avLst/>
          </a:prstGeom>
          <a:noFill/>
          <a:ln/>
        </p:spPr>
        <p:txBody>
          <a:bodyPr wrap="square" lIns="0" tIns="0" rIns="0" bIns="0" rtlCol="0" anchor="ctr"/>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유효 12, 현재 위치 12: 빈 slot 3개만 낭비</a:t>
            </a:r>
            <a:endParaRPr lang="en-US" sz="700" dirty="0"/>
          </a:p>
        </p:txBody>
      </p:sp>
      <p:sp>
        <p:nvSpPr>
          <p:cNvPr id="24" name="Shape 22"/>
          <p:cNvSpPr/>
          <p:nvPr/>
        </p:nvSpPr>
        <p:spPr>
          <a:xfrm>
            <a:off x="2514600" y="1965960"/>
            <a:ext cx="914" cy="274320"/>
          </a:xfrm>
          <a:prstGeom prst="line">
            <a:avLst/>
          </a:prstGeom>
          <a:noFill/>
          <a:ln w="15240">
            <a:solidFill>
              <a:srgbClr val="B7791F"/>
            </a:solidFill>
            <a:prstDash val="solid"/>
            <a:tailEnd type="triangle"/>
          </a:ln>
        </p:spPr>
      </p:sp>
      <p:sp>
        <p:nvSpPr>
          <p:cNvPr id="25" name="Text 23"/>
          <p:cNvSpPr txBox="1"/>
          <p:nvPr/>
        </p:nvSpPr>
        <p:spPr>
          <a:xfrm>
            <a:off x="2651760" y="1965960"/>
            <a:ext cx="3291840" cy="274320"/>
          </a:xfrm>
          <a:prstGeom prst="rect">
            <a:avLst/>
          </a:prstGeom>
          <a:noFill/>
          <a:ln/>
        </p:spPr>
        <p:txBody>
          <a:bodyPr wrap="square" lIns="0" tIns="0" rIns="0" bIns="0" rtlCol="0" anchor="t"/>
          <a:lstStyle/>
          <a:p>
            <a:pPr algn="l" indent="0" marL="0">
              <a:buNone/>
            </a:pPr>
            <a:r>
              <a:rPr lang="en-US" sz="700" b="1" dirty="0">
                <a:solidFill>
                  <a:srgbClr val="B7791F"/>
                </a:solidFill>
                <a:latin typeface="Malgun Gothic" pitchFamily="34" charset="0"/>
                <a:ea typeface="Malgun Gothic" pitchFamily="34" charset="-122"/>
                <a:cs typeface="Malgun Gothic" pitchFamily="34" charset="-120"/>
              </a:rPr>
              <a:t>유효 길이 16 도달 → 전환: prefix 16 slot 복사 (1회), 새 DecodeSession</a:t>
            </a:r>
            <a:endParaRPr lang="en-US" sz="700" dirty="0"/>
          </a:p>
        </p:txBody>
      </p:sp>
      <p:sp>
        <p:nvSpPr>
          <p:cNvPr id="26" name="Shape 24"/>
          <p:cNvSpPr/>
          <p:nvPr/>
        </p:nvSpPr>
        <p:spPr>
          <a:xfrm>
            <a:off x="1828800" y="2286000"/>
            <a:ext cx="85725" cy="237744"/>
          </a:xfrm>
          <a:prstGeom prst="rect">
            <a:avLst/>
          </a:prstGeom>
          <a:solidFill>
            <a:srgbClr val="FFF1DC"/>
          </a:solidFill>
          <a:ln w="6350">
            <a:solidFill>
              <a:srgbClr val="D98A1E"/>
            </a:solidFill>
            <a:prstDash val="solid"/>
          </a:ln>
        </p:spPr>
      </p:sp>
      <p:sp>
        <p:nvSpPr>
          <p:cNvPr id="27" name="Shape 25"/>
          <p:cNvSpPr/>
          <p:nvPr/>
        </p:nvSpPr>
        <p:spPr>
          <a:xfrm>
            <a:off x="1914525" y="2286000"/>
            <a:ext cx="85725" cy="237744"/>
          </a:xfrm>
          <a:prstGeom prst="rect">
            <a:avLst/>
          </a:prstGeom>
          <a:solidFill>
            <a:srgbClr val="FFF1DC"/>
          </a:solidFill>
          <a:ln w="6350">
            <a:solidFill>
              <a:srgbClr val="D98A1E"/>
            </a:solidFill>
            <a:prstDash val="solid"/>
          </a:ln>
        </p:spPr>
      </p:sp>
      <p:sp>
        <p:nvSpPr>
          <p:cNvPr id="28" name="Shape 26"/>
          <p:cNvSpPr/>
          <p:nvPr/>
        </p:nvSpPr>
        <p:spPr>
          <a:xfrm>
            <a:off x="2000250" y="2286000"/>
            <a:ext cx="85725" cy="237744"/>
          </a:xfrm>
          <a:prstGeom prst="rect">
            <a:avLst/>
          </a:prstGeom>
          <a:solidFill>
            <a:srgbClr val="FFF1DC"/>
          </a:solidFill>
          <a:ln w="6350">
            <a:solidFill>
              <a:srgbClr val="D98A1E"/>
            </a:solidFill>
            <a:prstDash val="solid"/>
          </a:ln>
        </p:spPr>
      </p:sp>
      <p:sp>
        <p:nvSpPr>
          <p:cNvPr id="29" name="Shape 27"/>
          <p:cNvSpPr/>
          <p:nvPr/>
        </p:nvSpPr>
        <p:spPr>
          <a:xfrm>
            <a:off x="2085975" y="2286000"/>
            <a:ext cx="85725" cy="237744"/>
          </a:xfrm>
          <a:prstGeom prst="rect">
            <a:avLst/>
          </a:prstGeom>
          <a:solidFill>
            <a:srgbClr val="FFF1DC"/>
          </a:solidFill>
          <a:ln w="6350">
            <a:solidFill>
              <a:srgbClr val="D98A1E"/>
            </a:solidFill>
            <a:prstDash val="solid"/>
          </a:ln>
        </p:spPr>
      </p:sp>
      <p:sp>
        <p:nvSpPr>
          <p:cNvPr id="30" name="Shape 28"/>
          <p:cNvSpPr/>
          <p:nvPr/>
        </p:nvSpPr>
        <p:spPr>
          <a:xfrm>
            <a:off x="2171700" y="2286000"/>
            <a:ext cx="85725" cy="237744"/>
          </a:xfrm>
          <a:prstGeom prst="rect">
            <a:avLst/>
          </a:prstGeom>
          <a:solidFill>
            <a:srgbClr val="FFF1DC"/>
          </a:solidFill>
          <a:ln w="6350">
            <a:solidFill>
              <a:srgbClr val="D98A1E"/>
            </a:solidFill>
            <a:prstDash val="solid"/>
          </a:ln>
        </p:spPr>
      </p:sp>
      <p:sp>
        <p:nvSpPr>
          <p:cNvPr id="31" name="Shape 29"/>
          <p:cNvSpPr/>
          <p:nvPr/>
        </p:nvSpPr>
        <p:spPr>
          <a:xfrm>
            <a:off x="2257425" y="2286000"/>
            <a:ext cx="85725" cy="237744"/>
          </a:xfrm>
          <a:prstGeom prst="rect">
            <a:avLst/>
          </a:prstGeom>
          <a:solidFill>
            <a:srgbClr val="FFF1DC"/>
          </a:solidFill>
          <a:ln w="6350">
            <a:solidFill>
              <a:srgbClr val="D98A1E"/>
            </a:solidFill>
            <a:prstDash val="solid"/>
          </a:ln>
        </p:spPr>
      </p:sp>
      <p:sp>
        <p:nvSpPr>
          <p:cNvPr id="32" name="Shape 30"/>
          <p:cNvSpPr/>
          <p:nvPr/>
        </p:nvSpPr>
        <p:spPr>
          <a:xfrm>
            <a:off x="2343150" y="2286000"/>
            <a:ext cx="85725" cy="237744"/>
          </a:xfrm>
          <a:prstGeom prst="rect">
            <a:avLst/>
          </a:prstGeom>
          <a:solidFill>
            <a:srgbClr val="FFF1DC"/>
          </a:solidFill>
          <a:ln w="6350">
            <a:solidFill>
              <a:srgbClr val="D98A1E"/>
            </a:solidFill>
            <a:prstDash val="solid"/>
          </a:ln>
        </p:spPr>
      </p:sp>
      <p:sp>
        <p:nvSpPr>
          <p:cNvPr id="33" name="Shape 31"/>
          <p:cNvSpPr/>
          <p:nvPr/>
        </p:nvSpPr>
        <p:spPr>
          <a:xfrm>
            <a:off x="2428875" y="2286000"/>
            <a:ext cx="85725" cy="237744"/>
          </a:xfrm>
          <a:prstGeom prst="rect">
            <a:avLst/>
          </a:prstGeom>
          <a:solidFill>
            <a:srgbClr val="FFF1DC"/>
          </a:solidFill>
          <a:ln w="6350">
            <a:solidFill>
              <a:srgbClr val="D98A1E"/>
            </a:solidFill>
            <a:prstDash val="solid"/>
          </a:ln>
        </p:spPr>
      </p:sp>
      <p:sp>
        <p:nvSpPr>
          <p:cNvPr id="34" name="Shape 32"/>
          <p:cNvSpPr/>
          <p:nvPr/>
        </p:nvSpPr>
        <p:spPr>
          <a:xfrm>
            <a:off x="2514600" y="2286000"/>
            <a:ext cx="85725" cy="237744"/>
          </a:xfrm>
          <a:prstGeom prst="rect">
            <a:avLst/>
          </a:prstGeom>
          <a:solidFill>
            <a:srgbClr val="FFF1DC"/>
          </a:solidFill>
          <a:ln w="6350">
            <a:solidFill>
              <a:srgbClr val="D98A1E"/>
            </a:solidFill>
            <a:prstDash val="solid"/>
          </a:ln>
        </p:spPr>
      </p:sp>
      <p:sp>
        <p:nvSpPr>
          <p:cNvPr id="35" name="Shape 33"/>
          <p:cNvSpPr/>
          <p:nvPr/>
        </p:nvSpPr>
        <p:spPr>
          <a:xfrm>
            <a:off x="2600325" y="2286000"/>
            <a:ext cx="85725" cy="237744"/>
          </a:xfrm>
          <a:prstGeom prst="rect">
            <a:avLst/>
          </a:prstGeom>
          <a:solidFill>
            <a:srgbClr val="FFF1DC"/>
          </a:solidFill>
          <a:ln w="6350">
            <a:solidFill>
              <a:srgbClr val="D98A1E"/>
            </a:solidFill>
            <a:prstDash val="solid"/>
          </a:ln>
        </p:spPr>
      </p:sp>
      <p:sp>
        <p:nvSpPr>
          <p:cNvPr id="36" name="Shape 34"/>
          <p:cNvSpPr/>
          <p:nvPr/>
        </p:nvSpPr>
        <p:spPr>
          <a:xfrm>
            <a:off x="2686050" y="2286000"/>
            <a:ext cx="85725" cy="237744"/>
          </a:xfrm>
          <a:prstGeom prst="rect">
            <a:avLst/>
          </a:prstGeom>
          <a:solidFill>
            <a:srgbClr val="FFF1DC"/>
          </a:solidFill>
          <a:ln w="6350">
            <a:solidFill>
              <a:srgbClr val="D98A1E"/>
            </a:solidFill>
            <a:prstDash val="solid"/>
          </a:ln>
        </p:spPr>
      </p:sp>
      <p:sp>
        <p:nvSpPr>
          <p:cNvPr id="37" name="Shape 35"/>
          <p:cNvSpPr/>
          <p:nvPr/>
        </p:nvSpPr>
        <p:spPr>
          <a:xfrm>
            <a:off x="2771775" y="2286000"/>
            <a:ext cx="85725" cy="237744"/>
          </a:xfrm>
          <a:prstGeom prst="rect">
            <a:avLst/>
          </a:prstGeom>
          <a:solidFill>
            <a:srgbClr val="FFF1DC"/>
          </a:solidFill>
          <a:ln w="6350">
            <a:solidFill>
              <a:srgbClr val="D98A1E"/>
            </a:solidFill>
            <a:prstDash val="solid"/>
          </a:ln>
        </p:spPr>
      </p:sp>
      <p:sp>
        <p:nvSpPr>
          <p:cNvPr id="38" name="Shape 36"/>
          <p:cNvSpPr/>
          <p:nvPr/>
        </p:nvSpPr>
        <p:spPr>
          <a:xfrm>
            <a:off x="2857500" y="2286000"/>
            <a:ext cx="85725" cy="237744"/>
          </a:xfrm>
          <a:prstGeom prst="rect">
            <a:avLst/>
          </a:prstGeom>
          <a:solidFill>
            <a:srgbClr val="FFF1DC"/>
          </a:solidFill>
          <a:ln w="6350">
            <a:solidFill>
              <a:srgbClr val="D98A1E"/>
            </a:solidFill>
            <a:prstDash val="solid"/>
          </a:ln>
        </p:spPr>
      </p:sp>
      <p:sp>
        <p:nvSpPr>
          <p:cNvPr id="39" name="Shape 37"/>
          <p:cNvSpPr/>
          <p:nvPr/>
        </p:nvSpPr>
        <p:spPr>
          <a:xfrm>
            <a:off x="2943225" y="2286000"/>
            <a:ext cx="85725" cy="237744"/>
          </a:xfrm>
          <a:prstGeom prst="rect">
            <a:avLst/>
          </a:prstGeom>
          <a:solidFill>
            <a:srgbClr val="FFF1DC"/>
          </a:solidFill>
          <a:ln w="6350">
            <a:solidFill>
              <a:srgbClr val="D98A1E"/>
            </a:solidFill>
            <a:prstDash val="solid"/>
          </a:ln>
        </p:spPr>
      </p:sp>
      <p:sp>
        <p:nvSpPr>
          <p:cNvPr id="40" name="Shape 38"/>
          <p:cNvSpPr/>
          <p:nvPr/>
        </p:nvSpPr>
        <p:spPr>
          <a:xfrm>
            <a:off x="3028950" y="2286000"/>
            <a:ext cx="85725" cy="237744"/>
          </a:xfrm>
          <a:prstGeom prst="rect">
            <a:avLst/>
          </a:prstGeom>
          <a:solidFill>
            <a:srgbClr val="FFF1DC"/>
          </a:solidFill>
          <a:ln w="6350">
            <a:solidFill>
              <a:srgbClr val="D98A1E"/>
            </a:solidFill>
            <a:prstDash val="solid"/>
          </a:ln>
        </p:spPr>
      </p:sp>
      <p:sp>
        <p:nvSpPr>
          <p:cNvPr id="41" name="Shape 39"/>
          <p:cNvSpPr/>
          <p:nvPr/>
        </p:nvSpPr>
        <p:spPr>
          <a:xfrm>
            <a:off x="3114675" y="2286000"/>
            <a:ext cx="85725" cy="237744"/>
          </a:xfrm>
          <a:prstGeom prst="rect">
            <a:avLst/>
          </a:prstGeom>
          <a:solidFill>
            <a:srgbClr val="FFF1DC"/>
          </a:solidFill>
          <a:ln w="6350">
            <a:solidFill>
              <a:srgbClr val="D98A1E"/>
            </a:solidFill>
            <a:prstDash val="solid"/>
          </a:ln>
        </p:spPr>
      </p:sp>
      <p:sp>
        <p:nvSpPr>
          <p:cNvPr id="42" name="Shape 40"/>
          <p:cNvSpPr/>
          <p:nvPr/>
        </p:nvSpPr>
        <p:spPr>
          <a:xfrm>
            <a:off x="3200400" y="2286000"/>
            <a:ext cx="85725" cy="237744"/>
          </a:xfrm>
          <a:prstGeom prst="rect">
            <a:avLst/>
          </a:prstGeom>
          <a:solidFill>
            <a:srgbClr val="FFF6DB"/>
          </a:solidFill>
          <a:ln w="6350">
            <a:solidFill>
              <a:srgbClr val="B7791F"/>
            </a:solidFill>
            <a:prstDash val="solid"/>
          </a:ln>
        </p:spPr>
      </p:sp>
      <p:sp>
        <p:nvSpPr>
          <p:cNvPr id="43" name="Shape 41"/>
          <p:cNvSpPr/>
          <p:nvPr/>
        </p:nvSpPr>
        <p:spPr>
          <a:xfrm>
            <a:off x="3286125" y="2286000"/>
            <a:ext cx="85725" cy="237744"/>
          </a:xfrm>
          <a:prstGeom prst="rect">
            <a:avLst/>
          </a:prstGeom>
          <a:solidFill>
            <a:srgbClr val="EEF2F6"/>
          </a:solidFill>
          <a:ln w="6350">
            <a:solidFill>
              <a:srgbClr val="C9D3DF"/>
            </a:solidFill>
            <a:prstDash val="solid"/>
          </a:ln>
        </p:spPr>
      </p:sp>
      <p:sp>
        <p:nvSpPr>
          <p:cNvPr id="44" name="Shape 42"/>
          <p:cNvSpPr/>
          <p:nvPr/>
        </p:nvSpPr>
        <p:spPr>
          <a:xfrm>
            <a:off x="3371850" y="2286000"/>
            <a:ext cx="85725" cy="237744"/>
          </a:xfrm>
          <a:prstGeom prst="rect">
            <a:avLst/>
          </a:prstGeom>
          <a:solidFill>
            <a:srgbClr val="EEF2F6"/>
          </a:solidFill>
          <a:ln w="6350">
            <a:solidFill>
              <a:srgbClr val="C9D3DF"/>
            </a:solidFill>
            <a:prstDash val="solid"/>
          </a:ln>
        </p:spPr>
      </p:sp>
      <p:sp>
        <p:nvSpPr>
          <p:cNvPr id="45" name="Shape 43"/>
          <p:cNvSpPr/>
          <p:nvPr/>
        </p:nvSpPr>
        <p:spPr>
          <a:xfrm>
            <a:off x="3457575" y="2286000"/>
            <a:ext cx="85725" cy="237744"/>
          </a:xfrm>
          <a:prstGeom prst="rect">
            <a:avLst/>
          </a:prstGeom>
          <a:solidFill>
            <a:srgbClr val="EEF2F6"/>
          </a:solidFill>
          <a:ln w="6350">
            <a:solidFill>
              <a:srgbClr val="C9D3DF"/>
            </a:solidFill>
            <a:prstDash val="solid"/>
          </a:ln>
        </p:spPr>
      </p:sp>
      <p:sp>
        <p:nvSpPr>
          <p:cNvPr id="46" name="Shape 44"/>
          <p:cNvSpPr/>
          <p:nvPr/>
        </p:nvSpPr>
        <p:spPr>
          <a:xfrm>
            <a:off x="3543300" y="2286000"/>
            <a:ext cx="85725" cy="237744"/>
          </a:xfrm>
          <a:prstGeom prst="rect">
            <a:avLst/>
          </a:prstGeom>
          <a:solidFill>
            <a:srgbClr val="EEF2F6"/>
          </a:solidFill>
          <a:ln w="6350">
            <a:solidFill>
              <a:srgbClr val="C9D3DF"/>
            </a:solidFill>
            <a:prstDash val="solid"/>
          </a:ln>
        </p:spPr>
      </p:sp>
      <p:sp>
        <p:nvSpPr>
          <p:cNvPr id="47" name="Shape 45"/>
          <p:cNvSpPr/>
          <p:nvPr/>
        </p:nvSpPr>
        <p:spPr>
          <a:xfrm>
            <a:off x="3629025" y="2286000"/>
            <a:ext cx="85725" cy="237744"/>
          </a:xfrm>
          <a:prstGeom prst="rect">
            <a:avLst/>
          </a:prstGeom>
          <a:solidFill>
            <a:srgbClr val="EEF2F6"/>
          </a:solidFill>
          <a:ln w="6350">
            <a:solidFill>
              <a:srgbClr val="C9D3DF"/>
            </a:solidFill>
            <a:prstDash val="solid"/>
          </a:ln>
        </p:spPr>
      </p:sp>
      <p:sp>
        <p:nvSpPr>
          <p:cNvPr id="48" name="Shape 46"/>
          <p:cNvSpPr/>
          <p:nvPr/>
        </p:nvSpPr>
        <p:spPr>
          <a:xfrm>
            <a:off x="3714750" y="2286000"/>
            <a:ext cx="85725" cy="237744"/>
          </a:xfrm>
          <a:prstGeom prst="rect">
            <a:avLst/>
          </a:prstGeom>
          <a:solidFill>
            <a:srgbClr val="EEF2F6"/>
          </a:solidFill>
          <a:ln w="6350">
            <a:solidFill>
              <a:srgbClr val="C9D3DF"/>
            </a:solidFill>
            <a:prstDash val="solid"/>
          </a:ln>
        </p:spPr>
      </p:sp>
      <p:sp>
        <p:nvSpPr>
          <p:cNvPr id="49" name="Shape 47"/>
          <p:cNvSpPr/>
          <p:nvPr/>
        </p:nvSpPr>
        <p:spPr>
          <a:xfrm>
            <a:off x="3800475" y="2286000"/>
            <a:ext cx="85725" cy="237744"/>
          </a:xfrm>
          <a:prstGeom prst="rect">
            <a:avLst/>
          </a:prstGeom>
          <a:solidFill>
            <a:srgbClr val="EEF2F6"/>
          </a:solidFill>
          <a:ln w="6350">
            <a:solidFill>
              <a:srgbClr val="C9D3DF"/>
            </a:solidFill>
            <a:prstDash val="solid"/>
          </a:ln>
        </p:spPr>
      </p:sp>
      <p:sp>
        <p:nvSpPr>
          <p:cNvPr id="50" name="Shape 48"/>
          <p:cNvSpPr/>
          <p:nvPr/>
        </p:nvSpPr>
        <p:spPr>
          <a:xfrm>
            <a:off x="3886200" y="2286000"/>
            <a:ext cx="85725" cy="237744"/>
          </a:xfrm>
          <a:prstGeom prst="rect">
            <a:avLst/>
          </a:prstGeom>
          <a:solidFill>
            <a:srgbClr val="EEF2F6"/>
          </a:solidFill>
          <a:ln w="6350">
            <a:solidFill>
              <a:srgbClr val="C9D3DF"/>
            </a:solidFill>
            <a:prstDash val="solid"/>
          </a:ln>
        </p:spPr>
      </p:sp>
      <p:sp>
        <p:nvSpPr>
          <p:cNvPr id="51" name="Shape 49"/>
          <p:cNvSpPr/>
          <p:nvPr/>
        </p:nvSpPr>
        <p:spPr>
          <a:xfrm>
            <a:off x="3971925" y="2286000"/>
            <a:ext cx="85725" cy="237744"/>
          </a:xfrm>
          <a:prstGeom prst="rect">
            <a:avLst/>
          </a:prstGeom>
          <a:solidFill>
            <a:srgbClr val="EEF2F6"/>
          </a:solidFill>
          <a:ln w="6350">
            <a:solidFill>
              <a:srgbClr val="C9D3DF"/>
            </a:solidFill>
            <a:prstDash val="solid"/>
          </a:ln>
        </p:spPr>
      </p:sp>
      <p:sp>
        <p:nvSpPr>
          <p:cNvPr id="52" name="Shape 50"/>
          <p:cNvSpPr/>
          <p:nvPr/>
        </p:nvSpPr>
        <p:spPr>
          <a:xfrm>
            <a:off x="4057650" y="2286000"/>
            <a:ext cx="85725" cy="237744"/>
          </a:xfrm>
          <a:prstGeom prst="rect">
            <a:avLst/>
          </a:prstGeom>
          <a:solidFill>
            <a:srgbClr val="EEF2F6"/>
          </a:solidFill>
          <a:ln w="6350">
            <a:solidFill>
              <a:srgbClr val="C9D3DF"/>
            </a:solidFill>
            <a:prstDash val="solid"/>
          </a:ln>
        </p:spPr>
      </p:sp>
      <p:sp>
        <p:nvSpPr>
          <p:cNvPr id="53" name="Shape 51"/>
          <p:cNvSpPr/>
          <p:nvPr/>
        </p:nvSpPr>
        <p:spPr>
          <a:xfrm>
            <a:off x="4143375" y="2286000"/>
            <a:ext cx="85725" cy="237744"/>
          </a:xfrm>
          <a:prstGeom prst="rect">
            <a:avLst/>
          </a:prstGeom>
          <a:solidFill>
            <a:srgbClr val="EEF2F6"/>
          </a:solidFill>
          <a:ln w="6350">
            <a:solidFill>
              <a:srgbClr val="C9D3DF"/>
            </a:solidFill>
            <a:prstDash val="solid"/>
          </a:ln>
        </p:spPr>
      </p:sp>
      <p:sp>
        <p:nvSpPr>
          <p:cNvPr id="54" name="Shape 52"/>
          <p:cNvSpPr/>
          <p:nvPr/>
        </p:nvSpPr>
        <p:spPr>
          <a:xfrm>
            <a:off x="4229100" y="2286000"/>
            <a:ext cx="85725" cy="237744"/>
          </a:xfrm>
          <a:prstGeom prst="rect">
            <a:avLst/>
          </a:prstGeom>
          <a:solidFill>
            <a:srgbClr val="EEF2F6"/>
          </a:solidFill>
          <a:ln w="6350">
            <a:solidFill>
              <a:srgbClr val="C9D3DF"/>
            </a:solidFill>
            <a:prstDash val="solid"/>
          </a:ln>
        </p:spPr>
      </p:sp>
      <p:sp>
        <p:nvSpPr>
          <p:cNvPr id="55" name="Shape 53"/>
          <p:cNvSpPr/>
          <p:nvPr/>
        </p:nvSpPr>
        <p:spPr>
          <a:xfrm>
            <a:off x="4314825" y="2286000"/>
            <a:ext cx="85725" cy="237744"/>
          </a:xfrm>
          <a:prstGeom prst="rect">
            <a:avLst/>
          </a:prstGeom>
          <a:solidFill>
            <a:srgbClr val="EEF2F6"/>
          </a:solidFill>
          <a:ln w="6350">
            <a:solidFill>
              <a:srgbClr val="C9D3DF"/>
            </a:solidFill>
            <a:prstDash val="solid"/>
          </a:ln>
        </p:spPr>
      </p:sp>
      <p:sp>
        <p:nvSpPr>
          <p:cNvPr id="56" name="Shape 54"/>
          <p:cNvSpPr/>
          <p:nvPr/>
        </p:nvSpPr>
        <p:spPr>
          <a:xfrm>
            <a:off x="4400550" y="2286000"/>
            <a:ext cx="85725" cy="237744"/>
          </a:xfrm>
          <a:prstGeom prst="rect">
            <a:avLst/>
          </a:prstGeom>
          <a:solidFill>
            <a:srgbClr val="EEF2F6"/>
          </a:solidFill>
          <a:ln w="6350">
            <a:solidFill>
              <a:srgbClr val="C9D3DF"/>
            </a:solidFill>
            <a:prstDash val="solid"/>
          </a:ln>
        </p:spPr>
      </p:sp>
      <p:sp>
        <p:nvSpPr>
          <p:cNvPr id="57" name="Shape 55"/>
          <p:cNvSpPr/>
          <p:nvPr/>
        </p:nvSpPr>
        <p:spPr>
          <a:xfrm>
            <a:off x="4486275" y="2286000"/>
            <a:ext cx="85725" cy="237744"/>
          </a:xfrm>
          <a:prstGeom prst="rect">
            <a:avLst/>
          </a:prstGeom>
          <a:solidFill>
            <a:srgbClr val="EEF2F6"/>
          </a:solidFill>
          <a:ln w="6350">
            <a:solidFill>
              <a:srgbClr val="C9D3DF"/>
            </a:solidFill>
            <a:prstDash val="solid"/>
          </a:ln>
        </p:spPr>
      </p:sp>
      <p:sp>
        <p:nvSpPr>
          <p:cNvPr id="58" name="Text 56"/>
          <p:cNvSpPr txBox="1"/>
          <p:nvPr/>
        </p:nvSpPr>
        <p:spPr>
          <a:xfrm>
            <a:off x="448056" y="2286000"/>
            <a:ext cx="1325880" cy="237744"/>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C=32 (16 ≤ pos &lt; 32)</a:t>
            </a:r>
            <a:endParaRPr lang="en-US" sz="800" dirty="0"/>
          </a:p>
        </p:txBody>
      </p:sp>
      <p:sp>
        <p:nvSpPr>
          <p:cNvPr id="59" name="Text 57"/>
          <p:cNvSpPr txBox="1"/>
          <p:nvPr/>
        </p:nvSpPr>
        <p:spPr>
          <a:xfrm>
            <a:off x="4645152" y="2286000"/>
            <a:ext cx="2011680" cy="237744"/>
          </a:xfrm>
          <a:prstGeom prst="rect">
            <a:avLst/>
          </a:prstGeom>
          <a:noFill/>
          <a:ln/>
        </p:spPr>
        <p:txBody>
          <a:bodyPr wrap="square" lIns="0" tIns="0" rIns="0" bIns="0" rtlCol="0" anchor="ctr"/>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복사된 prefix 16 + 빈 slot</a:t>
            </a:r>
            <a:endParaRPr lang="en-US" sz="700" dirty="0"/>
          </a:p>
        </p:txBody>
      </p:sp>
      <p:sp>
        <p:nvSpPr>
          <p:cNvPr id="60" name="Shape 58"/>
          <p:cNvSpPr/>
          <p:nvPr/>
        </p:nvSpPr>
        <p:spPr>
          <a:xfrm>
            <a:off x="3200400" y="2560320"/>
            <a:ext cx="914" cy="274320"/>
          </a:xfrm>
          <a:prstGeom prst="line">
            <a:avLst/>
          </a:prstGeom>
          <a:noFill/>
          <a:ln w="15240">
            <a:solidFill>
              <a:srgbClr val="B7791F"/>
            </a:solidFill>
            <a:prstDash val="solid"/>
            <a:tailEnd type="triangle"/>
          </a:ln>
        </p:spPr>
      </p:sp>
      <p:sp>
        <p:nvSpPr>
          <p:cNvPr id="61" name="Shape 59"/>
          <p:cNvSpPr/>
          <p:nvPr/>
        </p:nvSpPr>
        <p:spPr>
          <a:xfrm>
            <a:off x="1828800" y="2880360"/>
            <a:ext cx="85725" cy="237744"/>
          </a:xfrm>
          <a:prstGeom prst="rect">
            <a:avLst/>
          </a:prstGeom>
          <a:solidFill>
            <a:srgbClr val="FFF1DC"/>
          </a:solidFill>
          <a:ln w="6350">
            <a:solidFill>
              <a:srgbClr val="D98A1E"/>
            </a:solidFill>
            <a:prstDash val="solid"/>
          </a:ln>
        </p:spPr>
      </p:sp>
      <p:sp>
        <p:nvSpPr>
          <p:cNvPr id="62" name="Shape 60"/>
          <p:cNvSpPr/>
          <p:nvPr/>
        </p:nvSpPr>
        <p:spPr>
          <a:xfrm>
            <a:off x="1914525" y="2880360"/>
            <a:ext cx="85725" cy="237744"/>
          </a:xfrm>
          <a:prstGeom prst="rect">
            <a:avLst/>
          </a:prstGeom>
          <a:solidFill>
            <a:srgbClr val="FFF1DC"/>
          </a:solidFill>
          <a:ln w="6350">
            <a:solidFill>
              <a:srgbClr val="D98A1E"/>
            </a:solidFill>
            <a:prstDash val="solid"/>
          </a:ln>
        </p:spPr>
      </p:sp>
      <p:sp>
        <p:nvSpPr>
          <p:cNvPr id="63" name="Shape 61"/>
          <p:cNvSpPr/>
          <p:nvPr/>
        </p:nvSpPr>
        <p:spPr>
          <a:xfrm>
            <a:off x="2000250" y="2880360"/>
            <a:ext cx="85725" cy="237744"/>
          </a:xfrm>
          <a:prstGeom prst="rect">
            <a:avLst/>
          </a:prstGeom>
          <a:solidFill>
            <a:srgbClr val="FFF1DC"/>
          </a:solidFill>
          <a:ln w="6350">
            <a:solidFill>
              <a:srgbClr val="D98A1E"/>
            </a:solidFill>
            <a:prstDash val="solid"/>
          </a:ln>
        </p:spPr>
      </p:sp>
      <p:sp>
        <p:nvSpPr>
          <p:cNvPr id="64" name="Shape 62"/>
          <p:cNvSpPr/>
          <p:nvPr/>
        </p:nvSpPr>
        <p:spPr>
          <a:xfrm>
            <a:off x="2085975" y="2880360"/>
            <a:ext cx="85725" cy="237744"/>
          </a:xfrm>
          <a:prstGeom prst="rect">
            <a:avLst/>
          </a:prstGeom>
          <a:solidFill>
            <a:srgbClr val="FFF1DC"/>
          </a:solidFill>
          <a:ln w="6350">
            <a:solidFill>
              <a:srgbClr val="D98A1E"/>
            </a:solidFill>
            <a:prstDash val="solid"/>
          </a:ln>
        </p:spPr>
      </p:sp>
      <p:sp>
        <p:nvSpPr>
          <p:cNvPr id="65" name="Shape 63"/>
          <p:cNvSpPr/>
          <p:nvPr/>
        </p:nvSpPr>
        <p:spPr>
          <a:xfrm>
            <a:off x="2171700" y="2880360"/>
            <a:ext cx="85725" cy="237744"/>
          </a:xfrm>
          <a:prstGeom prst="rect">
            <a:avLst/>
          </a:prstGeom>
          <a:solidFill>
            <a:srgbClr val="FFF1DC"/>
          </a:solidFill>
          <a:ln w="6350">
            <a:solidFill>
              <a:srgbClr val="D98A1E"/>
            </a:solidFill>
            <a:prstDash val="solid"/>
          </a:ln>
        </p:spPr>
      </p:sp>
      <p:sp>
        <p:nvSpPr>
          <p:cNvPr id="66" name="Shape 64"/>
          <p:cNvSpPr/>
          <p:nvPr/>
        </p:nvSpPr>
        <p:spPr>
          <a:xfrm>
            <a:off x="2257425" y="2880360"/>
            <a:ext cx="85725" cy="237744"/>
          </a:xfrm>
          <a:prstGeom prst="rect">
            <a:avLst/>
          </a:prstGeom>
          <a:solidFill>
            <a:srgbClr val="FFF1DC"/>
          </a:solidFill>
          <a:ln w="6350">
            <a:solidFill>
              <a:srgbClr val="D98A1E"/>
            </a:solidFill>
            <a:prstDash val="solid"/>
          </a:ln>
        </p:spPr>
      </p:sp>
      <p:sp>
        <p:nvSpPr>
          <p:cNvPr id="67" name="Shape 65"/>
          <p:cNvSpPr/>
          <p:nvPr/>
        </p:nvSpPr>
        <p:spPr>
          <a:xfrm>
            <a:off x="2343150" y="2880360"/>
            <a:ext cx="85725" cy="237744"/>
          </a:xfrm>
          <a:prstGeom prst="rect">
            <a:avLst/>
          </a:prstGeom>
          <a:solidFill>
            <a:srgbClr val="FFF1DC"/>
          </a:solidFill>
          <a:ln w="6350">
            <a:solidFill>
              <a:srgbClr val="D98A1E"/>
            </a:solidFill>
            <a:prstDash val="solid"/>
          </a:ln>
        </p:spPr>
      </p:sp>
      <p:sp>
        <p:nvSpPr>
          <p:cNvPr id="68" name="Shape 66"/>
          <p:cNvSpPr/>
          <p:nvPr/>
        </p:nvSpPr>
        <p:spPr>
          <a:xfrm>
            <a:off x="2428875" y="2880360"/>
            <a:ext cx="85725" cy="237744"/>
          </a:xfrm>
          <a:prstGeom prst="rect">
            <a:avLst/>
          </a:prstGeom>
          <a:solidFill>
            <a:srgbClr val="FFF1DC"/>
          </a:solidFill>
          <a:ln w="6350">
            <a:solidFill>
              <a:srgbClr val="D98A1E"/>
            </a:solidFill>
            <a:prstDash val="solid"/>
          </a:ln>
        </p:spPr>
      </p:sp>
      <p:sp>
        <p:nvSpPr>
          <p:cNvPr id="69" name="Shape 67"/>
          <p:cNvSpPr/>
          <p:nvPr/>
        </p:nvSpPr>
        <p:spPr>
          <a:xfrm>
            <a:off x="2514600" y="2880360"/>
            <a:ext cx="85725" cy="237744"/>
          </a:xfrm>
          <a:prstGeom prst="rect">
            <a:avLst/>
          </a:prstGeom>
          <a:solidFill>
            <a:srgbClr val="FFF1DC"/>
          </a:solidFill>
          <a:ln w="6350">
            <a:solidFill>
              <a:srgbClr val="D98A1E"/>
            </a:solidFill>
            <a:prstDash val="solid"/>
          </a:ln>
        </p:spPr>
      </p:sp>
      <p:sp>
        <p:nvSpPr>
          <p:cNvPr id="70" name="Shape 68"/>
          <p:cNvSpPr/>
          <p:nvPr/>
        </p:nvSpPr>
        <p:spPr>
          <a:xfrm>
            <a:off x="2600325" y="2880360"/>
            <a:ext cx="85725" cy="237744"/>
          </a:xfrm>
          <a:prstGeom prst="rect">
            <a:avLst/>
          </a:prstGeom>
          <a:solidFill>
            <a:srgbClr val="FFF1DC"/>
          </a:solidFill>
          <a:ln w="6350">
            <a:solidFill>
              <a:srgbClr val="D98A1E"/>
            </a:solidFill>
            <a:prstDash val="solid"/>
          </a:ln>
        </p:spPr>
      </p:sp>
      <p:sp>
        <p:nvSpPr>
          <p:cNvPr id="71" name="Shape 69"/>
          <p:cNvSpPr/>
          <p:nvPr/>
        </p:nvSpPr>
        <p:spPr>
          <a:xfrm>
            <a:off x="2686050" y="2880360"/>
            <a:ext cx="85725" cy="237744"/>
          </a:xfrm>
          <a:prstGeom prst="rect">
            <a:avLst/>
          </a:prstGeom>
          <a:solidFill>
            <a:srgbClr val="FFF1DC"/>
          </a:solidFill>
          <a:ln w="6350">
            <a:solidFill>
              <a:srgbClr val="D98A1E"/>
            </a:solidFill>
            <a:prstDash val="solid"/>
          </a:ln>
        </p:spPr>
      </p:sp>
      <p:sp>
        <p:nvSpPr>
          <p:cNvPr id="72" name="Shape 70"/>
          <p:cNvSpPr/>
          <p:nvPr/>
        </p:nvSpPr>
        <p:spPr>
          <a:xfrm>
            <a:off x="2771775" y="2880360"/>
            <a:ext cx="85725" cy="237744"/>
          </a:xfrm>
          <a:prstGeom prst="rect">
            <a:avLst/>
          </a:prstGeom>
          <a:solidFill>
            <a:srgbClr val="FFF1DC"/>
          </a:solidFill>
          <a:ln w="6350">
            <a:solidFill>
              <a:srgbClr val="D98A1E"/>
            </a:solidFill>
            <a:prstDash val="solid"/>
          </a:ln>
        </p:spPr>
      </p:sp>
      <p:sp>
        <p:nvSpPr>
          <p:cNvPr id="73" name="Shape 71"/>
          <p:cNvSpPr/>
          <p:nvPr/>
        </p:nvSpPr>
        <p:spPr>
          <a:xfrm>
            <a:off x="2857500" y="2880360"/>
            <a:ext cx="85725" cy="237744"/>
          </a:xfrm>
          <a:prstGeom prst="rect">
            <a:avLst/>
          </a:prstGeom>
          <a:solidFill>
            <a:srgbClr val="FFF1DC"/>
          </a:solidFill>
          <a:ln w="6350">
            <a:solidFill>
              <a:srgbClr val="D98A1E"/>
            </a:solidFill>
            <a:prstDash val="solid"/>
          </a:ln>
        </p:spPr>
      </p:sp>
      <p:sp>
        <p:nvSpPr>
          <p:cNvPr id="74" name="Shape 72"/>
          <p:cNvSpPr/>
          <p:nvPr/>
        </p:nvSpPr>
        <p:spPr>
          <a:xfrm>
            <a:off x="2943225" y="2880360"/>
            <a:ext cx="85725" cy="237744"/>
          </a:xfrm>
          <a:prstGeom prst="rect">
            <a:avLst/>
          </a:prstGeom>
          <a:solidFill>
            <a:srgbClr val="FFF1DC"/>
          </a:solidFill>
          <a:ln w="6350">
            <a:solidFill>
              <a:srgbClr val="D98A1E"/>
            </a:solidFill>
            <a:prstDash val="solid"/>
          </a:ln>
        </p:spPr>
      </p:sp>
      <p:sp>
        <p:nvSpPr>
          <p:cNvPr id="75" name="Shape 73"/>
          <p:cNvSpPr/>
          <p:nvPr/>
        </p:nvSpPr>
        <p:spPr>
          <a:xfrm>
            <a:off x="3028950" y="2880360"/>
            <a:ext cx="85725" cy="237744"/>
          </a:xfrm>
          <a:prstGeom prst="rect">
            <a:avLst/>
          </a:prstGeom>
          <a:solidFill>
            <a:srgbClr val="FFF1DC"/>
          </a:solidFill>
          <a:ln w="6350">
            <a:solidFill>
              <a:srgbClr val="D98A1E"/>
            </a:solidFill>
            <a:prstDash val="solid"/>
          </a:ln>
        </p:spPr>
      </p:sp>
      <p:sp>
        <p:nvSpPr>
          <p:cNvPr id="76" name="Shape 74"/>
          <p:cNvSpPr/>
          <p:nvPr/>
        </p:nvSpPr>
        <p:spPr>
          <a:xfrm>
            <a:off x="3114675" y="2880360"/>
            <a:ext cx="85725" cy="237744"/>
          </a:xfrm>
          <a:prstGeom prst="rect">
            <a:avLst/>
          </a:prstGeom>
          <a:solidFill>
            <a:srgbClr val="FFF1DC"/>
          </a:solidFill>
          <a:ln w="6350">
            <a:solidFill>
              <a:srgbClr val="D98A1E"/>
            </a:solidFill>
            <a:prstDash val="solid"/>
          </a:ln>
        </p:spPr>
      </p:sp>
      <p:sp>
        <p:nvSpPr>
          <p:cNvPr id="77" name="Shape 75"/>
          <p:cNvSpPr/>
          <p:nvPr/>
        </p:nvSpPr>
        <p:spPr>
          <a:xfrm>
            <a:off x="3200400" y="2880360"/>
            <a:ext cx="85725" cy="237744"/>
          </a:xfrm>
          <a:prstGeom prst="rect">
            <a:avLst/>
          </a:prstGeom>
          <a:solidFill>
            <a:srgbClr val="FFF1DC"/>
          </a:solidFill>
          <a:ln w="6350">
            <a:solidFill>
              <a:srgbClr val="D98A1E"/>
            </a:solidFill>
            <a:prstDash val="solid"/>
          </a:ln>
        </p:spPr>
      </p:sp>
      <p:sp>
        <p:nvSpPr>
          <p:cNvPr id="78" name="Shape 76"/>
          <p:cNvSpPr/>
          <p:nvPr/>
        </p:nvSpPr>
        <p:spPr>
          <a:xfrm>
            <a:off x="3286125" y="2880360"/>
            <a:ext cx="85725" cy="237744"/>
          </a:xfrm>
          <a:prstGeom prst="rect">
            <a:avLst/>
          </a:prstGeom>
          <a:solidFill>
            <a:srgbClr val="FFF1DC"/>
          </a:solidFill>
          <a:ln w="6350">
            <a:solidFill>
              <a:srgbClr val="D98A1E"/>
            </a:solidFill>
            <a:prstDash val="solid"/>
          </a:ln>
        </p:spPr>
      </p:sp>
      <p:sp>
        <p:nvSpPr>
          <p:cNvPr id="79" name="Shape 77"/>
          <p:cNvSpPr/>
          <p:nvPr/>
        </p:nvSpPr>
        <p:spPr>
          <a:xfrm>
            <a:off x="3371850" y="2880360"/>
            <a:ext cx="85725" cy="237744"/>
          </a:xfrm>
          <a:prstGeom prst="rect">
            <a:avLst/>
          </a:prstGeom>
          <a:solidFill>
            <a:srgbClr val="FFF1DC"/>
          </a:solidFill>
          <a:ln w="6350">
            <a:solidFill>
              <a:srgbClr val="D98A1E"/>
            </a:solidFill>
            <a:prstDash val="solid"/>
          </a:ln>
        </p:spPr>
      </p:sp>
      <p:sp>
        <p:nvSpPr>
          <p:cNvPr id="80" name="Shape 78"/>
          <p:cNvSpPr/>
          <p:nvPr/>
        </p:nvSpPr>
        <p:spPr>
          <a:xfrm>
            <a:off x="3457575" y="2880360"/>
            <a:ext cx="85725" cy="237744"/>
          </a:xfrm>
          <a:prstGeom prst="rect">
            <a:avLst/>
          </a:prstGeom>
          <a:solidFill>
            <a:srgbClr val="FFF1DC"/>
          </a:solidFill>
          <a:ln w="6350">
            <a:solidFill>
              <a:srgbClr val="D98A1E"/>
            </a:solidFill>
            <a:prstDash val="solid"/>
          </a:ln>
        </p:spPr>
      </p:sp>
      <p:sp>
        <p:nvSpPr>
          <p:cNvPr id="81" name="Shape 79"/>
          <p:cNvSpPr/>
          <p:nvPr/>
        </p:nvSpPr>
        <p:spPr>
          <a:xfrm>
            <a:off x="3543300" y="2880360"/>
            <a:ext cx="85725" cy="237744"/>
          </a:xfrm>
          <a:prstGeom prst="rect">
            <a:avLst/>
          </a:prstGeom>
          <a:solidFill>
            <a:srgbClr val="FFF1DC"/>
          </a:solidFill>
          <a:ln w="6350">
            <a:solidFill>
              <a:srgbClr val="D98A1E"/>
            </a:solidFill>
            <a:prstDash val="solid"/>
          </a:ln>
        </p:spPr>
      </p:sp>
      <p:sp>
        <p:nvSpPr>
          <p:cNvPr id="82" name="Shape 80"/>
          <p:cNvSpPr/>
          <p:nvPr/>
        </p:nvSpPr>
        <p:spPr>
          <a:xfrm>
            <a:off x="3629025" y="2880360"/>
            <a:ext cx="85725" cy="237744"/>
          </a:xfrm>
          <a:prstGeom prst="rect">
            <a:avLst/>
          </a:prstGeom>
          <a:solidFill>
            <a:srgbClr val="FFF1DC"/>
          </a:solidFill>
          <a:ln w="6350">
            <a:solidFill>
              <a:srgbClr val="D98A1E"/>
            </a:solidFill>
            <a:prstDash val="solid"/>
          </a:ln>
        </p:spPr>
      </p:sp>
      <p:sp>
        <p:nvSpPr>
          <p:cNvPr id="83" name="Shape 81"/>
          <p:cNvSpPr/>
          <p:nvPr/>
        </p:nvSpPr>
        <p:spPr>
          <a:xfrm>
            <a:off x="3714750" y="2880360"/>
            <a:ext cx="85725" cy="237744"/>
          </a:xfrm>
          <a:prstGeom prst="rect">
            <a:avLst/>
          </a:prstGeom>
          <a:solidFill>
            <a:srgbClr val="FFF1DC"/>
          </a:solidFill>
          <a:ln w="6350">
            <a:solidFill>
              <a:srgbClr val="D98A1E"/>
            </a:solidFill>
            <a:prstDash val="solid"/>
          </a:ln>
        </p:spPr>
      </p:sp>
      <p:sp>
        <p:nvSpPr>
          <p:cNvPr id="84" name="Shape 82"/>
          <p:cNvSpPr/>
          <p:nvPr/>
        </p:nvSpPr>
        <p:spPr>
          <a:xfrm>
            <a:off x="3800475" y="2880360"/>
            <a:ext cx="85725" cy="237744"/>
          </a:xfrm>
          <a:prstGeom prst="rect">
            <a:avLst/>
          </a:prstGeom>
          <a:solidFill>
            <a:srgbClr val="FFF1DC"/>
          </a:solidFill>
          <a:ln w="6350">
            <a:solidFill>
              <a:srgbClr val="D98A1E"/>
            </a:solidFill>
            <a:prstDash val="solid"/>
          </a:ln>
        </p:spPr>
      </p:sp>
      <p:sp>
        <p:nvSpPr>
          <p:cNvPr id="85" name="Shape 83"/>
          <p:cNvSpPr/>
          <p:nvPr/>
        </p:nvSpPr>
        <p:spPr>
          <a:xfrm>
            <a:off x="3886200" y="2880360"/>
            <a:ext cx="85725" cy="237744"/>
          </a:xfrm>
          <a:prstGeom prst="rect">
            <a:avLst/>
          </a:prstGeom>
          <a:solidFill>
            <a:srgbClr val="FFF1DC"/>
          </a:solidFill>
          <a:ln w="6350">
            <a:solidFill>
              <a:srgbClr val="D98A1E"/>
            </a:solidFill>
            <a:prstDash val="solid"/>
          </a:ln>
        </p:spPr>
      </p:sp>
      <p:sp>
        <p:nvSpPr>
          <p:cNvPr id="86" name="Shape 84"/>
          <p:cNvSpPr/>
          <p:nvPr/>
        </p:nvSpPr>
        <p:spPr>
          <a:xfrm>
            <a:off x="3971925" y="2880360"/>
            <a:ext cx="85725" cy="237744"/>
          </a:xfrm>
          <a:prstGeom prst="rect">
            <a:avLst/>
          </a:prstGeom>
          <a:solidFill>
            <a:srgbClr val="FFF1DC"/>
          </a:solidFill>
          <a:ln w="6350">
            <a:solidFill>
              <a:srgbClr val="D98A1E"/>
            </a:solidFill>
            <a:prstDash val="solid"/>
          </a:ln>
        </p:spPr>
      </p:sp>
      <p:sp>
        <p:nvSpPr>
          <p:cNvPr id="87" name="Shape 85"/>
          <p:cNvSpPr/>
          <p:nvPr/>
        </p:nvSpPr>
        <p:spPr>
          <a:xfrm>
            <a:off x="4057650" y="2880360"/>
            <a:ext cx="85725" cy="237744"/>
          </a:xfrm>
          <a:prstGeom prst="rect">
            <a:avLst/>
          </a:prstGeom>
          <a:solidFill>
            <a:srgbClr val="FFF1DC"/>
          </a:solidFill>
          <a:ln w="6350">
            <a:solidFill>
              <a:srgbClr val="D98A1E"/>
            </a:solidFill>
            <a:prstDash val="solid"/>
          </a:ln>
        </p:spPr>
      </p:sp>
      <p:sp>
        <p:nvSpPr>
          <p:cNvPr id="88" name="Shape 86"/>
          <p:cNvSpPr/>
          <p:nvPr/>
        </p:nvSpPr>
        <p:spPr>
          <a:xfrm>
            <a:off x="4143375" y="2880360"/>
            <a:ext cx="85725" cy="237744"/>
          </a:xfrm>
          <a:prstGeom prst="rect">
            <a:avLst/>
          </a:prstGeom>
          <a:solidFill>
            <a:srgbClr val="FFF1DC"/>
          </a:solidFill>
          <a:ln w="6350">
            <a:solidFill>
              <a:srgbClr val="D98A1E"/>
            </a:solidFill>
            <a:prstDash val="solid"/>
          </a:ln>
        </p:spPr>
      </p:sp>
      <p:sp>
        <p:nvSpPr>
          <p:cNvPr id="89" name="Shape 87"/>
          <p:cNvSpPr/>
          <p:nvPr/>
        </p:nvSpPr>
        <p:spPr>
          <a:xfrm>
            <a:off x="4229100" y="2880360"/>
            <a:ext cx="85725" cy="237744"/>
          </a:xfrm>
          <a:prstGeom prst="rect">
            <a:avLst/>
          </a:prstGeom>
          <a:solidFill>
            <a:srgbClr val="FFF1DC"/>
          </a:solidFill>
          <a:ln w="6350">
            <a:solidFill>
              <a:srgbClr val="D98A1E"/>
            </a:solidFill>
            <a:prstDash val="solid"/>
          </a:ln>
        </p:spPr>
      </p:sp>
      <p:sp>
        <p:nvSpPr>
          <p:cNvPr id="90" name="Shape 88"/>
          <p:cNvSpPr/>
          <p:nvPr/>
        </p:nvSpPr>
        <p:spPr>
          <a:xfrm>
            <a:off x="4314825" y="2880360"/>
            <a:ext cx="85725" cy="237744"/>
          </a:xfrm>
          <a:prstGeom prst="rect">
            <a:avLst/>
          </a:prstGeom>
          <a:solidFill>
            <a:srgbClr val="FFF1DC"/>
          </a:solidFill>
          <a:ln w="6350">
            <a:solidFill>
              <a:srgbClr val="D98A1E"/>
            </a:solidFill>
            <a:prstDash val="solid"/>
          </a:ln>
        </p:spPr>
      </p:sp>
      <p:sp>
        <p:nvSpPr>
          <p:cNvPr id="91" name="Shape 89"/>
          <p:cNvSpPr/>
          <p:nvPr/>
        </p:nvSpPr>
        <p:spPr>
          <a:xfrm>
            <a:off x="4400550" y="2880360"/>
            <a:ext cx="85725" cy="237744"/>
          </a:xfrm>
          <a:prstGeom prst="rect">
            <a:avLst/>
          </a:prstGeom>
          <a:solidFill>
            <a:srgbClr val="FFF1DC"/>
          </a:solidFill>
          <a:ln w="6350">
            <a:solidFill>
              <a:srgbClr val="D98A1E"/>
            </a:solidFill>
            <a:prstDash val="solid"/>
          </a:ln>
        </p:spPr>
      </p:sp>
      <p:sp>
        <p:nvSpPr>
          <p:cNvPr id="92" name="Shape 90"/>
          <p:cNvSpPr/>
          <p:nvPr/>
        </p:nvSpPr>
        <p:spPr>
          <a:xfrm>
            <a:off x="4486275" y="2880360"/>
            <a:ext cx="85725" cy="237744"/>
          </a:xfrm>
          <a:prstGeom prst="rect">
            <a:avLst/>
          </a:prstGeom>
          <a:solidFill>
            <a:srgbClr val="FFF1DC"/>
          </a:solidFill>
          <a:ln w="6350">
            <a:solidFill>
              <a:srgbClr val="D98A1E"/>
            </a:solidFill>
            <a:prstDash val="solid"/>
          </a:ln>
        </p:spPr>
      </p:sp>
      <p:sp>
        <p:nvSpPr>
          <p:cNvPr id="93" name="Shape 91"/>
          <p:cNvSpPr/>
          <p:nvPr/>
        </p:nvSpPr>
        <p:spPr>
          <a:xfrm>
            <a:off x="4572000" y="2880360"/>
            <a:ext cx="85725" cy="237744"/>
          </a:xfrm>
          <a:prstGeom prst="rect">
            <a:avLst/>
          </a:prstGeom>
          <a:solidFill>
            <a:srgbClr val="FFF6DB"/>
          </a:solidFill>
          <a:ln w="6350">
            <a:solidFill>
              <a:srgbClr val="B7791F"/>
            </a:solidFill>
            <a:prstDash val="solid"/>
          </a:ln>
        </p:spPr>
      </p:sp>
      <p:sp>
        <p:nvSpPr>
          <p:cNvPr id="94" name="Shape 92"/>
          <p:cNvSpPr/>
          <p:nvPr/>
        </p:nvSpPr>
        <p:spPr>
          <a:xfrm>
            <a:off x="4657725" y="2880360"/>
            <a:ext cx="85725" cy="237744"/>
          </a:xfrm>
          <a:prstGeom prst="rect">
            <a:avLst/>
          </a:prstGeom>
          <a:solidFill>
            <a:srgbClr val="EEF2F6"/>
          </a:solidFill>
          <a:ln w="6350">
            <a:solidFill>
              <a:srgbClr val="C9D3DF"/>
            </a:solidFill>
            <a:prstDash val="solid"/>
          </a:ln>
        </p:spPr>
      </p:sp>
      <p:sp>
        <p:nvSpPr>
          <p:cNvPr id="95" name="Shape 93"/>
          <p:cNvSpPr/>
          <p:nvPr/>
        </p:nvSpPr>
        <p:spPr>
          <a:xfrm>
            <a:off x="4743450" y="2880360"/>
            <a:ext cx="85725" cy="237744"/>
          </a:xfrm>
          <a:prstGeom prst="rect">
            <a:avLst/>
          </a:prstGeom>
          <a:solidFill>
            <a:srgbClr val="EEF2F6"/>
          </a:solidFill>
          <a:ln w="6350">
            <a:solidFill>
              <a:srgbClr val="C9D3DF"/>
            </a:solidFill>
            <a:prstDash val="solid"/>
          </a:ln>
        </p:spPr>
      </p:sp>
      <p:sp>
        <p:nvSpPr>
          <p:cNvPr id="96" name="Shape 94"/>
          <p:cNvSpPr/>
          <p:nvPr/>
        </p:nvSpPr>
        <p:spPr>
          <a:xfrm>
            <a:off x="4829175" y="2880360"/>
            <a:ext cx="85725" cy="237744"/>
          </a:xfrm>
          <a:prstGeom prst="rect">
            <a:avLst/>
          </a:prstGeom>
          <a:solidFill>
            <a:srgbClr val="EEF2F6"/>
          </a:solidFill>
          <a:ln w="6350">
            <a:solidFill>
              <a:srgbClr val="C9D3DF"/>
            </a:solidFill>
            <a:prstDash val="solid"/>
          </a:ln>
        </p:spPr>
      </p:sp>
      <p:sp>
        <p:nvSpPr>
          <p:cNvPr id="97" name="Shape 95"/>
          <p:cNvSpPr/>
          <p:nvPr/>
        </p:nvSpPr>
        <p:spPr>
          <a:xfrm>
            <a:off x="4914900" y="2880360"/>
            <a:ext cx="85725" cy="237744"/>
          </a:xfrm>
          <a:prstGeom prst="rect">
            <a:avLst/>
          </a:prstGeom>
          <a:solidFill>
            <a:srgbClr val="EEF2F6"/>
          </a:solidFill>
          <a:ln w="6350">
            <a:solidFill>
              <a:srgbClr val="C9D3DF"/>
            </a:solidFill>
            <a:prstDash val="solid"/>
          </a:ln>
        </p:spPr>
      </p:sp>
      <p:sp>
        <p:nvSpPr>
          <p:cNvPr id="98" name="Shape 96"/>
          <p:cNvSpPr/>
          <p:nvPr/>
        </p:nvSpPr>
        <p:spPr>
          <a:xfrm>
            <a:off x="5000625" y="2880360"/>
            <a:ext cx="85725" cy="237744"/>
          </a:xfrm>
          <a:prstGeom prst="rect">
            <a:avLst/>
          </a:prstGeom>
          <a:solidFill>
            <a:srgbClr val="EEF2F6"/>
          </a:solidFill>
          <a:ln w="6350">
            <a:solidFill>
              <a:srgbClr val="C9D3DF"/>
            </a:solidFill>
            <a:prstDash val="solid"/>
          </a:ln>
        </p:spPr>
      </p:sp>
      <p:sp>
        <p:nvSpPr>
          <p:cNvPr id="99" name="Shape 97"/>
          <p:cNvSpPr/>
          <p:nvPr/>
        </p:nvSpPr>
        <p:spPr>
          <a:xfrm>
            <a:off x="5086350" y="2880360"/>
            <a:ext cx="85725" cy="237744"/>
          </a:xfrm>
          <a:prstGeom prst="rect">
            <a:avLst/>
          </a:prstGeom>
          <a:solidFill>
            <a:srgbClr val="EEF2F6"/>
          </a:solidFill>
          <a:ln w="6350">
            <a:solidFill>
              <a:srgbClr val="C9D3DF"/>
            </a:solidFill>
            <a:prstDash val="solid"/>
          </a:ln>
        </p:spPr>
      </p:sp>
      <p:sp>
        <p:nvSpPr>
          <p:cNvPr id="100" name="Shape 98"/>
          <p:cNvSpPr/>
          <p:nvPr/>
        </p:nvSpPr>
        <p:spPr>
          <a:xfrm>
            <a:off x="5172075" y="2880360"/>
            <a:ext cx="85725" cy="237744"/>
          </a:xfrm>
          <a:prstGeom prst="rect">
            <a:avLst/>
          </a:prstGeom>
          <a:solidFill>
            <a:srgbClr val="EEF2F6"/>
          </a:solidFill>
          <a:ln w="6350">
            <a:solidFill>
              <a:srgbClr val="C9D3DF"/>
            </a:solidFill>
            <a:prstDash val="solid"/>
          </a:ln>
        </p:spPr>
      </p:sp>
      <p:sp>
        <p:nvSpPr>
          <p:cNvPr id="101" name="Shape 99"/>
          <p:cNvSpPr/>
          <p:nvPr/>
        </p:nvSpPr>
        <p:spPr>
          <a:xfrm>
            <a:off x="5257800" y="2880360"/>
            <a:ext cx="85725" cy="237744"/>
          </a:xfrm>
          <a:prstGeom prst="rect">
            <a:avLst/>
          </a:prstGeom>
          <a:solidFill>
            <a:srgbClr val="EEF2F6"/>
          </a:solidFill>
          <a:ln w="6350">
            <a:solidFill>
              <a:srgbClr val="C9D3DF"/>
            </a:solidFill>
            <a:prstDash val="solid"/>
          </a:ln>
        </p:spPr>
      </p:sp>
      <p:sp>
        <p:nvSpPr>
          <p:cNvPr id="102" name="Shape 100"/>
          <p:cNvSpPr/>
          <p:nvPr/>
        </p:nvSpPr>
        <p:spPr>
          <a:xfrm>
            <a:off x="5343525" y="2880360"/>
            <a:ext cx="85725" cy="237744"/>
          </a:xfrm>
          <a:prstGeom prst="rect">
            <a:avLst/>
          </a:prstGeom>
          <a:solidFill>
            <a:srgbClr val="EEF2F6"/>
          </a:solidFill>
          <a:ln w="6350">
            <a:solidFill>
              <a:srgbClr val="C9D3DF"/>
            </a:solidFill>
            <a:prstDash val="solid"/>
          </a:ln>
        </p:spPr>
      </p:sp>
      <p:sp>
        <p:nvSpPr>
          <p:cNvPr id="103" name="Shape 101"/>
          <p:cNvSpPr/>
          <p:nvPr/>
        </p:nvSpPr>
        <p:spPr>
          <a:xfrm>
            <a:off x="5429250" y="2880360"/>
            <a:ext cx="85725" cy="237744"/>
          </a:xfrm>
          <a:prstGeom prst="rect">
            <a:avLst/>
          </a:prstGeom>
          <a:solidFill>
            <a:srgbClr val="EEF2F6"/>
          </a:solidFill>
          <a:ln w="6350">
            <a:solidFill>
              <a:srgbClr val="C9D3DF"/>
            </a:solidFill>
            <a:prstDash val="solid"/>
          </a:ln>
        </p:spPr>
      </p:sp>
      <p:sp>
        <p:nvSpPr>
          <p:cNvPr id="104" name="Shape 102"/>
          <p:cNvSpPr/>
          <p:nvPr/>
        </p:nvSpPr>
        <p:spPr>
          <a:xfrm>
            <a:off x="5514975" y="2880360"/>
            <a:ext cx="85725" cy="237744"/>
          </a:xfrm>
          <a:prstGeom prst="rect">
            <a:avLst/>
          </a:prstGeom>
          <a:solidFill>
            <a:srgbClr val="EEF2F6"/>
          </a:solidFill>
          <a:ln w="6350">
            <a:solidFill>
              <a:srgbClr val="C9D3DF"/>
            </a:solidFill>
            <a:prstDash val="solid"/>
          </a:ln>
        </p:spPr>
      </p:sp>
      <p:sp>
        <p:nvSpPr>
          <p:cNvPr id="105" name="Shape 103"/>
          <p:cNvSpPr/>
          <p:nvPr/>
        </p:nvSpPr>
        <p:spPr>
          <a:xfrm>
            <a:off x="5600700" y="2880360"/>
            <a:ext cx="85725" cy="237744"/>
          </a:xfrm>
          <a:prstGeom prst="rect">
            <a:avLst/>
          </a:prstGeom>
          <a:solidFill>
            <a:srgbClr val="EEF2F6"/>
          </a:solidFill>
          <a:ln w="6350">
            <a:solidFill>
              <a:srgbClr val="C9D3DF"/>
            </a:solidFill>
            <a:prstDash val="solid"/>
          </a:ln>
        </p:spPr>
      </p:sp>
      <p:sp>
        <p:nvSpPr>
          <p:cNvPr id="106" name="Shape 104"/>
          <p:cNvSpPr/>
          <p:nvPr/>
        </p:nvSpPr>
        <p:spPr>
          <a:xfrm>
            <a:off x="5686425" y="2880360"/>
            <a:ext cx="85725" cy="237744"/>
          </a:xfrm>
          <a:prstGeom prst="rect">
            <a:avLst/>
          </a:prstGeom>
          <a:solidFill>
            <a:srgbClr val="EEF2F6"/>
          </a:solidFill>
          <a:ln w="6350">
            <a:solidFill>
              <a:srgbClr val="C9D3DF"/>
            </a:solidFill>
            <a:prstDash val="solid"/>
          </a:ln>
        </p:spPr>
      </p:sp>
      <p:sp>
        <p:nvSpPr>
          <p:cNvPr id="107" name="Shape 105"/>
          <p:cNvSpPr/>
          <p:nvPr/>
        </p:nvSpPr>
        <p:spPr>
          <a:xfrm>
            <a:off x="5772150" y="2880360"/>
            <a:ext cx="85725" cy="237744"/>
          </a:xfrm>
          <a:prstGeom prst="rect">
            <a:avLst/>
          </a:prstGeom>
          <a:solidFill>
            <a:srgbClr val="EEF2F6"/>
          </a:solidFill>
          <a:ln w="6350">
            <a:solidFill>
              <a:srgbClr val="C9D3DF"/>
            </a:solidFill>
            <a:prstDash val="solid"/>
          </a:ln>
        </p:spPr>
      </p:sp>
      <p:sp>
        <p:nvSpPr>
          <p:cNvPr id="108" name="Shape 106"/>
          <p:cNvSpPr/>
          <p:nvPr/>
        </p:nvSpPr>
        <p:spPr>
          <a:xfrm>
            <a:off x="5857875" y="2880360"/>
            <a:ext cx="85725" cy="237744"/>
          </a:xfrm>
          <a:prstGeom prst="rect">
            <a:avLst/>
          </a:prstGeom>
          <a:solidFill>
            <a:srgbClr val="EEF2F6"/>
          </a:solidFill>
          <a:ln w="6350">
            <a:solidFill>
              <a:srgbClr val="C9D3DF"/>
            </a:solidFill>
            <a:prstDash val="solid"/>
          </a:ln>
        </p:spPr>
      </p:sp>
      <p:sp>
        <p:nvSpPr>
          <p:cNvPr id="109" name="Shape 107"/>
          <p:cNvSpPr/>
          <p:nvPr/>
        </p:nvSpPr>
        <p:spPr>
          <a:xfrm>
            <a:off x="5943600" y="2880360"/>
            <a:ext cx="85725" cy="237744"/>
          </a:xfrm>
          <a:prstGeom prst="rect">
            <a:avLst/>
          </a:prstGeom>
          <a:solidFill>
            <a:srgbClr val="EEF2F6"/>
          </a:solidFill>
          <a:ln w="6350">
            <a:solidFill>
              <a:srgbClr val="C9D3DF"/>
            </a:solidFill>
            <a:prstDash val="solid"/>
          </a:ln>
        </p:spPr>
      </p:sp>
      <p:sp>
        <p:nvSpPr>
          <p:cNvPr id="110" name="Shape 108"/>
          <p:cNvSpPr/>
          <p:nvPr/>
        </p:nvSpPr>
        <p:spPr>
          <a:xfrm>
            <a:off x="6029325" y="2880360"/>
            <a:ext cx="85725" cy="237744"/>
          </a:xfrm>
          <a:prstGeom prst="rect">
            <a:avLst/>
          </a:prstGeom>
          <a:solidFill>
            <a:srgbClr val="EEF2F6"/>
          </a:solidFill>
          <a:ln w="6350">
            <a:solidFill>
              <a:srgbClr val="C9D3DF"/>
            </a:solidFill>
            <a:prstDash val="solid"/>
          </a:ln>
        </p:spPr>
      </p:sp>
      <p:sp>
        <p:nvSpPr>
          <p:cNvPr id="111" name="Shape 109"/>
          <p:cNvSpPr/>
          <p:nvPr/>
        </p:nvSpPr>
        <p:spPr>
          <a:xfrm>
            <a:off x="6115050" y="2880360"/>
            <a:ext cx="85725" cy="237744"/>
          </a:xfrm>
          <a:prstGeom prst="rect">
            <a:avLst/>
          </a:prstGeom>
          <a:solidFill>
            <a:srgbClr val="EEF2F6"/>
          </a:solidFill>
          <a:ln w="6350">
            <a:solidFill>
              <a:srgbClr val="C9D3DF"/>
            </a:solidFill>
            <a:prstDash val="solid"/>
          </a:ln>
        </p:spPr>
      </p:sp>
      <p:sp>
        <p:nvSpPr>
          <p:cNvPr id="112" name="Shape 110"/>
          <p:cNvSpPr/>
          <p:nvPr/>
        </p:nvSpPr>
        <p:spPr>
          <a:xfrm>
            <a:off x="6200775" y="2880360"/>
            <a:ext cx="85725" cy="237744"/>
          </a:xfrm>
          <a:prstGeom prst="rect">
            <a:avLst/>
          </a:prstGeom>
          <a:solidFill>
            <a:srgbClr val="EEF2F6"/>
          </a:solidFill>
          <a:ln w="6350">
            <a:solidFill>
              <a:srgbClr val="C9D3DF"/>
            </a:solidFill>
            <a:prstDash val="solid"/>
          </a:ln>
        </p:spPr>
      </p:sp>
      <p:sp>
        <p:nvSpPr>
          <p:cNvPr id="113" name="Shape 111"/>
          <p:cNvSpPr/>
          <p:nvPr/>
        </p:nvSpPr>
        <p:spPr>
          <a:xfrm>
            <a:off x="6286500" y="2880360"/>
            <a:ext cx="85725" cy="237744"/>
          </a:xfrm>
          <a:prstGeom prst="rect">
            <a:avLst/>
          </a:prstGeom>
          <a:solidFill>
            <a:srgbClr val="EEF2F6"/>
          </a:solidFill>
          <a:ln w="6350">
            <a:solidFill>
              <a:srgbClr val="C9D3DF"/>
            </a:solidFill>
            <a:prstDash val="solid"/>
          </a:ln>
        </p:spPr>
      </p:sp>
      <p:sp>
        <p:nvSpPr>
          <p:cNvPr id="114" name="Shape 112"/>
          <p:cNvSpPr/>
          <p:nvPr/>
        </p:nvSpPr>
        <p:spPr>
          <a:xfrm>
            <a:off x="6372225" y="2880360"/>
            <a:ext cx="85725" cy="237744"/>
          </a:xfrm>
          <a:prstGeom prst="rect">
            <a:avLst/>
          </a:prstGeom>
          <a:solidFill>
            <a:srgbClr val="EEF2F6"/>
          </a:solidFill>
          <a:ln w="6350">
            <a:solidFill>
              <a:srgbClr val="C9D3DF"/>
            </a:solidFill>
            <a:prstDash val="solid"/>
          </a:ln>
        </p:spPr>
      </p:sp>
      <p:sp>
        <p:nvSpPr>
          <p:cNvPr id="115" name="Shape 113"/>
          <p:cNvSpPr/>
          <p:nvPr/>
        </p:nvSpPr>
        <p:spPr>
          <a:xfrm>
            <a:off x="6457950" y="2880360"/>
            <a:ext cx="85725" cy="237744"/>
          </a:xfrm>
          <a:prstGeom prst="rect">
            <a:avLst/>
          </a:prstGeom>
          <a:solidFill>
            <a:srgbClr val="EEF2F6"/>
          </a:solidFill>
          <a:ln w="6350">
            <a:solidFill>
              <a:srgbClr val="C9D3DF"/>
            </a:solidFill>
            <a:prstDash val="solid"/>
          </a:ln>
        </p:spPr>
      </p:sp>
      <p:sp>
        <p:nvSpPr>
          <p:cNvPr id="116" name="Shape 114"/>
          <p:cNvSpPr/>
          <p:nvPr/>
        </p:nvSpPr>
        <p:spPr>
          <a:xfrm>
            <a:off x="6543675" y="2880360"/>
            <a:ext cx="85725" cy="237744"/>
          </a:xfrm>
          <a:prstGeom prst="rect">
            <a:avLst/>
          </a:prstGeom>
          <a:solidFill>
            <a:srgbClr val="EEF2F6"/>
          </a:solidFill>
          <a:ln w="6350">
            <a:solidFill>
              <a:srgbClr val="C9D3DF"/>
            </a:solidFill>
            <a:prstDash val="solid"/>
          </a:ln>
        </p:spPr>
      </p:sp>
      <p:sp>
        <p:nvSpPr>
          <p:cNvPr id="117" name="Shape 115"/>
          <p:cNvSpPr/>
          <p:nvPr/>
        </p:nvSpPr>
        <p:spPr>
          <a:xfrm>
            <a:off x="6629400" y="2880360"/>
            <a:ext cx="85725" cy="237744"/>
          </a:xfrm>
          <a:prstGeom prst="rect">
            <a:avLst/>
          </a:prstGeom>
          <a:solidFill>
            <a:srgbClr val="EEF2F6"/>
          </a:solidFill>
          <a:ln w="6350">
            <a:solidFill>
              <a:srgbClr val="C9D3DF"/>
            </a:solidFill>
            <a:prstDash val="solid"/>
          </a:ln>
        </p:spPr>
      </p:sp>
      <p:sp>
        <p:nvSpPr>
          <p:cNvPr id="118" name="Shape 116"/>
          <p:cNvSpPr/>
          <p:nvPr/>
        </p:nvSpPr>
        <p:spPr>
          <a:xfrm>
            <a:off x="6715125" y="2880360"/>
            <a:ext cx="85725" cy="237744"/>
          </a:xfrm>
          <a:prstGeom prst="rect">
            <a:avLst/>
          </a:prstGeom>
          <a:solidFill>
            <a:srgbClr val="EEF2F6"/>
          </a:solidFill>
          <a:ln w="6350">
            <a:solidFill>
              <a:srgbClr val="C9D3DF"/>
            </a:solidFill>
            <a:prstDash val="solid"/>
          </a:ln>
        </p:spPr>
      </p:sp>
      <p:sp>
        <p:nvSpPr>
          <p:cNvPr id="119" name="Shape 117"/>
          <p:cNvSpPr/>
          <p:nvPr/>
        </p:nvSpPr>
        <p:spPr>
          <a:xfrm>
            <a:off x="6800850" y="2880360"/>
            <a:ext cx="85725" cy="237744"/>
          </a:xfrm>
          <a:prstGeom prst="rect">
            <a:avLst/>
          </a:prstGeom>
          <a:solidFill>
            <a:srgbClr val="EEF2F6"/>
          </a:solidFill>
          <a:ln w="6350">
            <a:solidFill>
              <a:srgbClr val="C9D3DF"/>
            </a:solidFill>
            <a:prstDash val="solid"/>
          </a:ln>
        </p:spPr>
      </p:sp>
      <p:sp>
        <p:nvSpPr>
          <p:cNvPr id="120" name="Shape 118"/>
          <p:cNvSpPr/>
          <p:nvPr/>
        </p:nvSpPr>
        <p:spPr>
          <a:xfrm>
            <a:off x="6886575" y="2880360"/>
            <a:ext cx="85725" cy="237744"/>
          </a:xfrm>
          <a:prstGeom prst="rect">
            <a:avLst/>
          </a:prstGeom>
          <a:solidFill>
            <a:srgbClr val="EEF2F6"/>
          </a:solidFill>
          <a:ln w="6350">
            <a:solidFill>
              <a:srgbClr val="C9D3DF"/>
            </a:solidFill>
            <a:prstDash val="solid"/>
          </a:ln>
        </p:spPr>
      </p:sp>
      <p:sp>
        <p:nvSpPr>
          <p:cNvPr id="121" name="Shape 119"/>
          <p:cNvSpPr/>
          <p:nvPr/>
        </p:nvSpPr>
        <p:spPr>
          <a:xfrm>
            <a:off x="6972300" y="2880360"/>
            <a:ext cx="85725" cy="237744"/>
          </a:xfrm>
          <a:prstGeom prst="rect">
            <a:avLst/>
          </a:prstGeom>
          <a:solidFill>
            <a:srgbClr val="EEF2F6"/>
          </a:solidFill>
          <a:ln w="6350">
            <a:solidFill>
              <a:srgbClr val="C9D3DF"/>
            </a:solidFill>
            <a:prstDash val="solid"/>
          </a:ln>
        </p:spPr>
      </p:sp>
      <p:sp>
        <p:nvSpPr>
          <p:cNvPr id="122" name="Shape 120"/>
          <p:cNvSpPr/>
          <p:nvPr/>
        </p:nvSpPr>
        <p:spPr>
          <a:xfrm>
            <a:off x="7058025" y="2880360"/>
            <a:ext cx="85725" cy="237744"/>
          </a:xfrm>
          <a:prstGeom prst="rect">
            <a:avLst/>
          </a:prstGeom>
          <a:solidFill>
            <a:srgbClr val="EEF2F6"/>
          </a:solidFill>
          <a:ln w="6350">
            <a:solidFill>
              <a:srgbClr val="C9D3DF"/>
            </a:solidFill>
            <a:prstDash val="solid"/>
          </a:ln>
        </p:spPr>
      </p:sp>
      <p:sp>
        <p:nvSpPr>
          <p:cNvPr id="123" name="Shape 121"/>
          <p:cNvSpPr/>
          <p:nvPr/>
        </p:nvSpPr>
        <p:spPr>
          <a:xfrm>
            <a:off x="7143750" y="2880360"/>
            <a:ext cx="85725" cy="237744"/>
          </a:xfrm>
          <a:prstGeom prst="rect">
            <a:avLst/>
          </a:prstGeom>
          <a:solidFill>
            <a:srgbClr val="EEF2F6"/>
          </a:solidFill>
          <a:ln w="6350">
            <a:solidFill>
              <a:srgbClr val="C9D3DF"/>
            </a:solidFill>
            <a:prstDash val="solid"/>
          </a:ln>
        </p:spPr>
      </p:sp>
      <p:sp>
        <p:nvSpPr>
          <p:cNvPr id="124" name="Shape 122"/>
          <p:cNvSpPr/>
          <p:nvPr/>
        </p:nvSpPr>
        <p:spPr>
          <a:xfrm>
            <a:off x="7229475" y="2880360"/>
            <a:ext cx="85725" cy="237744"/>
          </a:xfrm>
          <a:prstGeom prst="rect">
            <a:avLst/>
          </a:prstGeom>
          <a:solidFill>
            <a:srgbClr val="EEF2F6"/>
          </a:solidFill>
          <a:ln w="6350">
            <a:solidFill>
              <a:srgbClr val="C9D3DF"/>
            </a:solidFill>
            <a:prstDash val="solid"/>
          </a:ln>
        </p:spPr>
      </p:sp>
      <p:sp>
        <p:nvSpPr>
          <p:cNvPr id="125" name="Text 123"/>
          <p:cNvSpPr txBox="1"/>
          <p:nvPr/>
        </p:nvSpPr>
        <p:spPr>
          <a:xfrm>
            <a:off x="448056" y="2880360"/>
            <a:ext cx="1325880" cy="237744"/>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C=64 (32 ≤ pos &lt; 64)</a:t>
            </a:r>
            <a:endParaRPr lang="en-US" sz="800" dirty="0"/>
          </a:p>
        </p:txBody>
      </p:sp>
      <p:sp>
        <p:nvSpPr>
          <p:cNvPr id="126" name="Text 124"/>
          <p:cNvSpPr txBox="1"/>
          <p:nvPr/>
        </p:nvSpPr>
        <p:spPr>
          <a:xfrm>
            <a:off x="1828800" y="3182112"/>
            <a:ext cx="5760720" cy="411480"/>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단일 C=64 프로그램이었다면 position 12에서도 64 slot 전체를 attention 계산(마스크만 0). bucket은 이 낭비를 줄이는 대신 컴파일 프로그램 3개, 초기 image 3개, 전환 복사 2회가 생깁니다. 매 step 새 compiler 실행과는 다릅니다.</a:t>
            </a:r>
            <a:endParaRPr lang="en-US" sz="8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7200" y="3794760"/>
          <a:ext cx="5760720" cy="914400"/>
        </p:xfrm>
        <a:graphic>
          <a:graphicData uri="http://schemas.openxmlformats.org/drawingml/2006/table">
            <a:tbl>
              <a:tblPr/>
              <a:tblGrid>
                <a:gridCol w="1554480"/>
                <a:gridCol w="4206240"/>
              </a:tblGrid>
              <a:tr h="384048">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layer 반복</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내용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재사용하는 것</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같은 구조 PrimFunc의 schedule recipe, 영역/entry 비용 cache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호출마다 반영하는 것</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layer별 weight 주소, 입력·출력 값, residual 관계 → 최종 stream에 28층 모두 전개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main backend와의 차이</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main은 host가 같은 layer 프로그램을 weight만 바꿔 반복 실행 (부록 A1)</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128" name="Text 125"/>
          <p:cNvSpPr txBox="1"/>
          <p:nvPr/>
        </p:nvSpPr>
        <p:spPr>
          <a:xfrm>
            <a:off x="6446520" y="1371600"/>
            <a:ext cx="548640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C-model (mysim_v09.cpp) 파일 규약</a:t>
            </a:r>
            <a:endParaRPr lang="en-US" sz="1050" dirty="0"/>
          </a:p>
        </p:txBody>
      </p:sp>
      <p:graphicFrame>
        <p:nvGraphicFramePr>
          <p:cNvPr id="139" name="Table 1"/>
          <p:cNvGraphicFramePr>
            <a:graphicFrameLocks noGrp="1"/>
          </p:cNvGraphicFramePr>
          <p:nvPr>
            <p:extLst>
              <p:ext uri="{D42A27DB-BD31-4B8C-83A1-F6EECF244321}">
                <p14:modId xmlns:p14="http://schemas.microsoft.com/office/powerpoint/2010/main" val="1579011935"/>
              </p:ext>
            </p:extLst>
          </p:nvPr>
        </p:nvGraphicFramePr>
        <p:xfrm>
          <a:off x="6446520" y="1691640"/>
          <a:ext cx="5285232" cy="914400"/>
        </p:xfrm>
        <a:graphic>
          <a:graphicData uri="http://schemas.openxmlformats.org/drawingml/2006/table">
            <a:tbl>
              <a:tblPr/>
              <a:tblGrid>
                <a:gridCol w="1645920"/>
                <a:gridCol w="548640"/>
                <a:gridCol w="3090672"/>
              </a:tblGrid>
              <a:tr h="384048">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파일</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방향</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내용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program_memory.bin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입력</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little-endian uint32 명령 words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global_memory.bin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입력</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초기 DRAM image (32-bit cells)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saved_global_memory.bin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출력</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SNAPSHOT(0xF0)마다 + HALT(0xFF)에서 전체 image 추가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perf_counters.txt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출력</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words_executed, gload, gstore, dma_cells_loaded/stored, loads, saves, vector_ops, matrix_ops, vquant, vdequant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130" name="Shape 126"/>
          <p:cNvSpPr/>
          <p:nvPr/>
        </p:nvSpPr>
        <p:spPr>
          <a:xfrm>
            <a:off x="6446520" y="3794760"/>
            <a:ext cx="5285232" cy="1234440"/>
          </a:xfrm>
          <a:prstGeom prst="roundRect">
            <a:avLst>
              <a:gd name="adj" fmla="val 3704"/>
            </a:avLst>
          </a:prstGeom>
          <a:solidFill>
            <a:srgbClr val="F5F7FA"/>
          </a:solidFill>
          <a:ln w="9525">
            <a:solidFill>
              <a:srgbClr val="C9D3DF"/>
            </a:solidFill>
            <a:prstDash val="solid"/>
          </a:ln>
        </p:spPr>
      </p:sp>
      <p:sp>
        <p:nvSpPr>
          <p:cNvPr id="131" name="Text 127"/>
          <p:cNvSpPr txBox="1"/>
          <p:nvPr/>
        </p:nvSpPr>
        <p:spPr>
          <a:xfrm>
            <a:off x="6556248" y="3867912"/>
            <a:ext cx="5065776" cy="1088136"/>
          </a:xfrm>
          <a:prstGeom prst="rect">
            <a:avLst/>
          </a:prstGeom>
          <a:noFill/>
          <a:ln/>
        </p:spPr>
        <p:txBody>
          <a:bodyPr wrap="square" lIns="0" tIns="0" rIns="0" bIns="0" rtlCol="0" anchor="t"/>
          <a:lstStyle/>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def run(program_words, global_cells):        # v09_runtime.py</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build_v09_model()   # g++ -std=c++17 -O2, 소스가 바뀌면 재빌드</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with TemporaryDirectory(dir=NPU_V09_TMPDIR):</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write program_memory.bin, global_memory.bin; subprocess.run([mysim_v09])</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images = split(saved_global_memory.bin, image_bytes)   # snapshot list</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return images, counters   # 크기 불일치 → 디스크 부족 진단 메시지</a:t>
            </a:r>
            <a:endParaRPr lang="en-US" sz="800" dirty="0"/>
          </a:p>
        </p:txBody>
      </p:sp>
      <p:sp>
        <p:nvSpPr>
          <p:cNvPr id="132" name="Shape 128"/>
          <p:cNvSpPr/>
          <p:nvPr/>
        </p:nvSpPr>
        <p:spPr>
          <a:xfrm>
            <a:off x="6446520" y="5120640"/>
            <a:ext cx="5285232" cy="685800"/>
          </a:xfrm>
          <a:prstGeom prst="roundRect">
            <a:avLst>
              <a:gd name="adj" fmla="val 8000"/>
            </a:avLst>
          </a:prstGeom>
          <a:solidFill>
            <a:srgbClr val="FFF6DB"/>
          </a:solidFill>
          <a:ln w="12700">
            <a:solidFill>
              <a:srgbClr val="B7791F"/>
            </a:solidFill>
            <a:prstDash val="solid"/>
          </a:ln>
        </p:spPr>
      </p:sp>
      <p:sp>
        <p:nvSpPr>
          <p:cNvPr id="133" name="Text 129"/>
          <p:cNvSpPr txBox="1"/>
          <p:nvPr/>
        </p:nvSpPr>
        <p:spPr>
          <a:xfrm>
            <a:off x="6574536" y="5175504"/>
            <a:ext cx="5029200" cy="57607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기능 검증용 실행기: </a:t>
            </a:r>
            <a:pPr algn="l" indent="0" marL="0">
              <a:buNone/>
            </a:pPr>
            <a:r>
              <a:rPr lang="en-US" sz="950" dirty="0">
                <a:solidFill>
                  <a:srgbClr val="1F2D3D"/>
                </a:solidFill>
                <a:latin typeface="Malgun Gothic" pitchFamily="34" charset="0"/>
                <a:ea typeface="Malgun Gothic" pitchFamily="34" charset="-122"/>
                <a:cs typeface="Malgun Gothic" pitchFamily="34" charset="-120"/>
              </a:rPr>
              <a:t>cycle을 세지 않고 counters만 냅니다. words_executed와 DMA cells는 정적 해독과 대조하지만 latency로 바꾸지 않습니다.</a:t>
            </a:r>
            <a:endParaRPr lang="en-US" sz="1200" dirty="0"/>
          </a:p>
        </p:txBody>
      </p:sp>
      <p:sp>
        <p:nvSpPr>
          <p:cNvPr id="134" name="Shape 130"/>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35" name="Text 131"/>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C-model의 성공은 기능 검증입니다. RTL 구조(256 lane 버퍼, VLEN tail, accumulator 상태)의 검증을 대신하지 않습니다.</a:t>
            </a:r>
            <a:endParaRPr lang="en-US" sz="1250" dirty="0"/>
          </a:p>
        </p:txBody>
      </p:sp>
      <p:sp>
        <p:nvSpPr>
          <p:cNvPr id="136" name="Text 132"/>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37" name="Text 133"/>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npu_generate.generate (cache_buckets, transitions), v09_runtime.run, _poc/mysim_v09.cpp 파일 규약</a:t>
            </a:r>
            <a:endParaRPr lang="en-US" sz="850" dirty="0"/>
          </a:p>
        </p:txBody>
      </p:sp>
      <p:sp>
        <p:nvSpPr>
          <p:cNvPr id="138" name="Text 134"/>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69 / 89</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한계 · 정리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Compile 시간은 어떻게 제어되는가: build 안의 cache, 예산, phase 계측</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compilation() context는 build 하나 동안 살아 있으며 nested 호출은 바깥 context를 재사용합니다. 모든 cache는 structural_hash로 찾고 structural_equal로 확인합니다.</a:t>
            </a:r>
            <a:endParaRPr lang="en-US" sz="125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6949440" cy="914400"/>
        </p:xfrm>
        <a:graphic>
          <a:graphicData uri="http://schemas.openxmlformats.org/drawingml/2006/table">
            <a:tbl>
              <a:tblPr/>
              <a:tblGrid>
                <a:gridCol w="1005840"/>
                <a:gridCol w="2743200"/>
                <a:gridCol w="2103120"/>
                <a:gridCol w="1097280"/>
              </a:tblGrid>
              <a:tr h="475488">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cache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키</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재사용 대상</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Llama 기록 (hit / miss)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7548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recipe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PrimFunc 구조 hash (symbol/op_pattern 제외) + profile(sram_bytes·탐색 설정 포함, joint/beam/graph 시간 제외) + scratch/slot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커널의 schedule + SRAM layout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272 / 383</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7548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trial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(tile, reuse_sram, scratch, slot, stripe, mapping, tile_pad, capture)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후보 측정 결과 (실패 포함), 용량은 키 밖</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184 / 248</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7548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probe (cost)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SRAM binding, scratch, 상수, native mode, DRAM 주소 mod 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비용만; 승자는 실제 주소로 재emit·검증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294 / 270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7548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region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fusion 영역의 entry identity (param 이름 제외)</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FuseOps 영역 unfused/fused 비용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0 / 40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7548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EntryCache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entry identity: private GlobalVar 이름 정규화, npu.repeated_gemv/op_pattern 제거한 module hash</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graph 후보 사이 linked entry 전체 (LRU 256 MiB / 32)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0 / 3</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141" name="Table 1"/>
          <p:cNvGraphicFramePr>
            <a:graphicFrameLocks noGrp="1"/>
          </p:cNvGraphicFramePr>
          <p:nvPr>
            <p:extLst>
              <p:ext uri="{D42A27DB-BD31-4B8C-83A1-F6EECF244321}">
                <p14:modId xmlns:p14="http://schemas.microsoft.com/office/powerpoint/2010/main" val="1579011935"/>
              </p:ext>
            </p:extLst>
          </p:nvPr>
        </p:nvGraphicFramePr>
        <p:xfrm>
          <a:off x="7635240" y="1417320"/>
          <a:ext cx="4096512" cy="914400"/>
        </p:xfrm>
        <a:graphic>
          <a:graphicData uri="http://schemas.openxmlformats.org/drawingml/2006/table">
            <a:tbl>
              <a:tblPr/>
              <a:tblGrid>
                <a:gridCol w="1920240"/>
                <a:gridCol w="2176272"/>
              </a:tblGrid>
              <a:tr h="292608">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예산 / 제어</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값</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graph_search_seconds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기본 120 / E10 None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schedule_max_attempts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기본 64 / E10 128</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schedule_space_trials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기본 8 / E10 16 legal 목표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schedule_probe_word_budget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max(설정, 기준 words × legal 목표) / E10 10억</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schedule_search / seed</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space (기본) · meta_schedule = ReplayFunc 추첨, seed 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schedule_database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선택형 trace DB (reuse / tune). E10 미사용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early abort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entry 하나가 incumbent보다 나쁘면 후보 중단</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joint memory</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baseline보다 싸야 채택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4434840"/>
            <a:ext cx="548640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progress 이벤트와 phase</a:t>
            </a:r>
            <a:endParaRPr lang="en-US" sz="1050" dirty="0"/>
          </a:p>
        </p:txBody>
      </p:sp>
      <p:sp>
        <p:nvSpPr>
          <p:cNvPr id="8" name="Text 4"/>
          <p:cNvSpPr txBox="1"/>
          <p:nvPr/>
        </p:nvSpPr>
        <p:spPr>
          <a:xfrm>
            <a:off x="457200" y="4709160"/>
            <a:ext cx="6949440" cy="1097280"/>
          </a:xfrm>
          <a:prstGeom prst="rect">
            <a:avLst/>
          </a:prstGeom>
          <a:noFill/>
          <a:ln/>
        </p:spPr>
        <p:txBody>
          <a:bodyPr wrap="square" lIns="0" tIns="0" rIns="0" bIns="0" rtlCol="0" anchor="t"/>
          <a:lstStyle/>
          <a:p>
            <a:pPr algn="l" marL="152400" indent="-152400">
              <a:spcAft>
                <a:spcPts val="300"/>
              </a:spcAft>
              <a:buSzPct val="100000"/>
              <a:buChar char="•"/>
            </a:pPr>
            <a:r>
              <a:rPr lang="en-US" sz="900" b="1" dirty="0">
                <a:solidFill>
                  <a:srgbClr val="1F2D3D"/>
                </a:solidFill>
                <a:latin typeface="Malgun Gothic" pitchFamily="34" charset="0"/>
                <a:ea typeface="Malgun Gothic" pitchFamily="34" charset="-122"/>
                <a:cs typeface="Malgun Gothic" pitchFamily="34" charset="-120"/>
              </a:rPr>
              <a:t>이벤트: </a:t>
            </a:r>
            <a:pPr algn="l" indent="0" marL="0">
              <a:spcAft>
                <a:spcPts val="300"/>
              </a:spcAft>
              <a:buNone/>
            </a:pPr>
            <a:r>
              <a:rPr lang="en-US" sz="900" dirty="0">
                <a:solidFill>
                  <a:srgbClr val="1F2D3D"/>
                </a:solidFill>
                <a:latin typeface="Malgun Gothic" pitchFamily="34" charset="0"/>
                <a:ea typeface="Malgun Gothic" pitchFamily="34" charset="-122"/>
                <a:cs typeface="Malgun Gothic" pitchFamily="34" charset="-120"/>
              </a:rPr>
              <a:t>phase_begin/end(seconds), optimization_budget_started, candidate_begin/end(status: duplicate/legal/noncompetitive/unsupported/budget_exhausted), entry_compiled/entry_reused</a:t>
            </a:r>
            <a:endParaRPr lang="en-US" sz="900" dirty="0"/>
          </a:p>
          <a:p>
            <a:pPr algn="l" marL="152400" indent="-152400">
              <a:spcAft>
                <a:spcPts val="300"/>
              </a:spcAft>
              <a:buSzPct val="100000"/>
              <a:buChar char="•"/>
            </a:pPr>
            <a:r>
              <a:rPr lang="en-US" sz="900" b="1" dirty="0">
                <a:solidFill>
                  <a:srgbClr val="1F2D3D"/>
                </a:solidFill>
                <a:latin typeface="Malgun Gothic" pitchFamily="34" charset="0"/>
                <a:ea typeface="Malgun Gothic" pitchFamily="34" charset="-122"/>
                <a:cs typeface="Malgun Gothic" pitchFamily="34" charset="-120"/>
              </a:rPr>
              <a:t>phase: </a:t>
            </a:r>
            <a:pPr algn="l" indent="0" marL="0">
              <a:spcAft>
                <a:spcPts val="300"/>
              </a:spcAft>
              <a:buNone/>
            </a:pPr>
            <a:r>
              <a:rPr lang="en-US" sz="900" dirty="0">
                <a:solidFill>
                  <a:srgbClr val="1F2D3D"/>
                </a:solidFill>
                <a:latin typeface="Malgun Gothic" pitchFamily="34" charset="0"/>
                <a:ea typeface="Malgun Gothic" pitchFamily="34" charset="-122"/>
                <a:cs typeface="Malgun Gothic" pitchFamily="34" charset="-120"/>
              </a:rPr>
              <a:t>schedule_and_sram, schedule_tir, schedule_sram, schedule_probe_*, entry_identity/compile/statistics, memory_planning, joint_schedule_memory, native_codegen, residency, peephole, dram_compaction, fusion_regions, program_cost, meta_schedule_replay / generate / extract_tasks (DB·ReplayFunc 사용 시)</a:t>
            </a:r>
            <a:endParaRPr lang="en-US" sz="900" dirty="0"/>
          </a:p>
          <a:p>
            <a:pPr algn="l" marL="152400" indent="-152400">
              <a:spcAft>
                <a:spcPts val="300"/>
              </a:spcAft>
              <a:buSzPct val="100000"/>
              <a:buChar char="•"/>
            </a:pPr>
            <a:r>
              <a:rPr lang="en-US" sz="900" b="1" dirty="0">
                <a:solidFill>
                  <a:srgbClr val="1F2D3D"/>
                </a:solidFill>
                <a:latin typeface="Malgun Gothic" pitchFamily="34" charset="0"/>
                <a:ea typeface="Malgun Gothic" pitchFamily="34" charset="-122"/>
                <a:cs typeface="Malgun Gothic" pitchFamily="34" charset="-120"/>
              </a:rPr>
              <a:t>describe(): </a:t>
            </a:r>
            <a:pPr algn="l" indent="0" marL="0">
              <a:spcAft>
                <a:spcPts val="300"/>
              </a:spcAft>
              <a:buNone/>
            </a:pPr>
            <a:r>
              <a:rPr lang="en-US" sz="900" dirty="0">
                <a:solidFill>
                  <a:srgbClr val="1F2D3D"/>
                </a:solidFill>
                <a:latin typeface="Malgun Gothic" pitchFamily="34" charset="0"/>
                <a:ea typeface="Malgun Gothic" pitchFamily="34" charset="-122"/>
                <a:cs typeface="Malgun Gothic" pitchFamily="34" charset="-120"/>
              </a:rPr>
              <a:t>hit/miss, inclusive·self seconds, 호출 수, native fallbacks/rejections, meta_schedule(enabled/mode/hits/misses/writes/rejections) → plan.compilation (bundle에 기록)</a:t>
            </a:r>
            <a:endParaRPr lang="en-US" sz="900" dirty="0"/>
          </a:p>
        </p:txBody>
      </p:sp>
      <p:sp>
        <p:nvSpPr>
          <p:cNvPr id="9" name="Shape 5"/>
          <p:cNvSpPr/>
          <p:nvPr/>
        </p:nvSpPr>
        <p:spPr>
          <a:xfrm>
            <a:off x="7635240" y="4434840"/>
            <a:ext cx="4096512" cy="1371600"/>
          </a:xfrm>
          <a:prstGeom prst="roundRect">
            <a:avLst>
              <a:gd name="adj" fmla="val 4000"/>
            </a:avLst>
          </a:prstGeom>
          <a:solidFill>
            <a:srgbClr val="FFF6DB"/>
          </a:solidFill>
          <a:ln w="12700">
            <a:solidFill>
              <a:srgbClr val="B7791F"/>
            </a:solidFill>
            <a:prstDash val="solid"/>
          </a:ln>
        </p:spPr>
      </p:sp>
      <p:sp>
        <p:nvSpPr>
          <p:cNvPr id="10" name="Text 6"/>
          <p:cNvSpPr txBox="1"/>
          <p:nvPr/>
        </p:nvSpPr>
        <p:spPr>
          <a:xfrm>
            <a:off x="7763256" y="4489704"/>
            <a:ext cx="3840480" cy="126187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Shape만 같으면 같은 결과로 취급하는 cache가 아닙니다. </a:t>
            </a:r>
            <a:pPr algn="l" indent="0" marL="0">
              <a:buNone/>
            </a:pPr>
            <a:r>
              <a:rPr lang="en-US" sz="950" dirty="0">
                <a:solidFill>
                  <a:srgbClr val="1F2D3D"/>
                </a:solidFill>
                <a:latin typeface="Malgun Gothic" pitchFamily="34" charset="0"/>
                <a:ea typeface="Malgun Gothic" pitchFamily="34" charset="-122"/>
                <a:cs typeface="Malgun Gothic" pitchFamily="34" charset="-120"/>
              </a:rPr>
              <a:t>구조·profile·입출력 배치가 키에 들어가고, 반복 layer에서도 실제 weight 주소가 들어간 명령은 호출별로 확인합니다.</a:t>
            </a:r>
            <a:endParaRPr lang="en-US" sz="1200" dirty="0"/>
          </a:p>
        </p:txBody>
      </p:sp>
      <p:sp>
        <p:nvSpPr>
          <p:cNvPr id="11" name="Text 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2" name="Text 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npu_compiler/npu_compilation.py (recipe, trial, probe, region_cost, EntryCache, optimization_budget, phase, describe)</a:t>
            </a:r>
            <a:endParaRPr lang="en-US" sz="850" dirty="0"/>
          </a:p>
        </p:txBody>
      </p:sp>
      <p:sp>
        <p:nvSpPr>
          <p:cNvPr id="13" name="Text 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70 / 89</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한계 · 정리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실험 근거의 세 수준과 서로 다른 지표</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모든 숫자를 하나의 성능 점수로 합치지 않습니다. 컴파일 시간, 장치가 요청한 전송량, 명령 크기, 저장 공간, 수치 결과를 따로 측정합니다.</a:t>
            </a:r>
            <a:endParaRPr lang="en-US" sz="125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1554480"/>
                <a:gridCol w="4023360"/>
                <a:gridCol w="3474720"/>
                <a:gridCol w="2221992"/>
              </a:tblGrid>
              <a:tr h="457200">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표시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의미</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이 발표의 예</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source hash</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5720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새 실행 검증</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이번 문서 작업에서 현재 소스로 작은 입력을 실제 실행 (C-model + LLVM)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E1 pipeline (fusion off/auto), E2 SRAM 용량 5구성</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44694fc6…</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보존된 실행 검증</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기존 실행 로그·JSON·source hash를 그대로 보존</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E3 두 matmul 전후, E6 전체 Llama 3 tokens, E7 회귀 gate 17 suites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44694fc6… (E3는 42843f7e…)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정적 분석 / 단일 측정</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명령·배치 분석 또는 한 번의 compile wall time (executed=false)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E4 실제 폭 MLP, E5 compile 시간 비교</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7d13cfd9… 등 (개선 단계별로 다름)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143" name="Table 1"/>
          <p:cNvGraphicFramePr>
            <a:graphicFrameLocks noGrp="1"/>
          </p:cNvGraphicFramePr>
          <p:nvPr>
            <p:extLst>
              <p:ext uri="{D42A27DB-BD31-4B8C-83A1-F6EECF244321}">
                <p14:modId xmlns:p14="http://schemas.microsoft.com/office/powerpoint/2010/main" val="1579011935"/>
              </p:ext>
            </p:extLst>
          </p:nvPr>
        </p:nvGraphicFramePr>
        <p:xfrm>
          <a:off x="457200" y="3383280"/>
          <a:ext cx="6766560" cy="914400"/>
        </p:xfrm>
        <a:graphic>
          <a:graphicData uri="http://schemas.openxmlformats.org/drawingml/2006/table">
            <a:tbl>
              <a:tblPr/>
              <a:tblGrid>
                <a:gridCol w="1280160"/>
                <a:gridCol w="3291840"/>
                <a:gridCol w="2194560"/>
              </a:tblGrid>
              <a:tr h="365760">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지표</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뜻</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무엇이 아닌가</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6576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DMA bytes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정적 명령 해독의 GLOAD/GSTORE 이동량 (C-model counters와 대조)</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host patch, simulator 파일 I/O</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ISA words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32-bit 명령 저장 공간</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실행 cycle, 명령 수(instructions)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SRAM peak</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커널 top의 최댓값 (pool + scratch + buffers)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살아 있는 값 크기의 합</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DRAM image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plan.top × unit_bytes (weight + 입력 + 중간 pool + 출력)</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DMA 전송량 (우연히 같을 수 있음)</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compile seconds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단일 wall-clock 관측 (다른 작업과 동시 실행 가능)</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반복 평균, cold compile 보장</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214" name="Table 2"/>
          <p:cNvGraphicFramePr>
            <a:graphicFrameLocks noGrp="1"/>
          </p:cNvGraphicFramePr>
          <p:nvPr>
            <p:extLst>
              <p:ext uri="{D42A27DB-BD31-4B8C-83A1-F6EECF244321}">
                <p14:modId xmlns:p14="http://schemas.microsoft.com/office/powerpoint/2010/main" val="1579011935"/>
              </p:ext>
            </p:extLst>
          </p:nvPr>
        </p:nvGraphicFramePr>
        <p:xfrm>
          <a:off x="7452360" y="3383280"/>
          <a:ext cx="4279392" cy="914400"/>
        </p:xfrm>
        <a:graphic>
          <a:graphicData uri="http://schemas.openxmlformats.org/drawingml/2006/table">
            <a:tbl>
              <a:tblPr/>
              <a:tblGrid>
                <a:gridCol w="2011680"/>
                <a:gridCol w="2267712"/>
              </a:tblGrid>
              <a:tr h="256032">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provenance 기록 항목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56032">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compiler_source_sha256</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모든 .py/.cc/.h</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56032">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tvm_version / commit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0.19.0 / c4dc0c29</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llvm_version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18.1.8</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56032">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native_sha256</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libnpu_codegen.so</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cmodel_source_sha256</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_poc/mysim_v09.cpp</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56032">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contract_sha256</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v09_contract.json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python / numpy / torch</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3.11.15 / 2.4.6 / 2.12.0+cpu</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8" name="Shape 3"/>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9" name="Text 4"/>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ISA words나 simulator wall time으로 하드웨어 latency를 주장하지 않습니다. 실장치 timing이 없을 때는 words/DMA 감소까지만 말합니다.</a:t>
            </a:r>
            <a:endParaRPr lang="en-US" sz="1250" dirty="0"/>
          </a:p>
        </p:txBody>
      </p:sp>
      <p:sp>
        <p:nvSpPr>
          <p:cNvPr id="10" name="Text 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1" name="Text 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docs/current/11_experiments.md, docs/evidence/README.md, examples/reproduction.json</a:t>
            </a:r>
            <a:endParaRPr lang="en-US" sz="850" dirty="0"/>
          </a:p>
        </p:txBody>
      </p:sp>
      <p:sp>
        <p:nvSpPr>
          <p:cNvPr id="12" name="Text 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71 / 89</a:t>
            </a:r>
            <a:endParaRPr lang="en-US" sz="8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한계 · 정리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E1. Fusion은 DMA가 같아도 명령과 작업 공간을 줄일 수 있다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SiLU(X[64,128] @ W[64,128].T + bias[64]), seed 914, FP16. 현재 public build로 fusion off/auto를 각각 컴파일해 같은 값으로 C-model을 실행했습니다. 두 구성 모두 SRAM 전달 기능을 사용합니다.</a:t>
            </a:r>
            <a:endParaRPr lang="en-US" sz="1250" dirty="0"/>
          </a:p>
        </p:txBody>
      </p:sp>
      <p:graphicFrame>
        <p:nvGraphicFramePr>
          <p:cNvPr id="5" name="Chart 0" descr=""/>
          <p:cNvGraphicFramePr/>
          <p:nvPr/>
        </p:nvGraphicFramePr>
        <p:xfrm>
          <a:off x="457200" y="1371600"/>
          <a:ext cx="365760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251960" y="1371600"/>
          <a:ext cx="3657600" cy="237744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8046720" y="1371600"/>
          <a:ext cx="3657600" cy="2377440"/>
        </p:xfrm>
        <a:graphic xmlns:a="http://schemas.openxmlformats.org/drawingml/2006/main">
          <a:graphicData uri="http://schemas.openxmlformats.org/drawingml/2006/chart">
            <c:chart xmlns:c="http://schemas.openxmlformats.org/drawingml/2006/chart" r:id="rId3"/>
          </a:graphicData>
        </a:graphic>
      </p:graphicFrame>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7200" y="3931920"/>
          <a:ext cx="6766560" cy="914400"/>
        </p:xfrm>
        <a:graphic>
          <a:graphicData uri="http://schemas.openxmlformats.org/drawingml/2006/table">
            <a:tbl>
              <a:tblPr/>
              <a:tblGrid>
                <a:gridCol w="1463040"/>
                <a:gridCol w="1645920"/>
                <a:gridCol w="1097280"/>
                <a:gridCol w="1097280"/>
                <a:gridCol w="1463040"/>
              </a:tblGrid>
              <a:tr h="32918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off의 커널별 words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matmul 43</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add 391</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silu 2,373</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합 2,812 (+ 상수 GLOAD 4 + HALT 1)</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auto</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fused_matmul_add_silu 1,572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합 1,577</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C-model counters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gload 4, gstore 1</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loads 644 → 388</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saves 449 → 258</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vector_ops 512 → 288, matrix_ops 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graphicFrame>
        <p:nvGraphicFramePr>
          <p:cNvPr id="145" name="Table 1"/>
          <p:cNvGraphicFramePr>
            <a:graphicFrameLocks noGrp="1"/>
          </p:cNvGraphicFramePr>
          <p:nvPr>
            <p:extLst>
              <p:ext uri="{D42A27DB-BD31-4B8C-83A1-F6EECF244321}">
                <p14:modId xmlns:p14="http://schemas.microsoft.com/office/powerpoint/2010/main" val="1579011935"/>
              </p:ext>
            </p:extLst>
          </p:nvPr>
        </p:nvGraphicFramePr>
        <p:xfrm>
          <a:off x="7452360" y="3931920"/>
          <a:ext cx="4279392" cy="914400"/>
        </p:xfrm>
        <a:graphic>
          <a:graphicData uri="http://schemas.openxmlformats.org/drawingml/2006/table">
            <a:tbl>
              <a:tblPr/>
              <a:tblGrid>
                <a:gridCol w="2194560"/>
                <a:gridCol w="2084832"/>
              </a:tblGrid>
              <a:tr h="27432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검증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결과</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fused vs unfused FP16 출력</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bit-exact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LLVM reference (K=64 grouping)</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최대 절대차 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DMA counters vs 정적 해독</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일치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compile seconds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off 1.09, auto 1.51 (단일 관측)</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10" name="Shape 3"/>
          <p:cNvSpPr/>
          <p:nvPr/>
        </p:nvSpPr>
        <p:spPr>
          <a:xfrm>
            <a:off x="457200" y="5074920"/>
            <a:ext cx="11274552" cy="731520"/>
          </a:xfrm>
          <a:prstGeom prst="roundRect">
            <a:avLst>
              <a:gd name="adj" fmla="val 7500"/>
            </a:avLst>
          </a:prstGeom>
          <a:solidFill>
            <a:srgbClr val="EEF2F6"/>
          </a:solidFill>
          <a:ln w="12700">
            <a:solidFill>
              <a:srgbClr val="C9D3DF"/>
            </a:solidFill>
            <a:prstDash val="solid"/>
          </a:ln>
        </p:spPr>
      </p:sp>
      <p:sp>
        <p:nvSpPr>
          <p:cNvPr id="11" name="Text 4"/>
          <p:cNvSpPr txBox="1"/>
          <p:nvPr/>
        </p:nvSpPr>
        <p:spPr>
          <a:xfrm>
            <a:off x="585216" y="5129784"/>
            <a:ext cx="11018520" cy="62179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왜 words가 줄었나: </a:t>
            </a:r>
            <a:pPr algn="l" indent="0" marL="0">
              <a:buNone/>
            </a:pPr>
            <a:r>
              <a:rPr lang="en-US" sz="1000" dirty="0">
                <a:solidFill>
                  <a:srgbClr val="1F2D3D"/>
                </a:solidFill>
                <a:latin typeface="Malgun Gothic" pitchFamily="34" charset="0"/>
                <a:ea typeface="Malgun Gothic" pitchFamily="34" charset="-122"/>
                <a:cs typeface="Malgun Gothic" pitchFamily="34" charset="-120"/>
              </a:rPr>
              <a:t>add·SiLU가 같은 SRAM tile에서 이어져 descriptor 설정(0x80 1,171→606)과 LOAD/SAVE(644/449→388/258)가 줄고, 축 결합으로 vector 행이 64→128 폭이 되어 명령 수가 절반(0x16/0x0f 64→32)이 되었습니다. DMA는 입력·출력이 그대로라 같습니다.</a:t>
            </a:r>
            <a:endParaRPr lang="en-US" sz="1200" dirty="0"/>
          </a:p>
        </p:txBody>
      </p:sp>
      <p:sp>
        <p:nvSpPr>
          <p:cNvPr id="12" name="Shape 5"/>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3" name="Text 6"/>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전송량은 같아도 명령과 작업 공간이 줄어드는 사례입니다. 이득의 형태는 예제마다 다르므로 실제 비용으로 확인합니다.</a:t>
            </a:r>
            <a:endParaRPr lang="en-US" sz="1250" dirty="0"/>
          </a:p>
        </p:txBody>
      </p:sp>
      <p:sp>
        <p:nvSpPr>
          <p:cNvPr id="14" name="Text 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5" name="Text 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docs/examples/pipeline/stage_summary.json (새 실행 검증)</a:t>
            </a:r>
            <a:endParaRPr lang="en-US" sz="850" dirty="0"/>
          </a:p>
        </p:txBody>
      </p:sp>
      <p:sp>
        <p:nvSpPr>
          <p:cNvPr id="16" name="Text 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72 / 89</a:t>
            </a:r>
            <a:endParaRPr lang="en-US" sz="8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한계 · 정리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E2. SRAM을 늘리면 언제 중간 DRAM 왕복이 사라지는가</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X[64,64] @ W1[64,128] @ W2[128,64], seed 928, fusion off. 보관 탐색 옵션과 SRAM 용량만 바꾸어 5개 구성을 실제 실행했습니다. 모든 구성이 같은 FP16 출력이며 DMA counters가 일치했습니다.</a:t>
            </a:r>
            <a:endParaRPr lang="en-US" sz="1250" dirty="0"/>
          </a:p>
        </p:txBody>
      </p:sp>
      <p:graphicFrame>
        <p:nvGraphicFramePr>
          <p:cNvPr id="5" name="Chart 0" descr=""/>
          <p:cNvGraphicFramePr/>
          <p:nvPr/>
        </p:nvGraphicFramePr>
        <p:xfrm>
          <a:off x="457200" y="1371600"/>
          <a:ext cx="557784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72200" y="1371600"/>
          <a:ext cx="5559552" cy="2743200"/>
        </p:xfrm>
        <a:graphic xmlns:a="http://schemas.openxmlformats.org/drawingml/2006/main">
          <a:graphicData uri="http://schemas.openxmlformats.org/drawingml/2006/chart">
            <c:chart xmlns:c="http://schemas.openxmlformats.org/drawingml/2006/chart" r:id="rId2"/>
          </a:graphicData>
        </a:graphic>
      </p:graphicFrame>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457200" y="4251960"/>
          <a:ext cx="11274552" cy="914400"/>
        </p:xfrm>
        <a:graphic>
          <a:graphicData uri="http://schemas.openxmlformats.org/drawingml/2006/table">
            <a:tbl>
              <a:tblPr/>
              <a:tblGrid>
                <a:gridCol w="914400"/>
                <a:gridCol w="1920240"/>
                <a:gridCol w="1097280"/>
                <a:gridCol w="731520"/>
                <a:gridCol w="1280160"/>
                <a:gridCol w="1188720"/>
                <a:gridCol w="4142232"/>
              </a:tblGrid>
              <a:tr h="246888">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SRAM 용량</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whole-tensor 보관 탐색</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80" b="1" dirty="0">
                          <a:solidFill>
                            <a:srgbClr val="FFFFFF"/>
                          </a:solidFill>
                          <a:latin typeface="Malgun Gothic" pitchFamily="34" charset="0"/>
                          <a:ea typeface="Malgun Gothic" pitchFamily="34" charset="-122"/>
                          <a:cs typeface="Malgun Gothic" pitchFamily="34" charset="-120"/>
                        </a:rPr>
                        <a:t>DMA bytes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80" b="1" dirty="0">
                          <a:solidFill>
                            <a:srgbClr val="FFFFFF"/>
                          </a:solidFill>
                          <a:latin typeface="Malgun Gothic" pitchFamily="34" charset="0"/>
                          <a:ea typeface="Malgun Gothic" pitchFamily="34" charset="-122"/>
                          <a:cs typeface="Malgun Gothic" pitchFamily="34" charset="-120"/>
                        </a:rPr>
                        <a:t>words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80" b="1" dirty="0">
                          <a:solidFill>
                            <a:srgbClr val="FFFFFF"/>
                          </a:solidFill>
                          <a:latin typeface="Malgun Gothic" pitchFamily="34" charset="0"/>
                          <a:ea typeface="Malgun Gothic" pitchFamily="34" charset="-122"/>
                          <a:cs typeface="Malgun Gothic" pitchFamily="34" charset="-120"/>
                        </a:rPr>
                        <a:t>실제 SRAM peak</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80" b="1" dirty="0">
                          <a:solidFill>
                            <a:srgbClr val="FFFFFF"/>
                          </a:solidFill>
                          <a:latin typeface="Malgun Gothic" pitchFamily="34" charset="0"/>
                          <a:ea typeface="Malgun Gothic" pitchFamily="34" charset="-122"/>
                          <a:cs typeface="Malgun Gothic" pitchFamily="34" charset="-120"/>
                        </a:rPr>
                        <a:t>DRAM image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해석</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46888">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32 KiB</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off</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81,932</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88</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26,124</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65,548</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H를 DRAM에 저장·재읽기</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46888">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32 KiB</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on</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81,932</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88</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26,124</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65,548</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보관 불가: 첫 matmul이 들어가지 않음 → 동일 선택</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46888">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44 KiB</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off</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81,932</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87</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34,316</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65,548</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후단 residency/peephole만</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46888">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44 KiB</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on</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49,164</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77</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42,508</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49,164</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H 32,768 B 왕복 제거, DRAM pool 제거</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46888">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64 KiB</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on</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49,164</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77</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42,508</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49,164</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추가 이득 없음</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8" name="Shape 3"/>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9" name="Text 4"/>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"SRAM을 최대한 채우기"보다 실제 재사용과 작업 공간의 관계가 중요합니다. 용량이 문턱을 넘는 순간에만 왕복이 사라집니다.</a:t>
            </a:r>
            <a:endParaRPr lang="en-US" sz="1250" dirty="0"/>
          </a:p>
        </p:txBody>
      </p:sp>
      <p:sp>
        <p:nvSpPr>
          <p:cNvPr id="10" name="Text 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1" name="Text 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docs/examples/memory/measurements.json (새 실행 검증)</a:t>
            </a:r>
            <a:endParaRPr lang="en-US" sz="850" dirty="0"/>
          </a:p>
        </p:txBody>
      </p:sp>
      <p:sp>
        <p:nvSpPr>
          <p:cNvPr id="12" name="Text 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73 / 89</a:t>
            </a:r>
            <a:endParaRPr lang="en-US" sz="8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한계 · 정리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E3 · E4. 직접 SRAM 출력과 미사용 DRAM 제거: 작은 예제와 실제 폭 MLP</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E3는 44 KiB 두 matmul에서 이미 SRAM 보관을 사용하는 상태로 pointwise 결합·출력 직접 저장·미사용 DRAM 제거를 비활성/활성한 보존 비교. E4는 M=64 실제 폭 MLP의 정적 compile 기록(executed=false).</a:t>
            </a:r>
            <a:endParaRPr lang="en-US" sz="1250" dirty="0"/>
          </a:p>
        </p:txBody>
      </p:sp>
      <p:sp>
        <p:nvSpPr>
          <p:cNvPr id="5" name="Text 3"/>
          <p:cNvSpPr txBox="1"/>
          <p:nvPr/>
        </p:nvSpPr>
        <p:spPr>
          <a:xfrm>
            <a:off x="45720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E3. 44 KiB 두 matmul (보존, 실행 bit-exact)</a:t>
            </a:r>
            <a:endParaRPr lang="en-US" sz="11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486400" cy="914400"/>
        </p:xfrm>
        <a:graphic>
          <a:graphicData uri="http://schemas.openxmlformats.org/drawingml/2006/table">
            <a:tbl>
              <a:tblPr/>
              <a:tblGrid>
                <a:gridCol w="2194560"/>
                <a:gridCol w="1645920"/>
                <a:gridCol w="1645920"/>
              </a:tblGrid>
              <a:tr h="292608">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개선 전</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개선 후</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ISA words</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85</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77</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DMA bytes</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49,164</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49,164</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SRAM peak bytes</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42,508</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42,508</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DRAM image bytes</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65,548</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49,164</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출력</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bit-exact</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7" name="Text 4"/>
          <p:cNvSpPr txBox="1"/>
          <p:nvPr/>
        </p:nvSpPr>
        <p:spPr>
          <a:xfrm>
            <a:off x="626364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E4. 실제 폭 MLP M=64 (정적 compile, executed=false)</a:t>
            </a:r>
            <a:endParaRPr lang="en-US" sz="1100" dirty="0"/>
          </a:p>
        </p:txBody>
      </p:sp>
      <p:graphicFrame>
        <p:nvGraphicFramePr>
          <p:cNvPr id="149" name="Table 1"/>
          <p:cNvGraphicFramePr>
            <a:graphicFrameLocks noGrp="1"/>
          </p:cNvGraphicFramePr>
          <p:nvPr>
            <p:extLst>
              <p:ext uri="{D42A27DB-BD31-4B8C-83A1-F6EECF244321}">
                <p14:modId xmlns:p14="http://schemas.microsoft.com/office/powerpoint/2010/main" val="1579011935"/>
              </p:ext>
            </p:extLst>
          </p:nvPr>
        </p:nvGraphicFramePr>
        <p:xfrm>
          <a:off x="6263640" y="1691640"/>
          <a:ext cx="5468112" cy="914400"/>
        </p:xfrm>
        <a:graphic>
          <a:graphicData uri="http://schemas.openxmlformats.org/drawingml/2006/table">
            <a:tbl>
              <a:tblPr/>
              <a:tblGrid>
                <a:gridCol w="2011680"/>
                <a:gridCol w="1737360"/>
                <a:gridCol w="1719072"/>
              </a:tblGrid>
              <a:tr h="292608">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개선 전</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개선 후</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선택 커널 수</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5</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5</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ISA words</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143,404</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140,594</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DMA bytes</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152,174,604</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152,174,604</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SRAM peak bytes</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7,446,540</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7,446,540</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DRAM image bytes</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154,927,116</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151,781,388</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9" name="Chart 0" descr=""/>
          <p:cNvGraphicFramePr/>
          <p:nvPr/>
        </p:nvGraphicFramePr>
        <p:xfrm>
          <a:off x="457200" y="3703320"/>
          <a:ext cx="5486400" cy="2103120"/>
        </p:xfrm>
        <a:graphic xmlns:a="http://schemas.openxmlformats.org/drawingml/2006/main">
          <a:graphicData uri="http://schemas.openxmlformats.org/drawingml/2006/chart">
            <c:chart xmlns:c="http://schemas.openxmlformats.org/drawingml/2006/chart" r:id="rId1"/>
          </a:graphicData>
        </a:graphic>
      </p:graphicFrame>
      <p:sp>
        <p:nvSpPr>
          <p:cNvPr id="10" name="Text 5"/>
          <p:cNvSpPr txBox="1"/>
          <p:nvPr/>
        </p:nvSpPr>
        <p:spPr>
          <a:xfrm>
            <a:off x="6263640" y="3703320"/>
            <a:ext cx="5468112" cy="2103120"/>
          </a:xfrm>
          <a:prstGeom prst="rect">
            <a:avLst/>
          </a:prstGeom>
          <a:noFill/>
          <a:ln/>
        </p:spPr>
        <p:txBody>
          <a:bodyPr wrap="square" lIns="0" tIns="0" rIns="0" bIns="0" rtlCol="0" anchor="t"/>
          <a:lstStyle/>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무엇이 바뀌었나: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pointwise 결합, 출력 tile 직접 저장(H view + stride), 미사용 DRAM pool 제거</a:t>
            </a:r>
            <a:endParaRPr lang="en-US" sz="950" dirty="0"/>
          </a:p>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E4의 3 MiB: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G/S/U/H가 같은 기본 pool을 재사용하므로 4 MiB가 아니라 3 MiB 제거</a:t>
            </a:r>
            <a:endParaRPr lang="en-US" sz="950" dirty="0"/>
          </a:p>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E4의 선택: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gate → SiLU → up → multiply → down 5커널 유지, 중간값은 SRAM 전달</a:t>
            </a:r>
            <a:endParaRPr lang="en-US" sz="950" dirty="0"/>
          </a:p>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혼동 주의: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E2의 87→77(보관 on/off)과 E3의 85→77(직접 저장·정리)은 다른 비교</a:t>
            </a:r>
            <a:endParaRPr lang="en-US" sz="950" dirty="0"/>
          </a:p>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fusion: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fused epilogue words를 줄였어도 최종 선택은 여전히 분리 커널 (커널 수가 아니라 비용으로 판단)</a:t>
            </a:r>
            <a:endParaRPr lang="en-US" sz="950" dirty="0"/>
          </a:p>
        </p:txBody>
      </p:sp>
      <p:sp>
        <p:nvSpPr>
          <p:cNvPr id="11" name="Shape 6"/>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2" name="Text 7"/>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DMA와 SRAM peak가 그대로여도 명령과 image가 줄어드는 개선이 있습니다. 지표를 따로 보아야 어떤 최적화가 무엇을 바꿨는지 알 수 있습니다.</a:t>
            </a:r>
            <a:endParaRPr lang="en-US" sz="1250" dirty="0"/>
          </a:p>
        </p:txBody>
      </p:sp>
      <p:sp>
        <p:nvSpPr>
          <p:cNvPr id="13" name="Text 8"/>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4" name="Text 9"/>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docs/evidence/current/refinement.json, mlp64.json, examples/two_matmuls_recorded/program.json</a:t>
            </a:r>
            <a:endParaRPr lang="en-US" sz="850" dirty="0"/>
          </a:p>
        </p:txBody>
      </p:sp>
      <p:sp>
        <p:nvSpPr>
          <p:cNvPr id="15" name="Text 10"/>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74 / 89</a:t>
            </a:r>
            <a:endParaRPr lang="en-US" sz="8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한계 · 정리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E5. Compile 속도 개선은 코드 품질을 바꾸지 않았다 (binary hash 동일)</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기존에 기록한 단일 wall-clock 관측값. 일부 측정 중 다른 검증도 실행됐습니다. 반복 평균이나 하드웨어 inference latency가 아닙니다.</a:t>
            </a:r>
            <a:endParaRPr lang="en-US" sz="1250" dirty="0"/>
          </a:p>
        </p:txBody>
      </p:sp>
      <p:graphicFrame>
        <p:nvGraphicFramePr>
          <p:cNvPr id="5" name="Chart 0" descr=""/>
          <p:cNvGraphicFramePr/>
          <p:nvPr/>
        </p:nvGraphicFramePr>
        <p:xfrm>
          <a:off x="457200" y="1371600"/>
          <a:ext cx="548640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72200" y="1371600"/>
          <a:ext cx="5559552" cy="2743200"/>
        </p:xfrm>
        <a:graphic xmlns:a="http://schemas.openxmlformats.org/drawingml/2006/main">
          <a:graphicData uri="http://schemas.openxmlformats.org/drawingml/2006/chart">
            <c:chart xmlns:c="http://schemas.openxmlformats.org/drawingml/2006/chart" r:id="rId2"/>
          </a:graphicData>
        </a:graphic>
      </p:graphicFrame>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457200" y="4251960"/>
          <a:ext cx="11274552" cy="914400"/>
        </p:xfrm>
        <a:graphic>
          <a:graphicData uri="http://schemas.openxmlformats.org/drawingml/2006/table">
            <a:tbl>
              <a:tblPr/>
              <a:tblGrid>
                <a:gridCol w="1828800"/>
                <a:gridCol w="1554480"/>
                <a:gridCol w="1188720"/>
                <a:gridCol w="1005840"/>
                <a:gridCol w="1005840"/>
                <a:gridCol w="1188720"/>
                <a:gridCol w="3502152"/>
              </a:tblGrid>
              <a:tr h="27432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label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shape (M, K, 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50" b="1" dirty="0">
                          <a:solidFill>
                            <a:srgbClr val="FFFFFF"/>
                          </a:solidFill>
                          <a:latin typeface="Malgun Gothic" pitchFamily="34" charset="0"/>
                          <a:ea typeface="Malgun Gothic" pitchFamily="34" charset="-122"/>
                          <a:cs typeface="Malgun Gothic" pitchFamily="34" charset="-120"/>
                        </a:rPr>
                        <a:t>seconds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50" b="1" dirty="0">
                          <a:solidFill>
                            <a:srgbClr val="FFFFFF"/>
                          </a:solidFill>
                          <a:latin typeface="Malgun Gothic" pitchFamily="34" charset="0"/>
                          <a:ea typeface="Malgun Gothic" pitchFamily="34" charset="-122"/>
                          <a:cs typeface="Malgun Gothic" pitchFamily="34" charset="-120"/>
                        </a:rPr>
                        <a:t>words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50" b="1" dirty="0">
                          <a:solidFill>
                            <a:srgbClr val="FFFFFF"/>
                          </a:solidFill>
                          <a:latin typeface="Malgun Gothic" pitchFamily="34" charset="0"/>
                          <a:ea typeface="Malgun Gothic" pitchFamily="34" charset="-122"/>
                          <a:cs typeface="Malgun Gothic" pitchFamily="34" charset="-120"/>
                        </a:rPr>
                        <a:t>trial misses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word sha256</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비고</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instrumented_mlp7</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7 × 3072 × 8192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84.163</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143,883</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347</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c63b82a2…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개선 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invalid_fast_mlp7</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7 × 3072 × 8192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35.570</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143,883</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347</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c63b82a2…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invalid accumulator schedule 중복 검사 제거</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bounded_mlp7</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7 × 3072 × 8192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22.073</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143,883</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112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c63b82a2…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실패 포함 시도 제한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unbounded / bounded_mlp64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64 × 3072 × 8192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21.791 / 21.958</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140,594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D3D"/>
                          </a:solidFill>
                          <a:latin typeface="Malgun Gothic" pitchFamily="34" charset="0"/>
                          <a:ea typeface="Malgun Gothic" pitchFamily="34" charset="-122"/>
                          <a:cs typeface="Malgun Gothic" pitchFamily="34" charset="-120"/>
                        </a:rPr>
                        <a:t>47 / 47</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ec55566f…</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제한이 작동하지 않은 경우 (시간 동일)</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8" name="Shape 3"/>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9" name="Text 4"/>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전체 build의 기본 120초는 최초 합법 module 이후의 추가 탐색 예산이며, 전체 검증의 948.99 s는 완료된 첫 entry를 재사용한 값이라 cold compile 시간이 아닙니다.</a:t>
            </a:r>
            <a:endParaRPr lang="en-US" sz="1250" dirty="0"/>
          </a:p>
        </p:txBody>
      </p:sp>
      <p:sp>
        <p:nvSpPr>
          <p:cNvPr id="10" name="Text 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1" name="Text 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docs/evidence/current/compile_comparison.json</a:t>
            </a:r>
            <a:endParaRPr lang="en-US" sz="850" dirty="0"/>
          </a:p>
        </p:txBody>
      </p:sp>
      <p:sp>
        <p:nvSpPr>
          <p:cNvPr id="12" name="Text 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75 / 89</a:t>
            </a:r>
            <a:endParaRPr lang="en-US" sz="8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한계 · 정리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E6. 전체 Llama 3.2 3B 출력 검증과 프로그램 규모</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FP16, 28 layers, prompt 7 tokens, capacity 9, greedy 3 tokens. HF와 argmax가 모두 일치하고 logits cosine ≥ 0.99999입니다.</a:t>
            </a:r>
            <a:endParaRPr lang="en-US" sz="125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6035040" cy="914400"/>
        </p:xfrm>
        <a:graphic>
          <a:graphicData uri="http://schemas.openxmlformats.org/drawingml/2006/table">
            <a:tbl>
              <a:tblPr/>
              <a:tblGrid>
                <a:gridCol w="1645920"/>
                <a:gridCol w="1463040"/>
                <a:gridCol w="1554480"/>
                <a:gridCol w="1371600"/>
              </a:tblGrid>
              <a:tr h="310896">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실행</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HF와 같은 argmax</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logits cosine</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최대 절대차</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prefill</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358</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0.9999977148</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0.03515625</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decode position 7</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2846</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0.9999958473</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0.02343750</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1F2D3D"/>
                          </a:solidFill>
                          <a:latin typeface="Malgun Gothic" pitchFamily="34" charset="0"/>
                          <a:ea typeface="Malgun Gothic" pitchFamily="34" charset="-122"/>
                          <a:cs typeface="Malgun Gothic" pitchFamily="34" charset="-120"/>
                        </a:rPr>
                        <a:t>decode position 8</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4560</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0.9999929546</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950" dirty="0">
                          <a:solidFill>
                            <a:srgbClr val="1F2D3D"/>
                          </a:solidFill>
                          <a:latin typeface="Malgun Gothic" pitchFamily="34" charset="0"/>
                          <a:ea typeface="Malgun Gothic" pitchFamily="34" charset="-122"/>
                          <a:cs typeface="Malgun Gothic" pitchFamily="34" charset="-120"/>
                        </a:rPr>
                        <a:t>0.03906250</a:t>
                      </a:r>
                      <a:endParaRPr lang="en-US" sz="9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153" name="Table 1"/>
          <p:cNvGraphicFramePr>
            <a:graphicFrameLocks noGrp="1"/>
          </p:cNvGraphicFramePr>
          <p:nvPr>
            <p:extLst>
              <p:ext uri="{D42A27DB-BD31-4B8C-83A1-F6EECF244321}">
                <p14:modId xmlns:p14="http://schemas.microsoft.com/office/powerpoint/2010/main" val="1579011935"/>
              </p:ext>
            </p:extLst>
          </p:nvPr>
        </p:nvGraphicFramePr>
        <p:xfrm>
          <a:off x="457200" y="2880360"/>
          <a:ext cx="6035040" cy="914400"/>
        </p:xfrm>
        <a:graphic>
          <a:graphicData uri="http://schemas.openxmlformats.org/drawingml/2006/table">
            <a:tbl>
              <a:tblPr/>
              <a:tblGrid>
                <a:gridCol w="1280160"/>
                <a:gridCol w="1005840"/>
                <a:gridCol w="1371600"/>
                <a:gridCol w="1097280"/>
                <a:gridCol w="1280160"/>
              </a:tblGrid>
              <a:tr h="310896">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기본 entry</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80" b="1" dirty="0">
                          <a:solidFill>
                            <a:srgbClr val="FFFFFF"/>
                          </a:solidFill>
                          <a:latin typeface="Malgun Gothic" pitchFamily="34" charset="0"/>
                          <a:ea typeface="Malgun Gothic" pitchFamily="34" charset="-122"/>
                          <a:cs typeface="Malgun Gothic" pitchFamily="34" charset="-120"/>
                        </a:rPr>
                        <a:t>words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80" b="1" dirty="0">
                          <a:solidFill>
                            <a:srgbClr val="FFFFFF"/>
                          </a:solidFill>
                          <a:latin typeface="Malgun Gothic" pitchFamily="34" charset="0"/>
                          <a:ea typeface="Malgun Gothic" pitchFamily="34" charset="-122"/>
                          <a:cs typeface="Malgun Gothic" pitchFamily="34" charset="-120"/>
                        </a:rPr>
                        <a:t>DMA bytes</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80" b="1" dirty="0">
                          <a:solidFill>
                            <a:srgbClr val="FFFFFF"/>
                          </a:solidFill>
                          <a:latin typeface="Malgun Gothic" pitchFamily="34" charset="0"/>
                          <a:ea typeface="Malgun Gothic" pitchFamily="34" charset="-122"/>
                          <a:cs typeface="Malgun Gothic" pitchFamily="34" charset="-120"/>
                        </a:rPr>
                        <a:t>SRAM peak</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80" b="1" dirty="0">
                          <a:solidFill>
                            <a:srgbClr val="FFFFFF"/>
                          </a:solidFill>
                          <a:latin typeface="Malgun Gothic" pitchFamily="34" charset="0"/>
                          <a:ea typeface="Malgun Gothic" pitchFamily="34" charset="-122"/>
                          <a:cs typeface="Malgun Gothic" pitchFamily="34" charset="-120"/>
                        </a:rPr>
                        <a:t>DRAM image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10896">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prefill_cache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8,582,352</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6,457,527,556</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8,374,292</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6,429,587,576</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10896">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decode (base)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7,310,801</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6,438,980,676</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7,342,100</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80" dirty="0">
                          <a:solidFill>
                            <a:srgbClr val="1F2D3D"/>
                          </a:solidFill>
                          <a:latin typeface="Malgun Gothic" pitchFamily="34" charset="0"/>
                          <a:ea typeface="Malgun Gothic" pitchFamily="34" charset="-122"/>
                          <a:cs typeface="Malgun Gothic" pitchFamily="34" charset="-120"/>
                        </a:rPr>
                        <a:t>6,427,349,032</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6720840" y="1371600"/>
            <a:ext cx="5029200" cy="274320"/>
          </a:xfrm>
          <a:prstGeom prst="rect">
            <a:avLst/>
          </a:prstGeom>
          <a:noFill/>
          <a:ln/>
        </p:spPr>
        <p:txBody>
          <a:bodyPr wrap="square" lIns="0" tIns="0" rIns="0" bIns="0" rtlCol="0" anchor="t"/>
          <a:lstStyle/>
          <a:p>
            <a:pPr algn="l" indent="0" marL="0">
              <a:buNone/>
            </a:pPr>
            <a:r>
              <a:rPr lang="en-US" sz="1050" b="1" dirty="0">
                <a:solidFill>
                  <a:srgbClr val="15243B"/>
                </a:solidFill>
                <a:latin typeface="Malgun Gothic" pitchFamily="34" charset="0"/>
                <a:ea typeface="Malgun Gothic" pitchFamily="34" charset="-122"/>
                <a:cs typeface="Malgun Gothic" pitchFamily="34" charset="-120"/>
              </a:rPr>
              <a:t>prefill_cache opcode 구성 (words 기준 상위)</a:t>
            </a:r>
            <a:endParaRPr lang="en-US" sz="1050" dirty="0"/>
          </a:p>
        </p:txBody>
      </p:sp>
      <p:graphicFrame>
        <p:nvGraphicFramePr>
          <p:cNvPr id="8" name="Chart 0" descr=""/>
          <p:cNvGraphicFramePr/>
          <p:nvPr/>
        </p:nvGraphicFramePr>
        <p:xfrm>
          <a:off x="6720840" y="1645920"/>
          <a:ext cx="5010912" cy="2834640"/>
        </p:xfrm>
        <a:graphic xmlns:a="http://schemas.openxmlformats.org/drawingml/2006/main">
          <a:graphicData uri="http://schemas.openxmlformats.org/drawingml/2006/chart">
            <c:chart xmlns:c="http://schemas.openxmlformats.org/drawingml/2006/chart" r:id="rId1"/>
          </a:graphicData>
        </a:graphic>
      </p:graphicFrame>
      <p:sp>
        <p:nvSpPr>
          <p:cNvPr id="9" name="Text 4"/>
          <p:cNvSpPr txBox="1"/>
          <p:nvPr/>
        </p:nvSpPr>
        <p:spPr>
          <a:xfrm>
            <a:off x="457200" y="3977640"/>
            <a:ext cx="6035040" cy="1737360"/>
          </a:xfrm>
          <a:prstGeom prst="rect">
            <a:avLst/>
          </a:prstGeom>
          <a:noFill/>
          <a:ln/>
        </p:spPr>
        <p:txBody>
          <a:bodyPr wrap="square" lIns="0" tIns="0" rIns="0" bIns="0" rtlCol="0" anchor="t"/>
          <a:lstStyle/>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DMA 6.46 GB의 구성: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weight 192 MiB × 28 layers + LM head 751.5 MiB ≈ 6.43 GB를 panel로 읽는 것이 대부분. 저장은 17.4 MB</a:t>
            </a:r>
            <a:endParaRPr lang="en-US" sz="950" dirty="0"/>
          </a:p>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words 8.58M: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주소 descriptor(0x80) 51%, LOAD 23%, M_MUL 787,008 (28 layers의 모든 matmul + LM head) 등 정적 전개</a:t>
            </a:r>
            <a:endParaRPr lang="en-US" sz="950" dirty="0"/>
          </a:p>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graph 탐색: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120 s 예산 소진 → unfused 기준 module. "모든 fusion이 더 나쁘다"의 증거 아님</a:t>
            </a:r>
            <a:endParaRPr lang="en-US" sz="950" dirty="0"/>
          </a:p>
          <a:p>
            <a:pPr algn="l" marL="152400" indent="-152400">
              <a:spcAft>
                <a:spcPts val="400"/>
              </a:spcAft>
              <a:buSzPct val="100000"/>
              <a:buChar char="•"/>
            </a:pPr>
            <a:r>
              <a:rPr lang="en-US" sz="950" b="1" dirty="0">
                <a:solidFill>
                  <a:srgbClr val="1F2D3D"/>
                </a:solidFill>
                <a:latin typeface="Malgun Gothic" pitchFamily="34" charset="0"/>
                <a:ea typeface="Malgun Gothic" pitchFamily="34" charset="-122"/>
                <a:cs typeface="Malgun Gothic" pitchFamily="34" charset="-120"/>
              </a:rPr>
              <a:t>decode 실행: </a:t>
            </a:r>
            <a:pPr algn="l" indent="0" marL="0">
              <a:spcAft>
                <a:spcPts val="400"/>
              </a:spcAft>
              <a:buNone/>
            </a:pPr>
            <a:r>
              <a:rPr lang="en-US" sz="950" dirty="0">
                <a:solidFill>
                  <a:srgbClr val="1F2D3D"/>
                </a:solidFill>
                <a:latin typeface="Malgun Gothic" pitchFamily="34" charset="0"/>
                <a:ea typeface="Malgun Gothic" pitchFamily="34" charset="-122"/>
                <a:cs typeface="Malgun Gothic" pitchFamily="34" charset="-120"/>
              </a:rPr>
              <a:t>base 통계 + append tail. 두 통계를 섞지 않음</a:t>
            </a:r>
            <a:endParaRPr lang="en-US" sz="950" dirty="0"/>
          </a:p>
        </p:txBody>
      </p:sp>
      <p:sp>
        <p:nvSpPr>
          <p:cNvPr id="10" name="Shape 5"/>
          <p:cNvSpPr/>
          <p:nvPr/>
        </p:nvSpPr>
        <p:spPr>
          <a:xfrm>
            <a:off x="6720840" y="4617720"/>
            <a:ext cx="5010912" cy="1188720"/>
          </a:xfrm>
          <a:prstGeom prst="roundRect">
            <a:avLst>
              <a:gd name="adj" fmla="val 4615"/>
            </a:avLst>
          </a:prstGeom>
          <a:solidFill>
            <a:srgbClr val="FFF6DB"/>
          </a:solidFill>
          <a:ln w="12700">
            <a:solidFill>
              <a:srgbClr val="B7791F"/>
            </a:solidFill>
            <a:prstDash val="solid"/>
          </a:ln>
        </p:spPr>
      </p:sp>
      <p:sp>
        <p:nvSpPr>
          <p:cNvPr id="11" name="Text 6"/>
          <p:cNvSpPr txBox="1"/>
          <p:nvPr/>
        </p:nvSpPr>
        <p:spPr>
          <a:xfrm>
            <a:off x="6848856" y="4672584"/>
            <a:ext cx="4754880" cy="107899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판정: </a:t>
            </a:r>
            <a:pPr algn="l" indent="0" marL="0">
              <a:buNone/>
            </a:pPr>
            <a:r>
              <a:rPr lang="en-US" sz="950" dirty="0">
                <a:solidFill>
                  <a:srgbClr val="1F2D3D"/>
                </a:solidFill>
                <a:latin typeface="Malgun Gothic" pitchFamily="34" charset="0"/>
                <a:ea typeface="Malgun Gothic" pitchFamily="34" charset="-122"/>
                <a:cs typeface="Malgun Gothic" pitchFamily="34" charset="-120"/>
              </a:rPr>
              <a:t>유한 logits, token 일치, cosine ≥ 0.999. 최대 절대차는 기록만 하고 threshold로 쓰지 않았습니다. 한 prompt의 짧은 greedy 생성이므로 긴 문맥·다양한 prompt·양자화 generation은 별도 검증 범위입니다.</a:t>
            </a:r>
            <a:endParaRPr lang="en-US" sz="1200" dirty="0"/>
          </a:p>
        </p:txBody>
      </p:sp>
      <p:sp>
        <p:nvSpPr>
          <p:cNvPr id="12" name="Shape 7"/>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3" name="Text 8"/>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수치 정확성(HF 대비)과 프로그램 비용(words/DMA/SRAM)은 별개의 표입니다. 두 표가 같은 source hash 44694fc6…를 가리킵니다.</a:t>
            </a:r>
            <a:endParaRPr lang="en-US" sz="1250" dirty="0"/>
          </a:p>
        </p:txBody>
      </p:sp>
      <p:sp>
        <p:nvSpPr>
          <p:cNvPr id="14" name="Text 9"/>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5" name="Text 10"/>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docs/evidence/current/llama_validation.json, llama_selection.json, completion.json</a:t>
            </a:r>
            <a:endParaRPr lang="en-US" sz="850" dirty="0"/>
          </a:p>
        </p:txBody>
      </p:sp>
      <p:sp>
        <p:nvSpPr>
          <p:cNvPr id="16" name="Text 11"/>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76 / 89</a:t>
            </a:r>
            <a:endParaRPr lang="en-US" sz="8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한계 · 정리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E7. 기능 검증 gate: 17개 suite가 확인하는 축</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기존 최종 gate는 17개 검사 묶음이 실패/skip 없이 완료되었습니다. 묶음 안에 여러 assertion이 있으므로 "17개 shape만 테스트했다"는 뜻이 아닙니다. 이번 문서 작업에서는 재실행하지 않았습니다.</a:t>
            </a:r>
            <a:endParaRPr lang="en-US" sz="125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6949440" cy="914400"/>
        </p:xfrm>
        <a:graphic>
          <a:graphicData uri="http://schemas.openxmlformats.org/drawingml/2006/table">
            <a:tbl>
              <a:tblPr/>
              <a:tblGrid>
                <a:gridCol w="1645920"/>
                <a:gridCol w="3108960"/>
                <a:gridCol w="2194560"/>
              </a:tblGrid>
              <a:tr h="384048">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검증 축</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대표 검사 묶음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확인할 의미</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표준 pipeline과 ABI</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architecture_contracts, compiler_contracts, npu_target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entry, output tree, 미지원 입력 거절</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Schedule · 메모리</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schedule_memory, sram_lifetime, npu_memplan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보관, 주소, 수명 충돌, fallback</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Fusion · 수치 · 확장</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pipeline_extensions, optimization_contracts, priority_contracts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후보 지원 조건과 결과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명령 생성</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native_codegen, npu_link</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Python/native 계약과 연결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회귀 개선</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compiler_refinement, compile_speed, completion_contracts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출력 직접 저장·정리·cache·예산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Frontend · 생성</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nn_hf, nn_decode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모델 의미와 cached decode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부록 기능</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npu_quantize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작은 양자화 kernel/model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6" name="Chart 0" descr=""/>
          <p:cNvGraphicFramePr/>
          <p:nvPr/>
        </p:nvGraphicFramePr>
        <p:xfrm>
          <a:off x="7589520" y="1371600"/>
          <a:ext cx="4142232" cy="438912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457200" y="4709160"/>
            <a:ext cx="6949440" cy="1097280"/>
          </a:xfrm>
          <a:prstGeom prst="roundRect">
            <a:avLst>
              <a:gd name="adj" fmla="val 4167"/>
            </a:avLst>
          </a:prstGeom>
          <a:solidFill>
            <a:srgbClr val="F5F7FA"/>
          </a:solidFill>
          <a:ln w="9525">
            <a:solidFill>
              <a:srgbClr val="C9D3DF"/>
            </a:solidFill>
            <a:prstDash val="solid"/>
          </a:ln>
        </p:spPr>
      </p:sp>
      <p:sp>
        <p:nvSpPr>
          <p:cNvPr id="8" name="Text 4"/>
          <p:cNvSpPr txBox="1"/>
          <p:nvPr/>
        </p:nvSpPr>
        <p:spPr>
          <a:xfrm>
            <a:off x="566928" y="4782312"/>
            <a:ext cx="6729984" cy="95097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bash d_compiler/run_gate.sh --tests architecture_contracts schedule_memory native_codegen \</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--require-no-skips --output /tmp/npu-gate</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validation.json: 실제 subprocess exit, timeout, skip 기록. "[PASS]" 문자열 검색으로 판정하지 않음</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python d_compiler/docs/examples/reproduce.py --out /tmp/npu-doc-examples   # E1/E2 재현 (작은 compile 7개 + C-model)</a:t>
            </a:r>
            <a:endParaRPr lang="en-US" sz="850" dirty="0"/>
          </a:p>
        </p:txBody>
      </p:sp>
      <p:sp>
        <p:nvSpPr>
          <p:cNvPr id="9" name="Shape 5"/>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0" name="Text 6"/>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Native/Python 일치와 gate 통과는 계약 준수의 근거입니다. 모델 수식 자체의 오류는 HF/NumPy·LLVM 기준(E6, run_nn_npu.py)으로 따로 확인합니다.</a:t>
            </a:r>
            <a:endParaRPr lang="en-US" sz="1250" dirty="0"/>
          </a:p>
        </p:txBody>
      </p:sp>
      <p:sp>
        <p:nvSpPr>
          <p:cNvPr id="11" name="Text 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2" name="Text 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docs/evidence/current/regression_validation.json, gate_logs/, d_compiler/run_gate.sh</a:t>
            </a:r>
            <a:endParaRPr lang="en-US" sz="850" dirty="0"/>
          </a:p>
        </p:txBody>
      </p:sp>
      <p:sp>
        <p:nvSpPr>
          <p:cNvPr id="13" name="Text 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77 / 89</a:t>
            </a:r>
            <a:endParaRPr lang="en-US" sz="8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탐색 개선</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E9. 탐색을 보완해도 512-token down의 최종 명령은 같았다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실제 Llama layer-0 weight + 합성 activation. 단일 projection의 비교이며 전체 모델 generation 검증이 아닙니다.</a:t>
            </a:r>
            <a:endParaRPr lang="en-US" sz="125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6858000" cy="914400"/>
        </p:xfrm>
        <a:graphic>
          <a:graphicData uri="http://schemas.openxmlformats.org/drawingml/2006/table">
            <a:tbl>
              <a:tblPr/>
              <a:tblGrid>
                <a:gridCol w="2743200"/>
                <a:gridCol w="2057400"/>
                <a:gridCol w="2057400"/>
              </a:tblGrid>
              <a:tr h="438912">
                <a:tc>
                  <a:txBody>
                    <a:bodyP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측정 / 512-token down</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Space</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TVM ReplayFunc</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38912">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추가 합법 후보</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4개</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4개</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38912">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커널 탐색 시간</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10.586 s</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33.264 s</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38912">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DMA bytes</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112,197,644</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112,197,644</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38912">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ISA words</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372,637</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372,637</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38912">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SRAM peak</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5,349,388 B</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5,349,388 B</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38912">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binary / C-model</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동일 binary</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같은 프로그램 출력 검증</a:t>
                      </a:r>
                      <a:endParaRPr lang="en-US" sz="12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7635240" y="1508760"/>
            <a:ext cx="4096512" cy="3566160"/>
          </a:xfrm>
          <a:prstGeom prst="rect">
            <a:avLst/>
          </a:prstGeom>
          <a:noFill/>
          <a:ln/>
        </p:spPr>
        <p:txBody>
          <a:bodyPr wrap="square" lIns="0" tIns="0" rIns="0" bIns="0" rtlCol="0" anchor="t"/>
          <a:lstStyle/>
          <a:p>
            <a:pPr algn="l" marL="152400" indent="-152400">
              <a:spcAft>
                <a:spcPts val="1000"/>
              </a:spcAft>
              <a:buSzPct val="100000"/>
              <a:buChar char="•"/>
            </a:pPr>
            <a:r>
              <a:rPr lang="en-US" sz="1300" b="1" dirty="0">
                <a:solidFill>
                  <a:srgbClr val="1F2D3D"/>
                </a:solidFill>
                <a:latin typeface="Malgun Gothic" pitchFamily="34" charset="0"/>
                <a:ea typeface="Malgun Gothic" pitchFamily="34" charset="-122"/>
                <a:cs typeface="Malgun Gothic" pitchFamily="34" charset="-120"/>
              </a:rPr>
              <a:t>낭비를 줄이는 변경: </a:t>
            </a:r>
            <a:pPr algn="l" indent="0" marL="0">
              <a:spcAft>
                <a:spcPts val="1000"/>
              </a:spcAft>
              <a:buNone/>
            </a:pPr>
            <a:r>
              <a:rPr lang="en-US" sz="1300" dirty="0">
                <a:solidFill>
                  <a:srgbClr val="1F2D3D"/>
                </a:solidFill>
                <a:latin typeface="Malgun Gothic" pitchFamily="34" charset="0"/>
                <a:ea typeface="Malgun Gothic" pitchFamily="34" charset="-122"/>
                <a:cs typeface="Malgun Gothic" pitchFamily="34" charset="-120"/>
              </a:rPr>
              <a:t>같은 순회·복사 주기의 후보를 정규화하고, 증명할 수 있는 용량 초과만 제거합니다.</a:t>
            </a:r>
            <a:endParaRPr lang="en-US" sz="1300" dirty="0"/>
          </a:p>
          <a:p>
            <a:pPr algn="l" marL="152400" indent="-152400">
              <a:spcAft>
                <a:spcPts val="1000"/>
              </a:spcAft>
              <a:buSzPct val="100000"/>
              <a:buChar char="•"/>
            </a:pPr>
            <a:r>
              <a:rPr lang="en-US" sz="1300" b="1" dirty="0">
                <a:solidFill>
                  <a:srgbClr val="1F2D3D"/>
                </a:solidFill>
                <a:latin typeface="Malgun Gothic" pitchFamily="34" charset="0"/>
                <a:ea typeface="Malgun Gothic" pitchFamily="34" charset="-122"/>
                <a:cs typeface="Malgun Gothic" pitchFamily="34" charset="-120"/>
              </a:rPr>
              <a:t>충분한 검사인지 확인: </a:t>
            </a:r>
            <a:pPr algn="l" indent="0" marL="0">
              <a:spcAft>
                <a:spcPts val="1000"/>
              </a:spcAft>
              <a:buNone/>
            </a:pPr>
            <a:r>
              <a:rPr lang="en-US" sz="1300" dirty="0">
                <a:solidFill>
                  <a:srgbClr val="1F2D3D"/>
                </a:solidFill>
                <a:latin typeface="Malgun Gothic" pitchFamily="34" charset="0"/>
                <a:ea typeface="Malgun Gothic" pitchFamily="34" charset="-122"/>
                <a:cs typeface="Malgun Gothic" pitchFamily="34" charset="-120"/>
              </a:rPr>
              <a:t>시간만 보지 않고 추가 합법 후보 수와 종료 사유를 기록합니다.</a:t>
            </a:r>
            <a:endParaRPr lang="en-US" sz="1300" dirty="0"/>
          </a:p>
          <a:p>
            <a:pPr algn="l" marL="152400" indent="-152400">
              <a:spcAft>
                <a:spcPts val="1000"/>
              </a:spcAft>
              <a:buSzPct val="100000"/>
              <a:buChar char="•"/>
            </a:pPr>
            <a:r>
              <a:rPr lang="en-US" sz="1300" b="1" dirty="0">
                <a:solidFill>
                  <a:srgbClr val="1F2D3D"/>
                </a:solidFill>
                <a:latin typeface="Malgun Gothic" pitchFamily="34" charset="0"/>
                <a:ea typeface="Malgun Gothic" pitchFamily="34" charset="-122"/>
                <a:cs typeface="Malgun Gothic" pitchFamily="34" charset="-120"/>
              </a:rPr>
              <a:t>관측한 한계: </a:t>
            </a:r>
            <a:pPr algn="l" indent="0" marL="0">
              <a:spcAft>
                <a:spcPts val="1000"/>
              </a:spcAft>
              <a:buNone/>
            </a:pPr>
            <a:r>
              <a:rPr lang="en-US" sz="1300" dirty="0">
                <a:solidFill>
                  <a:srgbClr val="1F2D3D"/>
                </a:solidFill>
                <a:latin typeface="Malgun Gothic" pitchFamily="34" charset="0"/>
                <a:ea typeface="Malgun Gothic" pitchFamily="34" charset="-122"/>
                <a:cs typeface="Malgun Gothic" pitchFamily="34" charset="-120"/>
              </a:rPr>
              <a:t>이 커널에서는 ReplayFunc의 비용이 더 컸고 최종 명령은 같았습니다. 학습형 비용 모델은 사용하지 않았습니다.</a:t>
            </a:r>
            <a:endParaRPr lang="en-US" sz="1300" dirty="0"/>
          </a:p>
          <a:p>
            <a:pPr algn="l" marL="152400" indent="-152400">
              <a:spcAft>
                <a:spcPts val="1000"/>
              </a:spcAft>
              <a:buSzPct val="100000"/>
              <a:buChar char="•"/>
            </a:pPr>
            <a:r>
              <a:rPr lang="en-US" sz="1300" b="1" dirty="0">
                <a:solidFill>
                  <a:srgbClr val="1F2D3D"/>
                </a:solidFill>
                <a:latin typeface="Malgun Gothic" pitchFamily="34" charset="0"/>
                <a:ea typeface="Malgun Gothic" pitchFamily="34" charset="-122"/>
                <a:cs typeface="Malgun Gothic" pitchFamily="34" charset="-120"/>
              </a:rPr>
              <a:t>다음 검증: </a:t>
            </a:r>
            <a:pPr algn="l" indent="0" marL="0">
              <a:spcAft>
                <a:spcPts val="1000"/>
              </a:spcAft>
              <a:buNone/>
            </a:pPr>
            <a:r>
              <a:rPr lang="en-US" sz="1300" dirty="0">
                <a:solidFill>
                  <a:srgbClr val="1F2D3D"/>
                </a:solidFill>
                <a:latin typeface="Malgun Gothic" pitchFamily="34" charset="0"/>
                <a:ea typeface="Malgun Gothic" pitchFamily="34" charset="-122"/>
                <a:cs typeface="Malgun Gothic" pitchFamily="34" charset="-120"/>
              </a:rPr>
              <a:t>Fusion 효과는 전체 28-layer·256-token prefill을 별도로 컴파일해 확인합니다.</a:t>
            </a:r>
            <a:endParaRPr lang="en-US" sz="1300" dirty="0"/>
          </a:p>
        </p:txBody>
      </p:sp>
      <p:sp>
        <p:nvSpPr>
          <p:cNvPr id="7" name="Shape 4"/>
          <p:cNvSpPr/>
          <p:nvPr/>
        </p:nvSpPr>
        <p:spPr>
          <a:xfrm>
            <a:off x="457200" y="5166360"/>
            <a:ext cx="11274552" cy="566928"/>
          </a:xfrm>
          <a:prstGeom prst="roundRect">
            <a:avLst>
              <a:gd name="adj" fmla="val 9677"/>
            </a:avLst>
          </a:prstGeom>
          <a:solidFill>
            <a:srgbClr val="E5F3E7"/>
          </a:solidFill>
          <a:ln w="12700">
            <a:solidFill>
              <a:srgbClr val="2E7D32"/>
            </a:solidFill>
            <a:prstDash val="solid"/>
          </a:ln>
        </p:spPr>
      </p:sp>
      <p:sp>
        <p:nvSpPr>
          <p:cNvPr id="8" name="Text 5"/>
          <p:cNvSpPr txBox="1"/>
          <p:nvPr/>
        </p:nvSpPr>
        <p:spPr>
          <a:xfrm>
            <a:off x="585216" y="5221224"/>
            <a:ext cx="11018520" cy="457200"/>
          </a:xfrm>
          <a:prstGeom prst="rect">
            <a:avLst/>
          </a:prstGeom>
          <a:noFill/>
          <a:ln/>
        </p:spPr>
        <p:txBody>
          <a:bodyPr wrap="square" lIns="0" tIns="0" rIns="0" bIns="0" rtlCol="0" anchor="ct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출력 검증 통과: C-model 최대 절대차 0.000030517578125 · DMA counters 일치 · 관련 회귀 34개 통과</a:t>
            </a:r>
            <a:endParaRPr lang="en-US" sz="1200" dirty="0"/>
          </a:p>
        </p:txBody>
      </p:sp>
      <p:sp>
        <p:nvSpPr>
          <p:cNvPr id="9" name="Shape 6"/>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0" name="Text 7"/>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불필요한 시도 감소와 trace 재사용을 확인했습니다. 추가 탐색까지 포함한 총 시간이 더 짧아졌다는 비교는 아닙니다.</a:t>
            </a:r>
            <a:endParaRPr lang="en-US" sz="1250" dirty="0"/>
          </a:p>
        </p:txBody>
      </p:sp>
      <p:sp>
        <p:nvSpPr>
          <p:cNvPr id="11" name="Text 8"/>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2" name="Text 9"/>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docs/current/11_experiments.md E9; evidence/current/llama_schedule_refinement.json</a:t>
            </a:r>
            <a:endParaRPr lang="en-US" sz="850" dirty="0"/>
          </a:p>
        </p:txBody>
      </p:sp>
      <p:sp>
        <p:nvSpPr>
          <p:cNvPr id="13" name="Text 10"/>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78 / 89</a:t>
            </a:r>
            <a:endParaRPr lang="en-US" sz="8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전체 Llama 재검증</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E10 중단: 큰 cache fusion의 명령 생성 병목을 수정했다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28 layers 전체 · prefill_cache 하나 · graph 시간 제한 None · matmul 합법 목표16 / 최대 시도128 · SRAM 8 MiB · 전체 재검증 미실행</a:t>
            </a:r>
            <a:endParaRPr lang="en-US" sz="125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6858000" cy="914400"/>
        </p:xfrm>
        <a:graphic>
          <a:graphicData uri="http://schemas.openxmlformats.org/drawingml/2006/table">
            <a:tbl>
              <a:tblPr/>
              <a:tblGrid>
                <a:gridCol w="2194560"/>
                <a:gridCol w="1371600"/>
                <a:gridCol w="1645920"/>
                <a:gridCol w="1645920"/>
              </a:tblGrid>
              <a:tr h="585216">
                <a:tc>
                  <a:txBody>
                    <a:bodyP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Attention / Generic</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Off</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Vectors</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Matmul</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585216">
                <a:tc>
                  <a:txBody>
                    <a:bodyPr/>
                    <a:lstStyle/>
                    <a:p>
                      <a:pPr algn="l" indent="0" marL="0">
                        <a:buNone/>
                      </a:pPr>
                      <a:r>
                        <a:rPr lang="en-US" sz="1300" dirty="0">
                          <a:solidFill>
                            <a:srgbClr val="1F2D3D"/>
                          </a:solidFill>
                          <a:latin typeface="Malgun Gothic" pitchFamily="34" charset="0"/>
                          <a:ea typeface="Malgun Gothic" pitchFamily="34" charset="-122"/>
                          <a:cs typeface="Malgun Gothic" pitchFamily="34" charset="-120"/>
                        </a:rPr>
                        <a:t>off</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300" dirty="0">
                          <a:solidFill>
                            <a:srgbClr val="1F2D3D"/>
                          </a:solidFill>
                          <a:latin typeface="Malgun Gothic" pitchFamily="34" charset="0"/>
                          <a:ea typeface="Malgun Gothic" pitchFamily="34" charset="-122"/>
                          <a:cs typeface="Malgun Gothic" pitchFamily="34" charset="-120"/>
                        </a:rPr>
                        <a:t>기준 구성</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300" dirty="0">
                          <a:solidFill>
                            <a:srgbClr val="1F2D3D"/>
                          </a:solidFill>
                          <a:latin typeface="Malgun Gothic" pitchFamily="34" charset="0"/>
                          <a:ea typeface="Malgun Gothic" pitchFamily="34" charset="-122"/>
                          <a:cs typeface="Malgun Gothic" pitchFamily="34" charset="-120"/>
                        </a:rPr>
                        <a:t>영역 10종</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300" dirty="0">
                          <a:solidFill>
                            <a:srgbClr val="1F2D3D"/>
                          </a:solidFill>
                          <a:latin typeface="Malgun Gothic" pitchFamily="34" charset="0"/>
                          <a:ea typeface="Malgun Gothic" pitchFamily="34" charset="-122"/>
                          <a:cs typeface="Malgun Gothic" pitchFamily="34" charset="-120"/>
                        </a:rPr>
                        <a:t>영역 11종</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585216">
                <a:tc>
                  <a:txBody>
                    <a:bodyPr/>
                    <a:lstStyle/>
                    <a:p>
                      <a:pPr algn="l" indent="0" marL="0">
                        <a:buNone/>
                      </a:pPr>
                      <a:r>
                        <a:rPr lang="en-US" sz="1300" dirty="0">
                          <a:solidFill>
                            <a:srgbClr val="1F2D3D"/>
                          </a:solidFill>
                          <a:latin typeface="Malgun Gothic" pitchFamily="34" charset="0"/>
                          <a:ea typeface="Malgun Gothic" pitchFamily="34" charset="-122"/>
                          <a:cs typeface="Malgun Gothic" pitchFamily="34" charset="-120"/>
                        </a:rPr>
                        <a:t>score</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D3D"/>
                          </a:solidFill>
                          <a:latin typeface="Malgun Gothic" pitchFamily="34" charset="0"/>
                          <a:ea typeface="Malgun Gothic" pitchFamily="34" charset="-122"/>
                          <a:cs typeface="Malgun Gothic" pitchFamily="34" charset="-120"/>
                        </a:rPr>
                        <a:t>1개 구성</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D3D"/>
                          </a:solidFill>
                          <a:latin typeface="Malgun Gothic" pitchFamily="34" charset="0"/>
                          <a:ea typeface="Malgun Gothic" pitchFamily="34" charset="-122"/>
                          <a:cs typeface="Malgun Gothic" pitchFamily="34" charset="-120"/>
                        </a:rPr>
                        <a:t>영역 9종</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D3D"/>
                          </a:solidFill>
                          <a:latin typeface="Malgun Gothic" pitchFamily="34" charset="0"/>
                          <a:ea typeface="Malgun Gothic" pitchFamily="34" charset="-122"/>
                          <a:cs typeface="Malgun Gothic" pitchFamily="34" charset="-120"/>
                        </a:rPr>
                        <a:t>영역 10종</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585216">
                <a:tc>
                  <a:txBody>
                    <a:bodyPr/>
                    <a:lstStyle/>
                    <a:p>
                      <a:pPr algn="l" indent="0" marL="0">
                        <a:buNone/>
                      </a:pPr>
                      <a:r>
                        <a:rPr lang="en-US" sz="1300" dirty="0">
                          <a:solidFill>
                            <a:srgbClr val="1F2D3D"/>
                          </a:solidFill>
                          <a:latin typeface="Malgun Gothic" pitchFamily="34" charset="0"/>
                          <a:ea typeface="Malgun Gothic" pitchFamily="34" charset="-122"/>
                          <a:cs typeface="Malgun Gothic" pitchFamily="34" charset="-120"/>
                        </a:rPr>
                        <a:t>full</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300" dirty="0">
                          <a:solidFill>
                            <a:srgbClr val="1F2D3D"/>
                          </a:solidFill>
                          <a:latin typeface="Malgun Gothic" pitchFamily="34" charset="0"/>
                          <a:ea typeface="Malgun Gothic" pitchFamily="34" charset="-122"/>
                          <a:cs typeface="Malgun Gothic" pitchFamily="34" charset="-120"/>
                        </a:rPr>
                        <a:t>1개 구성</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300" dirty="0">
                          <a:solidFill>
                            <a:srgbClr val="1F2D3D"/>
                          </a:solidFill>
                          <a:latin typeface="Malgun Gothic" pitchFamily="34" charset="0"/>
                          <a:ea typeface="Malgun Gothic" pitchFamily="34" charset="-122"/>
                          <a:cs typeface="Malgun Gothic" pitchFamily="34" charset="-120"/>
                        </a:rPr>
                        <a:t>영역 9종</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1300" dirty="0">
                          <a:solidFill>
                            <a:srgbClr val="1F2D3D"/>
                          </a:solidFill>
                          <a:latin typeface="Malgun Gothic" pitchFamily="34" charset="0"/>
                          <a:ea typeface="Malgun Gothic" pitchFamily="34" charset="-122"/>
                          <a:cs typeface="Malgun Gothic" pitchFamily="34" charset="-120"/>
                        </a:rPr>
                        <a:t>영역 10종</a:t>
                      </a:r>
                      <a:endParaRPr lang="en-US" sz="13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 name="Text 3"/>
          <p:cNvSpPr txBox="1"/>
          <p:nvPr/>
        </p:nvSpPr>
        <p:spPr>
          <a:xfrm>
            <a:off x="502920" y="3913632"/>
            <a:ext cx="6720840" cy="457200"/>
          </a:xfrm>
          <a:prstGeom prst="rect">
            <a:avLst/>
          </a:prstGeom>
          <a:noFill/>
          <a:ln/>
        </p:spPr>
        <p:txBody>
          <a:bodyPr wrap="square" lIns="0" tIns="0" rIns="0" bIns="0" rtlCol="0" anchor="t"/>
          <a:lstStyle/>
          <a:p>
            <a:pPr algn="l" indent="0" marL="0">
              <a:buNone/>
            </a:pPr>
            <a:r>
              <a:rPr lang="en-US" sz="1200" dirty="0">
                <a:solidFill>
                  <a:srgbClr val="5B6B7F"/>
                </a:solidFill>
                <a:latin typeface="Malgun Gothic" pitchFamily="34" charset="0"/>
                <a:ea typeface="Malgun Gothic" pitchFamily="34" charset="-122"/>
                <a:cs typeface="Malgun Gothic" pitchFamily="34" charset="-120"/>
              </a:rPr>
              <a:t>9개 = graph 구성 수. 영역 수는 종류이며 최종 채택 수가 아닙니다.</a:t>
            </a:r>
            <a:endParaRPr lang="en-US" sz="1200" dirty="0"/>
          </a:p>
          <a:p>
            <a:pPr algn="l" indent="0" marL="0">
              <a:buNone/>
            </a:pPr>
            <a:r>
              <a:rPr lang="en-US" sz="1200" dirty="0">
                <a:solidFill>
                  <a:srgbClr val="5B6B7F"/>
                </a:solidFill>
                <a:latin typeface="Malgun Gothic" pitchFamily="34" charset="0"/>
                <a:ea typeface="Malgun Gothic" pitchFamily="34" charset="-122"/>
                <a:cs typeface="Malgun Gothic" pitchFamily="34" charset="-120"/>
              </a:rPr>
              <a:t>동일 layer의 판단은 재사용하고 실제 주소와 전체 수명은 다시 연결합니다.</a:t>
            </a:r>
            <a:endParaRPr lang="en-US" sz="1200" dirty="0"/>
          </a:p>
        </p:txBody>
      </p:sp>
      <p:sp>
        <p:nvSpPr>
          <p:cNvPr id="7" name="Shape 4"/>
          <p:cNvSpPr/>
          <p:nvPr/>
        </p:nvSpPr>
        <p:spPr>
          <a:xfrm>
            <a:off x="7818120" y="1508760"/>
            <a:ext cx="3611880" cy="777240"/>
          </a:xfrm>
          <a:prstGeom prst="roundRect">
            <a:avLst>
              <a:gd name="adj" fmla="val 7059"/>
            </a:avLst>
          </a:prstGeom>
          <a:solidFill>
            <a:srgbClr val="E5F3E7"/>
          </a:solidFill>
          <a:ln w="12700">
            <a:solidFill>
              <a:srgbClr val="2E7D32"/>
            </a:solidFill>
            <a:prstDash val="solid"/>
          </a:ln>
        </p:spPr>
      </p:sp>
      <p:sp>
        <p:nvSpPr>
          <p:cNvPr id="8" name="Text 5"/>
          <p:cNvSpPr txBox="1"/>
          <p:nvPr/>
        </p:nvSpPr>
        <p:spPr>
          <a:xfrm>
            <a:off x="7891272" y="1581912"/>
            <a:ext cx="3465576" cy="285750"/>
          </a:xfrm>
          <a:prstGeom prst="rect">
            <a:avLst/>
          </a:prstGeom>
          <a:noFill/>
          <a:ln/>
        </p:spPr>
        <p:txBody>
          <a:bodyPr wrap="square" lIns="0" tIns="0" rIns="0" bIns="0" rtlCol="0" anchor="ctr"/>
          <a:lstStyle/>
          <a:p>
            <a:pPr algn="ctr" indent="0" marL="0">
              <a:buNone/>
            </a:pPr>
            <a:r>
              <a:rPr lang="en-US" sz="1500" b="1" dirty="0">
                <a:solidFill>
                  <a:srgbClr val="1F2D3D"/>
                </a:solidFill>
                <a:latin typeface="Malgun Gothic" pitchFamily="34" charset="0"/>
                <a:ea typeface="Malgun Gothic" pitchFamily="34" charset="-122"/>
                <a:cs typeface="Malgun Gothic" pitchFamily="34" charset="-120"/>
              </a:rPr>
              <a:t>HF reference</a:t>
            </a:r>
            <a:endParaRPr lang="en-US" sz="1500" dirty="0"/>
          </a:p>
        </p:txBody>
      </p:sp>
      <p:sp>
        <p:nvSpPr>
          <p:cNvPr id="9" name="Text 6"/>
          <p:cNvSpPr txBox="1"/>
          <p:nvPr/>
        </p:nvSpPr>
        <p:spPr>
          <a:xfrm>
            <a:off x="7891272" y="1867662"/>
            <a:ext cx="3465576" cy="381762"/>
          </a:xfrm>
          <a:prstGeom prst="rect">
            <a:avLst/>
          </a:prstGeom>
          <a:noFill/>
          <a:ln/>
        </p:spPr>
        <p:txBody>
          <a:bodyPr wrap="square" lIns="0" tIns="0" rIns="0" bIns="0" rtlCol="0" anchor="t"/>
          <a:lstStyle/>
          <a:p>
            <a:pPr algn="ctr" indent="0" marL="0">
              <a:buNone/>
            </a:pPr>
            <a:r>
              <a:rPr lang="en-US" sz="1100" dirty="0">
                <a:solidFill>
                  <a:srgbClr val="5B6B7F"/>
                </a:solidFill>
                <a:latin typeface="Malgun Gothic" pitchFamily="34" charset="0"/>
                <a:ea typeface="Malgun Gothic" pitchFamily="34" charset="-122"/>
                <a:cs typeface="Malgun Gothic" pitchFamily="34" charset="-120"/>
              </a:rPr>
              <a:t>마지막 logits + 모든 layer K/V</a:t>
            </a:r>
            <a:endParaRPr lang="en-US" sz="1100" dirty="0"/>
          </a:p>
        </p:txBody>
      </p:sp>
      <p:sp>
        <p:nvSpPr>
          <p:cNvPr id="10" name="Shape 7"/>
          <p:cNvSpPr/>
          <p:nvPr/>
        </p:nvSpPr>
        <p:spPr>
          <a:xfrm>
            <a:off x="9619488" y="2304288"/>
            <a:ext cx="914" cy="192024"/>
          </a:xfrm>
          <a:prstGeom prst="line">
            <a:avLst/>
          </a:prstGeom>
          <a:noFill/>
          <a:ln w="19050">
            <a:solidFill>
              <a:srgbClr val="5B6B7F"/>
            </a:solidFill>
            <a:prstDash val="solid"/>
            <a:tailEnd type="triangle"/>
          </a:ln>
        </p:spPr>
      </p:sp>
      <p:sp>
        <p:nvSpPr>
          <p:cNvPr id="11" name="Shape 8"/>
          <p:cNvSpPr/>
          <p:nvPr/>
        </p:nvSpPr>
        <p:spPr>
          <a:xfrm>
            <a:off x="7818120" y="2542032"/>
            <a:ext cx="3611880" cy="777240"/>
          </a:xfrm>
          <a:prstGeom prst="roundRect">
            <a:avLst>
              <a:gd name="adj" fmla="val 7059"/>
            </a:avLst>
          </a:prstGeom>
          <a:solidFill>
            <a:srgbClr val="FFF6DB"/>
          </a:solidFill>
          <a:ln w="12700">
            <a:solidFill>
              <a:srgbClr val="B7791F"/>
            </a:solidFill>
            <a:prstDash val="solid"/>
          </a:ln>
        </p:spPr>
      </p:sp>
      <p:sp>
        <p:nvSpPr>
          <p:cNvPr id="12" name="Text 9"/>
          <p:cNvSpPr txBox="1"/>
          <p:nvPr/>
        </p:nvSpPr>
        <p:spPr>
          <a:xfrm>
            <a:off x="7891272" y="2615184"/>
            <a:ext cx="3465576" cy="285750"/>
          </a:xfrm>
          <a:prstGeom prst="rect">
            <a:avLst/>
          </a:prstGeom>
          <a:noFill/>
          <a:ln/>
        </p:spPr>
        <p:txBody>
          <a:bodyPr wrap="square" lIns="0" tIns="0" rIns="0" bIns="0" rtlCol="0" anchor="ctr"/>
          <a:lstStyle/>
          <a:p>
            <a:pPr algn="ctr" indent="0" marL="0">
              <a:buNone/>
            </a:pPr>
            <a:r>
              <a:rPr lang="en-US" sz="1500" b="1" dirty="0">
                <a:solidFill>
                  <a:srgbClr val="1F2D3D"/>
                </a:solidFill>
                <a:latin typeface="Malgun Gothic" pitchFamily="34" charset="0"/>
                <a:ea typeface="Malgun Gothic" pitchFamily="34" charset="-122"/>
                <a:cs typeface="Malgun Gothic" pitchFamily="34" charset="-120"/>
              </a:rPr>
              <a:t>전체 compile 중단</a:t>
            </a:r>
            <a:endParaRPr lang="en-US" sz="1500" dirty="0"/>
          </a:p>
        </p:txBody>
      </p:sp>
      <p:sp>
        <p:nvSpPr>
          <p:cNvPr id="13" name="Text 10"/>
          <p:cNvSpPr txBox="1"/>
          <p:nvPr/>
        </p:nvSpPr>
        <p:spPr>
          <a:xfrm>
            <a:off x="7891272" y="2900934"/>
            <a:ext cx="3465576" cy="381762"/>
          </a:xfrm>
          <a:prstGeom prst="rect">
            <a:avLst/>
          </a:prstGeom>
          <a:noFill/>
          <a:ln/>
        </p:spPr>
        <p:txBody>
          <a:bodyPr wrap="square" lIns="0" tIns="0" rIns="0" bIns="0" rtlCol="0" anchor="t"/>
          <a:lstStyle/>
          <a:p>
            <a:pPr algn="ctr" indent="0" marL="0">
              <a:buNone/>
            </a:pPr>
            <a:r>
              <a:rPr lang="en-US" sz="1100" dirty="0">
                <a:solidFill>
                  <a:srgbClr val="5B6B7F"/>
                </a:solidFill>
                <a:latin typeface="Malgun Gothic" pitchFamily="34" charset="0"/>
                <a:ea typeface="Malgun Gothic" pitchFamily="34" charset="-122"/>
                <a:cs typeface="Malgun Gothic" pitchFamily="34" charset="-120"/>
              </a:rPr>
              <a:t>RSS 91.65 GiB / 병목 수정 후 검증 필요</a:t>
            </a:r>
            <a:endParaRPr lang="en-US" sz="1100" dirty="0"/>
          </a:p>
        </p:txBody>
      </p:sp>
      <p:sp>
        <p:nvSpPr>
          <p:cNvPr id="14" name="Shape 11"/>
          <p:cNvSpPr/>
          <p:nvPr/>
        </p:nvSpPr>
        <p:spPr>
          <a:xfrm>
            <a:off x="9619488" y="3337560"/>
            <a:ext cx="914" cy="192024"/>
          </a:xfrm>
          <a:prstGeom prst="line">
            <a:avLst/>
          </a:prstGeom>
          <a:noFill/>
          <a:ln w="19050">
            <a:solidFill>
              <a:srgbClr val="5B6B7F"/>
            </a:solidFill>
            <a:prstDash val="solid"/>
            <a:tailEnd type="triangle"/>
          </a:ln>
        </p:spPr>
      </p:sp>
      <p:sp>
        <p:nvSpPr>
          <p:cNvPr id="15" name="Shape 12"/>
          <p:cNvSpPr/>
          <p:nvPr/>
        </p:nvSpPr>
        <p:spPr>
          <a:xfrm>
            <a:off x="7818120" y="3575304"/>
            <a:ext cx="3611880" cy="777240"/>
          </a:xfrm>
          <a:prstGeom prst="roundRect">
            <a:avLst>
              <a:gd name="adj" fmla="val 7059"/>
            </a:avLst>
          </a:prstGeom>
          <a:solidFill>
            <a:srgbClr val="EEF2F6"/>
          </a:solidFill>
          <a:ln w="12700">
            <a:solidFill>
              <a:srgbClr val="C9D3DF"/>
            </a:solidFill>
            <a:prstDash val="solid"/>
          </a:ln>
        </p:spPr>
      </p:sp>
      <p:sp>
        <p:nvSpPr>
          <p:cNvPr id="16" name="Text 13"/>
          <p:cNvSpPr txBox="1"/>
          <p:nvPr/>
        </p:nvSpPr>
        <p:spPr>
          <a:xfrm>
            <a:off x="7891272" y="3648456"/>
            <a:ext cx="3465576" cy="285750"/>
          </a:xfrm>
          <a:prstGeom prst="rect">
            <a:avLst/>
          </a:prstGeom>
          <a:noFill/>
          <a:ln/>
        </p:spPr>
        <p:txBody>
          <a:bodyPr wrap="square" lIns="0" tIns="0" rIns="0" bIns="0" rtlCol="0" anchor="ctr"/>
          <a:lstStyle/>
          <a:p>
            <a:pPr algn="ctr" indent="0" marL="0">
              <a:buNone/>
            </a:pPr>
            <a:r>
              <a:rPr lang="en-US" sz="1500" b="1" dirty="0">
                <a:solidFill>
                  <a:srgbClr val="1F2D3D"/>
                </a:solidFill>
                <a:latin typeface="Malgun Gothic" pitchFamily="34" charset="0"/>
                <a:ea typeface="Malgun Gothic" pitchFamily="34" charset="-122"/>
                <a:cs typeface="Malgun Gothic" pitchFamily="34" charset="-120"/>
              </a:rPr>
              <a:t>선택된 명령 실행</a:t>
            </a:r>
            <a:endParaRPr lang="en-US" sz="1500" dirty="0"/>
          </a:p>
        </p:txBody>
      </p:sp>
      <p:sp>
        <p:nvSpPr>
          <p:cNvPr id="17" name="Text 14"/>
          <p:cNvSpPr txBox="1"/>
          <p:nvPr/>
        </p:nvSpPr>
        <p:spPr>
          <a:xfrm>
            <a:off x="7891272" y="3934206"/>
            <a:ext cx="3465576" cy="381762"/>
          </a:xfrm>
          <a:prstGeom prst="rect">
            <a:avLst/>
          </a:prstGeom>
          <a:noFill/>
          <a:ln/>
        </p:spPr>
        <p:txBody>
          <a:bodyPr wrap="square" lIns="0" tIns="0" rIns="0" bIns="0" rtlCol="0" anchor="t"/>
          <a:lstStyle/>
          <a:p>
            <a:pPr algn="ctr" indent="0" marL="0">
              <a:buNone/>
            </a:pPr>
            <a:r>
              <a:rPr lang="en-US" sz="1100" dirty="0">
                <a:solidFill>
                  <a:srgbClr val="5B6B7F"/>
                </a:solidFill>
                <a:latin typeface="Malgun Gothic" pitchFamily="34" charset="0"/>
                <a:ea typeface="Malgun Gothic" pitchFamily="34" charset="-122"/>
                <a:cs typeface="Malgun Gothic" pitchFamily="34" charset="-120"/>
              </a:rPr>
              <a:t>C-model token·cosine·DMA 비교</a:t>
            </a:r>
            <a:endParaRPr lang="en-US" sz="1100" dirty="0"/>
          </a:p>
        </p:txBody>
      </p:sp>
      <p:sp>
        <p:nvSpPr>
          <p:cNvPr id="18" name="Shape 15"/>
          <p:cNvSpPr/>
          <p:nvPr/>
        </p:nvSpPr>
        <p:spPr>
          <a:xfrm>
            <a:off x="457200" y="4828032"/>
            <a:ext cx="11274552" cy="822960"/>
          </a:xfrm>
          <a:prstGeom prst="roundRect">
            <a:avLst>
              <a:gd name="adj" fmla="val 6667"/>
            </a:avLst>
          </a:prstGeom>
          <a:solidFill>
            <a:srgbClr val="E3EEFB"/>
          </a:solidFill>
          <a:ln w="12700">
            <a:solidFill>
              <a:srgbClr val="2F6DB5"/>
            </a:solidFill>
            <a:prstDash val="solid"/>
          </a:ln>
        </p:spPr>
      </p:sp>
      <p:sp>
        <p:nvSpPr>
          <p:cNvPr id="19" name="Text 16"/>
          <p:cNvSpPr txBox="1"/>
          <p:nvPr/>
        </p:nvSpPr>
        <p:spPr>
          <a:xfrm>
            <a:off x="585216" y="4882896"/>
            <a:ext cx="11018520" cy="713232"/>
          </a:xfrm>
          <a:prstGeom prst="rect">
            <a:avLst/>
          </a:prstGeom>
          <a:noFill/>
          <a:ln/>
        </p:spPr>
        <p:txBody>
          <a:bodyPr wrap="square" lIns="0" tIns="0" rIns="0" bIns="0" rtlCol="0" anchor="ctr"/>
          <a:lstStyle/>
          <a:p>
            <a:pPr algn="l" indent="0" marL="0">
              <a:buNone/>
            </a:pPr>
            <a:r>
              <a:rPr lang="en-US" sz="1200" dirty="0">
                <a:solidFill>
                  <a:srgbClr val="1F2D3D"/>
                </a:solidFill>
                <a:latin typeface="Malgun Gothic" pitchFamily="34" charset="0"/>
                <a:ea typeface="Malgun Gothic" pitchFamily="34" charset="-122"/>
                <a:cs typeface="Malgun Gothic" pitchFamily="34" charset="-120"/>
              </a:rPr>
              <a:t>비교 기준도 SRAM 보관 ON. Fusion이 전체 prefill의 DMA·ISA words·SRAM을 더 줄이는지 확인합니다.</a:t>
            </a:r>
            <a:endParaRPr lang="en-US" sz="1200" dirty="0"/>
          </a:p>
          <a:p>
            <a:pPr algn="l" indent="0" marL="0">
              <a:buNone/>
            </a:pPr>
            <a:r>
              <a:rPr lang="en-US" sz="1200" dirty="0">
                <a:solidFill>
                  <a:srgbClr val="1F2D3D"/>
                </a:solidFill>
                <a:latin typeface="Malgun Gothic" pitchFamily="34" charset="0"/>
                <a:ea typeface="Malgun Gothic" pitchFamily="34" charset="-122"/>
                <a:cs typeface="Malgun Gothic" pitchFamily="34" charset="-120"/>
              </a:rPr>
              <a:t>큰 K/V 출력은 각각14 MiB. Decode를 실행하지 않아도 이 prefill 함수가 만드는 출력입니다.</a:t>
            </a:r>
            <a:endParaRPr lang="en-US" sz="1200" dirty="0"/>
          </a:p>
        </p:txBody>
      </p:sp>
      <p:sp>
        <p:nvSpPr>
          <p:cNvPr id="20" name="Shape 17"/>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21" name="Text 18"/>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병목 독립 검사는 통과했습니다. 전체256-token 재컴파일·출력 검증은 아직 수행하지 않았습니다.</a:t>
            </a:r>
            <a:endParaRPr lang="en-US" sz="1250" dirty="0"/>
          </a:p>
        </p:txBody>
      </p:sp>
      <p:sp>
        <p:nvSpPr>
          <p:cNvPr id="22" name="Text 19"/>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23" name="Text 20"/>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docs/current/11_experiments.md E10; evidence/current/llama_prefill256_full_search_progress.json</a:t>
            </a:r>
            <a:endParaRPr lang="en-US" sz="850" dirty="0"/>
          </a:p>
        </p:txBody>
      </p:sp>
      <p:sp>
        <p:nvSpPr>
          <p:cNvPr id="24" name="Text 21"/>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79 / 89</a:t>
            </a:r>
            <a:endParaRPr lang="en-US" sz="8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한계 · 정리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현재 지원 경계: 무엇을 받아들이고 무엇을 거절하는가</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ABI verifier는 정의·호출·배치의 일관성을 검사하지만 임의 TIR의 모든 index 접근이 안전함을 증명하는 정리 증명기는 아닙니다. 지원 subset 밖의 계산을 조용히 통과시키지 않습니다.</a:t>
            </a:r>
            <a:endParaRPr lang="en-US" sz="125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1737360"/>
                <a:gridCol w="9537192"/>
              </a:tblGrid>
              <a:tr h="329184">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항목</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지원 또는 제한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Shape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정적 tensor shape. FP16 matmul rank ≥ 2, batch broadcast, unit/ragged 축 (pad_einsum). rank-1은 명시적 reshape 필요</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Control flow</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지원된 정적 호출을 직선 stream으로 전개. 임의 dynamic control flow / packed call은 거절</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I/O</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tensor와 nested tuple, dtype별 byte 크기, typed output tree (leaf별 shape/dtype/offset)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View</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지원되는 연속 reshape / axis-0 split / offset view. 임의 strided slice나 모든 INT8 byte offset이 zero-copy는 아님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FP16 수치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matmul/sum FP32 누산과 정의된 FP16 저장 경계. 범용 FP32 vector tensor 실행은 별도 범위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Softmax / RMSNorm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마지막 축, 정적 길이 1..65504, 유한 logits 전제 / 마지막 축, FP16 입력·weight, 정적 양의 width, 2⁻⁴⁸ ≤ ε ≤ 65504²</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Attention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지원되는 정적 FP16 layout / bias / scale / causal / window. Full-fusion은 rank-3 64배수 조건으로 더 좁음, online softmax 없음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RoPE / GQA</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default / linear / llama3의 지원 필드만. 다른 설정은 확인 없이 허용하지 않음. GQA는 repeat 또는 broadcast matmul 후보</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Cache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FP16 정적 capacity, additive mask [1,1,C+1], versioned append metadata, 선택적 bucket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Runtime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C-model adapter와 image/file patch. RTL / 실장치 runtime 검증 아님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Snapshot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관찰해야 하는 중간값 때문에 SRAM-only 전달을 제한하거나 끔</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양자화</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W8A16 / W8A8 pass·kernel 구현, 작은 kernel bit equality. 전체 generation에는 미연결 (부록 A2)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7" name="Text 4"/>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보장하지 않는 것: 실장치 latency, 모든 동적 shape·TVM op·HF 모델, NaN/Inf edge semantics, 자동 mixed precision, quantized KV, key online-softmax, 임의 inter-kernel tile streaming.</a:t>
            </a:r>
            <a:endParaRPr lang="en-US" sz="1250" dirty="0"/>
          </a:p>
        </p:txBody>
      </p:sp>
      <p:sp>
        <p:nvSpPr>
          <p:cNvPr id="8" name="Text 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9" name="Text 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docs/current/12_operations_limits.md, reference/execution_contract.md</a:t>
            </a:r>
            <a:endParaRPr lang="en-US" sz="850" dirty="0"/>
          </a:p>
        </p:txBody>
      </p:sp>
      <p:sp>
        <p:nvSpPr>
          <p:cNvPr id="10" name="Text 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80 / 89</a:t>
            </a:r>
            <a:endParaRPr lang="en-US" sz="8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한계 · 정리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옵션과 API: 무엇을 켜고 끄며, 오해하기 쉬운 점은 무엇인가</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npu_target.build(module, func_name, fusion, residency, profile) 와 NpuProfile 필드. 각 옵션은 한 단계만 바꾸며 다른 최적화를 함께 끄지 않습니다.</a:t>
            </a:r>
            <a:endParaRPr lang="en-US" sz="125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6949440" cy="914400"/>
        </p:xfrm>
        <a:graphic>
          <a:graphicData uri="http://schemas.openxmlformats.org/drawingml/2006/table">
            <a:tbl>
              <a:tblPr/>
              <a:tblGrid>
                <a:gridCol w="2148840"/>
                <a:gridCol w="2468880"/>
                <a:gridCol w="2331720"/>
              </a:tblGrid>
              <a:tr h="301752">
                <a:tc>
                  <a:txBody>
                    <a:bodyPr/>
                    <a:lstStyle/>
                    <a:p>
                      <a:pPr algn="l" indent="0" marL="0">
                        <a:buNone/>
                      </a:pPr>
                      <a:r>
                        <a:rPr lang="en-US" sz="820" b="1" dirty="0">
                          <a:solidFill>
                            <a:srgbClr val="FFFFFF"/>
                          </a:solidFill>
                          <a:latin typeface="Malgun Gothic" pitchFamily="34" charset="0"/>
                          <a:ea typeface="Malgun Gothic" pitchFamily="34" charset="-122"/>
                          <a:cs typeface="Malgun Gothic" pitchFamily="34" charset="-120"/>
                        </a:rPr>
                        <a:t>옵션</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20" b="1" dirty="0">
                          <a:solidFill>
                            <a:srgbClr val="FFFFFF"/>
                          </a:solidFill>
                          <a:latin typeface="Malgun Gothic" pitchFamily="34" charset="0"/>
                          <a:ea typeface="Malgun Gothic" pitchFamily="34" charset="-122"/>
                          <a:cs typeface="Malgun Gothic" pitchFamily="34" charset="-120"/>
                        </a:rPr>
                        <a:t>기본 동작</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20" b="1" dirty="0">
                          <a:solidFill>
                            <a:srgbClr val="FFFFFF"/>
                          </a:solidFill>
                          <a:latin typeface="Malgun Gothic" pitchFamily="34" charset="0"/>
                          <a:ea typeface="Malgun Gothic" pitchFamily="34" charset="-122"/>
                          <a:cs typeface="Malgun Gothic" pitchFamily="34" charset="-120"/>
                        </a:rPr>
                        <a:t>오해하기 쉬운 점</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0175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fusion = auto</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합법 기준 + graph 후보 비교 (5장)</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전역 최적 보장 아님</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0175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fusion = off</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attention / generic fusion을 끔</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메모리 최적화까지 전부 끄는 것은 아님</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0175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fusion = on</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pattern / generic fusion 요청</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지원되지 않는 복합 kernel은 실패 가능</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0175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joint_memory (True)</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중간 FP16 tensor 전체 보관 + schedule 동시 선택</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부분 tile 보관이나 runtime eviction 아님</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0175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reuse_sram (True)</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커널 내부 수명에 따른 USMP 공간 재사용</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커널 사이 보관과 다른 옵션</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0175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residency (True)</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후단 versioned SRAM forwarding + joint search 활성</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compile_program 기본은 False, public build는 True</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0175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graph_search_seconds</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기본 120초 / None 해제</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E10은 None, 전체 timeout 아님</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0175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schedule_max_attempts = 64</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성공/실패/용량 초과 포함 시도 제한</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64개의 성공 후보 보장 아님. None = 무제한</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0175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schedule_search = "space"</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추정 DMA 순 탐색 (기본)</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"meta_schedule"은 ReplayFunc 추첨, "legacy"는 기준 규칙만. 학습형 탐색 아님</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0175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schedule_probe_word_budget = 100,000</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max(설정, 기준 words × legal 목표)</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설정값이 항상 상한은 아님. 후보 완료 후 검사</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0175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schedule_database (compilation)</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trace DB 저장·재사용, mode reuse / tune</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기본 꺼짐. 최외곽 context에서만, 버전별 디렉터리</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0175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cache_buckets</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미리 만든 capacity별 decode 선택</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매 step 임의 shape의 동적 실행 아님</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01752">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NPU_NATIVE / NPU_CODEGEN_SO</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native codegen 사용 여부 / 경로</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결과 words는 compare 모드로 동일성 검사</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 name="Shape 3"/>
          <p:cNvSpPr/>
          <p:nvPr/>
        </p:nvSpPr>
        <p:spPr>
          <a:xfrm>
            <a:off x="7635240" y="1417320"/>
            <a:ext cx="4096512" cy="2651760"/>
          </a:xfrm>
          <a:prstGeom prst="roundRect">
            <a:avLst>
              <a:gd name="adj" fmla="val 1724"/>
            </a:avLst>
          </a:prstGeom>
          <a:solidFill>
            <a:srgbClr val="F5F7FA"/>
          </a:solidFill>
          <a:ln w="9525">
            <a:solidFill>
              <a:srgbClr val="C9D3DF"/>
            </a:solidFill>
            <a:prstDash val="solid"/>
          </a:ln>
        </p:spPr>
      </p:sp>
      <p:sp>
        <p:nvSpPr>
          <p:cNvPr id="7" name="Text 4"/>
          <p:cNvSpPr txBox="1"/>
          <p:nvPr/>
        </p:nvSpPr>
        <p:spPr>
          <a:xfrm>
            <a:off x="7744968" y="1490472"/>
            <a:ext cx="3877056" cy="2505456"/>
          </a:xfrm>
          <a:prstGeom prst="rect">
            <a:avLst/>
          </a:prstGeom>
          <a:noFill/>
          <a:ln/>
        </p:spPr>
        <p:txBody>
          <a:bodyPr wrap="square" lIns="0" tIns="0" rIns="0" bIns="0" rtlCol="0" anchor="t"/>
          <a:lstStyle/>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from npu_compiler import npu_target</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from npu_compiler.npu_compilation import compilation</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with compilation(progress=lambda e: print(e)):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exe = npu_target.build(module,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func_name="prefill", fusion="auto")</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values: 최종 signature 이름 → 배열</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output, counters = exe.run(values)</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exe.export_bundle("/tmp/npu-bundle", values)</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선택형 trace DB (기본 꺼짐, mode: reuse | tune)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with compilation(schedule_database="build/schedule_db",</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schedule_database_mode="reuse"):</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exe = npu_target.build(module, func_name="prefill")</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generation (checkpoint 준비 후)</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python d_compiler/run_nn_generate.py --model llama \</a:t>
            </a:r>
            <a:endParaRPr lang="en-US" sz="800" dirty="0"/>
          </a:p>
          <a:p>
            <a:pPr algn="l" indent="0" marL="0">
              <a:lnSpc>
                <a:spcPct val="105000"/>
              </a:lnSpc>
              <a:buNone/>
            </a:pPr>
            <a:r>
              <a:rPr lang="en-US" sz="800" dirty="0">
                <a:solidFill>
                  <a:srgbClr val="1F2D3D"/>
                </a:solidFill>
                <a:latin typeface="Courier New" pitchFamily="34" charset="0"/>
                <a:ea typeface="Courier New" pitchFamily="34" charset="-122"/>
                <a:cs typeface="Courier New" pitchFamily="34" charset="-120"/>
              </a:rPr>
              <a:t>  --prompt "Hello, NPU compiler!" --tokens 3 --capacity 9</a:t>
            </a:r>
            <a:endParaRPr lang="en-US" sz="800" dirty="0"/>
          </a:p>
        </p:txBody>
      </p:sp>
      <p:sp>
        <p:nvSpPr>
          <p:cNvPr id="8" name="Shape 5"/>
          <p:cNvSpPr/>
          <p:nvPr/>
        </p:nvSpPr>
        <p:spPr>
          <a:xfrm>
            <a:off x="7635240" y="4251960"/>
            <a:ext cx="4096512" cy="1554480"/>
          </a:xfrm>
          <a:prstGeom prst="roundRect">
            <a:avLst>
              <a:gd name="adj" fmla="val 3529"/>
            </a:avLst>
          </a:prstGeom>
          <a:solidFill>
            <a:srgbClr val="FFF6DB"/>
          </a:solidFill>
          <a:ln w="12700">
            <a:solidFill>
              <a:srgbClr val="B7791F"/>
            </a:solidFill>
            <a:prstDash val="solid"/>
          </a:ln>
        </p:spPr>
      </p:sp>
      <p:sp>
        <p:nvSpPr>
          <p:cNvPr id="9" name="Text 6"/>
          <p:cNvSpPr txBox="1"/>
          <p:nvPr/>
        </p:nvSpPr>
        <p:spPr>
          <a:xfrm>
            <a:off x="7763256" y="4306824"/>
            <a:ext cx="3840480" cy="144475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build_image / run은 raw checkpoint의 변환을 자동 추측하지 않습니다. </a:t>
            </a:r>
            <a:pPr algn="l" indent="0" marL="0">
              <a:buNone/>
            </a:pPr>
            <a:r>
              <a:rPr lang="en-US" sz="950" dirty="0">
                <a:solidFill>
                  <a:srgbClr val="1F2D3D"/>
                </a:solidFill>
                <a:latin typeface="Malgun Gothic" pitchFamily="34" charset="0"/>
                <a:ea typeface="Malgun Gothic" pitchFamily="34" charset="-122"/>
                <a:cs typeface="Malgun Gothic" pitchFamily="34" charset="-120"/>
              </a:rPr>
              <a:t>host transform과 _bind_inputs의 역할(3장, 9장)을 따라 최종 signature에 맞는 values를 넘겨야 합니다.</a:t>
            </a:r>
            <a:endParaRPr lang="en-US" sz="1200" dirty="0"/>
          </a:p>
        </p:txBody>
      </p:sp>
      <p:sp>
        <p:nvSpPr>
          <p:cNvPr id="10" name="Shape 7"/>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1" name="Text 8"/>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옵션 하나는 한 단계만 바꿉니다. "fusion off"가 메모리 최적화를 끄지 않고, "joint_memory"가 runtime eviction을 뜻하지 않습니다.</a:t>
            </a:r>
            <a:endParaRPr lang="en-US" sz="1250" dirty="0"/>
          </a:p>
        </p:txBody>
      </p:sp>
      <p:sp>
        <p:nvSpPr>
          <p:cNvPr id="12" name="Text 9"/>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3" name="Text 10"/>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docs/current/12_operations_limits.md, npu_compiler/npu_target.py, device.py</a:t>
            </a:r>
            <a:endParaRPr lang="en-US" sz="850" dirty="0"/>
          </a:p>
        </p:txBody>
      </p:sp>
      <p:sp>
        <p:nvSpPr>
          <p:cNvPr id="14" name="Text 11"/>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81 / 89</a:t>
            </a:r>
            <a:endParaRPr lang="en-US" sz="8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한계 · 정리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오류가 나면 어느 단계부터 보는가</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관찰한 증상을 단계의 결정에 대응시키면 확인할 파일과 예제가 정해집니다. Native/Python 일치는 계약 준수의 근거이지 모델 수식 오류까지 배제하지 않습니다.</a:t>
            </a:r>
            <a:endParaRPr lang="en-US" sz="125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2560320"/>
                <a:gridCol w="4206240"/>
                <a:gridCol w="4507992"/>
              </a:tblGrid>
              <a:tr h="384048">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관찰한 증상</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먼저 확인할 것</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관련 단계 / 파일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LLVM부터 HF와 크게 다름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모델 수식, weight 순서, mask/RoPE, 정밀도 정책</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2~4장: nn_models, npu_legalize, npu_numeric</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작은 K는 맞고 큰 K가 틀림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FP32 accumulator 연결과 부분합 순서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6장: npu_accumulator, emit_gemm, tile_order_reference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첫 tile만 맞고 뒤 tile이 틀림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MAIN stride, PARTIAL 주소, dtype/주소 단위(nibble·cell·unit)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9장: tir_codegen_v09, isa_compute, isa_v09</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SRAM 보관을 켤 때만 틀림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값 버전, 마지막 소비, alias, 덮어쓰기 판단</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8장: npu_memory_search.discover, parameter_scopes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주소 압축 후 출력/cache가 틀림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DMA와 output/constant/append 주소의 일관성</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8장: compact_unused_storage, npu_cache 재구성</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Prefill은 맞고 다음 decode가 틀림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현재 token, position, mask, cache append 슬롯</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9장: length_mask, AppendPlan.position/words, DecodeSession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Words가 너무 많음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짧은 vector 행, 주소 설정 반복, 정적 loop 전개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7장/9장: pointwise coalescing, peephole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Compile이 오래 걸림</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trial/entry/region cache hit·miss, 거절 이유, phase 시간, 종료 한도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10장: compilation.describe, budget, native_rejections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native와 Python이 다름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compare 모드의 첫 다른 word, contract/source hash</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9장: native.py, v09_contract.json, build_identity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 name="Shape 3"/>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7" name="Text 4"/>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증상 → 단계 → 예제의 IR/metadata에서 실제 선택 확인. 처음부터 파일 순서로 읽기보다 관심 있는 현상이 어느 단계의 결정인지 먼저 정합니다.</a:t>
            </a:r>
            <a:endParaRPr lang="en-US" sz="1250" dirty="0"/>
          </a:p>
        </p:txBody>
      </p:sp>
      <p:sp>
        <p:nvSpPr>
          <p:cNvPr id="8" name="Text 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9" name="Text 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docs/current/12_operations_limits.md</a:t>
            </a:r>
            <a:endParaRPr lang="en-US" sz="850" dirty="0"/>
          </a:p>
        </p:txBody>
      </p:sp>
      <p:sp>
        <p:nvSpPr>
          <p:cNvPr id="10" name="Text 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82 / 89</a:t>
            </a:r>
            <a:endParaRPr lang="en-US" sz="8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10 · 실험 · 한계 · 정리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남은 이슈: 구현 착수 목록이 아니라 검토 목록</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효과가 작거나 custom 복잡도가 큰 변경은 원하지 않습니다. 기존 구현을 유지한 상태에서 필요성과 규모를 먼저 평가합니다. 이번 문서 작업에서 최적화를 추가 구현하지 않았습니다.</a:t>
            </a:r>
            <a:endParaRPr lang="en-US" sz="125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577840" cy="914400"/>
        </p:xfrm>
        <a:graphic>
          <a:graphicData uri="http://schemas.openxmlformats.org/drawingml/2006/table">
            <a:tbl>
              <a:tblPr/>
              <a:tblGrid>
                <a:gridCol w="1280160"/>
                <a:gridCol w="2286000"/>
                <a:gridCol w="2011680"/>
              </a:tblGrid>
              <a:tr h="566928">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항목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현재 한계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재개할 때 먼저 확인</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56692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Vector 256 / 긴 VLEN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과거 상한 설명과 후속 결정 충돌, C-model은 물리 버퍼 모형 아님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실제 장치의 LOAD/연산/SAVE·유효 길이·버퍼 계약</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56692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Vector schedule / 비용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용량에 맞춘 행 축소 위주, cycle·lane 활용률 미반영</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대표 kernel의 짧은 명령과 SRAM 임시값 비용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56692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작은 fusion 영역</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큰 TVM 영역 채택/해제 중심</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일부만 합치면 최종 프로그램이 좋아지는지 제한 비교</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56692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ISA activation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자동 matmul activation OFF</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마지막 K, bias 순서, FP16 반올림과 품질 차이</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56692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Attention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Query 분할, key online softmax 없음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장치 누적 상태와 긴 context에서의 예상 이득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56692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Decode 길이</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Capacity 전체 계산과 append 전송</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bucket 효과, 빈 슬롯 낭비, KV 최종 위치 직접 저장 계약</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graphicFrame>
        <p:nvGraphicFramePr>
          <p:cNvPr id="167" name="Table 1"/>
          <p:cNvGraphicFramePr>
            <a:graphicFrameLocks noGrp="1"/>
          </p:cNvGraphicFramePr>
          <p:nvPr>
            <p:extLst>
              <p:ext uri="{D42A27DB-BD31-4B8C-83A1-F6EECF244321}">
                <p14:modId xmlns:p14="http://schemas.microsoft.com/office/powerpoint/2010/main" val="1579011935"/>
              </p:ext>
            </p:extLst>
          </p:nvPr>
        </p:nvGraphicFramePr>
        <p:xfrm>
          <a:off x="6263640" y="1417320"/>
          <a:ext cx="5468112" cy="914400"/>
        </p:xfrm>
        <a:graphic>
          <a:graphicData uri="http://schemas.openxmlformats.org/drawingml/2006/table">
            <a:tbl>
              <a:tblPr/>
              <a:tblGrid>
                <a:gridCol w="1280160"/>
                <a:gridCol w="2103120"/>
                <a:gridCol w="2084832"/>
              </a:tblGrid>
              <a:tr h="50292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항목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현재 한계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재개할 때 먼저 확인</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5029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메모리</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Whole-tensor 보관, 고정 호출 순서, 일부 조각화</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보관 포기 사례의 실제 손실. 실행 순서/퇴거/부분 tile은 큰 변경으로 분리</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5029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DRAM 압축</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완전 미사용 pool 제거</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사용 중 pool 내부 낭비가 의미 있는지 확인 후 수명 재분석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5029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병렬 matmul 결합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QKV / gate-up 표준 pass 효과 미확인</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CombineParallelMatmul과 split/layout 비용 포함 비교</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5029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DLight / MetaSchedule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DLight 미사용; trace DB·ReplayFunc 선택형</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여러 seed의 개선과 탐색 비용; 학습형 모델은 별도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5029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정밀도 선택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고정 계약, 자동 오차 예산 탐색 없음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허용 오차·모델 품질 기준을 먼저 정함</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5029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성능 모델</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DMA → words → SRAM 비교</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RTL/장치 timing 확보 뒤 상관 확인</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50292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양자화 generation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공개 generate에 선택 미연결</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후반부 범위부터 검증, KV 양자화까지 완료로 확대하지 않음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7" name="Shape 3"/>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8" name="Text 4"/>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새 기능을 늘리기 전에 예상 이득, 공통 구현 가능성, 검증 비용을 함께 확인합니다. 지표(DMA/words/SRAM)로 확인되지 않는 개선은 채택하지 않습니다.</a:t>
            </a:r>
            <a:endParaRPr lang="en-US" sz="1250" dirty="0"/>
          </a:p>
        </p:txBody>
      </p:sp>
      <p:sp>
        <p:nvSpPr>
          <p:cNvPr id="9" name="Text 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0" name="Text 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docs/current/12_operations_limits.md</a:t>
            </a:r>
            <a:endParaRPr lang="en-US" sz="850" dirty="0"/>
          </a:p>
        </p:txBody>
      </p:sp>
      <p:sp>
        <p:nvSpPr>
          <p:cNvPr id="11" name="Text 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83 / 89</a:t>
            </a:r>
            <a:endParaRPr lang="en-US" sz="8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정리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정리: 작은 예제 하나가 지나온 길 — 계산에서 실행까지</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SiLU(X[64,128]·Wᵀ+bias)가 각 단계에서 무엇으로 바뀌었는지. 같은 흐름이 실제 Llama 28 layers에서는 8.58M words의 prefill과 7.31M words의 decode가 됩니다.</a:t>
            </a:r>
            <a:endParaRPr lang="en-US" sz="1250" dirty="0"/>
          </a:p>
        </p:txBody>
      </p:sp>
      <p:sp>
        <p:nvSpPr>
          <p:cNvPr id="5" name="Shape 3"/>
          <p:cNvSpPr/>
          <p:nvPr/>
        </p:nvSpPr>
        <p:spPr>
          <a:xfrm>
            <a:off x="457200" y="1508760"/>
            <a:ext cx="2647188" cy="1097280"/>
          </a:xfrm>
          <a:prstGeom prst="roundRect">
            <a:avLst>
              <a:gd name="adj" fmla="val 5000"/>
            </a:avLst>
          </a:prstGeom>
          <a:solidFill>
            <a:srgbClr val="E3EEFB"/>
          </a:solidFill>
          <a:ln w="12700">
            <a:solidFill>
              <a:srgbClr val="2F6DB5"/>
            </a:solidFill>
            <a:prstDash val="solid"/>
          </a:ln>
        </p:spPr>
      </p:sp>
      <p:sp>
        <p:nvSpPr>
          <p:cNvPr id="6" name="Text 4"/>
          <p:cNvSpPr txBox="1"/>
          <p:nvPr/>
        </p:nvSpPr>
        <p:spPr>
          <a:xfrm>
            <a:off x="530352" y="1581912"/>
            <a:ext cx="2500884" cy="238125"/>
          </a:xfrm>
          <a:prstGeom prst="rect">
            <a:avLst/>
          </a:prstGeom>
          <a:noFill/>
          <a:ln/>
        </p:spPr>
        <p:txBody>
          <a:bodyPr wrap="square" lIns="0" tIns="0" rIns="0" bIns="0" rtlCol="0" anchor="ctr"/>
          <a:lstStyle/>
          <a:p>
            <a:pPr algn="ctr" indent="0" marL="0">
              <a:buNone/>
            </a:pPr>
            <a:r>
              <a:rPr lang="en-US" sz="1250" b="1" dirty="0">
                <a:solidFill>
                  <a:srgbClr val="1F2D3D"/>
                </a:solidFill>
                <a:latin typeface="Malgun Gothic" pitchFamily="34" charset="0"/>
                <a:ea typeface="Malgun Gothic" pitchFamily="34" charset="-122"/>
                <a:cs typeface="Malgun Gothic" pitchFamily="34" charset="-120"/>
              </a:rPr>
              <a:t>① Relax</a:t>
            </a:r>
            <a:endParaRPr lang="en-US" sz="1250" dirty="0"/>
          </a:p>
        </p:txBody>
      </p:sp>
      <p:sp>
        <p:nvSpPr>
          <p:cNvPr id="7" name="Text 5"/>
          <p:cNvSpPr txBox="1"/>
          <p:nvPr/>
        </p:nvSpPr>
        <p:spPr>
          <a:xfrm>
            <a:off x="530352" y="1820037"/>
            <a:ext cx="2500884" cy="749427"/>
          </a:xfrm>
          <a:prstGeom prst="rect">
            <a:avLst/>
          </a:prstGeom>
          <a:noFill/>
          <a:ln/>
        </p:spPr>
        <p:txBody>
          <a:bodyPr wrap="square" lIns="0" tIns="0" rIns="0" bIns="0" rtlCol="0" anchor="t"/>
          <a:lstStyle/>
          <a:p>
            <a:pPr algn="ctr" indent="0" marL="0">
              <a:buNone/>
            </a:pPr>
            <a:r>
              <a:rPr lang="en-US" sz="900" dirty="0">
                <a:solidFill>
                  <a:srgbClr val="5B6B7F"/>
                </a:solidFill>
                <a:latin typeface="Malgun Gothic" pitchFamily="34" charset="0"/>
                <a:ea typeface="Malgun Gothic" pitchFamily="34" charset="-122"/>
                <a:cs typeface="Malgun Gothic" pitchFamily="34" charset="-120"/>
              </a:rPr>
              <a:t>permute_dims · matmul</a:t>
            </a:r>
            <a:endParaRPr lang="en-US" sz="900" dirty="0"/>
          </a:p>
          <a:p>
            <a:pPr algn="ctr" indent="0" marL="0">
              <a:buNone/>
            </a:pPr>
            <a:r>
              <a:rPr lang="en-US" sz="900" dirty="0">
                <a:solidFill>
                  <a:srgbClr val="5B6B7F"/>
                </a:solidFill>
                <a:latin typeface="Malgun Gothic" pitchFamily="34" charset="0"/>
                <a:ea typeface="Malgun Gothic" pitchFamily="34" charset="-122"/>
                <a:cs typeface="Malgun Gothic" pitchFamily="34" charset="-120"/>
              </a:rPr>
              <a:t>· add · silu, num_input=1</a:t>
            </a:r>
            <a:endParaRPr lang="en-US" sz="900" dirty="0"/>
          </a:p>
        </p:txBody>
      </p:sp>
      <p:sp>
        <p:nvSpPr>
          <p:cNvPr id="8" name="Shape 6"/>
          <p:cNvSpPr/>
          <p:nvPr/>
        </p:nvSpPr>
        <p:spPr>
          <a:xfrm>
            <a:off x="3122676" y="2057400"/>
            <a:ext cx="192024" cy="914"/>
          </a:xfrm>
          <a:prstGeom prst="line">
            <a:avLst/>
          </a:prstGeom>
          <a:noFill/>
          <a:ln w="19050">
            <a:solidFill>
              <a:srgbClr val="5B6B7F"/>
            </a:solidFill>
            <a:prstDash val="solid"/>
            <a:tailEnd type="triangle"/>
          </a:ln>
        </p:spPr>
      </p:sp>
      <p:sp>
        <p:nvSpPr>
          <p:cNvPr id="9" name="Shape 7"/>
          <p:cNvSpPr/>
          <p:nvPr/>
        </p:nvSpPr>
        <p:spPr>
          <a:xfrm>
            <a:off x="3332988" y="1508760"/>
            <a:ext cx="2647188" cy="1097280"/>
          </a:xfrm>
          <a:prstGeom prst="roundRect">
            <a:avLst>
              <a:gd name="adj" fmla="val 5000"/>
            </a:avLst>
          </a:prstGeom>
          <a:solidFill>
            <a:srgbClr val="E3EEFB"/>
          </a:solidFill>
          <a:ln w="12700">
            <a:solidFill>
              <a:srgbClr val="2F6DB5"/>
            </a:solidFill>
            <a:prstDash val="solid"/>
          </a:ln>
        </p:spPr>
      </p:sp>
      <p:sp>
        <p:nvSpPr>
          <p:cNvPr id="10" name="Text 8"/>
          <p:cNvSpPr txBox="1"/>
          <p:nvPr/>
        </p:nvSpPr>
        <p:spPr>
          <a:xfrm>
            <a:off x="3406140" y="1581912"/>
            <a:ext cx="2500884" cy="238125"/>
          </a:xfrm>
          <a:prstGeom prst="rect">
            <a:avLst/>
          </a:prstGeom>
          <a:noFill/>
          <a:ln/>
        </p:spPr>
        <p:txBody>
          <a:bodyPr wrap="square" lIns="0" tIns="0" rIns="0" bIns="0" rtlCol="0" anchor="ctr"/>
          <a:lstStyle/>
          <a:p>
            <a:pPr algn="ctr" indent="0" marL="0">
              <a:buNone/>
            </a:pPr>
            <a:r>
              <a:rPr lang="en-US" sz="1250" b="1" dirty="0">
                <a:solidFill>
                  <a:srgbClr val="1F2D3D"/>
                </a:solidFill>
                <a:latin typeface="Malgun Gothic" pitchFamily="34" charset="0"/>
                <a:ea typeface="Malgun Gothic" pitchFamily="34" charset="-122"/>
                <a:cs typeface="Malgun Gothic" pitchFamily="34" charset="-120"/>
              </a:rPr>
              <a:t>② Graph prefix</a:t>
            </a:r>
            <a:endParaRPr lang="en-US" sz="1250" dirty="0"/>
          </a:p>
        </p:txBody>
      </p:sp>
      <p:sp>
        <p:nvSpPr>
          <p:cNvPr id="11" name="Text 9"/>
          <p:cNvSpPr txBox="1"/>
          <p:nvPr/>
        </p:nvSpPr>
        <p:spPr>
          <a:xfrm>
            <a:off x="3406140" y="1820037"/>
            <a:ext cx="2500884" cy="749427"/>
          </a:xfrm>
          <a:prstGeom prst="rect">
            <a:avLst/>
          </a:prstGeom>
          <a:noFill/>
          <a:ln/>
        </p:spPr>
        <p:txBody>
          <a:bodyPr wrap="square" lIns="0" tIns="0" rIns="0" bIns="0" rtlCol="0" anchor="t"/>
          <a:lstStyle/>
          <a:p>
            <a:pPr algn="ctr" indent="0" marL="0">
              <a:buNone/>
            </a:pPr>
            <a:r>
              <a:rPr lang="en-US" sz="900" dirty="0">
                <a:solidFill>
                  <a:srgbClr val="5B6B7F"/>
                </a:solidFill>
                <a:latin typeface="Malgun Gothic" pitchFamily="34" charset="0"/>
                <a:ea typeface="Malgun Gothic" pitchFamily="34" charset="-122"/>
                <a:cs typeface="Malgun Gothic" pitchFamily="34" charset="-120"/>
              </a:rPr>
              <a:t>transpose → host 함수</a:t>
            </a:r>
            <a:endParaRPr lang="en-US" sz="900" dirty="0"/>
          </a:p>
          <a:p>
            <a:pPr algn="ctr" indent="0" marL="0">
              <a:buNone/>
            </a:pPr>
            <a:r>
              <a:rPr lang="en-US" sz="900" dirty="0">
                <a:solidFill>
                  <a:srgbClr val="5B6B7F"/>
                </a:solidFill>
                <a:latin typeface="Malgun Gothic" pitchFamily="34" charset="0"/>
                <a:ea typeface="Malgun Gothic" pitchFamily="34" charset="-122"/>
                <a:cs typeface="Malgun Gothic" pitchFamily="34" charset="-120"/>
              </a:rPr>
              <a:t>prefill(x, bias, lv)</a:t>
            </a:r>
            <a:endParaRPr lang="en-US" sz="900" dirty="0"/>
          </a:p>
        </p:txBody>
      </p:sp>
      <p:sp>
        <p:nvSpPr>
          <p:cNvPr id="12" name="Shape 10"/>
          <p:cNvSpPr/>
          <p:nvPr/>
        </p:nvSpPr>
        <p:spPr>
          <a:xfrm>
            <a:off x="5998464" y="2057400"/>
            <a:ext cx="192024" cy="914"/>
          </a:xfrm>
          <a:prstGeom prst="line">
            <a:avLst/>
          </a:prstGeom>
          <a:noFill/>
          <a:ln w="19050">
            <a:solidFill>
              <a:srgbClr val="5B6B7F"/>
            </a:solidFill>
            <a:prstDash val="solid"/>
            <a:tailEnd type="triangle"/>
          </a:ln>
        </p:spPr>
      </p:sp>
      <p:sp>
        <p:nvSpPr>
          <p:cNvPr id="13" name="Shape 11"/>
          <p:cNvSpPr/>
          <p:nvPr/>
        </p:nvSpPr>
        <p:spPr>
          <a:xfrm>
            <a:off x="6208776" y="1508760"/>
            <a:ext cx="2647188" cy="1097280"/>
          </a:xfrm>
          <a:prstGeom prst="roundRect">
            <a:avLst>
              <a:gd name="adj" fmla="val 5000"/>
            </a:avLst>
          </a:prstGeom>
          <a:solidFill>
            <a:srgbClr val="E3EEFB"/>
          </a:solidFill>
          <a:ln w="12700">
            <a:solidFill>
              <a:srgbClr val="2F6DB5"/>
            </a:solidFill>
            <a:prstDash val="solid"/>
          </a:ln>
        </p:spPr>
      </p:sp>
      <p:sp>
        <p:nvSpPr>
          <p:cNvPr id="14" name="Text 12"/>
          <p:cNvSpPr txBox="1"/>
          <p:nvPr/>
        </p:nvSpPr>
        <p:spPr>
          <a:xfrm>
            <a:off x="6281928" y="1581912"/>
            <a:ext cx="2500884" cy="238125"/>
          </a:xfrm>
          <a:prstGeom prst="rect">
            <a:avLst/>
          </a:prstGeom>
          <a:noFill/>
          <a:ln/>
        </p:spPr>
        <p:txBody>
          <a:bodyPr wrap="square" lIns="0" tIns="0" rIns="0" bIns="0" rtlCol="0" anchor="ctr"/>
          <a:lstStyle/>
          <a:p>
            <a:pPr algn="ctr" indent="0" marL="0">
              <a:buNone/>
            </a:pPr>
            <a:r>
              <a:rPr lang="en-US" sz="1250" b="1" dirty="0">
                <a:solidFill>
                  <a:srgbClr val="1F2D3D"/>
                </a:solidFill>
                <a:latin typeface="Malgun Gothic" pitchFamily="34" charset="0"/>
                <a:ea typeface="Malgun Gothic" pitchFamily="34" charset="-122"/>
                <a:cs typeface="Malgun Gothic" pitchFamily="34" charset="-120"/>
              </a:rPr>
              <a:t>③ Semantic TIR</a:t>
            </a:r>
            <a:endParaRPr lang="en-US" sz="1250" dirty="0"/>
          </a:p>
        </p:txBody>
      </p:sp>
      <p:sp>
        <p:nvSpPr>
          <p:cNvPr id="15" name="Text 13"/>
          <p:cNvSpPr txBox="1"/>
          <p:nvPr/>
        </p:nvSpPr>
        <p:spPr>
          <a:xfrm>
            <a:off x="6281928" y="1820037"/>
            <a:ext cx="2500884" cy="749427"/>
          </a:xfrm>
          <a:prstGeom prst="rect">
            <a:avLst/>
          </a:prstGeom>
          <a:noFill/>
          <a:ln/>
        </p:spPr>
        <p:txBody>
          <a:bodyPr wrap="square" lIns="0" tIns="0" rIns="0" bIns="0" rtlCol="0" anchor="t"/>
          <a:lstStyle/>
          <a:p>
            <a:pPr algn="ctr" indent="0" marL="0">
              <a:buNone/>
            </a:pPr>
            <a:r>
              <a:rPr lang="en-US" sz="900" dirty="0">
                <a:solidFill>
                  <a:srgbClr val="5B6B7F"/>
                </a:solidFill>
                <a:latin typeface="Malgun Gothic" pitchFamily="34" charset="0"/>
                <a:ea typeface="Malgun Gothic" pitchFamily="34" charset="-122"/>
                <a:cs typeface="Malgun Gothic" pitchFamily="34" charset="-120"/>
              </a:rPr>
              <a:t>call_tir ×3 + PrimFunc</a:t>
            </a:r>
            <a:endParaRPr lang="en-US" sz="900" dirty="0"/>
          </a:p>
          <a:p>
            <a:pPr algn="ctr" indent="0" marL="0">
              <a:buNone/>
            </a:pPr>
            <a:r>
              <a:rPr lang="en-US" sz="900" dirty="0">
                <a:solidFill>
                  <a:srgbClr val="5B6B7F"/>
                </a:solidFill>
                <a:latin typeface="Malgun Gothic" pitchFamily="34" charset="0"/>
                <a:ea typeface="Malgun Gothic" pitchFamily="34" charset="-122"/>
                <a:cs typeface="Malgun Gothic" pitchFamily="34" charset="-120"/>
              </a:rPr>
              <a:t>FP32 누산 → FP16 cast</a:t>
            </a:r>
            <a:endParaRPr lang="en-US" sz="900" dirty="0"/>
          </a:p>
        </p:txBody>
      </p:sp>
      <p:sp>
        <p:nvSpPr>
          <p:cNvPr id="16" name="Shape 14"/>
          <p:cNvSpPr/>
          <p:nvPr/>
        </p:nvSpPr>
        <p:spPr>
          <a:xfrm>
            <a:off x="8874252" y="2057400"/>
            <a:ext cx="192024" cy="914"/>
          </a:xfrm>
          <a:prstGeom prst="line">
            <a:avLst/>
          </a:prstGeom>
          <a:noFill/>
          <a:ln w="19050">
            <a:solidFill>
              <a:srgbClr val="5B6B7F"/>
            </a:solidFill>
            <a:prstDash val="solid"/>
            <a:tailEnd type="triangle"/>
          </a:ln>
        </p:spPr>
      </p:sp>
      <p:sp>
        <p:nvSpPr>
          <p:cNvPr id="17" name="Shape 15"/>
          <p:cNvSpPr/>
          <p:nvPr/>
        </p:nvSpPr>
        <p:spPr>
          <a:xfrm>
            <a:off x="9084564" y="1508760"/>
            <a:ext cx="2647188" cy="1097280"/>
          </a:xfrm>
          <a:prstGeom prst="roundRect">
            <a:avLst>
              <a:gd name="adj" fmla="val 5000"/>
            </a:avLst>
          </a:prstGeom>
          <a:solidFill>
            <a:srgbClr val="DDF3F0"/>
          </a:solidFill>
          <a:ln w="12700">
            <a:solidFill>
              <a:srgbClr val="1F8A8A"/>
            </a:solidFill>
            <a:prstDash val="solid"/>
          </a:ln>
        </p:spPr>
      </p:sp>
      <p:sp>
        <p:nvSpPr>
          <p:cNvPr id="18" name="Text 16"/>
          <p:cNvSpPr txBox="1"/>
          <p:nvPr/>
        </p:nvSpPr>
        <p:spPr>
          <a:xfrm>
            <a:off x="9157716" y="1581912"/>
            <a:ext cx="2500884" cy="238125"/>
          </a:xfrm>
          <a:prstGeom prst="rect">
            <a:avLst/>
          </a:prstGeom>
          <a:noFill/>
          <a:ln/>
        </p:spPr>
        <p:txBody>
          <a:bodyPr wrap="square" lIns="0" tIns="0" rIns="0" bIns="0" rtlCol="0" anchor="ctr"/>
          <a:lstStyle/>
          <a:p>
            <a:pPr algn="ctr" indent="0" marL="0">
              <a:buNone/>
            </a:pPr>
            <a:r>
              <a:rPr lang="en-US" sz="1250" b="1" dirty="0">
                <a:solidFill>
                  <a:srgbClr val="1F2D3D"/>
                </a:solidFill>
                <a:latin typeface="Malgun Gothic" pitchFamily="34" charset="0"/>
                <a:ea typeface="Malgun Gothic" pitchFamily="34" charset="-122"/>
                <a:cs typeface="Malgun Gothic" pitchFamily="34" charset="-120"/>
              </a:rPr>
              <a:t>④ Fusion 선택</a:t>
            </a:r>
            <a:endParaRPr lang="en-US" sz="1250" dirty="0"/>
          </a:p>
        </p:txBody>
      </p:sp>
      <p:sp>
        <p:nvSpPr>
          <p:cNvPr id="19" name="Text 17"/>
          <p:cNvSpPr txBox="1"/>
          <p:nvPr/>
        </p:nvSpPr>
        <p:spPr>
          <a:xfrm>
            <a:off x="9157716" y="1820037"/>
            <a:ext cx="2500884" cy="749427"/>
          </a:xfrm>
          <a:prstGeom prst="rect">
            <a:avLst/>
          </a:prstGeom>
          <a:noFill/>
          <a:ln/>
        </p:spPr>
        <p:txBody>
          <a:bodyPr wrap="square" lIns="0" tIns="0" rIns="0" bIns="0" rtlCol="0" anchor="t"/>
          <a:lstStyle/>
          <a:p>
            <a:pPr algn="ctr" indent="0" marL="0">
              <a:buNone/>
            </a:pPr>
            <a:r>
              <a:rPr lang="en-US" sz="900" dirty="0">
                <a:solidFill>
                  <a:srgbClr val="5B6B7F"/>
                </a:solidFill>
                <a:latin typeface="Malgun Gothic" pitchFamily="34" charset="0"/>
                <a:ea typeface="Malgun Gothic" pitchFamily="34" charset="-122"/>
                <a:cs typeface="Malgun Gothic" pitchFamily="34" charset="-120"/>
              </a:rPr>
              <a:t>fused_matmul_add_silu</a:t>
            </a:r>
            <a:endParaRPr lang="en-US" sz="900" dirty="0"/>
          </a:p>
          <a:p>
            <a:pPr algn="ctr" indent="0" marL="0">
              <a:buNone/>
            </a:pPr>
            <a:r>
              <a:rPr lang="en-US" sz="900" dirty="0">
                <a:solidFill>
                  <a:srgbClr val="5B6B7F"/>
                </a:solidFill>
                <a:latin typeface="Malgun Gothic" pitchFamily="34" charset="0"/>
                <a:ea typeface="Malgun Gothic" pitchFamily="34" charset="-122"/>
                <a:cs typeface="Malgun Gothic" pitchFamily="34" charset="-120"/>
              </a:rPr>
              <a:t>words 2,812 → 1,577</a:t>
            </a:r>
            <a:endParaRPr lang="en-US" sz="900" dirty="0"/>
          </a:p>
        </p:txBody>
      </p:sp>
      <p:sp>
        <p:nvSpPr>
          <p:cNvPr id="20" name="Shape 18"/>
          <p:cNvSpPr/>
          <p:nvPr/>
        </p:nvSpPr>
        <p:spPr>
          <a:xfrm>
            <a:off x="457200" y="2926080"/>
            <a:ext cx="2647188" cy="1097280"/>
          </a:xfrm>
          <a:prstGeom prst="roundRect">
            <a:avLst>
              <a:gd name="adj" fmla="val 5000"/>
            </a:avLst>
          </a:prstGeom>
          <a:solidFill>
            <a:srgbClr val="DDF3F0"/>
          </a:solidFill>
          <a:ln w="12700">
            <a:solidFill>
              <a:srgbClr val="1F8A8A"/>
            </a:solidFill>
            <a:prstDash val="solid"/>
          </a:ln>
        </p:spPr>
      </p:sp>
      <p:sp>
        <p:nvSpPr>
          <p:cNvPr id="21" name="Text 19"/>
          <p:cNvSpPr txBox="1"/>
          <p:nvPr/>
        </p:nvSpPr>
        <p:spPr>
          <a:xfrm>
            <a:off x="530352" y="2999232"/>
            <a:ext cx="2500884" cy="238125"/>
          </a:xfrm>
          <a:prstGeom prst="rect">
            <a:avLst/>
          </a:prstGeom>
          <a:noFill/>
          <a:ln/>
        </p:spPr>
        <p:txBody>
          <a:bodyPr wrap="square" lIns="0" tIns="0" rIns="0" bIns="0" rtlCol="0" anchor="ctr"/>
          <a:lstStyle/>
          <a:p>
            <a:pPr algn="ctr" indent="0" marL="0">
              <a:buNone/>
            </a:pPr>
            <a:r>
              <a:rPr lang="en-US" sz="1250" b="1" dirty="0">
                <a:solidFill>
                  <a:srgbClr val="1F2D3D"/>
                </a:solidFill>
                <a:latin typeface="Malgun Gothic" pitchFamily="34" charset="0"/>
                <a:ea typeface="Malgun Gothic" pitchFamily="34" charset="-122"/>
                <a:cs typeface="Malgun Gothic" pitchFamily="34" charset="-120"/>
              </a:rPr>
              <a:t>⑤ Schedule</a:t>
            </a:r>
            <a:endParaRPr lang="en-US" sz="1250" dirty="0"/>
          </a:p>
        </p:txBody>
      </p:sp>
      <p:sp>
        <p:nvSpPr>
          <p:cNvPr id="22" name="Text 20"/>
          <p:cNvSpPr txBox="1"/>
          <p:nvPr/>
        </p:nvSpPr>
        <p:spPr>
          <a:xfrm>
            <a:off x="530352" y="3237357"/>
            <a:ext cx="2500884" cy="749427"/>
          </a:xfrm>
          <a:prstGeom prst="rect">
            <a:avLst/>
          </a:prstGeom>
          <a:noFill/>
          <a:ln/>
        </p:spPr>
        <p:txBody>
          <a:bodyPr wrap="square" lIns="0" tIns="0" rIns="0" bIns="0" rtlCol="0" anchor="t"/>
          <a:lstStyle/>
          <a:p>
            <a:pPr algn="ctr" indent="0" marL="0">
              <a:buNone/>
            </a:pPr>
            <a:r>
              <a:rPr lang="en-US" sz="900" dirty="0">
                <a:solidFill>
                  <a:srgbClr val="5B6B7F"/>
                </a:solidFill>
                <a:latin typeface="Malgun Gothic" pitchFamily="34" charset="0"/>
                <a:ea typeface="Malgun Gothic" pitchFamily="34" charset="-122"/>
                <a:cs typeface="Malgun Gothic" pitchFamily="34" charset="-120"/>
              </a:rPr>
              <a:t>a_at=b_at=m_panel</a:t>
            </a:r>
            <a:endParaRPr lang="en-US" sz="900" dirty="0"/>
          </a:p>
          <a:p>
            <a:pPr algn="ctr" indent="0" marL="0">
              <a:buNone/>
            </a:pPr>
            <a:r>
              <a:rPr lang="en-US" sz="900" dirty="0">
                <a:solidFill>
                  <a:srgbClr val="5B6B7F"/>
                </a:solidFill>
                <a:latin typeface="Malgun Gothic" pitchFamily="34" charset="0"/>
                <a:ea typeface="Malgun Gothic" pitchFamily="34" charset="-122"/>
                <a:cs typeface="Malgun Gothic" pitchFamily="34" charset="-120"/>
              </a:rPr>
              <a:t>M_MUL ×2 (MAC 0/1), VLEN 128</a:t>
            </a:r>
            <a:endParaRPr lang="en-US" sz="900" dirty="0"/>
          </a:p>
        </p:txBody>
      </p:sp>
      <p:sp>
        <p:nvSpPr>
          <p:cNvPr id="23" name="Shape 21"/>
          <p:cNvSpPr/>
          <p:nvPr/>
        </p:nvSpPr>
        <p:spPr>
          <a:xfrm>
            <a:off x="3122676" y="3474720"/>
            <a:ext cx="192024" cy="914"/>
          </a:xfrm>
          <a:prstGeom prst="line">
            <a:avLst/>
          </a:prstGeom>
          <a:noFill/>
          <a:ln w="19050">
            <a:solidFill>
              <a:srgbClr val="5B6B7F"/>
            </a:solidFill>
            <a:prstDash val="solid"/>
            <a:tailEnd type="triangle"/>
          </a:ln>
        </p:spPr>
      </p:sp>
      <p:sp>
        <p:nvSpPr>
          <p:cNvPr id="24" name="Shape 22"/>
          <p:cNvSpPr/>
          <p:nvPr/>
        </p:nvSpPr>
        <p:spPr>
          <a:xfrm>
            <a:off x="3332988" y="2926080"/>
            <a:ext cx="2647188" cy="1097280"/>
          </a:xfrm>
          <a:prstGeom prst="roundRect">
            <a:avLst>
              <a:gd name="adj" fmla="val 5000"/>
            </a:avLst>
          </a:prstGeom>
          <a:solidFill>
            <a:srgbClr val="DDF3F0"/>
          </a:solidFill>
          <a:ln w="12700">
            <a:solidFill>
              <a:srgbClr val="1F8A8A"/>
            </a:solidFill>
            <a:prstDash val="solid"/>
          </a:ln>
        </p:spPr>
      </p:sp>
      <p:sp>
        <p:nvSpPr>
          <p:cNvPr id="25" name="Text 23"/>
          <p:cNvSpPr txBox="1"/>
          <p:nvPr/>
        </p:nvSpPr>
        <p:spPr>
          <a:xfrm>
            <a:off x="3406140" y="2999232"/>
            <a:ext cx="2500884" cy="238125"/>
          </a:xfrm>
          <a:prstGeom prst="rect">
            <a:avLst/>
          </a:prstGeom>
          <a:noFill/>
          <a:ln/>
        </p:spPr>
        <p:txBody>
          <a:bodyPr wrap="square" lIns="0" tIns="0" rIns="0" bIns="0" rtlCol="0" anchor="ctr"/>
          <a:lstStyle/>
          <a:p>
            <a:pPr algn="ctr" indent="0" marL="0">
              <a:buNone/>
            </a:pPr>
            <a:r>
              <a:rPr lang="en-US" sz="1250" b="1" dirty="0">
                <a:solidFill>
                  <a:srgbClr val="1F2D3D"/>
                </a:solidFill>
                <a:latin typeface="Malgun Gothic" pitchFamily="34" charset="0"/>
                <a:ea typeface="Malgun Gothic" pitchFamily="34" charset="-122"/>
                <a:cs typeface="Malgun Gothic" pitchFamily="34" charset="-120"/>
              </a:rPr>
              <a:t>⑥ SRAM 배치</a:t>
            </a:r>
            <a:endParaRPr lang="en-US" sz="1250" dirty="0"/>
          </a:p>
        </p:txBody>
      </p:sp>
      <p:sp>
        <p:nvSpPr>
          <p:cNvPr id="26" name="Text 24"/>
          <p:cNvSpPr txBox="1"/>
          <p:nvPr/>
        </p:nvSpPr>
        <p:spPr>
          <a:xfrm>
            <a:off x="3406140" y="3237357"/>
            <a:ext cx="2500884" cy="749427"/>
          </a:xfrm>
          <a:prstGeom prst="rect">
            <a:avLst/>
          </a:prstGeom>
          <a:noFill/>
          <a:ln/>
        </p:spPr>
        <p:txBody>
          <a:bodyPr wrap="square" lIns="0" tIns="0" rIns="0" bIns="0" rtlCol="0" anchor="t"/>
          <a:lstStyle/>
          <a:p>
            <a:pPr algn="ctr" indent="0" marL="0">
              <a:buNone/>
            </a:pPr>
            <a:r>
              <a:rPr lang="en-US" sz="900" dirty="0">
                <a:solidFill>
                  <a:srgbClr val="5B6B7F"/>
                </a:solidFill>
                <a:latin typeface="Malgun Gothic" pitchFamily="34" charset="0"/>
                <a:ea typeface="Malgun Gothic" pitchFamily="34" charset="-122"/>
                <a:cs typeface="Malgun Gothic" pitchFamily="34" charset="-120"/>
              </a:rPr>
              <a:t>USMP greedy_by_conflicts</a:t>
            </a:r>
            <a:endParaRPr lang="en-US" sz="900" dirty="0"/>
          </a:p>
          <a:p>
            <a:pPr algn="ctr" indent="0" marL="0">
              <a:buNone/>
            </a:pPr>
            <a:r>
              <a:rPr lang="en-US" sz="900" dirty="0">
                <a:solidFill>
                  <a:srgbClr val="5B6B7F"/>
                </a:solidFill>
                <a:latin typeface="Malgun Gothic" pitchFamily="34" charset="0"/>
                <a:ea typeface="Malgun Gothic" pitchFamily="34" charset="-122"/>
                <a:cs typeface="Malgun Gothic" pitchFamily="34" charset="-120"/>
              </a:rPr>
              <a:t>peak 85,016 nib = 42,508 B</a:t>
            </a:r>
            <a:endParaRPr lang="en-US" sz="900" dirty="0"/>
          </a:p>
        </p:txBody>
      </p:sp>
      <p:sp>
        <p:nvSpPr>
          <p:cNvPr id="27" name="Shape 25"/>
          <p:cNvSpPr/>
          <p:nvPr/>
        </p:nvSpPr>
        <p:spPr>
          <a:xfrm>
            <a:off x="5998464" y="3474720"/>
            <a:ext cx="192024" cy="914"/>
          </a:xfrm>
          <a:prstGeom prst="line">
            <a:avLst/>
          </a:prstGeom>
          <a:noFill/>
          <a:ln w="19050">
            <a:solidFill>
              <a:srgbClr val="5B6B7F"/>
            </a:solidFill>
            <a:prstDash val="solid"/>
            <a:tailEnd type="triangle"/>
          </a:ln>
        </p:spPr>
      </p:sp>
      <p:sp>
        <p:nvSpPr>
          <p:cNvPr id="28" name="Shape 26"/>
          <p:cNvSpPr/>
          <p:nvPr/>
        </p:nvSpPr>
        <p:spPr>
          <a:xfrm>
            <a:off x="6208776" y="2926080"/>
            <a:ext cx="2647188" cy="1097280"/>
          </a:xfrm>
          <a:prstGeom prst="roundRect">
            <a:avLst>
              <a:gd name="adj" fmla="val 5000"/>
            </a:avLst>
          </a:prstGeom>
          <a:solidFill>
            <a:srgbClr val="ECE6FA"/>
          </a:solidFill>
          <a:ln w="12700">
            <a:solidFill>
              <a:srgbClr val="6C4FBF"/>
            </a:solidFill>
            <a:prstDash val="solid"/>
          </a:ln>
        </p:spPr>
      </p:sp>
      <p:sp>
        <p:nvSpPr>
          <p:cNvPr id="29" name="Text 27"/>
          <p:cNvSpPr txBox="1"/>
          <p:nvPr/>
        </p:nvSpPr>
        <p:spPr>
          <a:xfrm>
            <a:off x="6281928" y="2999232"/>
            <a:ext cx="2500884" cy="238125"/>
          </a:xfrm>
          <a:prstGeom prst="rect">
            <a:avLst/>
          </a:prstGeom>
          <a:noFill/>
          <a:ln/>
        </p:spPr>
        <p:txBody>
          <a:bodyPr wrap="square" lIns="0" tIns="0" rIns="0" bIns="0" rtlCol="0" anchor="ctr"/>
          <a:lstStyle/>
          <a:p>
            <a:pPr algn="ctr" indent="0" marL="0">
              <a:buNone/>
            </a:pPr>
            <a:r>
              <a:rPr lang="en-US" sz="1250" b="1" dirty="0">
                <a:solidFill>
                  <a:srgbClr val="1F2D3D"/>
                </a:solidFill>
                <a:latin typeface="Malgun Gothic" pitchFamily="34" charset="0"/>
                <a:ea typeface="Malgun Gothic" pitchFamily="34" charset="-122"/>
                <a:cs typeface="Malgun Gothic" pitchFamily="34" charset="-120"/>
              </a:rPr>
              <a:t>⑦ ISA · link</a:t>
            </a:r>
            <a:endParaRPr lang="en-US" sz="1250" dirty="0"/>
          </a:p>
        </p:txBody>
      </p:sp>
      <p:sp>
        <p:nvSpPr>
          <p:cNvPr id="30" name="Text 28"/>
          <p:cNvSpPr txBox="1"/>
          <p:nvPr/>
        </p:nvSpPr>
        <p:spPr>
          <a:xfrm>
            <a:off x="6281928" y="3237357"/>
            <a:ext cx="2500884" cy="749427"/>
          </a:xfrm>
          <a:prstGeom prst="rect">
            <a:avLst/>
          </a:prstGeom>
          <a:noFill/>
          <a:ln/>
        </p:spPr>
        <p:txBody>
          <a:bodyPr wrap="square" lIns="0" tIns="0" rIns="0" bIns="0" rtlCol="0" anchor="t"/>
          <a:lstStyle/>
          <a:p>
            <a:pPr algn="ctr" indent="0" marL="0">
              <a:buNone/>
            </a:pPr>
            <a:r>
              <a:rPr lang="en-US" sz="900" dirty="0">
                <a:solidFill>
                  <a:srgbClr val="5B6B7F"/>
                </a:solidFill>
                <a:latin typeface="Malgun Gothic" pitchFamily="34" charset="0"/>
                <a:ea typeface="Malgun Gothic" pitchFamily="34" charset="-122"/>
                <a:cs typeface="Malgun Gothic" pitchFamily="34" charset="-120"/>
              </a:rPr>
              <a:t>1,577 words · 5 DMA packets</a:t>
            </a:r>
            <a:endParaRPr lang="en-US" sz="900" dirty="0"/>
          </a:p>
          <a:p>
            <a:pPr algn="ctr" indent="0" marL="0">
              <a:buNone/>
            </a:pPr>
            <a:r>
              <a:rPr lang="en-US" sz="900" dirty="0">
                <a:solidFill>
                  <a:srgbClr val="5B6B7F"/>
                </a:solidFill>
                <a:latin typeface="Malgun Gothic" pitchFamily="34" charset="0"/>
                <a:ea typeface="Malgun Gothic" pitchFamily="34" charset="-122"/>
                <a:cs typeface="Malgun Gothic" pitchFamily="34" charset="-120"/>
              </a:rPr>
              <a:t>DMA 41,100 B · HALT</a:t>
            </a:r>
            <a:endParaRPr lang="en-US" sz="900" dirty="0"/>
          </a:p>
        </p:txBody>
      </p:sp>
      <p:sp>
        <p:nvSpPr>
          <p:cNvPr id="31" name="Shape 29"/>
          <p:cNvSpPr/>
          <p:nvPr/>
        </p:nvSpPr>
        <p:spPr>
          <a:xfrm>
            <a:off x="8874252" y="3474720"/>
            <a:ext cx="192024" cy="914"/>
          </a:xfrm>
          <a:prstGeom prst="line">
            <a:avLst/>
          </a:prstGeom>
          <a:noFill/>
          <a:ln w="19050">
            <a:solidFill>
              <a:srgbClr val="5B6B7F"/>
            </a:solidFill>
            <a:prstDash val="solid"/>
            <a:tailEnd type="triangle"/>
          </a:ln>
        </p:spPr>
      </p:sp>
      <p:sp>
        <p:nvSpPr>
          <p:cNvPr id="32" name="Shape 30"/>
          <p:cNvSpPr/>
          <p:nvPr/>
        </p:nvSpPr>
        <p:spPr>
          <a:xfrm>
            <a:off x="9084564" y="2926080"/>
            <a:ext cx="2647188" cy="1097280"/>
          </a:xfrm>
          <a:prstGeom prst="roundRect">
            <a:avLst>
              <a:gd name="adj" fmla="val 5000"/>
            </a:avLst>
          </a:prstGeom>
          <a:solidFill>
            <a:srgbClr val="FFF1DC"/>
          </a:solidFill>
          <a:ln w="12700">
            <a:solidFill>
              <a:srgbClr val="D98A1E"/>
            </a:solidFill>
            <a:prstDash val="solid"/>
          </a:ln>
        </p:spPr>
      </p:sp>
      <p:sp>
        <p:nvSpPr>
          <p:cNvPr id="33" name="Text 31"/>
          <p:cNvSpPr txBox="1"/>
          <p:nvPr/>
        </p:nvSpPr>
        <p:spPr>
          <a:xfrm>
            <a:off x="9157716" y="2999232"/>
            <a:ext cx="2500884" cy="238125"/>
          </a:xfrm>
          <a:prstGeom prst="rect">
            <a:avLst/>
          </a:prstGeom>
          <a:noFill/>
          <a:ln/>
        </p:spPr>
        <p:txBody>
          <a:bodyPr wrap="square" lIns="0" tIns="0" rIns="0" bIns="0" rtlCol="0" anchor="ctr"/>
          <a:lstStyle/>
          <a:p>
            <a:pPr algn="ctr" indent="0" marL="0">
              <a:buNone/>
            </a:pPr>
            <a:r>
              <a:rPr lang="en-US" sz="1250" b="1" dirty="0">
                <a:solidFill>
                  <a:srgbClr val="1F2D3D"/>
                </a:solidFill>
                <a:latin typeface="Malgun Gothic" pitchFamily="34" charset="0"/>
                <a:ea typeface="Malgun Gothic" pitchFamily="34" charset="-122"/>
                <a:cs typeface="Malgun Gothic" pitchFamily="34" charset="-120"/>
              </a:rPr>
              <a:t>⑧ Runtime</a:t>
            </a:r>
            <a:endParaRPr lang="en-US" sz="1250" dirty="0"/>
          </a:p>
        </p:txBody>
      </p:sp>
      <p:sp>
        <p:nvSpPr>
          <p:cNvPr id="34" name="Text 32"/>
          <p:cNvSpPr txBox="1"/>
          <p:nvPr/>
        </p:nvSpPr>
        <p:spPr>
          <a:xfrm>
            <a:off x="9157716" y="3237357"/>
            <a:ext cx="2500884" cy="749427"/>
          </a:xfrm>
          <a:prstGeom prst="rect">
            <a:avLst/>
          </a:prstGeom>
          <a:noFill/>
          <a:ln/>
        </p:spPr>
        <p:txBody>
          <a:bodyPr wrap="square" lIns="0" tIns="0" rIns="0" bIns="0" rtlCol="0" anchor="t"/>
          <a:lstStyle/>
          <a:p>
            <a:pPr algn="ctr" indent="0" marL="0">
              <a:buNone/>
            </a:pPr>
            <a:r>
              <a:rPr lang="en-US" sz="900" dirty="0">
                <a:solidFill>
                  <a:srgbClr val="5B6B7F"/>
                </a:solidFill>
                <a:latin typeface="Malgun Gothic" pitchFamily="34" charset="0"/>
                <a:ea typeface="Malgun Gothic" pitchFamily="34" charset="-122"/>
                <a:cs typeface="Malgun Gothic" pitchFamily="34" charset="-120"/>
              </a:rPr>
              <a:t>image 41,100 B → C-model</a:t>
            </a:r>
            <a:endParaRPr lang="en-US" sz="900" dirty="0"/>
          </a:p>
          <a:p>
            <a:pPr algn="ctr" indent="0" marL="0">
              <a:buNone/>
            </a:pPr>
            <a:r>
              <a:rPr lang="en-US" sz="900" dirty="0">
                <a:solidFill>
                  <a:srgbClr val="5B6B7F"/>
                </a:solidFill>
                <a:latin typeface="Malgun Gothic" pitchFamily="34" charset="0"/>
                <a:ea typeface="Malgun Gothic" pitchFamily="34" charset="-122"/>
                <a:cs typeface="Malgun Gothic" pitchFamily="34" charset="-120"/>
              </a:rPr>
              <a:t>출력 offset 32,896 · LLVM 차 0</a:t>
            </a:r>
            <a:endParaRPr lang="en-US" sz="900" dirty="0"/>
          </a:p>
        </p:txBody>
      </p:sp>
      <p:sp>
        <p:nvSpPr>
          <p:cNvPr id="35" name="Shape 33"/>
          <p:cNvSpPr/>
          <p:nvPr/>
        </p:nvSpPr>
        <p:spPr>
          <a:xfrm>
            <a:off x="10408158" y="2606040"/>
            <a:ext cx="914" cy="155448"/>
          </a:xfrm>
          <a:prstGeom prst="line">
            <a:avLst/>
          </a:prstGeom>
          <a:noFill/>
          <a:ln w="19050">
            <a:solidFill>
              <a:srgbClr val="5B6B7F"/>
            </a:solidFill>
            <a:prstDash val="solid"/>
          </a:ln>
        </p:spPr>
      </p:sp>
      <p:sp>
        <p:nvSpPr>
          <p:cNvPr id="36" name="Shape 34"/>
          <p:cNvSpPr/>
          <p:nvPr/>
        </p:nvSpPr>
        <p:spPr>
          <a:xfrm flipH="1">
            <a:off x="1780794" y="2761488"/>
            <a:ext cx="8627364" cy="914"/>
          </a:xfrm>
          <a:prstGeom prst="line">
            <a:avLst/>
          </a:prstGeom>
          <a:noFill/>
          <a:ln w="19050">
            <a:solidFill>
              <a:srgbClr val="5B6B7F"/>
            </a:solidFill>
            <a:prstDash val="solid"/>
          </a:ln>
        </p:spPr>
      </p:sp>
      <p:sp>
        <p:nvSpPr>
          <p:cNvPr id="37" name="Shape 35"/>
          <p:cNvSpPr/>
          <p:nvPr/>
        </p:nvSpPr>
        <p:spPr>
          <a:xfrm>
            <a:off x="1780794" y="2761488"/>
            <a:ext cx="914" cy="164592"/>
          </a:xfrm>
          <a:prstGeom prst="line">
            <a:avLst/>
          </a:prstGeom>
          <a:noFill/>
          <a:ln w="19050">
            <a:solidFill>
              <a:srgbClr val="5B6B7F"/>
            </a:solidFill>
            <a:prstDash val="solid"/>
            <a:tailEnd type="triangle"/>
          </a:ln>
        </p:spPr>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457200" y="4434840"/>
          <a:ext cx="11274552" cy="914400"/>
        </p:xfrm>
        <a:graphic>
          <a:graphicData uri="http://schemas.openxmlformats.org/drawingml/2006/table">
            <a:tbl>
              <a:tblPr/>
              <a:tblGrid>
                <a:gridCol w="2377440"/>
                <a:gridCol w="4754880"/>
                <a:gridCol w="4142232"/>
              </a:tblGrid>
              <a:tr h="329184">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세 질문</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답을 정하는 단계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실제 Llama에서의 결과 (보존 기록)</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무엇을 계산하는가 (계산의 의미)</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Relax export → graph prefix → LegalizeOps custom map (FP16 저장/FP32 누산, softmax·RMSNorm 정의)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HF와 같은 greedy token 3개, logits cosine ≥ 0.99999</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어떻게 나누는가 (배치)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fusion 후보 비교 → matmul panel 탐색 → tensorize → USMP</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5커널 MLP 140,594 words, gate W panel 3072×64 128회, down W 4 MiB 유지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어디에 보관하는가 (수명·주소)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StaticPlanBlockMemory → 커널 사이 보관 탐색 → 직접 저장 → DRAM 압축</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H SRAM 전달로 DMA 81,932 → 49,164 B (44 KiB 예제), image 6.43 GB (prefill)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39" name="Shape 36"/>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40" name="Text 37"/>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"모델을 compile한다" = graph 선택 + schedule + 주소 배치 + 명령 생성. 각 결정은 실제 프로그램의 (DMA, words, SRAM peak)로 확인하고, 수치는 HF/LLVM 기준으로 따로 검증합니다.</a:t>
            </a:r>
            <a:endParaRPr lang="en-US" sz="1250" dirty="0"/>
          </a:p>
        </p:txBody>
      </p:sp>
      <p:sp>
        <p:nvSpPr>
          <p:cNvPr id="41" name="Text 38"/>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42" name="Text 39"/>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docs/examples/pipeline/*, two_matmuls_recorded/*, evidence/current/*</a:t>
            </a:r>
            <a:endParaRPr lang="en-US" sz="850" dirty="0"/>
          </a:p>
        </p:txBody>
      </p:sp>
      <p:sp>
        <p:nvSpPr>
          <p:cNvPr id="43" name="Text 40"/>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84 / 89</a:t>
            </a:r>
            <a:endParaRPr lang="en-US" sz="8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부록 A1 · 기존 main backend</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기존 main(ver.08 / source-0818)과 최신 v09는 실행 경계가 다르다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main commit 1143abbc…로 고정해 설명합니다. 둘의 words나 실행 시간을 숫자만 비교해 성능 순위를 만들 수 없습니다: 컴파일 단위, 메모리 경계, 실행기, codegen 세대가 다릅니다.</a:t>
            </a:r>
            <a:endParaRPr lang="en-US" sz="125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1554480"/>
                <a:gridCol w="4846320"/>
                <a:gridCol w="4873752"/>
              </a:tblGrid>
              <a:tr h="365760">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항목</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main ver.08 / source-0818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최신 v09 (이 발표)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6576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주된 lowering</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Relax graph를 수작업 연산별 emitter로 연결</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LegalizeOps / TIR / Schedule을 거쳐 공통 codegen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메모리</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Flat G-buffer와 host의 실행 경계 (vendor 8192-entry, 확장 source target)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DRAM ↔ SRAM ↔ 연산장치, 명시적 GLOAD/GSTORE와 SRAM 보관 탐색</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Layer 반복</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같은 layer 프로그램을 host가 weight를 바꾸어 실행</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전체 entry stream, 컴파일 판단(recipe)만 재사용</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Decode 길이</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Context별 정적 프로그램 cache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고정 capacity + mask, 선택적 bucket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KV 상태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Host가 반환된 K/V로 배열을 확장</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Persistent DRAM cache에 device DMA append</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LM head</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큰 stride를 K×64 packed panel로 처리 (16-bit stride field 한계)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일반 compiler의 지원되는 배치·명령 경로</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6576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종료 / 출력</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0xF0 snapshot과 ver.08 실행 규약</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HALT 0xFF와 v09 image 규약</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6576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Vendor quirk</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reduce-max 0 seed 등을 compiler에서 우회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v09 ISA/C-model에서 의미를 명시적으로 고침 (첫 원소 seed)</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graphicFrame>
        <p:nvGraphicFramePr>
          <p:cNvPr id="171" name="Table 1"/>
          <p:cNvGraphicFramePr>
            <a:graphicFrameLocks noGrp="1"/>
          </p:cNvGraphicFramePr>
          <p:nvPr>
            <p:extLst>
              <p:ext uri="{D42A27DB-BD31-4B8C-83A1-F6EECF244321}">
                <p14:modId xmlns:p14="http://schemas.microsoft.com/office/powerpoint/2010/main" val="1579011935"/>
              </p:ext>
            </p:extLst>
          </p:nvPr>
        </p:nvGraphicFramePr>
        <p:xfrm>
          <a:off x="457200" y="4892040"/>
          <a:ext cx="11274552" cy="914400"/>
        </p:xfrm>
        <a:graphic>
          <a:graphicData uri="http://schemas.openxmlformats.org/drawingml/2006/table">
            <a:tbl>
              <a:tblPr/>
              <a:tblGrid>
                <a:gridCol w="1828800"/>
                <a:gridCol w="9445752"/>
              </a:tblGrid>
              <a:tr h="27432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main의 보존 결과</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Llama 3.2 3B: token [358, 2846, 4560] HF 일치, 최종 decode cosine ≈ 0.9999881, context8 decode 453,349 words (layer 프로그램 통계, v09 entry의 수백만 words와 컴파일 범위가 다름)</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다른 family (main)</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Gemma 4 E2B [108, 236777, 236789] cosine ≈ 0.9999975 · Qwen3-4B [358, 1184, 311] cosine ≈ 0.9999915 — v09 generation CLI 재검증은 아님</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7" name="Shape 3"/>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8" name="Text 4"/>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현재 작업 트리에 구형 backend를 복원하거나 main branch를 수정하지 않습니다. 원본은 git show 1143abb:d_compiler/npu_compiler/backend_0818.py 등으로 읽습니다.</a:t>
            </a:r>
            <a:endParaRPr lang="en-US" sz="1250" dirty="0"/>
          </a:p>
        </p:txBody>
      </p:sp>
      <p:sp>
        <p:nvSpPr>
          <p:cNvPr id="9" name="Text 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0" name="Text 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docs/main/README.md, pipeline.md, results.md</a:t>
            </a:r>
            <a:endParaRPr lang="en-US" sz="850" dirty="0"/>
          </a:p>
        </p:txBody>
      </p:sp>
      <p:sp>
        <p:nvSpPr>
          <p:cNvPr id="11" name="Text 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85 / 89</a:t>
            </a:r>
            <a:endParaRPr lang="en-US" sz="8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부록 A2 · 양자화</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양자화 W8A16 / W8A8: 저장 dtype과 연산 dtype을 구분한다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Pass와 커널은 구현되어 있지만 최근 전체 28-layer 연속 생성 검증은 FP16입니다. 양자화 generation까지 완성·검증됐다고 이해하지 않도록 본문과 분리합니다.</a:t>
            </a:r>
            <a:endParaRPr lang="en-US" sz="1250" dirty="0"/>
          </a:p>
        </p:txBody>
      </p:sp>
      <p:sp>
        <p:nvSpPr>
          <p:cNvPr id="5" name="Text 3"/>
          <p:cNvSpPr txBox="1"/>
          <p:nvPr/>
        </p:nvSpPr>
        <p:spPr>
          <a:xfrm>
            <a:off x="457200" y="137160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W8A16</a:t>
            </a:r>
            <a:endParaRPr lang="en-US" sz="1100" dirty="0"/>
          </a:p>
        </p:txBody>
      </p:sp>
      <p:sp>
        <p:nvSpPr>
          <p:cNvPr id="6" name="Shape 4"/>
          <p:cNvSpPr/>
          <p:nvPr/>
        </p:nvSpPr>
        <p:spPr>
          <a:xfrm>
            <a:off x="457200" y="1691640"/>
            <a:ext cx="1325880" cy="731520"/>
          </a:xfrm>
          <a:prstGeom prst="roundRect">
            <a:avLst>
              <a:gd name="adj" fmla="val 7500"/>
            </a:avLst>
          </a:prstGeom>
          <a:solidFill>
            <a:srgbClr val="FFF1DC"/>
          </a:solidFill>
          <a:ln w="12700">
            <a:solidFill>
              <a:srgbClr val="D98A1E"/>
            </a:solidFill>
            <a:prstDash val="solid"/>
          </a:ln>
        </p:spPr>
      </p:sp>
      <p:sp>
        <p:nvSpPr>
          <p:cNvPr id="7" name="Text 5"/>
          <p:cNvSpPr txBox="1"/>
          <p:nvPr/>
        </p:nvSpPr>
        <p:spPr>
          <a:xfrm>
            <a:off x="530352" y="1764792"/>
            <a:ext cx="117957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DRAM INT8 W</a:t>
            </a:r>
            <a:endParaRPr lang="en-US" sz="950" dirty="0"/>
          </a:p>
        </p:txBody>
      </p:sp>
      <p:sp>
        <p:nvSpPr>
          <p:cNvPr id="8" name="Text 6"/>
          <p:cNvSpPr txBox="1"/>
          <p:nvPr/>
        </p:nvSpPr>
        <p:spPr>
          <a:xfrm>
            <a:off x="530352" y="1945767"/>
            <a:ext cx="1179576" cy="44081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 FP16 scale (host FP32 계산)</a:t>
            </a:r>
            <a:endParaRPr lang="en-US" sz="750" dirty="0"/>
          </a:p>
        </p:txBody>
      </p:sp>
      <p:sp>
        <p:nvSpPr>
          <p:cNvPr id="9" name="Shape 7"/>
          <p:cNvSpPr/>
          <p:nvPr/>
        </p:nvSpPr>
        <p:spPr>
          <a:xfrm>
            <a:off x="1792224" y="2057400"/>
            <a:ext cx="73152" cy="914"/>
          </a:xfrm>
          <a:prstGeom prst="line">
            <a:avLst/>
          </a:prstGeom>
          <a:noFill/>
          <a:ln w="12700">
            <a:solidFill>
              <a:srgbClr val="5B6B7F"/>
            </a:solidFill>
            <a:prstDash val="solid"/>
            <a:tailEnd type="triangle"/>
          </a:ln>
        </p:spPr>
      </p:sp>
      <p:sp>
        <p:nvSpPr>
          <p:cNvPr id="10" name="Shape 8"/>
          <p:cNvSpPr/>
          <p:nvPr/>
        </p:nvSpPr>
        <p:spPr>
          <a:xfrm>
            <a:off x="1874520" y="1691640"/>
            <a:ext cx="1325880" cy="731520"/>
          </a:xfrm>
          <a:prstGeom prst="roundRect">
            <a:avLst>
              <a:gd name="adj" fmla="val 7500"/>
            </a:avLst>
          </a:prstGeom>
          <a:solidFill>
            <a:srgbClr val="DDF3F0"/>
          </a:solidFill>
          <a:ln w="12700">
            <a:solidFill>
              <a:srgbClr val="1F8A8A"/>
            </a:solidFill>
            <a:prstDash val="solid"/>
          </a:ln>
        </p:spPr>
      </p:sp>
      <p:sp>
        <p:nvSpPr>
          <p:cNvPr id="11" name="Text 9"/>
          <p:cNvSpPr txBox="1"/>
          <p:nvPr/>
        </p:nvSpPr>
        <p:spPr>
          <a:xfrm>
            <a:off x="1947672" y="1764792"/>
            <a:ext cx="117957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SRAM FP16 복원</a:t>
            </a:r>
            <a:endParaRPr lang="en-US" sz="950" dirty="0"/>
          </a:p>
        </p:txBody>
      </p:sp>
      <p:sp>
        <p:nvSpPr>
          <p:cNvPr id="12" name="Text 10"/>
          <p:cNvSpPr txBox="1"/>
          <p:nvPr/>
        </p:nvSpPr>
        <p:spPr>
          <a:xfrm>
            <a:off x="1947672" y="1945767"/>
            <a:ext cx="1179576" cy="44081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INT8 → FP16, × scale</a:t>
            </a:r>
            <a:endParaRPr lang="en-US" sz="750" dirty="0"/>
          </a:p>
        </p:txBody>
      </p:sp>
      <p:sp>
        <p:nvSpPr>
          <p:cNvPr id="13" name="Shape 11"/>
          <p:cNvSpPr/>
          <p:nvPr/>
        </p:nvSpPr>
        <p:spPr>
          <a:xfrm>
            <a:off x="3209544" y="2057400"/>
            <a:ext cx="73152" cy="914"/>
          </a:xfrm>
          <a:prstGeom prst="line">
            <a:avLst/>
          </a:prstGeom>
          <a:noFill/>
          <a:ln w="12700">
            <a:solidFill>
              <a:srgbClr val="5B6B7F"/>
            </a:solidFill>
            <a:prstDash val="solid"/>
            <a:tailEnd type="triangle"/>
          </a:ln>
        </p:spPr>
      </p:sp>
      <p:sp>
        <p:nvSpPr>
          <p:cNvPr id="14" name="Shape 12"/>
          <p:cNvSpPr/>
          <p:nvPr/>
        </p:nvSpPr>
        <p:spPr>
          <a:xfrm>
            <a:off x="3291840" y="1691640"/>
            <a:ext cx="1325880" cy="731520"/>
          </a:xfrm>
          <a:prstGeom prst="roundRect">
            <a:avLst>
              <a:gd name="adj" fmla="val 7500"/>
            </a:avLst>
          </a:prstGeom>
          <a:solidFill>
            <a:srgbClr val="ECE6FA"/>
          </a:solidFill>
          <a:ln w="12700">
            <a:solidFill>
              <a:srgbClr val="6C4FBF"/>
            </a:solidFill>
            <a:prstDash val="solid"/>
          </a:ln>
        </p:spPr>
      </p:sp>
      <p:sp>
        <p:nvSpPr>
          <p:cNvPr id="15" name="Text 13"/>
          <p:cNvSpPr txBox="1"/>
          <p:nvPr/>
        </p:nvSpPr>
        <p:spPr>
          <a:xfrm>
            <a:off x="3364992" y="1764792"/>
            <a:ext cx="117957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FP16 GEMM</a:t>
            </a:r>
            <a:endParaRPr lang="en-US" sz="950" dirty="0"/>
          </a:p>
        </p:txBody>
      </p:sp>
      <p:sp>
        <p:nvSpPr>
          <p:cNvPr id="16" name="Text 14"/>
          <p:cNvSpPr txBox="1"/>
          <p:nvPr/>
        </p:nvSpPr>
        <p:spPr>
          <a:xfrm>
            <a:off x="3364992" y="1945767"/>
            <a:ext cx="1179576" cy="44081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기존 FP32 MAC chain</a:t>
            </a:r>
            <a:endParaRPr lang="en-US" sz="750" dirty="0"/>
          </a:p>
        </p:txBody>
      </p:sp>
      <p:sp>
        <p:nvSpPr>
          <p:cNvPr id="17" name="Shape 15"/>
          <p:cNvSpPr/>
          <p:nvPr/>
        </p:nvSpPr>
        <p:spPr>
          <a:xfrm>
            <a:off x="4626864" y="2057400"/>
            <a:ext cx="73152" cy="914"/>
          </a:xfrm>
          <a:prstGeom prst="line">
            <a:avLst/>
          </a:prstGeom>
          <a:noFill/>
          <a:ln w="12700">
            <a:solidFill>
              <a:srgbClr val="5B6B7F"/>
            </a:solidFill>
            <a:prstDash val="solid"/>
            <a:tailEnd type="triangle"/>
          </a:ln>
        </p:spPr>
      </p:sp>
      <p:sp>
        <p:nvSpPr>
          <p:cNvPr id="18" name="Shape 16"/>
          <p:cNvSpPr/>
          <p:nvPr/>
        </p:nvSpPr>
        <p:spPr>
          <a:xfrm>
            <a:off x="4709160" y="1691640"/>
            <a:ext cx="1325880" cy="731520"/>
          </a:xfrm>
          <a:prstGeom prst="roundRect">
            <a:avLst>
              <a:gd name="adj" fmla="val 7500"/>
            </a:avLst>
          </a:prstGeom>
          <a:solidFill>
            <a:srgbClr val="DDF3F0"/>
          </a:solidFill>
          <a:ln w="12700">
            <a:solidFill>
              <a:srgbClr val="1F8A8A"/>
            </a:solidFill>
            <a:prstDash val="solid"/>
          </a:ln>
        </p:spPr>
      </p:sp>
      <p:sp>
        <p:nvSpPr>
          <p:cNvPr id="19" name="Text 17"/>
          <p:cNvSpPr txBox="1"/>
          <p:nvPr/>
        </p:nvSpPr>
        <p:spPr>
          <a:xfrm>
            <a:off x="4764024" y="1728216"/>
            <a:ext cx="1216152" cy="658368"/>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FP16 결과</a:t>
            </a:r>
            <a:endParaRPr lang="en-US" sz="950" dirty="0"/>
          </a:p>
        </p:txBody>
      </p:sp>
      <p:sp>
        <p:nvSpPr>
          <p:cNvPr id="20" name="Text 18"/>
          <p:cNvSpPr txBox="1"/>
          <p:nvPr/>
        </p:nvSpPr>
        <p:spPr>
          <a:xfrm>
            <a:off x="457200" y="2606040"/>
            <a:ext cx="5486400" cy="274320"/>
          </a:xfrm>
          <a:prstGeom prst="rect">
            <a:avLst/>
          </a:prstGeom>
          <a:noFill/>
          <a:ln/>
        </p:spPr>
        <p:txBody>
          <a:bodyPr wrap="square" lIns="0" tIns="0" rIns="0" bIns="0" rtlCol="0" anchor="t"/>
          <a:lstStyle/>
          <a:p>
            <a:pPr algn="l" indent="0" marL="0">
              <a:buNone/>
            </a:pPr>
            <a:r>
              <a:rPr lang="en-US" sz="1100" b="1" dirty="0">
                <a:solidFill>
                  <a:srgbClr val="15243B"/>
                </a:solidFill>
                <a:latin typeface="Malgun Gothic" pitchFamily="34" charset="0"/>
                <a:ea typeface="Malgun Gothic" pitchFamily="34" charset="-122"/>
                <a:cs typeface="Malgun Gothic" pitchFamily="34" charset="-120"/>
              </a:rPr>
              <a:t>W8A8</a:t>
            </a:r>
            <a:endParaRPr lang="en-US" sz="1100" dirty="0"/>
          </a:p>
        </p:txBody>
      </p:sp>
      <p:sp>
        <p:nvSpPr>
          <p:cNvPr id="21" name="Shape 19"/>
          <p:cNvSpPr/>
          <p:nvPr/>
        </p:nvSpPr>
        <p:spPr>
          <a:xfrm>
            <a:off x="457200" y="2926080"/>
            <a:ext cx="1325880" cy="731520"/>
          </a:xfrm>
          <a:prstGeom prst="roundRect">
            <a:avLst>
              <a:gd name="adj" fmla="val 7500"/>
            </a:avLst>
          </a:prstGeom>
          <a:solidFill>
            <a:srgbClr val="DDF3F0"/>
          </a:solidFill>
          <a:ln w="12700">
            <a:solidFill>
              <a:srgbClr val="1F8A8A"/>
            </a:solidFill>
            <a:prstDash val="solid"/>
          </a:ln>
        </p:spPr>
      </p:sp>
      <p:sp>
        <p:nvSpPr>
          <p:cNvPr id="22" name="Text 20"/>
          <p:cNvSpPr txBox="1"/>
          <p:nvPr/>
        </p:nvSpPr>
        <p:spPr>
          <a:xfrm>
            <a:off x="530352" y="2999232"/>
            <a:ext cx="117957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FP16 X → INT8</a:t>
            </a:r>
            <a:endParaRPr lang="en-US" sz="950" dirty="0"/>
          </a:p>
        </p:txBody>
      </p:sp>
      <p:sp>
        <p:nvSpPr>
          <p:cNvPr id="23" name="Text 21"/>
          <p:cNvSpPr txBox="1"/>
          <p:nvPr/>
        </p:nvSpPr>
        <p:spPr>
          <a:xfrm>
            <a:off x="530352" y="3180207"/>
            <a:ext cx="1179576" cy="44081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행별 absmax, FP32 sX, VQUANT</a:t>
            </a:r>
            <a:endParaRPr lang="en-US" sz="750" dirty="0"/>
          </a:p>
        </p:txBody>
      </p:sp>
      <p:sp>
        <p:nvSpPr>
          <p:cNvPr id="24" name="Shape 22"/>
          <p:cNvSpPr/>
          <p:nvPr/>
        </p:nvSpPr>
        <p:spPr>
          <a:xfrm>
            <a:off x="1792224" y="3291840"/>
            <a:ext cx="73152" cy="914"/>
          </a:xfrm>
          <a:prstGeom prst="line">
            <a:avLst/>
          </a:prstGeom>
          <a:noFill/>
          <a:ln w="12700">
            <a:solidFill>
              <a:srgbClr val="5B6B7F"/>
            </a:solidFill>
            <a:prstDash val="solid"/>
            <a:tailEnd type="triangle"/>
          </a:ln>
        </p:spPr>
      </p:sp>
      <p:sp>
        <p:nvSpPr>
          <p:cNvPr id="25" name="Shape 23"/>
          <p:cNvSpPr/>
          <p:nvPr/>
        </p:nvSpPr>
        <p:spPr>
          <a:xfrm>
            <a:off x="1874520" y="2926080"/>
            <a:ext cx="1325880" cy="731520"/>
          </a:xfrm>
          <a:prstGeom prst="roundRect">
            <a:avLst>
              <a:gd name="adj" fmla="val 7500"/>
            </a:avLst>
          </a:prstGeom>
          <a:solidFill>
            <a:srgbClr val="ECE6FA"/>
          </a:solidFill>
          <a:ln w="12700">
            <a:solidFill>
              <a:srgbClr val="6C4FBF"/>
            </a:solidFill>
            <a:prstDash val="solid"/>
          </a:ln>
        </p:spPr>
      </p:sp>
      <p:sp>
        <p:nvSpPr>
          <p:cNvPr id="26" name="Text 24"/>
          <p:cNvSpPr txBox="1"/>
          <p:nvPr/>
        </p:nvSpPr>
        <p:spPr>
          <a:xfrm>
            <a:off x="1947672" y="2999232"/>
            <a:ext cx="117957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INT8 dot (K 64개)</a:t>
            </a:r>
            <a:endParaRPr lang="en-US" sz="950" dirty="0"/>
          </a:p>
        </p:txBody>
      </p:sp>
      <p:sp>
        <p:nvSpPr>
          <p:cNvPr id="27" name="Text 25"/>
          <p:cNvSpPr txBox="1"/>
          <p:nvPr/>
        </p:nvSpPr>
        <p:spPr>
          <a:xfrm>
            <a:off x="1947672" y="3180207"/>
            <a:ext cx="1179576" cy="44081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INT32 부분합</a:t>
            </a:r>
            <a:endParaRPr lang="en-US" sz="750" dirty="0"/>
          </a:p>
        </p:txBody>
      </p:sp>
      <p:sp>
        <p:nvSpPr>
          <p:cNvPr id="28" name="Shape 26"/>
          <p:cNvSpPr/>
          <p:nvPr/>
        </p:nvSpPr>
        <p:spPr>
          <a:xfrm>
            <a:off x="3209544" y="3291840"/>
            <a:ext cx="73152" cy="914"/>
          </a:xfrm>
          <a:prstGeom prst="line">
            <a:avLst/>
          </a:prstGeom>
          <a:noFill/>
          <a:ln w="12700">
            <a:solidFill>
              <a:srgbClr val="5B6B7F"/>
            </a:solidFill>
            <a:prstDash val="solid"/>
            <a:tailEnd type="triangle"/>
          </a:ln>
        </p:spPr>
      </p:sp>
      <p:sp>
        <p:nvSpPr>
          <p:cNvPr id="29" name="Shape 27"/>
          <p:cNvSpPr/>
          <p:nvPr/>
        </p:nvSpPr>
        <p:spPr>
          <a:xfrm>
            <a:off x="3291840" y="2926080"/>
            <a:ext cx="1325880" cy="731520"/>
          </a:xfrm>
          <a:prstGeom prst="roundRect">
            <a:avLst>
              <a:gd name="adj" fmla="val 7500"/>
            </a:avLst>
          </a:prstGeom>
          <a:solidFill>
            <a:srgbClr val="ECE6FA"/>
          </a:solidFill>
          <a:ln w="12700">
            <a:solidFill>
              <a:srgbClr val="6C4FBF"/>
            </a:solidFill>
            <a:prstDash val="solid"/>
          </a:ln>
        </p:spPr>
      </p:sp>
      <p:sp>
        <p:nvSpPr>
          <p:cNvPr id="30" name="Text 28"/>
          <p:cNvSpPr txBox="1"/>
          <p:nvPr/>
        </p:nvSpPr>
        <p:spPr>
          <a:xfrm>
            <a:off x="3364992" y="2999232"/>
            <a:ext cx="117957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scale 적용</a:t>
            </a:r>
            <a:endParaRPr lang="en-US" sz="950" dirty="0"/>
          </a:p>
        </p:txBody>
      </p:sp>
      <p:sp>
        <p:nvSpPr>
          <p:cNvPr id="31" name="Text 29"/>
          <p:cNvSpPr txBox="1"/>
          <p:nvPr/>
        </p:nvSpPr>
        <p:spPr>
          <a:xfrm>
            <a:off x="3364992" y="3180207"/>
            <a:ext cx="1179576" cy="44081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 sW[n] × sX[m] → FP32 acc</a:t>
            </a:r>
            <a:endParaRPr lang="en-US" sz="750" dirty="0"/>
          </a:p>
        </p:txBody>
      </p:sp>
      <p:sp>
        <p:nvSpPr>
          <p:cNvPr id="32" name="Shape 30"/>
          <p:cNvSpPr/>
          <p:nvPr/>
        </p:nvSpPr>
        <p:spPr>
          <a:xfrm>
            <a:off x="4626864" y="3291840"/>
            <a:ext cx="73152" cy="914"/>
          </a:xfrm>
          <a:prstGeom prst="line">
            <a:avLst/>
          </a:prstGeom>
          <a:noFill/>
          <a:ln w="12700">
            <a:solidFill>
              <a:srgbClr val="5B6B7F"/>
            </a:solidFill>
            <a:prstDash val="solid"/>
            <a:tailEnd type="triangle"/>
          </a:ln>
        </p:spPr>
      </p:sp>
      <p:sp>
        <p:nvSpPr>
          <p:cNvPr id="33" name="Shape 31"/>
          <p:cNvSpPr/>
          <p:nvPr/>
        </p:nvSpPr>
        <p:spPr>
          <a:xfrm>
            <a:off x="4709160" y="2926080"/>
            <a:ext cx="1325880" cy="731520"/>
          </a:xfrm>
          <a:prstGeom prst="roundRect">
            <a:avLst>
              <a:gd name="adj" fmla="val 7500"/>
            </a:avLst>
          </a:prstGeom>
          <a:solidFill>
            <a:srgbClr val="DDF3F0"/>
          </a:solidFill>
          <a:ln w="12700">
            <a:solidFill>
              <a:srgbClr val="1F8A8A"/>
            </a:solidFill>
            <a:prstDash val="solid"/>
          </a:ln>
        </p:spPr>
      </p:sp>
      <p:sp>
        <p:nvSpPr>
          <p:cNvPr id="34" name="Text 32"/>
          <p:cNvSpPr txBox="1"/>
          <p:nvPr/>
        </p:nvSpPr>
        <p:spPr>
          <a:xfrm>
            <a:off x="4782312" y="2999232"/>
            <a:ext cx="117957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FP16 결과</a:t>
            </a:r>
            <a:endParaRPr lang="en-US" sz="950" dirty="0"/>
          </a:p>
        </p:txBody>
      </p:sp>
      <p:sp>
        <p:nvSpPr>
          <p:cNvPr id="35" name="Text 33"/>
          <p:cNvSpPr txBox="1"/>
          <p:nvPr/>
        </p:nvSpPr>
        <p:spPr>
          <a:xfrm>
            <a:off x="4782312" y="3180207"/>
            <a:ext cx="1179576" cy="44081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전체 K 완료 후</a:t>
            </a:r>
            <a:endParaRPr lang="en-US" sz="75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457200" y="3886200"/>
          <a:ext cx="5852160" cy="914400"/>
        </p:xfrm>
        <a:graphic>
          <a:graphicData uri="http://schemas.openxmlformats.org/drawingml/2006/table">
            <a:tbl>
              <a:tblPr/>
              <a:tblGrid>
                <a:gridCol w="3291840"/>
                <a:gridCol w="2560320"/>
              </a:tblGrid>
              <a:tr h="274320">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계산 / 데이터</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80" b="1" dirty="0">
                          <a:solidFill>
                            <a:srgbClr val="FFFFFF"/>
                          </a:solidFill>
                          <a:latin typeface="Malgun Gothic" pitchFamily="34" charset="0"/>
                          <a:ea typeface="Malgun Gothic" pitchFamily="34" charset="-122"/>
                          <a:cs typeface="Malgun Gothic" pitchFamily="34" charset="-120"/>
                        </a:rPr>
                        <a:t>현재 pass의 범위</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Q/K/V/O, gate/up/down, LM head weight matmul</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조건 만족 시 양자화 대상</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Attention QKᵀ, PV</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runtime operand → 대상 아님</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RMSNorm, softmax, RoPE, residual</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FP16 경로</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Projection 입출력</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FP16 (W8A8은 내부에서 동적 양자화)</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KV cache</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80" dirty="0">
                          <a:solidFill>
                            <a:srgbClr val="1F2D3D"/>
                          </a:solidFill>
                          <a:latin typeface="Malgun Gothic" pitchFamily="34" charset="0"/>
                          <a:ea typeface="Malgun Gothic" pitchFamily="34" charset="-122"/>
                          <a:cs typeface="Malgun Gothic" pitchFamily="34" charset="-120"/>
                        </a:rPr>
                        <a:t>FP16</a:t>
                      </a:r>
                      <a:endParaRPr lang="en-US" sz="88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173" name="Table 1"/>
          <p:cNvGraphicFramePr>
            <a:graphicFrameLocks noGrp="1"/>
          </p:cNvGraphicFramePr>
          <p:nvPr>
            <p:extLst>
              <p:ext uri="{D42A27DB-BD31-4B8C-83A1-F6EECF244321}">
                <p14:modId xmlns:p14="http://schemas.microsoft.com/office/powerpoint/2010/main" val="1579011935"/>
              </p:ext>
            </p:extLst>
          </p:nvPr>
        </p:nvGraphicFramePr>
        <p:xfrm>
          <a:off x="6537960" y="1417320"/>
          <a:ext cx="5193792" cy="914400"/>
        </p:xfrm>
        <a:graphic>
          <a:graphicData uri="http://schemas.openxmlformats.org/drawingml/2006/table">
            <a:tbl>
              <a:tblPr/>
              <a:tblGrid>
                <a:gridCol w="1097280"/>
                <a:gridCol w="4096512"/>
              </a:tblGrid>
              <a:tr h="457200">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항목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내용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scale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sW[j] = max(|W[:,j]|, tiny)/127, per-output-channel; W8A8 activation per-row FP32</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반올림</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half-to-even; 예: scale 1/127에서 0.5 → 64 → 복원 0.50394</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pass 위치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LiftTransformParams 전에 rewrite → scale/quantize가 host로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W8A16 경로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FP16 복원 weight + 기존 GEMM chain (ISA mixed matrix mode는 미선택)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W8A8 수치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64개 부분합마다 scale 적용 순서까지 기준. 전체 K INT32 합 뒤 1회 scale과 항상 같지 않음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schedule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versioned W8A8 TIR: K/N 64배수, 정적 rank-2, K ≤ 65535; FP16 X와 INT8 X 공존 구간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검증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W8A16 matmul, W8A8 [64,64]@[64,64], [7,128]@[128,192] bit equality; 작은 모델 cosine ≈ 0.999998</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457200">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미연결</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run_nn_npu.py --quantize 경로는 있으나 generate에는 미연결</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38" name="Shape 34"/>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39" name="Text 35"/>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INT4 형식이 ISA에 있어도 INT4 모델 compiler 완성이 아니고, 작은 kernel의 bit equality가 양자화 전 모델 품질 보존을 뜻하지 않습니다.</a:t>
            </a:r>
            <a:endParaRPr lang="en-US" sz="1250" dirty="0"/>
          </a:p>
        </p:txBody>
      </p:sp>
      <p:sp>
        <p:nvSpPr>
          <p:cNvPr id="40" name="Text 36"/>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41" name="Text 37"/>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docs/current/13_quantization.md, npu_compiler/npu_quantize.py, npu_w8a8_schedule.py, evidence/current/quantization.log</a:t>
            </a:r>
            <a:endParaRPr lang="en-US" sz="850" dirty="0"/>
          </a:p>
        </p:txBody>
      </p:sp>
      <p:sp>
        <p:nvSpPr>
          <p:cNvPr id="42" name="Text 38"/>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86 / 89</a:t>
            </a:r>
            <a:endParaRPr lang="en-US" sz="8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부록 A3 · TVM API 사전</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000" b="1" dirty="0">
                <a:solidFill>
                  <a:srgbClr val="15243B"/>
                </a:solidFill>
                <a:latin typeface="Malgun Gothic" pitchFamily="34" charset="0"/>
                <a:ea typeface="Malgun Gothic" pitchFamily="34" charset="-122"/>
                <a:cs typeface="Malgun Gothic" pitchFamily="34" charset="-120"/>
              </a:rPr>
              <a:t>TVM API를 동작 기준으로 읽기: 무엇을 받아 무엇으로 바꾸며, 아직 무엇을 정하지 않는가</a:t>
            </a:r>
            <a:endParaRPr lang="en-US" sz="20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설치된 TVM 0.19.0 기준. 이름을 외우기보다 각 API가 결정하는 것과 결정하지 않는 것을 구분합니다.</a:t>
            </a:r>
            <a:endParaRPr lang="en-US" sz="125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577840" cy="914400"/>
        </p:xfrm>
        <a:graphic>
          <a:graphicData uri="http://schemas.openxmlformats.org/drawingml/2006/table">
            <a:tbl>
              <a:tblPr/>
              <a:tblGrid>
                <a:gridCol w="1554480"/>
                <a:gridCol w="2194560"/>
                <a:gridCol w="1828800"/>
              </a:tblGrid>
              <a:tr h="292608">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Graph pass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하는 일</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현재 사용의 경계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LiftTransformParams</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parameter-only 계산을 별도 함수로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실행은 host 준비 단계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LegalizeOps(map)</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Relax op → TE/TIR 호출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Relax 함수는 남음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FoldConstant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상수만의 계산 미리 평가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NPU는 K=64 grouping wrapper 사용</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AnnotateTIROpPattern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TIR 성격 분류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SRAM 적합성·속도 판정 아님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FuseOps / ByPattern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의존 그래프·pattern으로 영역</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TIR 결합·채택 판단은 별도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FuseTIR</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영역의 TIR을 한 PrimFunc로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SRAM 배치는 후속</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RewriteDataflowReshape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reshape를 view 표현으로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transpose는 복사 없이 처리 안 됨</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DeadCodeElimination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미사용 함수·값 정리</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읽는 원소 수 감소와 다름</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graphicFrame>
        <p:nvGraphicFramePr>
          <p:cNvPr id="175" name="Table 1"/>
          <p:cNvGraphicFramePr>
            <a:graphicFrameLocks noGrp="1"/>
          </p:cNvGraphicFramePr>
          <p:nvPr>
            <p:extLst>
              <p:ext uri="{D42A27DB-BD31-4B8C-83A1-F6EECF244321}">
                <p14:modId xmlns:p14="http://schemas.microsoft.com/office/powerpoint/2010/main" val="1579011935"/>
              </p:ext>
            </p:extLst>
          </p:nvPr>
        </p:nvGraphicFramePr>
        <p:xfrm>
          <a:off x="6263640" y="1371600"/>
          <a:ext cx="5468112" cy="914400"/>
        </p:xfrm>
        <a:graphic>
          <a:graphicData uri="http://schemas.openxmlformats.org/drawingml/2006/table">
            <a:tbl>
              <a:tblPr/>
              <a:tblGrid>
                <a:gridCol w="1920240"/>
                <a:gridCol w="1737360"/>
                <a:gridCol w="1810512"/>
              </a:tblGrid>
              <a:tr h="292608">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Schedule / TIR / 메모리 API</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역할</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50" b="1" dirty="0">
                          <a:solidFill>
                            <a:srgbClr val="FFFFFF"/>
                          </a:solidFill>
                          <a:latin typeface="Malgun Gothic" pitchFamily="34" charset="0"/>
                          <a:ea typeface="Malgun Gothic" pitchFamily="34" charset="-122"/>
                          <a:cs typeface="Malgun Gothic" pitchFamily="34" charset="-120"/>
                        </a:rPr>
                        <a:t>확인할 것</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split / fuse / reorder</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loop 분할·평탄화·순서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predicate, 의존성, 단일 accumulator</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cache_read / cache_write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별도 scope 복사 stage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어느 소비자가 공유하는지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compute_at / reverse_compute_at</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생산·소비 block 이동</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관련 소비가 허용 범위인지</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set_scope / pad_einsum / decompose_reduction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scope 변경 / tile 배수 확장 / init 분리</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zero padding 의미, 누산 시작 loop</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TensorIntrin.register / tensorize</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intrinsic 등록·치환</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shape/dtype/scope/수식 계약</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rfactor</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reduction을 부분합으로</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CPU reference의 K=64 grouping</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CompactBufferAllocation</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접근 범위로 allocation 축소</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cache stripe 크기</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StaticPlanBlockMemory / USMP</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DRAM pool / SRAM 충돌 분석</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flat 주소는 backend가 부여</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structural_hash / equal</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IR 동일성</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cache 키 + equality 확인</a:t>
                      </a:r>
                      <a:endParaRPr lang="en-US" sz="8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262" name="Table 2"/>
          <p:cNvGraphicFramePr>
            <a:graphicFrameLocks noGrp="1"/>
          </p:cNvGraphicFramePr>
          <p:nvPr>
            <p:extLst>
              <p:ext uri="{D42A27DB-BD31-4B8C-83A1-F6EECF244321}">
                <p14:modId xmlns:p14="http://schemas.microsoft.com/office/powerpoint/2010/main" val="1579011935"/>
              </p:ext>
            </p:extLst>
          </p:nvPr>
        </p:nvGraphicFramePr>
        <p:xfrm>
          <a:off x="457200" y="4114800"/>
          <a:ext cx="5577840" cy="914400"/>
        </p:xfrm>
        <a:graphic>
          <a:graphicData uri="http://schemas.openxmlformats.org/drawingml/2006/table">
            <a:tbl>
              <a:tblPr/>
              <a:tblGrid>
                <a:gridCol w="1920240"/>
                <a:gridCol w="1691640"/>
                <a:gridCol w="1965960"/>
              </a:tblGrid>
              <a:tr h="274320">
                <a:tc>
                  <a:txBody>
                    <a:bodyPr/>
                    <a:lstStyle/>
                    <a:p>
                      <a:pPr algn="l" indent="0" marL="0">
                        <a:buNone/>
                      </a:pPr>
                      <a:r>
                        <a:rPr lang="en-US" sz="820" b="1" dirty="0">
                          <a:solidFill>
                            <a:srgbClr val="FFFFFF"/>
                          </a:solidFill>
                          <a:latin typeface="Malgun Gothic" pitchFamily="34" charset="0"/>
                          <a:ea typeface="Malgun Gothic" pitchFamily="34" charset="-122"/>
                          <a:cs typeface="Malgun Gothic" pitchFamily="34" charset="-120"/>
                        </a:rPr>
                        <a:t>MetaSchedule API (선택형)</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20" b="1" dirty="0">
                          <a:solidFill>
                            <a:srgbClr val="FFFFFF"/>
                          </a:solidFill>
                          <a:latin typeface="Malgun Gothic" pitchFamily="34" charset="0"/>
                          <a:ea typeface="Malgun Gothic" pitchFamily="34" charset="-122"/>
                          <a:cs typeface="Malgun Gothic" pitchFamily="34" charset="-120"/>
                        </a:rPr>
                        <a:t>제공 기능</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20" b="1" dirty="0">
                          <a:solidFill>
                            <a:srgbClr val="FFFFFF"/>
                          </a:solidFill>
                          <a:latin typeface="Malgun Gothic" pitchFamily="34" charset="0"/>
                          <a:ea typeface="Malgun Gothic" pitchFamily="34" charset="-122"/>
                          <a:cs typeface="Malgun Gothic" pitchFamily="34" charset="-120"/>
                        </a:rPr>
                        <a:t>현재 사용 범위</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Workload / TuningRecord / JSONDatabase</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작업·trace·기록 보존</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선택된 trace만, run_secs=None, 버전별 디렉터리</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tir.Schedule.trace</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적용한 Schedule 명령 기록</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새 TIR에 재적용 후 lowering·SRAM·codegen 재검증</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TuneContext / ScheduleFn / ReplayFunc</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탐색 문맥·후보 생성·재실행 전략</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같은 NPU 후보 pool의 검사 순서를 바꾸는 비교 경로</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sample_categorical</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범주 선택을 확률적으로 기록</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정리된 후보 번호를 같은 확률로 추첨</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relax_integration.extract_tasks</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같은 TIR 작업 합치기·호출 수 집계</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20" dirty="0">
                          <a:solidFill>
                            <a:srgbClr val="1F2D3D"/>
                          </a:solidFill>
                          <a:latin typeface="Malgun Gothic" pitchFamily="34" charset="0"/>
                          <a:ea typeface="Malgun Gothic" pitchFamily="34" charset="-122"/>
                          <a:cs typeface="Malgun Gothic" pitchFamily="34" charset="-120"/>
                        </a:rPr>
                        <a:t>작업 목록 진단만. TaskScheduler 미사용</a:t>
                      </a:r>
                      <a:endParaRPr lang="en-US" sz="82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8" name="Shape 3"/>
          <p:cNvSpPr/>
          <p:nvPr/>
        </p:nvSpPr>
        <p:spPr>
          <a:xfrm>
            <a:off x="6263640" y="4434840"/>
            <a:ext cx="5468112" cy="1371600"/>
          </a:xfrm>
          <a:prstGeom prst="roundRect">
            <a:avLst>
              <a:gd name="adj" fmla="val 4000"/>
            </a:avLst>
          </a:prstGeom>
          <a:solidFill>
            <a:srgbClr val="EEF2F6"/>
          </a:solidFill>
          <a:ln w="12700">
            <a:solidFill>
              <a:srgbClr val="C9D3DF"/>
            </a:solidFill>
            <a:prstDash val="solid"/>
          </a:ln>
        </p:spPr>
      </p:sp>
      <p:sp>
        <p:nvSpPr>
          <p:cNvPr id="9" name="Text 4"/>
          <p:cNvSpPr txBox="1"/>
          <p:nvPr/>
        </p:nvSpPr>
        <p:spPr>
          <a:xfrm>
            <a:off x="6391656" y="4489704"/>
            <a:ext cx="5212080" cy="126187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쓰지 않았다고 문제인 것은 아닌 API: </a:t>
            </a:r>
            <a:pPr algn="l" indent="0" marL="0">
              <a:buNone/>
            </a:pPr>
            <a:r>
              <a:rPr lang="en-US" sz="850" dirty="0">
                <a:solidFill>
                  <a:srgbClr val="1F2D3D"/>
                </a:solidFill>
                <a:latin typeface="Malgun Gothic" pitchFamily="34" charset="0"/>
                <a:ea typeface="Malgun Gothic" pitchFamily="34" charset="-122"/>
                <a:cs typeface="Malgun Gothic" pitchFamily="34" charset="-120"/>
              </a:rPr>
              <a:t>DLight는 schedule 규칙 체계, MetaSchedule은 탐색·측정 framework입니다. 09-29에 MetaSchedule의 trace DB와 ReplayFunc를 선택형으로 연결했고 DLight는 미사용입니다. 이 API가 장치 계약·SRAM 보관·비용 모델까지 자동 해결하지는 않으며 EvolutionarySearch·학습형 CostModel은 도입하지 않았습니다. CombineParallelMatmul 같은 추가 pass도 concat/split 비용을 측정한 뒤 판단합니다. CanonicalizeAttention, FoldRepeatedGemv, 양자화 rewrite, OutputViews는 우리 모듈의 변환입니다.</a:t>
            </a:r>
            <a:endParaRPr lang="en-US" sz="1200" dirty="0"/>
          </a:p>
        </p:txBody>
      </p:sp>
      <p:sp>
        <p:nvSpPr>
          <p:cNvPr id="10" name="Text 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1" name="Text 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docs/reference/tvm_api.md</a:t>
            </a:r>
            <a:endParaRPr lang="en-US" sz="850" dirty="0"/>
          </a:p>
        </p:txBody>
      </p:sp>
      <p:sp>
        <p:nvSpPr>
          <p:cNvPr id="12" name="Text 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87 / 89</a:t>
            </a:r>
            <a:endParaRPr lang="en-US" sz="8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부록 A4 · 재현</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재현 환경과 명령</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작은 예제부터 시작하고 소스·환경·설정을 기록합니다. 기존 측정값이 현재도 같을 것이라고 가정해 재사용하지 않습니다.</a:t>
            </a:r>
            <a:endParaRPr lang="en-US" sz="125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4754880" cy="914400"/>
        </p:xfrm>
        <a:graphic>
          <a:graphicData uri="http://schemas.openxmlformats.org/drawingml/2006/table">
            <a:tbl>
              <a:tblPr/>
              <a:tblGrid>
                <a:gridCol w="1920240"/>
                <a:gridCol w="2834640"/>
              </a:tblGrid>
              <a:tr h="292608">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환경</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값</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TVM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0.19.0, commit c4dc0c29ff81…</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LLVM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18.1.8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Python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3.11.15 (conda env npu-tvm)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numpy / torch / transformers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2.4.6 / 2.12.0+cpu / 5.12.1</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C-model</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_poc/mysim_v09.cpp (g++ -std=c++17 -O2)</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native codegen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npu_codegen/libnpu_codegen.so (build.sh)</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lock</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d_compiler/toolchain.lock.json (conda solver lock 아님)</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 name="Shape 3"/>
          <p:cNvSpPr/>
          <p:nvPr/>
        </p:nvSpPr>
        <p:spPr>
          <a:xfrm>
            <a:off x="5440680" y="1417320"/>
            <a:ext cx="6291072" cy="2377440"/>
          </a:xfrm>
          <a:prstGeom prst="roundRect">
            <a:avLst>
              <a:gd name="adj" fmla="val 1923"/>
            </a:avLst>
          </a:prstGeom>
          <a:solidFill>
            <a:srgbClr val="F5F7FA"/>
          </a:solidFill>
          <a:ln w="9525">
            <a:solidFill>
              <a:srgbClr val="C9D3DF"/>
            </a:solidFill>
            <a:prstDash val="solid"/>
          </a:ln>
        </p:spPr>
      </p:sp>
      <p:sp>
        <p:nvSpPr>
          <p:cNvPr id="7" name="Text 4"/>
          <p:cNvSpPr txBox="1"/>
          <p:nvPr/>
        </p:nvSpPr>
        <p:spPr>
          <a:xfrm>
            <a:off x="5550408" y="1490472"/>
            <a:ext cx="6071616" cy="2231136"/>
          </a:xfrm>
          <a:prstGeom prst="rect">
            <a:avLst/>
          </a:prstGeom>
          <a:noFill/>
          <a:ln/>
        </p:spPr>
        <p:txBody>
          <a:bodyPr wrap="square" lIns="0" tIns="0" rIns="0" bIns="0" rtlCol="0" anchor="t"/>
          <a:lstStyle/>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conda activate npu-tvm</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bash d_compiler/npu_codegen/build.sh                 # native library (필요 시)</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python d_compiler/docs/examples/reproduce.py --out /tmp/npu-doc-examples</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 E1 pipeline + E2 memory: 작은 compile 7개 + C-model 실행 (--case pipeline|memory)</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python d_compiler/docs/examples/export_llama_ir.py --out /tmp/npu-doc-llama-ir</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 실제 3B 폭 1-layer IR export만 (weight 읽기·codegen 없음)</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python d_compiler/docs/examples/schedule_api/reproduce.py   # compute_at 등 교육 dump</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python d_compiler/docs/tools/check_docs.py             # 문서 링크·수치 검사</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python d_compiler/run_nn_generate.py --model llama --prompt "Hello, NPU compiler!" \</a:t>
            </a:r>
            <a:endParaRPr lang="en-US" sz="850" dirty="0"/>
          </a:p>
          <a:p>
            <a:pPr algn="l" indent="0" marL="0">
              <a:lnSpc>
                <a:spcPct val="105000"/>
              </a:lnSpc>
              <a:buNone/>
            </a:pPr>
            <a:r>
              <a:rPr lang="en-US" sz="850" dirty="0">
                <a:solidFill>
                  <a:srgbClr val="1F2D3D"/>
                </a:solidFill>
                <a:latin typeface="Courier New" pitchFamily="34" charset="0"/>
                <a:ea typeface="Courier New" pitchFamily="34" charset="-122"/>
                <a:cs typeface="Courier New" pitchFamily="34" charset="-120"/>
              </a:rPr>
              <a:t>    --tokens 3 --capacity 9                           # 전체 모델 (checkpoint 필요, 장시간)</a:t>
            </a:r>
            <a:endParaRPr lang="en-US" sz="850" dirty="0"/>
          </a:p>
        </p:txBody>
      </p:sp>
      <p:graphicFrame>
        <p:nvGraphicFramePr>
          <p:cNvPr id="177" name="Table 1"/>
          <p:cNvGraphicFramePr>
            <a:graphicFrameLocks noGrp="1"/>
          </p:cNvGraphicFramePr>
          <p:nvPr>
            <p:extLst>
              <p:ext uri="{D42A27DB-BD31-4B8C-83A1-F6EECF244321}">
                <p14:modId xmlns:p14="http://schemas.microsoft.com/office/powerpoint/2010/main" val="1579011935"/>
              </p:ext>
            </p:extLst>
          </p:nvPr>
        </p:nvGraphicFramePr>
        <p:xfrm>
          <a:off x="457200" y="3977640"/>
          <a:ext cx="11274552" cy="914400"/>
        </p:xfrm>
        <a:graphic>
          <a:graphicData uri="http://schemas.openxmlformats.org/drawingml/2006/table">
            <a:tbl>
              <a:tblPr/>
              <a:tblGrid>
                <a:gridCol w="1280160"/>
                <a:gridCol w="9994392"/>
              </a:tblGrid>
              <a:tr h="292608">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새 실험을 추가할 때 함께 남길 기록</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identity</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compiler source hash, TVM/native/C-model identity, contract hash</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입력</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shape/dtype, profile, fusion/residency 설정, seed 또는 checkpoint/prompt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실행</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실제 실행 여부(executed), 비교 기준(HF/LLVM/NumPy)과 tolerance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92608">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해석</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같은 입력으로 한 변수만 바꿈. 큰 context는 예상 compile·memory 비용부터 산정. timing 없으면 words/DMA 감소까지만 주장</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9" name="Shape 5"/>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0" name="Text 6"/>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작은 예제의 실행 검증, 기존 전체 Llama 기록, 정적 MLP compile, 과거 단일 시간 관측을 구분해 인용합니다.</a:t>
            </a:r>
            <a:endParaRPr lang="en-US" sz="1250" dirty="0"/>
          </a:p>
        </p:txBody>
      </p:sp>
      <p:sp>
        <p:nvSpPr>
          <p:cNvPr id="11" name="Text 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2" name="Text 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docs/current/12_operations_limits.md, docs/examples/README.md, d_compiler/toolchain.lock.json</a:t>
            </a:r>
            <a:endParaRPr lang="en-US" sz="850" dirty="0"/>
          </a:p>
        </p:txBody>
      </p:sp>
      <p:sp>
        <p:nvSpPr>
          <p:cNvPr id="13" name="Text 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88 / 89</a:t>
            </a:r>
            <a:endParaRPr lang="en-US" sz="8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731520" y="1463040"/>
            <a:ext cx="10515600" cy="274320"/>
          </a:xfrm>
          <a:prstGeom prst="rect">
            <a:avLst/>
          </a:prstGeom>
          <a:noFill/>
          <a:ln/>
        </p:spPr>
        <p:txBody>
          <a:bodyPr wrap="square" lIns="0" tIns="0" rIns="0" bIns="0" rtlCol="0" anchor="t"/>
          <a:lstStyle/>
          <a:p>
            <a:pPr algn="l" indent="0" marL="0">
              <a:buNone/>
            </a:pPr>
            <a:r>
              <a:rPr lang="en-US" sz="1100" b="1" spc="200" kern="0" dirty="0">
                <a:solidFill>
                  <a:srgbClr val="1F8A8A"/>
                </a:solidFill>
                <a:latin typeface="Malgun Gothic" pitchFamily="34" charset="0"/>
                <a:ea typeface="Malgun Gothic" pitchFamily="34" charset="-122"/>
                <a:cs typeface="Malgun Gothic" pitchFamily="34" charset="-120"/>
              </a:rPr>
              <a:t>TVM 기반 LLM NPU COMPILER</a:t>
            </a:r>
            <a:endParaRPr lang="en-US" sz="1100" dirty="0"/>
          </a:p>
        </p:txBody>
      </p:sp>
      <p:sp>
        <p:nvSpPr>
          <p:cNvPr id="3" name="Text 1"/>
          <p:cNvSpPr txBox="1"/>
          <p:nvPr/>
        </p:nvSpPr>
        <p:spPr>
          <a:xfrm>
            <a:off x="731520" y="1920240"/>
            <a:ext cx="10515600" cy="1097280"/>
          </a:xfrm>
          <a:prstGeom prst="rect">
            <a:avLst/>
          </a:prstGeom>
          <a:noFill/>
          <a:ln/>
        </p:spPr>
        <p:txBody>
          <a:bodyPr wrap="square" lIns="0" tIns="0" rIns="0" bIns="0" rtlCol="0" anchor="t"/>
          <a:lstStyle/>
          <a:p>
            <a:pPr algn="l" indent="0" marL="0">
              <a:buNone/>
            </a:pPr>
            <a:r>
              <a:rPr lang="en-US" sz="3000" b="1" dirty="0">
                <a:solidFill>
                  <a:srgbClr val="FFFFFF"/>
                </a:solidFill>
                <a:latin typeface="Malgun Gothic" pitchFamily="34" charset="0"/>
                <a:ea typeface="Malgun Gothic" pitchFamily="34" charset="-122"/>
                <a:cs typeface="Malgun Gothic" pitchFamily="34" charset="-120"/>
              </a:rPr>
              <a:t>계산의 의미 → 실행 배치 → 수명과 주소 → 명령과 runtime</a:t>
            </a:r>
            <a:endParaRPr lang="en-US" sz="3000" dirty="0"/>
          </a:p>
        </p:txBody>
      </p:sp>
      <p:sp>
        <p:nvSpPr>
          <p:cNvPr id="4" name="Text 2"/>
          <p:cNvSpPr txBox="1"/>
          <p:nvPr/>
        </p:nvSpPr>
        <p:spPr>
          <a:xfrm>
            <a:off x="731520" y="3017520"/>
            <a:ext cx="10515600" cy="1097280"/>
          </a:xfrm>
          <a:prstGeom prst="rect">
            <a:avLst/>
          </a:prstGeom>
          <a:noFill/>
          <a:ln/>
        </p:spPr>
        <p:txBody>
          <a:bodyPr wrap="square" lIns="0" tIns="0" rIns="0" bIns="0" rtlCol="0" anchor="t"/>
          <a:lstStyle/>
          <a:p>
            <a:pPr algn="l" indent="0" marL="0">
              <a:buNone/>
            </a:pPr>
            <a:r>
              <a:rPr lang="en-US" sz="1600" dirty="0">
                <a:solidFill>
                  <a:srgbClr val="E6EDF5"/>
                </a:solidFill>
                <a:latin typeface="Malgun Gothic" pitchFamily="34" charset="0"/>
                <a:ea typeface="Malgun Gothic" pitchFamily="34" charset="-122"/>
                <a:cs typeface="Malgun Gothic" pitchFamily="34" charset="-120"/>
              </a:rPr>
              <a:t>각 결정은 실제 프로그램의 (DMA bytes, ISA words, SRAM peak)로 확인하고,</a:t>
            </a:r>
            <a:endParaRPr lang="en-US" sz="1600" dirty="0"/>
          </a:p>
          <a:p>
            <a:pPr algn="l" indent="0" marL="0">
              <a:buNone/>
            </a:pPr>
            <a:r>
              <a:rPr lang="en-US" sz="1600" dirty="0">
                <a:solidFill>
                  <a:srgbClr val="E6EDF5"/>
                </a:solidFill>
                <a:latin typeface="Malgun Gothic" pitchFamily="34" charset="0"/>
                <a:ea typeface="Malgun Gothic" pitchFamily="34" charset="-122"/>
                <a:cs typeface="Malgun Gothic" pitchFamily="34" charset="-120"/>
              </a:rPr>
              <a:t>수치는 HF / LLVM 기준으로 따로 검증합니다.</a:t>
            </a:r>
            <a:endParaRPr lang="en-US" sz="1600" dirty="0"/>
          </a:p>
        </p:txBody>
      </p:sp>
      <p:sp>
        <p:nvSpPr>
          <p:cNvPr id="5" name="Shape 3"/>
          <p:cNvSpPr/>
          <p:nvPr/>
        </p:nvSpPr>
        <p:spPr>
          <a:xfrm>
            <a:off x="731520" y="4480560"/>
            <a:ext cx="10698480" cy="1280160"/>
          </a:xfrm>
          <a:prstGeom prst="roundRect">
            <a:avLst>
              <a:gd name="adj" fmla="val 5714"/>
            </a:avLst>
          </a:prstGeom>
          <a:solidFill>
            <a:srgbClr val="18293F"/>
          </a:solidFill>
          <a:ln w="12700">
            <a:solidFill>
              <a:srgbClr val="2B3E58"/>
            </a:solidFill>
            <a:prstDash val="solid"/>
          </a:ln>
        </p:spPr>
      </p:sp>
      <p:sp>
        <p:nvSpPr>
          <p:cNvPr id="6" name="Text 4"/>
          <p:cNvSpPr txBox="1"/>
          <p:nvPr/>
        </p:nvSpPr>
        <p:spPr>
          <a:xfrm>
            <a:off x="960120" y="4617720"/>
            <a:ext cx="10241280" cy="1005840"/>
          </a:xfrm>
          <a:prstGeom prst="rect">
            <a:avLst/>
          </a:prstGeom>
          <a:noFill/>
          <a:ln/>
        </p:spPr>
        <p:txBody>
          <a:bodyPr wrap="square" lIns="0" tIns="0" rIns="0" bIns="0" rtlCol="0" anchor="t"/>
          <a:lstStyle/>
          <a:p>
            <a:pPr algn="l" indent="0" marL="0">
              <a:buNone/>
            </a:pPr>
            <a:r>
              <a:rPr lang="en-US" sz="1200" dirty="0">
                <a:solidFill>
                  <a:srgbClr val="9FB3C8"/>
                </a:solidFill>
                <a:latin typeface="Malgun Gothic" pitchFamily="34" charset="0"/>
                <a:ea typeface="Malgun Gothic" pitchFamily="34" charset="-122"/>
                <a:cs typeface="Malgun Gothic" pitchFamily="34" charset="-120"/>
              </a:rPr>
              <a:t>문서: d_compiler/docs/README.md (13장) · 예제: docs/examples/ (실제 IR·명령·실행 결과) · 근거: docs/evidence/ (source hash와 함께 보존)</a:t>
            </a:r>
            <a:endParaRPr lang="en-US" sz="1200" dirty="0"/>
          </a:p>
          <a:p>
            <a:pPr algn="l" indent="0" marL="0">
              <a:buNone/>
            </a:pPr>
            <a:r>
              <a:rPr lang="en-US" sz="1200" dirty="0">
                <a:solidFill>
                  <a:srgbClr val="9FB3C8"/>
                </a:solidFill>
                <a:latin typeface="Malgun Gothic" pitchFamily="34" charset="0"/>
                <a:ea typeface="Malgun Gothic" pitchFamily="34" charset="-122"/>
                <a:cs typeface="Malgun Gothic" pitchFamily="34" charset="-120"/>
              </a:rPr>
              <a:t>코드: d_compiler/npu_compiler/, npu_codegen/ · 검증: d_compiler/run_gate.sh, docs/examples/reproduce.py</a:t>
            </a:r>
            <a:endParaRPr lang="en-US" sz="1200" dirty="0"/>
          </a:p>
        </p:txBody>
      </p:sp>
      <p:sp>
        <p:nvSpPr>
          <p:cNvPr id="7" name="Text 5"/>
          <p:cNvSpPr txBox="1"/>
          <p:nvPr/>
        </p:nvSpPr>
        <p:spPr>
          <a:xfrm>
            <a:off x="731520" y="6172200"/>
            <a:ext cx="10515600" cy="274320"/>
          </a:xfrm>
          <a:prstGeom prst="rect">
            <a:avLst/>
          </a:prstGeom>
          <a:noFill/>
          <a:ln/>
        </p:spPr>
        <p:txBody>
          <a:bodyPr wrap="square" lIns="0" tIns="0" rIns="0" bIns="0" rtlCol="0" anchor="t"/>
          <a:lstStyle/>
          <a:p>
            <a:pPr algn="l" indent="0" marL="0">
              <a:buNone/>
            </a:pPr>
            <a:r>
              <a:rPr lang="en-US" sz="1000" dirty="0">
                <a:solidFill>
                  <a:srgbClr val="9FB3C8"/>
                </a:solidFill>
                <a:latin typeface="Malgun Gothic" pitchFamily="34" charset="0"/>
                <a:ea typeface="Malgun Gothic" pitchFamily="34" charset="-122"/>
                <a:cs typeface="Malgun Gothic" pitchFamily="34" charset="-120"/>
              </a:rPr>
              <a:t>2026-09-28 작업 트리 · TVM 0.19.0 · v09 backend · FP16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89</Slides>
  <Notes>89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89</vt:i4>
      </vt:variant>
    </vt:vector>
  </HeadingPairs>
  <TitlesOfParts>
    <vt:vector size="9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TVM 기반 LLM NPU Compiler</dc:title>
  <dc:subject>PptxGenJS Presentation</dc:subject>
  <dc:creator>NPU compiler</dc:creator>
  <cp:lastModifiedBy>NPU compiler</cp:lastModifiedBy>
  <cp:revision>1</cp:revision>
  <dcterms:created xsi:type="dcterms:W3CDTF">2026-09-29T16:17:41Z</dcterms:created>
  <dcterms:modified xsi:type="dcterms:W3CDTF">2026-09-29T16:17:41Z</dcterms:modified>
</cp:coreProperties>
</file>