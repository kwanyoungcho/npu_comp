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5243B"/>
                </a:solidFill>
                <a:latin typeface="Arial"/>
              </a:defRPr>
            </a:pPr>
            <a:r>
              <a:rPr sz="900" b="0" i="0" u="none" strike="noStrike">
                <a:solidFill>
                  <a:srgbClr val="15243B"/>
                </a:solidFill>
                <a:latin typeface="Arial"/>
              </a:rPr>
              <a:t>E1 ISA words (DMA 동일 41,100 B)</a:t>
            </a:r>
          </a:p>
        </c:rich>
      </c:tx>
      <c:layout/>
      <c:overlay val="0"/>
    </c:title>
    <c:autoTitleDeleted val="0"/>
    <c:plotArea>
      <c:layout/>
      <c:barChart>
        <c:barDir val="col"/>
        <c:grouping val="clustered"/>
        <c:varyColors val="0"/>
        <c:ser>
          <c:idx val="0"/>
          <c:order val="0"/>
          <c:tx>
            <c:strRef>
              <c:f>Sheet1!$B$1</c:f>
              <c:strCache>
                <c:ptCount val="1"/>
                <c:pt idx="0">
                  <c:v>words</c:v>
                </c:pt>
              </c:strCache>
            </c:strRef>
          </c:tx>
          <c:spPr>
            <a:solidFill>
              <a:srgbClr val="1F8A8A"/>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fusion off (3 kernels)</c:v>
                  </c:pt>
                  <c:pt idx="1">
                    <c:v>fusion auto (1 kernel)</c:v>
                  </c:pt>
                </c:lvl>
              </c:multiLvlStrCache>
            </c:multiLvlStrRef>
          </c:cat>
          <c:val>
            <c:numRef>
              <c:f>Sheet1!$B$2:$B$3</c:f>
              <c:numCache>
                <c:formatCode>General</c:formatCode>
                <c:ptCount val="2"/>
                <c:pt idx="0">
                  <c:v>2812</c:v>
                </c:pt>
                <c:pt idx="1">
                  <c:v>1577</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5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5243B"/>
                </a:solidFill>
                <a:latin typeface="Arial"/>
              </a:defRPr>
            </a:pPr>
            <a:r>
              <a:rPr sz="900" b="0" i="0" u="none" strike="noStrike">
                <a:solidFill>
                  <a:srgbClr val="15243B"/>
                </a:solidFill>
                <a:latin typeface="Arial"/>
              </a:rPr>
              <a:t>E2 SRAM 용량별 DMA bytes (두 matmul)</a:t>
            </a:r>
          </a:p>
        </c:rich>
      </c:tx>
      <c:layout/>
      <c:overlay val="0"/>
    </c:title>
    <c:autoTitleDeleted val="0"/>
    <c:plotArea>
      <c:layout/>
      <c:barChart>
        <c:barDir val="col"/>
        <c:grouping val="clustered"/>
        <c:varyColors val="0"/>
        <c:ser>
          <c:idx val="0"/>
          <c:order val="0"/>
          <c:tx>
            <c:strRef>
              <c:f>Sheet1!$B$1</c:f>
              <c:strCache>
                <c:ptCount val="1"/>
                <c:pt idx="0">
                  <c:v>DMA</c:v>
                </c:pt>
              </c:strCache>
            </c:strRef>
          </c:tx>
          <c:spPr>
            <a:solidFill>
              <a:srgbClr val="D98A1E"/>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32K off</c:v>
                  </c:pt>
                  <c:pt idx="1">
                    <c:v>32K on</c:v>
                  </c:pt>
                  <c:pt idx="2">
                    <c:v>44K off</c:v>
                  </c:pt>
                  <c:pt idx="3">
                    <c:v>44K on</c:v>
                  </c:pt>
                  <c:pt idx="4">
                    <c:v>64K on</c:v>
                  </c:pt>
                </c:lvl>
              </c:multiLvlStrCache>
            </c:multiLvlStrRef>
          </c:cat>
          <c:val>
            <c:numRef>
              <c:f>Sheet1!$B$2:$B$6</c:f>
              <c:numCache>
                <c:formatCode>General</c:formatCode>
                <c:ptCount val="5"/>
                <c:pt idx="0">
                  <c:v>81932</c:v>
                </c:pt>
                <c:pt idx="1">
                  <c:v>81932</c:v>
                </c:pt>
                <c:pt idx="2">
                  <c:v>81932</c:v>
                </c:pt>
                <c:pt idx="3">
                  <c:v>49164</c:v>
                </c:pt>
                <c:pt idx="4">
                  <c:v>49164</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1F2D3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5B6B7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13장 요약판입니다. 각 장은 그림 하나로 그 단계의 실제 동작을 보여주고, IR은 2~4줄 요약만 둡니다. 예제는 SiLU(X[64,128]·Wᵀ+bias), 두 matmul 44 KiB, Llama 3.2 3B(S=7, C=9)이며 과거 측정과 현재 탐색 개선을 구분하고 E10은 메모리 증가로 중단됐으며 전체 재검증은 아직 수행하지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 모델을 relax.frontend.nn으로 export하면 연산 호출과 shape만 있는 Relax 그래프가 됩니다. ② graph prefix가 weight만 쓰는 transpose를 host 함수로 옮기고, LegalizeOps가 각 연산의 원소 계산(FP32 누산, FP16 cast)을 TIR PrimFunc로 정의합니다. ③ FuseOps 영역을 실제 명령 비용으로 검사하고, matmul은 panel·순서·cache 위치를 탐색해 64×64 intrinsic으로 tensorize합니다. ④ DRAM은 TVM StaticPlanBlockMemory의 pool을 flat 주소로, SRAM은 USMP가 충돌하지 않는 buffer의 offset을 공유하고 커널 사이 보관값을 위쪽에 예약합니다. ⑤ walker가 TIR을 완전히 unroll해 descriptor·LOAD/SAVE·M_MUL·DMA packet의 직선 stream을 만들고, runtime은 DRAM image와 함께 C-model에 넘겨 출력 offset에서 결과를 읽습니다. 후보 비교는 ⑤의 통계로 ③으로 되돌아갑니다.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DRAM(global)은 DMA만 접근하며 32-bit cell 단위 주소를 씁니다. SRAM은 8 MiB, nibble 주소입니다. 연산장치는 64×64 matrix unit(FP32 accumulator 1개)과 256-lane vector unit입니다. GLOAD/GSTORE는 DRAM↔SRAM, LOAD/SAVE는 SRAM↔연산장치 이동이라 서로 다른 경계입니다. SRAM 구성(literal·scratch, 입력 panel, 출력 tile·임시, 커널 사이 보관값)은 메모리 계획의 실제 배치 순서입니다. 한 숫자를 다른 단위로 읽으면 2배/4배 어긋난 주소가 됩니다. C-model 통과는 기능 검증이며 RTL 검증을 대신하지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relax.frontend.nn으로 정의한 Llama는 export_tvm으로 정적 shape의 Relax IRModule이 됩니다(prefill S=7, decode C=9). Attention은 Q/K/V projection, RoPE(Q,K), GQA repeat(8→24 head), QKᵀ·scale·mask·softmax·PV, O projection과 residual이고 MLP는 gate/up([7,8192], weight 48 MiB씩)·SiLU·곱·down과 residual입니다. graph prefix(CanonicalizeAttention, CanonicalizeBindings, EliminateCommonSubexpr, RewriteDataflowReshape, LiftTransformParams)가 parameter만 쓰는 permute_dims를 host 함수로 옮기고, runtime 준비 단계에서 LLVM VM이 이를 1회 실행해 DRAM image에 넣습니다. 반환 순서가 (bias, lv)로 바뀌므로 runtime은 signature로 binding합니다.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NPU legalize map은 matmul(FP16×FP16→FP32 sum→FP16), softmax(max·exp·FP32 sum·FP16 sum·divide, 마지막 축 1..65504), rms_norm(absmax로 먼저 scale해 x² overflow 방지), sum/mean, split(view)만 바꾸고 나머지는 TVM 기본 legalization입니다. 장치는 K=64 단위 부분합을 만들므로 CPU reference도 split+rfactor로 같은 grouping을 쓰며, 중간에 FP16으로 저장했다 다시 더하는 schedule은 "FP32 matrix chain interrupted"로 거절됩니다. E1에서 같은 grouping의 LLVM 출력과 최대 절대차 0. 정밀도 정책은 고정이며 오차 예산 자동 탐색은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TVM FuseOps가 op_pattern(matmul 4 → add 0 → silu 0)으로 영역을 만들면 npu_fusion.select가 영역마다 unfused 기준과 fused 후보를 실제 schedule·메모리·codegen까지 내려 (DMA, words, SRAM) 사전식으로 비교하고 진 영역은 inline합니다. 그 위에서 lower_and_select가 attention(off/score/full) × GQA·producer × generic(off/vectors/matmul) 최대 27개 graph 후보를 entry 전체 비용으로 비교합니다. 채택 조건은 모든 entry 비악화 + 하나 이상 개선이며 기본 추가 탐색은 120초이고 None으로 해제합니다. 과거 7-token 전체 Llama 기록에서는 후보 0(모두 off)만 legal·selected, 후보 1 검사 중 예산 소진, 25개 미검사였습니다. 이는 "모든 fusion이 더 나쁘다"의 증거가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탐색 축은 m/n panel, K chunk, outer/inner 순서, X/W cache 위치(a_at/b_at)이며 K는 항상 최내측입니다(accumulator 1개). 후보는 추정 DMA 순으로 검사하되 실제 tir.Schedule 변환 → CompactBufferAllocation → USMP 배치 → 실제 명령 생성으로 합법성과 (DMA, words, SRAM)을 확인하며 기본 시도64·legal8 목표입니다. 동일 후보를 정규화하고 증명 가능한 SRAM 초과만 미리 제외합니다. Words 예산은 max(설정값, 기준 words×legal 목표)이며 최소 두 합법 후보 전에는 words 때문에 종료하지 않습니다. 시도 한도는 별도입니다. TVM trace DB 재사용과 ReplayFunc 탐색은 선택형입니다. E10은 시도128·legal16 목표로 확장합니다. gate/up은 ("A",64) input-stationary(X 유지, W panel 384 KiB 교체, 6,144 M_MUL), down은 ("B",256) weight-stationary(W 4 MiB 유지, H는 SRAM 보관값)가 선택됐습니다. 아래 word strip은 X₀·B₀(MAC=0) → X₁·B₁(MAC=1) → SAVE의 실제 명령이며 두 번째 tile에서는 주소 descriptor만 바뀝니다(COLS는 peephole이 생략).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Walker는 표현식을 6개 scratch slot에 직렬화합니다. sigmoid는 SIGN_INV → EXP → BROADCAST(1.0) → ADD → DIV이고 SiLU의 마지막 곱은 별도 block입니다. 중간값은 FP16 SRAM 행이라 SiLU 하나가 ISA 하나가 아니며, generic vector 커널은 전체가 안 들어가면 행 묶음을 반으로 줄이고 연속 축을 결합해 행을 길게 만듭니다(64×64 → 32×128). Attention full fusion은 정적 rank-3 FP16 64배수 조건에서만 가능하고 row block을 head loop 바깥에 두어 block마다 모든 head를 처리하며, 실패하면 block을 반으로 줄입니다. key까지 나누는 online softmax(FlashAttention)는 없습니다. decode(m=1)는 조건 밖이라 score chain fusion 또는 분리 matmul을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아래는 작은 예제 fused 커널의 실제 USMP 결과입니다: 8개 buffer(총 163,840 nibbles)가 충돌하지 않는 것끼리 offset을 공유해 81,920 nibbles에 들어가며(bump 150,808 → peak 85,016), gemm 목적지는 pinned로 offset 0을 혼자 씁니다. 오른쪽은 두 matmul 예제(SRAM 44 KiB)의 실제 주소입니다: 첫 커널이 H를 26,124에 직접 SAVE하고 두 번째 커널이 그 위치를 직접 LOAD하므로 H의 GSTORE/GLOAD 32,768 B가 사라져 DMA 81,932 → 49,164 B, 미사용 DRAM pool 제거로 image 65,548 → 49,164 B가 됩니다. 32 KiB에서는 첫 matmul이 안 들어가 보관이 적용되지 않습니다. 보관은 tensor 전체만, beam 4, all-DRAM 진행도 항상 비교하며 이득이 실제 비용으로 확인될 때만 채택합니다. KV cache와 출력·parameter는 ABI 계약으로 보호됩니다.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0-3 상수 pool GLOAD, 4-47 커널 0(W1·X GLOAD, 두 출력 tile 각각 MAC=0 → H 직접 SAVE), 48-75 커널 1(W2 GLOAD가 W1 자리, K tile 두 개 MAC=0/1, Y SAVE, GSTORE), 76 HALT. DMA packet은 4 words(w0 SRAM nibble 주소+opcode, w1 global cell, w2 stride, w3 rows/cols)이고 나머지는 1 word입니다. Descriptor(0x80 주소, 0x88/0x89 rows/cols·dtype, 0x82 VLEN)는 상태 register라 뒤 명령이 참조하며, peephole은 값이 같을 때만 중복 설정을 제거합니다(커널 1에 0x88 없음). M_MUL word의 bit 27이 MAC이며 80000042(MAC=0)와 88000042(MAC=1)만 다릅니다. Python walker와 native C++ walker는 같은 contract hash를 공유하고 words·DMA bytes·SRAM peak 통계와 C-model counters를 대조합니다. 결과물 bundle: program_memory.bin, program.json(주소·통계·ABI·provenance), lowered.py, scheduled_*.py, global_memory.bin.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generate()는 prefill_cache(S=7)와 decode(C=9) 두 프로그램을 한 번 링크하고 weight를 한 번 읽습니다. prefill 뒤 host가 argmax로 첫 token을 고르고 K/V S행을 capacity 배열 앞에 복사합니다. 각 decode step에서 host는 token embedding, position의 cos/sin, length_mask(유효 슬롯 0, 나머지 −65504, 마지막 현재 token 0)를 image의 정해진 주소에 patch합니다. K cache는 [128,C]로 transposed 저장이라 새 K(128×1)는 열 하나(행마다 2 B, stride 18 B)이고 V cache는 [C,128]이라 새 V는 연속 256 B 행입니다. AppendPlan이 position으로 DMA 주소를 fixup한 tail을 HALT 앞에 넣고, PersistentTransport가 program suffix와 입력만 patch한 뒤 C-model을 실행하고 saved image를 다음 입력으로 rename합니다. 기록: "Hello, NPU compiler!" → 358, 2846, 4560 = " I'm trying", HF argmax 일치, cosine ≥ 0.99999.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E1(fusion off/auto)과 E2(SRAM 32/44/64 KiB)는 이번 문서 작업에서 현재 소스로 실제 실행한 것이고, E3(직접 저장 85→77 words), E6(전체 Llama), E7(17개 회귀 suite)은 보존된 실행 기록, E4(실제 폭 MLP)와 E5(compile 84→22 s, binary 동일)는 정적 분석·단일 관측입니다. 지원 경계: 정적 shape, 지원된 정적 호출의 직선 전개, softmax 마지막 축 1..65504, RMSNorm FP16, full-attention은 rank-3 64배수, RoPE default/linear/llama3, FP16 정적 capacity cache, C-model runtime. 보장하지 않는 것: 실장치 latency, 동적 shape, 모든 TVM op/HF 모델, 자동 mixed precision, quantized KV, key online softmax, inter-kernel tile streaming. 양자화(W8A16/W8A8)는 kernel bit equality까지만이고 generation에는 미연결입니다.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 loop_spec은 같은 축을 panel·tile 두 loop로 나누므로 n_panel=64/128/256은 모두 N tile을 같은 순서로 도는 표기입니다. 크기 1 loop를 빼고 같은 축의 이웃 loop를 곱한 signature로 합치되, cache 복사 위치(prefix)가 다르면 별도 후보로 둡니다. toy [128,256,128]은 loop 위치 조합 1,728 → 후보 73입니다. ② 두 operand cache는 matrix 명령 시점에 동시에 살아 있으므로 그 합이 하한입니다. 정렬 rank-2 FP16 직접 입력 2개(64배수, 함수 parameter)일 때만 (SRAM − scratch prefix)를 넘는 후보를 제외하고, padding·computed producer는 순서만 뒤로 보냅니다. ③ words 한도는 max(100,000, 기준 words × legal 목표 8)이며 legal 2개 전에는 words로 끝내지 않고, 시도 64회(실패 포함)는 별도입니다. ④ space는 추정 DMA 순, meta_schedule은 TVM ReplayFunc가 sample_categorical로 뽑은 순서로 같은 pool을 검사하며 둘 다 실제 SRAM 배치·명령 생성으로 (DMA, words, SRAM)을 얻습니다. JSONDatabase에는 run_secs=None인 선택된 trace만 저장하고 reuse는 재생·재검증, tune은 incumbent로 두고 개선될 때만 기록합니다. 실제 Llama 4개 커널에서 두 방식의 최종 binary는 같았고(E8), 512-token down은 개선 후 두 방식 모두 4회 검사·합법 4개로 이전과 같은 명령이었습니다(E9). ⑤ E10은 28-layer·256-token prefill 하나를 graph 시간 제한 없이 컴파일하다 메모리 증가로 중단한 실험이며, GQA·producer 변환이 같은 IR이라 source 3개 × generic 3 = 9 구성입니다. 비용·fusion 채택·출력 일치는 완료 전까지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274320"/>
          </a:xfrm>
          <a:prstGeom prst="rect">
            <a:avLst/>
          </a:prstGeom>
          <a:noFill/>
          <a:ln/>
        </p:spPr>
        <p:txBody>
          <a:bodyPr wrap="square" lIns="0" tIns="0" rIns="0" bIns="0" rtlCol="0" anchor="t"/>
          <a:lstStyle/>
          <a:p>
            <a:pPr algn="l" indent="0" marL="0">
              <a:buNone/>
            </a:pPr>
            <a:r>
              <a:rPr lang="en-US" sz="1100" b="1" spc="200" kern="0" dirty="0">
                <a:solidFill>
                  <a:srgbClr val="1F8A8A"/>
                </a:solidFill>
                <a:latin typeface="Malgun Gothic" pitchFamily="34" charset="0"/>
                <a:ea typeface="Malgun Gothic" pitchFamily="34" charset="-122"/>
                <a:cs typeface="Malgun Gothic" pitchFamily="34" charset="-120"/>
              </a:rPr>
              <a:t>NPU COMPILER  ·  V09 BACKEND  ·  TVM 0.19 RELAX / TIR  ·  요약판</a:t>
            </a:r>
            <a:endParaRPr lang="en-US" sz="1100" dirty="0"/>
          </a:p>
        </p:txBody>
      </p:sp>
      <p:sp>
        <p:nvSpPr>
          <p:cNvPr id="3" name="Text 1"/>
          <p:cNvSpPr txBox="1"/>
          <p:nvPr/>
        </p:nvSpPr>
        <p:spPr>
          <a:xfrm>
            <a:off x="731520" y="1234440"/>
            <a:ext cx="10515600" cy="1463040"/>
          </a:xfrm>
          <a:prstGeom prst="rect">
            <a:avLst/>
          </a:prstGeom>
          <a:noFill/>
          <a:ln/>
        </p:spPr>
        <p:txBody>
          <a:bodyPr wrap="square" lIns="0" tIns="0" rIns="0" bIns="0" rtlCol="0" anchor="t"/>
          <a:lstStyle/>
          <a:p>
            <a:pPr algn="l" indent="0" marL="0">
              <a:buNone/>
            </a:pPr>
            <a:r>
              <a:rPr lang="en-US" sz="4400" b="1" dirty="0">
                <a:solidFill>
                  <a:srgbClr val="FFFFFF"/>
                </a:solidFill>
                <a:latin typeface="Malgun Gothic" pitchFamily="34" charset="0"/>
                <a:ea typeface="Malgun Gothic" pitchFamily="34" charset="-122"/>
                <a:cs typeface="Malgun Gothic" pitchFamily="34" charset="-120"/>
              </a:rPr>
              <a:t>TVM 기반 LLM NPU Compiler</a:t>
            </a:r>
            <a:endParaRPr lang="en-US" sz="4400" dirty="0"/>
          </a:p>
        </p:txBody>
      </p:sp>
      <p:sp>
        <p:nvSpPr>
          <p:cNvPr id="4" name="Text 2"/>
          <p:cNvSpPr txBox="1"/>
          <p:nvPr/>
        </p:nvSpPr>
        <p:spPr>
          <a:xfrm>
            <a:off x="731520" y="2240280"/>
            <a:ext cx="10515600" cy="822960"/>
          </a:xfrm>
          <a:prstGeom prst="rect">
            <a:avLst/>
          </a:prstGeom>
          <a:noFill/>
          <a:ln/>
        </p:spPr>
        <p:txBody>
          <a:bodyPr wrap="square" lIns="0" tIns="0" rIns="0" bIns="0" rtlCol="0" anchor="t"/>
          <a:lstStyle/>
          <a:p>
            <a:pPr algn="l" indent="0" marL="0">
              <a:buNone/>
            </a:pPr>
            <a:r>
              <a:rPr lang="en-US" sz="2000" dirty="0">
                <a:solidFill>
                  <a:srgbClr val="E6EDF5"/>
                </a:solidFill>
                <a:latin typeface="Malgun Gothic" pitchFamily="34" charset="0"/>
                <a:ea typeface="Malgun Gothic" pitchFamily="34" charset="-122"/>
                <a:cs typeface="Malgun Gothic" pitchFamily="34" charset="-120"/>
              </a:rPr>
              <a:t>모델의 계산이 NPU 명령과 다음 token이 되기까지 — 전체 pipeline의 동작을 그림으로</a:t>
            </a:r>
            <a:endParaRPr lang="en-US" sz="2000" dirty="0"/>
          </a:p>
        </p:txBody>
      </p:sp>
      <p:sp>
        <p:nvSpPr>
          <p:cNvPr id="5" name="Shape 3"/>
          <p:cNvSpPr/>
          <p:nvPr/>
        </p:nvSpPr>
        <p:spPr>
          <a:xfrm>
            <a:off x="731520" y="3566160"/>
            <a:ext cx="3291840" cy="1051560"/>
          </a:xfrm>
          <a:prstGeom prst="roundRect">
            <a:avLst>
              <a:gd name="adj" fmla="val 6957"/>
            </a:avLst>
          </a:prstGeom>
          <a:solidFill>
            <a:srgbClr val="18293F"/>
          </a:solidFill>
          <a:ln w="12700">
            <a:solidFill>
              <a:srgbClr val="2B3E58"/>
            </a:solidFill>
            <a:prstDash val="solid"/>
          </a:ln>
        </p:spPr>
      </p:sp>
      <p:sp>
        <p:nvSpPr>
          <p:cNvPr id="6" name="Text 4"/>
          <p:cNvSpPr txBox="1"/>
          <p:nvPr/>
        </p:nvSpPr>
        <p:spPr>
          <a:xfrm>
            <a:off x="960120" y="3675888"/>
            <a:ext cx="2834640" cy="365760"/>
          </a:xfrm>
          <a:prstGeom prst="rect">
            <a:avLst/>
          </a:prstGeom>
          <a:noFill/>
          <a:ln/>
        </p:spPr>
        <p:txBody>
          <a:bodyPr wrap="square" lIns="0" tIns="0" rIns="0" bIns="0" rtlCol="0" anchor="t"/>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계산의 의미</a:t>
            </a:r>
            <a:endParaRPr lang="en-US" sz="1800" dirty="0"/>
          </a:p>
        </p:txBody>
      </p:sp>
      <p:sp>
        <p:nvSpPr>
          <p:cNvPr id="7" name="Text 5"/>
          <p:cNvSpPr txBox="1"/>
          <p:nvPr/>
        </p:nvSpPr>
        <p:spPr>
          <a:xfrm>
            <a:off x="960120" y="4069080"/>
            <a:ext cx="2834640" cy="45720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Relax · TIR · FP16 저장/FP32 누산</a:t>
            </a:r>
            <a:endParaRPr lang="en-US" sz="1200" dirty="0"/>
          </a:p>
        </p:txBody>
      </p:sp>
      <p:sp>
        <p:nvSpPr>
          <p:cNvPr id="8" name="Shape 6"/>
          <p:cNvSpPr/>
          <p:nvPr/>
        </p:nvSpPr>
        <p:spPr>
          <a:xfrm>
            <a:off x="4297680" y="3566160"/>
            <a:ext cx="3291840" cy="1051560"/>
          </a:xfrm>
          <a:prstGeom prst="roundRect">
            <a:avLst>
              <a:gd name="adj" fmla="val 6957"/>
            </a:avLst>
          </a:prstGeom>
          <a:solidFill>
            <a:srgbClr val="18293F"/>
          </a:solidFill>
          <a:ln w="12700">
            <a:solidFill>
              <a:srgbClr val="2B3E58"/>
            </a:solidFill>
            <a:prstDash val="solid"/>
          </a:ln>
        </p:spPr>
      </p:sp>
      <p:sp>
        <p:nvSpPr>
          <p:cNvPr id="9" name="Text 7"/>
          <p:cNvSpPr txBox="1"/>
          <p:nvPr/>
        </p:nvSpPr>
        <p:spPr>
          <a:xfrm>
            <a:off x="4526280" y="3675888"/>
            <a:ext cx="2834640" cy="365760"/>
          </a:xfrm>
          <a:prstGeom prst="rect">
            <a:avLst/>
          </a:prstGeom>
          <a:noFill/>
          <a:ln/>
        </p:spPr>
        <p:txBody>
          <a:bodyPr wrap="square" lIns="0" tIns="0" rIns="0" bIns="0" rtlCol="0" anchor="t"/>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배치</a:t>
            </a:r>
            <a:endParaRPr lang="en-US" sz="1800" dirty="0"/>
          </a:p>
        </p:txBody>
      </p:sp>
      <p:sp>
        <p:nvSpPr>
          <p:cNvPr id="10" name="Text 8"/>
          <p:cNvSpPr txBox="1"/>
          <p:nvPr/>
        </p:nvSpPr>
        <p:spPr>
          <a:xfrm>
            <a:off x="4526280" y="4069080"/>
            <a:ext cx="2834640" cy="45720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fusion · 64×64 tile과 panel · SRAM/DRAM 주소</a:t>
            </a:r>
            <a:endParaRPr lang="en-US" sz="1200" dirty="0"/>
          </a:p>
        </p:txBody>
      </p:sp>
      <p:sp>
        <p:nvSpPr>
          <p:cNvPr id="11" name="Shape 9"/>
          <p:cNvSpPr/>
          <p:nvPr/>
        </p:nvSpPr>
        <p:spPr>
          <a:xfrm>
            <a:off x="7863840" y="3566160"/>
            <a:ext cx="3291840" cy="1051560"/>
          </a:xfrm>
          <a:prstGeom prst="roundRect">
            <a:avLst>
              <a:gd name="adj" fmla="val 6957"/>
            </a:avLst>
          </a:prstGeom>
          <a:solidFill>
            <a:srgbClr val="18293F"/>
          </a:solidFill>
          <a:ln w="12700">
            <a:solidFill>
              <a:srgbClr val="2B3E58"/>
            </a:solidFill>
            <a:prstDash val="solid"/>
          </a:ln>
        </p:spPr>
      </p:sp>
      <p:sp>
        <p:nvSpPr>
          <p:cNvPr id="12" name="Text 10"/>
          <p:cNvSpPr txBox="1"/>
          <p:nvPr/>
        </p:nvSpPr>
        <p:spPr>
          <a:xfrm>
            <a:off x="8092440" y="3675888"/>
            <a:ext cx="2834640" cy="365760"/>
          </a:xfrm>
          <a:prstGeom prst="rect">
            <a:avLst/>
          </a:prstGeom>
          <a:noFill/>
          <a:ln/>
        </p:spPr>
        <p:txBody>
          <a:bodyPr wrap="square" lIns="0" tIns="0" rIns="0" bIns="0" rtlCol="0" anchor="t"/>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실행</a:t>
            </a:r>
            <a:endParaRPr lang="en-US" sz="1800" dirty="0"/>
          </a:p>
        </p:txBody>
      </p:sp>
      <p:sp>
        <p:nvSpPr>
          <p:cNvPr id="13" name="Text 11"/>
          <p:cNvSpPr txBox="1"/>
          <p:nvPr/>
        </p:nvSpPr>
        <p:spPr>
          <a:xfrm>
            <a:off x="8092440" y="4069080"/>
            <a:ext cx="2834640" cy="45720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ISA stream · linker · prefill/decode runtime</a:t>
            </a:r>
            <a:endParaRPr lang="en-US" sz="1200" dirty="0"/>
          </a:p>
        </p:txBody>
      </p:sp>
      <p:sp>
        <p:nvSpPr>
          <p:cNvPr id="14" name="Text 12"/>
          <p:cNvSpPr txBox="1"/>
          <p:nvPr/>
        </p:nvSpPr>
        <p:spPr>
          <a:xfrm>
            <a:off x="731520" y="5074920"/>
            <a:ext cx="10515600" cy="822960"/>
          </a:xfrm>
          <a:prstGeom prst="rect">
            <a:avLst/>
          </a:prstGeom>
          <a:noFill/>
          <a:ln/>
        </p:spPr>
        <p:txBody>
          <a:bodyPr wrap="square" lIns="0" tIns="0" rIns="0" bIns="0" rtlCol="0" anchor="t"/>
          <a:lstStyle/>
          <a:p>
            <a:pPr algn="l" indent="0" marL="0">
              <a:buNone/>
            </a:pPr>
            <a:r>
              <a:rPr lang="en-US" sz="1200" dirty="0">
                <a:solidFill>
                  <a:srgbClr val="9FB3C8"/>
                </a:solidFill>
                <a:latin typeface="Malgun Gothic" pitchFamily="34" charset="0"/>
                <a:ea typeface="Malgun Gothic" pitchFamily="34" charset="-122"/>
                <a:cs typeface="Malgun Gothic" pitchFamily="34" charset="-120"/>
              </a:rPr>
              <a:t>예제: SiLU(X[64,128]·Wᵀ+bias) · 두 matmul X·W1·W2 (SRAM 44 KiB) · Llama 3.2 3B (28 layers, prompt 7 tokens, capacity 9)</a:t>
            </a:r>
            <a:endParaRPr lang="en-US" sz="1200" dirty="0"/>
          </a:p>
          <a:p>
            <a:pPr algn="l" indent="0" marL="0">
              <a:buNone/>
            </a:pPr>
            <a:r>
              <a:rPr lang="en-US" sz="1200" dirty="0">
                <a:solidFill>
                  <a:srgbClr val="9FB3C8"/>
                </a:solidFill>
                <a:latin typeface="Malgun Gothic" pitchFamily="34" charset="0"/>
                <a:ea typeface="Malgun Gothic" pitchFamily="34" charset="-122"/>
                <a:cs typeface="Malgun Gothic" pitchFamily="34" charset="-120"/>
              </a:rPr>
              <a:t>설정: FP16 저장 / FP32 누산 · SRAM 8 MiB · tile 64×64 · 현재 탐색 개선 + 256-token E10 진행 상태 포함</a:t>
            </a:r>
            <a:endParaRPr lang="en-US" sz="1200" dirty="0"/>
          </a:p>
        </p:txBody>
      </p:sp>
      <p:sp>
        <p:nvSpPr>
          <p:cNvPr id="15" name="Text 13"/>
          <p:cNvSpPr txBox="1"/>
          <p:nvPr/>
        </p:nvSpPr>
        <p:spPr>
          <a:xfrm>
            <a:off x="731520" y="6172200"/>
            <a:ext cx="10515600" cy="274320"/>
          </a:xfrm>
          <a:prstGeom prst="rect">
            <a:avLst/>
          </a:prstGeom>
          <a:noFill/>
          <a:ln/>
        </p:spPr>
        <p:txBody>
          <a:bodyPr wrap="square" lIns="0" tIns="0" rIns="0" bIns="0" rtlCol="0" anchor="t"/>
          <a:lstStyle/>
          <a:p>
            <a:pPr algn="l" indent="0" marL="0">
              <a:buNone/>
            </a:pPr>
            <a:r>
              <a:rPr lang="en-US" sz="1000" dirty="0">
                <a:solidFill>
                  <a:srgbClr val="9FB3C8"/>
                </a:solidFill>
                <a:latin typeface="Malgun Gothic" pitchFamily="34" charset="0"/>
                <a:ea typeface="Malgun Gothic" pitchFamily="34" charset="-122"/>
                <a:cs typeface="Malgun Gothic" pitchFamily="34" charset="-120"/>
              </a:rPr>
              <a:t>2026-09-29 탐색 개선 반영 · 근거: d_compiler/docs (13장, examples, evidence)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전체 pipeline</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한 장으로 보는 전체 pipeline: 같은 계산이 단계마다 다른 모습이 된다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 SiLU(X[64,128]·Wᵀ+bias)의 실제 산출물로 본 5단계. 후보 graph마다 ③④⑤까지 내려가 (DMA bytes, words, SRAM peak)를 얻고 그 비용으로 선택합니다.</a:t>
            </a:r>
            <a:endParaRPr lang="en-US" sz="1250" dirty="0"/>
          </a:p>
        </p:txBody>
      </p:sp>
      <p:sp>
        <p:nvSpPr>
          <p:cNvPr id="5" name="Shape 3"/>
          <p:cNvSpPr/>
          <p:nvPr/>
        </p:nvSpPr>
        <p:spPr>
          <a:xfrm>
            <a:off x="457200" y="1417320"/>
            <a:ext cx="2103120" cy="384048"/>
          </a:xfrm>
          <a:prstGeom prst="roundRect">
            <a:avLst>
              <a:gd name="adj" fmla="val 14286"/>
            </a:avLst>
          </a:prstGeom>
          <a:solidFill>
            <a:srgbClr val="E3EEFB"/>
          </a:solidFill>
          <a:ln w="12700">
            <a:solidFill>
              <a:srgbClr val="2F6DB5"/>
            </a:solidFill>
            <a:prstDash val="solid"/>
          </a:ln>
        </p:spPr>
      </p:sp>
      <p:sp>
        <p:nvSpPr>
          <p:cNvPr id="6" name="Text 4"/>
          <p:cNvSpPr txBox="1"/>
          <p:nvPr/>
        </p:nvSpPr>
        <p:spPr>
          <a:xfrm>
            <a:off x="512064" y="1453896"/>
            <a:ext cx="1993392" cy="310896"/>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① 모델 → Relax</a:t>
            </a:r>
            <a:endParaRPr lang="en-US" sz="1050" dirty="0"/>
          </a:p>
        </p:txBody>
      </p:sp>
      <p:sp>
        <p:nvSpPr>
          <p:cNvPr id="7" name="Shape 5"/>
          <p:cNvSpPr/>
          <p:nvPr/>
        </p:nvSpPr>
        <p:spPr>
          <a:xfrm>
            <a:off x="2569464" y="1609344"/>
            <a:ext cx="171450" cy="914"/>
          </a:xfrm>
          <a:prstGeom prst="line">
            <a:avLst/>
          </a:prstGeom>
          <a:noFill/>
          <a:ln w="19050">
            <a:solidFill>
              <a:srgbClr val="5B6B7F"/>
            </a:solidFill>
            <a:prstDash val="solid"/>
            <a:tailEnd type="triangle"/>
          </a:ln>
        </p:spPr>
      </p:sp>
      <p:sp>
        <p:nvSpPr>
          <p:cNvPr id="8" name="Shape 6"/>
          <p:cNvSpPr/>
          <p:nvPr/>
        </p:nvSpPr>
        <p:spPr>
          <a:xfrm>
            <a:off x="2750058" y="1417320"/>
            <a:ext cx="2103120" cy="384048"/>
          </a:xfrm>
          <a:prstGeom prst="roundRect">
            <a:avLst>
              <a:gd name="adj" fmla="val 14286"/>
            </a:avLst>
          </a:prstGeom>
          <a:solidFill>
            <a:srgbClr val="E3EEFB"/>
          </a:solidFill>
          <a:ln w="12700">
            <a:solidFill>
              <a:srgbClr val="2F6DB5"/>
            </a:solidFill>
            <a:prstDash val="solid"/>
          </a:ln>
        </p:spPr>
      </p:sp>
      <p:sp>
        <p:nvSpPr>
          <p:cNvPr id="9" name="Text 7"/>
          <p:cNvSpPr txBox="1"/>
          <p:nvPr/>
        </p:nvSpPr>
        <p:spPr>
          <a:xfrm>
            <a:off x="2804922" y="1453896"/>
            <a:ext cx="1993392" cy="310896"/>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② Graph 정리 · LegalizeOps</a:t>
            </a:r>
            <a:endParaRPr lang="en-US" sz="1050" dirty="0"/>
          </a:p>
        </p:txBody>
      </p:sp>
      <p:sp>
        <p:nvSpPr>
          <p:cNvPr id="10" name="Shape 8"/>
          <p:cNvSpPr/>
          <p:nvPr/>
        </p:nvSpPr>
        <p:spPr>
          <a:xfrm>
            <a:off x="4862322" y="1609344"/>
            <a:ext cx="171450" cy="914"/>
          </a:xfrm>
          <a:prstGeom prst="line">
            <a:avLst/>
          </a:prstGeom>
          <a:noFill/>
          <a:ln w="19050">
            <a:solidFill>
              <a:srgbClr val="5B6B7F"/>
            </a:solidFill>
            <a:prstDash val="solid"/>
            <a:tailEnd type="triangle"/>
          </a:ln>
        </p:spPr>
      </p:sp>
      <p:sp>
        <p:nvSpPr>
          <p:cNvPr id="11" name="Shape 9"/>
          <p:cNvSpPr/>
          <p:nvPr/>
        </p:nvSpPr>
        <p:spPr>
          <a:xfrm>
            <a:off x="5042916" y="1417320"/>
            <a:ext cx="2103120" cy="384048"/>
          </a:xfrm>
          <a:prstGeom prst="roundRect">
            <a:avLst>
              <a:gd name="adj" fmla="val 14286"/>
            </a:avLst>
          </a:prstGeom>
          <a:solidFill>
            <a:srgbClr val="DDF3F0"/>
          </a:solidFill>
          <a:ln w="12700">
            <a:solidFill>
              <a:srgbClr val="1F8A8A"/>
            </a:solidFill>
            <a:prstDash val="solid"/>
          </a:ln>
        </p:spPr>
      </p:sp>
      <p:sp>
        <p:nvSpPr>
          <p:cNvPr id="12" name="Text 10"/>
          <p:cNvSpPr txBox="1"/>
          <p:nvPr/>
        </p:nvSpPr>
        <p:spPr>
          <a:xfrm>
            <a:off x="5097780" y="1453896"/>
            <a:ext cx="1993392" cy="310896"/>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③ Fusion · Schedule</a:t>
            </a:r>
            <a:endParaRPr lang="en-US" sz="1050" dirty="0"/>
          </a:p>
        </p:txBody>
      </p:sp>
      <p:sp>
        <p:nvSpPr>
          <p:cNvPr id="13" name="Shape 11"/>
          <p:cNvSpPr/>
          <p:nvPr/>
        </p:nvSpPr>
        <p:spPr>
          <a:xfrm>
            <a:off x="7155180" y="1609344"/>
            <a:ext cx="171450" cy="914"/>
          </a:xfrm>
          <a:prstGeom prst="line">
            <a:avLst/>
          </a:prstGeom>
          <a:noFill/>
          <a:ln w="19050">
            <a:solidFill>
              <a:srgbClr val="5B6B7F"/>
            </a:solidFill>
            <a:prstDash val="solid"/>
            <a:tailEnd type="triangle"/>
          </a:ln>
        </p:spPr>
      </p:sp>
      <p:sp>
        <p:nvSpPr>
          <p:cNvPr id="14" name="Shape 12"/>
          <p:cNvSpPr/>
          <p:nvPr/>
        </p:nvSpPr>
        <p:spPr>
          <a:xfrm>
            <a:off x="7335774" y="1417320"/>
            <a:ext cx="2103120" cy="384048"/>
          </a:xfrm>
          <a:prstGeom prst="roundRect">
            <a:avLst>
              <a:gd name="adj" fmla="val 14286"/>
            </a:avLst>
          </a:prstGeom>
          <a:solidFill>
            <a:srgbClr val="FFF1DC"/>
          </a:solidFill>
          <a:ln w="12700">
            <a:solidFill>
              <a:srgbClr val="D98A1E"/>
            </a:solidFill>
            <a:prstDash val="solid"/>
          </a:ln>
        </p:spPr>
      </p:sp>
      <p:sp>
        <p:nvSpPr>
          <p:cNvPr id="15" name="Text 13"/>
          <p:cNvSpPr txBox="1"/>
          <p:nvPr/>
        </p:nvSpPr>
        <p:spPr>
          <a:xfrm>
            <a:off x="7390638" y="1453896"/>
            <a:ext cx="1993392" cy="310896"/>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④ 메모리 계획</a:t>
            </a:r>
            <a:endParaRPr lang="en-US" sz="1050" dirty="0"/>
          </a:p>
        </p:txBody>
      </p:sp>
      <p:sp>
        <p:nvSpPr>
          <p:cNvPr id="16" name="Shape 14"/>
          <p:cNvSpPr/>
          <p:nvPr/>
        </p:nvSpPr>
        <p:spPr>
          <a:xfrm>
            <a:off x="9448038" y="1609344"/>
            <a:ext cx="171450" cy="914"/>
          </a:xfrm>
          <a:prstGeom prst="line">
            <a:avLst/>
          </a:prstGeom>
          <a:noFill/>
          <a:ln w="19050">
            <a:solidFill>
              <a:srgbClr val="5B6B7F"/>
            </a:solidFill>
            <a:prstDash val="solid"/>
            <a:tailEnd type="triangle"/>
          </a:ln>
        </p:spPr>
      </p:sp>
      <p:sp>
        <p:nvSpPr>
          <p:cNvPr id="17" name="Shape 15"/>
          <p:cNvSpPr/>
          <p:nvPr/>
        </p:nvSpPr>
        <p:spPr>
          <a:xfrm>
            <a:off x="9628632" y="1417320"/>
            <a:ext cx="2103120" cy="384048"/>
          </a:xfrm>
          <a:prstGeom prst="roundRect">
            <a:avLst>
              <a:gd name="adj" fmla="val 14286"/>
            </a:avLst>
          </a:prstGeom>
          <a:solidFill>
            <a:srgbClr val="ECE6FA"/>
          </a:solidFill>
          <a:ln w="12700">
            <a:solidFill>
              <a:srgbClr val="6C4FBF"/>
            </a:solidFill>
            <a:prstDash val="solid"/>
          </a:ln>
        </p:spPr>
      </p:sp>
      <p:sp>
        <p:nvSpPr>
          <p:cNvPr id="18" name="Text 16"/>
          <p:cNvSpPr txBox="1"/>
          <p:nvPr/>
        </p:nvSpPr>
        <p:spPr>
          <a:xfrm>
            <a:off x="9683496" y="1453896"/>
            <a:ext cx="1993392" cy="310896"/>
          </a:xfrm>
          <a:prstGeom prst="rect">
            <a:avLst/>
          </a:prstGeom>
          <a:noFill/>
          <a:ln/>
        </p:spPr>
        <p:txBody>
          <a:bodyPr wrap="square" lIns="0" tIns="0" rIns="0" bIns="0" rtlCol="0" anchor="ctr"/>
          <a:lstStyle/>
          <a:p>
            <a:pPr algn="ctr" indent="0" marL="0">
              <a:buNone/>
            </a:pPr>
            <a:r>
              <a:rPr lang="en-US" sz="1050" b="1" dirty="0">
                <a:solidFill>
                  <a:srgbClr val="1F2D3D"/>
                </a:solidFill>
                <a:latin typeface="Malgun Gothic" pitchFamily="34" charset="0"/>
                <a:ea typeface="Malgun Gothic" pitchFamily="34" charset="-122"/>
                <a:cs typeface="Malgun Gothic" pitchFamily="34" charset="-120"/>
              </a:rPr>
              <a:t>⑤ ISA · 실행</a:t>
            </a:r>
            <a:endParaRPr lang="en-US" sz="1050" dirty="0"/>
          </a:p>
        </p:txBody>
      </p:sp>
      <p:sp>
        <p:nvSpPr>
          <p:cNvPr id="19" name="Shape 17"/>
          <p:cNvSpPr/>
          <p:nvPr/>
        </p:nvSpPr>
        <p:spPr>
          <a:xfrm>
            <a:off x="960120" y="2103120"/>
            <a:ext cx="1097280" cy="457200"/>
          </a:xfrm>
          <a:prstGeom prst="rect">
            <a:avLst/>
          </a:prstGeom>
          <a:solidFill>
            <a:srgbClr val="EEF1F5"/>
          </a:solidFill>
          <a:ln w="12700">
            <a:solidFill>
              <a:srgbClr val="5B6B7F"/>
            </a:solidFill>
            <a:prstDash val="solid"/>
          </a:ln>
        </p:spPr>
      </p:sp>
      <p:sp>
        <p:nvSpPr>
          <p:cNvPr id="20" name="Shape 18"/>
          <p:cNvSpPr/>
          <p:nvPr/>
        </p:nvSpPr>
        <p:spPr>
          <a:xfrm>
            <a:off x="960120" y="2103120"/>
            <a:ext cx="548640" cy="457200"/>
          </a:xfrm>
          <a:prstGeom prst="rect">
            <a:avLst/>
          </a:prstGeom>
          <a:solidFill>
            <a:srgbClr val="DDF3F0"/>
          </a:solidFill>
          <a:ln w="15875">
            <a:solidFill>
              <a:srgbClr val="1F8A8A"/>
            </a:solidFill>
            <a:prstDash val="solid"/>
          </a:ln>
        </p:spPr>
      </p:sp>
      <p:sp>
        <p:nvSpPr>
          <p:cNvPr id="21" name="Shape 19"/>
          <p:cNvSpPr/>
          <p:nvPr/>
        </p:nvSpPr>
        <p:spPr>
          <a:xfrm>
            <a:off x="1508760" y="2103120"/>
            <a:ext cx="548640" cy="457200"/>
          </a:xfrm>
          <a:prstGeom prst="rect">
            <a:avLst/>
          </a:prstGeom>
          <a:solidFill>
            <a:srgbClr val="E3EEFB"/>
          </a:solidFill>
          <a:ln w="15875">
            <a:solidFill>
              <a:srgbClr val="2F6DB5"/>
            </a:solidFill>
            <a:prstDash val="solid"/>
          </a:ln>
        </p:spPr>
      </p:sp>
      <p:sp>
        <p:nvSpPr>
          <p:cNvPr id="22" name="Shape 20"/>
          <p:cNvSpPr/>
          <p:nvPr/>
        </p:nvSpPr>
        <p:spPr>
          <a:xfrm>
            <a:off x="1508760" y="2103120"/>
            <a:ext cx="914" cy="457200"/>
          </a:xfrm>
          <a:prstGeom prst="line">
            <a:avLst/>
          </a:prstGeom>
          <a:noFill/>
          <a:ln w="12700">
            <a:solidFill>
              <a:srgbClr val="5B6B7F"/>
            </a:solidFill>
            <a:prstDash val="solid"/>
          </a:ln>
        </p:spPr>
      </p:sp>
      <p:sp>
        <p:nvSpPr>
          <p:cNvPr id="23" name="Text 21"/>
          <p:cNvSpPr txBox="1"/>
          <p:nvPr/>
        </p:nvSpPr>
        <p:spPr>
          <a:xfrm>
            <a:off x="960120" y="2103120"/>
            <a:ext cx="548640" cy="45720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X₀</a:t>
            </a:r>
            <a:endParaRPr lang="en-US" sz="700" dirty="0"/>
          </a:p>
        </p:txBody>
      </p:sp>
      <p:sp>
        <p:nvSpPr>
          <p:cNvPr id="24" name="Text 22"/>
          <p:cNvSpPr txBox="1"/>
          <p:nvPr/>
        </p:nvSpPr>
        <p:spPr>
          <a:xfrm>
            <a:off x="1508760" y="2103120"/>
            <a:ext cx="548640" cy="45720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X₁</a:t>
            </a:r>
            <a:endParaRPr lang="en-US" sz="700" dirty="0"/>
          </a:p>
        </p:txBody>
      </p:sp>
      <p:sp>
        <p:nvSpPr>
          <p:cNvPr id="25" name="Text 23"/>
          <p:cNvSpPr txBox="1"/>
          <p:nvPr/>
        </p:nvSpPr>
        <p:spPr>
          <a:xfrm>
            <a:off x="960120" y="1874520"/>
            <a:ext cx="164592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X [64,128] = 1×2 tiles</a:t>
            </a:r>
            <a:endParaRPr lang="en-US" sz="850" dirty="0"/>
          </a:p>
        </p:txBody>
      </p:sp>
      <p:sp>
        <p:nvSpPr>
          <p:cNvPr id="26" name="Shape 24"/>
          <p:cNvSpPr/>
          <p:nvPr/>
        </p:nvSpPr>
        <p:spPr>
          <a:xfrm>
            <a:off x="1508760" y="2578608"/>
            <a:ext cx="914" cy="274320"/>
          </a:xfrm>
          <a:prstGeom prst="line">
            <a:avLst/>
          </a:prstGeom>
          <a:noFill/>
          <a:ln w="12700">
            <a:solidFill>
              <a:srgbClr val="5B6B7F"/>
            </a:solidFill>
            <a:prstDash val="solid"/>
            <a:tailEnd type="triangle"/>
          </a:ln>
        </p:spPr>
      </p:sp>
      <p:sp>
        <p:nvSpPr>
          <p:cNvPr id="27" name="Text 25"/>
          <p:cNvSpPr txBox="1"/>
          <p:nvPr/>
        </p:nvSpPr>
        <p:spPr>
          <a:xfrm>
            <a:off x="1572768" y="2578608"/>
            <a:ext cx="1005840" cy="27432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 Wᵀ [128,64]</a:t>
            </a:r>
            <a:endParaRPr lang="en-US" sz="700" dirty="0"/>
          </a:p>
        </p:txBody>
      </p:sp>
      <p:sp>
        <p:nvSpPr>
          <p:cNvPr id="28" name="Shape 26"/>
          <p:cNvSpPr/>
          <p:nvPr/>
        </p:nvSpPr>
        <p:spPr>
          <a:xfrm>
            <a:off x="1261872" y="2880360"/>
            <a:ext cx="502920" cy="502920"/>
          </a:xfrm>
          <a:prstGeom prst="rect">
            <a:avLst/>
          </a:prstGeom>
          <a:solidFill>
            <a:srgbClr val="ECE6FA"/>
          </a:solidFill>
          <a:ln w="12700">
            <a:solidFill>
              <a:srgbClr val="6C4FBF"/>
            </a:solidFill>
            <a:prstDash val="solid"/>
          </a:ln>
        </p:spPr>
      </p:sp>
      <p:sp>
        <p:nvSpPr>
          <p:cNvPr id="29" name="Shape 27"/>
          <p:cNvSpPr/>
          <p:nvPr/>
        </p:nvSpPr>
        <p:spPr>
          <a:xfrm>
            <a:off x="1261872" y="2880360"/>
            <a:ext cx="502920" cy="502920"/>
          </a:xfrm>
          <a:prstGeom prst="rect">
            <a:avLst/>
          </a:prstGeom>
          <a:solidFill>
            <a:srgbClr val="ECE6FA"/>
          </a:solidFill>
          <a:ln w="15875">
            <a:solidFill>
              <a:srgbClr val="6C4FBF"/>
            </a:solidFill>
            <a:prstDash val="solid"/>
          </a:ln>
        </p:spPr>
      </p:sp>
      <p:sp>
        <p:nvSpPr>
          <p:cNvPr id="30" name="Text 28"/>
          <p:cNvSpPr txBox="1"/>
          <p:nvPr/>
        </p:nvSpPr>
        <p:spPr>
          <a:xfrm>
            <a:off x="1261872" y="2880360"/>
            <a:ext cx="502920" cy="5029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P</a:t>
            </a:r>
            <a:endParaRPr lang="en-US" sz="800" dirty="0"/>
          </a:p>
        </p:txBody>
      </p:sp>
      <p:sp>
        <p:nvSpPr>
          <p:cNvPr id="31" name="Text 29"/>
          <p:cNvSpPr txBox="1"/>
          <p:nvPr/>
        </p:nvSpPr>
        <p:spPr>
          <a:xfrm>
            <a:off x="1810512" y="2926080"/>
            <a:ext cx="777240" cy="45720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P [64,64]</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K = 128</a:t>
            </a:r>
            <a:endParaRPr lang="en-US" sz="700" dirty="0"/>
          </a:p>
        </p:txBody>
      </p:sp>
      <p:sp>
        <p:nvSpPr>
          <p:cNvPr id="32" name="Shape 30"/>
          <p:cNvSpPr/>
          <p:nvPr/>
        </p:nvSpPr>
        <p:spPr>
          <a:xfrm>
            <a:off x="1508760" y="3401568"/>
            <a:ext cx="914" cy="256032"/>
          </a:xfrm>
          <a:prstGeom prst="line">
            <a:avLst/>
          </a:prstGeom>
          <a:noFill/>
          <a:ln w="12700">
            <a:solidFill>
              <a:srgbClr val="5B6B7F"/>
            </a:solidFill>
            <a:prstDash val="solid"/>
            <a:tailEnd type="triangle"/>
          </a:ln>
        </p:spPr>
      </p:sp>
      <p:sp>
        <p:nvSpPr>
          <p:cNvPr id="33" name="Text 31"/>
          <p:cNvSpPr txBox="1"/>
          <p:nvPr/>
        </p:nvSpPr>
        <p:spPr>
          <a:xfrm>
            <a:off x="1572768" y="3401568"/>
            <a:ext cx="1005840" cy="27432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 bias, SiLU</a:t>
            </a:r>
            <a:endParaRPr lang="en-US" sz="700" dirty="0"/>
          </a:p>
        </p:txBody>
      </p:sp>
      <p:sp>
        <p:nvSpPr>
          <p:cNvPr id="34" name="Shape 32"/>
          <p:cNvSpPr/>
          <p:nvPr/>
        </p:nvSpPr>
        <p:spPr>
          <a:xfrm>
            <a:off x="1261872" y="3685032"/>
            <a:ext cx="502920" cy="502920"/>
          </a:xfrm>
          <a:prstGeom prst="rect">
            <a:avLst/>
          </a:prstGeom>
          <a:solidFill>
            <a:srgbClr val="E5F3E7"/>
          </a:solidFill>
          <a:ln w="12700">
            <a:solidFill>
              <a:srgbClr val="2E7D32"/>
            </a:solidFill>
            <a:prstDash val="solid"/>
          </a:ln>
        </p:spPr>
      </p:sp>
      <p:sp>
        <p:nvSpPr>
          <p:cNvPr id="35" name="Shape 33"/>
          <p:cNvSpPr/>
          <p:nvPr/>
        </p:nvSpPr>
        <p:spPr>
          <a:xfrm>
            <a:off x="1261872" y="3685032"/>
            <a:ext cx="502920" cy="502920"/>
          </a:xfrm>
          <a:prstGeom prst="rect">
            <a:avLst/>
          </a:prstGeom>
          <a:solidFill>
            <a:srgbClr val="E5F3E7"/>
          </a:solidFill>
          <a:ln w="15875">
            <a:solidFill>
              <a:srgbClr val="2E7D32"/>
            </a:solidFill>
            <a:prstDash val="solid"/>
          </a:ln>
        </p:spPr>
      </p:sp>
      <p:sp>
        <p:nvSpPr>
          <p:cNvPr id="36" name="Text 34"/>
          <p:cNvSpPr txBox="1"/>
          <p:nvPr/>
        </p:nvSpPr>
        <p:spPr>
          <a:xfrm>
            <a:off x="1261872" y="3685032"/>
            <a:ext cx="502920" cy="5029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Y</a:t>
            </a:r>
            <a:endParaRPr lang="en-US" sz="800" dirty="0"/>
          </a:p>
        </p:txBody>
      </p:sp>
      <p:sp>
        <p:nvSpPr>
          <p:cNvPr id="37" name="Text 35"/>
          <p:cNvSpPr txBox="1"/>
          <p:nvPr/>
        </p:nvSpPr>
        <p:spPr>
          <a:xfrm>
            <a:off x="1810512" y="3730752"/>
            <a:ext cx="777240" cy="45720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Y [64,64]</a:t>
            </a:r>
            <a:endParaRPr lang="en-US" sz="700" dirty="0"/>
          </a:p>
          <a:p>
            <a:pPr algn="l" indent="0" marL="0">
              <a:buNone/>
            </a:pPr>
            <a:r>
              <a:rPr lang="en-US" sz="700" dirty="0">
                <a:solidFill>
                  <a:srgbClr val="5B6B7F"/>
                </a:solidFill>
                <a:latin typeface="Malgun Gothic" pitchFamily="34" charset="0"/>
                <a:ea typeface="Malgun Gothic" pitchFamily="34" charset="-122"/>
                <a:cs typeface="Malgun Gothic" pitchFamily="34" charset="-120"/>
              </a:rPr>
              <a:t>출력</a:t>
            </a:r>
            <a:endParaRPr lang="en-US" sz="700" dirty="0"/>
          </a:p>
        </p:txBody>
      </p:sp>
      <p:sp>
        <p:nvSpPr>
          <p:cNvPr id="38" name="Shape 36"/>
          <p:cNvSpPr/>
          <p:nvPr/>
        </p:nvSpPr>
        <p:spPr>
          <a:xfrm>
            <a:off x="457200" y="4343400"/>
            <a:ext cx="2103120" cy="713232"/>
          </a:xfrm>
          <a:prstGeom prst="roundRect">
            <a:avLst>
              <a:gd name="adj" fmla="val 6410"/>
            </a:avLst>
          </a:prstGeom>
          <a:solidFill>
            <a:srgbClr val="F5F7FA"/>
          </a:solidFill>
          <a:ln w="9525">
            <a:solidFill>
              <a:srgbClr val="C9D3DF"/>
            </a:solidFill>
            <a:prstDash val="solid"/>
          </a:ln>
        </p:spPr>
      </p:sp>
      <p:sp>
        <p:nvSpPr>
          <p:cNvPr id="39" name="Text 37"/>
          <p:cNvSpPr txBox="1"/>
          <p:nvPr/>
        </p:nvSpPr>
        <p:spPr>
          <a:xfrm>
            <a:off x="566928" y="4416552"/>
            <a:ext cx="1883664" cy="566928"/>
          </a:xfrm>
          <a:prstGeom prst="rect">
            <a:avLst/>
          </a:prstGeom>
          <a:noFill/>
          <a:ln/>
        </p:spPr>
        <p:txBody>
          <a:bodyPr wrap="square" lIns="0" tIns="0" rIns="0" bIns="0" rtlCol="0" anchor="t"/>
          <a:lstStyle/>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lv  = permute_dims(W)   # Wᵀ</a:t>
            </a:r>
            <a:endParaRPr lang="en-US" sz="650" dirty="0"/>
          </a:p>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lv1 = matmul(x, lv)</a:t>
            </a:r>
            <a:endParaRPr lang="en-US" sz="650" dirty="0"/>
          </a:p>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lv2 = add(lv1, bias)</a:t>
            </a:r>
            <a:endParaRPr lang="en-US" sz="650" dirty="0"/>
          </a:p>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gv  = silu(lv2)  # num_input=1</a:t>
            </a:r>
            <a:endParaRPr lang="en-US" sz="650" dirty="0"/>
          </a:p>
        </p:txBody>
      </p:sp>
      <p:sp>
        <p:nvSpPr>
          <p:cNvPr id="40" name="Shape 38"/>
          <p:cNvSpPr/>
          <p:nvPr/>
        </p:nvSpPr>
        <p:spPr>
          <a:xfrm>
            <a:off x="2795778" y="2377440"/>
            <a:ext cx="731520" cy="365760"/>
          </a:xfrm>
          <a:prstGeom prst="rect">
            <a:avLst/>
          </a:prstGeom>
          <a:solidFill>
            <a:srgbClr val="FFF1DC"/>
          </a:solidFill>
          <a:ln w="12700">
            <a:solidFill>
              <a:srgbClr val="D98A1E"/>
            </a:solidFill>
            <a:prstDash val="solid"/>
          </a:ln>
        </p:spPr>
      </p:sp>
      <p:sp>
        <p:nvSpPr>
          <p:cNvPr id="41" name="Shape 39"/>
          <p:cNvSpPr/>
          <p:nvPr/>
        </p:nvSpPr>
        <p:spPr>
          <a:xfrm>
            <a:off x="3161538" y="2377440"/>
            <a:ext cx="914" cy="365760"/>
          </a:xfrm>
          <a:prstGeom prst="line">
            <a:avLst/>
          </a:prstGeom>
          <a:noFill/>
          <a:ln w="12700">
            <a:solidFill>
              <a:srgbClr val="D98A1E"/>
            </a:solidFill>
            <a:prstDash val="solid"/>
          </a:ln>
        </p:spPr>
      </p:sp>
      <p:sp>
        <p:nvSpPr>
          <p:cNvPr id="42" name="Text 40"/>
          <p:cNvSpPr txBox="1"/>
          <p:nvPr/>
        </p:nvSpPr>
        <p:spPr>
          <a:xfrm>
            <a:off x="2795778" y="2148840"/>
            <a:ext cx="9144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W [64,128]</a:t>
            </a:r>
            <a:endParaRPr lang="en-US" sz="700" dirty="0"/>
          </a:p>
        </p:txBody>
      </p:sp>
      <p:sp>
        <p:nvSpPr>
          <p:cNvPr id="43" name="Shape 41"/>
          <p:cNvSpPr/>
          <p:nvPr/>
        </p:nvSpPr>
        <p:spPr>
          <a:xfrm>
            <a:off x="3573018" y="2560320"/>
            <a:ext cx="411480" cy="914"/>
          </a:xfrm>
          <a:prstGeom prst="line">
            <a:avLst/>
          </a:prstGeom>
          <a:noFill/>
          <a:ln w="15240">
            <a:solidFill>
              <a:srgbClr val="5B6B7F"/>
            </a:solidFill>
            <a:prstDash val="solid"/>
            <a:tailEnd type="triangle"/>
          </a:ln>
        </p:spPr>
      </p:sp>
      <p:sp>
        <p:nvSpPr>
          <p:cNvPr id="44" name="Text 42"/>
          <p:cNvSpPr txBox="1"/>
          <p:nvPr/>
        </p:nvSpPr>
        <p:spPr>
          <a:xfrm>
            <a:off x="3499866" y="2715768"/>
            <a:ext cx="640080" cy="274320"/>
          </a:xfrm>
          <a:prstGeom prst="rect">
            <a:avLst/>
          </a:prstGeom>
          <a:noFill/>
          <a:ln/>
        </p:spPr>
        <p:txBody>
          <a:bodyPr wrap="square" lIns="0" tIns="0" rIns="0" bIns="0" rtlCol="0" anchor="t"/>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host 1회</a:t>
            </a:r>
            <a:endParaRPr lang="en-US" sz="650" dirty="0"/>
          </a:p>
        </p:txBody>
      </p:sp>
      <p:sp>
        <p:nvSpPr>
          <p:cNvPr id="45" name="Shape 43"/>
          <p:cNvSpPr/>
          <p:nvPr/>
        </p:nvSpPr>
        <p:spPr>
          <a:xfrm>
            <a:off x="4030218" y="2194560"/>
            <a:ext cx="365760" cy="731520"/>
          </a:xfrm>
          <a:prstGeom prst="rect">
            <a:avLst/>
          </a:prstGeom>
          <a:solidFill>
            <a:srgbClr val="FFF1DC"/>
          </a:solidFill>
          <a:ln w="12700">
            <a:solidFill>
              <a:srgbClr val="D98A1E"/>
            </a:solidFill>
            <a:prstDash val="solid"/>
          </a:ln>
        </p:spPr>
      </p:sp>
      <p:sp>
        <p:nvSpPr>
          <p:cNvPr id="46" name="Shape 44"/>
          <p:cNvSpPr/>
          <p:nvPr/>
        </p:nvSpPr>
        <p:spPr>
          <a:xfrm>
            <a:off x="4030218" y="2560320"/>
            <a:ext cx="365760" cy="914"/>
          </a:xfrm>
          <a:prstGeom prst="line">
            <a:avLst/>
          </a:prstGeom>
          <a:noFill/>
          <a:ln w="12700">
            <a:solidFill>
              <a:srgbClr val="D98A1E"/>
            </a:solidFill>
            <a:prstDash val="solid"/>
          </a:ln>
        </p:spPr>
      </p:sp>
      <p:sp>
        <p:nvSpPr>
          <p:cNvPr id="47" name="Text 45"/>
          <p:cNvSpPr txBox="1"/>
          <p:nvPr/>
        </p:nvSpPr>
        <p:spPr>
          <a:xfrm>
            <a:off x="4030218" y="1965960"/>
            <a:ext cx="9144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Wᵀ → DRAM</a:t>
            </a:r>
            <a:endParaRPr lang="en-US" sz="700" dirty="0"/>
          </a:p>
        </p:txBody>
      </p:sp>
      <p:sp>
        <p:nvSpPr>
          <p:cNvPr id="48" name="Text 46"/>
          <p:cNvSpPr txBox="1"/>
          <p:nvPr/>
        </p:nvSpPr>
        <p:spPr>
          <a:xfrm>
            <a:off x="2750058" y="2971800"/>
            <a:ext cx="2103120" cy="27432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LiftTransformParams: weight만 쓰는 계산을 분리 (LM head 751 MiB도 1회)</a:t>
            </a:r>
            <a:endParaRPr lang="en-US" sz="650" dirty="0"/>
          </a:p>
        </p:txBody>
      </p:sp>
      <p:sp>
        <p:nvSpPr>
          <p:cNvPr id="49" name="Shape 47"/>
          <p:cNvSpPr/>
          <p:nvPr/>
        </p:nvSpPr>
        <p:spPr>
          <a:xfrm>
            <a:off x="2795778" y="3364992"/>
            <a:ext cx="621792" cy="384048"/>
          </a:xfrm>
          <a:prstGeom prst="roundRect">
            <a:avLst>
              <a:gd name="adj" fmla="val 14286"/>
            </a:avLst>
          </a:prstGeom>
          <a:solidFill>
            <a:srgbClr val="ECE6FA"/>
          </a:solidFill>
          <a:ln w="12700">
            <a:solidFill>
              <a:srgbClr val="6C4FBF"/>
            </a:solidFill>
            <a:prstDash val="solid"/>
          </a:ln>
        </p:spPr>
      </p:sp>
      <p:sp>
        <p:nvSpPr>
          <p:cNvPr id="50" name="Text 48"/>
          <p:cNvSpPr txBox="1"/>
          <p:nvPr/>
        </p:nvSpPr>
        <p:spPr>
          <a:xfrm>
            <a:off x="2868930" y="3438144"/>
            <a:ext cx="475488" cy="1524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matmul</a:t>
            </a:r>
            <a:endParaRPr lang="en-US" sz="800" dirty="0"/>
          </a:p>
        </p:txBody>
      </p:sp>
      <p:sp>
        <p:nvSpPr>
          <p:cNvPr id="51" name="Text 49"/>
          <p:cNvSpPr txBox="1"/>
          <p:nvPr/>
        </p:nvSpPr>
        <p:spPr>
          <a:xfrm>
            <a:off x="2868930" y="3590544"/>
            <a:ext cx="475488" cy="182880"/>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pattern 4</a:t>
            </a:r>
            <a:endParaRPr lang="en-US" sz="600" dirty="0"/>
          </a:p>
        </p:txBody>
      </p:sp>
      <p:sp>
        <p:nvSpPr>
          <p:cNvPr id="52" name="Shape 50"/>
          <p:cNvSpPr/>
          <p:nvPr/>
        </p:nvSpPr>
        <p:spPr>
          <a:xfrm>
            <a:off x="3426714" y="3557016"/>
            <a:ext cx="64008" cy="914"/>
          </a:xfrm>
          <a:prstGeom prst="line">
            <a:avLst/>
          </a:prstGeom>
          <a:noFill/>
          <a:ln w="12700">
            <a:solidFill>
              <a:srgbClr val="5B6B7F"/>
            </a:solidFill>
            <a:prstDash val="solid"/>
            <a:tailEnd type="triangle"/>
          </a:ln>
        </p:spPr>
      </p:sp>
      <p:sp>
        <p:nvSpPr>
          <p:cNvPr id="53" name="Shape 51"/>
          <p:cNvSpPr/>
          <p:nvPr/>
        </p:nvSpPr>
        <p:spPr>
          <a:xfrm>
            <a:off x="3499866" y="3364992"/>
            <a:ext cx="621792" cy="384048"/>
          </a:xfrm>
          <a:prstGeom prst="roundRect">
            <a:avLst>
              <a:gd name="adj" fmla="val 14286"/>
            </a:avLst>
          </a:prstGeom>
          <a:solidFill>
            <a:srgbClr val="E3EEFB"/>
          </a:solidFill>
          <a:ln w="12700">
            <a:solidFill>
              <a:srgbClr val="2F6DB5"/>
            </a:solidFill>
            <a:prstDash val="solid"/>
          </a:ln>
        </p:spPr>
      </p:sp>
      <p:sp>
        <p:nvSpPr>
          <p:cNvPr id="54" name="Text 52"/>
          <p:cNvSpPr txBox="1"/>
          <p:nvPr/>
        </p:nvSpPr>
        <p:spPr>
          <a:xfrm>
            <a:off x="3573018" y="3438144"/>
            <a:ext cx="475488" cy="1524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add</a:t>
            </a:r>
            <a:endParaRPr lang="en-US" sz="800" dirty="0"/>
          </a:p>
        </p:txBody>
      </p:sp>
      <p:sp>
        <p:nvSpPr>
          <p:cNvPr id="55" name="Text 53"/>
          <p:cNvSpPr txBox="1"/>
          <p:nvPr/>
        </p:nvSpPr>
        <p:spPr>
          <a:xfrm>
            <a:off x="3573018" y="3590544"/>
            <a:ext cx="475488" cy="182880"/>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pattern 0</a:t>
            </a:r>
            <a:endParaRPr lang="en-US" sz="600" dirty="0"/>
          </a:p>
        </p:txBody>
      </p:sp>
      <p:sp>
        <p:nvSpPr>
          <p:cNvPr id="56" name="Shape 54"/>
          <p:cNvSpPr/>
          <p:nvPr/>
        </p:nvSpPr>
        <p:spPr>
          <a:xfrm>
            <a:off x="4130802" y="3557016"/>
            <a:ext cx="64008" cy="914"/>
          </a:xfrm>
          <a:prstGeom prst="line">
            <a:avLst/>
          </a:prstGeom>
          <a:noFill/>
          <a:ln w="12700">
            <a:solidFill>
              <a:srgbClr val="5B6B7F"/>
            </a:solidFill>
            <a:prstDash val="solid"/>
            <a:tailEnd type="triangle"/>
          </a:ln>
        </p:spPr>
      </p:sp>
      <p:sp>
        <p:nvSpPr>
          <p:cNvPr id="57" name="Shape 55"/>
          <p:cNvSpPr/>
          <p:nvPr/>
        </p:nvSpPr>
        <p:spPr>
          <a:xfrm>
            <a:off x="4203954" y="3364992"/>
            <a:ext cx="621792" cy="384048"/>
          </a:xfrm>
          <a:prstGeom prst="roundRect">
            <a:avLst>
              <a:gd name="adj" fmla="val 14286"/>
            </a:avLst>
          </a:prstGeom>
          <a:solidFill>
            <a:srgbClr val="E3EEFB"/>
          </a:solidFill>
          <a:ln w="12700">
            <a:solidFill>
              <a:srgbClr val="2F6DB5"/>
            </a:solidFill>
            <a:prstDash val="solid"/>
          </a:ln>
        </p:spPr>
      </p:sp>
      <p:sp>
        <p:nvSpPr>
          <p:cNvPr id="58" name="Text 56"/>
          <p:cNvSpPr txBox="1"/>
          <p:nvPr/>
        </p:nvSpPr>
        <p:spPr>
          <a:xfrm>
            <a:off x="4277106" y="3438144"/>
            <a:ext cx="475488" cy="1524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silu</a:t>
            </a:r>
            <a:endParaRPr lang="en-US" sz="800" dirty="0"/>
          </a:p>
        </p:txBody>
      </p:sp>
      <p:sp>
        <p:nvSpPr>
          <p:cNvPr id="59" name="Text 57"/>
          <p:cNvSpPr txBox="1"/>
          <p:nvPr/>
        </p:nvSpPr>
        <p:spPr>
          <a:xfrm>
            <a:off x="4277106" y="3590544"/>
            <a:ext cx="475488" cy="182880"/>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pattern 0</a:t>
            </a:r>
            <a:endParaRPr lang="en-US" sz="600" dirty="0"/>
          </a:p>
        </p:txBody>
      </p:sp>
      <p:sp>
        <p:nvSpPr>
          <p:cNvPr id="60" name="Text 58"/>
          <p:cNvSpPr txBox="1"/>
          <p:nvPr/>
        </p:nvSpPr>
        <p:spPr>
          <a:xfrm>
            <a:off x="2750058" y="3785616"/>
            <a:ext cx="2103120" cy="27432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call_tir ×3 + PrimFunc (Relax 호출 순서는 남음)</a:t>
            </a:r>
            <a:endParaRPr lang="en-US" sz="650" dirty="0"/>
          </a:p>
        </p:txBody>
      </p:sp>
      <p:sp>
        <p:nvSpPr>
          <p:cNvPr id="61" name="Shape 59"/>
          <p:cNvSpPr/>
          <p:nvPr/>
        </p:nvSpPr>
        <p:spPr>
          <a:xfrm>
            <a:off x="2750058" y="4114800"/>
            <a:ext cx="2103120" cy="941832"/>
          </a:xfrm>
          <a:prstGeom prst="roundRect">
            <a:avLst>
              <a:gd name="adj" fmla="val 4854"/>
            </a:avLst>
          </a:prstGeom>
          <a:solidFill>
            <a:srgbClr val="F5F7FA"/>
          </a:solidFill>
          <a:ln w="9525">
            <a:solidFill>
              <a:srgbClr val="C9D3DF"/>
            </a:solidFill>
            <a:prstDash val="solid"/>
          </a:ln>
        </p:spPr>
      </p:sp>
      <p:sp>
        <p:nvSpPr>
          <p:cNvPr id="62" name="Text 60"/>
          <p:cNvSpPr txBox="1"/>
          <p:nvPr/>
        </p:nvSpPr>
        <p:spPr>
          <a:xfrm>
            <a:off x="2859786" y="4187952"/>
            <a:ext cx="1883664" cy="795528"/>
          </a:xfrm>
          <a:prstGeom prst="rect">
            <a:avLst/>
          </a:prstGeom>
          <a:noFill/>
          <a:ln/>
        </p:spPr>
        <p:txBody>
          <a:bodyPr wrap="square" lIns="0" tIns="0" rIns="0" bIns="0" rtlCol="0" anchor="t"/>
          <a:lstStyle/>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 matmul PrimFunc 요약</a:t>
            </a:r>
            <a:endParaRPr lang="en-US" sz="650" dirty="0"/>
          </a:p>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C32[i,j] = 0</a:t>
            </a:r>
            <a:endParaRPr lang="en-US" sz="650" dirty="0"/>
          </a:p>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C32[i,j] += f32(x[i,k])·f32(Wᵀ[k,j])</a:t>
            </a:r>
            <a:endParaRPr lang="en-US" sz="650" dirty="0"/>
          </a:p>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Y[i,j] = f16(C32[i,j])   # 한 번만</a:t>
            </a:r>
            <a:endParaRPr lang="en-US" sz="650" dirty="0"/>
          </a:p>
          <a:p>
            <a:pPr algn="l" indent="0" marL="0">
              <a:lnSpc>
                <a:spcPct val="105000"/>
              </a:lnSpc>
              <a:buNone/>
            </a:pPr>
            <a:r>
              <a:rPr lang="en-US" sz="650" dirty="0">
                <a:solidFill>
                  <a:srgbClr val="1F2D3D"/>
                </a:solidFill>
                <a:latin typeface="Courier New" pitchFamily="34" charset="0"/>
                <a:ea typeface="Courier New" pitchFamily="34" charset="-122"/>
                <a:cs typeface="Courier New" pitchFamily="34" charset="-120"/>
              </a:rPr>
              <a:t>softmax: FP32 sum, RMSNorm: absmax</a:t>
            </a:r>
            <a:endParaRPr lang="en-US" sz="650" dirty="0"/>
          </a:p>
        </p:txBody>
      </p:sp>
      <p:sp>
        <p:nvSpPr>
          <p:cNvPr id="63" name="Shape 61"/>
          <p:cNvSpPr/>
          <p:nvPr/>
        </p:nvSpPr>
        <p:spPr>
          <a:xfrm>
            <a:off x="5042916" y="2011680"/>
            <a:ext cx="2103120" cy="548640"/>
          </a:xfrm>
          <a:prstGeom prst="roundRect">
            <a:avLst>
              <a:gd name="adj" fmla="val 13333"/>
            </a:avLst>
          </a:prstGeom>
          <a:solidFill>
            <a:srgbClr val="DDF3F0"/>
          </a:solidFill>
          <a:ln w="15875">
            <a:solidFill>
              <a:srgbClr val="1F8A8A"/>
            </a:solidFill>
            <a:prstDash val="solid"/>
          </a:ln>
        </p:spPr>
      </p:sp>
      <p:sp>
        <p:nvSpPr>
          <p:cNvPr id="64" name="Shape 62"/>
          <p:cNvSpPr/>
          <p:nvPr/>
        </p:nvSpPr>
        <p:spPr>
          <a:xfrm>
            <a:off x="5134356" y="2103120"/>
            <a:ext cx="566928" cy="329184"/>
          </a:xfrm>
          <a:prstGeom prst="roundRect">
            <a:avLst>
              <a:gd name="adj" fmla="val 16667"/>
            </a:avLst>
          </a:prstGeom>
          <a:solidFill>
            <a:srgbClr val="ECE6FA"/>
          </a:solidFill>
          <a:ln w="12700">
            <a:solidFill>
              <a:srgbClr val="6C4FBF"/>
            </a:solidFill>
            <a:prstDash val="solid"/>
          </a:ln>
        </p:spPr>
      </p:sp>
      <p:sp>
        <p:nvSpPr>
          <p:cNvPr id="65" name="Text 63"/>
          <p:cNvSpPr txBox="1"/>
          <p:nvPr/>
        </p:nvSpPr>
        <p:spPr>
          <a:xfrm>
            <a:off x="5189220" y="2139696"/>
            <a:ext cx="457200" cy="25603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matmul</a:t>
            </a:r>
            <a:endParaRPr lang="en-US" sz="750" dirty="0"/>
          </a:p>
        </p:txBody>
      </p:sp>
      <p:sp>
        <p:nvSpPr>
          <p:cNvPr id="66" name="Shape 64"/>
          <p:cNvSpPr/>
          <p:nvPr/>
        </p:nvSpPr>
        <p:spPr>
          <a:xfrm>
            <a:off x="5710428" y="2267712"/>
            <a:ext cx="91440" cy="914"/>
          </a:xfrm>
          <a:prstGeom prst="line">
            <a:avLst/>
          </a:prstGeom>
          <a:noFill/>
          <a:ln w="9525">
            <a:solidFill>
              <a:srgbClr val="5B6B7F"/>
            </a:solidFill>
            <a:prstDash val="solid"/>
            <a:tailEnd type="triangle"/>
          </a:ln>
        </p:spPr>
      </p:sp>
      <p:sp>
        <p:nvSpPr>
          <p:cNvPr id="67" name="Shape 65"/>
          <p:cNvSpPr/>
          <p:nvPr/>
        </p:nvSpPr>
        <p:spPr>
          <a:xfrm>
            <a:off x="5820156" y="2103120"/>
            <a:ext cx="566928" cy="329184"/>
          </a:xfrm>
          <a:prstGeom prst="roundRect">
            <a:avLst>
              <a:gd name="adj" fmla="val 16667"/>
            </a:avLst>
          </a:prstGeom>
          <a:solidFill>
            <a:srgbClr val="E3EEFB"/>
          </a:solidFill>
          <a:ln w="12700">
            <a:solidFill>
              <a:srgbClr val="2F6DB5"/>
            </a:solidFill>
            <a:prstDash val="solid"/>
          </a:ln>
        </p:spPr>
      </p:sp>
      <p:sp>
        <p:nvSpPr>
          <p:cNvPr id="68" name="Text 66"/>
          <p:cNvSpPr txBox="1"/>
          <p:nvPr/>
        </p:nvSpPr>
        <p:spPr>
          <a:xfrm>
            <a:off x="5875020" y="2139696"/>
            <a:ext cx="457200" cy="25603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add</a:t>
            </a:r>
            <a:endParaRPr lang="en-US" sz="750" dirty="0"/>
          </a:p>
        </p:txBody>
      </p:sp>
      <p:sp>
        <p:nvSpPr>
          <p:cNvPr id="69" name="Shape 67"/>
          <p:cNvSpPr/>
          <p:nvPr/>
        </p:nvSpPr>
        <p:spPr>
          <a:xfrm>
            <a:off x="6396228" y="2267712"/>
            <a:ext cx="91440" cy="914"/>
          </a:xfrm>
          <a:prstGeom prst="line">
            <a:avLst/>
          </a:prstGeom>
          <a:noFill/>
          <a:ln w="9525">
            <a:solidFill>
              <a:srgbClr val="5B6B7F"/>
            </a:solidFill>
            <a:prstDash val="solid"/>
            <a:tailEnd type="triangle"/>
          </a:ln>
        </p:spPr>
      </p:sp>
      <p:sp>
        <p:nvSpPr>
          <p:cNvPr id="70" name="Shape 68"/>
          <p:cNvSpPr/>
          <p:nvPr/>
        </p:nvSpPr>
        <p:spPr>
          <a:xfrm>
            <a:off x="6505956" y="2103120"/>
            <a:ext cx="566928" cy="329184"/>
          </a:xfrm>
          <a:prstGeom prst="roundRect">
            <a:avLst>
              <a:gd name="adj" fmla="val 16667"/>
            </a:avLst>
          </a:prstGeom>
          <a:solidFill>
            <a:srgbClr val="E3EEFB"/>
          </a:solidFill>
          <a:ln w="12700">
            <a:solidFill>
              <a:srgbClr val="2F6DB5"/>
            </a:solidFill>
            <a:prstDash val="solid"/>
          </a:ln>
        </p:spPr>
      </p:sp>
      <p:sp>
        <p:nvSpPr>
          <p:cNvPr id="71" name="Text 69"/>
          <p:cNvSpPr txBox="1"/>
          <p:nvPr/>
        </p:nvSpPr>
        <p:spPr>
          <a:xfrm>
            <a:off x="6560820" y="2139696"/>
            <a:ext cx="457200" cy="25603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silu</a:t>
            </a:r>
            <a:endParaRPr lang="en-US" sz="750" dirty="0"/>
          </a:p>
        </p:txBody>
      </p:sp>
      <p:sp>
        <p:nvSpPr>
          <p:cNvPr id="72" name="Text 70"/>
          <p:cNvSpPr txBox="1"/>
          <p:nvPr/>
        </p:nvSpPr>
        <p:spPr>
          <a:xfrm>
            <a:off x="5042916" y="2606040"/>
            <a:ext cx="2103120" cy="27432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FuseOps 영역: unfused 2,812 vs fused 1,577 words → 채택</a:t>
            </a:r>
            <a:endParaRPr lang="en-US" sz="650" dirty="0"/>
          </a:p>
        </p:txBody>
      </p:sp>
      <p:sp>
        <p:nvSpPr>
          <p:cNvPr id="73" name="Shape 71"/>
          <p:cNvSpPr/>
          <p:nvPr/>
        </p:nvSpPr>
        <p:spPr>
          <a:xfrm>
            <a:off x="5042916" y="2926080"/>
            <a:ext cx="2103120" cy="1188720"/>
          </a:xfrm>
          <a:prstGeom prst="roundRect">
            <a:avLst>
              <a:gd name="adj" fmla="val 4615"/>
            </a:avLst>
          </a:prstGeom>
          <a:solidFill>
            <a:srgbClr val="EEF8F6"/>
          </a:solidFill>
          <a:ln w="12700">
            <a:solidFill>
              <a:srgbClr val="1F8A8A"/>
            </a:solidFill>
            <a:prstDash val="solid"/>
          </a:ln>
        </p:spPr>
      </p:sp>
      <p:sp>
        <p:nvSpPr>
          <p:cNvPr id="74" name="Text 72"/>
          <p:cNvSpPr txBox="1"/>
          <p:nvPr/>
        </p:nvSpPr>
        <p:spPr>
          <a:xfrm>
            <a:off x="5116068" y="2944368"/>
            <a:ext cx="1920240" cy="182880"/>
          </a:xfrm>
          <a:prstGeom prst="rect">
            <a:avLst/>
          </a:prstGeom>
          <a:noFill/>
          <a:ln/>
        </p:spPr>
        <p:txBody>
          <a:bodyPr wrap="square" lIns="0" tIns="0" rIns="0" bIns="0" rtlCol="0" anchor="t"/>
          <a:lstStyle/>
          <a:p>
            <a:pPr algn="l" indent="0" marL="0">
              <a:buNone/>
            </a:pPr>
            <a:r>
              <a:rPr lang="en-US" sz="700" b="1" dirty="0">
                <a:solidFill>
                  <a:srgbClr val="1F8A8A"/>
                </a:solidFill>
                <a:latin typeface="Malgun Gothic" pitchFamily="34" charset="0"/>
                <a:ea typeface="Malgun Gothic" pitchFamily="34" charset="-122"/>
                <a:cs typeface="Malgun Gothic" pitchFamily="34" charset="-120"/>
              </a:rPr>
              <a:t>SRAM (schedule 결과)</a:t>
            </a:r>
            <a:endParaRPr lang="en-US" sz="700" dirty="0"/>
          </a:p>
        </p:txBody>
      </p:sp>
      <p:sp>
        <p:nvSpPr>
          <p:cNvPr id="75" name="Shape 73"/>
          <p:cNvSpPr/>
          <p:nvPr/>
        </p:nvSpPr>
        <p:spPr>
          <a:xfrm>
            <a:off x="5134356" y="3200400"/>
            <a:ext cx="822960" cy="320040"/>
          </a:xfrm>
          <a:prstGeom prst="rect">
            <a:avLst/>
          </a:prstGeom>
          <a:solidFill>
            <a:srgbClr val="DDF3F0"/>
          </a:solidFill>
          <a:ln w="12700">
            <a:solidFill>
              <a:srgbClr val="1F8A8A"/>
            </a:solidFill>
            <a:prstDash val="solid"/>
          </a:ln>
        </p:spPr>
      </p:sp>
      <p:sp>
        <p:nvSpPr>
          <p:cNvPr id="76" name="Shape 74"/>
          <p:cNvSpPr/>
          <p:nvPr/>
        </p:nvSpPr>
        <p:spPr>
          <a:xfrm>
            <a:off x="5134356" y="3200400"/>
            <a:ext cx="822960" cy="320040"/>
          </a:xfrm>
          <a:prstGeom prst="rect">
            <a:avLst/>
          </a:prstGeom>
          <a:solidFill>
            <a:srgbClr val="DDF3F0"/>
          </a:solidFill>
          <a:ln w="15875">
            <a:solidFill>
              <a:srgbClr val="1F8A8A"/>
            </a:solidFill>
            <a:prstDash val="solid"/>
          </a:ln>
        </p:spPr>
      </p:sp>
      <p:sp>
        <p:nvSpPr>
          <p:cNvPr id="77" name="Shape 75"/>
          <p:cNvSpPr/>
          <p:nvPr/>
        </p:nvSpPr>
        <p:spPr>
          <a:xfrm>
            <a:off x="5545836" y="3200400"/>
            <a:ext cx="914" cy="320040"/>
          </a:xfrm>
          <a:prstGeom prst="line">
            <a:avLst/>
          </a:prstGeom>
          <a:noFill/>
          <a:ln w="12700">
            <a:solidFill>
              <a:srgbClr val="1F8A8A"/>
            </a:solidFill>
            <a:prstDash val="solid"/>
          </a:ln>
        </p:spPr>
      </p:sp>
      <p:sp>
        <p:nvSpPr>
          <p:cNvPr id="78" name="Text 76"/>
          <p:cNvSpPr txBox="1"/>
          <p:nvPr/>
        </p:nvSpPr>
        <p:spPr>
          <a:xfrm>
            <a:off x="5134356" y="3200400"/>
            <a:ext cx="822960" cy="320040"/>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X panel 16 KiB</a:t>
            </a:r>
            <a:endParaRPr lang="en-US" sz="600" dirty="0"/>
          </a:p>
        </p:txBody>
      </p:sp>
      <p:sp>
        <p:nvSpPr>
          <p:cNvPr id="79" name="Shape 77"/>
          <p:cNvSpPr/>
          <p:nvPr/>
        </p:nvSpPr>
        <p:spPr>
          <a:xfrm>
            <a:off x="5134356" y="3611880"/>
            <a:ext cx="320040" cy="457200"/>
          </a:xfrm>
          <a:prstGeom prst="rect">
            <a:avLst/>
          </a:prstGeom>
          <a:solidFill>
            <a:srgbClr val="FFF1DC"/>
          </a:solidFill>
          <a:ln w="12700">
            <a:solidFill>
              <a:srgbClr val="D98A1E"/>
            </a:solidFill>
            <a:prstDash val="solid"/>
          </a:ln>
        </p:spPr>
      </p:sp>
      <p:sp>
        <p:nvSpPr>
          <p:cNvPr id="80" name="Shape 78"/>
          <p:cNvSpPr/>
          <p:nvPr/>
        </p:nvSpPr>
        <p:spPr>
          <a:xfrm>
            <a:off x="5134356" y="3840480"/>
            <a:ext cx="320040" cy="914"/>
          </a:xfrm>
          <a:prstGeom prst="line">
            <a:avLst/>
          </a:prstGeom>
          <a:noFill/>
          <a:ln w="12700">
            <a:solidFill>
              <a:srgbClr val="D98A1E"/>
            </a:solidFill>
            <a:prstDash val="solid"/>
          </a:ln>
        </p:spPr>
      </p:sp>
      <p:sp>
        <p:nvSpPr>
          <p:cNvPr id="81" name="Text 79"/>
          <p:cNvSpPr txBox="1"/>
          <p:nvPr/>
        </p:nvSpPr>
        <p:spPr>
          <a:xfrm>
            <a:off x="5500116" y="3611880"/>
            <a:ext cx="640080" cy="457200"/>
          </a:xfrm>
          <a:prstGeom prst="rect">
            <a:avLst/>
          </a:prstGeom>
          <a:noFill/>
          <a:ln/>
        </p:spPr>
        <p:txBody>
          <a:bodyPr wrap="square" lIns="0" tIns="0" rIns="0" bIns="0" rtlCol="0" anchor="t"/>
          <a:lstStyle/>
          <a:p>
            <a:pPr algn="l" indent="0" marL="0">
              <a:buNone/>
            </a:pPr>
            <a:r>
              <a:rPr lang="en-US" sz="600" dirty="0">
                <a:solidFill>
                  <a:srgbClr val="5B6B7F"/>
                </a:solidFill>
                <a:latin typeface="Malgun Gothic" pitchFamily="34" charset="0"/>
                <a:ea typeface="Malgun Gothic" pitchFamily="34" charset="-122"/>
                <a:cs typeface="Malgun Gothic" pitchFamily="34" charset="-120"/>
              </a:rPr>
              <a:t>Wᵀ panel</a:t>
            </a:r>
            <a:endParaRPr lang="en-US" sz="600" dirty="0"/>
          </a:p>
          <a:p>
            <a:pPr algn="l" indent="0" marL="0">
              <a:buNone/>
            </a:pPr>
            <a:r>
              <a:rPr lang="en-US" sz="600" dirty="0">
                <a:solidFill>
                  <a:srgbClr val="5B6B7F"/>
                </a:solidFill>
                <a:latin typeface="Malgun Gothic" pitchFamily="34" charset="0"/>
                <a:ea typeface="Malgun Gothic" pitchFamily="34" charset="-122"/>
                <a:cs typeface="Malgun Gothic" pitchFamily="34" charset="-120"/>
              </a:rPr>
              <a:t>16 KiB</a:t>
            </a:r>
            <a:endParaRPr lang="en-US" sz="600" dirty="0"/>
          </a:p>
        </p:txBody>
      </p:sp>
      <p:sp>
        <p:nvSpPr>
          <p:cNvPr id="82" name="Shape 80"/>
          <p:cNvSpPr/>
          <p:nvPr/>
        </p:nvSpPr>
        <p:spPr>
          <a:xfrm>
            <a:off x="6414516" y="3474720"/>
            <a:ext cx="411480" cy="411480"/>
          </a:xfrm>
          <a:prstGeom prst="rect">
            <a:avLst/>
          </a:prstGeom>
          <a:solidFill>
            <a:srgbClr val="ECE6FA"/>
          </a:solidFill>
          <a:ln w="12700">
            <a:solidFill>
              <a:srgbClr val="6C4FBF"/>
            </a:solidFill>
            <a:prstDash val="solid"/>
          </a:ln>
        </p:spPr>
      </p:sp>
      <p:sp>
        <p:nvSpPr>
          <p:cNvPr id="83" name="Shape 81"/>
          <p:cNvSpPr/>
          <p:nvPr/>
        </p:nvSpPr>
        <p:spPr>
          <a:xfrm>
            <a:off x="6414516" y="3474720"/>
            <a:ext cx="411480" cy="411480"/>
          </a:xfrm>
          <a:prstGeom prst="rect">
            <a:avLst/>
          </a:prstGeom>
          <a:solidFill>
            <a:srgbClr val="ECE6FA"/>
          </a:solidFill>
          <a:ln w="15875">
            <a:solidFill>
              <a:srgbClr val="6C4FBF"/>
            </a:solidFill>
            <a:prstDash val="solid"/>
          </a:ln>
        </p:spPr>
      </p:sp>
      <p:sp>
        <p:nvSpPr>
          <p:cNvPr id="84" name="Text 82"/>
          <p:cNvSpPr txBox="1"/>
          <p:nvPr/>
        </p:nvSpPr>
        <p:spPr>
          <a:xfrm>
            <a:off x="6414516" y="3474720"/>
            <a:ext cx="411480" cy="41148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P</a:t>
            </a:r>
            <a:endParaRPr lang="en-US" sz="700" dirty="0"/>
          </a:p>
        </p:txBody>
      </p:sp>
      <p:sp>
        <p:nvSpPr>
          <p:cNvPr id="85" name="Text 83"/>
          <p:cNvSpPr txBox="1"/>
          <p:nvPr/>
        </p:nvSpPr>
        <p:spPr>
          <a:xfrm>
            <a:off x="6140196" y="3913632"/>
            <a:ext cx="1005840" cy="228600"/>
          </a:xfrm>
          <a:prstGeom prst="rect">
            <a:avLst/>
          </a:prstGeom>
          <a:noFill/>
          <a:ln/>
        </p:spPr>
        <p:txBody>
          <a:bodyPr wrap="square" lIns="0" tIns="0" rIns="0" bIns="0" rtlCol="0" anchor="t"/>
          <a:lstStyle/>
          <a:p>
            <a:pPr algn="l" indent="0" marL="0">
              <a:buNone/>
            </a:pPr>
            <a:r>
              <a:rPr lang="en-US" sz="600" b="1" dirty="0">
                <a:solidFill>
                  <a:srgbClr val="6C4FBF"/>
                </a:solidFill>
                <a:latin typeface="Malgun Gothic" pitchFamily="34" charset="0"/>
                <a:ea typeface="Malgun Gothic" pitchFamily="34" charset="-122"/>
                <a:cs typeface="Malgun Gothic" pitchFamily="34" charset="-120"/>
              </a:rPr>
              <a:t>MAC=0 → MAC=1</a:t>
            </a:r>
            <a:endParaRPr lang="en-US" sz="600" dirty="0"/>
          </a:p>
        </p:txBody>
      </p:sp>
      <p:sp>
        <p:nvSpPr>
          <p:cNvPr id="86" name="Shape 84"/>
          <p:cNvSpPr/>
          <p:nvPr/>
        </p:nvSpPr>
        <p:spPr>
          <a:xfrm>
            <a:off x="5975604" y="3364992"/>
            <a:ext cx="438912" cy="246888"/>
          </a:xfrm>
          <a:prstGeom prst="line">
            <a:avLst/>
          </a:prstGeom>
          <a:noFill/>
          <a:ln w="9525">
            <a:solidFill>
              <a:srgbClr val="6C4FBF"/>
            </a:solidFill>
            <a:prstDash val="solid"/>
            <a:tailEnd type="triangle"/>
          </a:ln>
        </p:spPr>
      </p:sp>
      <p:sp>
        <p:nvSpPr>
          <p:cNvPr id="87" name="Shape 85"/>
          <p:cNvSpPr/>
          <p:nvPr/>
        </p:nvSpPr>
        <p:spPr>
          <a:xfrm flipV="1">
            <a:off x="5472684" y="3749040"/>
            <a:ext cx="941832" cy="91440"/>
          </a:xfrm>
          <a:prstGeom prst="line">
            <a:avLst/>
          </a:prstGeom>
          <a:noFill/>
          <a:ln w="9525">
            <a:solidFill>
              <a:srgbClr val="6C4FBF"/>
            </a:solidFill>
            <a:prstDash val="solid"/>
            <a:tailEnd type="triangle"/>
          </a:ln>
        </p:spPr>
      </p:sp>
      <p:sp>
        <p:nvSpPr>
          <p:cNvPr id="88" name="Text 86"/>
          <p:cNvSpPr txBox="1"/>
          <p:nvPr/>
        </p:nvSpPr>
        <p:spPr>
          <a:xfrm>
            <a:off x="5042916" y="4206240"/>
            <a:ext cx="2103120" cy="86868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matmul: m/n panel, K chunk, loop 순서, X/W cache 위치를 탐색 → 64×64 intrinsic으로 tensorize. 후보마다 실제 명령을 내어 비용 측정 (중복 정규화 · 증명된 용량 초과 제외 · 시도 64 · legal 8 · 적응형 words 예산)</a:t>
            </a:r>
            <a:endParaRPr lang="en-US" sz="650" dirty="0"/>
          </a:p>
        </p:txBody>
      </p:sp>
      <p:sp>
        <p:nvSpPr>
          <p:cNvPr id="89" name="Text 87"/>
          <p:cNvSpPr txBox="1"/>
          <p:nvPr/>
        </p:nvSpPr>
        <p:spPr>
          <a:xfrm>
            <a:off x="7335774" y="1965960"/>
            <a:ext cx="2103120" cy="182880"/>
          </a:xfrm>
          <a:prstGeom prst="rect">
            <a:avLst/>
          </a:prstGeom>
          <a:noFill/>
          <a:ln/>
        </p:spPr>
        <p:txBody>
          <a:bodyPr wrap="square" lIns="0" tIns="0" rIns="0" bIns="0" rtlCol="0" anchor="t"/>
          <a:lstStyle/>
          <a:p>
            <a:pPr algn="l" indent="0" marL="0">
              <a:buNone/>
            </a:pPr>
            <a:r>
              <a:rPr lang="en-US" sz="700" b="1" dirty="0">
                <a:solidFill>
                  <a:srgbClr val="D98A1E"/>
                </a:solidFill>
                <a:latin typeface="Malgun Gothic" pitchFamily="34" charset="0"/>
                <a:ea typeface="Malgun Gothic" pitchFamily="34" charset="-122"/>
                <a:cs typeface="Malgun Gothic" pitchFamily="34" charset="-120"/>
              </a:rPr>
              <a:t>DRAM image 41,100 B (실제 주소)</a:t>
            </a:r>
            <a:endParaRPr lang="en-US" sz="700" dirty="0"/>
          </a:p>
        </p:txBody>
      </p:sp>
      <p:sp>
        <p:nvSpPr>
          <p:cNvPr id="90" name="Shape 88"/>
          <p:cNvSpPr/>
          <p:nvPr/>
        </p:nvSpPr>
        <p:spPr>
          <a:xfrm>
            <a:off x="7335774" y="2167128"/>
            <a:ext cx="2103120" cy="329184"/>
          </a:xfrm>
          <a:prstGeom prst="rect">
            <a:avLst/>
          </a:prstGeom>
          <a:solidFill>
            <a:srgbClr val="EEF2F6"/>
          </a:solidFill>
          <a:ln w="9525">
            <a:solidFill>
              <a:srgbClr val="C9D3DF"/>
            </a:solidFill>
            <a:prstDash val="solid"/>
          </a:ln>
        </p:spPr>
      </p:sp>
      <p:sp>
        <p:nvSpPr>
          <p:cNvPr id="91" name="Shape 89"/>
          <p:cNvSpPr/>
          <p:nvPr/>
        </p:nvSpPr>
        <p:spPr>
          <a:xfrm>
            <a:off x="7335774" y="2167128"/>
            <a:ext cx="838382" cy="329184"/>
          </a:xfrm>
          <a:prstGeom prst="rect">
            <a:avLst/>
          </a:prstGeom>
          <a:solidFill>
            <a:srgbClr val="EEF1F5"/>
          </a:solidFill>
          <a:ln w="12700">
            <a:solidFill>
              <a:srgbClr val="5B6B7F"/>
            </a:solidFill>
            <a:prstDash val="solid"/>
          </a:ln>
        </p:spPr>
      </p:sp>
      <p:sp>
        <p:nvSpPr>
          <p:cNvPr id="92" name="Text 90"/>
          <p:cNvSpPr txBox="1"/>
          <p:nvPr/>
        </p:nvSpPr>
        <p:spPr>
          <a:xfrm>
            <a:off x="7335774" y="2167128"/>
            <a:ext cx="838382" cy="32918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x</a:t>
            </a:r>
            <a:endParaRPr lang="en-US" sz="700" dirty="0"/>
          </a:p>
        </p:txBody>
      </p:sp>
      <p:sp>
        <p:nvSpPr>
          <p:cNvPr id="93" name="Shape 91"/>
          <p:cNvSpPr/>
          <p:nvPr/>
        </p:nvSpPr>
        <p:spPr>
          <a:xfrm>
            <a:off x="8174156" y="2167128"/>
            <a:ext cx="6550" cy="329184"/>
          </a:xfrm>
          <a:prstGeom prst="rect">
            <a:avLst/>
          </a:prstGeom>
          <a:solidFill>
            <a:srgbClr val="FFF1DC"/>
          </a:solidFill>
          <a:ln w="12700">
            <a:solidFill>
              <a:srgbClr val="D98A1E"/>
            </a:solidFill>
            <a:prstDash val="solid"/>
          </a:ln>
        </p:spPr>
      </p:sp>
      <p:sp>
        <p:nvSpPr>
          <p:cNvPr id="94" name="Shape 92"/>
          <p:cNvSpPr/>
          <p:nvPr/>
        </p:nvSpPr>
        <p:spPr>
          <a:xfrm>
            <a:off x="8180706" y="2167128"/>
            <a:ext cx="838382" cy="329184"/>
          </a:xfrm>
          <a:prstGeom prst="rect">
            <a:avLst/>
          </a:prstGeom>
          <a:solidFill>
            <a:srgbClr val="FFF1DC"/>
          </a:solidFill>
          <a:ln w="12700">
            <a:solidFill>
              <a:srgbClr val="D98A1E"/>
            </a:solidFill>
            <a:prstDash val="solid"/>
          </a:ln>
        </p:spPr>
      </p:sp>
      <p:sp>
        <p:nvSpPr>
          <p:cNvPr id="95" name="Text 93"/>
          <p:cNvSpPr txBox="1"/>
          <p:nvPr/>
        </p:nvSpPr>
        <p:spPr>
          <a:xfrm>
            <a:off x="8180706" y="2167128"/>
            <a:ext cx="838382" cy="32918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Wᵀ</a:t>
            </a:r>
            <a:endParaRPr lang="en-US" sz="700" dirty="0"/>
          </a:p>
        </p:txBody>
      </p:sp>
      <p:sp>
        <p:nvSpPr>
          <p:cNvPr id="96" name="Shape 94"/>
          <p:cNvSpPr/>
          <p:nvPr/>
        </p:nvSpPr>
        <p:spPr>
          <a:xfrm>
            <a:off x="9019089" y="2167128"/>
            <a:ext cx="419191" cy="329184"/>
          </a:xfrm>
          <a:prstGeom prst="rect">
            <a:avLst/>
          </a:prstGeom>
          <a:solidFill>
            <a:srgbClr val="ECE6FA"/>
          </a:solidFill>
          <a:ln w="12700">
            <a:solidFill>
              <a:srgbClr val="6C4FBF"/>
            </a:solidFill>
            <a:prstDash val="solid"/>
          </a:ln>
        </p:spPr>
      </p:sp>
      <p:sp>
        <p:nvSpPr>
          <p:cNvPr id="97" name="Text 95"/>
          <p:cNvSpPr txBox="1"/>
          <p:nvPr/>
        </p:nvSpPr>
        <p:spPr>
          <a:xfrm>
            <a:off x="9019089" y="2167128"/>
            <a:ext cx="419191" cy="32918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gv</a:t>
            </a:r>
            <a:endParaRPr lang="en-US" sz="700" dirty="0"/>
          </a:p>
        </p:txBody>
      </p:sp>
      <p:sp>
        <p:nvSpPr>
          <p:cNvPr id="98" name="Shape 96"/>
          <p:cNvSpPr/>
          <p:nvPr/>
        </p:nvSpPr>
        <p:spPr>
          <a:xfrm>
            <a:off x="9438280" y="2167128"/>
            <a:ext cx="614" cy="329184"/>
          </a:xfrm>
          <a:prstGeom prst="rect">
            <a:avLst/>
          </a:prstGeom>
          <a:solidFill>
            <a:srgbClr val="EEF2F6"/>
          </a:solidFill>
          <a:ln w="12700">
            <a:solidFill>
              <a:srgbClr val="C9D3DF"/>
            </a:solidFill>
            <a:prstDash val="solid"/>
          </a:ln>
        </p:spPr>
      </p:sp>
      <p:sp>
        <p:nvSpPr>
          <p:cNvPr id="99" name="Text 97"/>
          <p:cNvSpPr txBox="1"/>
          <p:nvPr/>
        </p:nvSpPr>
        <p:spPr>
          <a:xfrm>
            <a:off x="7335774" y="2523744"/>
            <a:ext cx="2103120" cy="182880"/>
          </a:xfrm>
          <a:prstGeom prst="rect">
            <a:avLst/>
          </a:prstGeom>
          <a:noFill/>
          <a:ln/>
        </p:spPr>
        <p:txBody>
          <a:bodyPr wrap="square" lIns="0" tIns="0" rIns="0" bIns="0" rtlCol="0" anchor="t"/>
          <a:lstStyle/>
          <a:p>
            <a:pPr algn="l" indent="0" marL="0">
              <a:buNone/>
            </a:pPr>
            <a:r>
              <a:rPr lang="en-US" sz="550" dirty="0">
                <a:solidFill>
                  <a:srgbClr val="5B6B7F"/>
                </a:solidFill>
                <a:latin typeface="Courier New" pitchFamily="34" charset="0"/>
                <a:ea typeface="Courier New" pitchFamily="34" charset="-122"/>
                <a:cs typeface="Courier New" pitchFamily="34" charset="-120"/>
              </a:rPr>
              <a:t>0        16,384      32,896   41,088</a:t>
            </a:r>
            <a:endParaRPr lang="en-US" sz="550" dirty="0"/>
          </a:p>
        </p:txBody>
      </p:sp>
      <p:sp>
        <p:nvSpPr>
          <p:cNvPr id="100" name="Text 98"/>
          <p:cNvSpPr txBox="1"/>
          <p:nvPr/>
        </p:nvSpPr>
        <p:spPr>
          <a:xfrm>
            <a:off x="7335774" y="2788920"/>
            <a:ext cx="2103120" cy="182880"/>
          </a:xfrm>
          <a:prstGeom prst="rect">
            <a:avLst/>
          </a:prstGeom>
          <a:noFill/>
          <a:ln/>
        </p:spPr>
        <p:txBody>
          <a:bodyPr wrap="square" lIns="0" tIns="0" rIns="0" bIns="0" rtlCol="0" anchor="t"/>
          <a:lstStyle/>
          <a:p>
            <a:pPr algn="l" indent="0" marL="0">
              <a:buNone/>
            </a:pPr>
            <a:r>
              <a:rPr lang="en-US" sz="700" b="1" dirty="0">
                <a:solidFill>
                  <a:srgbClr val="1F8A8A"/>
                </a:solidFill>
                <a:latin typeface="Malgun Gothic" pitchFamily="34" charset="0"/>
                <a:ea typeface="Malgun Gothic" pitchFamily="34" charset="-122"/>
                <a:cs typeface="Malgun Gothic" pitchFamily="34" charset="-120"/>
              </a:rPr>
              <a:t>SRAM: USMP offset 공유 (nibble)</a:t>
            </a:r>
            <a:endParaRPr lang="en-US" sz="700" dirty="0"/>
          </a:p>
        </p:txBody>
      </p:sp>
      <p:sp>
        <p:nvSpPr>
          <p:cNvPr id="101" name="Shape 99"/>
          <p:cNvSpPr/>
          <p:nvPr/>
        </p:nvSpPr>
        <p:spPr>
          <a:xfrm>
            <a:off x="7335774" y="2990088"/>
            <a:ext cx="2103120" cy="329184"/>
          </a:xfrm>
          <a:prstGeom prst="rect">
            <a:avLst/>
          </a:prstGeom>
          <a:solidFill>
            <a:srgbClr val="EEF2F6"/>
          </a:solidFill>
          <a:ln w="9525">
            <a:solidFill>
              <a:srgbClr val="C9D3DF"/>
            </a:solidFill>
            <a:prstDash val="solid"/>
          </a:ln>
        </p:spPr>
      </p:sp>
      <p:sp>
        <p:nvSpPr>
          <p:cNvPr id="102" name="Shape 100"/>
          <p:cNvSpPr/>
          <p:nvPr/>
        </p:nvSpPr>
        <p:spPr>
          <a:xfrm>
            <a:off x="7335774" y="2990088"/>
            <a:ext cx="420624" cy="329184"/>
          </a:xfrm>
          <a:prstGeom prst="rect">
            <a:avLst/>
          </a:prstGeom>
          <a:solidFill>
            <a:srgbClr val="ECE6FA"/>
          </a:solidFill>
          <a:ln w="12700">
            <a:solidFill>
              <a:srgbClr val="6C4FBF"/>
            </a:solidFill>
            <a:prstDash val="solid"/>
          </a:ln>
        </p:spPr>
      </p:sp>
      <p:sp>
        <p:nvSpPr>
          <p:cNvPr id="103" name="Text 101"/>
          <p:cNvSpPr txBox="1"/>
          <p:nvPr/>
        </p:nvSpPr>
        <p:spPr>
          <a:xfrm>
            <a:off x="7335774" y="2990088"/>
            <a:ext cx="420624" cy="329184"/>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acc</a:t>
            </a:r>
            <a:endParaRPr lang="en-US" sz="600" dirty="0"/>
          </a:p>
        </p:txBody>
      </p:sp>
      <p:sp>
        <p:nvSpPr>
          <p:cNvPr id="104" name="Shape 102"/>
          <p:cNvSpPr/>
          <p:nvPr/>
        </p:nvSpPr>
        <p:spPr>
          <a:xfrm>
            <a:off x="7756398" y="2990088"/>
            <a:ext cx="841248" cy="329184"/>
          </a:xfrm>
          <a:prstGeom prst="rect">
            <a:avLst/>
          </a:prstGeom>
          <a:solidFill>
            <a:srgbClr val="DDF3F0"/>
          </a:solidFill>
          <a:ln w="12700">
            <a:solidFill>
              <a:srgbClr val="1F8A8A"/>
            </a:solidFill>
            <a:prstDash val="solid"/>
          </a:ln>
        </p:spPr>
      </p:sp>
      <p:sp>
        <p:nvSpPr>
          <p:cNvPr id="105" name="Text 103"/>
          <p:cNvSpPr txBox="1"/>
          <p:nvPr/>
        </p:nvSpPr>
        <p:spPr>
          <a:xfrm>
            <a:off x="7756398" y="2990088"/>
            <a:ext cx="841248" cy="329184"/>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A / Wᵀ panel</a:t>
            </a:r>
            <a:endParaRPr lang="en-US" sz="600" dirty="0"/>
          </a:p>
        </p:txBody>
      </p:sp>
      <p:sp>
        <p:nvSpPr>
          <p:cNvPr id="106" name="Shape 104"/>
          <p:cNvSpPr/>
          <p:nvPr/>
        </p:nvSpPr>
        <p:spPr>
          <a:xfrm>
            <a:off x="8597646" y="2990088"/>
            <a:ext cx="841248" cy="329184"/>
          </a:xfrm>
          <a:prstGeom prst="rect">
            <a:avLst/>
          </a:prstGeom>
          <a:solidFill>
            <a:srgbClr val="DDF3F0"/>
          </a:solidFill>
          <a:ln w="12700">
            <a:solidFill>
              <a:srgbClr val="1F8A8A"/>
            </a:solidFill>
            <a:prstDash val="solid"/>
          </a:ln>
        </p:spPr>
      </p:sp>
      <p:sp>
        <p:nvSpPr>
          <p:cNvPr id="107" name="Text 105"/>
          <p:cNvSpPr txBox="1"/>
          <p:nvPr/>
        </p:nvSpPr>
        <p:spPr>
          <a:xfrm>
            <a:off x="8597646" y="2990088"/>
            <a:ext cx="841248" cy="329184"/>
          </a:xfrm>
          <a:prstGeom prst="rect">
            <a:avLst/>
          </a:prstGeom>
          <a:noFill/>
          <a:ln/>
        </p:spPr>
        <p:txBody>
          <a:bodyPr wrap="square" lIns="0" tIns="0" rIns="0" bIns="0" rtlCol="0" anchor="ctr"/>
          <a:lstStyle/>
          <a:p>
            <a:pPr algn="ctr" indent="0" marL="0">
              <a:buNone/>
            </a:pPr>
            <a:r>
              <a:rPr lang="en-US" sz="600" b="1" dirty="0">
                <a:solidFill>
                  <a:srgbClr val="1F2D3D"/>
                </a:solidFill>
                <a:latin typeface="Malgun Gothic" pitchFamily="34" charset="0"/>
                <a:ea typeface="Malgun Gothic" pitchFamily="34" charset="-122"/>
                <a:cs typeface="Malgun Gothic" pitchFamily="34" charset="-120"/>
              </a:rPr>
              <a:t>σ · bias / X panel</a:t>
            </a:r>
            <a:endParaRPr lang="en-US" sz="600" dirty="0"/>
          </a:p>
        </p:txBody>
      </p:sp>
      <p:sp>
        <p:nvSpPr>
          <p:cNvPr id="108" name="Text 106"/>
          <p:cNvSpPr txBox="1"/>
          <p:nvPr/>
        </p:nvSpPr>
        <p:spPr>
          <a:xfrm>
            <a:off x="7335774" y="3346704"/>
            <a:ext cx="2103120" cy="27432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peak 150,808 → 85,016 nib (bump vs greedy)</a:t>
            </a:r>
            <a:endParaRPr lang="en-US" sz="650" dirty="0"/>
          </a:p>
        </p:txBody>
      </p:sp>
      <p:sp>
        <p:nvSpPr>
          <p:cNvPr id="109" name="Text 107"/>
          <p:cNvSpPr txBox="1"/>
          <p:nvPr/>
        </p:nvSpPr>
        <p:spPr>
          <a:xfrm>
            <a:off x="7335774" y="3675888"/>
            <a:ext cx="2103120" cy="182880"/>
          </a:xfrm>
          <a:prstGeom prst="rect">
            <a:avLst/>
          </a:prstGeom>
          <a:noFill/>
          <a:ln/>
        </p:spPr>
        <p:txBody>
          <a:bodyPr wrap="square" lIns="0" tIns="0" rIns="0" bIns="0" rtlCol="0" anchor="t"/>
          <a:lstStyle/>
          <a:p>
            <a:pPr algn="l" indent="0" marL="0">
              <a:buNone/>
            </a:pPr>
            <a:r>
              <a:rPr lang="en-US" sz="700" b="1" dirty="0">
                <a:solidFill>
                  <a:srgbClr val="B7791F"/>
                </a:solidFill>
                <a:latin typeface="Malgun Gothic" pitchFamily="34" charset="0"/>
                <a:ea typeface="Malgun Gothic" pitchFamily="34" charset="-122"/>
                <a:cs typeface="Malgun Gothic" pitchFamily="34" charset="-120"/>
              </a:rPr>
              <a:t>커널 사이 보관 (두 matmul, 44 KiB)</a:t>
            </a:r>
            <a:endParaRPr lang="en-US" sz="700" dirty="0"/>
          </a:p>
        </p:txBody>
      </p:sp>
      <p:sp>
        <p:nvSpPr>
          <p:cNvPr id="110" name="Shape 108"/>
          <p:cNvSpPr/>
          <p:nvPr/>
        </p:nvSpPr>
        <p:spPr>
          <a:xfrm>
            <a:off x="7335774" y="3877056"/>
            <a:ext cx="2103120" cy="329184"/>
          </a:xfrm>
          <a:prstGeom prst="rect">
            <a:avLst/>
          </a:prstGeom>
          <a:solidFill>
            <a:srgbClr val="EEF2F6"/>
          </a:solidFill>
          <a:ln w="9525">
            <a:solidFill>
              <a:srgbClr val="C9D3DF"/>
            </a:solidFill>
            <a:prstDash val="solid"/>
          </a:ln>
        </p:spPr>
      </p:sp>
      <p:sp>
        <p:nvSpPr>
          <p:cNvPr id="111" name="Shape 109"/>
          <p:cNvSpPr/>
          <p:nvPr/>
        </p:nvSpPr>
        <p:spPr>
          <a:xfrm>
            <a:off x="7335774" y="3877056"/>
            <a:ext cx="72257" cy="329184"/>
          </a:xfrm>
          <a:prstGeom prst="rect">
            <a:avLst/>
          </a:prstGeom>
          <a:solidFill>
            <a:srgbClr val="EEF1F5"/>
          </a:solidFill>
          <a:ln w="12700">
            <a:solidFill>
              <a:srgbClr val="5B6B7F"/>
            </a:solidFill>
            <a:prstDash val="solid"/>
          </a:ln>
        </p:spPr>
      </p:sp>
      <p:sp>
        <p:nvSpPr>
          <p:cNvPr id="112" name="Shape 110"/>
          <p:cNvSpPr/>
          <p:nvPr/>
        </p:nvSpPr>
        <p:spPr>
          <a:xfrm>
            <a:off x="7408031" y="3877056"/>
            <a:ext cx="382385" cy="329184"/>
          </a:xfrm>
          <a:prstGeom prst="rect">
            <a:avLst/>
          </a:prstGeom>
          <a:solidFill>
            <a:srgbClr val="DDF3F0"/>
          </a:solidFill>
          <a:ln w="12700">
            <a:solidFill>
              <a:srgbClr val="1F8A8A"/>
            </a:solidFill>
            <a:prstDash val="solid"/>
          </a:ln>
        </p:spPr>
      </p:sp>
      <p:sp>
        <p:nvSpPr>
          <p:cNvPr id="113" name="Text 111"/>
          <p:cNvSpPr txBox="1"/>
          <p:nvPr/>
        </p:nvSpPr>
        <p:spPr>
          <a:xfrm>
            <a:off x="7408031" y="3877056"/>
            <a:ext cx="382385" cy="329184"/>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X→Y</a:t>
            </a:r>
            <a:endParaRPr lang="en-US" sz="650" dirty="0"/>
          </a:p>
        </p:txBody>
      </p:sp>
      <p:sp>
        <p:nvSpPr>
          <p:cNvPr id="114" name="Shape 112"/>
          <p:cNvSpPr/>
          <p:nvPr/>
        </p:nvSpPr>
        <p:spPr>
          <a:xfrm>
            <a:off x="7790417" y="3877056"/>
            <a:ext cx="764771" cy="329184"/>
          </a:xfrm>
          <a:prstGeom prst="rect">
            <a:avLst/>
          </a:prstGeom>
          <a:solidFill>
            <a:srgbClr val="FFF1DC"/>
          </a:solidFill>
          <a:ln w="12700">
            <a:solidFill>
              <a:srgbClr val="D98A1E"/>
            </a:solidFill>
            <a:prstDash val="solid"/>
          </a:ln>
        </p:spPr>
      </p:sp>
      <p:sp>
        <p:nvSpPr>
          <p:cNvPr id="115" name="Text 113"/>
          <p:cNvSpPr txBox="1"/>
          <p:nvPr/>
        </p:nvSpPr>
        <p:spPr>
          <a:xfrm>
            <a:off x="7790417" y="3877056"/>
            <a:ext cx="764771" cy="329184"/>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W1→W2</a:t>
            </a:r>
            <a:endParaRPr lang="en-US" sz="650" dirty="0"/>
          </a:p>
        </p:txBody>
      </p:sp>
      <p:sp>
        <p:nvSpPr>
          <p:cNvPr id="116" name="Shape 114"/>
          <p:cNvSpPr/>
          <p:nvPr/>
        </p:nvSpPr>
        <p:spPr>
          <a:xfrm>
            <a:off x="8555188" y="3877056"/>
            <a:ext cx="764771" cy="329184"/>
          </a:xfrm>
          <a:prstGeom prst="rect">
            <a:avLst/>
          </a:prstGeom>
          <a:solidFill>
            <a:srgbClr val="FFF6DB"/>
          </a:solidFill>
          <a:ln w="12700">
            <a:solidFill>
              <a:srgbClr val="B7791F"/>
            </a:solidFill>
            <a:prstDash val="solid"/>
          </a:ln>
        </p:spPr>
      </p:sp>
      <p:sp>
        <p:nvSpPr>
          <p:cNvPr id="117" name="Text 115"/>
          <p:cNvSpPr txBox="1"/>
          <p:nvPr/>
        </p:nvSpPr>
        <p:spPr>
          <a:xfrm>
            <a:off x="8555188" y="3877056"/>
            <a:ext cx="764771" cy="329184"/>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H 보관</a:t>
            </a:r>
            <a:endParaRPr lang="en-US" sz="650" dirty="0"/>
          </a:p>
        </p:txBody>
      </p:sp>
      <p:sp>
        <p:nvSpPr>
          <p:cNvPr id="118" name="Text 116"/>
          <p:cNvSpPr txBox="1"/>
          <p:nvPr/>
        </p:nvSpPr>
        <p:spPr>
          <a:xfrm>
            <a:off x="7335774" y="4233672"/>
            <a:ext cx="2103120" cy="82296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H를 DRAM에 쓰지 않고 다음 matmul이 직접 읽음 → DMA 81,932 → 49,164 B, 미사용 DRAM pool 제거 (image 65,548 → 49,164 B)</a:t>
            </a:r>
            <a:endParaRPr lang="en-US" sz="650" dirty="0"/>
          </a:p>
        </p:txBody>
      </p:sp>
      <p:sp>
        <p:nvSpPr>
          <p:cNvPr id="119" name="Text 117"/>
          <p:cNvSpPr txBox="1"/>
          <p:nvPr/>
        </p:nvSpPr>
        <p:spPr>
          <a:xfrm>
            <a:off x="9628632" y="1965960"/>
            <a:ext cx="2103120" cy="182880"/>
          </a:xfrm>
          <a:prstGeom prst="rect">
            <a:avLst/>
          </a:prstGeom>
          <a:noFill/>
          <a:ln/>
        </p:spPr>
        <p:txBody>
          <a:bodyPr wrap="square" lIns="0" tIns="0" rIns="0" bIns="0" rtlCol="0" anchor="t"/>
          <a:lstStyle/>
          <a:p>
            <a:pPr algn="l" indent="0" marL="0">
              <a:buNone/>
            </a:pPr>
            <a:r>
              <a:rPr lang="en-US" sz="700" b="1" dirty="0">
                <a:solidFill>
                  <a:srgbClr val="6C4FBF"/>
                </a:solidFill>
                <a:latin typeface="Malgun Gothic" pitchFamily="34" charset="0"/>
                <a:ea typeface="Malgun Gothic" pitchFamily="34" charset="-122"/>
                <a:cs typeface="Malgun Gothic" pitchFamily="34" charset="-120"/>
              </a:rPr>
              <a:t>명령 stream 1,577 words (정적 전개)</a:t>
            </a:r>
            <a:endParaRPr lang="en-US" sz="700" dirty="0"/>
          </a:p>
        </p:txBody>
      </p:sp>
      <p:sp>
        <p:nvSpPr>
          <p:cNvPr id="120" name="Shape 118"/>
          <p:cNvSpPr/>
          <p:nvPr/>
        </p:nvSpPr>
        <p:spPr>
          <a:xfrm>
            <a:off x="9628632" y="2167128"/>
            <a:ext cx="231536" cy="329184"/>
          </a:xfrm>
          <a:prstGeom prst="rect">
            <a:avLst/>
          </a:prstGeom>
          <a:solidFill>
            <a:srgbClr val="FFF1DC"/>
          </a:solidFill>
          <a:ln w="6350">
            <a:solidFill>
              <a:srgbClr val="D98A1E"/>
            </a:solidFill>
            <a:prstDash val="solid"/>
          </a:ln>
        </p:spPr>
      </p:sp>
      <p:sp>
        <p:nvSpPr>
          <p:cNvPr id="121" name="Text 119"/>
          <p:cNvSpPr txBox="1"/>
          <p:nvPr/>
        </p:nvSpPr>
        <p:spPr>
          <a:xfrm>
            <a:off x="9628632" y="2167128"/>
            <a:ext cx="231536" cy="329184"/>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GLOAD</a:t>
            </a:r>
            <a:endParaRPr lang="en-US" sz="600" dirty="0"/>
          </a:p>
        </p:txBody>
      </p:sp>
      <p:sp>
        <p:nvSpPr>
          <p:cNvPr id="122" name="Shape 120"/>
          <p:cNvSpPr/>
          <p:nvPr/>
        </p:nvSpPr>
        <p:spPr>
          <a:xfrm>
            <a:off x="9860168" y="2167128"/>
            <a:ext cx="385894" cy="329184"/>
          </a:xfrm>
          <a:prstGeom prst="rect">
            <a:avLst/>
          </a:prstGeom>
          <a:solidFill>
            <a:srgbClr val="E3EEFB"/>
          </a:solidFill>
          <a:ln w="6350">
            <a:solidFill>
              <a:srgbClr val="2F6DB5"/>
            </a:solidFill>
            <a:prstDash val="solid"/>
          </a:ln>
        </p:spPr>
      </p:sp>
      <p:sp>
        <p:nvSpPr>
          <p:cNvPr id="123" name="Text 121"/>
          <p:cNvSpPr txBox="1"/>
          <p:nvPr/>
        </p:nvSpPr>
        <p:spPr>
          <a:xfrm>
            <a:off x="9860168" y="2167128"/>
            <a:ext cx="385894" cy="329184"/>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descriptor</a:t>
            </a:r>
            <a:endParaRPr lang="en-US" sz="600" dirty="0"/>
          </a:p>
        </p:txBody>
      </p:sp>
      <p:sp>
        <p:nvSpPr>
          <p:cNvPr id="124" name="Shape 122"/>
          <p:cNvSpPr/>
          <p:nvPr/>
        </p:nvSpPr>
        <p:spPr>
          <a:xfrm>
            <a:off x="10246062" y="2167128"/>
            <a:ext cx="38589" cy="329184"/>
          </a:xfrm>
          <a:prstGeom prst="rect">
            <a:avLst/>
          </a:prstGeom>
          <a:solidFill>
            <a:srgbClr val="DDF3F0"/>
          </a:solidFill>
          <a:ln w="6350">
            <a:solidFill>
              <a:srgbClr val="1F8A8A"/>
            </a:solidFill>
            <a:prstDash val="solid"/>
          </a:ln>
        </p:spPr>
      </p:sp>
      <p:sp>
        <p:nvSpPr>
          <p:cNvPr id="125" name="Shape 123"/>
          <p:cNvSpPr/>
          <p:nvPr/>
        </p:nvSpPr>
        <p:spPr>
          <a:xfrm>
            <a:off x="10284651" y="2167128"/>
            <a:ext cx="19295" cy="329184"/>
          </a:xfrm>
          <a:prstGeom prst="rect">
            <a:avLst/>
          </a:prstGeom>
          <a:solidFill>
            <a:srgbClr val="ECE6FA"/>
          </a:solidFill>
          <a:ln w="6350">
            <a:solidFill>
              <a:srgbClr val="6C4FBF"/>
            </a:solidFill>
            <a:prstDash val="solid"/>
          </a:ln>
        </p:spPr>
      </p:sp>
      <p:sp>
        <p:nvSpPr>
          <p:cNvPr id="126" name="Shape 124"/>
          <p:cNvSpPr/>
          <p:nvPr/>
        </p:nvSpPr>
        <p:spPr>
          <a:xfrm>
            <a:off x="10303946" y="2167128"/>
            <a:ext cx="154357" cy="329184"/>
          </a:xfrm>
          <a:prstGeom prst="rect">
            <a:avLst/>
          </a:prstGeom>
          <a:solidFill>
            <a:srgbClr val="E3EEFB"/>
          </a:solidFill>
          <a:ln w="6350">
            <a:solidFill>
              <a:srgbClr val="2F6DB5"/>
            </a:solidFill>
            <a:prstDash val="solid"/>
          </a:ln>
        </p:spPr>
      </p:sp>
      <p:sp>
        <p:nvSpPr>
          <p:cNvPr id="127" name="Shape 125"/>
          <p:cNvSpPr/>
          <p:nvPr/>
        </p:nvSpPr>
        <p:spPr>
          <a:xfrm>
            <a:off x="10458303" y="2167128"/>
            <a:ext cx="19295" cy="329184"/>
          </a:xfrm>
          <a:prstGeom prst="rect">
            <a:avLst/>
          </a:prstGeom>
          <a:solidFill>
            <a:srgbClr val="ECE6FA"/>
          </a:solidFill>
          <a:ln w="6350">
            <a:solidFill>
              <a:srgbClr val="6C4FBF"/>
            </a:solidFill>
            <a:prstDash val="solid"/>
          </a:ln>
        </p:spPr>
      </p:sp>
      <p:sp>
        <p:nvSpPr>
          <p:cNvPr id="128" name="Shape 126"/>
          <p:cNvSpPr/>
          <p:nvPr/>
        </p:nvSpPr>
        <p:spPr>
          <a:xfrm>
            <a:off x="10477598" y="2167128"/>
            <a:ext cx="1157681" cy="329184"/>
          </a:xfrm>
          <a:prstGeom prst="rect">
            <a:avLst/>
          </a:prstGeom>
          <a:solidFill>
            <a:srgbClr val="DDF3F0"/>
          </a:solidFill>
          <a:ln w="6350">
            <a:solidFill>
              <a:srgbClr val="1F8A8A"/>
            </a:solidFill>
            <a:prstDash val="solid"/>
          </a:ln>
        </p:spPr>
      </p:sp>
      <p:sp>
        <p:nvSpPr>
          <p:cNvPr id="129" name="Text 127"/>
          <p:cNvSpPr txBox="1"/>
          <p:nvPr/>
        </p:nvSpPr>
        <p:spPr>
          <a:xfrm>
            <a:off x="10477598" y="2167128"/>
            <a:ext cx="1157681" cy="329184"/>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vector: bias·SiLU (LOAD/op/SAVE ×…)</a:t>
            </a:r>
            <a:endParaRPr lang="en-US" sz="600" dirty="0"/>
          </a:p>
        </p:txBody>
      </p:sp>
      <p:sp>
        <p:nvSpPr>
          <p:cNvPr id="130" name="Shape 128"/>
          <p:cNvSpPr/>
          <p:nvPr/>
        </p:nvSpPr>
        <p:spPr>
          <a:xfrm>
            <a:off x="11635279" y="2167128"/>
            <a:ext cx="77179" cy="329184"/>
          </a:xfrm>
          <a:prstGeom prst="rect">
            <a:avLst/>
          </a:prstGeom>
          <a:solidFill>
            <a:srgbClr val="FFF1DC"/>
          </a:solidFill>
          <a:ln w="6350">
            <a:solidFill>
              <a:srgbClr val="D98A1E"/>
            </a:solidFill>
            <a:prstDash val="solid"/>
          </a:ln>
        </p:spPr>
      </p:sp>
      <p:sp>
        <p:nvSpPr>
          <p:cNvPr id="131" name="Shape 129"/>
          <p:cNvSpPr/>
          <p:nvPr/>
        </p:nvSpPr>
        <p:spPr>
          <a:xfrm>
            <a:off x="11712457" y="2167128"/>
            <a:ext cx="19295" cy="329184"/>
          </a:xfrm>
          <a:prstGeom prst="rect">
            <a:avLst/>
          </a:prstGeom>
          <a:solidFill>
            <a:srgbClr val="FBE9E7"/>
          </a:solidFill>
          <a:ln w="6350">
            <a:solidFill>
              <a:srgbClr val="C0392B"/>
            </a:solidFill>
            <a:prstDash val="solid"/>
          </a:ln>
        </p:spPr>
      </p:sp>
      <p:sp>
        <p:nvSpPr>
          <p:cNvPr id="132" name="Text 130"/>
          <p:cNvSpPr txBox="1"/>
          <p:nvPr/>
        </p:nvSpPr>
        <p:spPr>
          <a:xfrm>
            <a:off x="9628632" y="2523744"/>
            <a:ext cx="2103120" cy="27432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loop·branch 없음 · DMA packet 4 words</a:t>
            </a:r>
            <a:endParaRPr lang="en-US" sz="650" dirty="0"/>
          </a:p>
        </p:txBody>
      </p:sp>
      <p:sp>
        <p:nvSpPr>
          <p:cNvPr id="133" name="Shape 131"/>
          <p:cNvSpPr/>
          <p:nvPr/>
        </p:nvSpPr>
        <p:spPr>
          <a:xfrm>
            <a:off x="9628632" y="2852928"/>
            <a:ext cx="2103120" cy="384048"/>
          </a:xfrm>
          <a:prstGeom prst="roundRect">
            <a:avLst>
              <a:gd name="adj" fmla="val 14286"/>
            </a:avLst>
          </a:prstGeom>
          <a:solidFill>
            <a:srgbClr val="EEF1F5"/>
          </a:solidFill>
          <a:ln w="12700">
            <a:solidFill>
              <a:srgbClr val="5B6B7F"/>
            </a:solidFill>
            <a:prstDash val="solid"/>
          </a:ln>
        </p:spPr>
      </p:sp>
      <p:sp>
        <p:nvSpPr>
          <p:cNvPr id="134" name="Text 132"/>
          <p:cNvSpPr txBox="1"/>
          <p:nvPr/>
        </p:nvSpPr>
        <p:spPr>
          <a:xfrm>
            <a:off x="9683496" y="2889504"/>
            <a:ext cx="1993392"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program_memory.bin + global_memory.bin</a:t>
            </a:r>
            <a:endParaRPr lang="en-US" sz="700" dirty="0"/>
          </a:p>
        </p:txBody>
      </p:sp>
      <p:sp>
        <p:nvSpPr>
          <p:cNvPr id="135" name="Shape 133"/>
          <p:cNvSpPr/>
          <p:nvPr/>
        </p:nvSpPr>
        <p:spPr>
          <a:xfrm>
            <a:off x="10680192" y="3236976"/>
            <a:ext cx="914" cy="201168"/>
          </a:xfrm>
          <a:prstGeom prst="line">
            <a:avLst/>
          </a:prstGeom>
          <a:noFill/>
          <a:ln w="12700">
            <a:solidFill>
              <a:srgbClr val="5B6B7F"/>
            </a:solidFill>
            <a:prstDash val="solid"/>
            <a:tailEnd type="triangle"/>
          </a:ln>
        </p:spPr>
      </p:sp>
      <p:sp>
        <p:nvSpPr>
          <p:cNvPr id="136" name="Shape 134"/>
          <p:cNvSpPr/>
          <p:nvPr/>
        </p:nvSpPr>
        <p:spPr>
          <a:xfrm>
            <a:off x="9628632" y="3456432"/>
            <a:ext cx="2103120" cy="384048"/>
          </a:xfrm>
          <a:prstGeom prst="roundRect">
            <a:avLst>
              <a:gd name="adj" fmla="val 14286"/>
            </a:avLst>
          </a:prstGeom>
          <a:solidFill>
            <a:srgbClr val="ECE6FA"/>
          </a:solidFill>
          <a:ln w="12700">
            <a:solidFill>
              <a:srgbClr val="6C4FBF"/>
            </a:solidFill>
            <a:prstDash val="solid"/>
          </a:ln>
        </p:spPr>
      </p:sp>
      <p:sp>
        <p:nvSpPr>
          <p:cNvPr id="137" name="Text 135"/>
          <p:cNvSpPr txBox="1"/>
          <p:nvPr/>
        </p:nvSpPr>
        <p:spPr>
          <a:xfrm>
            <a:off x="9683496" y="3493008"/>
            <a:ext cx="1993392" cy="310896"/>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C-model 실행 (mysim_v09)</a:t>
            </a:r>
            <a:endParaRPr lang="en-US" sz="750" dirty="0"/>
          </a:p>
        </p:txBody>
      </p:sp>
      <p:sp>
        <p:nvSpPr>
          <p:cNvPr id="138" name="Shape 136"/>
          <p:cNvSpPr/>
          <p:nvPr/>
        </p:nvSpPr>
        <p:spPr>
          <a:xfrm>
            <a:off x="10680192" y="3840480"/>
            <a:ext cx="914" cy="201168"/>
          </a:xfrm>
          <a:prstGeom prst="line">
            <a:avLst/>
          </a:prstGeom>
          <a:noFill/>
          <a:ln w="12700">
            <a:solidFill>
              <a:srgbClr val="5B6B7F"/>
            </a:solidFill>
            <a:prstDash val="solid"/>
            <a:tailEnd type="triangle"/>
          </a:ln>
        </p:spPr>
      </p:sp>
      <p:sp>
        <p:nvSpPr>
          <p:cNvPr id="139" name="Shape 137"/>
          <p:cNvSpPr/>
          <p:nvPr/>
        </p:nvSpPr>
        <p:spPr>
          <a:xfrm>
            <a:off x="9628632" y="4059936"/>
            <a:ext cx="2103120" cy="384048"/>
          </a:xfrm>
          <a:prstGeom prst="roundRect">
            <a:avLst>
              <a:gd name="adj" fmla="val 14286"/>
            </a:avLst>
          </a:prstGeom>
          <a:solidFill>
            <a:srgbClr val="E5F3E7"/>
          </a:solidFill>
          <a:ln w="12700">
            <a:solidFill>
              <a:srgbClr val="2E7D32"/>
            </a:solidFill>
            <a:prstDash val="solid"/>
          </a:ln>
        </p:spPr>
      </p:sp>
      <p:sp>
        <p:nvSpPr>
          <p:cNvPr id="140" name="Text 138"/>
          <p:cNvSpPr txBox="1"/>
          <p:nvPr/>
        </p:nvSpPr>
        <p:spPr>
          <a:xfrm>
            <a:off x="9683496" y="4096512"/>
            <a:ext cx="1993392" cy="310896"/>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saved image → 출력 offset 32,896 [64,64]</a:t>
            </a:r>
            <a:endParaRPr lang="en-US" sz="700" dirty="0"/>
          </a:p>
        </p:txBody>
      </p:sp>
      <p:sp>
        <p:nvSpPr>
          <p:cNvPr id="141" name="Text 139"/>
          <p:cNvSpPr txBox="1"/>
          <p:nvPr/>
        </p:nvSpPr>
        <p:spPr>
          <a:xfrm>
            <a:off x="9628632" y="4480560"/>
            <a:ext cx="2103120" cy="59436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DMA 41,100 B · SRAM peak 42,508 B · LLVM reference(K=64 grouping)와 최대 절대차 0 · fused/unfused bit-exact</a:t>
            </a:r>
            <a:endParaRPr lang="en-US" sz="650" dirty="0"/>
          </a:p>
        </p:txBody>
      </p:sp>
      <p:sp>
        <p:nvSpPr>
          <p:cNvPr id="142" name="Shape 140"/>
          <p:cNvSpPr/>
          <p:nvPr/>
        </p:nvSpPr>
        <p:spPr>
          <a:xfrm>
            <a:off x="10680192" y="5120640"/>
            <a:ext cx="914" cy="228600"/>
          </a:xfrm>
          <a:prstGeom prst="line">
            <a:avLst/>
          </a:prstGeom>
          <a:noFill/>
          <a:ln w="19050">
            <a:solidFill>
              <a:srgbClr val="B7791F"/>
            </a:solidFill>
            <a:prstDash val="dash"/>
          </a:ln>
        </p:spPr>
      </p:sp>
      <p:sp>
        <p:nvSpPr>
          <p:cNvPr id="143" name="Shape 141"/>
          <p:cNvSpPr/>
          <p:nvPr/>
        </p:nvSpPr>
        <p:spPr>
          <a:xfrm flipH="1">
            <a:off x="6094476" y="5349240"/>
            <a:ext cx="4585716" cy="914"/>
          </a:xfrm>
          <a:prstGeom prst="line">
            <a:avLst/>
          </a:prstGeom>
          <a:noFill/>
          <a:ln w="19050">
            <a:solidFill>
              <a:srgbClr val="B7791F"/>
            </a:solidFill>
            <a:prstDash val="dash"/>
          </a:ln>
        </p:spPr>
      </p:sp>
      <p:sp>
        <p:nvSpPr>
          <p:cNvPr id="144" name="Shape 142"/>
          <p:cNvSpPr/>
          <p:nvPr/>
        </p:nvSpPr>
        <p:spPr>
          <a:xfrm flipV="1">
            <a:off x="6094476" y="5120640"/>
            <a:ext cx="914" cy="228600"/>
          </a:xfrm>
          <a:prstGeom prst="line">
            <a:avLst/>
          </a:prstGeom>
          <a:noFill/>
          <a:ln w="19050">
            <a:solidFill>
              <a:srgbClr val="B7791F"/>
            </a:solidFill>
            <a:prstDash val="dash"/>
            <a:tailEnd type="triangle"/>
          </a:ln>
        </p:spPr>
      </p:sp>
      <p:sp>
        <p:nvSpPr>
          <p:cNvPr id="145" name="Text 143"/>
          <p:cNvSpPr txBox="1"/>
          <p:nvPr/>
        </p:nvSpPr>
        <p:spPr>
          <a:xfrm>
            <a:off x="6277356" y="5394960"/>
            <a:ext cx="4572000" cy="274320"/>
          </a:xfrm>
          <a:prstGeom prst="rect">
            <a:avLst/>
          </a:prstGeom>
          <a:noFill/>
          <a:ln/>
        </p:spPr>
        <p:txBody>
          <a:bodyPr wrap="square" lIns="0" tIns="0" rIns="0" bIns="0" rtlCol="0" anchor="t"/>
          <a:lstStyle/>
          <a:p>
            <a:pPr algn="l" indent="0" marL="0">
              <a:buNone/>
            </a:pPr>
            <a:r>
              <a:rPr lang="en-US" sz="800" b="1" dirty="0">
                <a:solidFill>
                  <a:srgbClr val="B7791F"/>
                </a:solidFill>
                <a:latin typeface="Malgun Gothic" pitchFamily="34" charset="0"/>
                <a:ea typeface="Malgun Gothic" pitchFamily="34" charset="-122"/>
                <a:cs typeface="Malgun Gothic" pitchFamily="34" charset="-120"/>
              </a:rPr>
              <a:t>비용 (DMA bytes, words, SRAM peak)으로 다음 후보 선택 — 기본 추가 탐색 120 s / None 해제 가능 · 요청 entry가 비악화일 때 채택</a:t>
            </a:r>
            <a:endParaRPr lang="en-US" sz="800" dirty="0"/>
          </a:p>
        </p:txBody>
      </p:sp>
      <p:sp>
        <p:nvSpPr>
          <p:cNvPr id="146" name="Shape 14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47" name="Text 14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"모델을 compile한다" = graph 선택 + schedule + 주소 배치 + 명령 생성. 실행은 그 뒤 별도 단계이며, 입력만 바꿔 같은 명령을 재사용합니다.</a:t>
            </a:r>
            <a:endParaRPr lang="en-US" sz="1250" dirty="0"/>
          </a:p>
        </p:txBody>
      </p:sp>
      <p:sp>
        <p:nvSpPr>
          <p:cNvPr id="148" name="Text 14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49" name="Text 14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docs/examples/pipeline (01~09), bundle/program.json; npu_target.build → npu_build.lower_and_select → npu_link.compile_program</a:t>
            </a:r>
            <a:endParaRPr lang="en-US" sz="850" dirty="0"/>
          </a:p>
        </p:txBody>
      </p:sp>
      <p:sp>
        <p:nvSpPr>
          <p:cNvPr id="150" name="Text 14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2 / 13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① 장치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장치: DRAM ↔ SRAM ↔ 연산장치, 데이터는 panel과 64×64 tile로 움직인다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weight는 DRAM에서 panel 단위로 SRAM에 올라오고(GLOAD), 64×64 tile이 연산장치로 들어가(LOAD) FP32 accumulator 한 개에서 K를 누산한 뒤 FP16으로 SRAM에 내려오며(SAVE), 결과가 DRAM으로 나갑니다(GSTORE).</a:t>
            </a:r>
            <a:endParaRPr lang="en-US" sz="1250" dirty="0"/>
          </a:p>
        </p:txBody>
      </p:sp>
      <p:sp>
        <p:nvSpPr>
          <p:cNvPr id="5" name="Text 3"/>
          <p:cNvSpPr txBox="1"/>
          <p:nvPr/>
        </p:nvSpPr>
        <p:spPr>
          <a:xfrm>
            <a:off x="457200" y="1417320"/>
            <a:ext cx="6766560" cy="219456"/>
          </a:xfrm>
          <a:prstGeom prst="rect">
            <a:avLst/>
          </a:prstGeom>
          <a:noFill/>
          <a:ln/>
        </p:spPr>
        <p:txBody>
          <a:bodyPr wrap="square" lIns="0" tIns="0" rIns="0" bIns="0" rtlCol="0" anchor="t"/>
          <a:lstStyle/>
          <a:p>
            <a:pPr algn="l" indent="0" marL="0">
              <a:buNone/>
            </a:pPr>
            <a:r>
              <a:rPr lang="en-US" sz="950" b="1" dirty="0">
                <a:solidFill>
                  <a:srgbClr val="D98A1E"/>
                </a:solidFill>
                <a:latin typeface="Malgun Gothic" pitchFamily="34" charset="0"/>
                <a:ea typeface="Malgun Gothic" pitchFamily="34" charset="-122"/>
                <a:cs typeface="Malgun Gothic" pitchFamily="34" charset="-120"/>
              </a:rPr>
              <a:t>DRAM / global image  (주소 단위: 32-bit cell = 4 B, DMA만 접근)</a:t>
            </a:r>
            <a:endParaRPr lang="en-US" sz="950" dirty="0"/>
          </a:p>
        </p:txBody>
      </p:sp>
      <p:sp>
        <p:nvSpPr>
          <p:cNvPr id="6" name="Shape 4"/>
          <p:cNvSpPr/>
          <p:nvPr/>
        </p:nvSpPr>
        <p:spPr>
          <a:xfrm>
            <a:off x="457200" y="1645920"/>
            <a:ext cx="6766560" cy="457200"/>
          </a:xfrm>
          <a:prstGeom prst="rect">
            <a:avLst/>
          </a:prstGeom>
          <a:solidFill>
            <a:srgbClr val="EEF2F6"/>
          </a:solidFill>
          <a:ln w="9525">
            <a:solidFill>
              <a:srgbClr val="C9D3DF"/>
            </a:solidFill>
            <a:prstDash val="solid"/>
          </a:ln>
        </p:spPr>
      </p:sp>
      <p:sp>
        <p:nvSpPr>
          <p:cNvPr id="7" name="Shape 5"/>
          <p:cNvSpPr/>
          <p:nvPr/>
        </p:nvSpPr>
        <p:spPr>
          <a:xfrm>
            <a:off x="457200" y="1645920"/>
            <a:ext cx="3518611" cy="457200"/>
          </a:xfrm>
          <a:prstGeom prst="rect">
            <a:avLst/>
          </a:prstGeom>
          <a:solidFill>
            <a:srgbClr val="FFF1DC"/>
          </a:solidFill>
          <a:ln w="12700">
            <a:solidFill>
              <a:srgbClr val="D98A1E"/>
            </a:solidFill>
            <a:prstDash val="solid"/>
          </a:ln>
        </p:spPr>
      </p:sp>
      <p:sp>
        <p:nvSpPr>
          <p:cNvPr id="8" name="Text 6"/>
          <p:cNvSpPr txBox="1"/>
          <p:nvPr/>
        </p:nvSpPr>
        <p:spPr>
          <a:xfrm>
            <a:off x="457200" y="1645920"/>
            <a:ext cx="3518611"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weight (Wᵀ, 층마다 192 MiB)</a:t>
            </a:r>
            <a:endParaRPr lang="en-US" sz="850" dirty="0"/>
          </a:p>
        </p:txBody>
      </p:sp>
      <p:sp>
        <p:nvSpPr>
          <p:cNvPr id="9" name="Text 7"/>
          <p:cNvSpPr txBox="1"/>
          <p:nvPr/>
        </p:nvSpPr>
        <p:spPr>
          <a:xfrm>
            <a:off x="457200" y="1874520"/>
            <a:ext cx="3518611"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panel 단위로 읽음</a:t>
            </a:r>
            <a:endParaRPr lang="en-US" sz="650" dirty="0"/>
          </a:p>
        </p:txBody>
      </p:sp>
      <p:sp>
        <p:nvSpPr>
          <p:cNvPr id="10" name="Shape 8"/>
          <p:cNvSpPr/>
          <p:nvPr/>
        </p:nvSpPr>
        <p:spPr>
          <a:xfrm>
            <a:off x="3975811" y="1645920"/>
            <a:ext cx="947318" cy="457200"/>
          </a:xfrm>
          <a:prstGeom prst="rect">
            <a:avLst/>
          </a:prstGeom>
          <a:solidFill>
            <a:srgbClr val="EEF1F5"/>
          </a:solidFill>
          <a:ln w="12700">
            <a:solidFill>
              <a:srgbClr val="5B6B7F"/>
            </a:solidFill>
            <a:prstDash val="solid"/>
          </a:ln>
        </p:spPr>
      </p:sp>
      <p:sp>
        <p:nvSpPr>
          <p:cNvPr id="11" name="Text 9"/>
          <p:cNvSpPr txBox="1"/>
          <p:nvPr/>
        </p:nvSpPr>
        <p:spPr>
          <a:xfrm>
            <a:off x="3975811" y="1645920"/>
            <a:ext cx="947318"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입력</a:t>
            </a:r>
            <a:endParaRPr lang="en-US" sz="850" dirty="0"/>
          </a:p>
        </p:txBody>
      </p:sp>
      <p:sp>
        <p:nvSpPr>
          <p:cNvPr id="12" name="Text 10"/>
          <p:cNvSpPr txBox="1"/>
          <p:nvPr/>
        </p:nvSpPr>
        <p:spPr>
          <a:xfrm>
            <a:off x="3975811" y="1874520"/>
            <a:ext cx="947318"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embeds·cos/sin·mask</a:t>
            </a:r>
            <a:endParaRPr lang="en-US" sz="650" dirty="0"/>
          </a:p>
        </p:txBody>
      </p:sp>
      <p:sp>
        <p:nvSpPr>
          <p:cNvPr id="13" name="Shape 11"/>
          <p:cNvSpPr/>
          <p:nvPr/>
        </p:nvSpPr>
        <p:spPr>
          <a:xfrm>
            <a:off x="4923130" y="1645920"/>
            <a:ext cx="1353312" cy="457200"/>
          </a:xfrm>
          <a:prstGeom prst="rect">
            <a:avLst/>
          </a:prstGeom>
          <a:solidFill>
            <a:srgbClr val="FFF6DB"/>
          </a:solidFill>
          <a:ln w="12700">
            <a:solidFill>
              <a:srgbClr val="B7791F"/>
            </a:solidFill>
            <a:prstDash val="solid"/>
          </a:ln>
        </p:spPr>
      </p:sp>
      <p:sp>
        <p:nvSpPr>
          <p:cNvPr id="14" name="Text 12"/>
          <p:cNvSpPr txBox="1"/>
          <p:nvPr/>
        </p:nvSpPr>
        <p:spPr>
          <a:xfrm>
            <a:off x="4923130" y="1645920"/>
            <a:ext cx="1353312"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persistent KV cache</a:t>
            </a:r>
            <a:endParaRPr lang="en-US" sz="850" dirty="0"/>
          </a:p>
        </p:txBody>
      </p:sp>
      <p:sp>
        <p:nvSpPr>
          <p:cNvPr id="15" name="Text 13"/>
          <p:cNvSpPr txBox="1"/>
          <p:nvPr/>
        </p:nvSpPr>
        <p:spPr>
          <a:xfrm>
            <a:off x="4923130" y="1874520"/>
            <a:ext cx="1353312"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[28,8,128,C]</a:t>
            </a:r>
            <a:endParaRPr lang="en-US" sz="650" dirty="0"/>
          </a:p>
        </p:txBody>
      </p:sp>
      <p:sp>
        <p:nvSpPr>
          <p:cNvPr id="16" name="Shape 14"/>
          <p:cNvSpPr/>
          <p:nvPr/>
        </p:nvSpPr>
        <p:spPr>
          <a:xfrm>
            <a:off x="6276442" y="1645920"/>
            <a:ext cx="947318" cy="457200"/>
          </a:xfrm>
          <a:prstGeom prst="rect">
            <a:avLst/>
          </a:prstGeom>
          <a:solidFill>
            <a:srgbClr val="ECE6FA"/>
          </a:solidFill>
          <a:ln w="12700">
            <a:solidFill>
              <a:srgbClr val="6C4FBF"/>
            </a:solidFill>
            <a:prstDash val="solid"/>
          </a:ln>
        </p:spPr>
      </p:sp>
      <p:sp>
        <p:nvSpPr>
          <p:cNvPr id="17" name="Text 15"/>
          <p:cNvSpPr txBox="1"/>
          <p:nvPr/>
        </p:nvSpPr>
        <p:spPr>
          <a:xfrm>
            <a:off x="6276442" y="1645920"/>
            <a:ext cx="947318"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출력</a:t>
            </a:r>
            <a:endParaRPr lang="en-US" sz="850" dirty="0"/>
          </a:p>
        </p:txBody>
      </p:sp>
      <p:sp>
        <p:nvSpPr>
          <p:cNvPr id="18" name="Text 16"/>
          <p:cNvSpPr txBox="1"/>
          <p:nvPr/>
        </p:nvSpPr>
        <p:spPr>
          <a:xfrm>
            <a:off x="6276442" y="1874520"/>
            <a:ext cx="947318"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logits·K/V_new</a:t>
            </a:r>
            <a:endParaRPr lang="en-US" sz="650" dirty="0"/>
          </a:p>
        </p:txBody>
      </p:sp>
      <p:sp>
        <p:nvSpPr>
          <p:cNvPr id="19" name="Text 17"/>
          <p:cNvSpPr txBox="1"/>
          <p:nvPr/>
        </p:nvSpPr>
        <p:spPr>
          <a:xfrm>
            <a:off x="457200" y="2788920"/>
            <a:ext cx="6766560" cy="219456"/>
          </a:xfrm>
          <a:prstGeom prst="rect">
            <a:avLst/>
          </a:prstGeom>
          <a:noFill/>
          <a:ln/>
        </p:spPr>
        <p:txBody>
          <a:bodyPr wrap="square" lIns="0" tIns="0" rIns="0" bIns="0" rtlCol="0" anchor="t"/>
          <a:lstStyle/>
          <a:p>
            <a:pPr algn="l" indent="0" marL="0">
              <a:buNone/>
            </a:pPr>
            <a:r>
              <a:rPr lang="en-US" sz="950" b="1" dirty="0">
                <a:solidFill>
                  <a:srgbClr val="1F8A8A"/>
                </a:solidFill>
                <a:latin typeface="Malgun Gothic" pitchFamily="34" charset="0"/>
                <a:ea typeface="Malgun Gothic" pitchFamily="34" charset="-122"/>
                <a:cs typeface="Malgun Gothic" pitchFamily="34" charset="-120"/>
              </a:rPr>
              <a:t>SRAM 8 MiB  (주소 단위: nibble, fp16 = 4 nibbles)</a:t>
            </a:r>
            <a:endParaRPr lang="en-US" sz="950" dirty="0"/>
          </a:p>
        </p:txBody>
      </p:sp>
      <p:sp>
        <p:nvSpPr>
          <p:cNvPr id="20" name="Shape 18"/>
          <p:cNvSpPr/>
          <p:nvPr/>
        </p:nvSpPr>
        <p:spPr>
          <a:xfrm>
            <a:off x="457200" y="3017520"/>
            <a:ext cx="6766560" cy="457200"/>
          </a:xfrm>
          <a:prstGeom prst="rect">
            <a:avLst/>
          </a:prstGeom>
          <a:solidFill>
            <a:srgbClr val="EEF2F6"/>
          </a:solidFill>
          <a:ln w="9525">
            <a:solidFill>
              <a:srgbClr val="C9D3DF"/>
            </a:solidFill>
            <a:prstDash val="solid"/>
          </a:ln>
        </p:spPr>
      </p:sp>
      <p:sp>
        <p:nvSpPr>
          <p:cNvPr id="21" name="Shape 19"/>
          <p:cNvSpPr/>
          <p:nvPr/>
        </p:nvSpPr>
        <p:spPr>
          <a:xfrm>
            <a:off x="457200" y="3017520"/>
            <a:ext cx="473659" cy="457200"/>
          </a:xfrm>
          <a:prstGeom prst="rect">
            <a:avLst/>
          </a:prstGeom>
          <a:solidFill>
            <a:srgbClr val="EEF1F5"/>
          </a:solidFill>
          <a:ln w="12700">
            <a:solidFill>
              <a:srgbClr val="5B6B7F"/>
            </a:solidFill>
            <a:prstDash val="solid"/>
          </a:ln>
        </p:spPr>
      </p:sp>
      <p:sp>
        <p:nvSpPr>
          <p:cNvPr id="22" name="Text 20"/>
          <p:cNvSpPr txBox="1"/>
          <p:nvPr/>
        </p:nvSpPr>
        <p:spPr>
          <a:xfrm>
            <a:off x="457200" y="3017520"/>
            <a:ext cx="47365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pool</a:t>
            </a:r>
            <a:endParaRPr lang="en-US" sz="850" dirty="0"/>
          </a:p>
        </p:txBody>
      </p:sp>
      <p:sp>
        <p:nvSpPr>
          <p:cNvPr id="23" name="Text 21"/>
          <p:cNvSpPr txBox="1"/>
          <p:nvPr/>
        </p:nvSpPr>
        <p:spPr>
          <a:xfrm>
            <a:off x="457200" y="3246120"/>
            <a:ext cx="47365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literal·scratch</a:t>
            </a:r>
            <a:endParaRPr lang="en-US" sz="650" dirty="0"/>
          </a:p>
        </p:txBody>
      </p:sp>
      <p:sp>
        <p:nvSpPr>
          <p:cNvPr id="24" name="Shape 22"/>
          <p:cNvSpPr/>
          <p:nvPr/>
        </p:nvSpPr>
        <p:spPr>
          <a:xfrm>
            <a:off x="930859" y="3017520"/>
            <a:ext cx="1556309" cy="457200"/>
          </a:xfrm>
          <a:prstGeom prst="rect">
            <a:avLst/>
          </a:prstGeom>
          <a:solidFill>
            <a:srgbClr val="DDF3F0"/>
          </a:solidFill>
          <a:ln w="12700">
            <a:solidFill>
              <a:srgbClr val="1F8A8A"/>
            </a:solidFill>
            <a:prstDash val="solid"/>
          </a:ln>
        </p:spPr>
      </p:sp>
      <p:sp>
        <p:nvSpPr>
          <p:cNvPr id="25" name="Text 23"/>
          <p:cNvSpPr txBox="1"/>
          <p:nvPr/>
        </p:nvSpPr>
        <p:spPr>
          <a:xfrm>
            <a:off x="930859" y="3017520"/>
            <a:ext cx="155630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X panel</a:t>
            </a:r>
            <a:endParaRPr lang="en-US" sz="850" dirty="0"/>
          </a:p>
        </p:txBody>
      </p:sp>
      <p:sp>
        <p:nvSpPr>
          <p:cNvPr id="26" name="Text 24"/>
          <p:cNvSpPr txBox="1"/>
          <p:nvPr/>
        </p:nvSpPr>
        <p:spPr>
          <a:xfrm>
            <a:off x="930859" y="3246120"/>
            <a:ext cx="155630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입력 activation</a:t>
            </a:r>
            <a:endParaRPr lang="en-US" sz="650" dirty="0"/>
          </a:p>
        </p:txBody>
      </p:sp>
      <p:sp>
        <p:nvSpPr>
          <p:cNvPr id="27" name="Shape 25"/>
          <p:cNvSpPr/>
          <p:nvPr/>
        </p:nvSpPr>
        <p:spPr>
          <a:xfrm>
            <a:off x="2487168" y="3017520"/>
            <a:ext cx="1556309" cy="457200"/>
          </a:xfrm>
          <a:prstGeom prst="rect">
            <a:avLst/>
          </a:prstGeom>
          <a:solidFill>
            <a:srgbClr val="FFF1DC"/>
          </a:solidFill>
          <a:ln w="12700">
            <a:solidFill>
              <a:srgbClr val="D98A1E"/>
            </a:solidFill>
            <a:prstDash val="solid"/>
          </a:ln>
        </p:spPr>
      </p:sp>
      <p:sp>
        <p:nvSpPr>
          <p:cNvPr id="28" name="Text 26"/>
          <p:cNvSpPr txBox="1"/>
          <p:nvPr/>
        </p:nvSpPr>
        <p:spPr>
          <a:xfrm>
            <a:off x="2487168" y="3017520"/>
            <a:ext cx="1556309"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W panel j</a:t>
            </a:r>
            <a:endParaRPr lang="en-US" sz="850" dirty="0"/>
          </a:p>
        </p:txBody>
      </p:sp>
      <p:sp>
        <p:nvSpPr>
          <p:cNvPr id="29" name="Text 27"/>
          <p:cNvSpPr txBox="1"/>
          <p:nvPr/>
        </p:nvSpPr>
        <p:spPr>
          <a:xfrm>
            <a:off x="2487168" y="3246120"/>
            <a:ext cx="1556309"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이번에 쓰는 weight 조각</a:t>
            </a:r>
            <a:endParaRPr lang="en-US" sz="650" dirty="0"/>
          </a:p>
        </p:txBody>
      </p:sp>
      <p:sp>
        <p:nvSpPr>
          <p:cNvPr id="30" name="Shape 28"/>
          <p:cNvSpPr/>
          <p:nvPr/>
        </p:nvSpPr>
        <p:spPr>
          <a:xfrm>
            <a:off x="4043477" y="3017520"/>
            <a:ext cx="1285646" cy="457200"/>
          </a:xfrm>
          <a:prstGeom prst="rect">
            <a:avLst/>
          </a:prstGeom>
          <a:solidFill>
            <a:srgbClr val="E3EEFB"/>
          </a:solidFill>
          <a:ln w="12700">
            <a:solidFill>
              <a:srgbClr val="2F6DB5"/>
            </a:solidFill>
            <a:prstDash val="solid"/>
          </a:ln>
        </p:spPr>
      </p:sp>
      <p:sp>
        <p:nvSpPr>
          <p:cNvPr id="31" name="Text 29"/>
          <p:cNvSpPr txBox="1"/>
          <p:nvPr/>
        </p:nvSpPr>
        <p:spPr>
          <a:xfrm>
            <a:off x="4043477" y="3017520"/>
            <a:ext cx="1285646"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출력 tile · 임시</a:t>
            </a:r>
            <a:endParaRPr lang="en-US" sz="850" dirty="0"/>
          </a:p>
        </p:txBody>
      </p:sp>
      <p:sp>
        <p:nvSpPr>
          <p:cNvPr id="32" name="Text 30"/>
          <p:cNvSpPr txBox="1"/>
          <p:nvPr/>
        </p:nvSpPr>
        <p:spPr>
          <a:xfrm>
            <a:off x="4043477" y="3246120"/>
            <a:ext cx="1285646"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USMP가 offset 배치</a:t>
            </a:r>
            <a:endParaRPr lang="en-US" sz="650" dirty="0"/>
          </a:p>
        </p:txBody>
      </p:sp>
      <p:sp>
        <p:nvSpPr>
          <p:cNvPr id="33" name="Shape 31"/>
          <p:cNvSpPr/>
          <p:nvPr/>
        </p:nvSpPr>
        <p:spPr>
          <a:xfrm>
            <a:off x="5329123" y="3017520"/>
            <a:ext cx="1894637" cy="457200"/>
          </a:xfrm>
          <a:prstGeom prst="rect">
            <a:avLst/>
          </a:prstGeom>
          <a:solidFill>
            <a:srgbClr val="FFF6DB"/>
          </a:solidFill>
          <a:ln w="12700">
            <a:solidFill>
              <a:srgbClr val="B7791F"/>
            </a:solidFill>
            <a:prstDash val="solid"/>
          </a:ln>
        </p:spPr>
      </p:sp>
      <p:sp>
        <p:nvSpPr>
          <p:cNvPr id="34" name="Text 32"/>
          <p:cNvSpPr txBox="1"/>
          <p:nvPr/>
        </p:nvSpPr>
        <p:spPr>
          <a:xfrm>
            <a:off x="5329123" y="3017520"/>
            <a:ext cx="1894637" cy="251460"/>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커널 사이 보관값</a:t>
            </a:r>
            <a:endParaRPr lang="en-US" sz="850" dirty="0"/>
          </a:p>
        </p:txBody>
      </p:sp>
      <p:sp>
        <p:nvSpPr>
          <p:cNvPr id="35" name="Text 33"/>
          <p:cNvSpPr txBox="1"/>
          <p:nvPr/>
        </p:nvSpPr>
        <p:spPr>
          <a:xfrm>
            <a:off x="5329123" y="3246120"/>
            <a:ext cx="1894637" cy="205740"/>
          </a:xfrm>
          <a:prstGeom prst="rect">
            <a:avLst/>
          </a:prstGeom>
          <a:noFill/>
          <a:ln/>
        </p:spPr>
        <p:txBody>
          <a:bodyPr wrap="square" lIns="0" tIns="0" rIns="0" bIns="0" rtlCol="0" anchor="ctr"/>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top-down 예약</a:t>
            </a:r>
            <a:endParaRPr lang="en-US" sz="650" dirty="0"/>
          </a:p>
        </p:txBody>
      </p:sp>
      <p:sp>
        <p:nvSpPr>
          <p:cNvPr id="36" name="Shape 34"/>
          <p:cNvSpPr/>
          <p:nvPr/>
        </p:nvSpPr>
        <p:spPr>
          <a:xfrm>
            <a:off x="594360" y="4251960"/>
            <a:ext cx="1051560" cy="1051560"/>
          </a:xfrm>
          <a:prstGeom prst="rect">
            <a:avLst/>
          </a:prstGeom>
          <a:solidFill>
            <a:srgbClr val="ECE6FA"/>
          </a:solidFill>
          <a:ln w="12700">
            <a:solidFill>
              <a:srgbClr val="6C4FBF"/>
            </a:solidFill>
            <a:prstDash val="solid"/>
          </a:ln>
        </p:spPr>
      </p:sp>
      <p:sp>
        <p:nvSpPr>
          <p:cNvPr id="37" name="Shape 35"/>
          <p:cNvSpPr/>
          <p:nvPr/>
        </p:nvSpPr>
        <p:spPr>
          <a:xfrm>
            <a:off x="725805" y="4251960"/>
            <a:ext cx="914" cy="1051560"/>
          </a:xfrm>
          <a:prstGeom prst="line">
            <a:avLst/>
          </a:prstGeom>
          <a:noFill/>
          <a:ln w="5080">
            <a:solidFill>
              <a:srgbClr val="D5DCE5"/>
            </a:solidFill>
            <a:prstDash val="solid"/>
          </a:ln>
        </p:spPr>
      </p:sp>
      <p:sp>
        <p:nvSpPr>
          <p:cNvPr id="38" name="Shape 36"/>
          <p:cNvSpPr/>
          <p:nvPr/>
        </p:nvSpPr>
        <p:spPr>
          <a:xfrm>
            <a:off x="857250" y="4251960"/>
            <a:ext cx="914" cy="1051560"/>
          </a:xfrm>
          <a:prstGeom prst="line">
            <a:avLst/>
          </a:prstGeom>
          <a:noFill/>
          <a:ln w="5080">
            <a:solidFill>
              <a:srgbClr val="D5DCE5"/>
            </a:solidFill>
            <a:prstDash val="solid"/>
          </a:ln>
        </p:spPr>
      </p:sp>
      <p:sp>
        <p:nvSpPr>
          <p:cNvPr id="39" name="Shape 37"/>
          <p:cNvSpPr/>
          <p:nvPr/>
        </p:nvSpPr>
        <p:spPr>
          <a:xfrm>
            <a:off x="988695" y="4251960"/>
            <a:ext cx="914" cy="1051560"/>
          </a:xfrm>
          <a:prstGeom prst="line">
            <a:avLst/>
          </a:prstGeom>
          <a:noFill/>
          <a:ln w="5080">
            <a:solidFill>
              <a:srgbClr val="D5DCE5"/>
            </a:solidFill>
            <a:prstDash val="solid"/>
          </a:ln>
        </p:spPr>
      </p:sp>
      <p:sp>
        <p:nvSpPr>
          <p:cNvPr id="40" name="Shape 38"/>
          <p:cNvSpPr/>
          <p:nvPr/>
        </p:nvSpPr>
        <p:spPr>
          <a:xfrm>
            <a:off x="1120140" y="4251960"/>
            <a:ext cx="914" cy="1051560"/>
          </a:xfrm>
          <a:prstGeom prst="line">
            <a:avLst/>
          </a:prstGeom>
          <a:noFill/>
          <a:ln w="5080">
            <a:solidFill>
              <a:srgbClr val="D5DCE5"/>
            </a:solidFill>
            <a:prstDash val="solid"/>
          </a:ln>
        </p:spPr>
      </p:sp>
      <p:sp>
        <p:nvSpPr>
          <p:cNvPr id="41" name="Shape 39"/>
          <p:cNvSpPr/>
          <p:nvPr/>
        </p:nvSpPr>
        <p:spPr>
          <a:xfrm>
            <a:off x="1251585" y="4251960"/>
            <a:ext cx="914" cy="1051560"/>
          </a:xfrm>
          <a:prstGeom prst="line">
            <a:avLst/>
          </a:prstGeom>
          <a:noFill/>
          <a:ln w="5080">
            <a:solidFill>
              <a:srgbClr val="D5DCE5"/>
            </a:solidFill>
            <a:prstDash val="solid"/>
          </a:ln>
        </p:spPr>
      </p:sp>
      <p:sp>
        <p:nvSpPr>
          <p:cNvPr id="42" name="Shape 40"/>
          <p:cNvSpPr/>
          <p:nvPr/>
        </p:nvSpPr>
        <p:spPr>
          <a:xfrm>
            <a:off x="1383030" y="4251960"/>
            <a:ext cx="914" cy="1051560"/>
          </a:xfrm>
          <a:prstGeom prst="line">
            <a:avLst/>
          </a:prstGeom>
          <a:noFill/>
          <a:ln w="5080">
            <a:solidFill>
              <a:srgbClr val="D5DCE5"/>
            </a:solidFill>
            <a:prstDash val="solid"/>
          </a:ln>
        </p:spPr>
      </p:sp>
      <p:sp>
        <p:nvSpPr>
          <p:cNvPr id="43" name="Shape 41"/>
          <p:cNvSpPr/>
          <p:nvPr/>
        </p:nvSpPr>
        <p:spPr>
          <a:xfrm>
            <a:off x="1514475" y="4251960"/>
            <a:ext cx="914" cy="1051560"/>
          </a:xfrm>
          <a:prstGeom prst="line">
            <a:avLst/>
          </a:prstGeom>
          <a:noFill/>
          <a:ln w="5080">
            <a:solidFill>
              <a:srgbClr val="D5DCE5"/>
            </a:solidFill>
            <a:prstDash val="solid"/>
          </a:ln>
        </p:spPr>
      </p:sp>
      <p:sp>
        <p:nvSpPr>
          <p:cNvPr id="44" name="Shape 42"/>
          <p:cNvSpPr/>
          <p:nvPr/>
        </p:nvSpPr>
        <p:spPr>
          <a:xfrm>
            <a:off x="594360" y="4383405"/>
            <a:ext cx="1051560" cy="914"/>
          </a:xfrm>
          <a:prstGeom prst="line">
            <a:avLst/>
          </a:prstGeom>
          <a:noFill/>
          <a:ln w="5080">
            <a:solidFill>
              <a:srgbClr val="D5DCE5"/>
            </a:solidFill>
            <a:prstDash val="solid"/>
          </a:ln>
        </p:spPr>
      </p:sp>
      <p:sp>
        <p:nvSpPr>
          <p:cNvPr id="45" name="Shape 43"/>
          <p:cNvSpPr/>
          <p:nvPr/>
        </p:nvSpPr>
        <p:spPr>
          <a:xfrm>
            <a:off x="594360" y="4514850"/>
            <a:ext cx="1051560" cy="914"/>
          </a:xfrm>
          <a:prstGeom prst="line">
            <a:avLst/>
          </a:prstGeom>
          <a:noFill/>
          <a:ln w="5080">
            <a:solidFill>
              <a:srgbClr val="D5DCE5"/>
            </a:solidFill>
            <a:prstDash val="solid"/>
          </a:ln>
        </p:spPr>
      </p:sp>
      <p:sp>
        <p:nvSpPr>
          <p:cNvPr id="46" name="Shape 44"/>
          <p:cNvSpPr/>
          <p:nvPr/>
        </p:nvSpPr>
        <p:spPr>
          <a:xfrm>
            <a:off x="594360" y="4646295"/>
            <a:ext cx="1051560" cy="914"/>
          </a:xfrm>
          <a:prstGeom prst="line">
            <a:avLst/>
          </a:prstGeom>
          <a:noFill/>
          <a:ln w="5080">
            <a:solidFill>
              <a:srgbClr val="D5DCE5"/>
            </a:solidFill>
            <a:prstDash val="solid"/>
          </a:ln>
        </p:spPr>
      </p:sp>
      <p:sp>
        <p:nvSpPr>
          <p:cNvPr id="47" name="Shape 45"/>
          <p:cNvSpPr/>
          <p:nvPr/>
        </p:nvSpPr>
        <p:spPr>
          <a:xfrm>
            <a:off x="594360" y="4777740"/>
            <a:ext cx="1051560" cy="914"/>
          </a:xfrm>
          <a:prstGeom prst="line">
            <a:avLst/>
          </a:prstGeom>
          <a:noFill/>
          <a:ln w="5080">
            <a:solidFill>
              <a:srgbClr val="D5DCE5"/>
            </a:solidFill>
            <a:prstDash val="solid"/>
          </a:ln>
        </p:spPr>
      </p:sp>
      <p:sp>
        <p:nvSpPr>
          <p:cNvPr id="48" name="Shape 46"/>
          <p:cNvSpPr/>
          <p:nvPr/>
        </p:nvSpPr>
        <p:spPr>
          <a:xfrm>
            <a:off x="594360" y="4909185"/>
            <a:ext cx="1051560" cy="914"/>
          </a:xfrm>
          <a:prstGeom prst="line">
            <a:avLst/>
          </a:prstGeom>
          <a:noFill/>
          <a:ln w="5080">
            <a:solidFill>
              <a:srgbClr val="D5DCE5"/>
            </a:solidFill>
            <a:prstDash val="solid"/>
          </a:ln>
        </p:spPr>
      </p:sp>
      <p:sp>
        <p:nvSpPr>
          <p:cNvPr id="49" name="Shape 47"/>
          <p:cNvSpPr/>
          <p:nvPr/>
        </p:nvSpPr>
        <p:spPr>
          <a:xfrm>
            <a:off x="594360" y="5040630"/>
            <a:ext cx="1051560" cy="914"/>
          </a:xfrm>
          <a:prstGeom prst="line">
            <a:avLst/>
          </a:prstGeom>
          <a:noFill/>
          <a:ln w="5080">
            <a:solidFill>
              <a:srgbClr val="D5DCE5"/>
            </a:solidFill>
            <a:prstDash val="solid"/>
          </a:ln>
        </p:spPr>
      </p:sp>
      <p:sp>
        <p:nvSpPr>
          <p:cNvPr id="50" name="Shape 48"/>
          <p:cNvSpPr/>
          <p:nvPr/>
        </p:nvSpPr>
        <p:spPr>
          <a:xfrm>
            <a:off x="594360" y="5172075"/>
            <a:ext cx="1051560" cy="914"/>
          </a:xfrm>
          <a:prstGeom prst="line">
            <a:avLst/>
          </a:prstGeom>
          <a:noFill/>
          <a:ln w="5080">
            <a:solidFill>
              <a:srgbClr val="D5DCE5"/>
            </a:solidFill>
            <a:prstDash val="solid"/>
          </a:ln>
        </p:spPr>
      </p:sp>
      <p:sp>
        <p:nvSpPr>
          <p:cNvPr id="51" name="Text 49"/>
          <p:cNvSpPr txBox="1"/>
          <p:nvPr/>
        </p:nvSpPr>
        <p:spPr>
          <a:xfrm>
            <a:off x="594360" y="4023360"/>
            <a:ext cx="1280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Matrix unit 64×64</a:t>
            </a:r>
            <a:endParaRPr lang="en-US" sz="850" dirty="0"/>
          </a:p>
        </p:txBody>
      </p:sp>
      <p:sp>
        <p:nvSpPr>
          <p:cNvPr id="52" name="Text 50"/>
          <p:cNvSpPr txBox="1"/>
          <p:nvPr/>
        </p:nvSpPr>
        <p:spPr>
          <a:xfrm>
            <a:off x="594360" y="5340096"/>
            <a:ext cx="292608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FP32 accumulator ×1 · M_MUL MAC bit로 K 누산</a:t>
            </a:r>
            <a:endParaRPr lang="en-US" sz="750" dirty="0"/>
          </a:p>
        </p:txBody>
      </p:sp>
      <p:sp>
        <p:nvSpPr>
          <p:cNvPr id="53" name="Shape 51"/>
          <p:cNvSpPr/>
          <p:nvPr/>
        </p:nvSpPr>
        <p:spPr>
          <a:xfrm>
            <a:off x="2651760" y="4526280"/>
            <a:ext cx="205740" cy="347472"/>
          </a:xfrm>
          <a:prstGeom prst="rect">
            <a:avLst/>
          </a:prstGeom>
          <a:solidFill>
            <a:srgbClr val="ECE6FA"/>
          </a:solidFill>
          <a:ln w="6350">
            <a:solidFill>
              <a:srgbClr val="6C4FBF"/>
            </a:solidFill>
            <a:prstDash val="solid"/>
          </a:ln>
        </p:spPr>
      </p:sp>
      <p:sp>
        <p:nvSpPr>
          <p:cNvPr id="54" name="Text 52"/>
          <p:cNvSpPr txBox="1"/>
          <p:nvPr/>
        </p:nvSpPr>
        <p:spPr>
          <a:xfrm>
            <a:off x="2651760" y="4526280"/>
            <a:ext cx="205740" cy="347472"/>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0</a:t>
            </a:r>
            <a:endParaRPr lang="en-US" sz="750" dirty="0"/>
          </a:p>
        </p:txBody>
      </p:sp>
      <p:sp>
        <p:nvSpPr>
          <p:cNvPr id="55" name="Shape 53"/>
          <p:cNvSpPr/>
          <p:nvPr/>
        </p:nvSpPr>
        <p:spPr>
          <a:xfrm>
            <a:off x="2857500" y="4526280"/>
            <a:ext cx="205740" cy="347472"/>
          </a:xfrm>
          <a:prstGeom prst="rect">
            <a:avLst/>
          </a:prstGeom>
          <a:solidFill>
            <a:srgbClr val="ECE6FA"/>
          </a:solidFill>
          <a:ln w="6350">
            <a:solidFill>
              <a:srgbClr val="6C4FBF"/>
            </a:solidFill>
            <a:prstDash val="solid"/>
          </a:ln>
        </p:spPr>
      </p:sp>
      <p:sp>
        <p:nvSpPr>
          <p:cNvPr id="56" name="Shape 54"/>
          <p:cNvSpPr/>
          <p:nvPr/>
        </p:nvSpPr>
        <p:spPr>
          <a:xfrm>
            <a:off x="3063240" y="4526280"/>
            <a:ext cx="205740" cy="347472"/>
          </a:xfrm>
          <a:prstGeom prst="rect">
            <a:avLst/>
          </a:prstGeom>
          <a:solidFill>
            <a:srgbClr val="ECE6FA"/>
          </a:solidFill>
          <a:ln w="6350">
            <a:solidFill>
              <a:srgbClr val="6C4FBF"/>
            </a:solidFill>
            <a:prstDash val="solid"/>
          </a:ln>
        </p:spPr>
      </p:sp>
      <p:sp>
        <p:nvSpPr>
          <p:cNvPr id="57" name="Shape 55"/>
          <p:cNvSpPr/>
          <p:nvPr/>
        </p:nvSpPr>
        <p:spPr>
          <a:xfrm>
            <a:off x="3268980" y="4526280"/>
            <a:ext cx="205740" cy="347472"/>
          </a:xfrm>
          <a:prstGeom prst="rect">
            <a:avLst/>
          </a:prstGeom>
          <a:solidFill>
            <a:srgbClr val="ECE6FA"/>
          </a:solidFill>
          <a:ln w="6350">
            <a:solidFill>
              <a:srgbClr val="6C4FBF"/>
            </a:solidFill>
            <a:prstDash val="solid"/>
          </a:ln>
        </p:spPr>
      </p:sp>
      <p:sp>
        <p:nvSpPr>
          <p:cNvPr id="58" name="Shape 56"/>
          <p:cNvSpPr/>
          <p:nvPr/>
        </p:nvSpPr>
        <p:spPr>
          <a:xfrm>
            <a:off x="3474720" y="4526280"/>
            <a:ext cx="205740" cy="347472"/>
          </a:xfrm>
          <a:prstGeom prst="rect">
            <a:avLst/>
          </a:prstGeom>
          <a:solidFill>
            <a:srgbClr val="ECE6FA"/>
          </a:solidFill>
          <a:ln w="6350">
            <a:solidFill>
              <a:srgbClr val="6C4FBF"/>
            </a:solidFill>
            <a:prstDash val="solid"/>
          </a:ln>
        </p:spPr>
      </p:sp>
      <p:sp>
        <p:nvSpPr>
          <p:cNvPr id="59" name="Shape 57"/>
          <p:cNvSpPr/>
          <p:nvPr/>
        </p:nvSpPr>
        <p:spPr>
          <a:xfrm>
            <a:off x="3680460" y="4526280"/>
            <a:ext cx="205740" cy="347472"/>
          </a:xfrm>
          <a:prstGeom prst="rect">
            <a:avLst/>
          </a:prstGeom>
          <a:solidFill>
            <a:srgbClr val="ECE6FA"/>
          </a:solidFill>
          <a:ln w="6350">
            <a:solidFill>
              <a:srgbClr val="6C4FBF"/>
            </a:solidFill>
            <a:prstDash val="solid"/>
          </a:ln>
        </p:spPr>
      </p:sp>
      <p:sp>
        <p:nvSpPr>
          <p:cNvPr id="60" name="Shape 58"/>
          <p:cNvSpPr/>
          <p:nvPr/>
        </p:nvSpPr>
        <p:spPr>
          <a:xfrm>
            <a:off x="3886200" y="4526280"/>
            <a:ext cx="205740" cy="347472"/>
          </a:xfrm>
          <a:prstGeom prst="rect">
            <a:avLst/>
          </a:prstGeom>
          <a:solidFill>
            <a:srgbClr val="ECE6FA"/>
          </a:solidFill>
          <a:ln w="6350">
            <a:solidFill>
              <a:srgbClr val="6C4FBF"/>
            </a:solidFill>
            <a:prstDash val="solid"/>
          </a:ln>
        </p:spPr>
      </p:sp>
      <p:sp>
        <p:nvSpPr>
          <p:cNvPr id="61" name="Shape 59"/>
          <p:cNvSpPr/>
          <p:nvPr/>
        </p:nvSpPr>
        <p:spPr>
          <a:xfrm>
            <a:off x="4091940" y="4526280"/>
            <a:ext cx="205740" cy="347472"/>
          </a:xfrm>
          <a:prstGeom prst="rect">
            <a:avLst/>
          </a:prstGeom>
          <a:solidFill>
            <a:srgbClr val="ECE6FA"/>
          </a:solidFill>
          <a:ln w="6350">
            <a:solidFill>
              <a:srgbClr val="6C4FBF"/>
            </a:solidFill>
            <a:prstDash val="solid"/>
          </a:ln>
        </p:spPr>
      </p:sp>
      <p:sp>
        <p:nvSpPr>
          <p:cNvPr id="62" name="Shape 60"/>
          <p:cNvSpPr/>
          <p:nvPr/>
        </p:nvSpPr>
        <p:spPr>
          <a:xfrm>
            <a:off x="4297680" y="4526280"/>
            <a:ext cx="205740" cy="347472"/>
          </a:xfrm>
          <a:prstGeom prst="rect">
            <a:avLst/>
          </a:prstGeom>
          <a:solidFill>
            <a:srgbClr val="ECE6FA"/>
          </a:solidFill>
          <a:ln w="6350">
            <a:solidFill>
              <a:srgbClr val="6C4FBF"/>
            </a:solidFill>
            <a:prstDash val="solid"/>
          </a:ln>
        </p:spPr>
      </p:sp>
      <p:sp>
        <p:nvSpPr>
          <p:cNvPr id="63" name="Text 61"/>
          <p:cNvSpPr txBox="1"/>
          <p:nvPr/>
        </p:nvSpPr>
        <p:spPr>
          <a:xfrm>
            <a:off x="4297680" y="4526280"/>
            <a:ext cx="205740" cy="347472"/>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a:t>
            </a:r>
            <a:endParaRPr lang="en-US" sz="750" dirty="0"/>
          </a:p>
        </p:txBody>
      </p:sp>
      <p:sp>
        <p:nvSpPr>
          <p:cNvPr id="64" name="Shape 62"/>
          <p:cNvSpPr/>
          <p:nvPr/>
        </p:nvSpPr>
        <p:spPr>
          <a:xfrm>
            <a:off x="4503420" y="4526280"/>
            <a:ext cx="205740" cy="347472"/>
          </a:xfrm>
          <a:prstGeom prst="rect">
            <a:avLst/>
          </a:prstGeom>
          <a:solidFill>
            <a:srgbClr val="ECE6FA"/>
          </a:solidFill>
          <a:ln w="6350">
            <a:solidFill>
              <a:srgbClr val="6C4FBF"/>
            </a:solidFill>
            <a:prstDash val="solid"/>
          </a:ln>
        </p:spPr>
      </p:sp>
      <p:sp>
        <p:nvSpPr>
          <p:cNvPr id="65" name="Shape 63"/>
          <p:cNvSpPr/>
          <p:nvPr/>
        </p:nvSpPr>
        <p:spPr>
          <a:xfrm>
            <a:off x="4709160" y="4526280"/>
            <a:ext cx="205740" cy="347472"/>
          </a:xfrm>
          <a:prstGeom prst="rect">
            <a:avLst/>
          </a:prstGeom>
          <a:solidFill>
            <a:srgbClr val="ECE6FA"/>
          </a:solidFill>
          <a:ln w="6350">
            <a:solidFill>
              <a:srgbClr val="6C4FBF"/>
            </a:solidFill>
            <a:prstDash val="solid"/>
          </a:ln>
        </p:spPr>
      </p:sp>
      <p:sp>
        <p:nvSpPr>
          <p:cNvPr id="66" name="Shape 64"/>
          <p:cNvSpPr/>
          <p:nvPr/>
        </p:nvSpPr>
        <p:spPr>
          <a:xfrm>
            <a:off x="4914900" y="4526280"/>
            <a:ext cx="205740" cy="347472"/>
          </a:xfrm>
          <a:prstGeom prst="rect">
            <a:avLst/>
          </a:prstGeom>
          <a:solidFill>
            <a:srgbClr val="ECE6FA"/>
          </a:solidFill>
          <a:ln w="6350">
            <a:solidFill>
              <a:srgbClr val="6C4FBF"/>
            </a:solidFill>
            <a:prstDash val="solid"/>
          </a:ln>
        </p:spPr>
      </p:sp>
      <p:sp>
        <p:nvSpPr>
          <p:cNvPr id="67" name="Shape 65"/>
          <p:cNvSpPr/>
          <p:nvPr/>
        </p:nvSpPr>
        <p:spPr>
          <a:xfrm>
            <a:off x="5120640" y="4526280"/>
            <a:ext cx="205740" cy="347472"/>
          </a:xfrm>
          <a:prstGeom prst="rect">
            <a:avLst/>
          </a:prstGeom>
          <a:solidFill>
            <a:srgbClr val="ECE6FA"/>
          </a:solidFill>
          <a:ln w="6350">
            <a:solidFill>
              <a:srgbClr val="6C4FBF"/>
            </a:solidFill>
            <a:prstDash val="solid"/>
          </a:ln>
        </p:spPr>
      </p:sp>
      <p:sp>
        <p:nvSpPr>
          <p:cNvPr id="68" name="Shape 66"/>
          <p:cNvSpPr/>
          <p:nvPr/>
        </p:nvSpPr>
        <p:spPr>
          <a:xfrm>
            <a:off x="5326380" y="4526280"/>
            <a:ext cx="205740" cy="347472"/>
          </a:xfrm>
          <a:prstGeom prst="rect">
            <a:avLst/>
          </a:prstGeom>
          <a:solidFill>
            <a:srgbClr val="ECE6FA"/>
          </a:solidFill>
          <a:ln w="6350">
            <a:solidFill>
              <a:srgbClr val="6C4FBF"/>
            </a:solidFill>
            <a:prstDash val="solid"/>
          </a:ln>
        </p:spPr>
      </p:sp>
      <p:sp>
        <p:nvSpPr>
          <p:cNvPr id="69" name="Shape 67"/>
          <p:cNvSpPr/>
          <p:nvPr/>
        </p:nvSpPr>
        <p:spPr>
          <a:xfrm>
            <a:off x="5532120" y="4526280"/>
            <a:ext cx="205740" cy="347472"/>
          </a:xfrm>
          <a:prstGeom prst="rect">
            <a:avLst/>
          </a:prstGeom>
          <a:solidFill>
            <a:srgbClr val="ECE6FA"/>
          </a:solidFill>
          <a:ln w="6350">
            <a:solidFill>
              <a:srgbClr val="6C4FBF"/>
            </a:solidFill>
            <a:prstDash val="solid"/>
          </a:ln>
        </p:spPr>
      </p:sp>
      <p:sp>
        <p:nvSpPr>
          <p:cNvPr id="70" name="Shape 68"/>
          <p:cNvSpPr/>
          <p:nvPr/>
        </p:nvSpPr>
        <p:spPr>
          <a:xfrm>
            <a:off x="5737860" y="4526280"/>
            <a:ext cx="205740" cy="347472"/>
          </a:xfrm>
          <a:prstGeom prst="rect">
            <a:avLst/>
          </a:prstGeom>
          <a:solidFill>
            <a:srgbClr val="ECE6FA"/>
          </a:solidFill>
          <a:ln w="6350">
            <a:solidFill>
              <a:srgbClr val="6C4FBF"/>
            </a:solidFill>
            <a:prstDash val="solid"/>
          </a:ln>
        </p:spPr>
      </p:sp>
      <p:sp>
        <p:nvSpPr>
          <p:cNvPr id="71" name="Text 69"/>
          <p:cNvSpPr txBox="1"/>
          <p:nvPr/>
        </p:nvSpPr>
        <p:spPr>
          <a:xfrm>
            <a:off x="5737860" y="4526280"/>
            <a:ext cx="205740" cy="347472"/>
          </a:xfrm>
          <a:prstGeom prst="rect">
            <a:avLst/>
          </a:prstGeom>
          <a:noFill/>
          <a:ln/>
        </p:spPr>
        <p:txBody>
          <a:bodyPr wrap="square" lIns="0" tIns="0" rIns="0" bIns="0" rtlCol="0" anchor="ct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255</a:t>
            </a:r>
            <a:endParaRPr lang="en-US" sz="750" dirty="0"/>
          </a:p>
        </p:txBody>
      </p:sp>
      <p:sp>
        <p:nvSpPr>
          <p:cNvPr id="72" name="Text 70"/>
          <p:cNvSpPr txBox="1"/>
          <p:nvPr/>
        </p:nvSpPr>
        <p:spPr>
          <a:xfrm>
            <a:off x="2651760" y="4297680"/>
            <a:ext cx="329184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Vector unit 256 lanes (물리)</a:t>
            </a:r>
            <a:endParaRPr lang="en-US" sz="850" dirty="0"/>
          </a:p>
        </p:txBody>
      </p:sp>
      <p:sp>
        <p:nvSpPr>
          <p:cNvPr id="73" name="Text 71"/>
          <p:cNvSpPr txBox="1"/>
          <p:nvPr/>
        </p:nvSpPr>
        <p:spPr>
          <a:xfrm>
            <a:off x="2651760" y="4901184"/>
            <a:ext cx="4389120" cy="384048"/>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논리 VLEN 1..65535 → 내부에서 256씩 반복한다는 전제 (RTL 미확인). FP16 입력, reduction 내부 FP32.</a:t>
            </a:r>
            <a:endParaRPr lang="en-US" sz="750" dirty="0"/>
          </a:p>
        </p:txBody>
      </p:sp>
      <p:sp>
        <p:nvSpPr>
          <p:cNvPr id="74" name="Shape 72"/>
          <p:cNvSpPr/>
          <p:nvPr/>
        </p:nvSpPr>
        <p:spPr>
          <a:xfrm>
            <a:off x="2216506" y="2103120"/>
            <a:ext cx="1014984" cy="914400"/>
          </a:xfrm>
          <a:prstGeom prst="line">
            <a:avLst/>
          </a:prstGeom>
          <a:noFill/>
          <a:ln w="25400">
            <a:solidFill>
              <a:srgbClr val="D98A1E"/>
            </a:solidFill>
            <a:prstDash val="solid"/>
            <a:tailEnd type="triangle"/>
          </a:ln>
        </p:spPr>
      </p:sp>
      <p:sp>
        <p:nvSpPr>
          <p:cNvPr id="75" name="Text 73"/>
          <p:cNvSpPr txBox="1"/>
          <p:nvPr/>
        </p:nvSpPr>
        <p:spPr>
          <a:xfrm>
            <a:off x="3299155" y="2286000"/>
            <a:ext cx="2377440" cy="365760"/>
          </a:xfrm>
          <a:prstGeom prst="rect">
            <a:avLst/>
          </a:prstGeom>
          <a:noFill/>
          <a:ln/>
        </p:spPr>
        <p:txBody>
          <a:bodyPr wrap="square" lIns="0" tIns="0" rIns="0" bIns="0" rtlCol="0" anchor="t"/>
          <a:lstStyle/>
          <a:p>
            <a:pPr algn="l" indent="0" marL="0">
              <a:buNone/>
            </a:pPr>
            <a:r>
              <a:rPr lang="en-US" sz="800" b="1" dirty="0">
                <a:solidFill>
                  <a:srgbClr val="D98A1E"/>
                </a:solidFill>
                <a:latin typeface="Malgun Gothic" pitchFamily="34" charset="0"/>
                <a:ea typeface="Malgun Gothic" pitchFamily="34" charset="-122"/>
                <a:cs typeface="Malgun Gothic" pitchFamily="34" charset="-120"/>
              </a:rPr>
              <a:t>GLOAD: DRAM → SRAM</a:t>
            </a:r>
            <a:endParaRPr lang="en-US" sz="800" dirty="0"/>
          </a:p>
          <a:p>
            <a:pPr algn="l" indent="0" marL="0">
              <a:buNone/>
            </a:pPr>
            <a:r>
              <a:rPr lang="en-US" sz="800" b="1" dirty="0">
                <a:solidFill>
                  <a:srgbClr val="D98A1E"/>
                </a:solidFill>
                <a:latin typeface="Malgun Gothic" pitchFamily="34" charset="0"/>
                <a:ea typeface="Malgun Gothic" pitchFamily="34" charset="-122"/>
                <a:cs typeface="Malgun Gothic" pitchFamily="34" charset="-120"/>
              </a:rPr>
              <a:t>4-word DMA packet, cell 단위</a:t>
            </a:r>
            <a:endParaRPr lang="en-US" sz="800" dirty="0"/>
          </a:p>
        </p:txBody>
      </p:sp>
      <p:sp>
        <p:nvSpPr>
          <p:cNvPr id="76" name="Shape 74"/>
          <p:cNvSpPr/>
          <p:nvPr/>
        </p:nvSpPr>
        <p:spPr>
          <a:xfrm flipV="1">
            <a:off x="4652467" y="2103120"/>
            <a:ext cx="2097634" cy="914400"/>
          </a:xfrm>
          <a:prstGeom prst="line">
            <a:avLst/>
          </a:prstGeom>
          <a:noFill/>
          <a:ln w="25400">
            <a:solidFill>
              <a:srgbClr val="D98A1E"/>
            </a:solidFill>
            <a:prstDash val="solid"/>
            <a:tailEnd type="triangle"/>
          </a:ln>
        </p:spPr>
      </p:sp>
      <p:sp>
        <p:nvSpPr>
          <p:cNvPr id="77" name="Text 75"/>
          <p:cNvSpPr txBox="1"/>
          <p:nvPr/>
        </p:nvSpPr>
        <p:spPr>
          <a:xfrm>
            <a:off x="5735117" y="2560320"/>
            <a:ext cx="1645920" cy="274320"/>
          </a:xfrm>
          <a:prstGeom prst="rect">
            <a:avLst/>
          </a:prstGeom>
          <a:noFill/>
          <a:ln/>
        </p:spPr>
        <p:txBody>
          <a:bodyPr wrap="square" lIns="0" tIns="0" rIns="0" bIns="0" rtlCol="0" anchor="t"/>
          <a:lstStyle/>
          <a:p>
            <a:pPr algn="l" indent="0" marL="0">
              <a:buNone/>
            </a:pPr>
            <a:r>
              <a:rPr lang="en-US" sz="800" b="1" dirty="0">
                <a:solidFill>
                  <a:srgbClr val="D98A1E"/>
                </a:solidFill>
                <a:latin typeface="Malgun Gothic" pitchFamily="34" charset="0"/>
                <a:ea typeface="Malgun Gothic" pitchFamily="34" charset="-122"/>
                <a:cs typeface="Malgun Gothic" pitchFamily="34" charset="-120"/>
              </a:rPr>
              <a:t>GSTORE: SRAM → DRAM</a:t>
            </a:r>
            <a:endParaRPr lang="en-US" sz="800" dirty="0"/>
          </a:p>
        </p:txBody>
      </p:sp>
      <p:sp>
        <p:nvSpPr>
          <p:cNvPr id="78" name="Shape 76"/>
          <p:cNvSpPr/>
          <p:nvPr/>
        </p:nvSpPr>
        <p:spPr>
          <a:xfrm flipH="1">
            <a:off x="1143000" y="3474720"/>
            <a:ext cx="532181" cy="777240"/>
          </a:xfrm>
          <a:prstGeom prst="line">
            <a:avLst/>
          </a:prstGeom>
          <a:noFill/>
          <a:ln w="25400">
            <a:solidFill>
              <a:srgbClr val="1F8A8A"/>
            </a:solidFill>
            <a:prstDash val="solid"/>
            <a:tailEnd type="triangle"/>
          </a:ln>
        </p:spPr>
      </p:sp>
      <p:sp>
        <p:nvSpPr>
          <p:cNvPr id="79" name="Text 77"/>
          <p:cNvSpPr txBox="1"/>
          <p:nvPr/>
        </p:nvSpPr>
        <p:spPr>
          <a:xfrm>
            <a:off x="1737360" y="3657600"/>
            <a:ext cx="2194560" cy="365760"/>
          </a:xfrm>
          <a:prstGeom prst="rect">
            <a:avLst/>
          </a:prstGeom>
          <a:noFill/>
          <a:ln/>
        </p:spPr>
        <p:txBody>
          <a:bodyPr wrap="square" lIns="0" tIns="0" rIns="0" bIns="0" rtlCol="0" anchor="t"/>
          <a:lstStyle/>
          <a:p>
            <a:pPr algn="l" indent="0" marL="0">
              <a:buNone/>
            </a:pPr>
            <a:r>
              <a:rPr lang="en-US" sz="800" b="1" dirty="0">
                <a:solidFill>
                  <a:srgbClr val="1F8A8A"/>
                </a:solidFill>
                <a:latin typeface="Malgun Gothic" pitchFamily="34" charset="0"/>
                <a:ea typeface="Malgun Gothic" pitchFamily="34" charset="-122"/>
                <a:cs typeface="Malgun Gothic" pitchFamily="34" charset="-120"/>
              </a:rPr>
              <a:t>LOAD: SRAM 64×64 tile → unit</a:t>
            </a:r>
            <a:endParaRPr lang="en-US" sz="800" dirty="0"/>
          </a:p>
          <a:p>
            <a:pPr algn="l" indent="0" marL="0">
              <a:buNone/>
            </a:pPr>
            <a:r>
              <a:rPr lang="en-US" sz="800" b="1" dirty="0">
                <a:solidFill>
                  <a:srgbClr val="1F8A8A"/>
                </a:solidFill>
                <a:latin typeface="Malgun Gothic" pitchFamily="34" charset="0"/>
                <a:ea typeface="Malgun Gothic" pitchFamily="34" charset="-122"/>
                <a:cs typeface="Malgun Gothic" pitchFamily="34" charset="-120"/>
              </a:rPr>
              <a:t>(descriptor로 주소·stride 지정)</a:t>
            </a:r>
            <a:endParaRPr lang="en-US" sz="800" dirty="0"/>
          </a:p>
        </p:txBody>
      </p:sp>
      <p:sp>
        <p:nvSpPr>
          <p:cNvPr id="80" name="Shape 78"/>
          <p:cNvSpPr/>
          <p:nvPr/>
        </p:nvSpPr>
        <p:spPr>
          <a:xfrm flipV="1">
            <a:off x="1645920" y="3474720"/>
            <a:ext cx="3006547" cy="1051560"/>
          </a:xfrm>
          <a:prstGeom prst="line">
            <a:avLst/>
          </a:prstGeom>
          <a:noFill/>
          <a:ln w="25400">
            <a:solidFill>
              <a:srgbClr val="1F8A8A"/>
            </a:solidFill>
            <a:prstDash val="solid"/>
            <a:tailEnd type="triangle"/>
          </a:ln>
        </p:spPr>
      </p:sp>
      <p:sp>
        <p:nvSpPr>
          <p:cNvPr id="81" name="Text 79"/>
          <p:cNvSpPr txBox="1"/>
          <p:nvPr/>
        </p:nvSpPr>
        <p:spPr>
          <a:xfrm>
            <a:off x="4480560" y="3703320"/>
            <a:ext cx="2194560" cy="365760"/>
          </a:xfrm>
          <a:prstGeom prst="rect">
            <a:avLst/>
          </a:prstGeom>
          <a:noFill/>
          <a:ln/>
        </p:spPr>
        <p:txBody>
          <a:bodyPr wrap="square" lIns="0" tIns="0" rIns="0" bIns="0" rtlCol="0" anchor="t"/>
          <a:lstStyle/>
          <a:p>
            <a:pPr algn="l" indent="0" marL="0">
              <a:buNone/>
            </a:pPr>
            <a:r>
              <a:rPr lang="en-US" sz="800" b="1" dirty="0">
                <a:solidFill>
                  <a:srgbClr val="1F8A8A"/>
                </a:solidFill>
                <a:latin typeface="Malgun Gothic" pitchFamily="34" charset="0"/>
                <a:ea typeface="Malgun Gothic" pitchFamily="34" charset="-122"/>
                <a:cs typeface="Malgun Gothic" pitchFamily="34" charset="-120"/>
              </a:rPr>
              <a:t>SAVE: FP16 결과 → SRAM 출력 tile</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498080" y="1417320"/>
          <a:ext cx="4233672" cy="914400"/>
        </p:xfrm>
        <a:graphic>
          <a:graphicData uri="http://schemas.openxmlformats.org/drawingml/2006/table">
            <a:tbl>
              <a:tblPr/>
              <a:tblGrid>
                <a:gridCol w="1188720"/>
                <a:gridCol w="1463040"/>
                <a:gridCol w="1581912"/>
              </a:tblGrid>
              <a:tr h="27432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이동 명령</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경계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DRAM을 지나는가</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GLOAD 0xA0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DRAM → SRAM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예 (4 words)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LOAD 0x90</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 → unit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아니오</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SAVE 0x98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unit → SRAM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아니오</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GSTORE 0xA8</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 → DRAM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예 (4 words)</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7498080" y="2971800"/>
          <a:ext cx="4233672" cy="914400"/>
        </p:xfrm>
        <a:graphic>
          <a:graphicData uri="http://schemas.openxmlformats.org/drawingml/2006/table">
            <a:tbl>
              <a:tblPr/>
              <a:tblGrid>
                <a:gridCol w="1920240"/>
                <a:gridCol w="2313432"/>
              </a:tblGrid>
              <a:tr h="274320">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주소 단위</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900" b="1" dirty="0">
                          <a:solidFill>
                            <a:srgbClr val="FFFFFF"/>
                          </a:solidFill>
                          <a:latin typeface="Malgun Gothic" pitchFamily="34" charset="0"/>
                          <a:ea typeface="Malgun Gothic" pitchFamily="34" charset="-122"/>
                          <a:cs typeface="Malgun Gothic" pitchFamily="34" charset="-120"/>
                        </a:rPr>
                        <a:t>값</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plan.address (DRAM)</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unit 2 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DMA global 주소·stride</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32-bit cell (×4 B)</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SRAM descriptor 주소</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nibble (÷2 B), 8-nibble 정렬</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shape / VLEN</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D3D"/>
                          </a:solidFill>
                          <a:latin typeface="Malgun Gothic" pitchFamily="34" charset="0"/>
                          <a:ea typeface="Malgun Gothic" pitchFamily="34" charset="-122"/>
                          <a:cs typeface="Malgun Gothic" pitchFamily="34" charset="-120"/>
                        </a:rPr>
                        <a:t>element</a:t>
                      </a:r>
                      <a:endParaRPr lang="en-US" sz="9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84" name="Shape 80"/>
          <p:cNvSpPr/>
          <p:nvPr/>
        </p:nvSpPr>
        <p:spPr>
          <a:xfrm>
            <a:off x="7498080" y="4526280"/>
            <a:ext cx="4233672" cy="1234440"/>
          </a:xfrm>
          <a:prstGeom prst="roundRect">
            <a:avLst>
              <a:gd name="adj" fmla="val 4444"/>
            </a:avLst>
          </a:prstGeom>
          <a:solidFill>
            <a:srgbClr val="EEF2F6"/>
          </a:solidFill>
          <a:ln w="12700">
            <a:solidFill>
              <a:srgbClr val="C9D3DF"/>
            </a:solidFill>
            <a:prstDash val="solid"/>
          </a:ln>
        </p:spPr>
      </p:sp>
      <p:sp>
        <p:nvSpPr>
          <p:cNvPr id="85" name="Text 81"/>
          <p:cNvSpPr txBox="1"/>
          <p:nvPr/>
        </p:nvSpPr>
        <p:spPr>
          <a:xfrm>
            <a:off x="7626096" y="4581144"/>
            <a:ext cx="3977640" cy="11247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수치 계약: </a:t>
            </a:r>
            <a:pPr algn="l" indent="0" marL="0">
              <a:buNone/>
            </a:pPr>
            <a:r>
              <a:rPr lang="en-US" sz="950" dirty="0">
                <a:solidFill>
                  <a:srgbClr val="1F2D3D"/>
                </a:solidFill>
                <a:latin typeface="Malgun Gothic" pitchFamily="34" charset="0"/>
                <a:ea typeface="Malgun Gothic" pitchFamily="34" charset="-122"/>
                <a:cs typeface="Malgun Gothic" pitchFamily="34" charset="-120"/>
              </a:rPr>
              <a:t>FP16 저장, K=64 단위 FP32 부분합을 accumulator 1개에 누산, partial spill 금지. 자동 matmul 경로의 activation bit는 OFF. 성능 지표는 DMA bytes → ISA words → SRAM peak (정적, cycle 아님).</a:t>
            </a:r>
            <a:endParaRPr lang="en-US" sz="1200" dirty="0"/>
          </a:p>
        </p:txBody>
      </p:sp>
      <p:sp>
        <p:nvSpPr>
          <p:cNvPr id="86" name="Shape 8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87" name="Text 8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연산장치 안의 FP32 accumulator는 SRAM buffer가 아닙니다. 어떤 projection weight도 8 MiB에 통째로 들어가지 않으므로 panel streaming이 compiler의 핵심 결정입니다.</a:t>
            </a:r>
            <a:endParaRPr lang="en-US" sz="1250" dirty="0"/>
          </a:p>
        </p:txBody>
      </p:sp>
      <p:sp>
        <p:nvSpPr>
          <p:cNvPr id="88" name="Text 8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89" name="Text 8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docs/current/01_overview.md, reference/execution_contract.md, npu_compiler/device.py</a:t>
            </a:r>
            <a:endParaRPr lang="en-US" sz="850" dirty="0"/>
          </a:p>
        </p:txBody>
      </p:sp>
      <p:sp>
        <p:nvSpPr>
          <p:cNvPr id="90" name="Text 8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3 / 13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② 계산의 의미</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모델을 Relax로 쓰고, weight만 쓰는 계산은 host로 옮긴다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Llama 한 layer를 tensor 모양으로 본 그래프(왼쪽). 오른쪽: LiftTransformParams가 W transpose를 host 함수로 분리해 Wᵀ가 DRAM image의 정해진 주소에 한 번 놓이고, device 함수는 token마다 입력만 바꿉니다.</a:t>
            </a:r>
            <a:endParaRPr lang="en-US" sz="1250" dirty="0"/>
          </a:p>
        </p:txBody>
      </p:sp>
      <p:sp>
        <p:nvSpPr>
          <p:cNvPr id="5" name="Text 3"/>
          <p:cNvSpPr txBox="1"/>
          <p:nvPr/>
        </p:nvSpPr>
        <p:spPr>
          <a:xfrm>
            <a:off x="457200" y="1371600"/>
            <a:ext cx="694944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Llama 한 layer (prefill S=7): glyph = tensor, 겹침 = head 축, 회색 삼각형 = causal mask</a:t>
            </a:r>
            <a:endParaRPr lang="en-US" sz="900" dirty="0"/>
          </a:p>
        </p:txBody>
      </p:sp>
      <p:sp>
        <p:nvSpPr>
          <p:cNvPr id="6" name="Shape 4"/>
          <p:cNvSpPr/>
          <p:nvPr/>
        </p:nvSpPr>
        <p:spPr>
          <a:xfrm>
            <a:off x="457200" y="2148840"/>
            <a:ext cx="822960" cy="384048"/>
          </a:xfrm>
          <a:prstGeom prst="rect">
            <a:avLst/>
          </a:prstGeom>
          <a:solidFill>
            <a:srgbClr val="EEF1F5"/>
          </a:solidFill>
          <a:ln w="12700">
            <a:solidFill>
              <a:srgbClr val="5B6B7F"/>
            </a:solidFill>
            <a:prstDash val="solid"/>
          </a:ln>
        </p:spPr>
      </p:sp>
      <p:sp>
        <p:nvSpPr>
          <p:cNvPr id="7" name="Shape 5"/>
          <p:cNvSpPr/>
          <p:nvPr/>
        </p:nvSpPr>
        <p:spPr>
          <a:xfrm>
            <a:off x="594360" y="2148840"/>
            <a:ext cx="914" cy="384048"/>
          </a:xfrm>
          <a:prstGeom prst="line">
            <a:avLst/>
          </a:prstGeom>
          <a:noFill/>
          <a:ln w="5080">
            <a:solidFill>
              <a:srgbClr val="D5DCE5"/>
            </a:solidFill>
            <a:prstDash val="solid"/>
          </a:ln>
        </p:spPr>
      </p:sp>
      <p:sp>
        <p:nvSpPr>
          <p:cNvPr id="8" name="Shape 6"/>
          <p:cNvSpPr/>
          <p:nvPr/>
        </p:nvSpPr>
        <p:spPr>
          <a:xfrm>
            <a:off x="731520" y="2148840"/>
            <a:ext cx="914" cy="384048"/>
          </a:xfrm>
          <a:prstGeom prst="line">
            <a:avLst/>
          </a:prstGeom>
          <a:noFill/>
          <a:ln w="5080">
            <a:solidFill>
              <a:srgbClr val="D5DCE5"/>
            </a:solidFill>
            <a:prstDash val="solid"/>
          </a:ln>
        </p:spPr>
      </p:sp>
      <p:sp>
        <p:nvSpPr>
          <p:cNvPr id="9" name="Shape 7"/>
          <p:cNvSpPr/>
          <p:nvPr/>
        </p:nvSpPr>
        <p:spPr>
          <a:xfrm>
            <a:off x="868680" y="2148840"/>
            <a:ext cx="914" cy="384048"/>
          </a:xfrm>
          <a:prstGeom prst="line">
            <a:avLst/>
          </a:prstGeom>
          <a:noFill/>
          <a:ln w="5080">
            <a:solidFill>
              <a:srgbClr val="D5DCE5"/>
            </a:solidFill>
            <a:prstDash val="solid"/>
          </a:ln>
        </p:spPr>
      </p:sp>
      <p:sp>
        <p:nvSpPr>
          <p:cNvPr id="10" name="Shape 8"/>
          <p:cNvSpPr/>
          <p:nvPr/>
        </p:nvSpPr>
        <p:spPr>
          <a:xfrm>
            <a:off x="1005840" y="2148840"/>
            <a:ext cx="914" cy="384048"/>
          </a:xfrm>
          <a:prstGeom prst="line">
            <a:avLst/>
          </a:prstGeom>
          <a:noFill/>
          <a:ln w="5080">
            <a:solidFill>
              <a:srgbClr val="D5DCE5"/>
            </a:solidFill>
            <a:prstDash val="solid"/>
          </a:ln>
        </p:spPr>
      </p:sp>
      <p:sp>
        <p:nvSpPr>
          <p:cNvPr id="11" name="Shape 9"/>
          <p:cNvSpPr/>
          <p:nvPr/>
        </p:nvSpPr>
        <p:spPr>
          <a:xfrm>
            <a:off x="1143000" y="2148840"/>
            <a:ext cx="914" cy="384048"/>
          </a:xfrm>
          <a:prstGeom prst="line">
            <a:avLst/>
          </a:prstGeom>
          <a:noFill/>
          <a:ln w="5080">
            <a:solidFill>
              <a:srgbClr val="D5DCE5"/>
            </a:solidFill>
            <a:prstDash val="solid"/>
          </a:ln>
        </p:spPr>
      </p:sp>
      <p:sp>
        <p:nvSpPr>
          <p:cNvPr id="12" name="Text 10"/>
          <p:cNvSpPr txBox="1"/>
          <p:nvPr/>
        </p:nvSpPr>
        <p:spPr>
          <a:xfrm>
            <a:off x="457200" y="1920240"/>
            <a:ext cx="91440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X [7,3072]</a:t>
            </a:r>
            <a:endParaRPr lang="en-US" sz="750" dirty="0"/>
          </a:p>
        </p:txBody>
      </p:sp>
      <p:sp>
        <p:nvSpPr>
          <p:cNvPr id="13" name="Shape 11"/>
          <p:cNvSpPr/>
          <p:nvPr/>
        </p:nvSpPr>
        <p:spPr>
          <a:xfrm>
            <a:off x="1298448" y="2340864"/>
            <a:ext cx="301752" cy="914"/>
          </a:xfrm>
          <a:prstGeom prst="line">
            <a:avLst/>
          </a:prstGeom>
          <a:noFill/>
          <a:ln w="12700">
            <a:solidFill>
              <a:srgbClr val="5B6B7F"/>
            </a:solidFill>
            <a:prstDash val="solid"/>
            <a:tailEnd type="triangle"/>
          </a:ln>
        </p:spPr>
      </p:sp>
      <p:sp>
        <p:nvSpPr>
          <p:cNvPr id="14" name="Text 12"/>
          <p:cNvSpPr txBox="1"/>
          <p:nvPr/>
        </p:nvSpPr>
        <p:spPr>
          <a:xfrm>
            <a:off x="1143000" y="2048256"/>
            <a:ext cx="640080" cy="27432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RMSNorm</a:t>
            </a:r>
            <a:endParaRPr lang="en-US" sz="700" dirty="0"/>
          </a:p>
        </p:txBody>
      </p:sp>
      <p:sp>
        <p:nvSpPr>
          <p:cNvPr id="15" name="Shape 13"/>
          <p:cNvSpPr/>
          <p:nvPr/>
        </p:nvSpPr>
        <p:spPr>
          <a:xfrm>
            <a:off x="1627632" y="2148840"/>
            <a:ext cx="822960" cy="384048"/>
          </a:xfrm>
          <a:prstGeom prst="rect">
            <a:avLst/>
          </a:prstGeom>
          <a:solidFill>
            <a:srgbClr val="E3EEFB"/>
          </a:solidFill>
          <a:ln w="12700">
            <a:solidFill>
              <a:srgbClr val="2F6DB5"/>
            </a:solidFill>
            <a:prstDash val="solid"/>
          </a:ln>
        </p:spPr>
      </p:sp>
      <p:sp>
        <p:nvSpPr>
          <p:cNvPr id="16" name="Shape 14"/>
          <p:cNvSpPr/>
          <p:nvPr/>
        </p:nvSpPr>
        <p:spPr>
          <a:xfrm>
            <a:off x="1764792" y="2148840"/>
            <a:ext cx="914" cy="384048"/>
          </a:xfrm>
          <a:prstGeom prst="line">
            <a:avLst/>
          </a:prstGeom>
          <a:noFill/>
          <a:ln w="5080">
            <a:solidFill>
              <a:srgbClr val="D5DCE5"/>
            </a:solidFill>
            <a:prstDash val="solid"/>
          </a:ln>
        </p:spPr>
      </p:sp>
      <p:sp>
        <p:nvSpPr>
          <p:cNvPr id="17" name="Shape 15"/>
          <p:cNvSpPr/>
          <p:nvPr/>
        </p:nvSpPr>
        <p:spPr>
          <a:xfrm>
            <a:off x="1901952" y="2148840"/>
            <a:ext cx="914" cy="384048"/>
          </a:xfrm>
          <a:prstGeom prst="line">
            <a:avLst/>
          </a:prstGeom>
          <a:noFill/>
          <a:ln w="5080">
            <a:solidFill>
              <a:srgbClr val="D5DCE5"/>
            </a:solidFill>
            <a:prstDash val="solid"/>
          </a:ln>
        </p:spPr>
      </p:sp>
      <p:sp>
        <p:nvSpPr>
          <p:cNvPr id="18" name="Shape 16"/>
          <p:cNvSpPr/>
          <p:nvPr/>
        </p:nvSpPr>
        <p:spPr>
          <a:xfrm>
            <a:off x="2039112" y="2148840"/>
            <a:ext cx="914" cy="384048"/>
          </a:xfrm>
          <a:prstGeom prst="line">
            <a:avLst/>
          </a:prstGeom>
          <a:noFill/>
          <a:ln w="5080">
            <a:solidFill>
              <a:srgbClr val="D5DCE5"/>
            </a:solidFill>
            <a:prstDash val="solid"/>
          </a:ln>
        </p:spPr>
      </p:sp>
      <p:sp>
        <p:nvSpPr>
          <p:cNvPr id="19" name="Shape 17"/>
          <p:cNvSpPr/>
          <p:nvPr/>
        </p:nvSpPr>
        <p:spPr>
          <a:xfrm>
            <a:off x="2176272" y="2148840"/>
            <a:ext cx="914" cy="384048"/>
          </a:xfrm>
          <a:prstGeom prst="line">
            <a:avLst/>
          </a:prstGeom>
          <a:noFill/>
          <a:ln w="5080">
            <a:solidFill>
              <a:srgbClr val="D5DCE5"/>
            </a:solidFill>
            <a:prstDash val="solid"/>
          </a:ln>
        </p:spPr>
      </p:sp>
      <p:sp>
        <p:nvSpPr>
          <p:cNvPr id="20" name="Shape 18"/>
          <p:cNvSpPr/>
          <p:nvPr/>
        </p:nvSpPr>
        <p:spPr>
          <a:xfrm>
            <a:off x="2313432" y="2148840"/>
            <a:ext cx="914" cy="384048"/>
          </a:xfrm>
          <a:prstGeom prst="line">
            <a:avLst/>
          </a:prstGeom>
          <a:noFill/>
          <a:ln w="5080">
            <a:solidFill>
              <a:srgbClr val="D5DCE5"/>
            </a:solidFill>
            <a:prstDash val="solid"/>
          </a:ln>
        </p:spPr>
      </p:sp>
      <p:sp>
        <p:nvSpPr>
          <p:cNvPr id="21" name="Text 19"/>
          <p:cNvSpPr txBox="1"/>
          <p:nvPr/>
        </p:nvSpPr>
        <p:spPr>
          <a:xfrm>
            <a:off x="1627632" y="1920240"/>
            <a:ext cx="82296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norm₁</a:t>
            </a:r>
            <a:endParaRPr lang="en-US" sz="750" dirty="0"/>
          </a:p>
        </p:txBody>
      </p:sp>
      <p:sp>
        <p:nvSpPr>
          <p:cNvPr id="22" name="Shape 20"/>
          <p:cNvSpPr/>
          <p:nvPr/>
        </p:nvSpPr>
        <p:spPr>
          <a:xfrm>
            <a:off x="2926080" y="1691640"/>
            <a:ext cx="594360" cy="310896"/>
          </a:xfrm>
          <a:prstGeom prst="rect">
            <a:avLst/>
          </a:prstGeom>
          <a:solidFill>
            <a:srgbClr val="ECE6FA"/>
          </a:solidFill>
          <a:ln w="9525">
            <a:solidFill>
              <a:srgbClr val="6C4FBF"/>
            </a:solidFill>
            <a:prstDash val="solid"/>
          </a:ln>
        </p:spPr>
      </p:sp>
      <p:sp>
        <p:nvSpPr>
          <p:cNvPr id="23" name="Shape 21"/>
          <p:cNvSpPr/>
          <p:nvPr/>
        </p:nvSpPr>
        <p:spPr>
          <a:xfrm>
            <a:off x="2880360" y="1737360"/>
            <a:ext cx="594360" cy="310896"/>
          </a:xfrm>
          <a:prstGeom prst="rect">
            <a:avLst/>
          </a:prstGeom>
          <a:solidFill>
            <a:srgbClr val="ECE6FA"/>
          </a:solidFill>
          <a:ln w="9525">
            <a:solidFill>
              <a:srgbClr val="6C4FBF"/>
            </a:solidFill>
            <a:prstDash val="solid"/>
          </a:ln>
        </p:spPr>
      </p:sp>
      <p:sp>
        <p:nvSpPr>
          <p:cNvPr id="24" name="Shape 22"/>
          <p:cNvSpPr/>
          <p:nvPr/>
        </p:nvSpPr>
        <p:spPr>
          <a:xfrm>
            <a:off x="2834640" y="1783080"/>
            <a:ext cx="594360" cy="310896"/>
          </a:xfrm>
          <a:prstGeom prst="rect">
            <a:avLst/>
          </a:prstGeom>
          <a:solidFill>
            <a:srgbClr val="ECE6FA"/>
          </a:solidFill>
          <a:ln w="12700">
            <a:solidFill>
              <a:srgbClr val="6C4FBF"/>
            </a:solidFill>
            <a:prstDash val="solid"/>
          </a:ln>
        </p:spPr>
      </p:sp>
      <p:sp>
        <p:nvSpPr>
          <p:cNvPr id="25" name="Shape 23"/>
          <p:cNvSpPr/>
          <p:nvPr/>
        </p:nvSpPr>
        <p:spPr>
          <a:xfrm>
            <a:off x="3032760" y="1783080"/>
            <a:ext cx="914" cy="310896"/>
          </a:xfrm>
          <a:prstGeom prst="line">
            <a:avLst/>
          </a:prstGeom>
          <a:noFill/>
          <a:ln w="5080">
            <a:solidFill>
              <a:srgbClr val="D5DCE5"/>
            </a:solidFill>
            <a:prstDash val="solid"/>
          </a:ln>
        </p:spPr>
      </p:sp>
      <p:sp>
        <p:nvSpPr>
          <p:cNvPr id="26" name="Shape 24"/>
          <p:cNvSpPr/>
          <p:nvPr/>
        </p:nvSpPr>
        <p:spPr>
          <a:xfrm>
            <a:off x="3230880" y="1783080"/>
            <a:ext cx="914" cy="310896"/>
          </a:xfrm>
          <a:prstGeom prst="line">
            <a:avLst/>
          </a:prstGeom>
          <a:noFill/>
          <a:ln w="5080">
            <a:solidFill>
              <a:srgbClr val="D5DCE5"/>
            </a:solidFill>
            <a:prstDash val="solid"/>
          </a:ln>
        </p:spPr>
      </p:sp>
      <p:sp>
        <p:nvSpPr>
          <p:cNvPr id="27" name="Text 25"/>
          <p:cNvSpPr txBox="1"/>
          <p:nvPr/>
        </p:nvSpPr>
        <p:spPr>
          <a:xfrm>
            <a:off x="2834640" y="1554480"/>
            <a:ext cx="100584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Q [7,24,128]</a:t>
            </a:r>
            <a:endParaRPr lang="en-US" sz="700" dirty="0"/>
          </a:p>
        </p:txBody>
      </p:sp>
      <p:sp>
        <p:nvSpPr>
          <p:cNvPr id="28" name="Shape 26"/>
          <p:cNvSpPr/>
          <p:nvPr/>
        </p:nvSpPr>
        <p:spPr>
          <a:xfrm>
            <a:off x="2880360" y="2240280"/>
            <a:ext cx="594360" cy="310896"/>
          </a:xfrm>
          <a:prstGeom prst="rect">
            <a:avLst/>
          </a:prstGeom>
          <a:solidFill>
            <a:srgbClr val="ECE6FA"/>
          </a:solidFill>
          <a:ln w="9525">
            <a:solidFill>
              <a:srgbClr val="6C4FBF"/>
            </a:solidFill>
            <a:prstDash val="solid"/>
          </a:ln>
        </p:spPr>
      </p:sp>
      <p:sp>
        <p:nvSpPr>
          <p:cNvPr id="29" name="Shape 27"/>
          <p:cNvSpPr/>
          <p:nvPr/>
        </p:nvSpPr>
        <p:spPr>
          <a:xfrm>
            <a:off x="2834640" y="2286000"/>
            <a:ext cx="594360" cy="310896"/>
          </a:xfrm>
          <a:prstGeom prst="rect">
            <a:avLst/>
          </a:prstGeom>
          <a:solidFill>
            <a:srgbClr val="ECE6FA"/>
          </a:solidFill>
          <a:ln w="12700">
            <a:solidFill>
              <a:srgbClr val="6C4FBF"/>
            </a:solidFill>
            <a:prstDash val="solid"/>
          </a:ln>
        </p:spPr>
      </p:sp>
      <p:sp>
        <p:nvSpPr>
          <p:cNvPr id="30" name="Shape 28"/>
          <p:cNvSpPr/>
          <p:nvPr/>
        </p:nvSpPr>
        <p:spPr>
          <a:xfrm>
            <a:off x="3032760" y="2286000"/>
            <a:ext cx="914" cy="310896"/>
          </a:xfrm>
          <a:prstGeom prst="line">
            <a:avLst/>
          </a:prstGeom>
          <a:noFill/>
          <a:ln w="5080">
            <a:solidFill>
              <a:srgbClr val="D5DCE5"/>
            </a:solidFill>
            <a:prstDash val="solid"/>
          </a:ln>
        </p:spPr>
      </p:sp>
      <p:sp>
        <p:nvSpPr>
          <p:cNvPr id="31" name="Shape 29"/>
          <p:cNvSpPr/>
          <p:nvPr/>
        </p:nvSpPr>
        <p:spPr>
          <a:xfrm>
            <a:off x="3230880" y="2286000"/>
            <a:ext cx="914" cy="310896"/>
          </a:xfrm>
          <a:prstGeom prst="line">
            <a:avLst/>
          </a:prstGeom>
          <a:noFill/>
          <a:ln w="5080">
            <a:solidFill>
              <a:srgbClr val="D5DCE5"/>
            </a:solidFill>
            <a:prstDash val="solid"/>
          </a:ln>
        </p:spPr>
      </p:sp>
      <p:sp>
        <p:nvSpPr>
          <p:cNvPr id="32" name="Text 30"/>
          <p:cNvSpPr txBox="1"/>
          <p:nvPr/>
        </p:nvSpPr>
        <p:spPr>
          <a:xfrm>
            <a:off x="2834640" y="2057400"/>
            <a:ext cx="9144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K [7,8,128]</a:t>
            </a:r>
            <a:endParaRPr lang="en-US" sz="700" dirty="0"/>
          </a:p>
        </p:txBody>
      </p:sp>
      <p:sp>
        <p:nvSpPr>
          <p:cNvPr id="33" name="Shape 31"/>
          <p:cNvSpPr/>
          <p:nvPr/>
        </p:nvSpPr>
        <p:spPr>
          <a:xfrm>
            <a:off x="2880360" y="2743200"/>
            <a:ext cx="594360" cy="310896"/>
          </a:xfrm>
          <a:prstGeom prst="rect">
            <a:avLst/>
          </a:prstGeom>
          <a:solidFill>
            <a:srgbClr val="ECE6FA"/>
          </a:solidFill>
          <a:ln w="9525">
            <a:solidFill>
              <a:srgbClr val="6C4FBF"/>
            </a:solidFill>
            <a:prstDash val="solid"/>
          </a:ln>
        </p:spPr>
      </p:sp>
      <p:sp>
        <p:nvSpPr>
          <p:cNvPr id="34" name="Shape 32"/>
          <p:cNvSpPr/>
          <p:nvPr/>
        </p:nvSpPr>
        <p:spPr>
          <a:xfrm>
            <a:off x="2834640" y="2788920"/>
            <a:ext cx="594360" cy="310896"/>
          </a:xfrm>
          <a:prstGeom prst="rect">
            <a:avLst/>
          </a:prstGeom>
          <a:solidFill>
            <a:srgbClr val="ECE6FA"/>
          </a:solidFill>
          <a:ln w="12700">
            <a:solidFill>
              <a:srgbClr val="6C4FBF"/>
            </a:solidFill>
            <a:prstDash val="solid"/>
          </a:ln>
        </p:spPr>
      </p:sp>
      <p:sp>
        <p:nvSpPr>
          <p:cNvPr id="35" name="Shape 33"/>
          <p:cNvSpPr/>
          <p:nvPr/>
        </p:nvSpPr>
        <p:spPr>
          <a:xfrm>
            <a:off x="3032760" y="2788920"/>
            <a:ext cx="914" cy="310896"/>
          </a:xfrm>
          <a:prstGeom prst="line">
            <a:avLst/>
          </a:prstGeom>
          <a:noFill/>
          <a:ln w="5080">
            <a:solidFill>
              <a:srgbClr val="D5DCE5"/>
            </a:solidFill>
            <a:prstDash val="solid"/>
          </a:ln>
        </p:spPr>
      </p:sp>
      <p:sp>
        <p:nvSpPr>
          <p:cNvPr id="36" name="Shape 34"/>
          <p:cNvSpPr/>
          <p:nvPr/>
        </p:nvSpPr>
        <p:spPr>
          <a:xfrm>
            <a:off x="3230880" y="2788920"/>
            <a:ext cx="914" cy="310896"/>
          </a:xfrm>
          <a:prstGeom prst="line">
            <a:avLst/>
          </a:prstGeom>
          <a:noFill/>
          <a:ln w="5080">
            <a:solidFill>
              <a:srgbClr val="D5DCE5"/>
            </a:solidFill>
            <a:prstDash val="solid"/>
          </a:ln>
        </p:spPr>
      </p:sp>
      <p:sp>
        <p:nvSpPr>
          <p:cNvPr id="37" name="Text 35"/>
          <p:cNvSpPr txBox="1"/>
          <p:nvPr/>
        </p:nvSpPr>
        <p:spPr>
          <a:xfrm>
            <a:off x="2834640" y="2560320"/>
            <a:ext cx="9144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V [7,8,128]</a:t>
            </a:r>
            <a:endParaRPr lang="en-US" sz="700" dirty="0"/>
          </a:p>
        </p:txBody>
      </p:sp>
      <p:sp>
        <p:nvSpPr>
          <p:cNvPr id="38" name="Shape 36"/>
          <p:cNvSpPr/>
          <p:nvPr/>
        </p:nvSpPr>
        <p:spPr>
          <a:xfrm flipV="1">
            <a:off x="2468880" y="1938528"/>
            <a:ext cx="365760" cy="402336"/>
          </a:xfrm>
          <a:prstGeom prst="line">
            <a:avLst/>
          </a:prstGeom>
          <a:noFill/>
          <a:ln w="9525">
            <a:solidFill>
              <a:srgbClr val="5B6B7F"/>
            </a:solidFill>
            <a:prstDash val="solid"/>
            <a:tailEnd type="triangle"/>
          </a:ln>
        </p:spPr>
      </p:sp>
      <p:sp>
        <p:nvSpPr>
          <p:cNvPr id="39" name="Shape 37"/>
          <p:cNvSpPr/>
          <p:nvPr/>
        </p:nvSpPr>
        <p:spPr>
          <a:xfrm>
            <a:off x="2468880" y="2340864"/>
            <a:ext cx="365760" cy="100584"/>
          </a:xfrm>
          <a:prstGeom prst="line">
            <a:avLst/>
          </a:prstGeom>
          <a:noFill/>
          <a:ln w="9525">
            <a:solidFill>
              <a:srgbClr val="5B6B7F"/>
            </a:solidFill>
            <a:prstDash val="solid"/>
            <a:tailEnd type="triangle"/>
          </a:ln>
        </p:spPr>
      </p:sp>
      <p:sp>
        <p:nvSpPr>
          <p:cNvPr id="40" name="Shape 38"/>
          <p:cNvSpPr/>
          <p:nvPr/>
        </p:nvSpPr>
        <p:spPr>
          <a:xfrm>
            <a:off x="2468880" y="2340864"/>
            <a:ext cx="365760" cy="603504"/>
          </a:xfrm>
          <a:prstGeom prst="line">
            <a:avLst/>
          </a:prstGeom>
          <a:noFill/>
          <a:ln w="9525">
            <a:solidFill>
              <a:srgbClr val="5B6B7F"/>
            </a:solidFill>
            <a:prstDash val="solid"/>
            <a:tailEnd type="triangle"/>
          </a:ln>
        </p:spPr>
      </p:sp>
      <p:sp>
        <p:nvSpPr>
          <p:cNvPr id="41" name="Text 39"/>
          <p:cNvSpPr txBox="1"/>
          <p:nvPr/>
        </p:nvSpPr>
        <p:spPr>
          <a:xfrm>
            <a:off x="2331720" y="1783080"/>
            <a:ext cx="548640" cy="274320"/>
          </a:xfrm>
          <a:prstGeom prst="rect">
            <a:avLst/>
          </a:prstGeom>
          <a:noFill/>
          <a:ln/>
        </p:spPr>
        <p:txBody>
          <a:bodyPr wrap="square" lIns="0" tIns="0" rIns="0" bIns="0" rtlCol="0" anchor="t"/>
          <a:lstStyle/>
          <a:p>
            <a:pPr algn="ctr" indent="0" marL="0">
              <a:buNone/>
            </a:pPr>
            <a:r>
              <a:rPr lang="en-US" sz="650" b="1" dirty="0">
                <a:solidFill>
                  <a:srgbClr val="6C4FBF"/>
                </a:solidFill>
                <a:latin typeface="Malgun Gothic" pitchFamily="34" charset="0"/>
                <a:ea typeface="Malgun Gothic" pitchFamily="34" charset="-122"/>
                <a:cs typeface="Malgun Gothic" pitchFamily="34" charset="-120"/>
              </a:rPr>
              <a:t>q/k/v</a:t>
            </a:r>
            <a:endParaRPr lang="en-US" sz="650" dirty="0"/>
          </a:p>
          <a:p>
            <a:pPr algn="ctr" indent="0" marL="0">
              <a:buNone/>
            </a:pPr>
            <a:r>
              <a:rPr lang="en-US" sz="650" b="1" dirty="0">
                <a:solidFill>
                  <a:srgbClr val="6C4FBF"/>
                </a:solidFill>
                <a:latin typeface="Malgun Gothic" pitchFamily="34" charset="0"/>
                <a:ea typeface="Malgun Gothic" pitchFamily="34" charset="-122"/>
                <a:cs typeface="Malgun Gothic" pitchFamily="34" charset="-120"/>
              </a:rPr>
              <a:t>proj</a:t>
            </a:r>
            <a:endParaRPr lang="en-US" sz="650" dirty="0"/>
          </a:p>
        </p:txBody>
      </p:sp>
      <p:sp>
        <p:nvSpPr>
          <p:cNvPr id="42" name="Text 40"/>
          <p:cNvSpPr txBox="1"/>
          <p:nvPr/>
        </p:nvSpPr>
        <p:spPr>
          <a:xfrm>
            <a:off x="3566160" y="1828800"/>
            <a:ext cx="411480" cy="237744"/>
          </a:xfrm>
          <a:prstGeom prst="roundRect">
            <a:avLst>
              <a:gd name="adj" fmla="val 50000"/>
            </a:avLst>
          </a:prstGeom>
          <a:solidFill>
            <a:srgbClr val="E3EEFB"/>
          </a:solidFill>
          <a:ln w="9525">
            <a:solidFill>
              <a:srgbClr val="2F6DB5"/>
            </a:solidFill>
          </a:ln>
        </p:spPr>
        <p:txBody>
          <a:bodyPr wrap="square" lIns="0" tIns="0" rIns="0" bIns="0" rtlCol="0" anchor="ctr"/>
          <a:lstStyle/>
          <a:p>
            <a:pPr algn="ctr" indent="0" marL="0">
              <a:buNone/>
            </a:pPr>
            <a:r>
              <a:rPr lang="en-US" sz="650" b="1" dirty="0">
                <a:solidFill>
                  <a:srgbClr val="2F6DB5"/>
                </a:solidFill>
                <a:latin typeface="Malgun Gothic" pitchFamily="34" charset="0"/>
                <a:ea typeface="Malgun Gothic" pitchFamily="34" charset="-122"/>
                <a:cs typeface="Malgun Gothic" pitchFamily="34" charset="-120"/>
              </a:rPr>
              <a:t>RoPE</a:t>
            </a:r>
            <a:endParaRPr lang="en-US" sz="650" dirty="0"/>
          </a:p>
        </p:txBody>
      </p:sp>
      <p:sp>
        <p:nvSpPr>
          <p:cNvPr id="43" name="Text 41"/>
          <p:cNvSpPr txBox="1"/>
          <p:nvPr/>
        </p:nvSpPr>
        <p:spPr>
          <a:xfrm>
            <a:off x="3566160" y="2331720"/>
            <a:ext cx="731520" cy="237744"/>
          </a:xfrm>
          <a:prstGeom prst="roundRect">
            <a:avLst>
              <a:gd name="adj" fmla="val 50000"/>
            </a:avLst>
          </a:prstGeom>
          <a:solidFill>
            <a:srgbClr val="E3EEFB"/>
          </a:solidFill>
          <a:ln w="9525">
            <a:solidFill>
              <a:srgbClr val="2F6DB5"/>
            </a:solidFill>
          </a:ln>
        </p:spPr>
        <p:txBody>
          <a:bodyPr wrap="square" lIns="0" tIns="0" rIns="0" bIns="0" rtlCol="0" anchor="ctr"/>
          <a:lstStyle/>
          <a:p>
            <a:pPr algn="ctr" indent="0" marL="0">
              <a:buNone/>
            </a:pPr>
            <a:r>
              <a:rPr lang="en-US" sz="650" b="1" dirty="0">
                <a:solidFill>
                  <a:srgbClr val="2F6DB5"/>
                </a:solidFill>
                <a:latin typeface="Malgun Gothic" pitchFamily="34" charset="0"/>
                <a:ea typeface="Malgun Gothic" pitchFamily="34" charset="-122"/>
                <a:cs typeface="Malgun Gothic" pitchFamily="34" charset="-120"/>
              </a:rPr>
              <a:t>RoPE·rep×3</a:t>
            </a:r>
            <a:endParaRPr lang="en-US" sz="650" dirty="0"/>
          </a:p>
        </p:txBody>
      </p:sp>
      <p:sp>
        <p:nvSpPr>
          <p:cNvPr id="44" name="Text 42"/>
          <p:cNvSpPr txBox="1"/>
          <p:nvPr/>
        </p:nvSpPr>
        <p:spPr>
          <a:xfrm>
            <a:off x="3566160" y="2834640"/>
            <a:ext cx="502920" cy="237744"/>
          </a:xfrm>
          <a:prstGeom prst="roundRect">
            <a:avLst>
              <a:gd name="adj" fmla="val 50000"/>
            </a:avLst>
          </a:prstGeom>
          <a:solidFill>
            <a:srgbClr val="E3EEFB"/>
          </a:solidFill>
          <a:ln w="9525">
            <a:solidFill>
              <a:srgbClr val="2F6DB5"/>
            </a:solidFill>
          </a:ln>
        </p:spPr>
        <p:txBody>
          <a:bodyPr wrap="square" lIns="0" tIns="0" rIns="0" bIns="0" rtlCol="0" anchor="ctr"/>
          <a:lstStyle/>
          <a:p>
            <a:pPr algn="ctr" indent="0" marL="0">
              <a:buNone/>
            </a:pPr>
            <a:r>
              <a:rPr lang="en-US" sz="650" b="1" dirty="0">
                <a:solidFill>
                  <a:srgbClr val="2F6DB5"/>
                </a:solidFill>
                <a:latin typeface="Malgun Gothic" pitchFamily="34" charset="0"/>
                <a:ea typeface="Malgun Gothic" pitchFamily="34" charset="-122"/>
                <a:cs typeface="Malgun Gothic" pitchFamily="34" charset="-120"/>
              </a:rPr>
              <a:t>rep×3</a:t>
            </a:r>
            <a:endParaRPr lang="en-US" sz="650" dirty="0"/>
          </a:p>
        </p:txBody>
      </p:sp>
      <p:sp>
        <p:nvSpPr>
          <p:cNvPr id="45" name="Shape 43"/>
          <p:cNvSpPr/>
          <p:nvPr/>
        </p:nvSpPr>
        <p:spPr>
          <a:xfrm>
            <a:off x="4572000" y="1691640"/>
            <a:ext cx="566928" cy="566928"/>
          </a:xfrm>
          <a:prstGeom prst="rect">
            <a:avLst/>
          </a:prstGeom>
          <a:solidFill>
            <a:srgbClr val="ECE6FA"/>
          </a:solidFill>
          <a:ln w="9525">
            <a:solidFill>
              <a:srgbClr val="6C4FBF"/>
            </a:solidFill>
            <a:prstDash val="solid"/>
          </a:ln>
        </p:spPr>
      </p:sp>
      <p:sp>
        <p:nvSpPr>
          <p:cNvPr id="46" name="Shape 44"/>
          <p:cNvSpPr/>
          <p:nvPr/>
        </p:nvSpPr>
        <p:spPr>
          <a:xfrm>
            <a:off x="4526280" y="1737360"/>
            <a:ext cx="566928" cy="566928"/>
          </a:xfrm>
          <a:prstGeom prst="rect">
            <a:avLst/>
          </a:prstGeom>
          <a:solidFill>
            <a:srgbClr val="ECE6FA"/>
          </a:solidFill>
          <a:ln w="9525">
            <a:solidFill>
              <a:srgbClr val="6C4FBF"/>
            </a:solidFill>
            <a:prstDash val="solid"/>
          </a:ln>
        </p:spPr>
      </p:sp>
      <p:sp>
        <p:nvSpPr>
          <p:cNvPr id="47" name="Shape 45"/>
          <p:cNvSpPr/>
          <p:nvPr/>
        </p:nvSpPr>
        <p:spPr>
          <a:xfrm>
            <a:off x="4480560" y="1783080"/>
            <a:ext cx="566928" cy="566928"/>
          </a:xfrm>
          <a:prstGeom prst="rect">
            <a:avLst/>
          </a:prstGeom>
          <a:solidFill>
            <a:srgbClr val="ECE6FA"/>
          </a:solidFill>
          <a:ln w="12700">
            <a:solidFill>
              <a:srgbClr val="6C4FBF"/>
            </a:solidFill>
            <a:prstDash val="solid"/>
          </a:ln>
        </p:spPr>
      </p:sp>
      <p:sp>
        <p:nvSpPr>
          <p:cNvPr id="48" name="Shape 46"/>
          <p:cNvSpPr/>
          <p:nvPr/>
        </p:nvSpPr>
        <p:spPr>
          <a:xfrm>
            <a:off x="4561550" y="1783080"/>
            <a:ext cx="80990" cy="80990"/>
          </a:xfrm>
          <a:prstGeom prst="rect">
            <a:avLst/>
          </a:prstGeom>
          <a:solidFill>
            <a:srgbClr val="EEF2F6"/>
          </a:solidFill>
          <a:ln w="3810">
            <a:solidFill>
              <a:srgbClr val="C9D3DF"/>
            </a:solidFill>
            <a:prstDash val="solid"/>
          </a:ln>
        </p:spPr>
      </p:sp>
      <p:sp>
        <p:nvSpPr>
          <p:cNvPr id="49" name="Shape 47"/>
          <p:cNvSpPr/>
          <p:nvPr/>
        </p:nvSpPr>
        <p:spPr>
          <a:xfrm>
            <a:off x="4642539" y="1783080"/>
            <a:ext cx="80990" cy="80990"/>
          </a:xfrm>
          <a:prstGeom prst="rect">
            <a:avLst/>
          </a:prstGeom>
          <a:solidFill>
            <a:srgbClr val="EEF2F6"/>
          </a:solidFill>
          <a:ln w="3810">
            <a:solidFill>
              <a:srgbClr val="C9D3DF"/>
            </a:solidFill>
            <a:prstDash val="solid"/>
          </a:ln>
        </p:spPr>
      </p:sp>
      <p:sp>
        <p:nvSpPr>
          <p:cNvPr id="50" name="Shape 48"/>
          <p:cNvSpPr/>
          <p:nvPr/>
        </p:nvSpPr>
        <p:spPr>
          <a:xfrm>
            <a:off x="4723529" y="1783080"/>
            <a:ext cx="80990" cy="80990"/>
          </a:xfrm>
          <a:prstGeom prst="rect">
            <a:avLst/>
          </a:prstGeom>
          <a:solidFill>
            <a:srgbClr val="EEF2F6"/>
          </a:solidFill>
          <a:ln w="3810">
            <a:solidFill>
              <a:srgbClr val="C9D3DF"/>
            </a:solidFill>
            <a:prstDash val="solid"/>
          </a:ln>
        </p:spPr>
      </p:sp>
      <p:sp>
        <p:nvSpPr>
          <p:cNvPr id="51" name="Shape 49"/>
          <p:cNvSpPr/>
          <p:nvPr/>
        </p:nvSpPr>
        <p:spPr>
          <a:xfrm>
            <a:off x="4804519" y="1783080"/>
            <a:ext cx="80990" cy="80990"/>
          </a:xfrm>
          <a:prstGeom prst="rect">
            <a:avLst/>
          </a:prstGeom>
          <a:solidFill>
            <a:srgbClr val="EEF2F6"/>
          </a:solidFill>
          <a:ln w="3810">
            <a:solidFill>
              <a:srgbClr val="C9D3DF"/>
            </a:solidFill>
            <a:prstDash val="solid"/>
          </a:ln>
        </p:spPr>
      </p:sp>
      <p:sp>
        <p:nvSpPr>
          <p:cNvPr id="52" name="Shape 50"/>
          <p:cNvSpPr/>
          <p:nvPr/>
        </p:nvSpPr>
        <p:spPr>
          <a:xfrm>
            <a:off x="4885509" y="1783080"/>
            <a:ext cx="80990" cy="80990"/>
          </a:xfrm>
          <a:prstGeom prst="rect">
            <a:avLst/>
          </a:prstGeom>
          <a:solidFill>
            <a:srgbClr val="EEF2F6"/>
          </a:solidFill>
          <a:ln w="3810">
            <a:solidFill>
              <a:srgbClr val="C9D3DF"/>
            </a:solidFill>
            <a:prstDash val="solid"/>
          </a:ln>
        </p:spPr>
      </p:sp>
      <p:sp>
        <p:nvSpPr>
          <p:cNvPr id="53" name="Shape 51"/>
          <p:cNvSpPr/>
          <p:nvPr/>
        </p:nvSpPr>
        <p:spPr>
          <a:xfrm>
            <a:off x="4966498" y="1783080"/>
            <a:ext cx="80990" cy="80990"/>
          </a:xfrm>
          <a:prstGeom prst="rect">
            <a:avLst/>
          </a:prstGeom>
          <a:solidFill>
            <a:srgbClr val="EEF2F6"/>
          </a:solidFill>
          <a:ln w="3810">
            <a:solidFill>
              <a:srgbClr val="C9D3DF"/>
            </a:solidFill>
            <a:prstDash val="solid"/>
          </a:ln>
        </p:spPr>
      </p:sp>
      <p:sp>
        <p:nvSpPr>
          <p:cNvPr id="54" name="Shape 52"/>
          <p:cNvSpPr/>
          <p:nvPr/>
        </p:nvSpPr>
        <p:spPr>
          <a:xfrm>
            <a:off x="4642539" y="1864070"/>
            <a:ext cx="80990" cy="80990"/>
          </a:xfrm>
          <a:prstGeom prst="rect">
            <a:avLst/>
          </a:prstGeom>
          <a:solidFill>
            <a:srgbClr val="EEF2F6"/>
          </a:solidFill>
          <a:ln w="3810">
            <a:solidFill>
              <a:srgbClr val="C9D3DF"/>
            </a:solidFill>
            <a:prstDash val="solid"/>
          </a:ln>
        </p:spPr>
      </p:sp>
      <p:sp>
        <p:nvSpPr>
          <p:cNvPr id="55" name="Shape 53"/>
          <p:cNvSpPr/>
          <p:nvPr/>
        </p:nvSpPr>
        <p:spPr>
          <a:xfrm>
            <a:off x="4723529" y="1864070"/>
            <a:ext cx="80990" cy="80990"/>
          </a:xfrm>
          <a:prstGeom prst="rect">
            <a:avLst/>
          </a:prstGeom>
          <a:solidFill>
            <a:srgbClr val="EEF2F6"/>
          </a:solidFill>
          <a:ln w="3810">
            <a:solidFill>
              <a:srgbClr val="C9D3DF"/>
            </a:solidFill>
            <a:prstDash val="solid"/>
          </a:ln>
        </p:spPr>
      </p:sp>
      <p:sp>
        <p:nvSpPr>
          <p:cNvPr id="56" name="Shape 54"/>
          <p:cNvSpPr/>
          <p:nvPr/>
        </p:nvSpPr>
        <p:spPr>
          <a:xfrm>
            <a:off x="4804519" y="1864070"/>
            <a:ext cx="80990" cy="80990"/>
          </a:xfrm>
          <a:prstGeom prst="rect">
            <a:avLst/>
          </a:prstGeom>
          <a:solidFill>
            <a:srgbClr val="EEF2F6"/>
          </a:solidFill>
          <a:ln w="3810">
            <a:solidFill>
              <a:srgbClr val="C9D3DF"/>
            </a:solidFill>
            <a:prstDash val="solid"/>
          </a:ln>
        </p:spPr>
      </p:sp>
      <p:sp>
        <p:nvSpPr>
          <p:cNvPr id="57" name="Shape 55"/>
          <p:cNvSpPr/>
          <p:nvPr/>
        </p:nvSpPr>
        <p:spPr>
          <a:xfrm>
            <a:off x="4885509" y="1864070"/>
            <a:ext cx="80990" cy="80990"/>
          </a:xfrm>
          <a:prstGeom prst="rect">
            <a:avLst/>
          </a:prstGeom>
          <a:solidFill>
            <a:srgbClr val="EEF2F6"/>
          </a:solidFill>
          <a:ln w="3810">
            <a:solidFill>
              <a:srgbClr val="C9D3DF"/>
            </a:solidFill>
            <a:prstDash val="solid"/>
          </a:ln>
        </p:spPr>
      </p:sp>
      <p:sp>
        <p:nvSpPr>
          <p:cNvPr id="58" name="Shape 56"/>
          <p:cNvSpPr/>
          <p:nvPr/>
        </p:nvSpPr>
        <p:spPr>
          <a:xfrm>
            <a:off x="4966498" y="1864070"/>
            <a:ext cx="80990" cy="80990"/>
          </a:xfrm>
          <a:prstGeom prst="rect">
            <a:avLst/>
          </a:prstGeom>
          <a:solidFill>
            <a:srgbClr val="EEF2F6"/>
          </a:solidFill>
          <a:ln w="3810">
            <a:solidFill>
              <a:srgbClr val="C9D3DF"/>
            </a:solidFill>
            <a:prstDash val="solid"/>
          </a:ln>
        </p:spPr>
      </p:sp>
      <p:sp>
        <p:nvSpPr>
          <p:cNvPr id="59" name="Shape 57"/>
          <p:cNvSpPr/>
          <p:nvPr/>
        </p:nvSpPr>
        <p:spPr>
          <a:xfrm>
            <a:off x="4723529" y="1945059"/>
            <a:ext cx="80990" cy="80990"/>
          </a:xfrm>
          <a:prstGeom prst="rect">
            <a:avLst/>
          </a:prstGeom>
          <a:solidFill>
            <a:srgbClr val="EEF2F6"/>
          </a:solidFill>
          <a:ln w="3810">
            <a:solidFill>
              <a:srgbClr val="C9D3DF"/>
            </a:solidFill>
            <a:prstDash val="solid"/>
          </a:ln>
        </p:spPr>
      </p:sp>
      <p:sp>
        <p:nvSpPr>
          <p:cNvPr id="60" name="Shape 58"/>
          <p:cNvSpPr/>
          <p:nvPr/>
        </p:nvSpPr>
        <p:spPr>
          <a:xfrm>
            <a:off x="4804519" y="1945059"/>
            <a:ext cx="80990" cy="80990"/>
          </a:xfrm>
          <a:prstGeom prst="rect">
            <a:avLst/>
          </a:prstGeom>
          <a:solidFill>
            <a:srgbClr val="EEF2F6"/>
          </a:solidFill>
          <a:ln w="3810">
            <a:solidFill>
              <a:srgbClr val="C9D3DF"/>
            </a:solidFill>
            <a:prstDash val="solid"/>
          </a:ln>
        </p:spPr>
      </p:sp>
      <p:sp>
        <p:nvSpPr>
          <p:cNvPr id="61" name="Shape 59"/>
          <p:cNvSpPr/>
          <p:nvPr/>
        </p:nvSpPr>
        <p:spPr>
          <a:xfrm>
            <a:off x="4885509" y="1945059"/>
            <a:ext cx="80990" cy="80990"/>
          </a:xfrm>
          <a:prstGeom prst="rect">
            <a:avLst/>
          </a:prstGeom>
          <a:solidFill>
            <a:srgbClr val="EEF2F6"/>
          </a:solidFill>
          <a:ln w="3810">
            <a:solidFill>
              <a:srgbClr val="C9D3DF"/>
            </a:solidFill>
            <a:prstDash val="solid"/>
          </a:ln>
        </p:spPr>
      </p:sp>
      <p:sp>
        <p:nvSpPr>
          <p:cNvPr id="62" name="Shape 60"/>
          <p:cNvSpPr/>
          <p:nvPr/>
        </p:nvSpPr>
        <p:spPr>
          <a:xfrm>
            <a:off x="4966498" y="1945059"/>
            <a:ext cx="80990" cy="80990"/>
          </a:xfrm>
          <a:prstGeom prst="rect">
            <a:avLst/>
          </a:prstGeom>
          <a:solidFill>
            <a:srgbClr val="EEF2F6"/>
          </a:solidFill>
          <a:ln w="3810">
            <a:solidFill>
              <a:srgbClr val="C9D3DF"/>
            </a:solidFill>
            <a:prstDash val="solid"/>
          </a:ln>
        </p:spPr>
      </p:sp>
      <p:sp>
        <p:nvSpPr>
          <p:cNvPr id="63" name="Shape 61"/>
          <p:cNvSpPr/>
          <p:nvPr/>
        </p:nvSpPr>
        <p:spPr>
          <a:xfrm>
            <a:off x="4804519" y="2026049"/>
            <a:ext cx="80990" cy="80990"/>
          </a:xfrm>
          <a:prstGeom prst="rect">
            <a:avLst/>
          </a:prstGeom>
          <a:solidFill>
            <a:srgbClr val="EEF2F6"/>
          </a:solidFill>
          <a:ln w="3810">
            <a:solidFill>
              <a:srgbClr val="C9D3DF"/>
            </a:solidFill>
            <a:prstDash val="solid"/>
          </a:ln>
        </p:spPr>
      </p:sp>
      <p:sp>
        <p:nvSpPr>
          <p:cNvPr id="64" name="Shape 62"/>
          <p:cNvSpPr/>
          <p:nvPr/>
        </p:nvSpPr>
        <p:spPr>
          <a:xfrm>
            <a:off x="4885509" y="2026049"/>
            <a:ext cx="80990" cy="80990"/>
          </a:xfrm>
          <a:prstGeom prst="rect">
            <a:avLst/>
          </a:prstGeom>
          <a:solidFill>
            <a:srgbClr val="EEF2F6"/>
          </a:solidFill>
          <a:ln w="3810">
            <a:solidFill>
              <a:srgbClr val="C9D3DF"/>
            </a:solidFill>
            <a:prstDash val="solid"/>
          </a:ln>
        </p:spPr>
      </p:sp>
      <p:sp>
        <p:nvSpPr>
          <p:cNvPr id="65" name="Shape 63"/>
          <p:cNvSpPr/>
          <p:nvPr/>
        </p:nvSpPr>
        <p:spPr>
          <a:xfrm>
            <a:off x="4966498" y="2026049"/>
            <a:ext cx="80990" cy="80990"/>
          </a:xfrm>
          <a:prstGeom prst="rect">
            <a:avLst/>
          </a:prstGeom>
          <a:solidFill>
            <a:srgbClr val="EEF2F6"/>
          </a:solidFill>
          <a:ln w="3810">
            <a:solidFill>
              <a:srgbClr val="C9D3DF"/>
            </a:solidFill>
            <a:prstDash val="solid"/>
          </a:ln>
        </p:spPr>
      </p:sp>
      <p:sp>
        <p:nvSpPr>
          <p:cNvPr id="66" name="Shape 64"/>
          <p:cNvSpPr/>
          <p:nvPr/>
        </p:nvSpPr>
        <p:spPr>
          <a:xfrm>
            <a:off x="4885509" y="2107039"/>
            <a:ext cx="80990" cy="80990"/>
          </a:xfrm>
          <a:prstGeom prst="rect">
            <a:avLst/>
          </a:prstGeom>
          <a:solidFill>
            <a:srgbClr val="EEF2F6"/>
          </a:solidFill>
          <a:ln w="3810">
            <a:solidFill>
              <a:srgbClr val="C9D3DF"/>
            </a:solidFill>
            <a:prstDash val="solid"/>
          </a:ln>
        </p:spPr>
      </p:sp>
      <p:sp>
        <p:nvSpPr>
          <p:cNvPr id="67" name="Shape 65"/>
          <p:cNvSpPr/>
          <p:nvPr/>
        </p:nvSpPr>
        <p:spPr>
          <a:xfrm>
            <a:off x="4966498" y="2107039"/>
            <a:ext cx="80990" cy="80990"/>
          </a:xfrm>
          <a:prstGeom prst="rect">
            <a:avLst/>
          </a:prstGeom>
          <a:solidFill>
            <a:srgbClr val="EEF2F6"/>
          </a:solidFill>
          <a:ln w="3810">
            <a:solidFill>
              <a:srgbClr val="C9D3DF"/>
            </a:solidFill>
            <a:prstDash val="solid"/>
          </a:ln>
        </p:spPr>
      </p:sp>
      <p:sp>
        <p:nvSpPr>
          <p:cNvPr id="68" name="Shape 66"/>
          <p:cNvSpPr/>
          <p:nvPr/>
        </p:nvSpPr>
        <p:spPr>
          <a:xfrm>
            <a:off x="4966498" y="2188029"/>
            <a:ext cx="80990" cy="80990"/>
          </a:xfrm>
          <a:prstGeom prst="rect">
            <a:avLst/>
          </a:prstGeom>
          <a:solidFill>
            <a:srgbClr val="EEF2F6"/>
          </a:solidFill>
          <a:ln w="3810">
            <a:solidFill>
              <a:srgbClr val="C9D3DF"/>
            </a:solidFill>
            <a:prstDash val="solid"/>
          </a:ln>
        </p:spPr>
      </p:sp>
      <p:sp>
        <p:nvSpPr>
          <p:cNvPr id="69" name="Shape 67"/>
          <p:cNvSpPr/>
          <p:nvPr/>
        </p:nvSpPr>
        <p:spPr>
          <a:xfrm>
            <a:off x="4561550" y="1783080"/>
            <a:ext cx="914" cy="566928"/>
          </a:xfrm>
          <a:prstGeom prst="line">
            <a:avLst/>
          </a:prstGeom>
          <a:noFill/>
          <a:ln w="5080">
            <a:solidFill>
              <a:srgbClr val="D5DCE5"/>
            </a:solidFill>
            <a:prstDash val="solid"/>
          </a:ln>
        </p:spPr>
      </p:sp>
      <p:sp>
        <p:nvSpPr>
          <p:cNvPr id="70" name="Shape 68"/>
          <p:cNvSpPr/>
          <p:nvPr/>
        </p:nvSpPr>
        <p:spPr>
          <a:xfrm>
            <a:off x="4642539" y="1783080"/>
            <a:ext cx="914" cy="566928"/>
          </a:xfrm>
          <a:prstGeom prst="line">
            <a:avLst/>
          </a:prstGeom>
          <a:noFill/>
          <a:ln w="5080">
            <a:solidFill>
              <a:srgbClr val="D5DCE5"/>
            </a:solidFill>
            <a:prstDash val="solid"/>
          </a:ln>
        </p:spPr>
      </p:sp>
      <p:sp>
        <p:nvSpPr>
          <p:cNvPr id="71" name="Shape 69"/>
          <p:cNvSpPr/>
          <p:nvPr/>
        </p:nvSpPr>
        <p:spPr>
          <a:xfrm>
            <a:off x="4723529" y="1783080"/>
            <a:ext cx="914" cy="566928"/>
          </a:xfrm>
          <a:prstGeom prst="line">
            <a:avLst/>
          </a:prstGeom>
          <a:noFill/>
          <a:ln w="5080">
            <a:solidFill>
              <a:srgbClr val="D5DCE5"/>
            </a:solidFill>
            <a:prstDash val="solid"/>
          </a:ln>
        </p:spPr>
      </p:sp>
      <p:sp>
        <p:nvSpPr>
          <p:cNvPr id="72" name="Shape 70"/>
          <p:cNvSpPr/>
          <p:nvPr/>
        </p:nvSpPr>
        <p:spPr>
          <a:xfrm>
            <a:off x="4804519" y="1783080"/>
            <a:ext cx="914" cy="566928"/>
          </a:xfrm>
          <a:prstGeom prst="line">
            <a:avLst/>
          </a:prstGeom>
          <a:noFill/>
          <a:ln w="5080">
            <a:solidFill>
              <a:srgbClr val="D5DCE5"/>
            </a:solidFill>
            <a:prstDash val="solid"/>
          </a:ln>
        </p:spPr>
      </p:sp>
      <p:sp>
        <p:nvSpPr>
          <p:cNvPr id="73" name="Shape 71"/>
          <p:cNvSpPr/>
          <p:nvPr/>
        </p:nvSpPr>
        <p:spPr>
          <a:xfrm>
            <a:off x="4885509" y="1783080"/>
            <a:ext cx="914" cy="566928"/>
          </a:xfrm>
          <a:prstGeom prst="line">
            <a:avLst/>
          </a:prstGeom>
          <a:noFill/>
          <a:ln w="5080">
            <a:solidFill>
              <a:srgbClr val="D5DCE5"/>
            </a:solidFill>
            <a:prstDash val="solid"/>
          </a:ln>
        </p:spPr>
      </p:sp>
      <p:sp>
        <p:nvSpPr>
          <p:cNvPr id="74" name="Shape 72"/>
          <p:cNvSpPr/>
          <p:nvPr/>
        </p:nvSpPr>
        <p:spPr>
          <a:xfrm>
            <a:off x="4966498" y="1783080"/>
            <a:ext cx="914" cy="566928"/>
          </a:xfrm>
          <a:prstGeom prst="line">
            <a:avLst/>
          </a:prstGeom>
          <a:noFill/>
          <a:ln w="5080">
            <a:solidFill>
              <a:srgbClr val="D5DCE5"/>
            </a:solidFill>
            <a:prstDash val="solid"/>
          </a:ln>
        </p:spPr>
      </p:sp>
      <p:sp>
        <p:nvSpPr>
          <p:cNvPr id="75" name="Shape 73"/>
          <p:cNvSpPr/>
          <p:nvPr/>
        </p:nvSpPr>
        <p:spPr>
          <a:xfrm>
            <a:off x="4480560" y="1864070"/>
            <a:ext cx="566928" cy="914"/>
          </a:xfrm>
          <a:prstGeom prst="line">
            <a:avLst/>
          </a:prstGeom>
          <a:noFill/>
          <a:ln w="5080">
            <a:solidFill>
              <a:srgbClr val="D5DCE5"/>
            </a:solidFill>
            <a:prstDash val="solid"/>
          </a:ln>
        </p:spPr>
      </p:sp>
      <p:sp>
        <p:nvSpPr>
          <p:cNvPr id="76" name="Shape 74"/>
          <p:cNvSpPr/>
          <p:nvPr/>
        </p:nvSpPr>
        <p:spPr>
          <a:xfrm>
            <a:off x="4480560" y="1945059"/>
            <a:ext cx="566928" cy="914"/>
          </a:xfrm>
          <a:prstGeom prst="line">
            <a:avLst/>
          </a:prstGeom>
          <a:noFill/>
          <a:ln w="5080">
            <a:solidFill>
              <a:srgbClr val="D5DCE5"/>
            </a:solidFill>
            <a:prstDash val="solid"/>
          </a:ln>
        </p:spPr>
      </p:sp>
      <p:sp>
        <p:nvSpPr>
          <p:cNvPr id="77" name="Shape 75"/>
          <p:cNvSpPr/>
          <p:nvPr/>
        </p:nvSpPr>
        <p:spPr>
          <a:xfrm>
            <a:off x="4480560" y="2026049"/>
            <a:ext cx="566928" cy="914"/>
          </a:xfrm>
          <a:prstGeom prst="line">
            <a:avLst/>
          </a:prstGeom>
          <a:noFill/>
          <a:ln w="5080">
            <a:solidFill>
              <a:srgbClr val="D5DCE5"/>
            </a:solidFill>
            <a:prstDash val="solid"/>
          </a:ln>
        </p:spPr>
      </p:sp>
      <p:sp>
        <p:nvSpPr>
          <p:cNvPr id="78" name="Shape 76"/>
          <p:cNvSpPr/>
          <p:nvPr/>
        </p:nvSpPr>
        <p:spPr>
          <a:xfrm>
            <a:off x="4480560" y="2107039"/>
            <a:ext cx="566928" cy="914"/>
          </a:xfrm>
          <a:prstGeom prst="line">
            <a:avLst/>
          </a:prstGeom>
          <a:noFill/>
          <a:ln w="5080">
            <a:solidFill>
              <a:srgbClr val="D5DCE5"/>
            </a:solidFill>
            <a:prstDash val="solid"/>
          </a:ln>
        </p:spPr>
      </p:sp>
      <p:sp>
        <p:nvSpPr>
          <p:cNvPr id="79" name="Shape 77"/>
          <p:cNvSpPr/>
          <p:nvPr/>
        </p:nvSpPr>
        <p:spPr>
          <a:xfrm>
            <a:off x="4480560" y="2188029"/>
            <a:ext cx="566928" cy="914"/>
          </a:xfrm>
          <a:prstGeom prst="line">
            <a:avLst/>
          </a:prstGeom>
          <a:noFill/>
          <a:ln w="5080">
            <a:solidFill>
              <a:srgbClr val="D5DCE5"/>
            </a:solidFill>
            <a:prstDash val="solid"/>
          </a:ln>
        </p:spPr>
      </p:sp>
      <p:sp>
        <p:nvSpPr>
          <p:cNvPr id="80" name="Shape 78"/>
          <p:cNvSpPr/>
          <p:nvPr/>
        </p:nvSpPr>
        <p:spPr>
          <a:xfrm>
            <a:off x="4480560" y="2269018"/>
            <a:ext cx="566928" cy="914"/>
          </a:xfrm>
          <a:prstGeom prst="line">
            <a:avLst/>
          </a:prstGeom>
          <a:noFill/>
          <a:ln w="5080">
            <a:solidFill>
              <a:srgbClr val="D5DCE5"/>
            </a:solidFill>
            <a:prstDash val="solid"/>
          </a:ln>
        </p:spPr>
      </p:sp>
      <p:sp>
        <p:nvSpPr>
          <p:cNvPr id="81" name="Text 79"/>
          <p:cNvSpPr txBox="1"/>
          <p:nvPr/>
        </p:nvSpPr>
        <p:spPr>
          <a:xfrm>
            <a:off x="4480560" y="1554480"/>
            <a:ext cx="100584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QKᵀ [24,7,7]</a:t>
            </a:r>
            <a:endParaRPr lang="en-US" sz="700" dirty="0"/>
          </a:p>
        </p:txBody>
      </p:sp>
      <p:sp>
        <p:nvSpPr>
          <p:cNvPr id="82" name="Shape 80"/>
          <p:cNvSpPr/>
          <p:nvPr/>
        </p:nvSpPr>
        <p:spPr>
          <a:xfrm flipV="1">
            <a:off x="4023360" y="1920240"/>
            <a:ext cx="457200" cy="45720"/>
          </a:xfrm>
          <a:prstGeom prst="line">
            <a:avLst/>
          </a:prstGeom>
          <a:noFill/>
          <a:ln w="9525">
            <a:solidFill>
              <a:srgbClr val="5B6B7F"/>
            </a:solidFill>
            <a:prstDash val="solid"/>
            <a:tailEnd type="triangle"/>
          </a:ln>
        </p:spPr>
      </p:sp>
      <p:sp>
        <p:nvSpPr>
          <p:cNvPr id="83" name="Shape 81"/>
          <p:cNvSpPr/>
          <p:nvPr/>
        </p:nvSpPr>
        <p:spPr>
          <a:xfrm flipV="1">
            <a:off x="4343400" y="2157984"/>
            <a:ext cx="137160" cy="310896"/>
          </a:xfrm>
          <a:prstGeom prst="line">
            <a:avLst/>
          </a:prstGeom>
          <a:noFill/>
          <a:ln w="9525">
            <a:solidFill>
              <a:srgbClr val="5B6B7F"/>
            </a:solidFill>
            <a:prstDash val="solid"/>
            <a:tailEnd type="triangle"/>
          </a:ln>
        </p:spPr>
      </p:sp>
      <p:sp>
        <p:nvSpPr>
          <p:cNvPr id="84" name="Shape 82"/>
          <p:cNvSpPr/>
          <p:nvPr/>
        </p:nvSpPr>
        <p:spPr>
          <a:xfrm>
            <a:off x="5532120" y="1691640"/>
            <a:ext cx="566928" cy="566928"/>
          </a:xfrm>
          <a:prstGeom prst="rect">
            <a:avLst/>
          </a:prstGeom>
          <a:solidFill>
            <a:srgbClr val="ECE6FA"/>
          </a:solidFill>
          <a:ln w="9525">
            <a:solidFill>
              <a:srgbClr val="6C4FBF"/>
            </a:solidFill>
            <a:prstDash val="solid"/>
          </a:ln>
        </p:spPr>
      </p:sp>
      <p:sp>
        <p:nvSpPr>
          <p:cNvPr id="85" name="Shape 83"/>
          <p:cNvSpPr/>
          <p:nvPr/>
        </p:nvSpPr>
        <p:spPr>
          <a:xfrm>
            <a:off x="5486400" y="1737360"/>
            <a:ext cx="566928" cy="566928"/>
          </a:xfrm>
          <a:prstGeom prst="rect">
            <a:avLst/>
          </a:prstGeom>
          <a:solidFill>
            <a:srgbClr val="ECE6FA"/>
          </a:solidFill>
          <a:ln w="9525">
            <a:solidFill>
              <a:srgbClr val="6C4FBF"/>
            </a:solidFill>
            <a:prstDash val="solid"/>
          </a:ln>
        </p:spPr>
      </p:sp>
      <p:sp>
        <p:nvSpPr>
          <p:cNvPr id="86" name="Shape 84"/>
          <p:cNvSpPr/>
          <p:nvPr/>
        </p:nvSpPr>
        <p:spPr>
          <a:xfrm>
            <a:off x="5440680" y="1783080"/>
            <a:ext cx="566928" cy="566928"/>
          </a:xfrm>
          <a:prstGeom prst="rect">
            <a:avLst/>
          </a:prstGeom>
          <a:solidFill>
            <a:srgbClr val="ECE6FA"/>
          </a:solidFill>
          <a:ln w="12700">
            <a:solidFill>
              <a:srgbClr val="6C4FBF"/>
            </a:solidFill>
            <a:prstDash val="solid"/>
          </a:ln>
        </p:spPr>
      </p:sp>
      <p:sp>
        <p:nvSpPr>
          <p:cNvPr id="87" name="Shape 85"/>
          <p:cNvSpPr/>
          <p:nvPr/>
        </p:nvSpPr>
        <p:spPr>
          <a:xfrm>
            <a:off x="5521670" y="1783080"/>
            <a:ext cx="80990" cy="80990"/>
          </a:xfrm>
          <a:prstGeom prst="rect">
            <a:avLst/>
          </a:prstGeom>
          <a:solidFill>
            <a:srgbClr val="EEF2F6"/>
          </a:solidFill>
          <a:ln w="3810">
            <a:solidFill>
              <a:srgbClr val="C9D3DF"/>
            </a:solidFill>
            <a:prstDash val="solid"/>
          </a:ln>
        </p:spPr>
      </p:sp>
      <p:sp>
        <p:nvSpPr>
          <p:cNvPr id="88" name="Shape 86"/>
          <p:cNvSpPr/>
          <p:nvPr/>
        </p:nvSpPr>
        <p:spPr>
          <a:xfrm>
            <a:off x="5602659" y="1783080"/>
            <a:ext cx="80990" cy="80990"/>
          </a:xfrm>
          <a:prstGeom prst="rect">
            <a:avLst/>
          </a:prstGeom>
          <a:solidFill>
            <a:srgbClr val="EEF2F6"/>
          </a:solidFill>
          <a:ln w="3810">
            <a:solidFill>
              <a:srgbClr val="C9D3DF"/>
            </a:solidFill>
            <a:prstDash val="solid"/>
          </a:ln>
        </p:spPr>
      </p:sp>
      <p:sp>
        <p:nvSpPr>
          <p:cNvPr id="89" name="Shape 87"/>
          <p:cNvSpPr/>
          <p:nvPr/>
        </p:nvSpPr>
        <p:spPr>
          <a:xfrm>
            <a:off x="5683649" y="1783080"/>
            <a:ext cx="80990" cy="80990"/>
          </a:xfrm>
          <a:prstGeom prst="rect">
            <a:avLst/>
          </a:prstGeom>
          <a:solidFill>
            <a:srgbClr val="EEF2F6"/>
          </a:solidFill>
          <a:ln w="3810">
            <a:solidFill>
              <a:srgbClr val="C9D3DF"/>
            </a:solidFill>
            <a:prstDash val="solid"/>
          </a:ln>
        </p:spPr>
      </p:sp>
      <p:sp>
        <p:nvSpPr>
          <p:cNvPr id="90" name="Shape 88"/>
          <p:cNvSpPr/>
          <p:nvPr/>
        </p:nvSpPr>
        <p:spPr>
          <a:xfrm>
            <a:off x="5764639" y="1783080"/>
            <a:ext cx="80990" cy="80990"/>
          </a:xfrm>
          <a:prstGeom prst="rect">
            <a:avLst/>
          </a:prstGeom>
          <a:solidFill>
            <a:srgbClr val="EEF2F6"/>
          </a:solidFill>
          <a:ln w="3810">
            <a:solidFill>
              <a:srgbClr val="C9D3DF"/>
            </a:solidFill>
            <a:prstDash val="solid"/>
          </a:ln>
        </p:spPr>
      </p:sp>
      <p:sp>
        <p:nvSpPr>
          <p:cNvPr id="91" name="Shape 89"/>
          <p:cNvSpPr/>
          <p:nvPr/>
        </p:nvSpPr>
        <p:spPr>
          <a:xfrm>
            <a:off x="5845629" y="1783080"/>
            <a:ext cx="80990" cy="80990"/>
          </a:xfrm>
          <a:prstGeom prst="rect">
            <a:avLst/>
          </a:prstGeom>
          <a:solidFill>
            <a:srgbClr val="EEF2F6"/>
          </a:solidFill>
          <a:ln w="3810">
            <a:solidFill>
              <a:srgbClr val="C9D3DF"/>
            </a:solidFill>
            <a:prstDash val="solid"/>
          </a:ln>
        </p:spPr>
      </p:sp>
      <p:sp>
        <p:nvSpPr>
          <p:cNvPr id="92" name="Shape 90"/>
          <p:cNvSpPr/>
          <p:nvPr/>
        </p:nvSpPr>
        <p:spPr>
          <a:xfrm>
            <a:off x="5926618" y="1783080"/>
            <a:ext cx="80990" cy="80990"/>
          </a:xfrm>
          <a:prstGeom prst="rect">
            <a:avLst/>
          </a:prstGeom>
          <a:solidFill>
            <a:srgbClr val="EEF2F6"/>
          </a:solidFill>
          <a:ln w="3810">
            <a:solidFill>
              <a:srgbClr val="C9D3DF"/>
            </a:solidFill>
            <a:prstDash val="solid"/>
          </a:ln>
        </p:spPr>
      </p:sp>
      <p:sp>
        <p:nvSpPr>
          <p:cNvPr id="93" name="Shape 91"/>
          <p:cNvSpPr/>
          <p:nvPr/>
        </p:nvSpPr>
        <p:spPr>
          <a:xfrm>
            <a:off x="5602659" y="1864070"/>
            <a:ext cx="80990" cy="80990"/>
          </a:xfrm>
          <a:prstGeom prst="rect">
            <a:avLst/>
          </a:prstGeom>
          <a:solidFill>
            <a:srgbClr val="EEF2F6"/>
          </a:solidFill>
          <a:ln w="3810">
            <a:solidFill>
              <a:srgbClr val="C9D3DF"/>
            </a:solidFill>
            <a:prstDash val="solid"/>
          </a:ln>
        </p:spPr>
      </p:sp>
      <p:sp>
        <p:nvSpPr>
          <p:cNvPr id="94" name="Shape 92"/>
          <p:cNvSpPr/>
          <p:nvPr/>
        </p:nvSpPr>
        <p:spPr>
          <a:xfrm>
            <a:off x="5683649" y="1864070"/>
            <a:ext cx="80990" cy="80990"/>
          </a:xfrm>
          <a:prstGeom prst="rect">
            <a:avLst/>
          </a:prstGeom>
          <a:solidFill>
            <a:srgbClr val="EEF2F6"/>
          </a:solidFill>
          <a:ln w="3810">
            <a:solidFill>
              <a:srgbClr val="C9D3DF"/>
            </a:solidFill>
            <a:prstDash val="solid"/>
          </a:ln>
        </p:spPr>
      </p:sp>
      <p:sp>
        <p:nvSpPr>
          <p:cNvPr id="95" name="Shape 93"/>
          <p:cNvSpPr/>
          <p:nvPr/>
        </p:nvSpPr>
        <p:spPr>
          <a:xfrm>
            <a:off x="5764639" y="1864070"/>
            <a:ext cx="80990" cy="80990"/>
          </a:xfrm>
          <a:prstGeom prst="rect">
            <a:avLst/>
          </a:prstGeom>
          <a:solidFill>
            <a:srgbClr val="EEF2F6"/>
          </a:solidFill>
          <a:ln w="3810">
            <a:solidFill>
              <a:srgbClr val="C9D3DF"/>
            </a:solidFill>
            <a:prstDash val="solid"/>
          </a:ln>
        </p:spPr>
      </p:sp>
      <p:sp>
        <p:nvSpPr>
          <p:cNvPr id="96" name="Shape 94"/>
          <p:cNvSpPr/>
          <p:nvPr/>
        </p:nvSpPr>
        <p:spPr>
          <a:xfrm>
            <a:off x="5845629" y="1864070"/>
            <a:ext cx="80990" cy="80990"/>
          </a:xfrm>
          <a:prstGeom prst="rect">
            <a:avLst/>
          </a:prstGeom>
          <a:solidFill>
            <a:srgbClr val="EEF2F6"/>
          </a:solidFill>
          <a:ln w="3810">
            <a:solidFill>
              <a:srgbClr val="C9D3DF"/>
            </a:solidFill>
            <a:prstDash val="solid"/>
          </a:ln>
        </p:spPr>
      </p:sp>
      <p:sp>
        <p:nvSpPr>
          <p:cNvPr id="97" name="Shape 95"/>
          <p:cNvSpPr/>
          <p:nvPr/>
        </p:nvSpPr>
        <p:spPr>
          <a:xfrm>
            <a:off x="5926618" y="1864070"/>
            <a:ext cx="80990" cy="80990"/>
          </a:xfrm>
          <a:prstGeom prst="rect">
            <a:avLst/>
          </a:prstGeom>
          <a:solidFill>
            <a:srgbClr val="EEF2F6"/>
          </a:solidFill>
          <a:ln w="3810">
            <a:solidFill>
              <a:srgbClr val="C9D3DF"/>
            </a:solidFill>
            <a:prstDash val="solid"/>
          </a:ln>
        </p:spPr>
      </p:sp>
      <p:sp>
        <p:nvSpPr>
          <p:cNvPr id="98" name="Shape 96"/>
          <p:cNvSpPr/>
          <p:nvPr/>
        </p:nvSpPr>
        <p:spPr>
          <a:xfrm>
            <a:off x="5683649" y="1945059"/>
            <a:ext cx="80990" cy="80990"/>
          </a:xfrm>
          <a:prstGeom prst="rect">
            <a:avLst/>
          </a:prstGeom>
          <a:solidFill>
            <a:srgbClr val="EEF2F6"/>
          </a:solidFill>
          <a:ln w="3810">
            <a:solidFill>
              <a:srgbClr val="C9D3DF"/>
            </a:solidFill>
            <a:prstDash val="solid"/>
          </a:ln>
        </p:spPr>
      </p:sp>
      <p:sp>
        <p:nvSpPr>
          <p:cNvPr id="99" name="Shape 97"/>
          <p:cNvSpPr/>
          <p:nvPr/>
        </p:nvSpPr>
        <p:spPr>
          <a:xfrm>
            <a:off x="5764639" y="1945059"/>
            <a:ext cx="80990" cy="80990"/>
          </a:xfrm>
          <a:prstGeom prst="rect">
            <a:avLst/>
          </a:prstGeom>
          <a:solidFill>
            <a:srgbClr val="EEF2F6"/>
          </a:solidFill>
          <a:ln w="3810">
            <a:solidFill>
              <a:srgbClr val="C9D3DF"/>
            </a:solidFill>
            <a:prstDash val="solid"/>
          </a:ln>
        </p:spPr>
      </p:sp>
      <p:sp>
        <p:nvSpPr>
          <p:cNvPr id="100" name="Shape 98"/>
          <p:cNvSpPr/>
          <p:nvPr/>
        </p:nvSpPr>
        <p:spPr>
          <a:xfrm>
            <a:off x="5845629" y="1945059"/>
            <a:ext cx="80990" cy="80990"/>
          </a:xfrm>
          <a:prstGeom prst="rect">
            <a:avLst/>
          </a:prstGeom>
          <a:solidFill>
            <a:srgbClr val="EEF2F6"/>
          </a:solidFill>
          <a:ln w="3810">
            <a:solidFill>
              <a:srgbClr val="C9D3DF"/>
            </a:solidFill>
            <a:prstDash val="solid"/>
          </a:ln>
        </p:spPr>
      </p:sp>
      <p:sp>
        <p:nvSpPr>
          <p:cNvPr id="101" name="Shape 99"/>
          <p:cNvSpPr/>
          <p:nvPr/>
        </p:nvSpPr>
        <p:spPr>
          <a:xfrm>
            <a:off x="5926618" y="1945059"/>
            <a:ext cx="80990" cy="80990"/>
          </a:xfrm>
          <a:prstGeom prst="rect">
            <a:avLst/>
          </a:prstGeom>
          <a:solidFill>
            <a:srgbClr val="EEF2F6"/>
          </a:solidFill>
          <a:ln w="3810">
            <a:solidFill>
              <a:srgbClr val="C9D3DF"/>
            </a:solidFill>
            <a:prstDash val="solid"/>
          </a:ln>
        </p:spPr>
      </p:sp>
      <p:sp>
        <p:nvSpPr>
          <p:cNvPr id="102" name="Shape 100"/>
          <p:cNvSpPr/>
          <p:nvPr/>
        </p:nvSpPr>
        <p:spPr>
          <a:xfrm>
            <a:off x="5764639" y="2026049"/>
            <a:ext cx="80990" cy="80990"/>
          </a:xfrm>
          <a:prstGeom prst="rect">
            <a:avLst/>
          </a:prstGeom>
          <a:solidFill>
            <a:srgbClr val="EEF2F6"/>
          </a:solidFill>
          <a:ln w="3810">
            <a:solidFill>
              <a:srgbClr val="C9D3DF"/>
            </a:solidFill>
            <a:prstDash val="solid"/>
          </a:ln>
        </p:spPr>
      </p:sp>
      <p:sp>
        <p:nvSpPr>
          <p:cNvPr id="103" name="Shape 101"/>
          <p:cNvSpPr/>
          <p:nvPr/>
        </p:nvSpPr>
        <p:spPr>
          <a:xfrm>
            <a:off x="5845629" y="2026049"/>
            <a:ext cx="80990" cy="80990"/>
          </a:xfrm>
          <a:prstGeom prst="rect">
            <a:avLst/>
          </a:prstGeom>
          <a:solidFill>
            <a:srgbClr val="EEF2F6"/>
          </a:solidFill>
          <a:ln w="3810">
            <a:solidFill>
              <a:srgbClr val="C9D3DF"/>
            </a:solidFill>
            <a:prstDash val="solid"/>
          </a:ln>
        </p:spPr>
      </p:sp>
      <p:sp>
        <p:nvSpPr>
          <p:cNvPr id="104" name="Shape 102"/>
          <p:cNvSpPr/>
          <p:nvPr/>
        </p:nvSpPr>
        <p:spPr>
          <a:xfrm>
            <a:off x="5926618" y="2026049"/>
            <a:ext cx="80990" cy="80990"/>
          </a:xfrm>
          <a:prstGeom prst="rect">
            <a:avLst/>
          </a:prstGeom>
          <a:solidFill>
            <a:srgbClr val="EEF2F6"/>
          </a:solidFill>
          <a:ln w="3810">
            <a:solidFill>
              <a:srgbClr val="C9D3DF"/>
            </a:solidFill>
            <a:prstDash val="solid"/>
          </a:ln>
        </p:spPr>
      </p:sp>
      <p:sp>
        <p:nvSpPr>
          <p:cNvPr id="105" name="Shape 103"/>
          <p:cNvSpPr/>
          <p:nvPr/>
        </p:nvSpPr>
        <p:spPr>
          <a:xfrm>
            <a:off x="5845629" y="2107039"/>
            <a:ext cx="80990" cy="80990"/>
          </a:xfrm>
          <a:prstGeom prst="rect">
            <a:avLst/>
          </a:prstGeom>
          <a:solidFill>
            <a:srgbClr val="EEF2F6"/>
          </a:solidFill>
          <a:ln w="3810">
            <a:solidFill>
              <a:srgbClr val="C9D3DF"/>
            </a:solidFill>
            <a:prstDash val="solid"/>
          </a:ln>
        </p:spPr>
      </p:sp>
      <p:sp>
        <p:nvSpPr>
          <p:cNvPr id="106" name="Shape 104"/>
          <p:cNvSpPr/>
          <p:nvPr/>
        </p:nvSpPr>
        <p:spPr>
          <a:xfrm>
            <a:off x="5926618" y="2107039"/>
            <a:ext cx="80990" cy="80990"/>
          </a:xfrm>
          <a:prstGeom prst="rect">
            <a:avLst/>
          </a:prstGeom>
          <a:solidFill>
            <a:srgbClr val="EEF2F6"/>
          </a:solidFill>
          <a:ln w="3810">
            <a:solidFill>
              <a:srgbClr val="C9D3DF"/>
            </a:solidFill>
            <a:prstDash val="solid"/>
          </a:ln>
        </p:spPr>
      </p:sp>
      <p:sp>
        <p:nvSpPr>
          <p:cNvPr id="107" name="Shape 105"/>
          <p:cNvSpPr/>
          <p:nvPr/>
        </p:nvSpPr>
        <p:spPr>
          <a:xfrm>
            <a:off x="5926618" y="2188029"/>
            <a:ext cx="80990" cy="80990"/>
          </a:xfrm>
          <a:prstGeom prst="rect">
            <a:avLst/>
          </a:prstGeom>
          <a:solidFill>
            <a:srgbClr val="EEF2F6"/>
          </a:solidFill>
          <a:ln w="3810">
            <a:solidFill>
              <a:srgbClr val="C9D3DF"/>
            </a:solidFill>
            <a:prstDash val="solid"/>
          </a:ln>
        </p:spPr>
      </p:sp>
      <p:sp>
        <p:nvSpPr>
          <p:cNvPr id="108" name="Shape 106"/>
          <p:cNvSpPr/>
          <p:nvPr/>
        </p:nvSpPr>
        <p:spPr>
          <a:xfrm>
            <a:off x="5521670" y="1783080"/>
            <a:ext cx="914" cy="566928"/>
          </a:xfrm>
          <a:prstGeom prst="line">
            <a:avLst/>
          </a:prstGeom>
          <a:noFill/>
          <a:ln w="5080">
            <a:solidFill>
              <a:srgbClr val="D5DCE5"/>
            </a:solidFill>
            <a:prstDash val="solid"/>
          </a:ln>
        </p:spPr>
      </p:sp>
      <p:sp>
        <p:nvSpPr>
          <p:cNvPr id="109" name="Shape 107"/>
          <p:cNvSpPr/>
          <p:nvPr/>
        </p:nvSpPr>
        <p:spPr>
          <a:xfrm>
            <a:off x="5602659" y="1783080"/>
            <a:ext cx="914" cy="566928"/>
          </a:xfrm>
          <a:prstGeom prst="line">
            <a:avLst/>
          </a:prstGeom>
          <a:noFill/>
          <a:ln w="5080">
            <a:solidFill>
              <a:srgbClr val="D5DCE5"/>
            </a:solidFill>
            <a:prstDash val="solid"/>
          </a:ln>
        </p:spPr>
      </p:sp>
      <p:sp>
        <p:nvSpPr>
          <p:cNvPr id="110" name="Shape 108"/>
          <p:cNvSpPr/>
          <p:nvPr/>
        </p:nvSpPr>
        <p:spPr>
          <a:xfrm>
            <a:off x="5683649" y="1783080"/>
            <a:ext cx="914" cy="566928"/>
          </a:xfrm>
          <a:prstGeom prst="line">
            <a:avLst/>
          </a:prstGeom>
          <a:noFill/>
          <a:ln w="5080">
            <a:solidFill>
              <a:srgbClr val="D5DCE5"/>
            </a:solidFill>
            <a:prstDash val="solid"/>
          </a:ln>
        </p:spPr>
      </p:sp>
      <p:sp>
        <p:nvSpPr>
          <p:cNvPr id="111" name="Shape 109"/>
          <p:cNvSpPr/>
          <p:nvPr/>
        </p:nvSpPr>
        <p:spPr>
          <a:xfrm>
            <a:off x="5764639" y="1783080"/>
            <a:ext cx="914" cy="566928"/>
          </a:xfrm>
          <a:prstGeom prst="line">
            <a:avLst/>
          </a:prstGeom>
          <a:noFill/>
          <a:ln w="5080">
            <a:solidFill>
              <a:srgbClr val="D5DCE5"/>
            </a:solidFill>
            <a:prstDash val="solid"/>
          </a:ln>
        </p:spPr>
      </p:sp>
      <p:sp>
        <p:nvSpPr>
          <p:cNvPr id="112" name="Shape 110"/>
          <p:cNvSpPr/>
          <p:nvPr/>
        </p:nvSpPr>
        <p:spPr>
          <a:xfrm>
            <a:off x="5845629" y="1783080"/>
            <a:ext cx="914" cy="566928"/>
          </a:xfrm>
          <a:prstGeom prst="line">
            <a:avLst/>
          </a:prstGeom>
          <a:noFill/>
          <a:ln w="5080">
            <a:solidFill>
              <a:srgbClr val="D5DCE5"/>
            </a:solidFill>
            <a:prstDash val="solid"/>
          </a:ln>
        </p:spPr>
      </p:sp>
      <p:sp>
        <p:nvSpPr>
          <p:cNvPr id="113" name="Shape 111"/>
          <p:cNvSpPr/>
          <p:nvPr/>
        </p:nvSpPr>
        <p:spPr>
          <a:xfrm>
            <a:off x="5926618" y="1783080"/>
            <a:ext cx="914" cy="566928"/>
          </a:xfrm>
          <a:prstGeom prst="line">
            <a:avLst/>
          </a:prstGeom>
          <a:noFill/>
          <a:ln w="5080">
            <a:solidFill>
              <a:srgbClr val="D5DCE5"/>
            </a:solidFill>
            <a:prstDash val="solid"/>
          </a:ln>
        </p:spPr>
      </p:sp>
      <p:sp>
        <p:nvSpPr>
          <p:cNvPr id="114" name="Shape 112"/>
          <p:cNvSpPr/>
          <p:nvPr/>
        </p:nvSpPr>
        <p:spPr>
          <a:xfrm>
            <a:off x="5440680" y="1864070"/>
            <a:ext cx="566928" cy="914"/>
          </a:xfrm>
          <a:prstGeom prst="line">
            <a:avLst/>
          </a:prstGeom>
          <a:noFill/>
          <a:ln w="5080">
            <a:solidFill>
              <a:srgbClr val="D5DCE5"/>
            </a:solidFill>
            <a:prstDash val="solid"/>
          </a:ln>
        </p:spPr>
      </p:sp>
      <p:sp>
        <p:nvSpPr>
          <p:cNvPr id="115" name="Shape 113"/>
          <p:cNvSpPr/>
          <p:nvPr/>
        </p:nvSpPr>
        <p:spPr>
          <a:xfrm>
            <a:off x="5440680" y="1945059"/>
            <a:ext cx="566928" cy="914"/>
          </a:xfrm>
          <a:prstGeom prst="line">
            <a:avLst/>
          </a:prstGeom>
          <a:noFill/>
          <a:ln w="5080">
            <a:solidFill>
              <a:srgbClr val="D5DCE5"/>
            </a:solidFill>
            <a:prstDash val="solid"/>
          </a:ln>
        </p:spPr>
      </p:sp>
      <p:sp>
        <p:nvSpPr>
          <p:cNvPr id="116" name="Shape 114"/>
          <p:cNvSpPr/>
          <p:nvPr/>
        </p:nvSpPr>
        <p:spPr>
          <a:xfrm>
            <a:off x="5440680" y="2026049"/>
            <a:ext cx="566928" cy="914"/>
          </a:xfrm>
          <a:prstGeom prst="line">
            <a:avLst/>
          </a:prstGeom>
          <a:noFill/>
          <a:ln w="5080">
            <a:solidFill>
              <a:srgbClr val="D5DCE5"/>
            </a:solidFill>
            <a:prstDash val="solid"/>
          </a:ln>
        </p:spPr>
      </p:sp>
      <p:sp>
        <p:nvSpPr>
          <p:cNvPr id="117" name="Shape 115"/>
          <p:cNvSpPr/>
          <p:nvPr/>
        </p:nvSpPr>
        <p:spPr>
          <a:xfrm>
            <a:off x="5440680" y="2107039"/>
            <a:ext cx="566928" cy="914"/>
          </a:xfrm>
          <a:prstGeom prst="line">
            <a:avLst/>
          </a:prstGeom>
          <a:noFill/>
          <a:ln w="5080">
            <a:solidFill>
              <a:srgbClr val="D5DCE5"/>
            </a:solidFill>
            <a:prstDash val="solid"/>
          </a:ln>
        </p:spPr>
      </p:sp>
      <p:sp>
        <p:nvSpPr>
          <p:cNvPr id="118" name="Shape 116"/>
          <p:cNvSpPr/>
          <p:nvPr/>
        </p:nvSpPr>
        <p:spPr>
          <a:xfrm>
            <a:off x="5440680" y="2188029"/>
            <a:ext cx="566928" cy="914"/>
          </a:xfrm>
          <a:prstGeom prst="line">
            <a:avLst/>
          </a:prstGeom>
          <a:noFill/>
          <a:ln w="5080">
            <a:solidFill>
              <a:srgbClr val="D5DCE5"/>
            </a:solidFill>
            <a:prstDash val="solid"/>
          </a:ln>
        </p:spPr>
      </p:sp>
      <p:sp>
        <p:nvSpPr>
          <p:cNvPr id="119" name="Shape 117"/>
          <p:cNvSpPr/>
          <p:nvPr/>
        </p:nvSpPr>
        <p:spPr>
          <a:xfrm>
            <a:off x="5440680" y="2269018"/>
            <a:ext cx="566928" cy="914"/>
          </a:xfrm>
          <a:prstGeom prst="line">
            <a:avLst/>
          </a:prstGeom>
          <a:noFill/>
          <a:ln w="5080">
            <a:solidFill>
              <a:srgbClr val="D5DCE5"/>
            </a:solidFill>
            <a:prstDash val="solid"/>
          </a:ln>
        </p:spPr>
      </p:sp>
      <p:sp>
        <p:nvSpPr>
          <p:cNvPr id="120" name="Text 118"/>
          <p:cNvSpPr txBox="1"/>
          <p:nvPr/>
        </p:nvSpPr>
        <p:spPr>
          <a:xfrm>
            <a:off x="5440680" y="1554480"/>
            <a:ext cx="100584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softmax → P</a:t>
            </a:r>
            <a:endParaRPr lang="en-US" sz="700" dirty="0"/>
          </a:p>
        </p:txBody>
      </p:sp>
      <p:sp>
        <p:nvSpPr>
          <p:cNvPr id="121" name="Shape 119"/>
          <p:cNvSpPr/>
          <p:nvPr/>
        </p:nvSpPr>
        <p:spPr>
          <a:xfrm>
            <a:off x="5157216" y="2066544"/>
            <a:ext cx="283464" cy="914"/>
          </a:xfrm>
          <a:prstGeom prst="line">
            <a:avLst/>
          </a:prstGeom>
          <a:noFill/>
          <a:ln w="9525">
            <a:solidFill>
              <a:srgbClr val="5B6B7F"/>
            </a:solidFill>
            <a:prstDash val="solid"/>
            <a:tailEnd type="triangle"/>
          </a:ln>
        </p:spPr>
      </p:sp>
      <p:sp>
        <p:nvSpPr>
          <p:cNvPr id="122" name="Text 120"/>
          <p:cNvSpPr txBox="1"/>
          <p:nvPr/>
        </p:nvSpPr>
        <p:spPr>
          <a:xfrm>
            <a:off x="4983480" y="2423160"/>
            <a:ext cx="548640" cy="274320"/>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/√128</a:t>
            </a:r>
            <a:endParaRPr lang="en-US" sz="600" dirty="0"/>
          </a:p>
          <a:p>
            <a:pPr algn="ctr" indent="0" marL="0">
              <a:buNone/>
            </a:pPr>
            <a:r>
              <a:rPr lang="en-US" sz="600" dirty="0">
                <a:solidFill>
                  <a:srgbClr val="5B6B7F"/>
                </a:solidFill>
                <a:latin typeface="Malgun Gothic" pitchFamily="34" charset="0"/>
                <a:ea typeface="Malgun Gothic" pitchFamily="34" charset="-122"/>
                <a:cs typeface="Malgun Gothic" pitchFamily="34" charset="-120"/>
              </a:rPr>
              <a:t>+mask</a:t>
            </a:r>
            <a:endParaRPr lang="en-US" sz="600" dirty="0"/>
          </a:p>
        </p:txBody>
      </p:sp>
      <p:sp>
        <p:nvSpPr>
          <p:cNvPr id="123" name="Shape 121"/>
          <p:cNvSpPr/>
          <p:nvPr/>
        </p:nvSpPr>
        <p:spPr>
          <a:xfrm>
            <a:off x="6446520" y="1828800"/>
            <a:ext cx="594360" cy="310896"/>
          </a:xfrm>
          <a:prstGeom prst="rect">
            <a:avLst/>
          </a:prstGeom>
          <a:solidFill>
            <a:srgbClr val="ECE6FA"/>
          </a:solidFill>
          <a:ln w="9525">
            <a:solidFill>
              <a:srgbClr val="6C4FBF"/>
            </a:solidFill>
            <a:prstDash val="solid"/>
          </a:ln>
        </p:spPr>
      </p:sp>
      <p:sp>
        <p:nvSpPr>
          <p:cNvPr id="124" name="Shape 122"/>
          <p:cNvSpPr/>
          <p:nvPr/>
        </p:nvSpPr>
        <p:spPr>
          <a:xfrm>
            <a:off x="6400800" y="1874520"/>
            <a:ext cx="594360" cy="310896"/>
          </a:xfrm>
          <a:prstGeom prst="rect">
            <a:avLst/>
          </a:prstGeom>
          <a:solidFill>
            <a:srgbClr val="ECE6FA"/>
          </a:solidFill>
          <a:ln w="9525">
            <a:solidFill>
              <a:srgbClr val="6C4FBF"/>
            </a:solidFill>
            <a:prstDash val="solid"/>
          </a:ln>
        </p:spPr>
      </p:sp>
      <p:sp>
        <p:nvSpPr>
          <p:cNvPr id="125" name="Shape 123"/>
          <p:cNvSpPr/>
          <p:nvPr/>
        </p:nvSpPr>
        <p:spPr>
          <a:xfrm>
            <a:off x="6355080" y="1920240"/>
            <a:ext cx="594360" cy="310896"/>
          </a:xfrm>
          <a:prstGeom prst="rect">
            <a:avLst/>
          </a:prstGeom>
          <a:solidFill>
            <a:srgbClr val="ECE6FA"/>
          </a:solidFill>
          <a:ln w="12700">
            <a:solidFill>
              <a:srgbClr val="6C4FBF"/>
            </a:solidFill>
            <a:prstDash val="solid"/>
          </a:ln>
        </p:spPr>
      </p:sp>
      <p:sp>
        <p:nvSpPr>
          <p:cNvPr id="126" name="Shape 124"/>
          <p:cNvSpPr/>
          <p:nvPr/>
        </p:nvSpPr>
        <p:spPr>
          <a:xfrm>
            <a:off x="6553200" y="1920240"/>
            <a:ext cx="914" cy="310896"/>
          </a:xfrm>
          <a:prstGeom prst="line">
            <a:avLst/>
          </a:prstGeom>
          <a:noFill/>
          <a:ln w="5080">
            <a:solidFill>
              <a:srgbClr val="D5DCE5"/>
            </a:solidFill>
            <a:prstDash val="solid"/>
          </a:ln>
        </p:spPr>
      </p:sp>
      <p:sp>
        <p:nvSpPr>
          <p:cNvPr id="127" name="Shape 125"/>
          <p:cNvSpPr/>
          <p:nvPr/>
        </p:nvSpPr>
        <p:spPr>
          <a:xfrm>
            <a:off x="6751320" y="1920240"/>
            <a:ext cx="914" cy="310896"/>
          </a:xfrm>
          <a:prstGeom prst="line">
            <a:avLst/>
          </a:prstGeom>
          <a:noFill/>
          <a:ln w="5080">
            <a:solidFill>
              <a:srgbClr val="D5DCE5"/>
            </a:solidFill>
            <a:prstDash val="solid"/>
          </a:ln>
        </p:spPr>
      </p:sp>
      <p:sp>
        <p:nvSpPr>
          <p:cNvPr id="128" name="Text 126"/>
          <p:cNvSpPr txBox="1"/>
          <p:nvPr/>
        </p:nvSpPr>
        <p:spPr>
          <a:xfrm>
            <a:off x="6355080" y="1691640"/>
            <a:ext cx="64008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P·V</a:t>
            </a:r>
            <a:endParaRPr lang="en-US" sz="700" dirty="0"/>
          </a:p>
        </p:txBody>
      </p:sp>
      <p:sp>
        <p:nvSpPr>
          <p:cNvPr id="129" name="Shape 127"/>
          <p:cNvSpPr/>
          <p:nvPr/>
        </p:nvSpPr>
        <p:spPr>
          <a:xfrm>
            <a:off x="6117336" y="2066544"/>
            <a:ext cx="237744" cy="9144"/>
          </a:xfrm>
          <a:prstGeom prst="line">
            <a:avLst/>
          </a:prstGeom>
          <a:noFill/>
          <a:ln w="9525">
            <a:solidFill>
              <a:srgbClr val="5B6B7F"/>
            </a:solidFill>
            <a:prstDash val="solid"/>
            <a:tailEnd type="triangle"/>
          </a:ln>
        </p:spPr>
      </p:sp>
      <p:sp>
        <p:nvSpPr>
          <p:cNvPr id="130" name="Shape 128"/>
          <p:cNvSpPr/>
          <p:nvPr/>
        </p:nvSpPr>
        <p:spPr>
          <a:xfrm flipV="1">
            <a:off x="4114800" y="2148840"/>
            <a:ext cx="2240280" cy="795528"/>
          </a:xfrm>
          <a:prstGeom prst="line">
            <a:avLst/>
          </a:prstGeom>
          <a:noFill/>
          <a:ln w="9525">
            <a:solidFill>
              <a:srgbClr val="5B6B7F"/>
            </a:solidFill>
            <a:prstDash val="solid"/>
            <a:tailEnd type="triangle"/>
          </a:ln>
        </p:spPr>
      </p:sp>
      <p:sp>
        <p:nvSpPr>
          <p:cNvPr id="131" name="Shape 129"/>
          <p:cNvSpPr/>
          <p:nvPr/>
        </p:nvSpPr>
        <p:spPr>
          <a:xfrm>
            <a:off x="6537960" y="2606040"/>
            <a:ext cx="822960" cy="329184"/>
          </a:xfrm>
          <a:prstGeom prst="roundRect">
            <a:avLst>
              <a:gd name="adj" fmla="val 16667"/>
            </a:avLst>
          </a:prstGeom>
          <a:solidFill>
            <a:srgbClr val="ECE6FA"/>
          </a:solidFill>
          <a:ln w="12700">
            <a:solidFill>
              <a:srgbClr val="6C4FBF"/>
            </a:solidFill>
            <a:prstDash val="solid"/>
          </a:ln>
        </p:spPr>
      </p:sp>
      <p:sp>
        <p:nvSpPr>
          <p:cNvPr id="132" name="Text 130"/>
          <p:cNvSpPr txBox="1"/>
          <p:nvPr/>
        </p:nvSpPr>
        <p:spPr>
          <a:xfrm>
            <a:off x="6592824" y="2642616"/>
            <a:ext cx="713232" cy="25603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o_proj</a:t>
            </a:r>
            <a:endParaRPr lang="en-US" sz="750" dirty="0"/>
          </a:p>
        </p:txBody>
      </p:sp>
      <p:sp>
        <p:nvSpPr>
          <p:cNvPr id="133" name="Shape 131"/>
          <p:cNvSpPr/>
          <p:nvPr/>
        </p:nvSpPr>
        <p:spPr>
          <a:xfrm>
            <a:off x="6652260" y="2249424"/>
            <a:ext cx="297180" cy="356616"/>
          </a:xfrm>
          <a:prstGeom prst="line">
            <a:avLst/>
          </a:prstGeom>
          <a:noFill/>
          <a:ln w="9525">
            <a:solidFill>
              <a:srgbClr val="5B6B7F"/>
            </a:solidFill>
            <a:prstDash val="solid"/>
            <a:tailEnd type="triangle"/>
          </a:ln>
        </p:spPr>
      </p:sp>
      <p:sp>
        <p:nvSpPr>
          <p:cNvPr id="134" name="Shape 132"/>
          <p:cNvSpPr/>
          <p:nvPr/>
        </p:nvSpPr>
        <p:spPr>
          <a:xfrm>
            <a:off x="6812280" y="3154680"/>
            <a:ext cx="274320" cy="329184"/>
          </a:xfrm>
          <a:prstGeom prst="roundRect">
            <a:avLst>
              <a:gd name="adj" fmla="val 20000"/>
            </a:avLst>
          </a:prstGeom>
          <a:solidFill>
            <a:srgbClr val="FFF6DB"/>
          </a:solidFill>
          <a:ln w="12700">
            <a:solidFill>
              <a:srgbClr val="B7791F"/>
            </a:solidFill>
            <a:prstDash val="solid"/>
          </a:ln>
        </p:spPr>
      </p:sp>
      <p:sp>
        <p:nvSpPr>
          <p:cNvPr id="135" name="Text 133"/>
          <p:cNvSpPr txBox="1"/>
          <p:nvPr/>
        </p:nvSpPr>
        <p:spPr>
          <a:xfrm>
            <a:off x="6867144" y="3191256"/>
            <a:ext cx="164592" cy="256032"/>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a:t>
            </a:r>
            <a:endParaRPr lang="en-US" sz="1000" dirty="0"/>
          </a:p>
        </p:txBody>
      </p:sp>
      <p:sp>
        <p:nvSpPr>
          <p:cNvPr id="136" name="Shape 134"/>
          <p:cNvSpPr/>
          <p:nvPr/>
        </p:nvSpPr>
        <p:spPr>
          <a:xfrm>
            <a:off x="6949440" y="2935224"/>
            <a:ext cx="914" cy="219456"/>
          </a:xfrm>
          <a:prstGeom prst="line">
            <a:avLst/>
          </a:prstGeom>
          <a:noFill/>
          <a:ln w="9525">
            <a:solidFill>
              <a:srgbClr val="5B6B7F"/>
            </a:solidFill>
            <a:prstDash val="solid"/>
            <a:tailEnd type="triangle"/>
          </a:ln>
        </p:spPr>
      </p:sp>
      <p:sp>
        <p:nvSpPr>
          <p:cNvPr id="137" name="Shape 135"/>
          <p:cNvSpPr/>
          <p:nvPr/>
        </p:nvSpPr>
        <p:spPr>
          <a:xfrm>
            <a:off x="868680" y="2532888"/>
            <a:ext cx="914" cy="786384"/>
          </a:xfrm>
          <a:prstGeom prst="line">
            <a:avLst/>
          </a:prstGeom>
          <a:noFill/>
          <a:ln w="19050">
            <a:solidFill>
              <a:srgbClr val="B7791F"/>
            </a:solidFill>
            <a:prstDash val="dash"/>
          </a:ln>
        </p:spPr>
      </p:sp>
      <p:sp>
        <p:nvSpPr>
          <p:cNvPr id="138" name="Shape 136"/>
          <p:cNvSpPr/>
          <p:nvPr/>
        </p:nvSpPr>
        <p:spPr>
          <a:xfrm>
            <a:off x="868680" y="3319272"/>
            <a:ext cx="5943600" cy="914"/>
          </a:xfrm>
          <a:prstGeom prst="line">
            <a:avLst/>
          </a:prstGeom>
          <a:noFill/>
          <a:ln w="19050">
            <a:solidFill>
              <a:srgbClr val="B7791F"/>
            </a:solidFill>
            <a:prstDash val="dash"/>
            <a:tailEnd type="triangle"/>
          </a:ln>
        </p:spPr>
      </p:sp>
      <p:sp>
        <p:nvSpPr>
          <p:cNvPr id="139" name="Text 137"/>
          <p:cNvSpPr txBox="1"/>
          <p:nvPr/>
        </p:nvSpPr>
        <p:spPr>
          <a:xfrm>
            <a:off x="502920" y="3346704"/>
            <a:ext cx="2286000" cy="182880"/>
          </a:xfrm>
          <a:prstGeom prst="rect">
            <a:avLst/>
          </a:prstGeom>
          <a:noFill/>
          <a:ln/>
        </p:spPr>
        <p:txBody>
          <a:bodyPr wrap="square" lIns="0" tIns="0" rIns="0" bIns="0" rtlCol="0" anchor="t"/>
          <a:lstStyle/>
          <a:p>
            <a:pPr algn="l" indent="0" marL="0">
              <a:buNone/>
            </a:pPr>
            <a:r>
              <a:rPr lang="en-US" sz="650" b="1" dirty="0">
                <a:solidFill>
                  <a:srgbClr val="B7791F"/>
                </a:solidFill>
                <a:latin typeface="Malgun Gothic" pitchFamily="34" charset="0"/>
                <a:ea typeface="Malgun Gothic" pitchFamily="34" charset="-122"/>
                <a:cs typeface="Malgun Gothic" pitchFamily="34" charset="-120"/>
              </a:rPr>
              <a:t>residual: X 유지 → R = X + attn</a:t>
            </a:r>
            <a:endParaRPr lang="en-US" sz="650" dirty="0"/>
          </a:p>
        </p:txBody>
      </p:sp>
      <p:sp>
        <p:nvSpPr>
          <p:cNvPr id="140" name="Shape 138"/>
          <p:cNvSpPr/>
          <p:nvPr/>
        </p:nvSpPr>
        <p:spPr>
          <a:xfrm>
            <a:off x="457200" y="4069080"/>
            <a:ext cx="822960" cy="384048"/>
          </a:xfrm>
          <a:prstGeom prst="rect">
            <a:avLst/>
          </a:prstGeom>
          <a:solidFill>
            <a:srgbClr val="FFF6DB"/>
          </a:solidFill>
          <a:ln w="12700">
            <a:solidFill>
              <a:srgbClr val="B7791F"/>
            </a:solidFill>
            <a:prstDash val="solid"/>
          </a:ln>
        </p:spPr>
      </p:sp>
      <p:sp>
        <p:nvSpPr>
          <p:cNvPr id="141" name="Shape 139"/>
          <p:cNvSpPr/>
          <p:nvPr/>
        </p:nvSpPr>
        <p:spPr>
          <a:xfrm>
            <a:off x="594360" y="4069080"/>
            <a:ext cx="914" cy="384048"/>
          </a:xfrm>
          <a:prstGeom prst="line">
            <a:avLst/>
          </a:prstGeom>
          <a:noFill/>
          <a:ln w="5080">
            <a:solidFill>
              <a:srgbClr val="D5DCE5"/>
            </a:solidFill>
            <a:prstDash val="solid"/>
          </a:ln>
        </p:spPr>
      </p:sp>
      <p:sp>
        <p:nvSpPr>
          <p:cNvPr id="142" name="Shape 140"/>
          <p:cNvSpPr/>
          <p:nvPr/>
        </p:nvSpPr>
        <p:spPr>
          <a:xfrm>
            <a:off x="731520" y="4069080"/>
            <a:ext cx="914" cy="384048"/>
          </a:xfrm>
          <a:prstGeom prst="line">
            <a:avLst/>
          </a:prstGeom>
          <a:noFill/>
          <a:ln w="5080">
            <a:solidFill>
              <a:srgbClr val="D5DCE5"/>
            </a:solidFill>
            <a:prstDash val="solid"/>
          </a:ln>
        </p:spPr>
      </p:sp>
      <p:sp>
        <p:nvSpPr>
          <p:cNvPr id="143" name="Shape 141"/>
          <p:cNvSpPr/>
          <p:nvPr/>
        </p:nvSpPr>
        <p:spPr>
          <a:xfrm>
            <a:off x="868680" y="4069080"/>
            <a:ext cx="914" cy="384048"/>
          </a:xfrm>
          <a:prstGeom prst="line">
            <a:avLst/>
          </a:prstGeom>
          <a:noFill/>
          <a:ln w="5080">
            <a:solidFill>
              <a:srgbClr val="D5DCE5"/>
            </a:solidFill>
            <a:prstDash val="solid"/>
          </a:ln>
        </p:spPr>
      </p:sp>
      <p:sp>
        <p:nvSpPr>
          <p:cNvPr id="144" name="Shape 142"/>
          <p:cNvSpPr/>
          <p:nvPr/>
        </p:nvSpPr>
        <p:spPr>
          <a:xfrm>
            <a:off x="1005840" y="4069080"/>
            <a:ext cx="914" cy="384048"/>
          </a:xfrm>
          <a:prstGeom prst="line">
            <a:avLst/>
          </a:prstGeom>
          <a:noFill/>
          <a:ln w="5080">
            <a:solidFill>
              <a:srgbClr val="D5DCE5"/>
            </a:solidFill>
            <a:prstDash val="solid"/>
          </a:ln>
        </p:spPr>
      </p:sp>
      <p:sp>
        <p:nvSpPr>
          <p:cNvPr id="145" name="Shape 143"/>
          <p:cNvSpPr/>
          <p:nvPr/>
        </p:nvSpPr>
        <p:spPr>
          <a:xfrm>
            <a:off x="1143000" y="4069080"/>
            <a:ext cx="914" cy="384048"/>
          </a:xfrm>
          <a:prstGeom prst="line">
            <a:avLst/>
          </a:prstGeom>
          <a:noFill/>
          <a:ln w="5080">
            <a:solidFill>
              <a:srgbClr val="D5DCE5"/>
            </a:solidFill>
            <a:prstDash val="solid"/>
          </a:ln>
        </p:spPr>
      </p:sp>
      <p:sp>
        <p:nvSpPr>
          <p:cNvPr id="146" name="Text 144"/>
          <p:cNvSpPr txBox="1"/>
          <p:nvPr/>
        </p:nvSpPr>
        <p:spPr>
          <a:xfrm>
            <a:off x="457200" y="3840480"/>
            <a:ext cx="91440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R [7,3072]</a:t>
            </a:r>
            <a:endParaRPr lang="en-US" sz="750" dirty="0"/>
          </a:p>
        </p:txBody>
      </p:sp>
      <p:sp>
        <p:nvSpPr>
          <p:cNvPr id="147" name="Shape 145"/>
          <p:cNvSpPr/>
          <p:nvPr/>
        </p:nvSpPr>
        <p:spPr>
          <a:xfrm>
            <a:off x="6949440" y="3483864"/>
            <a:ext cx="914" cy="219456"/>
          </a:xfrm>
          <a:prstGeom prst="line">
            <a:avLst/>
          </a:prstGeom>
          <a:noFill/>
          <a:ln w="19050">
            <a:solidFill>
              <a:srgbClr val="5B6B7F"/>
            </a:solidFill>
            <a:prstDash val="solid"/>
          </a:ln>
        </p:spPr>
      </p:sp>
      <p:sp>
        <p:nvSpPr>
          <p:cNvPr id="148" name="Shape 146"/>
          <p:cNvSpPr/>
          <p:nvPr/>
        </p:nvSpPr>
        <p:spPr>
          <a:xfrm flipH="1">
            <a:off x="868680" y="3703320"/>
            <a:ext cx="6080760" cy="914"/>
          </a:xfrm>
          <a:prstGeom prst="line">
            <a:avLst/>
          </a:prstGeom>
          <a:noFill/>
          <a:ln w="19050">
            <a:solidFill>
              <a:srgbClr val="5B6B7F"/>
            </a:solidFill>
            <a:prstDash val="solid"/>
          </a:ln>
        </p:spPr>
      </p:sp>
      <p:sp>
        <p:nvSpPr>
          <p:cNvPr id="149" name="Shape 147"/>
          <p:cNvSpPr/>
          <p:nvPr/>
        </p:nvSpPr>
        <p:spPr>
          <a:xfrm>
            <a:off x="868680" y="3703320"/>
            <a:ext cx="914" cy="146304"/>
          </a:xfrm>
          <a:prstGeom prst="line">
            <a:avLst/>
          </a:prstGeom>
          <a:noFill/>
          <a:ln w="19050">
            <a:solidFill>
              <a:srgbClr val="5B6B7F"/>
            </a:solidFill>
            <a:prstDash val="solid"/>
            <a:tailEnd type="triangle"/>
          </a:ln>
        </p:spPr>
      </p:sp>
      <p:sp>
        <p:nvSpPr>
          <p:cNvPr id="150" name="Shape 148"/>
          <p:cNvSpPr/>
          <p:nvPr/>
        </p:nvSpPr>
        <p:spPr>
          <a:xfrm>
            <a:off x="1298448" y="4261104"/>
            <a:ext cx="301752" cy="914"/>
          </a:xfrm>
          <a:prstGeom prst="line">
            <a:avLst/>
          </a:prstGeom>
          <a:noFill/>
          <a:ln w="12700">
            <a:solidFill>
              <a:srgbClr val="5B6B7F"/>
            </a:solidFill>
            <a:prstDash val="solid"/>
            <a:tailEnd type="triangle"/>
          </a:ln>
        </p:spPr>
      </p:sp>
      <p:sp>
        <p:nvSpPr>
          <p:cNvPr id="151" name="Text 149"/>
          <p:cNvSpPr txBox="1"/>
          <p:nvPr/>
        </p:nvSpPr>
        <p:spPr>
          <a:xfrm>
            <a:off x="1143000" y="3968496"/>
            <a:ext cx="640080" cy="27432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RMSNorm</a:t>
            </a:r>
            <a:endParaRPr lang="en-US" sz="700" dirty="0"/>
          </a:p>
        </p:txBody>
      </p:sp>
      <p:sp>
        <p:nvSpPr>
          <p:cNvPr id="152" name="Shape 150"/>
          <p:cNvSpPr/>
          <p:nvPr/>
        </p:nvSpPr>
        <p:spPr>
          <a:xfrm>
            <a:off x="1627632" y="4069080"/>
            <a:ext cx="822960" cy="384048"/>
          </a:xfrm>
          <a:prstGeom prst="rect">
            <a:avLst/>
          </a:prstGeom>
          <a:solidFill>
            <a:srgbClr val="E3EEFB"/>
          </a:solidFill>
          <a:ln w="12700">
            <a:solidFill>
              <a:srgbClr val="2F6DB5"/>
            </a:solidFill>
            <a:prstDash val="solid"/>
          </a:ln>
        </p:spPr>
      </p:sp>
      <p:sp>
        <p:nvSpPr>
          <p:cNvPr id="153" name="Shape 151"/>
          <p:cNvSpPr/>
          <p:nvPr/>
        </p:nvSpPr>
        <p:spPr>
          <a:xfrm>
            <a:off x="1764792" y="4069080"/>
            <a:ext cx="914" cy="384048"/>
          </a:xfrm>
          <a:prstGeom prst="line">
            <a:avLst/>
          </a:prstGeom>
          <a:noFill/>
          <a:ln w="5080">
            <a:solidFill>
              <a:srgbClr val="D5DCE5"/>
            </a:solidFill>
            <a:prstDash val="solid"/>
          </a:ln>
        </p:spPr>
      </p:sp>
      <p:sp>
        <p:nvSpPr>
          <p:cNvPr id="154" name="Shape 152"/>
          <p:cNvSpPr/>
          <p:nvPr/>
        </p:nvSpPr>
        <p:spPr>
          <a:xfrm>
            <a:off x="1901952" y="4069080"/>
            <a:ext cx="914" cy="384048"/>
          </a:xfrm>
          <a:prstGeom prst="line">
            <a:avLst/>
          </a:prstGeom>
          <a:noFill/>
          <a:ln w="5080">
            <a:solidFill>
              <a:srgbClr val="D5DCE5"/>
            </a:solidFill>
            <a:prstDash val="solid"/>
          </a:ln>
        </p:spPr>
      </p:sp>
      <p:sp>
        <p:nvSpPr>
          <p:cNvPr id="155" name="Shape 153"/>
          <p:cNvSpPr/>
          <p:nvPr/>
        </p:nvSpPr>
        <p:spPr>
          <a:xfrm>
            <a:off x="2039112" y="4069080"/>
            <a:ext cx="914" cy="384048"/>
          </a:xfrm>
          <a:prstGeom prst="line">
            <a:avLst/>
          </a:prstGeom>
          <a:noFill/>
          <a:ln w="5080">
            <a:solidFill>
              <a:srgbClr val="D5DCE5"/>
            </a:solidFill>
            <a:prstDash val="solid"/>
          </a:ln>
        </p:spPr>
      </p:sp>
      <p:sp>
        <p:nvSpPr>
          <p:cNvPr id="156" name="Shape 154"/>
          <p:cNvSpPr/>
          <p:nvPr/>
        </p:nvSpPr>
        <p:spPr>
          <a:xfrm>
            <a:off x="2176272" y="4069080"/>
            <a:ext cx="914" cy="384048"/>
          </a:xfrm>
          <a:prstGeom prst="line">
            <a:avLst/>
          </a:prstGeom>
          <a:noFill/>
          <a:ln w="5080">
            <a:solidFill>
              <a:srgbClr val="D5DCE5"/>
            </a:solidFill>
            <a:prstDash val="solid"/>
          </a:ln>
        </p:spPr>
      </p:sp>
      <p:sp>
        <p:nvSpPr>
          <p:cNvPr id="157" name="Shape 155"/>
          <p:cNvSpPr/>
          <p:nvPr/>
        </p:nvSpPr>
        <p:spPr>
          <a:xfrm>
            <a:off x="2313432" y="4069080"/>
            <a:ext cx="914" cy="384048"/>
          </a:xfrm>
          <a:prstGeom prst="line">
            <a:avLst/>
          </a:prstGeom>
          <a:noFill/>
          <a:ln w="5080">
            <a:solidFill>
              <a:srgbClr val="D5DCE5"/>
            </a:solidFill>
            <a:prstDash val="solid"/>
          </a:ln>
        </p:spPr>
      </p:sp>
      <p:sp>
        <p:nvSpPr>
          <p:cNvPr id="158" name="Text 156"/>
          <p:cNvSpPr txBox="1"/>
          <p:nvPr/>
        </p:nvSpPr>
        <p:spPr>
          <a:xfrm>
            <a:off x="1627632" y="3840480"/>
            <a:ext cx="82296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norm₂</a:t>
            </a:r>
            <a:endParaRPr lang="en-US" sz="750" dirty="0"/>
          </a:p>
        </p:txBody>
      </p:sp>
      <p:sp>
        <p:nvSpPr>
          <p:cNvPr id="159" name="Shape 157"/>
          <p:cNvSpPr/>
          <p:nvPr/>
        </p:nvSpPr>
        <p:spPr>
          <a:xfrm>
            <a:off x="2834640" y="3749040"/>
            <a:ext cx="1737360" cy="310896"/>
          </a:xfrm>
          <a:prstGeom prst="rect">
            <a:avLst/>
          </a:prstGeom>
          <a:solidFill>
            <a:srgbClr val="ECE6FA"/>
          </a:solidFill>
          <a:ln w="12700">
            <a:solidFill>
              <a:srgbClr val="6C4FBF"/>
            </a:solidFill>
            <a:prstDash val="solid"/>
          </a:ln>
        </p:spPr>
      </p:sp>
      <p:sp>
        <p:nvSpPr>
          <p:cNvPr id="160" name="Shape 158"/>
          <p:cNvSpPr/>
          <p:nvPr/>
        </p:nvSpPr>
        <p:spPr>
          <a:xfrm>
            <a:off x="2979420" y="3749040"/>
            <a:ext cx="914" cy="310896"/>
          </a:xfrm>
          <a:prstGeom prst="line">
            <a:avLst/>
          </a:prstGeom>
          <a:noFill/>
          <a:ln w="5080">
            <a:solidFill>
              <a:srgbClr val="D5DCE5"/>
            </a:solidFill>
            <a:prstDash val="solid"/>
          </a:ln>
        </p:spPr>
      </p:sp>
      <p:sp>
        <p:nvSpPr>
          <p:cNvPr id="161" name="Shape 159"/>
          <p:cNvSpPr/>
          <p:nvPr/>
        </p:nvSpPr>
        <p:spPr>
          <a:xfrm>
            <a:off x="3124200" y="3749040"/>
            <a:ext cx="914" cy="310896"/>
          </a:xfrm>
          <a:prstGeom prst="line">
            <a:avLst/>
          </a:prstGeom>
          <a:noFill/>
          <a:ln w="5080">
            <a:solidFill>
              <a:srgbClr val="D5DCE5"/>
            </a:solidFill>
            <a:prstDash val="solid"/>
          </a:ln>
        </p:spPr>
      </p:sp>
      <p:sp>
        <p:nvSpPr>
          <p:cNvPr id="162" name="Shape 160"/>
          <p:cNvSpPr/>
          <p:nvPr/>
        </p:nvSpPr>
        <p:spPr>
          <a:xfrm>
            <a:off x="3268980" y="3749040"/>
            <a:ext cx="914" cy="310896"/>
          </a:xfrm>
          <a:prstGeom prst="line">
            <a:avLst/>
          </a:prstGeom>
          <a:noFill/>
          <a:ln w="5080">
            <a:solidFill>
              <a:srgbClr val="D5DCE5"/>
            </a:solidFill>
            <a:prstDash val="solid"/>
          </a:ln>
        </p:spPr>
      </p:sp>
      <p:sp>
        <p:nvSpPr>
          <p:cNvPr id="163" name="Shape 161"/>
          <p:cNvSpPr/>
          <p:nvPr/>
        </p:nvSpPr>
        <p:spPr>
          <a:xfrm>
            <a:off x="3413760" y="3749040"/>
            <a:ext cx="914" cy="310896"/>
          </a:xfrm>
          <a:prstGeom prst="line">
            <a:avLst/>
          </a:prstGeom>
          <a:noFill/>
          <a:ln w="5080">
            <a:solidFill>
              <a:srgbClr val="D5DCE5"/>
            </a:solidFill>
            <a:prstDash val="solid"/>
          </a:ln>
        </p:spPr>
      </p:sp>
      <p:sp>
        <p:nvSpPr>
          <p:cNvPr id="164" name="Shape 162"/>
          <p:cNvSpPr/>
          <p:nvPr/>
        </p:nvSpPr>
        <p:spPr>
          <a:xfrm>
            <a:off x="3558540" y="3749040"/>
            <a:ext cx="914" cy="310896"/>
          </a:xfrm>
          <a:prstGeom prst="line">
            <a:avLst/>
          </a:prstGeom>
          <a:noFill/>
          <a:ln w="5080">
            <a:solidFill>
              <a:srgbClr val="D5DCE5"/>
            </a:solidFill>
            <a:prstDash val="solid"/>
          </a:ln>
        </p:spPr>
      </p:sp>
      <p:sp>
        <p:nvSpPr>
          <p:cNvPr id="165" name="Shape 163"/>
          <p:cNvSpPr/>
          <p:nvPr/>
        </p:nvSpPr>
        <p:spPr>
          <a:xfrm>
            <a:off x="3703320" y="3749040"/>
            <a:ext cx="914" cy="310896"/>
          </a:xfrm>
          <a:prstGeom prst="line">
            <a:avLst/>
          </a:prstGeom>
          <a:noFill/>
          <a:ln w="5080">
            <a:solidFill>
              <a:srgbClr val="D5DCE5"/>
            </a:solidFill>
            <a:prstDash val="solid"/>
          </a:ln>
        </p:spPr>
      </p:sp>
      <p:sp>
        <p:nvSpPr>
          <p:cNvPr id="166" name="Shape 164"/>
          <p:cNvSpPr/>
          <p:nvPr/>
        </p:nvSpPr>
        <p:spPr>
          <a:xfrm>
            <a:off x="3848100" y="3749040"/>
            <a:ext cx="914" cy="310896"/>
          </a:xfrm>
          <a:prstGeom prst="line">
            <a:avLst/>
          </a:prstGeom>
          <a:noFill/>
          <a:ln w="5080">
            <a:solidFill>
              <a:srgbClr val="D5DCE5"/>
            </a:solidFill>
            <a:prstDash val="solid"/>
          </a:ln>
        </p:spPr>
      </p:sp>
      <p:sp>
        <p:nvSpPr>
          <p:cNvPr id="167" name="Shape 165"/>
          <p:cNvSpPr/>
          <p:nvPr/>
        </p:nvSpPr>
        <p:spPr>
          <a:xfrm>
            <a:off x="3992880" y="3749040"/>
            <a:ext cx="914" cy="310896"/>
          </a:xfrm>
          <a:prstGeom prst="line">
            <a:avLst/>
          </a:prstGeom>
          <a:noFill/>
          <a:ln w="5080">
            <a:solidFill>
              <a:srgbClr val="D5DCE5"/>
            </a:solidFill>
            <a:prstDash val="solid"/>
          </a:ln>
        </p:spPr>
      </p:sp>
      <p:sp>
        <p:nvSpPr>
          <p:cNvPr id="168" name="Shape 166"/>
          <p:cNvSpPr/>
          <p:nvPr/>
        </p:nvSpPr>
        <p:spPr>
          <a:xfrm>
            <a:off x="4137660" y="3749040"/>
            <a:ext cx="914" cy="310896"/>
          </a:xfrm>
          <a:prstGeom prst="line">
            <a:avLst/>
          </a:prstGeom>
          <a:noFill/>
          <a:ln w="5080">
            <a:solidFill>
              <a:srgbClr val="D5DCE5"/>
            </a:solidFill>
            <a:prstDash val="solid"/>
          </a:ln>
        </p:spPr>
      </p:sp>
      <p:sp>
        <p:nvSpPr>
          <p:cNvPr id="169" name="Shape 167"/>
          <p:cNvSpPr/>
          <p:nvPr/>
        </p:nvSpPr>
        <p:spPr>
          <a:xfrm>
            <a:off x="4282440" y="3749040"/>
            <a:ext cx="914" cy="310896"/>
          </a:xfrm>
          <a:prstGeom prst="line">
            <a:avLst/>
          </a:prstGeom>
          <a:noFill/>
          <a:ln w="5080">
            <a:solidFill>
              <a:srgbClr val="D5DCE5"/>
            </a:solidFill>
            <a:prstDash val="solid"/>
          </a:ln>
        </p:spPr>
      </p:sp>
      <p:sp>
        <p:nvSpPr>
          <p:cNvPr id="170" name="Shape 168"/>
          <p:cNvSpPr/>
          <p:nvPr/>
        </p:nvSpPr>
        <p:spPr>
          <a:xfrm>
            <a:off x="4427220" y="3749040"/>
            <a:ext cx="914" cy="310896"/>
          </a:xfrm>
          <a:prstGeom prst="line">
            <a:avLst/>
          </a:prstGeom>
          <a:noFill/>
          <a:ln w="5080">
            <a:solidFill>
              <a:srgbClr val="D5DCE5"/>
            </a:solidFill>
            <a:prstDash val="solid"/>
          </a:ln>
        </p:spPr>
      </p:sp>
      <p:sp>
        <p:nvSpPr>
          <p:cNvPr id="171" name="Text 169"/>
          <p:cNvSpPr txBox="1"/>
          <p:nvPr/>
        </p:nvSpPr>
        <p:spPr>
          <a:xfrm>
            <a:off x="2834640" y="3520440"/>
            <a:ext cx="201168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G = gate [7,8192] (W 48 MiB)</a:t>
            </a:r>
            <a:endParaRPr lang="en-US" sz="700" dirty="0"/>
          </a:p>
        </p:txBody>
      </p:sp>
      <p:sp>
        <p:nvSpPr>
          <p:cNvPr id="172" name="Shape 170"/>
          <p:cNvSpPr/>
          <p:nvPr/>
        </p:nvSpPr>
        <p:spPr>
          <a:xfrm>
            <a:off x="2834640" y="4434840"/>
            <a:ext cx="1737360" cy="310896"/>
          </a:xfrm>
          <a:prstGeom prst="rect">
            <a:avLst/>
          </a:prstGeom>
          <a:solidFill>
            <a:srgbClr val="ECE6FA"/>
          </a:solidFill>
          <a:ln w="12700">
            <a:solidFill>
              <a:srgbClr val="6C4FBF"/>
            </a:solidFill>
            <a:prstDash val="solid"/>
          </a:ln>
        </p:spPr>
      </p:sp>
      <p:sp>
        <p:nvSpPr>
          <p:cNvPr id="173" name="Shape 171"/>
          <p:cNvSpPr/>
          <p:nvPr/>
        </p:nvSpPr>
        <p:spPr>
          <a:xfrm>
            <a:off x="2979420" y="4434840"/>
            <a:ext cx="914" cy="310896"/>
          </a:xfrm>
          <a:prstGeom prst="line">
            <a:avLst/>
          </a:prstGeom>
          <a:noFill/>
          <a:ln w="5080">
            <a:solidFill>
              <a:srgbClr val="D5DCE5"/>
            </a:solidFill>
            <a:prstDash val="solid"/>
          </a:ln>
        </p:spPr>
      </p:sp>
      <p:sp>
        <p:nvSpPr>
          <p:cNvPr id="174" name="Shape 172"/>
          <p:cNvSpPr/>
          <p:nvPr/>
        </p:nvSpPr>
        <p:spPr>
          <a:xfrm>
            <a:off x="3124200" y="4434840"/>
            <a:ext cx="914" cy="310896"/>
          </a:xfrm>
          <a:prstGeom prst="line">
            <a:avLst/>
          </a:prstGeom>
          <a:noFill/>
          <a:ln w="5080">
            <a:solidFill>
              <a:srgbClr val="D5DCE5"/>
            </a:solidFill>
            <a:prstDash val="solid"/>
          </a:ln>
        </p:spPr>
      </p:sp>
      <p:sp>
        <p:nvSpPr>
          <p:cNvPr id="175" name="Shape 173"/>
          <p:cNvSpPr/>
          <p:nvPr/>
        </p:nvSpPr>
        <p:spPr>
          <a:xfrm>
            <a:off x="3268980" y="4434840"/>
            <a:ext cx="914" cy="310896"/>
          </a:xfrm>
          <a:prstGeom prst="line">
            <a:avLst/>
          </a:prstGeom>
          <a:noFill/>
          <a:ln w="5080">
            <a:solidFill>
              <a:srgbClr val="D5DCE5"/>
            </a:solidFill>
            <a:prstDash val="solid"/>
          </a:ln>
        </p:spPr>
      </p:sp>
      <p:sp>
        <p:nvSpPr>
          <p:cNvPr id="176" name="Shape 174"/>
          <p:cNvSpPr/>
          <p:nvPr/>
        </p:nvSpPr>
        <p:spPr>
          <a:xfrm>
            <a:off x="3413760" y="4434840"/>
            <a:ext cx="914" cy="310896"/>
          </a:xfrm>
          <a:prstGeom prst="line">
            <a:avLst/>
          </a:prstGeom>
          <a:noFill/>
          <a:ln w="5080">
            <a:solidFill>
              <a:srgbClr val="D5DCE5"/>
            </a:solidFill>
            <a:prstDash val="solid"/>
          </a:ln>
        </p:spPr>
      </p:sp>
      <p:sp>
        <p:nvSpPr>
          <p:cNvPr id="177" name="Shape 175"/>
          <p:cNvSpPr/>
          <p:nvPr/>
        </p:nvSpPr>
        <p:spPr>
          <a:xfrm>
            <a:off x="3558540" y="4434840"/>
            <a:ext cx="914" cy="310896"/>
          </a:xfrm>
          <a:prstGeom prst="line">
            <a:avLst/>
          </a:prstGeom>
          <a:noFill/>
          <a:ln w="5080">
            <a:solidFill>
              <a:srgbClr val="D5DCE5"/>
            </a:solidFill>
            <a:prstDash val="solid"/>
          </a:ln>
        </p:spPr>
      </p:sp>
      <p:sp>
        <p:nvSpPr>
          <p:cNvPr id="178" name="Shape 176"/>
          <p:cNvSpPr/>
          <p:nvPr/>
        </p:nvSpPr>
        <p:spPr>
          <a:xfrm>
            <a:off x="3703320" y="4434840"/>
            <a:ext cx="914" cy="310896"/>
          </a:xfrm>
          <a:prstGeom prst="line">
            <a:avLst/>
          </a:prstGeom>
          <a:noFill/>
          <a:ln w="5080">
            <a:solidFill>
              <a:srgbClr val="D5DCE5"/>
            </a:solidFill>
            <a:prstDash val="solid"/>
          </a:ln>
        </p:spPr>
      </p:sp>
      <p:sp>
        <p:nvSpPr>
          <p:cNvPr id="179" name="Shape 177"/>
          <p:cNvSpPr/>
          <p:nvPr/>
        </p:nvSpPr>
        <p:spPr>
          <a:xfrm>
            <a:off x="3848100" y="4434840"/>
            <a:ext cx="914" cy="310896"/>
          </a:xfrm>
          <a:prstGeom prst="line">
            <a:avLst/>
          </a:prstGeom>
          <a:noFill/>
          <a:ln w="5080">
            <a:solidFill>
              <a:srgbClr val="D5DCE5"/>
            </a:solidFill>
            <a:prstDash val="solid"/>
          </a:ln>
        </p:spPr>
      </p:sp>
      <p:sp>
        <p:nvSpPr>
          <p:cNvPr id="180" name="Shape 178"/>
          <p:cNvSpPr/>
          <p:nvPr/>
        </p:nvSpPr>
        <p:spPr>
          <a:xfrm>
            <a:off x="3992880" y="4434840"/>
            <a:ext cx="914" cy="310896"/>
          </a:xfrm>
          <a:prstGeom prst="line">
            <a:avLst/>
          </a:prstGeom>
          <a:noFill/>
          <a:ln w="5080">
            <a:solidFill>
              <a:srgbClr val="D5DCE5"/>
            </a:solidFill>
            <a:prstDash val="solid"/>
          </a:ln>
        </p:spPr>
      </p:sp>
      <p:sp>
        <p:nvSpPr>
          <p:cNvPr id="181" name="Shape 179"/>
          <p:cNvSpPr/>
          <p:nvPr/>
        </p:nvSpPr>
        <p:spPr>
          <a:xfrm>
            <a:off x="4137660" y="4434840"/>
            <a:ext cx="914" cy="310896"/>
          </a:xfrm>
          <a:prstGeom prst="line">
            <a:avLst/>
          </a:prstGeom>
          <a:noFill/>
          <a:ln w="5080">
            <a:solidFill>
              <a:srgbClr val="D5DCE5"/>
            </a:solidFill>
            <a:prstDash val="solid"/>
          </a:ln>
        </p:spPr>
      </p:sp>
      <p:sp>
        <p:nvSpPr>
          <p:cNvPr id="182" name="Shape 180"/>
          <p:cNvSpPr/>
          <p:nvPr/>
        </p:nvSpPr>
        <p:spPr>
          <a:xfrm>
            <a:off x="4282440" y="4434840"/>
            <a:ext cx="914" cy="310896"/>
          </a:xfrm>
          <a:prstGeom prst="line">
            <a:avLst/>
          </a:prstGeom>
          <a:noFill/>
          <a:ln w="5080">
            <a:solidFill>
              <a:srgbClr val="D5DCE5"/>
            </a:solidFill>
            <a:prstDash val="solid"/>
          </a:ln>
        </p:spPr>
      </p:sp>
      <p:sp>
        <p:nvSpPr>
          <p:cNvPr id="183" name="Shape 181"/>
          <p:cNvSpPr/>
          <p:nvPr/>
        </p:nvSpPr>
        <p:spPr>
          <a:xfrm>
            <a:off x="4427220" y="4434840"/>
            <a:ext cx="914" cy="310896"/>
          </a:xfrm>
          <a:prstGeom prst="line">
            <a:avLst/>
          </a:prstGeom>
          <a:noFill/>
          <a:ln w="5080">
            <a:solidFill>
              <a:srgbClr val="D5DCE5"/>
            </a:solidFill>
            <a:prstDash val="solid"/>
          </a:ln>
        </p:spPr>
      </p:sp>
      <p:sp>
        <p:nvSpPr>
          <p:cNvPr id="184" name="Text 182"/>
          <p:cNvSpPr txBox="1"/>
          <p:nvPr/>
        </p:nvSpPr>
        <p:spPr>
          <a:xfrm>
            <a:off x="2834640" y="4206240"/>
            <a:ext cx="201168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U = up [7,8192] (W 48 MiB)</a:t>
            </a:r>
            <a:endParaRPr lang="en-US" sz="700" dirty="0"/>
          </a:p>
        </p:txBody>
      </p:sp>
      <p:sp>
        <p:nvSpPr>
          <p:cNvPr id="185" name="Shape 183"/>
          <p:cNvSpPr/>
          <p:nvPr/>
        </p:nvSpPr>
        <p:spPr>
          <a:xfrm flipV="1">
            <a:off x="2468880" y="3904488"/>
            <a:ext cx="365760" cy="356616"/>
          </a:xfrm>
          <a:prstGeom prst="line">
            <a:avLst/>
          </a:prstGeom>
          <a:noFill/>
          <a:ln w="9525">
            <a:solidFill>
              <a:srgbClr val="5B6B7F"/>
            </a:solidFill>
            <a:prstDash val="solid"/>
            <a:tailEnd type="triangle"/>
          </a:ln>
        </p:spPr>
      </p:sp>
      <p:sp>
        <p:nvSpPr>
          <p:cNvPr id="186" name="Shape 184"/>
          <p:cNvSpPr/>
          <p:nvPr/>
        </p:nvSpPr>
        <p:spPr>
          <a:xfrm>
            <a:off x="2468880" y="4261104"/>
            <a:ext cx="365760" cy="329184"/>
          </a:xfrm>
          <a:prstGeom prst="line">
            <a:avLst/>
          </a:prstGeom>
          <a:noFill/>
          <a:ln w="9525">
            <a:solidFill>
              <a:srgbClr val="5B6B7F"/>
            </a:solidFill>
            <a:prstDash val="solid"/>
            <a:tailEnd type="triangle"/>
          </a:ln>
        </p:spPr>
      </p:sp>
      <p:sp>
        <p:nvSpPr>
          <p:cNvPr id="187" name="Shape 185"/>
          <p:cNvSpPr/>
          <p:nvPr/>
        </p:nvSpPr>
        <p:spPr>
          <a:xfrm>
            <a:off x="4937760" y="4069080"/>
            <a:ext cx="1737360" cy="310896"/>
          </a:xfrm>
          <a:prstGeom prst="rect">
            <a:avLst/>
          </a:prstGeom>
          <a:solidFill>
            <a:srgbClr val="E3EEFB"/>
          </a:solidFill>
          <a:ln w="12700">
            <a:solidFill>
              <a:srgbClr val="2F6DB5"/>
            </a:solidFill>
            <a:prstDash val="solid"/>
          </a:ln>
        </p:spPr>
      </p:sp>
      <p:sp>
        <p:nvSpPr>
          <p:cNvPr id="188" name="Shape 186"/>
          <p:cNvSpPr/>
          <p:nvPr/>
        </p:nvSpPr>
        <p:spPr>
          <a:xfrm>
            <a:off x="5082540" y="4069080"/>
            <a:ext cx="914" cy="310896"/>
          </a:xfrm>
          <a:prstGeom prst="line">
            <a:avLst/>
          </a:prstGeom>
          <a:noFill/>
          <a:ln w="5080">
            <a:solidFill>
              <a:srgbClr val="D5DCE5"/>
            </a:solidFill>
            <a:prstDash val="solid"/>
          </a:ln>
        </p:spPr>
      </p:sp>
      <p:sp>
        <p:nvSpPr>
          <p:cNvPr id="189" name="Shape 187"/>
          <p:cNvSpPr/>
          <p:nvPr/>
        </p:nvSpPr>
        <p:spPr>
          <a:xfrm>
            <a:off x="5227320" y="4069080"/>
            <a:ext cx="914" cy="310896"/>
          </a:xfrm>
          <a:prstGeom prst="line">
            <a:avLst/>
          </a:prstGeom>
          <a:noFill/>
          <a:ln w="5080">
            <a:solidFill>
              <a:srgbClr val="D5DCE5"/>
            </a:solidFill>
            <a:prstDash val="solid"/>
          </a:ln>
        </p:spPr>
      </p:sp>
      <p:sp>
        <p:nvSpPr>
          <p:cNvPr id="190" name="Shape 188"/>
          <p:cNvSpPr/>
          <p:nvPr/>
        </p:nvSpPr>
        <p:spPr>
          <a:xfrm>
            <a:off x="5372100" y="4069080"/>
            <a:ext cx="914" cy="310896"/>
          </a:xfrm>
          <a:prstGeom prst="line">
            <a:avLst/>
          </a:prstGeom>
          <a:noFill/>
          <a:ln w="5080">
            <a:solidFill>
              <a:srgbClr val="D5DCE5"/>
            </a:solidFill>
            <a:prstDash val="solid"/>
          </a:ln>
        </p:spPr>
      </p:sp>
      <p:sp>
        <p:nvSpPr>
          <p:cNvPr id="191" name="Shape 189"/>
          <p:cNvSpPr/>
          <p:nvPr/>
        </p:nvSpPr>
        <p:spPr>
          <a:xfrm>
            <a:off x="5516880" y="4069080"/>
            <a:ext cx="914" cy="310896"/>
          </a:xfrm>
          <a:prstGeom prst="line">
            <a:avLst/>
          </a:prstGeom>
          <a:noFill/>
          <a:ln w="5080">
            <a:solidFill>
              <a:srgbClr val="D5DCE5"/>
            </a:solidFill>
            <a:prstDash val="solid"/>
          </a:ln>
        </p:spPr>
      </p:sp>
      <p:sp>
        <p:nvSpPr>
          <p:cNvPr id="192" name="Shape 190"/>
          <p:cNvSpPr/>
          <p:nvPr/>
        </p:nvSpPr>
        <p:spPr>
          <a:xfrm>
            <a:off x="5661660" y="4069080"/>
            <a:ext cx="914" cy="310896"/>
          </a:xfrm>
          <a:prstGeom prst="line">
            <a:avLst/>
          </a:prstGeom>
          <a:noFill/>
          <a:ln w="5080">
            <a:solidFill>
              <a:srgbClr val="D5DCE5"/>
            </a:solidFill>
            <a:prstDash val="solid"/>
          </a:ln>
        </p:spPr>
      </p:sp>
      <p:sp>
        <p:nvSpPr>
          <p:cNvPr id="193" name="Shape 191"/>
          <p:cNvSpPr/>
          <p:nvPr/>
        </p:nvSpPr>
        <p:spPr>
          <a:xfrm>
            <a:off x="5806440" y="4069080"/>
            <a:ext cx="914" cy="310896"/>
          </a:xfrm>
          <a:prstGeom prst="line">
            <a:avLst/>
          </a:prstGeom>
          <a:noFill/>
          <a:ln w="5080">
            <a:solidFill>
              <a:srgbClr val="D5DCE5"/>
            </a:solidFill>
            <a:prstDash val="solid"/>
          </a:ln>
        </p:spPr>
      </p:sp>
      <p:sp>
        <p:nvSpPr>
          <p:cNvPr id="194" name="Shape 192"/>
          <p:cNvSpPr/>
          <p:nvPr/>
        </p:nvSpPr>
        <p:spPr>
          <a:xfrm>
            <a:off x="5951220" y="4069080"/>
            <a:ext cx="914" cy="310896"/>
          </a:xfrm>
          <a:prstGeom prst="line">
            <a:avLst/>
          </a:prstGeom>
          <a:noFill/>
          <a:ln w="5080">
            <a:solidFill>
              <a:srgbClr val="D5DCE5"/>
            </a:solidFill>
            <a:prstDash val="solid"/>
          </a:ln>
        </p:spPr>
      </p:sp>
      <p:sp>
        <p:nvSpPr>
          <p:cNvPr id="195" name="Shape 193"/>
          <p:cNvSpPr/>
          <p:nvPr/>
        </p:nvSpPr>
        <p:spPr>
          <a:xfrm>
            <a:off x="6096000" y="4069080"/>
            <a:ext cx="914" cy="310896"/>
          </a:xfrm>
          <a:prstGeom prst="line">
            <a:avLst/>
          </a:prstGeom>
          <a:noFill/>
          <a:ln w="5080">
            <a:solidFill>
              <a:srgbClr val="D5DCE5"/>
            </a:solidFill>
            <a:prstDash val="solid"/>
          </a:ln>
        </p:spPr>
      </p:sp>
      <p:sp>
        <p:nvSpPr>
          <p:cNvPr id="196" name="Shape 194"/>
          <p:cNvSpPr/>
          <p:nvPr/>
        </p:nvSpPr>
        <p:spPr>
          <a:xfrm>
            <a:off x="6240780" y="4069080"/>
            <a:ext cx="914" cy="310896"/>
          </a:xfrm>
          <a:prstGeom prst="line">
            <a:avLst/>
          </a:prstGeom>
          <a:noFill/>
          <a:ln w="5080">
            <a:solidFill>
              <a:srgbClr val="D5DCE5"/>
            </a:solidFill>
            <a:prstDash val="solid"/>
          </a:ln>
        </p:spPr>
      </p:sp>
      <p:sp>
        <p:nvSpPr>
          <p:cNvPr id="197" name="Shape 195"/>
          <p:cNvSpPr/>
          <p:nvPr/>
        </p:nvSpPr>
        <p:spPr>
          <a:xfrm>
            <a:off x="6385560" y="4069080"/>
            <a:ext cx="914" cy="310896"/>
          </a:xfrm>
          <a:prstGeom prst="line">
            <a:avLst/>
          </a:prstGeom>
          <a:noFill/>
          <a:ln w="5080">
            <a:solidFill>
              <a:srgbClr val="D5DCE5"/>
            </a:solidFill>
            <a:prstDash val="solid"/>
          </a:ln>
        </p:spPr>
      </p:sp>
      <p:sp>
        <p:nvSpPr>
          <p:cNvPr id="198" name="Shape 196"/>
          <p:cNvSpPr/>
          <p:nvPr/>
        </p:nvSpPr>
        <p:spPr>
          <a:xfrm>
            <a:off x="6530340" y="4069080"/>
            <a:ext cx="914" cy="310896"/>
          </a:xfrm>
          <a:prstGeom prst="line">
            <a:avLst/>
          </a:prstGeom>
          <a:noFill/>
          <a:ln w="5080">
            <a:solidFill>
              <a:srgbClr val="D5DCE5"/>
            </a:solidFill>
            <a:prstDash val="solid"/>
          </a:ln>
        </p:spPr>
      </p:sp>
      <p:sp>
        <p:nvSpPr>
          <p:cNvPr id="199" name="Text 197"/>
          <p:cNvSpPr txBox="1"/>
          <p:nvPr/>
        </p:nvSpPr>
        <p:spPr>
          <a:xfrm>
            <a:off x="4937760" y="3840480"/>
            <a:ext cx="173736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H = SiLU(G) ⊙ U</a:t>
            </a:r>
            <a:endParaRPr lang="en-US" sz="700" dirty="0"/>
          </a:p>
        </p:txBody>
      </p:sp>
      <p:sp>
        <p:nvSpPr>
          <p:cNvPr id="200" name="Shape 198"/>
          <p:cNvSpPr/>
          <p:nvPr/>
        </p:nvSpPr>
        <p:spPr>
          <a:xfrm>
            <a:off x="4590288" y="3904488"/>
            <a:ext cx="347472" cy="274320"/>
          </a:xfrm>
          <a:prstGeom prst="line">
            <a:avLst/>
          </a:prstGeom>
          <a:noFill/>
          <a:ln w="9525">
            <a:solidFill>
              <a:srgbClr val="5B6B7F"/>
            </a:solidFill>
            <a:prstDash val="solid"/>
            <a:tailEnd type="triangle"/>
          </a:ln>
        </p:spPr>
      </p:sp>
      <p:sp>
        <p:nvSpPr>
          <p:cNvPr id="201" name="Shape 199"/>
          <p:cNvSpPr/>
          <p:nvPr/>
        </p:nvSpPr>
        <p:spPr>
          <a:xfrm flipV="1">
            <a:off x="4590288" y="4270248"/>
            <a:ext cx="347472" cy="320040"/>
          </a:xfrm>
          <a:prstGeom prst="line">
            <a:avLst/>
          </a:prstGeom>
          <a:noFill/>
          <a:ln w="9525">
            <a:solidFill>
              <a:srgbClr val="5B6B7F"/>
            </a:solidFill>
            <a:prstDash val="solid"/>
            <a:tailEnd type="triangle"/>
          </a:ln>
        </p:spPr>
      </p:sp>
      <p:sp>
        <p:nvSpPr>
          <p:cNvPr id="202" name="Shape 200"/>
          <p:cNvSpPr/>
          <p:nvPr/>
        </p:nvSpPr>
        <p:spPr>
          <a:xfrm>
            <a:off x="6537960" y="4041648"/>
            <a:ext cx="822960" cy="365760"/>
          </a:xfrm>
          <a:prstGeom prst="roundRect">
            <a:avLst>
              <a:gd name="adj" fmla="val 15000"/>
            </a:avLst>
          </a:prstGeom>
          <a:solidFill>
            <a:srgbClr val="ECE6FA"/>
          </a:solidFill>
          <a:ln w="12700">
            <a:solidFill>
              <a:srgbClr val="6C4FBF"/>
            </a:solidFill>
            <a:prstDash val="solid"/>
          </a:ln>
        </p:spPr>
      </p:sp>
      <p:sp>
        <p:nvSpPr>
          <p:cNvPr id="203" name="Text 201"/>
          <p:cNvSpPr txBox="1"/>
          <p:nvPr/>
        </p:nvSpPr>
        <p:spPr>
          <a:xfrm>
            <a:off x="6611112" y="4114800"/>
            <a:ext cx="676656" cy="142875"/>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down</a:t>
            </a:r>
            <a:endParaRPr lang="en-US" sz="750" dirty="0"/>
          </a:p>
        </p:txBody>
      </p:sp>
      <p:sp>
        <p:nvSpPr>
          <p:cNvPr id="204" name="Text 202"/>
          <p:cNvSpPr txBox="1"/>
          <p:nvPr/>
        </p:nvSpPr>
        <p:spPr>
          <a:xfrm>
            <a:off x="6611112" y="4257675"/>
            <a:ext cx="676656" cy="182880"/>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W 48 MiB</a:t>
            </a:r>
            <a:endParaRPr lang="en-US" sz="600" dirty="0"/>
          </a:p>
        </p:txBody>
      </p:sp>
      <p:sp>
        <p:nvSpPr>
          <p:cNvPr id="205" name="Shape 203"/>
          <p:cNvSpPr/>
          <p:nvPr/>
        </p:nvSpPr>
        <p:spPr>
          <a:xfrm flipH="1">
            <a:off x="6537960" y="4224528"/>
            <a:ext cx="155448" cy="914"/>
          </a:xfrm>
          <a:prstGeom prst="line">
            <a:avLst/>
          </a:prstGeom>
          <a:noFill/>
          <a:ln w="9525">
            <a:solidFill>
              <a:srgbClr val="5B6B7F"/>
            </a:solidFill>
            <a:prstDash val="solid"/>
            <a:tailEnd type="triangle"/>
          </a:ln>
        </p:spPr>
      </p:sp>
      <p:sp>
        <p:nvSpPr>
          <p:cNvPr id="206" name="Shape 204"/>
          <p:cNvSpPr/>
          <p:nvPr/>
        </p:nvSpPr>
        <p:spPr>
          <a:xfrm>
            <a:off x="6812280" y="4709160"/>
            <a:ext cx="274320" cy="329184"/>
          </a:xfrm>
          <a:prstGeom prst="roundRect">
            <a:avLst>
              <a:gd name="adj" fmla="val 20000"/>
            </a:avLst>
          </a:prstGeom>
          <a:solidFill>
            <a:srgbClr val="FFF6DB"/>
          </a:solidFill>
          <a:ln w="12700">
            <a:solidFill>
              <a:srgbClr val="B7791F"/>
            </a:solidFill>
            <a:prstDash val="solid"/>
          </a:ln>
        </p:spPr>
      </p:sp>
      <p:sp>
        <p:nvSpPr>
          <p:cNvPr id="207" name="Text 205"/>
          <p:cNvSpPr txBox="1"/>
          <p:nvPr/>
        </p:nvSpPr>
        <p:spPr>
          <a:xfrm>
            <a:off x="6867144" y="4745736"/>
            <a:ext cx="164592" cy="256032"/>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a:t>
            </a:r>
            <a:endParaRPr lang="en-US" sz="1000" dirty="0"/>
          </a:p>
        </p:txBody>
      </p:sp>
      <p:sp>
        <p:nvSpPr>
          <p:cNvPr id="208" name="Shape 206"/>
          <p:cNvSpPr/>
          <p:nvPr/>
        </p:nvSpPr>
        <p:spPr>
          <a:xfrm>
            <a:off x="6949440" y="4407408"/>
            <a:ext cx="914" cy="301752"/>
          </a:xfrm>
          <a:prstGeom prst="line">
            <a:avLst/>
          </a:prstGeom>
          <a:noFill/>
          <a:ln w="9525">
            <a:solidFill>
              <a:srgbClr val="5B6B7F"/>
            </a:solidFill>
            <a:prstDash val="solid"/>
            <a:tailEnd type="triangle"/>
          </a:ln>
        </p:spPr>
      </p:sp>
      <p:sp>
        <p:nvSpPr>
          <p:cNvPr id="209" name="Shape 207"/>
          <p:cNvSpPr/>
          <p:nvPr/>
        </p:nvSpPr>
        <p:spPr>
          <a:xfrm>
            <a:off x="868680" y="4453128"/>
            <a:ext cx="914" cy="777240"/>
          </a:xfrm>
          <a:prstGeom prst="line">
            <a:avLst/>
          </a:prstGeom>
          <a:noFill/>
          <a:ln w="19050">
            <a:solidFill>
              <a:srgbClr val="B7791F"/>
            </a:solidFill>
            <a:prstDash val="dash"/>
          </a:ln>
        </p:spPr>
      </p:sp>
      <p:sp>
        <p:nvSpPr>
          <p:cNvPr id="210" name="Shape 208"/>
          <p:cNvSpPr/>
          <p:nvPr/>
        </p:nvSpPr>
        <p:spPr>
          <a:xfrm>
            <a:off x="868680" y="5230368"/>
            <a:ext cx="6080760" cy="914"/>
          </a:xfrm>
          <a:prstGeom prst="line">
            <a:avLst/>
          </a:prstGeom>
          <a:noFill/>
          <a:ln w="19050">
            <a:solidFill>
              <a:srgbClr val="B7791F"/>
            </a:solidFill>
            <a:prstDash val="dash"/>
          </a:ln>
        </p:spPr>
      </p:sp>
      <p:sp>
        <p:nvSpPr>
          <p:cNvPr id="211" name="Shape 209"/>
          <p:cNvSpPr/>
          <p:nvPr/>
        </p:nvSpPr>
        <p:spPr>
          <a:xfrm flipV="1">
            <a:off x="6949440" y="5038344"/>
            <a:ext cx="914" cy="192024"/>
          </a:xfrm>
          <a:prstGeom prst="line">
            <a:avLst/>
          </a:prstGeom>
          <a:noFill/>
          <a:ln w="19050">
            <a:solidFill>
              <a:srgbClr val="B7791F"/>
            </a:solidFill>
            <a:prstDash val="dash"/>
            <a:tailEnd type="triangle"/>
          </a:ln>
        </p:spPr>
      </p:sp>
      <p:sp>
        <p:nvSpPr>
          <p:cNvPr id="212" name="Text 210"/>
          <p:cNvSpPr txBox="1"/>
          <p:nvPr/>
        </p:nvSpPr>
        <p:spPr>
          <a:xfrm>
            <a:off x="502920" y="5257800"/>
            <a:ext cx="3657600" cy="182880"/>
          </a:xfrm>
          <a:prstGeom prst="rect">
            <a:avLst/>
          </a:prstGeom>
          <a:noFill/>
          <a:ln/>
        </p:spPr>
        <p:txBody>
          <a:bodyPr wrap="square" lIns="0" tIns="0" rIns="0" bIns="0" rtlCol="0" anchor="t"/>
          <a:lstStyle/>
          <a:p>
            <a:pPr algn="l" indent="0" marL="0">
              <a:buNone/>
            </a:pPr>
            <a:r>
              <a:rPr lang="en-US" sz="650" b="1" dirty="0">
                <a:solidFill>
                  <a:srgbClr val="B7791F"/>
                </a:solidFill>
                <a:latin typeface="Malgun Gothic" pitchFamily="34" charset="0"/>
                <a:ea typeface="Malgun Gothic" pitchFamily="34" charset="-122"/>
                <a:cs typeface="Malgun Gothic" pitchFamily="34" charset="-120"/>
              </a:rPr>
              <a:t>residual: R 유지 → Y = R + down(H) → 다음 layer (×28)</a:t>
            </a:r>
            <a:endParaRPr lang="en-US" sz="650" dirty="0"/>
          </a:p>
        </p:txBody>
      </p:sp>
      <p:sp>
        <p:nvSpPr>
          <p:cNvPr id="213" name="Text 211"/>
          <p:cNvSpPr txBox="1"/>
          <p:nvPr/>
        </p:nvSpPr>
        <p:spPr>
          <a:xfrm>
            <a:off x="457200" y="5486400"/>
            <a:ext cx="6949440" cy="36576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export 결과: prefill(input_embeds [7,3072], cos/sin, mask [1,7,7], packed_params) → logits; decode(…, k_cache [28,8,128,9], v_cache, mask [1,1,10]) → (logits, K_new, V_new). num_input이 실행 입력과 parameter의 경계.</a:t>
            </a:r>
            <a:endParaRPr lang="en-US" sz="750" dirty="0"/>
          </a:p>
        </p:txBody>
      </p:sp>
      <p:sp>
        <p:nvSpPr>
          <p:cNvPr id="214" name="Text 212"/>
          <p:cNvSpPr txBox="1"/>
          <p:nvPr/>
        </p:nvSpPr>
        <p:spPr>
          <a:xfrm>
            <a:off x="7772400" y="1371600"/>
            <a:ext cx="3959352"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LiftTransformParams (작은 예제의 실제 IR 요약)</a:t>
            </a:r>
            <a:endParaRPr lang="en-US" sz="900" dirty="0"/>
          </a:p>
        </p:txBody>
      </p:sp>
      <p:sp>
        <p:nvSpPr>
          <p:cNvPr id="215" name="Shape 213"/>
          <p:cNvSpPr/>
          <p:nvPr/>
        </p:nvSpPr>
        <p:spPr>
          <a:xfrm>
            <a:off x="7772400" y="1627632"/>
            <a:ext cx="3959352" cy="1051560"/>
          </a:xfrm>
          <a:prstGeom prst="roundRect">
            <a:avLst>
              <a:gd name="adj" fmla="val 4348"/>
            </a:avLst>
          </a:prstGeom>
          <a:solidFill>
            <a:srgbClr val="F5F7FA"/>
          </a:solidFill>
          <a:ln w="9525">
            <a:solidFill>
              <a:srgbClr val="C9D3DF"/>
            </a:solidFill>
            <a:prstDash val="solid"/>
          </a:ln>
        </p:spPr>
      </p:sp>
      <p:sp>
        <p:nvSpPr>
          <p:cNvPr id="216" name="Text 214"/>
          <p:cNvSpPr txBox="1"/>
          <p:nvPr/>
        </p:nvSpPr>
        <p:spPr>
          <a:xfrm>
            <a:off x="7882128" y="1700784"/>
            <a:ext cx="3739896" cy="905256"/>
          </a:xfrm>
          <a:prstGeom prst="rect">
            <a:avLst/>
          </a:prstGeom>
          <a:noFill/>
          <a:ln/>
        </p:spPr>
        <p:txBody>
          <a:bodyPr wrap="square" lIns="0" tIns="0" rIns="0" bIns="0" rtlCol="0" anchor="t"/>
          <a:lstStyle/>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 device: prefill(x, bias, lv)   # transpose 없음</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lv1 = matmul(x, lv); lv2 = add(lv1, bias); gv = silu(lv2)</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 host (1회): prefill_transform_params(W, bias)</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lv = permute_dims(W)  →  return (bias, lv)</a:t>
            </a:r>
            <a:endParaRPr lang="en-US" sz="700" dirty="0"/>
          </a:p>
        </p:txBody>
      </p:sp>
      <p:sp>
        <p:nvSpPr>
          <p:cNvPr id="217" name="Shape 215"/>
          <p:cNvSpPr/>
          <p:nvPr/>
        </p:nvSpPr>
        <p:spPr>
          <a:xfrm>
            <a:off x="7863840" y="3108960"/>
            <a:ext cx="1097280" cy="502920"/>
          </a:xfrm>
          <a:prstGeom prst="rect">
            <a:avLst/>
          </a:prstGeom>
          <a:solidFill>
            <a:srgbClr val="FFF1DC"/>
          </a:solidFill>
          <a:ln w="12700">
            <a:solidFill>
              <a:srgbClr val="D98A1E"/>
            </a:solidFill>
            <a:prstDash val="solid"/>
          </a:ln>
        </p:spPr>
      </p:sp>
      <p:sp>
        <p:nvSpPr>
          <p:cNvPr id="218" name="Shape 216"/>
          <p:cNvSpPr/>
          <p:nvPr/>
        </p:nvSpPr>
        <p:spPr>
          <a:xfrm>
            <a:off x="8412480" y="3108960"/>
            <a:ext cx="914" cy="502920"/>
          </a:xfrm>
          <a:prstGeom prst="line">
            <a:avLst/>
          </a:prstGeom>
          <a:noFill/>
          <a:ln w="12700">
            <a:solidFill>
              <a:srgbClr val="D98A1E"/>
            </a:solidFill>
            <a:prstDash val="solid"/>
          </a:ln>
        </p:spPr>
      </p:sp>
      <p:sp>
        <p:nvSpPr>
          <p:cNvPr id="219" name="Text 217"/>
          <p:cNvSpPr txBox="1"/>
          <p:nvPr/>
        </p:nvSpPr>
        <p:spPr>
          <a:xfrm>
            <a:off x="7863840" y="2880360"/>
            <a:ext cx="164592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W [64,128] (checkpoint)</a:t>
            </a:r>
            <a:endParaRPr lang="en-US" sz="700" dirty="0"/>
          </a:p>
        </p:txBody>
      </p:sp>
      <p:sp>
        <p:nvSpPr>
          <p:cNvPr id="220" name="Shape 218"/>
          <p:cNvSpPr/>
          <p:nvPr/>
        </p:nvSpPr>
        <p:spPr>
          <a:xfrm>
            <a:off x="9052560" y="3355848"/>
            <a:ext cx="594360" cy="914"/>
          </a:xfrm>
          <a:prstGeom prst="line">
            <a:avLst/>
          </a:prstGeom>
          <a:noFill/>
          <a:ln w="19050">
            <a:solidFill>
              <a:srgbClr val="5B6B7F"/>
            </a:solidFill>
            <a:prstDash val="solid"/>
            <a:tailEnd type="triangle"/>
          </a:ln>
        </p:spPr>
      </p:sp>
      <p:sp>
        <p:nvSpPr>
          <p:cNvPr id="221" name="Text 219"/>
          <p:cNvSpPr txBox="1"/>
          <p:nvPr/>
        </p:nvSpPr>
        <p:spPr>
          <a:xfrm>
            <a:off x="9006840" y="3520440"/>
            <a:ext cx="731520" cy="274320"/>
          </a:xfrm>
          <a:prstGeom prst="rect">
            <a:avLst/>
          </a:prstGeom>
          <a:noFill/>
          <a:ln/>
        </p:spPr>
        <p:txBody>
          <a:bodyPr wrap="square" lIns="0" tIns="0" rIns="0" bIns="0" rtlCol="0" anchor="t"/>
          <a:lstStyle/>
          <a:p>
            <a:pPr algn="ctr" indent="0" marL="0">
              <a:buNone/>
            </a:pPr>
            <a:r>
              <a:rPr lang="en-US" sz="650" b="1" dirty="0">
                <a:solidFill>
                  <a:srgbClr val="5B6B7F"/>
                </a:solidFill>
                <a:latin typeface="Malgun Gothic" pitchFamily="34" charset="0"/>
                <a:ea typeface="Malgun Gothic" pitchFamily="34" charset="-122"/>
                <a:cs typeface="Malgun Gothic" pitchFamily="34" charset="-120"/>
              </a:rPr>
              <a:t>host VM 1회</a:t>
            </a:r>
            <a:endParaRPr lang="en-US" sz="650" dirty="0"/>
          </a:p>
        </p:txBody>
      </p:sp>
      <p:sp>
        <p:nvSpPr>
          <p:cNvPr id="222" name="Shape 220"/>
          <p:cNvSpPr/>
          <p:nvPr/>
        </p:nvSpPr>
        <p:spPr>
          <a:xfrm>
            <a:off x="9692640" y="2834640"/>
            <a:ext cx="502920" cy="1051560"/>
          </a:xfrm>
          <a:prstGeom prst="rect">
            <a:avLst/>
          </a:prstGeom>
          <a:solidFill>
            <a:srgbClr val="FFF1DC"/>
          </a:solidFill>
          <a:ln w="12700">
            <a:solidFill>
              <a:srgbClr val="D98A1E"/>
            </a:solidFill>
            <a:prstDash val="solid"/>
          </a:ln>
        </p:spPr>
      </p:sp>
      <p:sp>
        <p:nvSpPr>
          <p:cNvPr id="223" name="Shape 221"/>
          <p:cNvSpPr/>
          <p:nvPr/>
        </p:nvSpPr>
        <p:spPr>
          <a:xfrm>
            <a:off x="9692640" y="3360420"/>
            <a:ext cx="502920" cy="914"/>
          </a:xfrm>
          <a:prstGeom prst="line">
            <a:avLst/>
          </a:prstGeom>
          <a:noFill/>
          <a:ln w="12700">
            <a:solidFill>
              <a:srgbClr val="D98A1E"/>
            </a:solidFill>
            <a:prstDash val="solid"/>
          </a:ln>
        </p:spPr>
      </p:sp>
      <p:sp>
        <p:nvSpPr>
          <p:cNvPr id="224" name="Text 222"/>
          <p:cNvSpPr txBox="1"/>
          <p:nvPr/>
        </p:nvSpPr>
        <p:spPr>
          <a:xfrm>
            <a:off x="9692640" y="2606040"/>
            <a:ext cx="9144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Wᵀ [128,64]</a:t>
            </a:r>
            <a:endParaRPr lang="en-US" sz="700" dirty="0"/>
          </a:p>
        </p:txBody>
      </p:sp>
      <p:sp>
        <p:nvSpPr>
          <p:cNvPr id="225" name="Shape 223"/>
          <p:cNvSpPr/>
          <p:nvPr/>
        </p:nvSpPr>
        <p:spPr>
          <a:xfrm>
            <a:off x="10259568" y="3355848"/>
            <a:ext cx="438912" cy="914"/>
          </a:xfrm>
          <a:prstGeom prst="line">
            <a:avLst/>
          </a:prstGeom>
          <a:noFill/>
          <a:ln w="19050">
            <a:solidFill>
              <a:srgbClr val="D98A1E"/>
            </a:solidFill>
            <a:prstDash val="solid"/>
            <a:tailEnd type="triangle"/>
          </a:ln>
        </p:spPr>
      </p:sp>
      <p:sp>
        <p:nvSpPr>
          <p:cNvPr id="226" name="Shape 224"/>
          <p:cNvSpPr/>
          <p:nvPr/>
        </p:nvSpPr>
        <p:spPr>
          <a:xfrm>
            <a:off x="10744200" y="3127248"/>
            <a:ext cx="960120" cy="457200"/>
          </a:xfrm>
          <a:prstGeom prst="roundRect">
            <a:avLst>
              <a:gd name="adj" fmla="val 12000"/>
            </a:avLst>
          </a:prstGeom>
          <a:solidFill>
            <a:srgbClr val="FFF1DC"/>
          </a:solidFill>
          <a:ln w="12700">
            <a:solidFill>
              <a:srgbClr val="D98A1E"/>
            </a:solidFill>
            <a:prstDash val="solid"/>
          </a:ln>
        </p:spPr>
      </p:sp>
      <p:sp>
        <p:nvSpPr>
          <p:cNvPr id="227" name="Text 225"/>
          <p:cNvSpPr txBox="1"/>
          <p:nvPr/>
        </p:nvSpPr>
        <p:spPr>
          <a:xfrm>
            <a:off x="10799064" y="3163824"/>
            <a:ext cx="850392" cy="384048"/>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DRAM image</a:t>
            </a:r>
            <a:endParaRPr lang="en-US" sz="800" dirty="0"/>
          </a:p>
        </p:txBody>
      </p:sp>
      <p:sp>
        <p:nvSpPr>
          <p:cNvPr id="228" name="Text 226"/>
          <p:cNvSpPr txBox="1"/>
          <p:nvPr/>
        </p:nvSpPr>
        <p:spPr>
          <a:xfrm>
            <a:off x="7772400" y="4114800"/>
            <a:ext cx="3959352" cy="201168"/>
          </a:xfrm>
          <a:prstGeom prst="rect">
            <a:avLst/>
          </a:prstGeom>
          <a:noFill/>
          <a:ln/>
        </p:spPr>
        <p:txBody>
          <a:bodyPr wrap="square" lIns="0" tIns="0" rIns="0" bIns="0" rtlCol="0" anchor="t"/>
          <a:lstStyle/>
          <a:p>
            <a:pPr algn="l" indent="0" marL="0">
              <a:buNone/>
            </a:pPr>
            <a:r>
              <a:rPr lang="en-US" sz="800" b="1" dirty="0">
                <a:solidFill>
                  <a:srgbClr val="15243B"/>
                </a:solidFill>
                <a:latin typeface="Malgun Gothic" pitchFamily="34" charset="0"/>
                <a:ea typeface="Malgun Gothic" pitchFamily="34" charset="-122"/>
                <a:cs typeface="Malgun Gothic" pitchFamily="34" charset="-120"/>
              </a:rPr>
              <a:t>DRAM image 41,100 B (bundle/program.json 실제 주소)</a:t>
            </a:r>
            <a:endParaRPr lang="en-US" sz="800" dirty="0"/>
          </a:p>
        </p:txBody>
      </p:sp>
      <p:sp>
        <p:nvSpPr>
          <p:cNvPr id="229" name="Shape 227"/>
          <p:cNvSpPr/>
          <p:nvPr/>
        </p:nvSpPr>
        <p:spPr>
          <a:xfrm>
            <a:off x="7772400" y="4343400"/>
            <a:ext cx="3959352" cy="384048"/>
          </a:xfrm>
          <a:prstGeom prst="rect">
            <a:avLst/>
          </a:prstGeom>
          <a:solidFill>
            <a:srgbClr val="EEF2F6"/>
          </a:solidFill>
          <a:ln w="9525">
            <a:solidFill>
              <a:srgbClr val="C9D3DF"/>
            </a:solidFill>
            <a:prstDash val="solid"/>
          </a:ln>
        </p:spPr>
      </p:sp>
      <p:sp>
        <p:nvSpPr>
          <p:cNvPr id="230" name="Shape 228"/>
          <p:cNvSpPr/>
          <p:nvPr/>
        </p:nvSpPr>
        <p:spPr>
          <a:xfrm>
            <a:off x="7772400" y="4343400"/>
            <a:ext cx="1578346" cy="384048"/>
          </a:xfrm>
          <a:prstGeom prst="rect">
            <a:avLst/>
          </a:prstGeom>
          <a:solidFill>
            <a:srgbClr val="EEF1F5"/>
          </a:solidFill>
          <a:ln w="12700">
            <a:solidFill>
              <a:srgbClr val="5B6B7F"/>
            </a:solidFill>
            <a:prstDash val="solid"/>
          </a:ln>
        </p:spPr>
      </p:sp>
      <p:sp>
        <p:nvSpPr>
          <p:cNvPr id="231" name="Text 229"/>
          <p:cNvSpPr txBox="1"/>
          <p:nvPr/>
        </p:nvSpPr>
        <p:spPr>
          <a:xfrm>
            <a:off x="7772400" y="4343400"/>
            <a:ext cx="1578346"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x (token마다)</a:t>
            </a:r>
            <a:endParaRPr lang="en-US" sz="700" dirty="0"/>
          </a:p>
        </p:txBody>
      </p:sp>
      <p:sp>
        <p:nvSpPr>
          <p:cNvPr id="232" name="Shape 230"/>
          <p:cNvSpPr/>
          <p:nvPr/>
        </p:nvSpPr>
        <p:spPr>
          <a:xfrm>
            <a:off x="9350746" y="4343400"/>
            <a:ext cx="12331" cy="384048"/>
          </a:xfrm>
          <a:prstGeom prst="rect">
            <a:avLst/>
          </a:prstGeom>
          <a:solidFill>
            <a:srgbClr val="FFF1DC"/>
          </a:solidFill>
          <a:ln w="12700">
            <a:solidFill>
              <a:srgbClr val="D98A1E"/>
            </a:solidFill>
            <a:prstDash val="solid"/>
          </a:ln>
        </p:spPr>
      </p:sp>
      <p:sp>
        <p:nvSpPr>
          <p:cNvPr id="233" name="Shape 231"/>
          <p:cNvSpPr/>
          <p:nvPr/>
        </p:nvSpPr>
        <p:spPr>
          <a:xfrm>
            <a:off x="9363077" y="4343400"/>
            <a:ext cx="1578346" cy="384048"/>
          </a:xfrm>
          <a:prstGeom prst="rect">
            <a:avLst/>
          </a:prstGeom>
          <a:solidFill>
            <a:srgbClr val="FFF1DC"/>
          </a:solidFill>
          <a:ln w="12700">
            <a:solidFill>
              <a:srgbClr val="D98A1E"/>
            </a:solidFill>
            <a:prstDash val="solid"/>
          </a:ln>
        </p:spPr>
      </p:sp>
      <p:sp>
        <p:nvSpPr>
          <p:cNvPr id="234" name="Text 232"/>
          <p:cNvSpPr txBox="1"/>
          <p:nvPr/>
        </p:nvSpPr>
        <p:spPr>
          <a:xfrm>
            <a:off x="9363077" y="4343400"/>
            <a:ext cx="1578346"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Wᵀ (1회)</a:t>
            </a:r>
            <a:endParaRPr lang="en-US" sz="700" dirty="0"/>
          </a:p>
        </p:txBody>
      </p:sp>
      <p:sp>
        <p:nvSpPr>
          <p:cNvPr id="235" name="Shape 233"/>
          <p:cNvSpPr/>
          <p:nvPr/>
        </p:nvSpPr>
        <p:spPr>
          <a:xfrm>
            <a:off x="10941423" y="4343400"/>
            <a:ext cx="789173" cy="384048"/>
          </a:xfrm>
          <a:prstGeom prst="rect">
            <a:avLst/>
          </a:prstGeom>
          <a:solidFill>
            <a:srgbClr val="ECE6FA"/>
          </a:solidFill>
          <a:ln w="12700">
            <a:solidFill>
              <a:srgbClr val="6C4FBF"/>
            </a:solidFill>
            <a:prstDash val="solid"/>
          </a:ln>
        </p:spPr>
      </p:sp>
      <p:sp>
        <p:nvSpPr>
          <p:cNvPr id="236" name="Text 234"/>
          <p:cNvSpPr txBox="1"/>
          <p:nvPr/>
        </p:nvSpPr>
        <p:spPr>
          <a:xfrm>
            <a:off x="10941423" y="4343400"/>
            <a:ext cx="789173"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gv</a:t>
            </a:r>
            <a:endParaRPr lang="en-US" sz="700" dirty="0"/>
          </a:p>
        </p:txBody>
      </p:sp>
      <p:sp>
        <p:nvSpPr>
          <p:cNvPr id="237" name="Shape 235"/>
          <p:cNvSpPr/>
          <p:nvPr/>
        </p:nvSpPr>
        <p:spPr>
          <a:xfrm>
            <a:off x="11730596" y="4343400"/>
            <a:ext cx="1156" cy="384048"/>
          </a:xfrm>
          <a:prstGeom prst="rect">
            <a:avLst/>
          </a:prstGeom>
          <a:solidFill>
            <a:srgbClr val="EEF2F6"/>
          </a:solidFill>
          <a:ln w="12700">
            <a:solidFill>
              <a:srgbClr val="C9D3DF"/>
            </a:solidFill>
            <a:prstDash val="solid"/>
          </a:ln>
        </p:spPr>
      </p:sp>
      <p:sp>
        <p:nvSpPr>
          <p:cNvPr id="238" name="Shape 236"/>
          <p:cNvSpPr/>
          <p:nvPr/>
        </p:nvSpPr>
        <p:spPr>
          <a:xfrm>
            <a:off x="7772400" y="4727448"/>
            <a:ext cx="914" cy="73152"/>
          </a:xfrm>
          <a:prstGeom prst="line">
            <a:avLst/>
          </a:prstGeom>
          <a:noFill/>
          <a:ln w="9525">
            <a:solidFill>
              <a:srgbClr val="5B6B7F"/>
            </a:solidFill>
            <a:prstDash val="solid"/>
          </a:ln>
        </p:spPr>
      </p:sp>
      <p:sp>
        <p:nvSpPr>
          <p:cNvPr id="239" name="Text 237"/>
          <p:cNvSpPr txBox="1"/>
          <p:nvPr/>
        </p:nvSpPr>
        <p:spPr>
          <a:xfrm>
            <a:off x="7315200" y="480974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0</a:t>
            </a:r>
            <a:endParaRPr lang="en-US" sz="800" dirty="0"/>
          </a:p>
        </p:txBody>
      </p:sp>
      <p:sp>
        <p:nvSpPr>
          <p:cNvPr id="240" name="Shape 238"/>
          <p:cNvSpPr/>
          <p:nvPr/>
        </p:nvSpPr>
        <p:spPr>
          <a:xfrm>
            <a:off x="9350746" y="4727448"/>
            <a:ext cx="914" cy="73152"/>
          </a:xfrm>
          <a:prstGeom prst="line">
            <a:avLst/>
          </a:prstGeom>
          <a:noFill/>
          <a:ln w="9525">
            <a:solidFill>
              <a:srgbClr val="5B6B7F"/>
            </a:solidFill>
            <a:prstDash val="solid"/>
          </a:ln>
        </p:spPr>
      </p:sp>
      <p:sp>
        <p:nvSpPr>
          <p:cNvPr id="241" name="Text 239"/>
          <p:cNvSpPr txBox="1"/>
          <p:nvPr/>
        </p:nvSpPr>
        <p:spPr>
          <a:xfrm>
            <a:off x="8893546" y="480974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16384</a:t>
            </a:r>
            <a:endParaRPr lang="en-US" sz="800" dirty="0"/>
          </a:p>
        </p:txBody>
      </p:sp>
      <p:sp>
        <p:nvSpPr>
          <p:cNvPr id="242" name="Shape 240"/>
          <p:cNvSpPr/>
          <p:nvPr/>
        </p:nvSpPr>
        <p:spPr>
          <a:xfrm>
            <a:off x="10941423" y="4727448"/>
            <a:ext cx="914" cy="73152"/>
          </a:xfrm>
          <a:prstGeom prst="line">
            <a:avLst/>
          </a:prstGeom>
          <a:noFill/>
          <a:ln w="9525">
            <a:solidFill>
              <a:srgbClr val="5B6B7F"/>
            </a:solidFill>
            <a:prstDash val="solid"/>
          </a:ln>
        </p:spPr>
      </p:sp>
      <p:sp>
        <p:nvSpPr>
          <p:cNvPr id="243" name="Text 241"/>
          <p:cNvSpPr txBox="1"/>
          <p:nvPr/>
        </p:nvSpPr>
        <p:spPr>
          <a:xfrm>
            <a:off x="10484223" y="480974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32896</a:t>
            </a:r>
            <a:endParaRPr lang="en-US" sz="800" dirty="0"/>
          </a:p>
        </p:txBody>
      </p:sp>
      <p:sp>
        <p:nvSpPr>
          <p:cNvPr id="244" name="Shape 242"/>
          <p:cNvSpPr/>
          <p:nvPr/>
        </p:nvSpPr>
        <p:spPr>
          <a:xfrm>
            <a:off x="11730596" y="4727448"/>
            <a:ext cx="914" cy="73152"/>
          </a:xfrm>
          <a:prstGeom prst="line">
            <a:avLst/>
          </a:prstGeom>
          <a:noFill/>
          <a:ln w="9525">
            <a:solidFill>
              <a:srgbClr val="5B6B7F"/>
            </a:solidFill>
            <a:prstDash val="solid"/>
          </a:ln>
        </p:spPr>
      </p:sp>
      <p:sp>
        <p:nvSpPr>
          <p:cNvPr id="245" name="Text 243"/>
          <p:cNvSpPr txBox="1"/>
          <p:nvPr/>
        </p:nvSpPr>
        <p:spPr>
          <a:xfrm>
            <a:off x="11273396" y="4809744"/>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41088</a:t>
            </a:r>
            <a:endParaRPr lang="en-US" sz="800" dirty="0"/>
          </a:p>
        </p:txBody>
      </p:sp>
      <p:sp>
        <p:nvSpPr>
          <p:cNvPr id="246" name="Text 244"/>
          <p:cNvSpPr txBox="1"/>
          <p:nvPr/>
        </p:nvSpPr>
        <p:spPr>
          <a:xfrm>
            <a:off x="7772400" y="4937760"/>
            <a:ext cx="3959352" cy="18288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 bias 128 B @ 16,384 · literal pool 12 B @ 41,088</a:t>
            </a:r>
            <a:endParaRPr lang="en-US" sz="650" dirty="0"/>
          </a:p>
        </p:txBody>
      </p:sp>
      <p:sp>
        <p:nvSpPr>
          <p:cNvPr id="247" name="Text 245"/>
          <p:cNvSpPr txBox="1"/>
          <p:nvPr/>
        </p:nvSpPr>
        <p:spPr>
          <a:xfrm>
            <a:off x="7772400" y="5166360"/>
            <a:ext cx="3959352" cy="731520"/>
          </a:xfrm>
          <a:prstGeom prst="rect">
            <a:avLst/>
          </a:prstGeom>
          <a:noFill/>
          <a:ln/>
        </p:spPr>
        <p:txBody>
          <a:bodyPr wrap="square" lIns="0" tIns="0" rIns="0" bIns="0" rtlCol="0" anchor="t"/>
          <a:lstStyle/>
          <a:p>
            <a:pPr algn="l" marL="152400" indent="-152400">
              <a:spcAft>
                <a:spcPts val="200"/>
              </a:spcAft>
              <a:buSzPct val="100000"/>
              <a:buChar char="•"/>
            </a:pPr>
            <a:r>
              <a:rPr lang="en-US" sz="800" dirty="0">
                <a:solidFill>
                  <a:srgbClr val="1F2D3D"/>
                </a:solidFill>
                <a:latin typeface="Malgun Gothic" pitchFamily="34" charset="0"/>
                <a:ea typeface="Malgun Gothic" pitchFamily="34" charset="-122"/>
                <a:cs typeface="Malgun Gothic" pitchFamily="34" charset="-120"/>
              </a:rPr>
              <a:t>LM head Wᵀ 751.5 MiB도 준비 단계 1회 → token마다 이동 0</a:t>
            </a:r>
            <a:endParaRPr lang="en-US" sz="800" dirty="0"/>
          </a:p>
          <a:p>
            <a:pPr algn="l" marL="152400" indent="-152400">
              <a:spcAft>
                <a:spcPts val="200"/>
              </a:spcAft>
              <a:buSzPct val="100000"/>
              <a:buChar char="•"/>
            </a:pPr>
            <a:r>
              <a:rPr lang="en-US" sz="800" dirty="0">
                <a:solidFill>
                  <a:srgbClr val="1F2D3D"/>
                </a:solidFill>
                <a:latin typeface="Malgun Gothic" pitchFamily="34" charset="0"/>
                <a:ea typeface="Malgun Gothic" pitchFamily="34" charset="-122"/>
                <a:cs typeface="Malgun Gothic" pitchFamily="34" charset="-120"/>
              </a:rPr>
              <a:t>반환 순서가 바뀌므로 runtime은 signature(x, bias, lv)로 binding</a:t>
            </a:r>
            <a:endParaRPr lang="en-US" sz="800" dirty="0"/>
          </a:p>
        </p:txBody>
      </p:sp>
      <p:sp>
        <p:nvSpPr>
          <p:cNvPr id="248" name="Shape 246"/>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249" name="Text 247"/>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Compile은 IR을 분리하는 시점, load는 host 함수를 실제 weight로 실행하는 시점, run은 입력만 바꿔 같은 프로그램을 재사용하는 시점입니다.</a:t>
            </a:r>
            <a:endParaRPr lang="en-US" sz="1250" dirty="0"/>
          </a:p>
        </p:txBody>
      </p:sp>
      <p:sp>
        <p:nvSpPr>
          <p:cNvPr id="250" name="Text 248"/>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51" name="Text 249"/>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nn_models/llama.py, docs/examples/llama_ir/01_authored_relax.py, pipeline/02_graph_prefix.py, bundle/program.json</a:t>
            </a:r>
            <a:endParaRPr lang="en-US" sz="850" dirty="0"/>
          </a:p>
        </p:txBody>
      </p:sp>
      <p:sp>
        <p:nvSpPr>
          <p:cNvPr id="252" name="Text 250"/>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4 / 13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② 계산의 의미</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350" b="1" dirty="0">
                <a:solidFill>
                  <a:srgbClr val="15243B"/>
                </a:solidFill>
                <a:latin typeface="Malgun Gothic" pitchFamily="34" charset="0"/>
                <a:ea typeface="Malgun Gothic" pitchFamily="34" charset="-122"/>
                <a:cs typeface="Malgun Gothic" pitchFamily="34" charset="-120"/>
              </a:rPr>
              <a:t>수치 계약: FP16 저장, FP32 누산 — K 전체 동안 accumulator를 끊지 않는다</a:t>
            </a:r>
            <a:endParaRPr lang="en-US" sz="23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LegalizeOps가 각 Relax 연산의 원소 계산을 TIR로 정의합니다(Relax 호출 순서는 남음). matmul은 128개 곱을 64개씩 두 FP32 부분합으로 같은 accumulator에 더하고 마지막에 한 번만 FP16으로 반올림합니다.</a:t>
            </a:r>
            <a:endParaRPr lang="en-US" sz="1250" dirty="0"/>
          </a:p>
        </p:txBody>
      </p:sp>
      <p:sp>
        <p:nvSpPr>
          <p:cNvPr id="5" name="Shape 3"/>
          <p:cNvSpPr/>
          <p:nvPr/>
        </p:nvSpPr>
        <p:spPr>
          <a:xfrm>
            <a:off x="1828800" y="1508760"/>
            <a:ext cx="320040" cy="292608"/>
          </a:xfrm>
          <a:prstGeom prst="rect">
            <a:avLst/>
          </a:prstGeom>
          <a:solidFill>
            <a:srgbClr val="DDF3F0"/>
          </a:solidFill>
          <a:ln w="6350">
            <a:solidFill>
              <a:srgbClr val="1F8A8A"/>
            </a:solidFill>
            <a:prstDash val="solid"/>
          </a:ln>
        </p:spPr>
      </p:sp>
      <p:sp>
        <p:nvSpPr>
          <p:cNvPr id="6" name="Text 4"/>
          <p:cNvSpPr txBox="1"/>
          <p:nvPr/>
        </p:nvSpPr>
        <p:spPr>
          <a:xfrm>
            <a:off x="1828800" y="1508760"/>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k=0</a:t>
            </a:r>
            <a:endParaRPr lang="en-US" sz="650" dirty="0"/>
          </a:p>
        </p:txBody>
      </p:sp>
      <p:sp>
        <p:nvSpPr>
          <p:cNvPr id="7" name="Shape 5"/>
          <p:cNvSpPr/>
          <p:nvPr/>
        </p:nvSpPr>
        <p:spPr>
          <a:xfrm>
            <a:off x="2148840" y="1508760"/>
            <a:ext cx="320040" cy="292608"/>
          </a:xfrm>
          <a:prstGeom prst="rect">
            <a:avLst/>
          </a:prstGeom>
          <a:solidFill>
            <a:srgbClr val="DDF3F0"/>
          </a:solidFill>
          <a:ln w="6350">
            <a:solidFill>
              <a:srgbClr val="1F8A8A"/>
            </a:solidFill>
            <a:prstDash val="solid"/>
          </a:ln>
        </p:spPr>
      </p:sp>
      <p:sp>
        <p:nvSpPr>
          <p:cNvPr id="8" name="Shape 6"/>
          <p:cNvSpPr/>
          <p:nvPr/>
        </p:nvSpPr>
        <p:spPr>
          <a:xfrm>
            <a:off x="2468880" y="1508760"/>
            <a:ext cx="320040" cy="292608"/>
          </a:xfrm>
          <a:prstGeom prst="rect">
            <a:avLst/>
          </a:prstGeom>
          <a:solidFill>
            <a:srgbClr val="DDF3F0"/>
          </a:solidFill>
          <a:ln w="6350">
            <a:solidFill>
              <a:srgbClr val="1F8A8A"/>
            </a:solidFill>
            <a:prstDash val="solid"/>
          </a:ln>
        </p:spPr>
      </p:sp>
      <p:sp>
        <p:nvSpPr>
          <p:cNvPr id="9" name="Shape 7"/>
          <p:cNvSpPr/>
          <p:nvPr/>
        </p:nvSpPr>
        <p:spPr>
          <a:xfrm>
            <a:off x="2788920" y="1508760"/>
            <a:ext cx="320040" cy="292608"/>
          </a:xfrm>
          <a:prstGeom prst="rect">
            <a:avLst/>
          </a:prstGeom>
          <a:solidFill>
            <a:srgbClr val="DDF3F0"/>
          </a:solidFill>
          <a:ln w="6350">
            <a:solidFill>
              <a:srgbClr val="1F8A8A"/>
            </a:solidFill>
            <a:prstDash val="solid"/>
          </a:ln>
        </p:spPr>
      </p:sp>
      <p:sp>
        <p:nvSpPr>
          <p:cNvPr id="10" name="Shape 8"/>
          <p:cNvSpPr/>
          <p:nvPr/>
        </p:nvSpPr>
        <p:spPr>
          <a:xfrm>
            <a:off x="3108960" y="1508760"/>
            <a:ext cx="320040" cy="292608"/>
          </a:xfrm>
          <a:prstGeom prst="rect">
            <a:avLst/>
          </a:prstGeom>
          <a:solidFill>
            <a:srgbClr val="DDF3F0"/>
          </a:solidFill>
          <a:ln w="6350">
            <a:solidFill>
              <a:srgbClr val="1F8A8A"/>
            </a:solidFill>
            <a:prstDash val="solid"/>
          </a:ln>
        </p:spPr>
      </p:sp>
      <p:sp>
        <p:nvSpPr>
          <p:cNvPr id="11" name="Shape 9"/>
          <p:cNvSpPr/>
          <p:nvPr/>
        </p:nvSpPr>
        <p:spPr>
          <a:xfrm>
            <a:off x="3429000" y="1508760"/>
            <a:ext cx="320040" cy="292608"/>
          </a:xfrm>
          <a:prstGeom prst="rect">
            <a:avLst/>
          </a:prstGeom>
          <a:solidFill>
            <a:srgbClr val="DDF3F0"/>
          </a:solidFill>
          <a:ln w="6350">
            <a:solidFill>
              <a:srgbClr val="1F8A8A"/>
            </a:solidFill>
            <a:prstDash val="solid"/>
          </a:ln>
        </p:spPr>
      </p:sp>
      <p:sp>
        <p:nvSpPr>
          <p:cNvPr id="12" name="Shape 10"/>
          <p:cNvSpPr/>
          <p:nvPr/>
        </p:nvSpPr>
        <p:spPr>
          <a:xfrm>
            <a:off x="3749040" y="1508760"/>
            <a:ext cx="320040" cy="292608"/>
          </a:xfrm>
          <a:prstGeom prst="rect">
            <a:avLst/>
          </a:prstGeom>
          <a:solidFill>
            <a:srgbClr val="DDF3F0"/>
          </a:solidFill>
          <a:ln w="6350">
            <a:solidFill>
              <a:srgbClr val="1F8A8A"/>
            </a:solidFill>
            <a:prstDash val="solid"/>
          </a:ln>
        </p:spPr>
      </p:sp>
      <p:sp>
        <p:nvSpPr>
          <p:cNvPr id="13" name="Shape 11"/>
          <p:cNvSpPr/>
          <p:nvPr/>
        </p:nvSpPr>
        <p:spPr>
          <a:xfrm>
            <a:off x="4069080" y="1508760"/>
            <a:ext cx="320040" cy="292608"/>
          </a:xfrm>
          <a:prstGeom prst="rect">
            <a:avLst/>
          </a:prstGeom>
          <a:solidFill>
            <a:srgbClr val="DDF3F0"/>
          </a:solidFill>
          <a:ln w="6350">
            <a:solidFill>
              <a:srgbClr val="1F8A8A"/>
            </a:solidFill>
            <a:prstDash val="solid"/>
          </a:ln>
        </p:spPr>
      </p:sp>
      <p:sp>
        <p:nvSpPr>
          <p:cNvPr id="14" name="Text 12"/>
          <p:cNvSpPr txBox="1"/>
          <p:nvPr/>
        </p:nvSpPr>
        <p:spPr>
          <a:xfrm>
            <a:off x="4069080" y="1508760"/>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63</a:t>
            </a:r>
            <a:endParaRPr lang="en-US" sz="650" dirty="0"/>
          </a:p>
        </p:txBody>
      </p:sp>
      <p:sp>
        <p:nvSpPr>
          <p:cNvPr id="15" name="Shape 13"/>
          <p:cNvSpPr/>
          <p:nvPr/>
        </p:nvSpPr>
        <p:spPr>
          <a:xfrm>
            <a:off x="4389120" y="1508760"/>
            <a:ext cx="320040" cy="292608"/>
          </a:xfrm>
          <a:prstGeom prst="rect">
            <a:avLst/>
          </a:prstGeom>
          <a:solidFill>
            <a:srgbClr val="E3EEFB"/>
          </a:solidFill>
          <a:ln w="6350">
            <a:solidFill>
              <a:srgbClr val="2F6DB5"/>
            </a:solidFill>
            <a:prstDash val="solid"/>
          </a:ln>
        </p:spPr>
      </p:sp>
      <p:sp>
        <p:nvSpPr>
          <p:cNvPr id="16" name="Text 14"/>
          <p:cNvSpPr txBox="1"/>
          <p:nvPr/>
        </p:nvSpPr>
        <p:spPr>
          <a:xfrm>
            <a:off x="4389120" y="1508760"/>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64</a:t>
            </a:r>
            <a:endParaRPr lang="en-US" sz="650" dirty="0"/>
          </a:p>
        </p:txBody>
      </p:sp>
      <p:sp>
        <p:nvSpPr>
          <p:cNvPr id="17" name="Shape 15"/>
          <p:cNvSpPr/>
          <p:nvPr/>
        </p:nvSpPr>
        <p:spPr>
          <a:xfrm>
            <a:off x="4709160" y="1508760"/>
            <a:ext cx="320040" cy="292608"/>
          </a:xfrm>
          <a:prstGeom prst="rect">
            <a:avLst/>
          </a:prstGeom>
          <a:solidFill>
            <a:srgbClr val="E3EEFB"/>
          </a:solidFill>
          <a:ln w="6350">
            <a:solidFill>
              <a:srgbClr val="2F6DB5"/>
            </a:solidFill>
            <a:prstDash val="solid"/>
          </a:ln>
        </p:spPr>
      </p:sp>
      <p:sp>
        <p:nvSpPr>
          <p:cNvPr id="18" name="Shape 16"/>
          <p:cNvSpPr/>
          <p:nvPr/>
        </p:nvSpPr>
        <p:spPr>
          <a:xfrm>
            <a:off x="5029200" y="1508760"/>
            <a:ext cx="320040" cy="292608"/>
          </a:xfrm>
          <a:prstGeom prst="rect">
            <a:avLst/>
          </a:prstGeom>
          <a:solidFill>
            <a:srgbClr val="E3EEFB"/>
          </a:solidFill>
          <a:ln w="6350">
            <a:solidFill>
              <a:srgbClr val="2F6DB5"/>
            </a:solidFill>
            <a:prstDash val="solid"/>
          </a:ln>
        </p:spPr>
      </p:sp>
      <p:sp>
        <p:nvSpPr>
          <p:cNvPr id="19" name="Shape 17"/>
          <p:cNvSpPr/>
          <p:nvPr/>
        </p:nvSpPr>
        <p:spPr>
          <a:xfrm>
            <a:off x="5349240" y="1508760"/>
            <a:ext cx="320040" cy="292608"/>
          </a:xfrm>
          <a:prstGeom prst="rect">
            <a:avLst/>
          </a:prstGeom>
          <a:solidFill>
            <a:srgbClr val="E3EEFB"/>
          </a:solidFill>
          <a:ln w="6350">
            <a:solidFill>
              <a:srgbClr val="2F6DB5"/>
            </a:solidFill>
            <a:prstDash val="solid"/>
          </a:ln>
        </p:spPr>
      </p:sp>
      <p:sp>
        <p:nvSpPr>
          <p:cNvPr id="20" name="Shape 18"/>
          <p:cNvSpPr/>
          <p:nvPr/>
        </p:nvSpPr>
        <p:spPr>
          <a:xfrm>
            <a:off x="5669280" y="1508760"/>
            <a:ext cx="320040" cy="292608"/>
          </a:xfrm>
          <a:prstGeom prst="rect">
            <a:avLst/>
          </a:prstGeom>
          <a:solidFill>
            <a:srgbClr val="E3EEFB"/>
          </a:solidFill>
          <a:ln w="6350">
            <a:solidFill>
              <a:srgbClr val="2F6DB5"/>
            </a:solidFill>
            <a:prstDash val="solid"/>
          </a:ln>
        </p:spPr>
      </p:sp>
      <p:sp>
        <p:nvSpPr>
          <p:cNvPr id="21" name="Shape 19"/>
          <p:cNvSpPr/>
          <p:nvPr/>
        </p:nvSpPr>
        <p:spPr>
          <a:xfrm>
            <a:off x="5989320" y="1508760"/>
            <a:ext cx="320040" cy="292608"/>
          </a:xfrm>
          <a:prstGeom prst="rect">
            <a:avLst/>
          </a:prstGeom>
          <a:solidFill>
            <a:srgbClr val="E3EEFB"/>
          </a:solidFill>
          <a:ln w="6350">
            <a:solidFill>
              <a:srgbClr val="2F6DB5"/>
            </a:solidFill>
            <a:prstDash val="solid"/>
          </a:ln>
        </p:spPr>
      </p:sp>
      <p:sp>
        <p:nvSpPr>
          <p:cNvPr id="22" name="Shape 20"/>
          <p:cNvSpPr/>
          <p:nvPr/>
        </p:nvSpPr>
        <p:spPr>
          <a:xfrm>
            <a:off x="6309360" y="1508760"/>
            <a:ext cx="320040" cy="292608"/>
          </a:xfrm>
          <a:prstGeom prst="rect">
            <a:avLst/>
          </a:prstGeom>
          <a:solidFill>
            <a:srgbClr val="E3EEFB"/>
          </a:solidFill>
          <a:ln w="6350">
            <a:solidFill>
              <a:srgbClr val="2F6DB5"/>
            </a:solidFill>
            <a:prstDash val="solid"/>
          </a:ln>
        </p:spPr>
      </p:sp>
      <p:sp>
        <p:nvSpPr>
          <p:cNvPr id="23" name="Shape 21"/>
          <p:cNvSpPr/>
          <p:nvPr/>
        </p:nvSpPr>
        <p:spPr>
          <a:xfrm>
            <a:off x="6629400" y="1508760"/>
            <a:ext cx="320040" cy="292608"/>
          </a:xfrm>
          <a:prstGeom prst="rect">
            <a:avLst/>
          </a:prstGeom>
          <a:solidFill>
            <a:srgbClr val="E3EEFB"/>
          </a:solidFill>
          <a:ln w="6350">
            <a:solidFill>
              <a:srgbClr val="2F6DB5"/>
            </a:solidFill>
            <a:prstDash val="solid"/>
          </a:ln>
        </p:spPr>
      </p:sp>
      <p:sp>
        <p:nvSpPr>
          <p:cNvPr id="24" name="Text 22"/>
          <p:cNvSpPr txBox="1"/>
          <p:nvPr/>
        </p:nvSpPr>
        <p:spPr>
          <a:xfrm>
            <a:off x="6629400" y="1508760"/>
            <a:ext cx="320040" cy="29260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127</a:t>
            </a:r>
            <a:endParaRPr lang="en-US" sz="650" dirty="0"/>
          </a:p>
        </p:txBody>
      </p:sp>
      <p:sp>
        <p:nvSpPr>
          <p:cNvPr id="25" name="Text 23"/>
          <p:cNvSpPr txBox="1"/>
          <p:nvPr/>
        </p:nvSpPr>
        <p:spPr>
          <a:xfrm>
            <a:off x="36576" y="1508760"/>
            <a:ext cx="1737360" cy="29260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곱 x[i,k]·b[k,j] (FP16×FP16)</a:t>
            </a:r>
            <a:endParaRPr lang="en-US" sz="800" dirty="0"/>
          </a:p>
        </p:txBody>
      </p:sp>
      <p:sp>
        <p:nvSpPr>
          <p:cNvPr id="26" name="Shape 24"/>
          <p:cNvSpPr/>
          <p:nvPr/>
        </p:nvSpPr>
        <p:spPr>
          <a:xfrm>
            <a:off x="1828800" y="2011680"/>
            <a:ext cx="2560320" cy="457200"/>
          </a:xfrm>
          <a:prstGeom prst="roundRect">
            <a:avLst>
              <a:gd name="adj" fmla="val 12000"/>
            </a:avLst>
          </a:prstGeom>
          <a:solidFill>
            <a:srgbClr val="DDF3F0"/>
          </a:solidFill>
          <a:ln w="12700">
            <a:solidFill>
              <a:srgbClr val="1F8A8A"/>
            </a:solidFill>
            <a:prstDash val="solid"/>
          </a:ln>
        </p:spPr>
      </p:sp>
      <p:sp>
        <p:nvSpPr>
          <p:cNvPr id="27" name="Text 25"/>
          <p:cNvSpPr txBox="1"/>
          <p:nvPr/>
        </p:nvSpPr>
        <p:spPr>
          <a:xfrm>
            <a:off x="1883664" y="2048256"/>
            <a:ext cx="2450592" cy="384048"/>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g₀ = Σ_{k&lt;64} (FP32 부분합)</a:t>
            </a:r>
            <a:endParaRPr lang="en-US" sz="950" dirty="0"/>
          </a:p>
        </p:txBody>
      </p:sp>
      <p:sp>
        <p:nvSpPr>
          <p:cNvPr id="28" name="Shape 26"/>
          <p:cNvSpPr/>
          <p:nvPr/>
        </p:nvSpPr>
        <p:spPr>
          <a:xfrm>
            <a:off x="4389120" y="2011680"/>
            <a:ext cx="2560320" cy="457200"/>
          </a:xfrm>
          <a:prstGeom prst="roundRect">
            <a:avLst>
              <a:gd name="adj" fmla="val 12000"/>
            </a:avLst>
          </a:prstGeom>
          <a:solidFill>
            <a:srgbClr val="E3EEFB"/>
          </a:solidFill>
          <a:ln w="12700">
            <a:solidFill>
              <a:srgbClr val="2F6DB5"/>
            </a:solidFill>
            <a:prstDash val="solid"/>
          </a:ln>
        </p:spPr>
      </p:sp>
      <p:sp>
        <p:nvSpPr>
          <p:cNvPr id="29" name="Text 27"/>
          <p:cNvSpPr txBox="1"/>
          <p:nvPr/>
        </p:nvSpPr>
        <p:spPr>
          <a:xfrm>
            <a:off x="4443984" y="2048256"/>
            <a:ext cx="2450592" cy="384048"/>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g₁ = Σ_{64≤k&lt;128} (FP32)</a:t>
            </a:r>
            <a:endParaRPr lang="en-US" sz="950" dirty="0"/>
          </a:p>
        </p:txBody>
      </p:sp>
      <p:sp>
        <p:nvSpPr>
          <p:cNvPr id="30" name="Shape 28"/>
          <p:cNvSpPr/>
          <p:nvPr/>
        </p:nvSpPr>
        <p:spPr>
          <a:xfrm>
            <a:off x="3108960" y="1801368"/>
            <a:ext cx="914" cy="210312"/>
          </a:xfrm>
          <a:prstGeom prst="line">
            <a:avLst/>
          </a:prstGeom>
          <a:noFill/>
          <a:ln w="12700">
            <a:solidFill>
              <a:srgbClr val="5B6B7F"/>
            </a:solidFill>
            <a:prstDash val="solid"/>
            <a:tailEnd type="triangle"/>
          </a:ln>
        </p:spPr>
      </p:sp>
      <p:sp>
        <p:nvSpPr>
          <p:cNvPr id="31" name="Shape 29"/>
          <p:cNvSpPr/>
          <p:nvPr/>
        </p:nvSpPr>
        <p:spPr>
          <a:xfrm>
            <a:off x="5669280" y="1801368"/>
            <a:ext cx="914" cy="210312"/>
          </a:xfrm>
          <a:prstGeom prst="line">
            <a:avLst/>
          </a:prstGeom>
          <a:noFill/>
          <a:ln w="12700">
            <a:solidFill>
              <a:srgbClr val="5B6B7F"/>
            </a:solidFill>
            <a:prstDash val="solid"/>
            <a:tailEnd type="triangle"/>
          </a:ln>
        </p:spPr>
      </p:sp>
      <p:sp>
        <p:nvSpPr>
          <p:cNvPr id="32" name="Shape 30"/>
          <p:cNvSpPr/>
          <p:nvPr/>
        </p:nvSpPr>
        <p:spPr>
          <a:xfrm>
            <a:off x="1828800" y="2697480"/>
            <a:ext cx="1600200" cy="502920"/>
          </a:xfrm>
          <a:prstGeom prst="roundRect">
            <a:avLst>
              <a:gd name="adj" fmla="val 10909"/>
            </a:avLst>
          </a:prstGeom>
          <a:solidFill>
            <a:srgbClr val="ECE6FA"/>
          </a:solidFill>
          <a:ln w="12700">
            <a:solidFill>
              <a:srgbClr val="6C4FBF"/>
            </a:solidFill>
            <a:prstDash val="solid"/>
          </a:ln>
        </p:spPr>
      </p:sp>
      <p:sp>
        <p:nvSpPr>
          <p:cNvPr id="33" name="Text 31"/>
          <p:cNvSpPr txBox="1"/>
          <p:nvPr/>
        </p:nvSpPr>
        <p:spPr>
          <a:xfrm>
            <a:off x="1901952" y="2770632"/>
            <a:ext cx="1453896"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acc = g₀</a:t>
            </a:r>
            <a:endParaRPr lang="en-US" sz="1000" dirty="0"/>
          </a:p>
        </p:txBody>
      </p:sp>
      <p:sp>
        <p:nvSpPr>
          <p:cNvPr id="34" name="Text 32"/>
          <p:cNvSpPr txBox="1"/>
          <p:nvPr/>
        </p:nvSpPr>
        <p:spPr>
          <a:xfrm>
            <a:off x="1901952" y="2961132"/>
            <a:ext cx="1453896" cy="202692"/>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M_MUL MAC=0</a:t>
            </a:r>
            <a:endParaRPr lang="en-US" sz="750" dirty="0"/>
          </a:p>
        </p:txBody>
      </p:sp>
      <p:sp>
        <p:nvSpPr>
          <p:cNvPr id="35" name="Shape 33"/>
          <p:cNvSpPr/>
          <p:nvPr/>
        </p:nvSpPr>
        <p:spPr>
          <a:xfrm>
            <a:off x="3657600" y="2697480"/>
            <a:ext cx="1600200" cy="502920"/>
          </a:xfrm>
          <a:prstGeom prst="roundRect">
            <a:avLst>
              <a:gd name="adj" fmla="val 10909"/>
            </a:avLst>
          </a:prstGeom>
          <a:solidFill>
            <a:srgbClr val="ECE6FA"/>
          </a:solidFill>
          <a:ln w="12700">
            <a:solidFill>
              <a:srgbClr val="6C4FBF"/>
            </a:solidFill>
            <a:prstDash val="solid"/>
          </a:ln>
        </p:spPr>
      </p:sp>
      <p:sp>
        <p:nvSpPr>
          <p:cNvPr id="36" name="Text 34"/>
          <p:cNvSpPr txBox="1"/>
          <p:nvPr/>
        </p:nvSpPr>
        <p:spPr>
          <a:xfrm>
            <a:off x="3730752" y="2770632"/>
            <a:ext cx="1453896"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acc += g₁</a:t>
            </a:r>
            <a:endParaRPr lang="en-US" sz="1000" dirty="0"/>
          </a:p>
        </p:txBody>
      </p:sp>
      <p:sp>
        <p:nvSpPr>
          <p:cNvPr id="37" name="Text 35"/>
          <p:cNvSpPr txBox="1"/>
          <p:nvPr/>
        </p:nvSpPr>
        <p:spPr>
          <a:xfrm>
            <a:off x="3730752" y="2961132"/>
            <a:ext cx="1453896" cy="202692"/>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M_MUL MAC=1</a:t>
            </a:r>
            <a:endParaRPr lang="en-US" sz="750" dirty="0"/>
          </a:p>
        </p:txBody>
      </p:sp>
      <p:sp>
        <p:nvSpPr>
          <p:cNvPr id="38" name="Shape 36"/>
          <p:cNvSpPr/>
          <p:nvPr/>
        </p:nvSpPr>
        <p:spPr>
          <a:xfrm>
            <a:off x="5486400" y="2697480"/>
            <a:ext cx="1463040" cy="502920"/>
          </a:xfrm>
          <a:prstGeom prst="roundRect">
            <a:avLst>
              <a:gd name="adj" fmla="val 10909"/>
            </a:avLst>
          </a:prstGeom>
          <a:solidFill>
            <a:srgbClr val="E5F3E7"/>
          </a:solidFill>
          <a:ln w="12700">
            <a:solidFill>
              <a:srgbClr val="2E7D32"/>
            </a:solidFill>
            <a:prstDash val="solid"/>
          </a:ln>
        </p:spPr>
      </p:sp>
      <p:sp>
        <p:nvSpPr>
          <p:cNvPr id="39" name="Text 37"/>
          <p:cNvSpPr txBox="1"/>
          <p:nvPr/>
        </p:nvSpPr>
        <p:spPr>
          <a:xfrm>
            <a:off x="5559552" y="2770632"/>
            <a:ext cx="1316736" cy="190500"/>
          </a:xfrm>
          <a:prstGeom prst="rect">
            <a:avLst/>
          </a:prstGeom>
          <a:noFill/>
          <a:ln/>
        </p:spPr>
        <p:txBody>
          <a:bodyPr wrap="square" lIns="0" tIns="0" rIns="0" bIns="0" rtlCol="0" anchor="ctr"/>
          <a:lstStyle/>
          <a:p>
            <a:pPr algn="ctr" indent="0" marL="0">
              <a:buNone/>
            </a:pPr>
            <a:r>
              <a:rPr lang="en-US" sz="1000" b="1" dirty="0">
                <a:solidFill>
                  <a:srgbClr val="1F2D3D"/>
                </a:solidFill>
                <a:latin typeface="Malgun Gothic" pitchFamily="34" charset="0"/>
                <a:ea typeface="Malgun Gothic" pitchFamily="34" charset="-122"/>
                <a:cs typeface="Malgun Gothic" pitchFamily="34" charset="-120"/>
              </a:rPr>
              <a:t>FP16 반올림 1회</a:t>
            </a:r>
            <a:endParaRPr lang="en-US" sz="1000" dirty="0"/>
          </a:p>
        </p:txBody>
      </p:sp>
      <p:sp>
        <p:nvSpPr>
          <p:cNvPr id="40" name="Text 38"/>
          <p:cNvSpPr txBox="1"/>
          <p:nvPr/>
        </p:nvSpPr>
        <p:spPr>
          <a:xfrm>
            <a:off x="5559552" y="2961132"/>
            <a:ext cx="1316736" cy="202692"/>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SAVE → SRAM</a:t>
            </a:r>
            <a:endParaRPr lang="en-US" sz="750" dirty="0"/>
          </a:p>
        </p:txBody>
      </p:sp>
      <p:sp>
        <p:nvSpPr>
          <p:cNvPr id="41" name="Shape 39"/>
          <p:cNvSpPr/>
          <p:nvPr/>
        </p:nvSpPr>
        <p:spPr>
          <a:xfrm flipH="1">
            <a:off x="2628900" y="2468880"/>
            <a:ext cx="480060" cy="228600"/>
          </a:xfrm>
          <a:prstGeom prst="line">
            <a:avLst/>
          </a:prstGeom>
          <a:noFill/>
          <a:ln w="12700">
            <a:solidFill>
              <a:srgbClr val="5B6B7F"/>
            </a:solidFill>
            <a:prstDash val="solid"/>
            <a:tailEnd type="triangle"/>
          </a:ln>
        </p:spPr>
      </p:sp>
      <p:sp>
        <p:nvSpPr>
          <p:cNvPr id="42" name="Shape 40"/>
          <p:cNvSpPr/>
          <p:nvPr/>
        </p:nvSpPr>
        <p:spPr>
          <a:xfrm flipH="1">
            <a:off x="4457700" y="2468880"/>
            <a:ext cx="1211580" cy="228600"/>
          </a:xfrm>
          <a:prstGeom prst="line">
            <a:avLst/>
          </a:prstGeom>
          <a:noFill/>
          <a:ln w="12700">
            <a:solidFill>
              <a:srgbClr val="5B6B7F"/>
            </a:solidFill>
            <a:prstDash val="solid"/>
            <a:tailEnd type="triangle"/>
          </a:ln>
        </p:spPr>
      </p:sp>
      <p:sp>
        <p:nvSpPr>
          <p:cNvPr id="43" name="Shape 41"/>
          <p:cNvSpPr/>
          <p:nvPr/>
        </p:nvSpPr>
        <p:spPr>
          <a:xfrm>
            <a:off x="3429000" y="2948940"/>
            <a:ext cx="228600" cy="914"/>
          </a:xfrm>
          <a:prstGeom prst="line">
            <a:avLst/>
          </a:prstGeom>
          <a:noFill/>
          <a:ln w="19050">
            <a:solidFill>
              <a:srgbClr val="5B6B7F"/>
            </a:solidFill>
            <a:prstDash val="solid"/>
            <a:tailEnd type="triangle"/>
          </a:ln>
        </p:spPr>
      </p:sp>
      <p:sp>
        <p:nvSpPr>
          <p:cNvPr id="44" name="Shape 42"/>
          <p:cNvSpPr/>
          <p:nvPr/>
        </p:nvSpPr>
        <p:spPr>
          <a:xfrm>
            <a:off x="5257800" y="2948940"/>
            <a:ext cx="228600" cy="914"/>
          </a:xfrm>
          <a:prstGeom prst="line">
            <a:avLst/>
          </a:prstGeom>
          <a:noFill/>
          <a:ln w="19050">
            <a:solidFill>
              <a:srgbClr val="5B6B7F"/>
            </a:solidFill>
            <a:prstDash val="solid"/>
            <a:tailEnd type="triangle"/>
          </a:ln>
        </p:spPr>
      </p:sp>
      <p:sp>
        <p:nvSpPr>
          <p:cNvPr id="45" name="Text 43"/>
          <p:cNvSpPr txBox="1"/>
          <p:nvPr/>
        </p:nvSpPr>
        <p:spPr>
          <a:xfrm>
            <a:off x="457200" y="2788920"/>
            <a:ext cx="1325880" cy="365760"/>
          </a:xfrm>
          <a:prstGeom prst="rect">
            <a:avLst/>
          </a:prstGeom>
          <a:noFill/>
          <a:ln/>
        </p:spPr>
        <p:txBody>
          <a:bodyPr wrap="square" lIns="0" tIns="0" rIns="0" bIns="0" rtlCol="0" anchor="t"/>
          <a:lstStyle/>
          <a:p>
            <a:pPr algn="l" indent="0" marL="0">
              <a:buNone/>
            </a:pPr>
            <a:r>
              <a:rPr lang="en-US" sz="850" b="1" dirty="0">
                <a:solidFill>
                  <a:srgbClr val="2E7D32"/>
                </a:solidFill>
                <a:latin typeface="Malgun Gothic" pitchFamily="34" charset="0"/>
                <a:ea typeface="Malgun Gothic" pitchFamily="34" charset="-122"/>
                <a:cs typeface="Malgun Gothic" pitchFamily="34" charset="-120"/>
              </a:rPr>
              <a:t>허용 (현재 계약)</a:t>
            </a:r>
            <a:endParaRPr lang="en-US" sz="850" dirty="0"/>
          </a:p>
        </p:txBody>
      </p:sp>
      <p:sp>
        <p:nvSpPr>
          <p:cNvPr id="46" name="Shape 44"/>
          <p:cNvSpPr/>
          <p:nvPr/>
        </p:nvSpPr>
        <p:spPr>
          <a:xfrm>
            <a:off x="1828800" y="3383280"/>
            <a:ext cx="1600200" cy="502920"/>
          </a:xfrm>
          <a:prstGeom prst="roundRect">
            <a:avLst>
              <a:gd name="adj" fmla="val 10909"/>
            </a:avLst>
          </a:prstGeom>
          <a:solidFill>
            <a:srgbClr val="FBE9E7"/>
          </a:solidFill>
          <a:ln w="12700">
            <a:solidFill>
              <a:srgbClr val="C0392B"/>
            </a:solidFill>
            <a:prstDash val="solid"/>
          </a:ln>
        </p:spPr>
      </p:sp>
      <p:sp>
        <p:nvSpPr>
          <p:cNvPr id="47" name="Text 45"/>
          <p:cNvSpPr txBox="1"/>
          <p:nvPr/>
        </p:nvSpPr>
        <p:spPr>
          <a:xfrm>
            <a:off x="1901952" y="3456432"/>
            <a:ext cx="145389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g₀ → FP16 저장</a:t>
            </a:r>
            <a:endParaRPr lang="en-US" sz="950" dirty="0"/>
          </a:p>
        </p:txBody>
      </p:sp>
      <p:sp>
        <p:nvSpPr>
          <p:cNvPr id="48" name="Text 46"/>
          <p:cNvSpPr txBox="1"/>
          <p:nvPr/>
        </p:nvSpPr>
        <p:spPr>
          <a:xfrm>
            <a:off x="1901952" y="3637407"/>
            <a:ext cx="1453896" cy="2122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중간 반올림</a:t>
            </a:r>
            <a:endParaRPr lang="en-US" sz="750" dirty="0"/>
          </a:p>
        </p:txBody>
      </p:sp>
      <p:sp>
        <p:nvSpPr>
          <p:cNvPr id="49" name="Shape 47"/>
          <p:cNvSpPr/>
          <p:nvPr/>
        </p:nvSpPr>
        <p:spPr>
          <a:xfrm>
            <a:off x="3657600" y="3383280"/>
            <a:ext cx="1600200" cy="502920"/>
          </a:xfrm>
          <a:prstGeom prst="roundRect">
            <a:avLst>
              <a:gd name="adj" fmla="val 10909"/>
            </a:avLst>
          </a:prstGeom>
          <a:solidFill>
            <a:srgbClr val="FBE9E7"/>
          </a:solidFill>
          <a:ln w="12700">
            <a:solidFill>
              <a:srgbClr val="C0392B"/>
            </a:solidFill>
            <a:prstDash val="solid"/>
          </a:ln>
        </p:spPr>
      </p:sp>
      <p:sp>
        <p:nvSpPr>
          <p:cNvPr id="50" name="Text 48"/>
          <p:cNvSpPr txBox="1"/>
          <p:nvPr/>
        </p:nvSpPr>
        <p:spPr>
          <a:xfrm>
            <a:off x="3730752" y="3456432"/>
            <a:ext cx="145389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reload + g₁</a:t>
            </a:r>
            <a:endParaRPr lang="en-US" sz="950" dirty="0"/>
          </a:p>
        </p:txBody>
      </p:sp>
      <p:sp>
        <p:nvSpPr>
          <p:cNvPr id="51" name="Text 49"/>
          <p:cNvSpPr txBox="1"/>
          <p:nvPr/>
        </p:nvSpPr>
        <p:spPr>
          <a:xfrm>
            <a:off x="3730752" y="3637407"/>
            <a:ext cx="1453896" cy="2122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누산 재개</a:t>
            </a:r>
            <a:endParaRPr lang="en-US" sz="750" dirty="0"/>
          </a:p>
        </p:txBody>
      </p:sp>
      <p:sp>
        <p:nvSpPr>
          <p:cNvPr id="52" name="Shape 50"/>
          <p:cNvSpPr/>
          <p:nvPr/>
        </p:nvSpPr>
        <p:spPr>
          <a:xfrm>
            <a:off x="5486400" y="3383280"/>
            <a:ext cx="1463040" cy="502920"/>
          </a:xfrm>
          <a:prstGeom prst="roundRect">
            <a:avLst>
              <a:gd name="adj" fmla="val 10909"/>
            </a:avLst>
          </a:prstGeom>
          <a:solidFill>
            <a:srgbClr val="FBE9E7"/>
          </a:solidFill>
          <a:ln w="12700">
            <a:solidFill>
              <a:srgbClr val="C0392B"/>
            </a:solidFill>
            <a:prstDash val="solid"/>
          </a:ln>
        </p:spPr>
      </p:sp>
      <p:sp>
        <p:nvSpPr>
          <p:cNvPr id="53" name="Text 51"/>
          <p:cNvSpPr txBox="1"/>
          <p:nvPr/>
        </p:nvSpPr>
        <p:spPr>
          <a:xfrm>
            <a:off x="5559552" y="3456432"/>
            <a:ext cx="131673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FP16 반올림 2회</a:t>
            </a:r>
            <a:endParaRPr lang="en-US" sz="950" dirty="0"/>
          </a:p>
        </p:txBody>
      </p:sp>
      <p:sp>
        <p:nvSpPr>
          <p:cNvPr id="54" name="Text 52"/>
          <p:cNvSpPr txBox="1"/>
          <p:nvPr/>
        </p:nvSpPr>
        <p:spPr>
          <a:xfrm>
            <a:off x="5559552" y="3637407"/>
            <a:ext cx="1316736" cy="212217"/>
          </a:xfrm>
          <a:prstGeom prst="rect">
            <a:avLst/>
          </a:prstGeom>
          <a:noFill/>
          <a:ln/>
        </p:spPr>
        <p:txBody>
          <a:bodyPr wrap="square" lIns="0" tIns="0" rIns="0" bIns="0" rtlCol="0" anchor="t"/>
          <a:lstStyle/>
          <a:p>
            <a:pPr algn="ctr" indent="0" marL="0">
              <a:buNone/>
            </a:pPr>
            <a:r>
              <a:rPr lang="en-US" sz="750" dirty="0">
                <a:solidFill>
                  <a:srgbClr val="5B6B7F"/>
                </a:solidFill>
                <a:latin typeface="Malgun Gothic" pitchFamily="34" charset="0"/>
                <a:ea typeface="Malgun Gothic" pitchFamily="34" charset="-122"/>
                <a:cs typeface="Malgun Gothic" pitchFamily="34" charset="-120"/>
              </a:rPr>
              <a:t>결과가 달라짐</a:t>
            </a:r>
            <a:endParaRPr lang="en-US" sz="750" dirty="0"/>
          </a:p>
        </p:txBody>
      </p:sp>
      <p:sp>
        <p:nvSpPr>
          <p:cNvPr id="55" name="Shape 53"/>
          <p:cNvSpPr/>
          <p:nvPr/>
        </p:nvSpPr>
        <p:spPr>
          <a:xfrm>
            <a:off x="3429000" y="3634740"/>
            <a:ext cx="228600" cy="914"/>
          </a:xfrm>
          <a:prstGeom prst="line">
            <a:avLst/>
          </a:prstGeom>
          <a:noFill/>
          <a:ln w="19050">
            <a:solidFill>
              <a:srgbClr val="C0392B"/>
            </a:solidFill>
            <a:prstDash val="dash"/>
            <a:tailEnd type="triangle"/>
          </a:ln>
        </p:spPr>
      </p:sp>
      <p:sp>
        <p:nvSpPr>
          <p:cNvPr id="56" name="Shape 54"/>
          <p:cNvSpPr/>
          <p:nvPr/>
        </p:nvSpPr>
        <p:spPr>
          <a:xfrm>
            <a:off x="5257800" y="3634740"/>
            <a:ext cx="228600" cy="914"/>
          </a:xfrm>
          <a:prstGeom prst="line">
            <a:avLst/>
          </a:prstGeom>
          <a:noFill/>
          <a:ln w="19050">
            <a:solidFill>
              <a:srgbClr val="C0392B"/>
            </a:solidFill>
            <a:prstDash val="dash"/>
            <a:tailEnd type="triangle"/>
          </a:ln>
        </p:spPr>
      </p:sp>
      <p:sp>
        <p:nvSpPr>
          <p:cNvPr id="57" name="Text 55"/>
          <p:cNvSpPr txBox="1"/>
          <p:nvPr/>
        </p:nvSpPr>
        <p:spPr>
          <a:xfrm>
            <a:off x="457200" y="3474720"/>
            <a:ext cx="1325880" cy="365760"/>
          </a:xfrm>
          <a:prstGeom prst="rect">
            <a:avLst/>
          </a:prstGeom>
          <a:noFill/>
          <a:ln/>
        </p:spPr>
        <p:txBody>
          <a:bodyPr wrap="square" lIns="0" tIns="0" rIns="0" bIns="0" rtlCol="0" anchor="t"/>
          <a:lstStyle/>
          <a:p>
            <a:pPr algn="l" indent="0" marL="0">
              <a:buNone/>
            </a:pPr>
            <a:r>
              <a:rPr lang="en-US" sz="850" b="1" dirty="0">
                <a:solidFill>
                  <a:srgbClr val="C0392B"/>
                </a:solidFill>
                <a:latin typeface="Malgun Gothic" pitchFamily="34" charset="0"/>
                <a:ea typeface="Malgun Gothic" pitchFamily="34" charset="-122"/>
                <a:cs typeface="Malgun Gothic" pitchFamily="34" charset="-120"/>
              </a:rPr>
              <a:t>거절 (chain 중단)</a:t>
            </a:r>
            <a:endParaRPr lang="en-US" sz="850" dirty="0"/>
          </a:p>
        </p:txBody>
      </p:sp>
      <p:sp>
        <p:nvSpPr>
          <p:cNvPr id="58" name="Text 56"/>
          <p:cNvSpPr txBox="1"/>
          <p:nvPr/>
        </p:nvSpPr>
        <p:spPr>
          <a:xfrm>
            <a:off x="1828800" y="3977640"/>
            <a:ext cx="5120640" cy="274320"/>
          </a:xfrm>
          <a:prstGeom prst="rect">
            <a:avLst/>
          </a:prstGeom>
          <a:noFill/>
          <a:ln/>
        </p:spPr>
        <p:txBody>
          <a:bodyPr wrap="square" lIns="0" tIns="0" rIns="0" bIns="0" rtlCol="0" anchor="t"/>
          <a:lstStyle/>
          <a:p>
            <a:pPr algn="l" indent="0" marL="0">
              <a:buNone/>
            </a:pPr>
            <a:r>
              <a:rPr lang="en-US" sz="750" i="1" dirty="0">
                <a:solidFill>
                  <a:srgbClr val="C0392B"/>
                </a:solidFill>
                <a:latin typeface="Malgun Gothic" pitchFamily="34" charset="0"/>
                <a:ea typeface="Malgun Gothic" pitchFamily="34" charset="-122"/>
                <a:cs typeface="Malgun Gothic" pitchFamily="34" charset="-120"/>
              </a:rPr>
              <a:t>codegen이 같은 출력 tile의 K chain 사이에 다른 명령이 오면 "FP32 matrix chain interrupted"로 거절 (accumulator 1개, partial spill 금지)</a:t>
            </a:r>
            <a:endParaRPr lang="en-US" sz="750" dirty="0"/>
          </a:p>
        </p:txBody>
      </p:sp>
      <p:sp>
        <p:nvSpPr>
          <p:cNvPr id="59" name="Text 57"/>
          <p:cNvSpPr txBox="1"/>
          <p:nvPr/>
        </p:nvSpPr>
        <p:spPr>
          <a:xfrm>
            <a:off x="457200" y="4389120"/>
            <a:ext cx="649224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CPU reference도 같은 grouping (split(k,64) + rfactor) — E1: LLVM과 최대 절대차 0</a:t>
            </a:r>
            <a:endParaRPr lang="en-US" sz="900" dirty="0"/>
          </a:p>
        </p:txBody>
      </p:sp>
      <p:sp>
        <p:nvSpPr>
          <p:cNvPr id="60" name="Shape 58"/>
          <p:cNvSpPr/>
          <p:nvPr/>
        </p:nvSpPr>
        <p:spPr>
          <a:xfrm>
            <a:off x="457200" y="4645152"/>
            <a:ext cx="6492240" cy="1143000"/>
          </a:xfrm>
          <a:prstGeom prst="roundRect">
            <a:avLst>
              <a:gd name="adj" fmla="val 4000"/>
            </a:avLst>
          </a:prstGeom>
          <a:solidFill>
            <a:srgbClr val="F5F7FA"/>
          </a:solidFill>
          <a:ln w="9525">
            <a:solidFill>
              <a:srgbClr val="C9D3DF"/>
            </a:solidFill>
            <a:prstDash val="solid"/>
          </a:ln>
        </p:spPr>
      </p:sp>
      <p:sp>
        <p:nvSpPr>
          <p:cNvPr id="61" name="Text 59"/>
          <p:cNvSpPr txBox="1"/>
          <p:nvPr/>
        </p:nvSpPr>
        <p:spPr>
          <a:xfrm>
            <a:off x="566928" y="4718304"/>
            <a:ext cx="6272784" cy="996696"/>
          </a:xfrm>
          <a:prstGeom prst="rect">
            <a:avLst/>
          </a:prstGeom>
          <a:noFill/>
          <a:ln/>
        </p:spPr>
        <p:txBody>
          <a:bodyPr wrap="square" lIns="0" tIns="0" rIns="0" bIns="0" rtlCol="0" anchor="t"/>
          <a:lstStyle/>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matmul_rf[2,64,64]: g = Σ_{64개} f32(x)·f32(b)      # 부분합 2개</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matmul[i,j] = g₀ + g₁                            # FP32 결합</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compute[i,j] = f16(matmul[i,j])                  # 마지막 1회 반올림</a:t>
            </a:r>
            <a:endParaRPr lang="en-US" sz="750" dirty="0"/>
          </a:p>
          <a:p>
            <a:pPr algn="l" indent="0" marL="0">
              <a:lnSpc>
                <a:spcPct val="105000"/>
              </a:lnSpc>
              <a:buNone/>
            </a:pPr>
            <a:r>
              <a:rPr lang="en-US" sz="750" dirty="0">
                <a:solidFill>
                  <a:srgbClr val="1F2D3D"/>
                </a:solidFill>
                <a:latin typeface="Courier New" pitchFamily="34" charset="0"/>
                <a:ea typeface="Courier New" pitchFamily="34" charset="-122"/>
                <a:cs typeface="Courier New" pitchFamily="34" charset="-120"/>
              </a:rPr>
              <a:t># FoldConstants도 같은 기준. 단순 flat-K loop와 항상 bit-exact는 아님</a:t>
            </a:r>
            <a:endParaRPr lang="en-US" sz="750" dirty="0"/>
          </a:p>
        </p:txBody>
      </p:sp>
      <p:sp>
        <p:nvSpPr>
          <p:cNvPr id="62" name="Text 60"/>
          <p:cNvSpPr txBox="1"/>
          <p:nvPr/>
        </p:nvSpPr>
        <p:spPr>
          <a:xfrm>
            <a:off x="7178040" y="1417320"/>
            <a:ext cx="457200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LegalizeOps 뒤 (Relax는 남고 PrimFunc가 생김)</a:t>
            </a:r>
            <a:endParaRPr lang="en-US" sz="900" dirty="0"/>
          </a:p>
        </p:txBody>
      </p:sp>
      <p:sp>
        <p:nvSpPr>
          <p:cNvPr id="63" name="Shape 61"/>
          <p:cNvSpPr/>
          <p:nvPr/>
        </p:nvSpPr>
        <p:spPr>
          <a:xfrm>
            <a:off x="7178040" y="1664208"/>
            <a:ext cx="4553712" cy="1188720"/>
          </a:xfrm>
          <a:prstGeom prst="roundRect">
            <a:avLst>
              <a:gd name="adj" fmla="val 3846"/>
            </a:avLst>
          </a:prstGeom>
          <a:solidFill>
            <a:srgbClr val="F5F7FA"/>
          </a:solidFill>
          <a:ln w="9525">
            <a:solidFill>
              <a:srgbClr val="C9D3DF"/>
            </a:solidFill>
            <a:prstDash val="solid"/>
          </a:ln>
        </p:spPr>
      </p:sp>
      <p:sp>
        <p:nvSpPr>
          <p:cNvPr id="64" name="Text 62"/>
          <p:cNvSpPr txBox="1"/>
          <p:nvPr/>
        </p:nvSpPr>
        <p:spPr>
          <a:xfrm>
            <a:off x="7287768" y="1737360"/>
            <a:ext cx="4334256" cy="1042416"/>
          </a:xfrm>
          <a:prstGeom prst="rect">
            <a:avLst/>
          </a:prstGeom>
          <a:noFill/>
          <a:ln/>
        </p:spPr>
        <p:txBody>
          <a:bodyPr wrap="square" lIns="0" tIns="0" rIns="0" bIns="0" rtlCol="0" anchor="t"/>
          <a:lstStyle/>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lv1 = call_tir(matmul, (x, lv))   # pattern 4</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lv2 = call_tir(add, (lv1, bias))  # pattern 0</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gv  = call_tir(silu, (lv2,))      # pattern 0</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 </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 matmul PrimFunc: SSR 축, T.init 0, FP32 buffer,</a:t>
            </a:r>
            <a:endParaRPr lang="en-US" sz="700" dirty="0"/>
          </a:p>
          <a:p>
            <a:pPr algn="l" indent="0" marL="0">
              <a:lnSpc>
                <a:spcPct val="105000"/>
              </a:lnSpc>
              <a:buNone/>
            </a:pPr>
            <a:r>
              <a:rPr lang="en-US" sz="700" dirty="0">
                <a:solidFill>
                  <a:srgbClr val="1F2D3D"/>
                </a:solidFill>
                <a:latin typeface="Courier New" pitchFamily="34" charset="0"/>
                <a:ea typeface="Courier New" pitchFamily="34" charset="-122"/>
                <a:cs typeface="Courier New" pitchFamily="34" charset="-120"/>
              </a:rPr>
              <a:t>#   마지막 block에서 f16 cast</a:t>
            </a:r>
            <a:endParaRPr lang="en-US" sz="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178040" y="3017520"/>
          <a:ext cx="4553712" cy="914400"/>
        </p:xfrm>
        <a:graphic>
          <a:graphicData uri="http://schemas.openxmlformats.org/drawingml/2006/table">
            <a:tbl>
              <a:tblPr/>
              <a:tblGrid>
                <a:gridCol w="1371600"/>
                <a:gridCol w="3182112"/>
              </a:tblGrid>
              <a:tr h="384048">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NPU 정의 (custom legalize map)</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왜 다른가</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84048">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matmul</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FP16×FP16 → FP32 sum → FP16 cast (K=64 grouping)</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softmax</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max → exp → FP32 sum → FP16 sum → divide. 마지막 축 1..65504 (exp ≤ 1)</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rms_norm</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a = max(absmax, √ε), u = x/a, z = u/√D, Σz² FP32 → FP16 (x² overflow 방지)</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84048">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sum / mean / split</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FP32 sum → FP16; split은 view (zero-copy)</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84048">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그 외</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TVM 기본 legalization (add, silu, permute_dims, concat, …)</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66" name="Shape 63"/>
          <p:cNvSpPr/>
          <p:nvPr/>
        </p:nvSpPr>
        <p:spPr>
          <a:xfrm>
            <a:off x="7178040" y="5440680"/>
            <a:ext cx="4553712" cy="411480"/>
          </a:xfrm>
          <a:prstGeom prst="roundRect">
            <a:avLst>
              <a:gd name="adj" fmla="val 13333"/>
            </a:avLst>
          </a:prstGeom>
          <a:solidFill>
            <a:srgbClr val="FFF6DB"/>
          </a:solidFill>
          <a:ln w="12700">
            <a:solidFill>
              <a:srgbClr val="B7791F"/>
            </a:solidFill>
            <a:prstDash val="solid"/>
          </a:ln>
        </p:spPr>
      </p:sp>
      <p:sp>
        <p:nvSpPr>
          <p:cNvPr id="67" name="Text 64"/>
          <p:cNvSpPr txBox="1"/>
          <p:nvPr/>
        </p:nvSpPr>
        <p:spPr>
          <a:xfrm>
            <a:off x="7306056" y="5495544"/>
            <a:ext cx="4297680" cy="301752"/>
          </a:xfrm>
          <a:prstGeom prst="rect">
            <a:avLst/>
          </a:prstGeom>
          <a:noFill/>
          <a:ln/>
        </p:spPr>
        <p:txBody>
          <a:bodyPr wrap="square" lIns="0" tIns="0" rIns="0" bIns="0" rtlCol="0" anchor="ctr"/>
          <a:lstStyle/>
          <a:p>
            <a:pPr algn="l" indent="0" marL="0">
              <a:buNone/>
            </a:pPr>
            <a:r>
              <a:rPr lang="en-US" sz="850" dirty="0">
                <a:solidFill>
                  <a:srgbClr val="1F2D3D"/>
                </a:solidFill>
                <a:latin typeface="Malgun Gothic" pitchFamily="34" charset="0"/>
                <a:ea typeface="Malgun Gothic" pitchFamily="34" charset="-122"/>
                <a:cs typeface="Malgun Gothic" pitchFamily="34" charset="-120"/>
              </a:rPr>
              <a:t>지원 밖(길이 70,000 softmax, FP32 RMSNorm 등)은 ValueError로 거절. 조용히 근사하지 않음.</a:t>
            </a:r>
            <a:endParaRPr lang="en-US" sz="850" dirty="0"/>
          </a:p>
        </p:txBody>
      </p:sp>
      <p:sp>
        <p:nvSpPr>
          <p:cNvPr id="68" name="Shape 6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69" name="Text 6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Fusion·schedule은 저장 위치를 바꿀 뿐 이 수치 계약을 바꾸지 않습니다. 정밀도 정책은 고정이며 자동 오차 예산 탐색은 없습니다.</a:t>
            </a:r>
            <a:endParaRPr lang="en-US" sz="1250" dirty="0"/>
          </a:p>
        </p:txBody>
      </p:sp>
      <p:sp>
        <p:nvSpPr>
          <p:cNvPr id="70" name="Text 6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71" name="Text 6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npu_compiler/npu_legalize.py, npu_numeric.py, docs/examples/pipeline/03_unfused_semantic_tir.py, 08_llvm_reference.py</a:t>
            </a:r>
            <a:endParaRPr lang="en-US" sz="850" dirty="0"/>
          </a:p>
        </p:txBody>
      </p:sp>
      <p:sp>
        <p:nvSpPr>
          <p:cNvPr id="72" name="Text 6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5 / 13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③ 배치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Fusion은 커널 수가 아니라 실제 프로그램 비용으로 고른다</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예제의 분리(off) vs 결합(auto): 두 경우 모두 중간 tile P·A가 SRAM에 머물러 DMA는 같고(41,100 B), 커널 경계의 descriptor·LOAD/SAVE 반복과 짧은 vector 행이 words와 SRAM 작업 공간을 바꿉니다.</a:t>
            </a:r>
            <a:endParaRPr lang="en-US" sz="1250" dirty="0"/>
          </a:p>
        </p:txBody>
      </p:sp>
      <p:sp>
        <p:nvSpPr>
          <p:cNvPr id="5" name="Text 3"/>
          <p:cNvSpPr txBox="1"/>
          <p:nvPr/>
        </p:nvSpPr>
        <p:spPr>
          <a:xfrm>
            <a:off x="457200" y="1554480"/>
            <a:ext cx="1188720" cy="54864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fusion off</a:t>
            </a:r>
            <a:endParaRPr lang="en-US" sz="1000" dirty="0"/>
          </a:p>
          <a:p>
            <a:pPr algn="l" indent="0" marL="0">
              <a:buNone/>
            </a:pPr>
            <a:r>
              <a:rPr lang="en-US" sz="1000" b="1" dirty="0">
                <a:solidFill>
                  <a:srgbClr val="15243B"/>
                </a:solidFill>
                <a:latin typeface="Malgun Gothic" pitchFamily="34" charset="0"/>
                <a:ea typeface="Malgun Gothic" pitchFamily="34" charset="-122"/>
                <a:cs typeface="Malgun Gothic" pitchFamily="34" charset="-120"/>
              </a:rPr>
              <a:t>3 kernels</a:t>
            </a:r>
            <a:endParaRPr lang="en-US" sz="1000" dirty="0"/>
          </a:p>
        </p:txBody>
      </p:sp>
      <p:sp>
        <p:nvSpPr>
          <p:cNvPr id="6" name="Shape 4"/>
          <p:cNvSpPr/>
          <p:nvPr/>
        </p:nvSpPr>
        <p:spPr>
          <a:xfrm>
            <a:off x="1645920" y="1600200"/>
            <a:ext cx="731520" cy="457200"/>
          </a:xfrm>
          <a:prstGeom prst="roundRect">
            <a:avLst>
              <a:gd name="adj" fmla="val 12000"/>
            </a:avLst>
          </a:prstGeom>
          <a:solidFill>
            <a:srgbClr val="FFF1DC"/>
          </a:solidFill>
          <a:ln w="12700">
            <a:solidFill>
              <a:srgbClr val="D98A1E"/>
            </a:solidFill>
            <a:prstDash val="solid"/>
          </a:ln>
        </p:spPr>
      </p:sp>
      <p:sp>
        <p:nvSpPr>
          <p:cNvPr id="7" name="Text 5"/>
          <p:cNvSpPr txBox="1"/>
          <p:nvPr/>
        </p:nvSpPr>
        <p:spPr>
          <a:xfrm>
            <a:off x="1719072" y="167335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8" name="Text 6"/>
          <p:cNvSpPr txBox="1"/>
          <p:nvPr/>
        </p:nvSpPr>
        <p:spPr>
          <a:xfrm>
            <a:off x="1719072" y="184480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X, Wᵀ, bias</a:t>
            </a:r>
            <a:endParaRPr lang="en-US" sz="650" dirty="0"/>
          </a:p>
        </p:txBody>
      </p:sp>
      <p:sp>
        <p:nvSpPr>
          <p:cNvPr id="9" name="Shape 7"/>
          <p:cNvSpPr/>
          <p:nvPr/>
        </p:nvSpPr>
        <p:spPr>
          <a:xfrm>
            <a:off x="2395728" y="1828800"/>
            <a:ext cx="301752" cy="914"/>
          </a:xfrm>
          <a:prstGeom prst="line">
            <a:avLst/>
          </a:prstGeom>
          <a:noFill/>
          <a:ln w="15240">
            <a:solidFill>
              <a:srgbClr val="D98A1E"/>
            </a:solidFill>
            <a:prstDash val="solid"/>
            <a:tailEnd type="triangle"/>
          </a:ln>
        </p:spPr>
      </p:sp>
      <p:sp>
        <p:nvSpPr>
          <p:cNvPr id="10" name="Text 8"/>
          <p:cNvSpPr txBox="1"/>
          <p:nvPr/>
        </p:nvSpPr>
        <p:spPr>
          <a:xfrm>
            <a:off x="2331720" y="1371600"/>
            <a:ext cx="548640" cy="182880"/>
          </a:xfrm>
          <a:prstGeom prst="rect">
            <a:avLst/>
          </a:prstGeom>
          <a:noFill/>
          <a:ln/>
        </p:spPr>
        <p:txBody>
          <a:bodyPr wrap="square" lIns="0" tIns="0" rIns="0" bIns="0" rtlCol="0" anchor="t"/>
          <a:lstStyle/>
          <a:p>
            <a:pPr algn="ctr" indent="0" marL="0">
              <a:buNone/>
            </a:pPr>
            <a:r>
              <a:rPr lang="en-US" sz="650" b="1" dirty="0">
                <a:solidFill>
                  <a:srgbClr val="D98A1E"/>
                </a:solidFill>
                <a:latin typeface="Malgun Gothic" pitchFamily="34" charset="0"/>
                <a:ea typeface="Malgun Gothic" pitchFamily="34" charset="-122"/>
                <a:cs typeface="Malgun Gothic" pitchFamily="34" charset="-120"/>
              </a:rPr>
              <a:t>GLOAD</a:t>
            </a:r>
            <a:endParaRPr lang="en-US" sz="650" dirty="0"/>
          </a:p>
        </p:txBody>
      </p:sp>
      <p:sp>
        <p:nvSpPr>
          <p:cNvPr id="11" name="Shape 9"/>
          <p:cNvSpPr/>
          <p:nvPr/>
        </p:nvSpPr>
        <p:spPr>
          <a:xfrm>
            <a:off x="2743200" y="1600200"/>
            <a:ext cx="1188720" cy="457200"/>
          </a:xfrm>
          <a:prstGeom prst="roundRect">
            <a:avLst>
              <a:gd name="adj" fmla="val 12000"/>
            </a:avLst>
          </a:prstGeom>
          <a:solidFill>
            <a:srgbClr val="ECE6FA"/>
          </a:solidFill>
          <a:ln w="12700">
            <a:solidFill>
              <a:srgbClr val="6C4FBF"/>
            </a:solidFill>
            <a:prstDash val="solid"/>
          </a:ln>
        </p:spPr>
      </p:sp>
      <p:sp>
        <p:nvSpPr>
          <p:cNvPr id="12" name="Text 10"/>
          <p:cNvSpPr txBox="1"/>
          <p:nvPr/>
        </p:nvSpPr>
        <p:spPr>
          <a:xfrm>
            <a:off x="2816352" y="1673352"/>
            <a:ext cx="104241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matmul</a:t>
            </a:r>
            <a:endParaRPr lang="en-US" sz="950" dirty="0"/>
          </a:p>
        </p:txBody>
      </p:sp>
      <p:sp>
        <p:nvSpPr>
          <p:cNvPr id="13" name="Text 11"/>
          <p:cNvSpPr txBox="1"/>
          <p:nvPr/>
        </p:nvSpPr>
        <p:spPr>
          <a:xfrm>
            <a:off x="2816352" y="1854327"/>
            <a:ext cx="1042416" cy="182880"/>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43 words</a:t>
            </a:r>
            <a:endParaRPr lang="en-US" sz="700" dirty="0"/>
          </a:p>
        </p:txBody>
      </p:sp>
      <p:sp>
        <p:nvSpPr>
          <p:cNvPr id="14" name="Shape 12"/>
          <p:cNvSpPr/>
          <p:nvPr/>
        </p:nvSpPr>
        <p:spPr>
          <a:xfrm>
            <a:off x="3931920" y="1828800"/>
            <a:ext cx="274320" cy="914"/>
          </a:xfrm>
          <a:prstGeom prst="line">
            <a:avLst/>
          </a:prstGeom>
          <a:noFill/>
          <a:ln w="12700">
            <a:solidFill>
              <a:srgbClr val="5B6B7F"/>
            </a:solidFill>
            <a:prstDash val="solid"/>
            <a:tailEnd type="triangle"/>
          </a:ln>
        </p:spPr>
      </p:sp>
      <p:sp>
        <p:nvSpPr>
          <p:cNvPr id="15" name="Shape 13"/>
          <p:cNvSpPr/>
          <p:nvPr/>
        </p:nvSpPr>
        <p:spPr>
          <a:xfrm>
            <a:off x="4224528" y="1600200"/>
            <a:ext cx="457200" cy="457200"/>
          </a:xfrm>
          <a:prstGeom prst="rect">
            <a:avLst/>
          </a:prstGeom>
          <a:solidFill>
            <a:srgbClr val="DDF3F0"/>
          </a:solidFill>
          <a:ln w="12700">
            <a:solidFill>
              <a:srgbClr val="1F8A8A"/>
            </a:solidFill>
            <a:prstDash val="solid"/>
          </a:ln>
        </p:spPr>
      </p:sp>
      <p:sp>
        <p:nvSpPr>
          <p:cNvPr id="16" name="Shape 14"/>
          <p:cNvSpPr/>
          <p:nvPr/>
        </p:nvSpPr>
        <p:spPr>
          <a:xfrm>
            <a:off x="4224528" y="1600200"/>
            <a:ext cx="457200" cy="457200"/>
          </a:xfrm>
          <a:prstGeom prst="rect">
            <a:avLst/>
          </a:prstGeom>
          <a:solidFill>
            <a:srgbClr val="DDF3F0"/>
          </a:solidFill>
          <a:ln w="15875">
            <a:solidFill>
              <a:srgbClr val="1F8A8A"/>
            </a:solidFill>
            <a:prstDash val="solid"/>
          </a:ln>
        </p:spPr>
      </p:sp>
      <p:sp>
        <p:nvSpPr>
          <p:cNvPr id="17" name="Text 15"/>
          <p:cNvSpPr txBox="1"/>
          <p:nvPr/>
        </p:nvSpPr>
        <p:spPr>
          <a:xfrm>
            <a:off x="4224528" y="1600200"/>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P</a:t>
            </a:r>
            <a:endParaRPr lang="en-US" sz="800" dirty="0"/>
          </a:p>
        </p:txBody>
      </p:sp>
      <p:sp>
        <p:nvSpPr>
          <p:cNvPr id="18" name="Text 16"/>
          <p:cNvSpPr txBox="1"/>
          <p:nvPr/>
        </p:nvSpPr>
        <p:spPr>
          <a:xfrm>
            <a:off x="3950208" y="2084832"/>
            <a:ext cx="1005840"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SRAM 보관</a:t>
            </a:r>
            <a:endParaRPr lang="en-US" sz="650" dirty="0"/>
          </a:p>
        </p:txBody>
      </p:sp>
      <p:sp>
        <p:nvSpPr>
          <p:cNvPr id="19" name="Shape 17"/>
          <p:cNvSpPr/>
          <p:nvPr/>
        </p:nvSpPr>
        <p:spPr>
          <a:xfrm>
            <a:off x="4700016" y="1828800"/>
            <a:ext cx="256032" cy="914"/>
          </a:xfrm>
          <a:prstGeom prst="line">
            <a:avLst/>
          </a:prstGeom>
          <a:noFill/>
          <a:ln w="12700">
            <a:solidFill>
              <a:srgbClr val="5B6B7F"/>
            </a:solidFill>
            <a:prstDash val="solid"/>
            <a:tailEnd type="triangle"/>
          </a:ln>
        </p:spPr>
      </p:sp>
      <p:sp>
        <p:nvSpPr>
          <p:cNvPr id="20" name="Shape 18"/>
          <p:cNvSpPr/>
          <p:nvPr/>
        </p:nvSpPr>
        <p:spPr>
          <a:xfrm>
            <a:off x="4983480" y="1600200"/>
            <a:ext cx="1188720" cy="457200"/>
          </a:xfrm>
          <a:prstGeom prst="roundRect">
            <a:avLst>
              <a:gd name="adj" fmla="val 12000"/>
            </a:avLst>
          </a:prstGeom>
          <a:solidFill>
            <a:srgbClr val="E3EEFB"/>
          </a:solidFill>
          <a:ln w="12700">
            <a:solidFill>
              <a:srgbClr val="2F6DB5"/>
            </a:solidFill>
            <a:prstDash val="solid"/>
          </a:ln>
        </p:spPr>
      </p:sp>
      <p:sp>
        <p:nvSpPr>
          <p:cNvPr id="21" name="Text 19"/>
          <p:cNvSpPr txBox="1"/>
          <p:nvPr/>
        </p:nvSpPr>
        <p:spPr>
          <a:xfrm>
            <a:off x="5056632" y="1673352"/>
            <a:ext cx="104241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add</a:t>
            </a:r>
            <a:endParaRPr lang="en-US" sz="950" dirty="0"/>
          </a:p>
        </p:txBody>
      </p:sp>
      <p:sp>
        <p:nvSpPr>
          <p:cNvPr id="22" name="Text 20"/>
          <p:cNvSpPr txBox="1"/>
          <p:nvPr/>
        </p:nvSpPr>
        <p:spPr>
          <a:xfrm>
            <a:off x="5056632" y="1854327"/>
            <a:ext cx="10424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391 words (64행 × VLEN 64)</a:t>
            </a:r>
            <a:endParaRPr lang="en-US" sz="650" dirty="0"/>
          </a:p>
        </p:txBody>
      </p:sp>
      <p:sp>
        <p:nvSpPr>
          <p:cNvPr id="23" name="Shape 21"/>
          <p:cNvSpPr/>
          <p:nvPr/>
        </p:nvSpPr>
        <p:spPr>
          <a:xfrm>
            <a:off x="6172200" y="1828800"/>
            <a:ext cx="274320" cy="914"/>
          </a:xfrm>
          <a:prstGeom prst="line">
            <a:avLst/>
          </a:prstGeom>
          <a:noFill/>
          <a:ln w="12700">
            <a:solidFill>
              <a:srgbClr val="5B6B7F"/>
            </a:solidFill>
            <a:prstDash val="solid"/>
            <a:tailEnd type="triangle"/>
          </a:ln>
        </p:spPr>
      </p:sp>
      <p:sp>
        <p:nvSpPr>
          <p:cNvPr id="24" name="Shape 22"/>
          <p:cNvSpPr/>
          <p:nvPr/>
        </p:nvSpPr>
        <p:spPr>
          <a:xfrm>
            <a:off x="6464808" y="1600200"/>
            <a:ext cx="457200" cy="457200"/>
          </a:xfrm>
          <a:prstGeom prst="rect">
            <a:avLst/>
          </a:prstGeom>
          <a:solidFill>
            <a:srgbClr val="DDF3F0"/>
          </a:solidFill>
          <a:ln w="12700">
            <a:solidFill>
              <a:srgbClr val="1F8A8A"/>
            </a:solidFill>
            <a:prstDash val="solid"/>
          </a:ln>
        </p:spPr>
      </p:sp>
      <p:sp>
        <p:nvSpPr>
          <p:cNvPr id="25" name="Shape 23"/>
          <p:cNvSpPr/>
          <p:nvPr/>
        </p:nvSpPr>
        <p:spPr>
          <a:xfrm>
            <a:off x="6464808" y="1600200"/>
            <a:ext cx="457200" cy="457200"/>
          </a:xfrm>
          <a:prstGeom prst="rect">
            <a:avLst/>
          </a:prstGeom>
          <a:solidFill>
            <a:srgbClr val="DDF3F0"/>
          </a:solidFill>
          <a:ln w="15875">
            <a:solidFill>
              <a:srgbClr val="1F8A8A"/>
            </a:solidFill>
            <a:prstDash val="solid"/>
          </a:ln>
        </p:spPr>
      </p:sp>
      <p:sp>
        <p:nvSpPr>
          <p:cNvPr id="26" name="Text 24"/>
          <p:cNvSpPr txBox="1"/>
          <p:nvPr/>
        </p:nvSpPr>
        <p:spPr>
          <a:xfrm>
            <a:off x="6464808" y="1600200"/>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a:t>
            </a:r>
            <a:endParaRPr lang="en-US" sz="800" dirty="0"/>
          </a:p>
        </p:txBody>
      </p:sp>
      <p:sp>
        <p:nvSpPr>
          <p:cNvPr id="27" name="Text 25"/>
          <p:cNvSpPr txBox="1"/>
          <p:nvPr/>
        </p:nvSpPr>
        <p:spPr>
          <a:xfrm>
            <a:off x="6190488" y="2084832"/>
            <a:ext cx="1005840"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SRAM 보관</a:t>
            </a:r>
            <a:endParaRPr lang="en-US" sz="650" dirty="0"/>
          </a:p>
        </p:txBody>
      </p:sp>
      <p:sp>
        <p:nvSpPr>
          <p:cNvPr id="28" name="Shape 26"/>
          <p:cNvSpPr/>
          <p:nvPr/>
        </p:nvSpPr>
        <p:spPr>
          <a:xfrm>
            <a:off x="6940296" y="1828800"/>
            <a:ext cx="256032" cy="914"/>
          </a:xfrm>
          <a:prstGeom prst="line">
            <a:avLst/>
          </a:prstGeom>
          <a:noFill/>
          <a:ln w="12700">
            <a:solidFill>
              <a:srgbClr val="5B6B7F"/>
            </a:solidFill>
            <a:prstDash val="solid"/>
            <a:tailEnd type="triangle"/>
          </a:ln>
        </p:spPr>
      </p:sp>
      <p:sp>
        <p:nvSpPr>
          <p:cNvPr id="29" name="Shape 27"/>
          <p:cNvSpPr/>
          <p:nvPr/>
        </p:nvSpPr>
        <p:spPr>
          <a:xfrm>
            <a:off x="7223760" y="1600200"/>
            <a:ext cx="1417320" cy="457200"/>
          </a:xfrm>
          <a:prstGeom prst="roundRect">
            <a:avLst>
              <a:gd name="adj" fmla="val 12000"/>
            </a:avLst>
          </a:prstGeom>
          <a:solidFill>
            <a:srgbClr val="E3EEFB"/>
          </a:solidFill>
          <a:ln w="12700">
            <a:solidFill>
              <a:srgbClr val="2F6DB5"/>
            </a:solidFill>
            <a:prstDash val="solid"/>
          </a:ln>
        </p:spPr>
      </p:sp>
      <p:sp>
        <p:nvSpPr>
          <p:cNvPr id="30" name="Text 28"/>
          <p:cNvSpPr txBox="1"/>
          <p:nvPr/>
        </p:nvSpPr>
        <p:spPr>
          <a:xfrm>
            <a:off x="7296912" y="1673352"/>
            <a:ext cx="1271016" cy="180975"/>
          </a:xfrm>
          <a:prstGeom prst="rect">
            <a:avLst/>
          </a:prstGeom>
          <a:noFill/>
          <a:ln/>
        </p:spPr>
        <p:txBody>
          <a:bodyPr wrap="square" lIns="0" tIns="0" rIns="0" bIns="0" rtlCol="0" anchor="ctr"/>
          <a:lstStyle/>
          <a:p>
            <a:pPr algn="ctr" indent="0" marL="0">
              <a:buNone/>
            </a:pPr>
            <a:r>
              <a:rPr lang="en-US" sz="950" b="1" dirty="0">
                <a:solidFill>
                  <a:srgbClr val="1F2D3D"/>
                </a:solidFill>
                <a:latin typeface="Malgun Gothic" pitchFamily="34" charset="0"/>
                <a:ea typeface="Malgun Gothic" pitchFamily="34" charset="-122"/>
                <a:cs typeface="Malgun Gothic" pitchFamily="34" charset="-120"/>
              </a:rPr>
              <a:t>silu</a:t>
            </a:r>
            <a:endParaRPr lang="en-US" sz="950" dirty="0"/>
          </a:p>
        </p:txBody>
      </p:sp>
      <p:sp>
        <p:nvSpPr>
          <p:cNvPr id="31" name="Text 29"/>
          <p:cNvSpPr txBox="1"/>
          <p:nvPr/>
        </p:nvSpPr>
        <p:spPr>
          <a:xfrm>
            <a:off x="7296912" y="1854327"/>
            <a:ext cx="12710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2,373 words (5단계 × 64행)</a:t>
            </a:r>
            <a:endParaRPr lang="en-US" sz="650" dirty="0"/>
          </a:p>
        </p:txBody>
      </p:sp>
      <p:sp>
        <p:nvSpPr>
          <p:cNvPr id="32" name="Shape 30"/>
          <p:cNvSpPr/>
          <p:nvPr/>
        </p:nvSpPr>
        <p:spPr>
          <a:xfrm>
            <a:off x="8641080" y="1828800"/>
            <a:ext cx="274320" cy="914"/>
          </a:xfrm>
          <a:prstGeom prst="line">
            <a:avLst/>
          </a:prstGeom>
          <a:noFill/>
          <a:ln w="12700">
            <a:solidFill>
              <a:srgbClr val="5B6B7F"/>
            </a:solidFill>
            <a:prstDash val="solid"/>
            <a:tailEnd type="triangle"/>
          </a:ln>
        </p:spPr>
      </p:sp>
      <p:sp>
        <p:nvSpPr>
          <p:cNvPr id="33" name="Shape 31"/>
          <p:cNvSpPr/>
          <p:nvPr/>
        </p:nvSpPr>
        <p:spPr>
          <a:xfrm>
            <a:off x="8933688" y="1600200"/>
            <a:ext cx="457200" cy="457200"/>
          </a:xfrm>
          <a:prstGeom prst="rect">
            <a:avLst/>
          </a:prstGeom>
          <a:solidFill>
            <a:srgbClr val="E5F3E7"/>
          </a:solidFill>
          <a:ln w="12700">
            <a:solidFill>
              <a:srgbClr val="2E7D32"/>
            </a:solidFill>
            <a:prstDash val="solid"/>
          </a:ln>
        </p:spPr>
      </p:sp>
      <p:sp>
        <p:nvSpPr>
          <p:cNvPr id="34" name="Shape 32"/>
          <p:cNvSpPr/>
          <p:nvPr/>
        </p:nvSpPr>
        <p:spPr>
          <a:xfrm>
            <a:off x="8933688" y="1600200"/>
            <a:ext cx="457200" cy="457200"/>
          </a:xfrm>
          <a:prstGeom prst="rect">
            <a:avLst/>
          </a:prstGeom>
          <a:solidFill>
            <a:srgbClr val="E5F3E7"/>
          </a:solidFill>
          <a:ln w="15875">
            <a:solidFill>
              <a:srgbClr val="2E7D32"/>
            </a:solidFill>
            <a:prstDash val="solid"/>
          </a:ln>
        </p:spPr>
      </p:sp>
      <p:sp>
        <p:nvSpPr>
          <p:cNvPr id="35" name="Text 33"/>
          <p:cNvSpPr txBox="1"/>
          <p:nvPr/>
        </p:nvSpPr>
        <p:spPr>
          <a:xfrm>
            <a:off x="8933688" y="1600200"/>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Y</a:t>
            </a:r>
            <a:endParaRPr lang="en-US" sz="800" dirty="0"/>
          </a:p>
        </p:txBody>
      </p:sp>
      <p:sp>
        <p:nvSpPr>
          <p:cNvPr id="36" name="Shape 34"/>
          <p:cNvSpPr/>
          <p:nvPr/>
        </p:nvSpPr>
        <p:spPr>
          <a:xfrm>
            <a:off x="9409176" y="1828800"/>
            <a:ext cx="256032" cy="914"/>
          </a:xfrm>
          <a:prstGeom prst="line">
            <a:avLst/>
          </a:prstGeom>
          <a:noFill/>
          <a:ln w="15240">
            <a:solidFill>
              <a:srgbClr val="D98A1E"/>
            </a:solidFill>
            <a:prstDash val="solid"/>
            <a:tailEnd type="triangle"/>
          </a:ln>
        </p:spPr>
      </p:sp>
      <p:sp>
        <p:nvSpPr>
          <p:cNvPr id="37" name="Text 35"/>
          <p:cNvSpPr txBox="1"/>
          <p:nvPr/>
        </p:nvSpPr>
        <p:spPr>
          <a:xfrm>
            <a:off x="9372600" y="1371600"/>
            <a:ext cx="640080" cy="182880"/>
          </a:xfrm>
          <a:prstGeom prst="rect">
            <a:avLst/>
          </a:prstGeom>
          <a:noFill/>
          <a:ln/>
        </p:spPr>
        <p:txBody>
          <a:bodyPr wrap="square" lIns="0" tIns="0" rIns="0" bIns="0" rtlCol="0" anchor="t"/>
          <a:lstStyle/>
          <a:p>
            <a:pPr algn="ctr" indent="0" marL="0">
              <a:buNone/>
            </a:pPr>
            <a:r>
              <a:rPr lang="en-US" sz="650" b="1" dirty="0">
                <a:solidFill>
                  <a:srgbClr val="D98A1E"/>
                </a:solidFill>
                <a:latin typeface="Malgun Gothic" pitchFamily="34" charset="0"/>
                <a:ea typeface="Malgun Gothic" pitchFamily="34" charset="-122"/>
                <a:cs typeface="Malgun Gothic" pitchFamily="34" charset="-120"/>
              </a:rPr>
              <a:t>GSTORE</a:t>
            </a:r>
            <a:endParaRPr lang="en-US" sz="650" dirty="0"/>
          </a:p>
        </p:txBody>
      </p:sp>
      <p:sp>
        <p:nvSpPr>
          <p:cNvPr id="38" name="Shape 36"/>
          <p:cNvSpPr/>
          <p:nvPr/>
        </p:nvSpPr>
        <p:spPr>
          <a:xfrm>
            <a:off x="9692640" y="1600200"/>
            <a:ext cx="731520" cy="457200"/>
          </a:xfrm>
          <a:prstGeom prst="roundRect">
            <a:avLst>
              <a:gd name="adj" fmla="val 12000"/>
            </a:avLst>
          </a:prstGeom>
          <a:solidFill>
            <a:srgbClr val="FFF1DC"/>
          </a:solidFill>
          <a:ln w="12700">
            <a:solidFill>
              <a:srgbClr val="D98A1E"/>
            </a:solidFill>
            <a:prstDash val="solid"/>
          </a:ln>
        </p:spPr>
      </p:sp>
      <p:sp>
        <p:nvSpPr>
          <p:cNvPr id="39" name="Text 37"/>
          <p:cNvSpPr txBox="1"/>
          <p:nvPr/>
        </p:nvSpPr>
        <p:spPr>
          <a:xfrm>
            <a:off x="9765792" y="167335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40" name="Text 38"/>
          <p:cNvSpPr txBox="1"/>
          <p:nvPr/>
        </p:nvSpPr>
        <p:spPr>
          <a:xfrm>
            <a:off x="9765792" y="184480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Y</a:t>
            </a:r>
            <a:endParaRPr lang="en-US" sz="650" dirty="0"/>
          </a:p>
        </p:txBody>
      </p:sp>
      <p:sp>
        <p:nvSpPr>
          <p:cNvPr id="41" name="Text 39"/>
          <p:cNvSpPr txBox="1"/>
          <p:nvPr/>
        </p:nvSpPr>
        <p:spPr>
          <a:xfrm>
            <a:off x="2743200" y="2377440"/>
            <a:ext cx="7772400" cy="201168"/>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커널 경계마다: 새 descriptor 설정 + P/A를 SRAM에서 다시 LOAD/SAVE (DRAM 왕복은 없음)</a:t>
            </a:r>
            <a:endParaRPr lang="en-US" sz="800" dirty="0"/>
          </a:p>
        </p:txBody>
      </p:sp>
      <p:sp>
        <p:nvSpPr>
          <p:cNvPr id="42" name="Text 40"/>
          <p:cNvSpPr txBox="1"/>
          <p:nvPr/>
        </p:nvSpPr>
        <p:spPr>
          <a:xfrm>
            <a:off x="457200" y="3017520"/>
            <a:ext cx="1188720" cy="54864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fusion auto</a:t>
            </a:r>
            <a:endParaRPr lang="en-US" sz="1000" dirty="0"/>
          </a:p>
          <a:p>
            <a:pPr algn="l" indent="0" marL="0">
              <a:buNone/>
            </a:pPr>
            <a:r>
              <a:rPr lang="en-US" sz="1000" b="1" dirty="0">
                <a:solidFill>
                  <a:srgbClr val="15243B"/>
                </a:solidFill>
                <a:latin typeface="Malgun Gothic" pitchFamily="34" charset="0"/>
                <a:ea typeface="Malgun Gothic" pitchFamily="34" charset="-122"/>
                <a:cs typeface="Malgun Gothic" pitchFamily="34" charset="-120"/>
              </a:rPr>
              <a:t>1 kernel</a:t>
            </a:r>
            <a:endParaRPr lang="en-US" sz="1000" dirty="0"/>
          </a:p>
        </p:txBody>
      </p:sp>
      <p:sp>
        <p:nvSpPr>
          <p:cNvPr id="43" name="Shape 41"/>
          <p:cNvSpPr/>
          <p:nvPr/>
        </p:nvSpPr>
        <p:spPr>
          <a:xfrm>
            <a:off x="1645920" y="3063240"/>
            <a:ext cx="731520" cy="457200"/>
          </a:xfrm>
          <a:prstGeom prst="roundRect">
            <a:avLst>
              <a:gd name="adj" fmla="val 12000"/>
            </a:avLst>
          </a:prstGeom>
          <a:solidFill>
            <a:srgbClr val="FFF1DC"/>
          </a:solidFill>
          <a:ln w="12700">
            <a:solidFill>
              <a:srgbClr val="D98A1E"/>
            </a:solidFill>
            <a:prstDash val="solid"/>
          </a:ln>
        </p:spPr>
      </p:sp>
      <p:sp>
        <p:nvSpPr>
          <p:cNvPr id="44" name="Text 42"/>
          <p:cNvSpPr txBox="1"/>
          <p:nvPr/>
        </p:nvSpPr>
        <p:spPr>
          <a:xfrm>
            <a:off x="1719072" y="313639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45" name="Text 43"/>
          <p:cNvSpPr txBox="1"/>
          <p:nvPr/>
        </p:nvSpPr>
        <p:spPr>
          <a:xfrm>
            <a:off x="1719072" y="330784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X, Wᵀ, bias</a:t>
            </a:r>
            <a:endParaRPr lang="en-US" sz="650" dirty="0"/>
          </a:p>
        </p:txBody>
      </p:sp>
      <p:sp>
        <p:nvSpPr>
          <p:cNvPr id="46" name="Shape 44"/>
          <p:cNvSpPr/>
          <p:nvPr/>
        </p:nvSpPr>
        <p:spPr>
          <a:xfrm>
            <a:off x="2395728" y="3291840"/>
            <a:ext cx="301752" cy="914"/>
          </a:xfrm>
          <a:prstGeom prst="line">
            <a:avLst/>
          </a:prstGeom>
          <a:noFill/>
          <a:ln w="15240">
            <a:solidFill>
              <a:srgbClr val="D98A1E"/>
            </a:solidFill>
            <a:prstDash val="solid"/>
            <a:tailEnd type="triangle"/>
          </a:ln>
        </p:spPr>
      </p:sp>
      <p:sp>
        <p:nvSpPr>
          <p:cNvPr id="47" name="Shape 45"/>
          <p:cNvSpPr/>
          <p:nvPr/>
        </p:nvSpPr>
        <p:spPr>
          <a:xfrm>
            <a:off x="2743200" y="2898648"/>
            <a:ext cx="6720840" cy="822960"/>
          </a:xfrm>
          <a:prstGeom prst="roundRect">
            <a:avLst>
              <a:gd name="adj" fmla="val 6667"/>
            </a:avLst>
          </a:prstGeom>
          <a:solidFill>
            <a:srgbClr val="EEF2F6"/>
          </a:solidFill>
          <a:ln w="12700">
            <a:solidFill>
              <a:srgbClr val="C9D3DF"/>
            </a:solidFill>
            <a:prstDash val="solid"/>
          </a:ln>
        </p:spPr>
      </p:sp>
      <p:sp>
        <p:nvSpPr>
          <p:cNvPr id="48" name="Text 46"/>
          <p:cNvSpPr txBox="1"/>
          <p:nvPr/>
        </p:nvSpPr>
        <p:spPr>
          <a:xfrm>
            <a:off x="2834640" y="2916936"/>
            <a:ext cx="3657600" cy="182880"/>
          </a:xfrm>
          <a:prstGeom prst="rect">
            <a:avLst/>
          </a:prstGeom>
          <a:noFill/>
          <a:ln/>
        </p:spPr>
        <p:txBody>
          <a:bodyPr wrap="square" lIns="0" tIns="0" rIns="0" bIns="0" rtlCol="0" anchor="t"/>
          <a:lstStyle/>
          <a:p>
            <a:pPr algn="l" indent="0" marL="0">
              <a:buNone/>
            </a:pPr>
            <a:r>
              <a:rPr lang="en-US" sz="800" b="1" dirty="0">
                <a:solidFill>
                  <a:srgbClr val="15243B"/>
                </a:solidFill>
                <a:latin typeface="Malgun Gothic" pitchFamily="34" charset="0"/>
                <a:ea typeface="Malgun Gothic" pitchFamily="34" charset="-122"/>
                <a:cs typeface="Malgun Gothic" pitchFamily="34" charset="-120"/>
              </a:rPr>
              <a:t>fused_matmul_add_silu  1,572 words</a:t>
            </a:r>
            <a:endParaRPr lang="en-US" sz="800" dirty="0"/>
          </a:p>
        </p:txBody>
      </p:sp>
      <p:sp>
        <p:nvSpPr>
          <p:cNvPr id="49" name="Shape 47"/>
          <p:cNvSpPr/>
          <p:nvPr/>
        </p:nvSpPr>
        <p:spPr>
          <a:xfrm>
            <a:off x="2834640" y="3136392"/>
            <a:ext cx="914400" cy="457200"/>
          </a:xfrm>
          <a:prstGeom prst="roundRect">
            <a:avLst>
              <a:gd name="adj" fmla="val 12000"/>
            </a:avLst>
          </a:prstGeom>
          <a:solidFill>
            <a:srgbClr val="ECE6FA"/>
          </a:solidFill>
          <a:ln w="12700">
            <a:solidFill>
              <a:srgbClr val="6C4FBF"/>
            </a:solidFill>
            <a:prstDash val="solid"/>
          </a:ln>
        </p:spPr>
      </p:sp>
      <p:sp>
        <p:nvSpPr>
          <p:cNvPr id="50" name="Text 48"/>
          <p:cNvSpPr txBox="1"/>
          <p:nvPr/>
        </p:nvSpPr>
        <p:spPr>
          <a:xfrm>
            <a:off x="2889504" y="3172968"/>
            <a:ext cx="804672" cy="384048"/>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matmul</a:t>
            </a:r>
            <a:endParaRPr lang="en-US" sz="900" dirty="0"/>
          </a:p>
        </p:txBody>
      </p:sp>
      <p:sp>
        <p:nvSpPr>
          <p:cNvPr id="51" name="Shape 49"/>
          <p:cNvSpPr/>
          <p:nvPr/>
        </p:nvSpPr>
        <p:spPr>
          <a:xfrm>
            <a:off x="3749040" y="3364992"/>
            <a:ext cx="228600" cy="914"/>
          </a:xfrm>
          <a:prstGeom prst="line">
            <a:avLst/>
          </a:prstGeom>
          <a:noFill/>
          <a:ln w="12700">
            <a:solidFill>
              <a:srgbClr val="5B6B7F"/>
            </a:solidFill>
            <a:prstDash val="solid"/>
            <a:tailEnd type="triangle"/>
          </a:ln>
        </p:spPr>
      </p:sp>
      <p:sp>
        <p:nvSpPr>
          <p:cNvPr id="52" name="Shape 50"/>
          <p:cNvSpPr/>
          <p:nvPr/>
        </p:nvSpPr>
        <p:spPr>
          <a:xfrm>
            <a:off x="3995928" y="3136392"/>
            <a:ext cx="457200" cy="457200"/>
          </a:xfrm>
          <a:prstGeom prst="rect">
            <a:avLst/>
          </a:prstGeom>
          <a:solidFill>
            <a:srgbClr val="DDF3F0"/>
          </a:solidFill>
          <a:ln w="12700">
            <a:solidFill>
              <a:srgbClr val="1F8A8A"/>
            </a:solidFill>
            <a:prstDash val="solid"/>
          </a:ln>
        </p:spPr>
      </p:sp>
      <p:sp>
        <p:nvSpPr>
          <p:cNvPr id="53" name="Shape 51"/>
          <p:cNvSpPr/>
          <p:nvPr/>
        </p:nvSpPr>
        <p:spPr>
          <a:xfrm>
            <a:off x="3995928" y="3136392"/>
            <a:ext cx="457200" cy="457200"/>
          </a:xfrm>
          <a:prstGeom prst="rect">
            <a:avLst/>
          </a:prstGeom>
          <a:solidFill>
            <a:srgbClr val="DDF3F0"/>
          </a:solidFill>
          <a:ln w="15875">
            <a:solidFill>
              <a:srgbClr val="1F8A8A"/>
            </a:solidFill>
            <a:prstDash val="solid"/>
          </a:ln>
        </p:spPr>
      </p:sp>
      <p:sp>
        <p:nvSpPr>
          <p:cNvPr id="54" name="Text 52"/>
          <p:cNvSpPr txBox="1"/>
          <p:nvPr/>
        </p:nvSpPr>
        <p:spPr>
          <a:xfrm>
            <a:off x="3995928" y="3136392"/>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P</a:t>
            </a:r>
            <a:endParaRPr lang="en-US" sz="800" dirty="0"/>
          </a:p>
        </p:txBody>
      </p:sp>
      <p:sp>
        <p:nvSpPr>
          <p:cNvPr id="55" name="Shape 53"/>
          <p:cNvSpPr/>
          <p:nvPr/>
        </p:nvSpPr>
        <p:spPr>
          <a:xfrm>
            <a:off x="4471416" y="3364992"/>
            <a:ext cx="210312" cy="914"/>
          </a:xfrm>
          <a:prstGeom prst="line">
            <a:avLst/>
          </a:prstGeom>
          <a:noFill/>
          <a:ln w="12700">
            <a:solidFill>
              <a:srgbClr val="5B6B7F"/>
            </a:solidFill>
            <a:prstDash val="solid"/>
            <a:tailEnd type="triangle"/>
          </a:ln>
        </p:spPr>
      </p:sp>
      <p:sp>
        <p:nvSpPr>
          <p:cNvPr id="56" name="Shape 54"/>
          <p:cNvSpPr/>
          <p:nvPr/>
        </p:nvSpPr>
        <p:spPr>
          <a:xfrm>
            <a:off x="4709160" y="3136392"/>
            <a:ext cx="822960" cy="457200"/>
          </a:xfrm>
          <a:prstGeom prst="roundRect">
            <a:avLst>
              <a:gd name="adj" fmla="val 12000"/>
            </a:avLst>
          </a:prstGeom>
          <a:solidFill>
            <a:srgbClr val="E3EEFB"/>
          </a:solidFill>
          <a:ln w="12700">
            <a:solidFill>
              <a:srgbClr val="2F6DB5"/>
            </a:solidFill>
            <a:prstDash val="solid"/>
          </a:ln>
        </p:spPr>
      </p:sp>
      <p:sp>
        <p:nvSpPr>
          <p:cNvPr id="57" name="Text 55"/>
          <p:cNvSpPr txBox="1"/>
          <p:nvPr/>
        </p:nvSpPr>
        <p:spPr>
          <a:xfrm>
            <a:off x="4764024" y="3172968"/>
            <a:ext cx="713232" cy="384048"/>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add</a:t>
            </a:r>
            <a:endParaRPr lang="en-US" sz="900" dirty="0"/>
          </a:p>
        </p:txBody>
      </p:sp>
      <p:sp>
        <p:nvSpPr>
          <p:cNvPr id="58" name="Shape 56"/>
          <p:cNvSpPr/>
          <p:nvPr/>
        </p:nvSpPr>
        <p:spPr>
          <a:xfrm>
            <a:off x="5532120" y="3364992"/>
            <a:ext cx="228600" cy="914"/>
          </a:xfrm>
          <a:prstGeom prst="line">
            <a:avLst/>
          </a:prstGeom>
          <a:noFill/>
          <a:ln w="12700">
            <a:solidFill>
              <a:srgbClr val="5B6B7F"/>
            </a:solidFill>
            <a:prstDash val="solid"/>
            <a:tailEnd type="triangle"/>
          </a:ln>
        </p:spPr>
      </p:sp>
      <p:sp>
        <p:nvSpPr>
          <p:cNvPr id="59" name="Shape 57"/>
          <p:cNvSpPr/>
          <p:nvPr/>
        </p:nvSpPr>
        <p:spPr>
          <a:xfrm>
            <a:off x="5779008" y="3136392"/>
            <a:ext cx="457200" cy="457200"/>
          </a:xfrm>
          <a:prstGeom prst="rect">
            <a:avLst/>
          </a:prstGeom>
          <a:solidFill>
            <a:srgbClr val="DDF3F0"/>
          </a:solidFill>
          <a:ln w="12700">
            <a:solidFill>
              <a:srgbClr val="1F8A8A"/>
            </a:solidFill>
            <a:prstDash val="solid"/>
          </a:ln>
        </p:spPr>
      </p:sp>
      <p:sp>
        <p:nvSpPr>
          <p:cNvPr id="60" name="Shape 58"/>
          <p:cNvSpPr/>
          <p:nvPr/>
        </p:nvSpPr>
        <p:spPr>
          <a:xfrm>
            <a:off x="5779008" y="3136392"/>
            <a:ext cx="457200" cy="457200"/>
          </a:xfrm>
          <a:prstGeom prst="rect">
            <a:avLst/>
          </a:prstGeom>
          <a:solidFill>
            <a:srgbClr val="DDF3F0"/>
          </a:solidFill>
          <a:ln w="15875">
            <a:solidFill>
              <a:srgbClr val="1F8A8A"/>
            </a:solidFill>
            <a:prstDash val="solid"/>
          </a:ln>
        </p:spPr>
      </p:sp>
      <p:sp>
        <p:nvSpPr>
          <p:cNvPr id="61" name="Text 59"/>
          <p:cNvSpPr txBox="1"/>
          <p:nvPr/>
        </p:nvSpPr>
        <p:spPr>
          <a:xfrm>
            <a:off x="5779008" y="3136392"/>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a:t>
            </a:r>
            <a:endParaRPr lang="en-US" sz="800" dirty="0"/>
          </a:p>
        </p:txBody>
      </p:sp>
      <p:sp>
        <p:nvSpPr>
          <p:cNvPr id="62" name="Shape 60"/>
          <p:cNvSpPr/>
          <p:nvPr/>
        </p:nvSpPr>
        <p:spPr>
          <a:xfrm>
            <a:off x="6254496" y="3364992"/>
            <a:ext cx="210312" cy="914"/>
          </a:xfrm>
          <a:prstGeom prst="line">
            <a:avLst/>
          </a:prstGeom>
          <a:noFill/>
          <a:ln w="12700">
            <a:solidFill>
              <a:srgbClr val="5B6B7F"/>
            </a:solidFill>
            <a:prstDash val="solid"/>
            <a:tailEnd type="triangle"/>
          </a:ln>
        </p:spPr>
      </p:sp>
      <p:sp>
        <p:nvSpPr>
          <p:cNvPr id="63" name="Shape 61"/>
          <p:cNvSpPr/>
          <p:nvPr/>
        </p:nvSpPr>
        <p:spPr>
          <a:xfrm>
            <a:off x="6492240" y="3136392"/>
            <a:ext cx="1600200" cy="457200"/>
          </a:xfrm>
          <a:prstGeom prst="roundRect">
            <a:avLst>
              <a:gd name="adj" fmla="val 12000"/>
            </a:avLst>
          </a:prstGeom>
          <a:solidFill>
            <a:srgbClr val="E3EEFB"/>
          </a:solidFill>
          <a:ln w="12700">
            <a:solidFill>
              <a:srgbClr val="2F6DB5"/>
            </a:solidFill>
            <a:prstDash val="solid"/>
          </a:ln>
        </p:spPr>
      </p:sp>
      <p:sp>
        <p:nvSpPr>
          <p:cNvPr id="64" name="Text 62"/>
          <p:cNvSpPr txBox="1"/>
          <p:nvPr/>
        </p:nvSpPr>
        <p:spPr>
          <a:xfrm>
            <a:off x="6547104" y="3172968"/>
            <a:ext cx="1490472" cy="384048"/>
          </a:xfrm>
          <a:prstGeom prst="rect">
            <a:avLst/>
          </a:prstGeom>
          <a:noFill/>
          <a:ln/>
        </p:spPr>
        <p:txBody>
          <a:bodyPr wrap="square" lIns="0" tIns="0" rIns="0" bIns="0" rtlCol="0" anchor="ctr"/>
          <a:lstStyle/>
          <a:p>
            <a:pPr algn="ctr" indent="0" marL="0">
              <a:buNone/>
            </a:pPr>
            <a:r>
              <a:rPr lang="en-US" sz="850" b="1" dirty="0">
                <a:solidFill>
                  <a:srgbClr val="1F2D3D"/>
                </a:solidFill>
                <a:latin typeface="Malgun Gothic" pitchFamily="34" charset="0"/>
                <a:ea typeface="Malgun Gothic" pitchFamily="34" charset="-122"/>
                <a:cs typeface="Malgun Gothic" pitchFamily="34" charset="-120"/>
              </a:rPr>
              <a:t>silu (VLEN 128, 32행)</a:t>
            </a:r>
            <a:endParaRPr lang="en-US" sz="850" dirty="0"/>
          </a:p>
        </p:txBody>
      </p:sp>
      <p:sp>
        <p:nvSpPr>
          <p:cNvPr id="65" name="Shape 63"/>
          <p:cNvSpPr/>
          <p:nvPr/>
        </p:nvSpPr>
        <p:spPr>
          <a:xfrm>
            <a:off x="8092440" y="3364992"/>
            <a:ext cx="228600" cy="914"/>
          </a:xfrm>
          <a:prstGeom prst="line">
            <a:avLst/>
          </a:prstGeom>
          <a:noFill/>
          <a:ln w="12700">
            <a:solidFill>
              <a:srgbClr val="5B6B7F"/>
            </a:solidFill>
            <a:prstDash val="solid"/>
            <a:tailEnd type="triangle"/>
          </a:ln>
        </p:spPr>
      </p:sp>
      <p:sp>
        <p:nvSpPr>
          <p:cNvPr id="66" name="Shape 64"/>
          <p:cNvSpPr/>
          <p:nvPr/>
        </p:nvSpPr>
        <p:spPr>
          <a:xfrm>
            <a:off x="8339328" y="3136392"/>
            <a:ext cx="457200" cy="457200"/>
          </a:xfrm>
          <a:prstGeom prst="rect">
            <a:avLst/>
          </a:prstGeom>
          <a:solidFill>
            <a:srgbClr val="E5F3E7"/>
          </a:solidFill>
          <a:ln w="12700">
            <a:solidFill>
              <a:srgbClr val="2E7D32"/>
            </a:solidFill>
            <a:prstDash val="solid"/>
          </a:ln>
        </p:spPr>
      </p:sp>
      <p:sp>
        <p:nvSpPr>
          <p:cNvPr id="67" name="Shape 65"/>
          <p:cNvSpPr/>
          <p:nvPr/>
        </p:nvSpPr>
        <p:spPr>
          <a:xfrm>
            <a:off x="8339328" y="3136392"/>
            <a:ext cx="457200" cy="457200"/>
          </a:xfrm>
          <a:prstGeom prst="rect">
            <a:avLst/>
          </a:prstGeom>
          <a:solidFill>
            <a:srgbClr val="E5F3E7"/>
          </a:solidFill>
          <a:ln w="15875">
            <a:solidFill>
              <a:srgbClr val="2E7D32"/>
            </a:solidFill>
            <a:prstDash val="solid"/>
          </a:ln>
        </p:spPr>
      </p:sp>
      <p:sp>
        <p:nvSpPr>
          <p:cNvPr id="68" name="Text 66"/>
          <p:cNvSpPr txBox="1"/>
          <p:nvPr/>
        </p:nvSpPr>
        <p:spPr>
          <a:xfrm>
            <a:off x="8339328" y="3136392"/>
            <a:ext cx="457200" cy="45720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Y</a:t>
            </a:r>
            <a:endParaRPr lang="en-US" sz="800" dirty="0"/>
          </a:p>
        </p:txBody>
      </p:sp>
      <p:sp>
        <p:nvSpPr>
          <p:cNvPr id="69" name="Shape 67"/>
          <p:cNvSpPr/>
          <p:nvPr/>
        </p:nvSpPr>
        <p:spPr>
          <a:xfrm>
            <a:off x="9482328" y="3291840"/>
            <a:ext cx="301752" cy="914"/>
          </a:xfrm>
          <a:prstGeom prst="line">
            <a:avLst/>
          </a:prstGeom>
          <a:noFill/>
          <a:ln w="15240">
            <a:solidFill>
              <a:srgbClr val="D98A1E"/>
            </a:solidFill>
            <a:prstDash val="solid"/>
            <a:tailEnd type="triangle"/>
          </a:ln>
        </p:spPr>
      </p:sp>
      <p:sp>
        <p:nvSpPr>
          <p:cNvPr id="70" name="Shape 68"/>
          <p:cNvSpPr/>
          <p:nvPr/>
        </p:nvSpPr>
        <p:spPr>
          <a:xfrm>
            <a:off x="9829800" y="3063240"/>
            <a:ext cx="731520" cy="457200"/>
          </a:xfrm>
          <a:prstGeom prst="roundRect">
            <a:avLst>
              <a:gd name="adj" fmla="val 12000"/>
            </a:avLst>
          </a:prstGeom>
          <a:solidFill>
            <a:srgbClr val="FFF1DC"/>
          </a:solidFill>
          <a:ln w="12700">
            <a:solidFill>
              <a:srgbClr val="D98A1E"/>
            </a:solidFill>
            <a:prstDash val="solid"/>
          </a:ln>
        </p:spPr>
      </p:sp>
      <p:sp>
        <p:nvSpPr>
          <p:cNvPr id="71" name="Text 69"/>
          <p:cNvSpPr txBox="1"/>
          <p:nvPr/>
        </p:nvSpPr>
        <p:spPr>
          <a:xfrm>
            <a:off x="9902952" y="3136392"/>
            <a:ext cx="585216" cy="171450"/>
          </a:xfrm>
          <a:prstGeom prst="rect">
            <a:avLst/>
          </a:prstGeom>
          <a:noFill/>
          <a:ln/>
        </p:spPr>
        <p:txBody>
          <a:bodyPr wrap="square" lIns="0" tIns="0" rIns="0" bIns="0" rtlCol="0" anchor="ctr"/>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DRAM</a:t>
            </a:r>
            <a:endParaRPr lang="en-US" sz="900" dirty="0"/>
          </a:p>
        </p:txBody>
      </p:sp>
      <p:sp>
        <p:nvSpPr>
          <p:cNvPr id="72" name="Text 70"/>
          <p:cNvSpPr txBox="1"/>
          <p:nvPr/>
        </p:nvSpPr>
        <p:spPr>
          <a:xfrm>
            <a:off x="9902952" y="3307842"/>
            <a:ext cx="585216" cy="182880"/>
          </a:xfrm>
          <a:prstGeom prst="rect">
            <a:avLst/>
          </a:prstGeom>
          <a:noFill/>
          <a:ln/>
        </p:spPr>
        <p:txBody>
          <a:bodyPr wrap="square" lIns="0" tIns="0" rIns="0" bIns="0" rtlCol="0" anchor="t"/>
          <a:lstStyle/>
          <a:p>
            <a:pPr algn="ctr" indent="0" marL="0">
              <a:buNone/>
            </a:pPr>
            <a:r>
              <a:rPr lang="en-US" sz="650" dirty="0">
                <a:solidFill>
                  <a:srgbClr val="5B6B7F"/>
                </a:solidFill>
                <a:latin typeface="Malgun Gothic" pitchFamily="34" charset="0"/>
                <a:ea typeface="Malgun Gothic" pitchFamily="34" charset="-122"/>
                <a:cs typeface="Malgun Gothic" pitchFamily="34" charset="-120"/>
              </a:rPr>
              <a:t>Y</a:t>
            </a:r>
            <a:endParaRPr lang="en-US" sz="650" dirty="0"/>
          </a:p>
        </p:txBody>
      </p:sp>
      <p:sp>
        <p:nvSpPr>
          <p:cNvPr id="73" name="Text 71"/>
          <p:cNvSpPr txBox="1"/>
          <p:nvPr/>
        </p:nvSpPr>
        <p:spPr>
          <a:xfrm>
            <a:off x="2743200" y="3840480"/>
            <a:ext cx="7772400" cy="201168"/>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한 커널 안에서 이어짐: descriptor 반복 감소, 축 결합으로 vector 행 64 → 128 (명령 수 절반), USMP offset 공유</a:t>
            </a:r>
            <a:endParaRPr lang="en-US" sz="800" dirty="0"/>
          </a:p>
        </p:txBody>
      </p:sp>
      <p:sp>
        <p:nvSpPr>
          <p:cNvPr id="74" name="Text 72"/>
          <p:cNvSpPr txBox="1"/>
          <p:nvPr/>
        </p:nvSpPr>
        <p:spPr>
          <a:xfrm>
            <a:off x="457200" y="4279392"/>
            <a:ext cx="1188720" cy="45720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SRAM peak</a:t>
            </a:r>
            <a:endParaRPr lang="en-US" sz="1000" dirty="0"/>
          </a:p>
        </p:txBody>
      </p:sp>
      <p:sp>
        <p:nvSpPr>
          <p:cNvPr id="75" name="Shape 73"/>
          <p:cNvSpPr/>
          <p:nvPr/>
        </p:nvSpPr>
        <p:spPr>
          <a:xfrm>
            <a:off x="1645920" y="4297680"/>
            <a:ext cx="3657600" cy="274320"/>
          </a:xfrm>
          <a:prstGeom prst="rect">
            <a:avLst/>
          </a:prstGeom>
          <a:solidFill>
            <a:srgbClr val="EEF2F6"/>
          </a:solidFill>
          <a:ln w="9525">
            <a:solidFill>
              <a:srgbClr val="C9D3DF"/>
            </a:solidFill>
            <a:prstDash val="solid"/>
          </a:ln>
        </p:spPr>
      </p:sp>
      <p:sp>
        <p:nvSpPr>
          <p:cNvPr id="76" name="Shape 74"/>
          <p:cNvSpPr/>
          <p:nvPr/>
        </p:nvSpPr>
        <p:spPr>
          <a:xfrm>
            <a:off x="1645920" y="4297680"/>
            <a:ext cx="3657600" cy="274320"/>
          </a:xfrm>
          <a:prstGeom prst="rect">
            <a:avLst/>
          </a:prstGeom>
          <a:solidFill>
            <a:srgbClr val="E3EEFB"/>
          </a:solidFill>
          <a:ln w="12700">
            <a:solidFill>
              <a:srgbClr val="2F6DB5"/>
            </a:solidFill>
            <a:prstDash val="solid"/>
          </a:ln>
        </p:spPr>
      </p:sp>
      <p:sp>
        <p:nvSpPr>
          <p:cNvPr id="77" name="Text 75"/>
          <p:cNvSpPr txBox="1"/>
          <p:nvPr/>
        </p:nvSpPr>
        <p:spPr>
          <a:xfrm>
            <a:off x="1645920" y="4297680"/>
            <a:ext cx="3657600" cy="2743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off 50,700 B</a:t>
            </a:r>
            <a:endParaRPr lang="en-US" sz="800" dirty="0"/>
          </a:p>
        </p:txBody>
      </p:sp>
      <p:sp>
        <p:nvSpPr>
          <p:cNvPr id="78" name="Shape 76"/>
          <p:cNvSpPr/>
          <p:nvPr/>
        </p:nvSpPr>
        <p:spPr>
          <a:xfrm>
            <a:off x="1645920" y="4663440"/>
            <a:ext cx="3657600" cy="274320"/>
          </a:xfrm>
          <a:prstGeom prst="rect">
            <a:avLst/>
          </a:prstGeom>
          <a:solidFill>
            <a:srgbClr val="EEF2F6"/>
          </a:solidFill>
          <a:ln w="9525">
            <a:solidFill>
              <a:srgbClr val="C9D3DF"/>
            </a:solidFill>
            <a:prstDash val="solid"/>
          </a:ln>
        </p:spPr>
      </p:sp>
      <p:sp>
        <p:nvSpPr>
          <p:cNvPr id="79" name="Shape 77"/>
          <p:cNvSpPr/>
          <p:nvPr/>
        </p:nvSpPr>
        <p:spPr>
          <a:xfrm>
            <a:off x="1645920" y="4663440"/>
            <a:ext cx="3066613" cy="274320"/>
          </a:xfrm>
          <a:prstGeom prst="rect">
            <a:avLst/>
          </a:prstGeom>
          <a:solidFill>
            <a:srgbClr val="DDF3F0"/>
          </a:solidFill>
          <a:ln w="12700">
            <a:solidFill>
              <a:srgbClr val="1F8A8A"/>
            </a:solidFill>
            <a:prstDash val="solid"/>
          </a:ln>
        </p:spPr>
      </p:sp>
      <p:sp>
        <p:nvSpPr>
          <p:cNvPr id="80" name="Text 78"/>
          <p:cNvSpPr txBox="1"/>
          <p:nvPr/>
        </p:nvSpPr>
        <p:spPr>
          <a:xfrm>
            <a:off x="1645920" y="4663440"/>
            <a:ext cx="3066613" cy="274320"/>
          </a:xfrm>
          <a:prstGeom prst="rect">
            <a:avLst/>
          </a:prstGeom>
          <a:noFill/>
          <a:ln/>
        </p:spPr>
        <p:txBody>
          <a:bodyPr wrap="square" lIns="0" tIns="0" rIns="0" bIns="0" rtlCol="0" anchor="ctr"/>
          <a:lstStyle/>
          <a:p>
            <a:pPr algn="ctr" indent="0" marL="0">
              <a:buNone/>
            </a:pPr>
            <a:r>
              <a:rPr lang="en-US" sz="800" b="1" dirty="0">
                <a:solidFill>
                  <a:srgbClr val="1F2D3D"/>
                </a:solidFill>
                <a:latin typeface="Malgun Gothic" pitchFamily="34" charset="0"/>
                <a:ea typeface="Malgun Gothic" pitchFamily="34" charset="-122"/>
                <a:cs typeface="Malgun Gothic" pitchFamily="34" charset="-120"/>
              </a:rPr>
              <a:t>auto 42,508 B</a:t>
            </a:r>
            <a:endParaRPr lang="en-US" sz="800" dirty="0"/>
          </a:p>
        </p:txBody>
      </p:sp>
      <p:sp>
        <p:nvSpPr>
          <p:cNvPr id="81" name="Text 79"/>
          <p:cNvSpPr txBox="1"/>
          <p:nvPr/>
        </p:nvSpPr>
        <p:spPr>
          <a:xfrm>
            <a:off x="5486400" y="4279392"/>
            <a:ext cx="914400" cy="457200"/>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words</a:t>
            </a:r>
            <a:endParaRPr lang="en-US" sz="1000" dirty="0"/>
          </a:p>
        </p:txBody>
      </p:sp>
      <p:sp>
        <p:nvSpPr>
          <p:cNvPr id="82" name="Shape 80"/>
          <p:cNvSpPr/>
          <p:nvPr/>
        </p:nvSpPr>
        <p:spPr>
          <a:xfrm>
            <a:off x="6126480" y="4297680"/>
            <a:ext cx="4434840" cy="274320"/>
          </a:xfrm>
          <a:prstGeom prst="rect">
            <a:avLst/>
          </a:prstGeom>
          <a:solidFill>
            <a:srgbClr val="EEF2F6"/>
          </a:solidFill>
          <a:ln w="9525">
            <a:solidFill>
              <a:srgbClr val="C9D3DF"/>
            </a:solidFill>
            <a:prstDash val="solid"/>
          </a:ln>
        </p:spPr>
      </p:sp>
      <p:sp>
        <p:nvSpPr>
          <p:cNvPr id="83" name="Shape 81"/>
          <p:cNvSpPr/>
          <p:nvPr/>
        </p:nvSpPr>
        <p:spPr>
          <a:xfrm>
            <a:off x="6126480" y="4297680"/>
            <a:ext cx="67816" cy="274320"/>
          </a:xfrm>
          <a:prstGeom prst="rect">
            <a:avLst/>
          </a:prstGeom>
          <a:solidFill>
            <a:srgbClr val="ECE6FA"/>
          </a:solidFill>
          <a:ln w="12700">
            <a:solidFill>
              <a:srgbClr val="6C4FBF"/>
            </a:solidFill>
            <a:prstDash val="solid"/>
          </a:ln>
        </p:spPr>
      </p:sp>
      <p:sp>
        <p:nvSpPr>
          <p:cNvPr id="84" name="Shape 82"/>
          <p:cNvSpPr/>
          <p:nvPr/>
        </p:nvSpPr>
        <p:spPr>
          <a:xfrm>
            <a:off x="6194296" y="4297680"/>
            <a:ext cx="616651" cy="274320"/>
          </a:xfrm>
          <a:prstGeom prst="rect">
            <a:avLst/>
          </a:prstGeom>
          <a:solidFill>
            <a:srgbClr val="E3EEFB"/>
          </a:solidFill>
          <a:ln w="12700">
            <a:solidFill>
              <a:srgbClr val="2F6DB5"/>
            </a:solidFill>
            <a:prstDash val="solid"/>
          </a:ln>
        </p:spPr>
      </p:sp>
      <p:sp>
        <p:nvSpPr>
          <p:cNvPr id="85" name="Text 83"/>
          <p:cNvSpPr txBox="1"/>
          <p:nvPr/>
        </p:nvSpPr>
        <p:spPr>
          <a:xfrm>
            <a:off x="6194296" y="4297680"/>
            <a:ext cx="616651" cy="2743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391</a:t>
            </a:r>
            <a:endParaRPr lang="en-US" sz="750" dirty="0"/>
          </a:p>
        </p:txBody>
      </p:sp>
      <p:sp>
        <p:nvSpPr>
          <p:cNvPr id="86" name="Shape 84"/>
          <p:cNvSpPr/>
          <p:nvPr/>
        </p:nvSpPr>
        <p:spPr>
          <a:xfrm>
            <a:off x="6810947" y="4297680"/>
            <a:ext cx="3742488" cy="274320"/>
          </a:xfrm>
          <a:prstGeom prst="rect">
            <a:avLst/>
          </a:prstGeom>
          <a:solidFill>
            <a:srgbClr val="E3EEFB"/>
          </a:solidFill>
          <a:ln w="12700">
            <a:solidFill>
              <a:srgbClr val="2F6DB5"/>
            </a:solidFill>
            <a:prstDash val="solid"/>
          </a:ln>
        </p:spPr>
      </p:sp>
      <p:sp>
        <p:nvSpPr>
          <p:cNvPr id="87" name="Text 85"/>
          <p:cNvSpPr txBox="1"/>
          <p:nvPr/>
        </p:nvSpPr>
        <p:spPr>
          <a:xfrm>
            <a:off x="6810947" y="4297680"/>
            <a:ext cx="3742488" cy="2743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silu 2,373</a:t>
            </a:r>
            <a:endParaRPr lang="en-US" sz="750" dirty="0"/>
          </a:p>
        </p:txBody>
      </p:sp>
      <p:sp>
        <p:nvSpPr>
          <p:cNvPr id="88" name="Shape 86"/>
          <p:cNvSpPr/>
          <p:nvPr/>
        </p:nvSpPr>
        <p:spPr>
          <a:xfrm>
            <a:off x="10553434" y="4297680"/>
            <a:ext cx="7886" cy="274320"/>
          </a:xfrm>
          <a:prstGeom prst="rect">
            <a:avLst/>
          </a:prstGeom>
          <a:solidFill>
            <a:srgbClr val="EEF2F6"/>
          </a:solidFill>
          <a:ln w="12700">
            <a:solidFill>
              <a:srgbClr val="C9D3DF"/>
            </a:solidFill>
            <a:prstDash val="solid"/>
          </a:ln>
        </p:spPr>
      </p:sp>
      <p:sp>
        <p:nvSpPr>
          <p:cNvPr id="89" name="Shape 87"/>
          <p:cNvSpPr/>
          <p:nvPr/>
        </p:nvSpPr>
        <p:spPr>
          <a:xfrm>
            <a:off x="6126480" y="4663440"/>
            <a:ext cx="4434840" cy="274320"/>
          </a:xfrm>
          <a:prstGeom prst="rect">
            <a:avLst/>
          </a:prstGeom>
          <a:solidFill>
            <a:srgbClr val="EEF2F6"/>
          </a:solidFill>
          <a:ln w="9525">
            <a:solidFill>
              <a:srgbClr val="C9D3DF"/>
            </a:solidFill>
            <a:prstDash val="solid"/>
          </a:ln>
        </p:spPr>
      </p:sp>
      <p:sp>
        <p:nvSpPr>
          <p:cNvPr id="90" name="Shape 88"/>
          <p:cNvSpPr/>
          <p:nvPr/>
        </p:nvSpPr>
        <p:spPr>
          <a:xfrm>
            <a:off x="6126480" y="4663440"/>
            <a:ext cx="2487106" cy="274320"/>
          </a:xfrm>
          <a:prstGeom prst="rect">
            <a:avLst/>
          </a:prstGeom>
          <a:solidFill>
            <a:srgbClr val="DDF3F0"/>
          </a:solidFill>
          <a:ln w="12700">
            <a:solidFill>
              <a:srgbClr val="1F8A8A"/>
            </a:solidFill>
            <a:prstDash val="solid"/>
          </a:ln>
        </p:spPr>
      </p:sp>
      <p:sp>
        <p:nvSpPr>
          <p:cNvPr id="91" name="Text 89"/>
          <p:cNvSpPr txBox="1"/>
          <p:nvPr/>
        </p:nvSpPr>
        <p:spPr>
          <a:xfrm>
            <a:off x="6126480" y="4663440"/>
            <a:ext cx="2487106" cy="274320"/>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fused 1,577</a:t>
            </a:r>
            <a:endParaRPr lang="en-US" sz="750" dirty="0"/>
          </a:p>
        </p:txBody>
      </p:sp>
      <p:sp>
        <p:nvSpPr>
          <p:cNvPr id="92" name="Text 90"/>
          <p:cNvSpPr txBox="1"/>
          <p:nvPr/>
        </p:nvSpPr>
        <p:spPr>
          <a:xfrm>
            <a:off x="457200" y="5074920"/>
            <a:ext cx="6217920" cy="219456"/>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선택 규칙: cost = (DMA bytes, words, SRAM peak) 사전식 · 영역 검사(npu_fusion.select) → 전체 module 비교(lower_and_select)</a:t>
            </a:r>
            <a:endParaRPr lang="en-US" sz="850" dirty="0"/>
          </a:p>
        </p:txBody>
      </p:sp>
      <p:sp>
        <p:nvSpPr>
          <p:cNvPr id="93" name="Text 91"/>
          <p:cNvSpPr txBox="1"/>
          <p:nvPr/>
        </p:nvSpPr>
        <p:spPr>
          <a:xfrm>
            <a:off x="457200" y="5349240"/>
            <a:ext cx="6217920" cy="45720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요청한 entry가 모두 비악화 + 하나 이상 개선일 때 채택. 기본 시간 120초 / E10은 prefill만, 시간 제한 None.</a:t>
            </a:r>
            <a:endParaRPr lang="en-US" sz="800" dirty="0"/>
          </a:p>
        </p:txBody>
      </p:sp>
      <p:sp>
        <p:nvSpPr>
          <p:cNvPr id="94" name="Text 92"/>
          <p:cNvSpPr txBox="1"/>
          <p:nvPr/>
        </p:nvSpPr>
        <p:spPr>
          <a:xfrm>
            <a:off x="6629400" y="5010912"/>
            <a:ext cx="4389120" cy="182880"/>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27 조합 → 같은 IR인 source 제거(회색 18, E10 prefill) → 9 구성 · ✓⏱ 과거 7-token 기록</a:t>
            </a:r>
            <a:endParaRPr lang="en-US" sz="700" dirty="0"/>
          </a:p>
        </p:txBody>
      </p:sp>
      <p:sp>
        <p:nvSpPr>
          <p:cNvPr id="95" name="Shape 93"/>
          <p:cNvSpPr/>
          <p:nvPr/>
        </p:nvSpPr>
        <p:spPr>
          <a:xfrm>
            <a:off x="7178040" y="5212080"/>
            <a:ext cx="3840480" cy="548640"/>
          </a:xfrm>
          <a:prstGeom prst="rect">
            <a:avLst/>
          </a:prstGeom>
          <a:solidFill>
            <a:srgbClr val="E3EEFB"/>
          </a:solidFill>
          <a:ln w="12700">
            <a:solidFill>
              <a:srgbClr val="2F6DB5"/>
            </a:solidFill>
            <a:prstDash val="solid"/>
          </a:ln>
        </p:spPr>
      </p:sp>
      <p:sp>
        <p:nvSpPr>
          <p:cNvPr id="96" name="Shape 94"/>
          <p:cNvSpPr/>
          <p:nvPr/>
        </p:nvSpPr>
        <p:spPr>
          <a:xfrm>
            <a:off x="8458200" y="5212080"/>
            <a:ext cx="2560320" cy="548640"/>
          </a:xfrm>
          <a:prstGeom prst="rect">
            <a:avLst/>
          </a:prstGeom>
          <a:solidFill>
            <a:srgbClr val="F3F5F8"/>
          </a:solidFill>
          <a:ln w="15875">
            <a:solidFill>
              <a:srgbClr val="C9D3DF"/>
            </a:solidFill>
            <a:prstDash val="dash"/>
          </a:ln>
        </p:spPr>
      </p:sp>
      <p:sp>
        <p:nvSpPr>
          <p:cNvPr id="97" name="Shape 95"/>
          <p:cNvSpPr/>
          <p:nvPr/>
        </p:nvSpPr>
        <p:spPr>
          <a:xfrm>
            <a:off x="7178040" y="5212080"/>
            <a:ext cx="426720" cy="182880"/>
          </a:xfrm>
          <a:prstGeom prst="rect">
            <a:avLst/>
          </a:prstGeom>
          <a:solidFill>
            <a:srgbClr val="E5F3E7"/>
          </a:solidFill>
          <a:ln w="15875">
            <a:solidFill>
              <a:srgbClr val="2E7D32"/>
            </a:solidFill>
            <a:prstDash val="solid"/>
          </a:ln>
        </p:spPr>
      </p:sp>
      <p:sp>
        <p:nvSpPr>
          <p:cNvPr id="98" name="Shape 96"/>
          <p:cNvSpPr/>
          <p:nvPr/>
        </p:nvSpPr>
        <p:spPr>
          <a:xfrm>
            <a:off x="7604760" y="5212080"/>
            <a:ext cx="426720" cy="182880"/>
          </a:xfrm>
          <a:prstGeom prst="rect">
            <a:avLst/>
          </a:prstGeom>
          <a:solidFill>
            <a:srgbClr val="FFF6DB"/>
          </a:solidFill>
          <a:ln w="15875">
            <a:solidFill>
              <a:srgbClr val="B7791F"/>
            </a:solidFill>
            <a:prstDash val="solid"/>
          </a:ln>
        </p:spPr>
      </p:sp>
      <p:sp>
        <p:nvSpPr>
          <p:cNvPr id="99" name="Shape 97"/>
          <p:cNvSpPr/>
          <p:nvPr/>
        </p:nvSpPr>
        <p:spPr>
          <a:xfrm>
            <a:off x="7604760" y="5212080"/>
            <a:ext cx="914" cy="548640"/>
          </a:xfrm>
          <a:prstGeom prst="line">
            <a:avLst/>
          </a:prstGeom>
          <a:noFill/>
          <a:ln w="5080">
            <a:solidFill>
              <a:srgbClr val="D5DCE5"/>
            </a:solidFill>
            <a:prstDash val="solid"/>
          </a:ln>
        </p:spPr>
      </p:sp>
      <p:sp>
        <p:nvSpPr>
          <p:cNvPr id="100" name="Shape 98"/>
          <p:cNvSpPr/>
          <p:nvPr/>
        </p:nvSpPr>
        <p:spPr>
          <a:xfrm>
            <a:off x="8031480" y="5212080"/>
            <a:ext cx="914" cy="548640"/>
          </a:xfrm>
          <a:prstGeom prst="line">
            <a:avLst/>
          </a:prstGeom>
          <a:noFill/>
          <a:ln w="5080">
            <a:solidFill>
              <a:srgbClr val="D5DCE5"/>
            </a:solidFill>
            <a:prstDash val="solid"/>
          </a:ln>
        </p:spPr>
      </p:sp>
      <p:sp>
        <p:nvSpPr>
          <p:cNvPr id="101" name="Shape 99"/>
          <p:cNvSpPr/>
          <p:nvPr/>
        </p:nvSpPr>
        <p:spPr>
          <a:xfrm>
            <a:off x="8458200" y="5212080"/>
            <a:ext cx="914" cy="548640"/>
          </a:xfrm>
          <a:prstGeom prst="line">
            <a:avLst/>
          </a:prstGeom>
          <a:noFill/>
          <a:ln w="12700">
            <a:solidFill>
              <a:srgbClr val="2F6DB5"/>
            </a:solidFill>
            <a:prstDash val="solid"/>
          </a:ln>
        </p:spPr>
      </p:sp>
      <p:sp>
        <p:nvSpPr>
          <p:cNvPr id="102" name="Shape 100"/>
          <p:cNvSpPr/>
          <p:nvPr/>
        </p:nvSpPr>
        <p:spPr>
          <a:xfrm>
            <a:off x="8884920" y="5212080"/>
            <a:ext cx="914" cy="548640"/>
          </a:xfrm>
          <a:prstGeom prst="line">
            <a:avLst/>
          </a:prstGeom>
          <a:noFill/>
          <a:ln w="5080">
            <a:solidFill>
              <a:srgbClr val="D5DCE5"/>
            </a:solidFill>
            <a:prstDash val="solid"/>
          </a:ln>
        </p:spPr>
      </p:sp>
      <p:sp>
        <p:nvSpPr>
          <p:cNvPr id="103" name="Shape 101"/>
          <p:cNvSpPr/>
          <p:nvPr/>
        </p:nvSpPr>
        <p:spPr>
          <a:xfrm>
            <a:off x="9311640" y="5212080"/>
            <a:ext cx="914" cy="548640"/>
          </a:xfrm>
          <a:prstGeom prst="line">
            <a:avLst/>
          </a:prstGeom>
          <a:noFill/>
          <a:ln w="5080">
            <a:solidFill>
              <a:srgbClr val="D5DCE5"/>
            </a:solidFill>
            <a:prstDash val="solid"/>
          </a:ln>
        </p:spPr>
      </p:sp>
      <p:sp>
        <p:nvSpPr>
          <p:cNvPr id="104" name="Shape 102"/>
          <p:cNvSpPr/>
          <p:nvPr/>
        </p:nvSpPr>
        <p:spPr>
          <a:xfrm>
            <a:off x="9738360" y="5212080"/>
            <a:ext cx="914" cy="548640"/>
          </a:xfrm>
          <a:prstGeom prst="line">
            <a:avLst/>
          </a:prstGeom>
          <a:noFill/>
          <a:ln w="12700">
            <a:solidFill>
              <a:srgbClr val="2F6DB5"/>
            </a:solidFill>
            <a:prstDash val="solid"/>
          </a:ln>
        </p:spPr>
      </p:sp>
      <p:sp>
        <p:nvSpPr>
          <p:cNvPr id="105" name="Shape 103"/>
          <p:cNvSpPr/>
          <p:nvPr/>
        </p:nvSpPr>
        <p:spPr>
          <a:xfrm>
            <a:off x="10165080" y="5212080"/>
            <a:ext cx="914" cy="548640"/>
          </a:xfrm>
          <a:prstGeom prst="line">
            <a:avLst/>
          </a:prstGeom>
          <a:noFill/>
          <a:ln w="5080">
            <a:solidFill>
              <a:srgbClr val="D5DCE5"/>
            </a:solidFill>
            <a:prstDash val="solid"/>
          </a:ln>
        </p:spPr>
      </p:sp>
      <p:sp>
        <p:nvSpPr>
          <p:cNvPr id="106" name="Shape 104"/>
          <p:cNvSpPr/>
          <p:nvPr/>
        </p:nvSpPr>
        <p:spPr>
          <a:xfrm>
            <a:off x="10591800" y="5212080"/>
            <a:ext cx="914" cy="548640"/>
          </a:xfrm>
          <a:prstGeom prst="line">
            <a:avLst/>
          </a:prstGeom>
          <a:noFill/>
          <a:ln w="5080">
            <a:solidFill>
              <a:srgbClr val="D5DCE5"/>
            </a:solidFill>
            <a:prstDash val="solid"/>
          </a:ln>
        </p:spPr>
      </p:sp>
      <p:sp>
        <p:nvSpPr>
          <p:cNvPr id="107" name="Shape 105"/>
          <p:cNvSpPr/>
          <p:nvPr/>
        </p:nvSpPr>
        <p:spPr>
          <a:xfrm>
            <a:off x="7178040" y="5394960"/>
            <a:ext cx="3840480" cy="914"/>
          </a:xfrm>
          <a:prstGeom prst="line">
            <a:avLst/>
          </a:prstGeom>
          <a:noFill/>
          <a:ln w="5080">
            <a:solidFill>
              <a:srgbClr val="D5DCE5"/>
            </a:solidFill>
            <a:prstDash val="solid"/>
          </a:ln>
        </p:spPr>
      </p:sp>
      <p:sp>
        <p:nvSpPr>
          <p:cNvPr id="108" name="Shape 106"/>
          <p:cNvSpPr/>
          <p:nvPr/>
        </p:nvSpPr>
        <p:spPr>
          <a:xfrm>
            <a:off x="7178040" y="5577840"/>
            <a:ext cx="3840480" cy="914"/>
          </a:xfrm>
          <a:prstGeom prst="line">
            <a:avLst/>
          </a:prstGeom>
          <a:noFill/>
          <a:ln w="5080">
            <a:solidFill>
              <a:srgbClr val="D5DCE5"/>
            </a:solidFill>
            <a:prstDash val="solid"/>
          </a:ln>
        </p:spPr>
      </p:sp>
      <p:sp>
        <p:nvSpPr>
          <p:cNvPr id="109" name="Text 107"/>
          <p:cNvSpPr txBox="1"/>
          <p:nvPr/>
        </p:nvSpPr>
        <p:spPr>
          <a:xfrm>
            <a:off x="717804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0" name="Text 108"/>
          <p:cNvSpPr txBox="1"/>
          <p:nvPr/>
        </p:nvSpPr>
        <p:spPr>
          <a:xfrm>
            <a:off x="760476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1" name="Text 109"/>
          <p:cNvSpPr txBox="1"/>
          <p:nvPr/>
        </p:nvSpPr>
        <p:spPr>
          <a:xfrm>
            <a:off x="845820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2" name="Text 110"/>
          <p:cNvSpPr txBox="1"/>
          <p:nvPr/>
        </p:nvSpPr>
        <p:spPr>
          <a:xfrm>
            <a:off x="888492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3" name="Text 111"/>
          <p:cNvSpPr txBox="1"/>
          <p:nvPr/>
        </p:nvSpPr>
        <p:spPr>
          <a:xfrm>
            <a:off x="931164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4" name="Text 112"/>
          <p:cNvSpPr txBox="1"/>
          <p:nvPr/>
        </p:nvSpPr>
        <p:spPr>
          <a:xfrm>
            <a:off x="973836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5" name="Text 113"/>
          <p:cNvSpPr txBox="1"/>
          <p:nvPr/>
        </p:nvSpPr>
        <p:spPr>
          <a:xfrm>
            <a:off x="1016508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6" name="Text 114"/>
          <p:cNvSpPr txBox="1"/>
          <p:nvPr/>
        </p:nvSpPr>
        <p:spPr>
          <a:xfrm>
            <a:off x="10591800" y="521208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7" name="Text 115"/>
          <p:cNvSpPr txBox="1"/>
          <p:nvPr/>
        </p:nvSpPr>
        <p:spPr>
          <a:xfrm>
            <a:off x="8458200" y="539496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8" name="Text 116"/>
          <p:cNvSpPr txBox="1"/>
          <p:nvPr/>
        </p:nvSpPr>
        <p:spPr>
          <a:xfrm>
            <a:off x="8884920" y="539496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19" name="Text 117"/>
          <p:cNvSpPr txBox="1"/>
          <p:nvPr/>
        </p:nvSpPr>
        <p:spPr>
          <a:xfrm>
            <a:off x="9311640" y="539496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0" name="Text 118"/>
          <p:cNvSpPr txBox="1"/>
          <p:nvPr/>
        </p:nvSpPr>
        <p:spPr>
          <a:xfrm>
            <a:off x="9738360" y="539496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1" name="Text 119"/>
          <p:cNvSpPr txBox="1"/>
          <p:nvPr/>
        </p:nvSpPr>
        <p:spPr>
          <a:xfrm>
            <a:off x="10165080" y="539496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2" name="Text 120"/>
          <p:cNvSpPr txBox="1"/>
          <p:nvPr/>
        </p:nvSpPr>
        <p:spPr>
          <a:xfrm>
            <a:off x="10591800" y="539496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3" name="Text 121"/>
          <p:cNvSpPr txBox="1"/>
          <p:nvPr/>
        </p:nvSpPr>
        <p:spPr>
          <a:xfrm>
            <a:off x="8458200" y="557784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4" name="Text 122"/>
          <p:cNvSpPr txBox="1"/>
          <p:nvPr/>
        </p:nvSpPr>
        <p:spPr>
          <a:xfrm>
            <a:off x="8884920" y="557784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5" name="Text 123"/>
          <p:cNvSpPr txBox="1"/>
          <p:nvPr/>
        </p:nvSpPr>
        <p:spPr>
          <a:xfrm>
            <a:off x="9311640" y="557784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6" name="Text 124"/>
          <p:cNvSpPr txBox="1"/>
          <p:nvPr/>
        </p:nvSpPr>
        <p:spPr>
          <a:xfrm>
            <a:off x="9738360" y="557784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7" name="Text 125"/>
          <p:cNvSpPr txBox="1"/>
          <p:nvPr/>
        </p:nvSpPr>
        <p:spPr>
          <a:xfrm>
            <a:off x="10165080" y="557784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8" name="Text 126"/>
          <p:cNvSpPr txBox="1"/>
          <p:nvPr/>
        </p:nvSpPr>
        <p:spPr>
          <a:xfrm>
            <a:off x="10591800" y="5577840"/>
            <a:ext cx="426720" cy="182880"/>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a:t>
            </a:r>
            <a:endParaRPr lang="en-US" sz="700" dirty="0"/>
          </a:p>
        </p:txBody>
      </p:sp>
      <p:sp>
        <p:nvSpPr>
          <p:cNvPr id="129" name="Text 127"/>
          <p:cNvSpPr txBox="1"/>
          <p:nvPr/>
        </p:nvSpPr>
        <p:spPr>
          <a:xfrm>
            <a:off x="6629400" y="5779008"/>
            <a:ext cx="5120640" cy="18288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 후보 0 (모두 off) 선택 · ⏱ 후보 1에서 120 s 소진 (7-token, 189.7 s) · ≡ E10 prefill에서 같은 source</a:t>
            </a:r>
            <a:endParaRPr lang="en-US" sz="650" dirty="0"/>
          </a:p>
        </p:txBody>
      </p:sp>
      <p:sp>
        <p:nvSpPr>
          <p:cNvPr id="130" name="Shape 128"/>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1" name="Text 129"/>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E1: 전송량은 같아도 명령과 작업 공간이 줄어든 사례 (2,812 → 1,577 words, 50,700 → 42,508 B). 이득의 형태는 예제마다 달라 실제 비용으로 확인합니다.</a:t>
            </a:r>
            <a:endParaRPr lang="en-US" sz="1250" dirty="0"/>
          </a:p>
        </p:txBody>
      </p:sp>
      <p:sp>
        <p:nvSpPr>
          <p:cNvPr id="132" name="Text 130"/>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33" name="Text 131"/>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npu_compiler/npu_fusion.py, npu_build.py, docs/examples/pipeline/stage_summary.json (E1), evidence/current/llama_selection.json</a:t>
            </a:r>
            <a:endParaRPr lang="en-US" sz="850" dirty="0"/>
          </a:p>
        </p:txBody>
      </p:sp>
      <p:sp>
        <p:nvSpPr>
          <p:cNvPr id="134" name="Text 132"/>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6 / 13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③ 배치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200" b="1" dirty="0">
                <a:solidFill>
                  <a:srgbClr val="15243B"/>
                </a:solidFill>
                <a:latin typeface="Malgun Gothic" pitchFamily="34" charset="0"/>
                <a:ea typeface="Malgun Gothic" pitchFamily="34" charset="-122"/>
                <a:cs typeface="Malgun Gothic" pitchFamily="34" charset="-120"/>
              </a:rPr>
              <a:t>Matmul: 64×64 tile은 고정, 자유도는 panel(무엇을 SRAM에 얼마나 오래)과 순서</a:t>
            </a:r>
            <a:endParaRPr lang="en-US" sz="22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실제 폭 gate projection X[64,3072]@W[3072,8192]: W는 48 MiB라 X(1×48 tiles, 384 KiB)를 상주시키고 W 열 panel j(48×1 tiles)를 128번 교체합니다. 아래는 두 matmul 예제 두 번째 커널의 실제 20 words.</a:t>
            </a:r>
            <a:endParaRPr lang="en-US" sz="1250" dirty="0"/>
          </a:p>
        </p:txBody>
      </p:sp>
      <p:sp>
        <p:nvSpPr>
          <p:cNvPr id="5" name="Shape 3"/>
          <p:cNvSpPr/>
          <p:nvPr/>
        </p:nvSpPr>
        <p:spPr>
          <a:xfrm>
            <a:off x="457200" y="1691640"/>
            <a:ext cx="3657600" cy="1371600"/>
          </a:xfrm>
          <a:prstGeom prst="rect">
            <a:avLst/>
          </a:prstGeom>
          <a:solidFill>
            <a:srgbClr val="FFF1DC"/>
          </a:solidFill>
          <a:ln w="12700">
            <a:solidFill>
              <a:srgbClr val="D98A1E"/>
            </a:solidFill>
            <a:prstDash val="solid"/>
          </a:ln>
        </p:spPr>
      </p:sp>
      <p:sp>
        <p:nvSpPr>
          <p:cNvPr id="6" name="Shape 4"/>
          <p:cNvSpPr/>
          <p:nvPr/>
        </p:nvSpPr>
        <p:spPr>
          <a:xfrm>
            <a:off x="1143000" y="1691640"/>
            <a:ext cx="228600" cy="1371600"/>
          </a:xfrm>
          <a:prstGeom prst="rect">
            <a:avLst/>
          </a:prstGeom>
          <a:solidFill>
            <a:srgbClr val="DDF3F0"/>
          </a:solidFill>
          <a:ln w="15875">
            <a:solidFill>
              <a:srgbClr val="1F8A8A"/>
            </a:solidFill>
            <a:prstDash val="solid"/>
          </a:ln>
        </p:spPr>
      </p:sp>
      <p:sp>
        <p:nvSpPr>
          <p:cNvPr id="7" name="Shape 5"/>
          <p:cNvSpPr/>
          <p:nvPr/>
        </p:nvSpPr>
        <p:spPr>
          <a:xfrm>
            <a:off x="685800" y="1691640"/>
            <a:ext cx="914" cy="1371600"/>
          </a:xfrm>
          <a:prstGeom prst="line">
            <a:avLst/>
          </a:prstGeom>
          <a:noFill/>
          <a:ln w="5080">
            <a:solidFill>
              <a:srgbClr val="D5DCE5"/>
            </a:solidFill>
            <a:prstDash val="solid"/>
          </a:ln>
        </p:spPr>
      </p:sp>
      <p:sp>
        <p:nvSpPr>
          <p:cNvPr id="8" name="Shape 6"/>
          <p:cNvSpPr/>
          <p:nvPr/>
        </p:nvSpPr>
        <p:spPr>
          <a:xfrm>
            <a:off x="914400" y="1691640"/>
            <a:ext cx="914" cy="1371600"/>
          </a:xfrm>
          <a:prstGeom prst="line">
            <a:avLst/>
          </a:prstGeom>
          <a:noFill/>
          <a:ln w="5080">
            <a:solidFill>
              <a:srgbClr val="D5DCE5"/>
            </a:solidFill>
            <a:prstDash val="solid"/>
          </a:ln>
        </p:spPr>
      </p:sp>
      <p:sp>
        <p:nvSpPr>
          <p:cNvPr id="9" name="Shape 7"/>
          <p:cNvSpPr/>
          <p:nvPr/>
        </p:nvSpPr>
        <p:spPr>
          <a:xfrm>
            <a:off x="1143000" y="1691640"/>
            <a:ext cx="914" cy="1371600"/>
          </a:xfrm>
          <a:prstGeom prst="line">
            <a:avLst/>
          </a:prstGeom>
          <a:noFill/>
          <a:ln w="5080">
            <a:solidFill>
              <a:srgbClr val="D5DCE5"/>
            </a:solidFill>
            <a:prstDash val="solid"/>
          </a:ln>
        </p:spPr>
      </p:sp>
      <p:sp>
        <p:nvSpPr>
          <p:cNvPr id="10" name="Shape 8"/>
          <p:cNvSpPr/>
          <p:nvPr/>
        </p:nvSpPr>
        <p:spPr>
          <a:xfrm>
            <a:off x="1371600" y="1691640"/>
            <a:ext cx="914" cy="1371600"/>
          </a:xfrm>
          <a:prstGeom prst="line">
            <a:avLst/>
          </a:prstGeom>
          <a:noFill/>
          <a:ln w="5080">
            <a:solidFill>
              <a:srgbClr val="D5DCE5"/>
            </a:solidFill>
            <a:prstDash val="solid"/>
          </a:ln>
        </p:spPr>
      </p:sp>
      <p:sp>
        <p:nvSpPr>
          <p:cNvPr id="11" name="Shape 9"/>
          <p:cNvSpPr/>
          <p:nvPr/>
        </p:nvSpPr>
        <p:spPr>
          <a:xfrm>
            <a:off x="1600200" y="1691640"/>
            <a:ext cx="914" cy="1371600"/>
          </a:xfrm>
          <a:prstGeom prst="line">
            <a:avLst/>
          </a:prstGeom>
          <a:noFill/>
          <a:ln w="5080">
            <a:solidFill>
              <a:srgbClr val="D5DCE5"/>
            </a:solidFill>
            <a:prstDash val="solid"/>
          </a:ln>
        </p:spPr>
      </p:sp>
      <p:sp>
        <p:nvSpPr>
          <p:cNvPr id="12" name="Shape 10"/>
          <p:cNvSpPr/>
          <p:nvPr/>
        </p:nvSpPr>
        <p:spPr>
          <a:xfrm>
            <a:off x="1828800" y="1691640"/>
            <a:ext cx="914" cy="1371600"/>
          </a:xfrm>
          <a:prstGeom prst="line">
            <a:avLst/>
          </a:prstGeom>
          <a:noFill/>
          <a:ln w="5080">
            <a:solidFill>
              <a:srgbClr val="D5DCE5"/>
            </a:solidFill>
            <a:prstDash val="solid"/>
          </a:ln>
        </p:spPr>
      </p:sp>
      <p:sp>
        <p:nvSpPr>
          <p:cNvPr id="13" name="Shape 11"/>
          <p:cNvSpPr/>
          <p:nvPr/>
        </p:nvSpPr>
        <p:spPr>
          <a:xfrm>
            <a:off x="2057400" y="1691640"/>
            <a:ext cx="914" cy="1371600"/>
          </a:xfrm>
          <a:prstGeom prst="line">
            <a:avLst/>
          </a:prstGeom>
          <a:noFill/>
          <a:ln w="5080">
            <a:solidFill>
              <a:srgbClr val="D5DCE5"/>
            </a:solidFill>
            <a:prstDash val="solid"/>
          </a:ln>
        </p:spPr>
      </p:sp>
      <p:sp>
        <p:nvSpPr>
          <p:cNvPr id="14" name="Shape 12"/>
          <p:cNvSpPr/>
          <p:nvPr/>
        </p:nvSpPr>
        <p:spPr>
          <a:xfrm>
            <a:off x="2286000" y="1691640"/>
            <a:ext cx="914" cy="1371600"/>
          </a:xfrm>
          <a:prstGeom prst="line">
            <a:avLst/>
          </a:prstGeom>
          <a:noFill/>
          <a:ln w="5080">
            <a:solidFill>
              <a:srgbClr val="D5DCE5"/>
            </a:solidFill>
            <a:prstDash val="solid"/>
          </a:ln>
        </p:spPr>
      </p:sp>
      <p:sp>
        <p:nvSpPr>
          <p:cNvPr id="15" name="Shape 13"/>
          <p:cNvSpPr/>
          <p:nvPr/>
        </p:nvSpPr>
        <p:spPr>
          <a:xfrm>
            <a:off x="2514600" y="1691640"/>
            <a:ext cx="914" cy="1371600"/>
          </a:xfrm>
          <a:prstGeom prst="line">
            <a:avLst/>
          </a:prstGeom>
          <a:noFill/>
          <a:ln w="5080">
            <a:solidFill>
              <a:srgbClr val="D5DCE5"/>
            </a:solidFill>
            <a:prstDash val="solid"/>
          </a:ln>
        </p:spPr>
      </p:sp>
      <p:sp>
        <p:nvSpPr>
          <p:cNvPr id="16" name="Shape 14"/>
          <p:cNvSpPr/>
          <p:nvPr/>
        </p:nvSpPr>
        <p:spPr>
          <a:xfrm>
            <a:off x="2743200" y="1691640"/>
            <a:ext cx="914" cy="1371600"/>
          </a:xfrm>
          <a:prstGeom prst="line">
            <a:avLst/>
          </a:prstGeom>
          <a:noFill/>
          <a:ln w="5080">
            <a:solidFill>
              <a:srgbClr val="D5DCE5"/>
            </a:solidFill>
            <a:prstDash val="solid"/>
          </a:ln>
        </p:spPr>
      </p:sp>
      <p:sp>
        <p:nvSpPr>
          <p:cNvPr id="17" name="Shape 15"/>
          <p:cNvSpPr/>
          <p:nvPr/>
        </p:nvSpPr>
        <p:spPr>
          <a:xfrm>
            <a:off x="2971800" y="1691640"/>
            <a:ext cx="914" cy="1371600"/>
          </a:xfrm>
          <a:prstGeom prst="line">
            <a:avLst/>
          </a:prstGeom>
          <a:noFill/>
          <a:ln w="5080">
            <a:solidFill>
              <a:srgbClr val="D5DCE5"/>
            </a:solidFill>
            <a:prstDash val="solid"/>
          </a:ln>
        </p:spPr>
      </p:sp>
      <p:sp>
        <p:nvSpPr>
          <p:cNvPr id="18" name="Shape 16"/>
          <p:cNvSpPr/>
          <p:nvPr/>
        </p:nvSpPr>
        <p:spPr>
          <a:xfrm>
            <a:off x="3200400" y="1691640"/>
            <a:ext cx="914" cy="1371600"/>
          </a:xfrm>
          <a:prstGeom prst="line">
            <a:avLst/>
          </a:prstGeom>
          <a:noFill/>
          <a:ln w="5080">
            <a:solidFill>
              <a:srgbClr val="D5DCE5"/>
            </a:solidFill>
            <a:prstDash val="solid"/>
          </a:ln>
        </p:spPr>
      </p:sp>
      <p:sp>
        <p:nvSpPr>
          <p:cNvPr id="19" name="Shape 17"/>
          <p:cNvSpPr/>
          <p:nvPr/>
        </p:nvSpPr>
        <p:spPr>
          <a:xfrm>
            <a:off x="3429000" y="1691640"/>
            <a:ext cx="914" cy="1371600"/>
          </a:xfrm>
          <a:prstGeom prst="line">
            <a:avLst/>
          </a:prstGeom>
          <a:noFill/>
          <a:ln w="5080">
            <a:solidFill>
              <a:srgbClr val="D5DCE5"/>
            </a:solidFill>
            <a:prstDash val="solid"/>
          </a:ln>
        </p:spPr>
      </p:sp>
      <p:sp>
        <p:nvSpPr>
          <p:cNvPr id="20" name="Shape 18"/>
          <p:cNvSpPr/>
          <p:nvPr/>
        </p:nvSpPr>
        <p:spPr>
          <a:xfrm>
            <a:off x="3657600" y="1691640"/>
            <a:ext cx="914" cy="1371600"/>
          </a:xfrm>
          <a:prstGeom prst="line">
            <a:avLst/>
          </a:prstGeom>
          <a:noFill/>
          <a:ln w="5080">
            <a:solidFill>
              <a:srgbClr val="D5DCE5"/>
            </a:solidFill>
            <a:prstDash val="solid"/>
          </a:ln>
        </p:spPr>
      </p:sp>
      <p:sp>
        <p:nvSpPr>
          <p:cNvPr id="21" name="Shape 19"/>
          <p:cNvSpPr/>
          <p:nvPr/>
        </p:nvSpPr>
        <p:spPr>
          <a:xfrm>
            <a:off x="3886200" y="1691640"/>
            <a:ext cx="914" cy="1371600"/>
          </a:xfrm>
          <a:prstGeom prst="line">
            <a:avLst/>
          </a:prstGeom>
          <a:noFill/>
          <a:ln w="5080">
            <a:solidFill>
              <a:srgbClr val="D5DCE5"/>
            </a:solidFill>
            <a:prstDash val="solid"/>
          </a:ln>
        </p:spPr>
      </p:sp>
      <p:sp>
        <p:nvSpPr>
          <p:cNvPr id="22" name="Shape 20"/>
          <p:cNvSpPr/>
          <p:nvPr/>
        </p:nvSpPr>
        <p:spPr>
          <a:xfrm>
            <a:off x="457200" y="1920240"/>
            <a:ext cx="3657600" cy="914"/>
          </a:xfrm>
          <a:prstGeom prst="line">
            <a:avLst/>
          </a:prstGeom>
          <a:noFill/>
          <a:ln w="5080">
            <a:solidFill>
              <a:srgbClr val="D5DCE5"/>
            </a:solidFill>
            <a:prstDash val="solid"/>
          </a:ln>
        </p:spPr>
      </p:sp>
      <p:sp>
        <p:nvSpPr>
          <p:cNvPr id="23" name="Shape 21"/>
          <p:cNvSpPr/>
          <p:nvPr/>
        </p:nvSpPr>
        <p:spPr>
          <a:xfrm>
            <a:off x="457200" y="2148840"/>
            <a:ext cx="3657600" cy="914"/>
          </a:xfrm>
          <a:prstGeom prst="line">
            <a:avLst/>
          </a:prstGeom>
          <a:noFill/>
          <a:ln w="5080">
            <a:solidFill>
              <a:srgbClr val="D5DCE5"/>
            </a:solidFill>
            <a:prstDash val="solid"/>
          </a:ln>
        </p:spPr>
      </p:sp>
      <p:sp>
        <p:nvSpPr>
          <p:cNvPr id="24" name="Shape 22"/>
          <p:cNvSpPr/>
          <p:nvPr/>
        </p:nvSpPr>
        <p:spPr>
          <a:xfrm>
            <a:off x="457200" y="2377440"/>
            <a:ext cx="3657600" cy="914"/>
          </a:xfrm>
          <a:prstGeom prst="line">
            <a:avLst/>
          </a:prstGeom>
          <a:noFill/>
          <a:ln w="5080">
            <a:solidFill>
              <a:srgbClr val="D5DCE5"/>
            </a:solidFill>
            <a:prstDash val="solid"/>
          </a:ln>
        </p:spPr>
      </p:sp>
      <p:sp>
        <p:nvSpPr>
          <p:cNvPr id="25" name="Shape 23"/>
          <p:cNvSpPr/>
          <p:nvPr/>
        </p:nvSpPr>
        <p:spPr>
          <a:xfrm>
            <a:off x="457200" y="2606040"/>
            <a:ext cx="3657600" cy="914"/>
          </a:xfrm>
          <a:prstGeom prst="line">
            <a:avLst/>
          </a:prstGeom>
          <a:noFill/>
          <a:ln w="5080">
            <a:solidFill>
              <a:srgbClr val="D5DCE5"/>
            </a:solidFill>
            <a:prstDash val="solid"/>
          </a:ln>
        </p:spPr>
      </p:sp>
      <p:sp>
        <p:nvSpPr>
          <p:cNvPr id="26" name="Shape 24"/>
          <p:cNvSpPr/>
          <p:nvPr/>
        </p:nvSpPr>
        <p:spPr>
          <a:xfrm>
            <a:off x="457200" y="2834640"/>
            <a:ext cx="3657600" cy="914"/>
          </a:xfrm>
          <a:prstGeom prst="line">
            <a:avLst/>
          </a:prstGeom>
          <a:noFill/>
          <a:ln w="5080">
            <a:solidFill>
              <a:srgbClr val="D5DCE5"/>
            </a:solidFill>
            <a:prstDash val="solid"/>
          </a:ln>
        </p:spPr>
      </p:sp>
      <p:sp>
        <p:nvSpPr>
          <p:cNvPr id="27" name="Text 25"/>
          <p:cNvSpPr txBox="1"/>
          <p:nvPr/>
        </p:nvSpPr>
        <p:spPr>
          <a:xfrm>
            <a:off x="1143000" y="1691640"/>
            <a:ext cx="228600" cy="137160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j</a:t>
            </a:r>
            <a:endParaRPr lang="en-US" sz="700" dirty="0"/>
          </a:p>
        </p:txBody>
      </p:sp>
      <p:sp>
        <p:nvSpPr>
          <p:cNvPr id="28" name="Text 26"/>
          <p:cNvSpPr txBox="1"/>
          <p:nvPr/>
        </p:nvSpPr>
        <p:spPr>
          <a:xfrm>
            <a:off x="457200" y="1463040"/>
            <a:ext cx="4023360" cy="201168"/>
          </a:xfrm>
          <a:prstGeom prst="rect">
            <a:avLst/>
          </a:prstGeom>
          <a:noFill/>
          <a:ln/>
        </p:spPr>
        <p:txBody>
          <a:bodyPr wrap="square" lIns="0" tIns="0" rIns="0" bIns="0" rtlCol="0" anchor="t"/>
          <a:lstStyle/>
          <a:p>
            <a:pPr algn="l" indent="0" marL="0">
              <a:buNone/>
            </a:pPr>
            <a:r>
              <a:rPr lang="en-US" sz="800" b="1" dirty="0">
                <a:solidFill>
                  <a:srgbClr val="15243B"/>
                </a:solidFill>
                <a:latin typeface="Malgun Gothic" pitchFamily="34" charset="0"/>
                <a:ea typeface="Malgun Gothic" pitchFamily="34" charset="-122"/>
                <a:cs typeface="Malgun Gothic" pitchFamily="34" charset="-120"/>
              </a:rPr>
              <a:t>DRAM: W [3072,8192] = 48 × 128 tiles (48 MiB) — 그림 6×16 축약</a:t>
            </a:r>
            <a:endParaRPr lang="en-US" sz="800" dirty="0"/>
          </a:p>
        </p:txBody>
      </p:sp>
      <p:sp>
        <p:nvSpPr>
          <p:cNvPr id="29" name="Text 27"/>
          <p:cNvSpPr txBox="1"/>
          <p:nvPr/>
        </p:nvSpPr>
        <p:spPr>
          <a:xfrm>
            <a:off x="457200" y="3099816"/>
            <a:ext cx="3657600" cy="36576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열 panel j = 48 tiles = 384 KiB, j = 0 … 127 순서로 GLOAD</a:t>
            </a:r>
            <a:endParaRPr lang="en-US" sz="700" dirty="0"/>
          </a:p>
        </p:txBody>
      </p:sp>
      <p:sp>
        <p:nvSpPr>
          <p:cNvPr id="30" name="Shape 28"/>
          <p:cNvSpPr/>
          <p:nvPr/>
        </p:nvSpPr>
        <p:spPr>
          <a:xfrm>
            <a:off x="4572000" y="1463040"/>
            <a:ext cx="3749040" cy="2011680"/>
          </a:xfrm>
          <a:prstGeom prst="roundRect">
            <a:avLst>
              <a:gd name="adj" fmla="val 3636"/>
            </a:avLst>
          </a:prstGeom>
          <a:solidFill>
            <a:srgbClr val="EEF8F6"/>
          </a:solidFill>
          <a:ln w="12700">
            <a:solidFill>
              <a:srgbClr val="1F8A8A"/>
            </a:solidFill>
            <a:prstDash val="solid"/>
          </a:ln>
        </p:spPr>
      </p:sp>
      <p:sp>
        <p:nvSpPr>
          <p:cNvPr id="31" name="Text 29"/>
          <p:cNvSpPr txBox="1"/>
          <p:nvPr/>
        </p:nvSpPr>
        <p:spPr>
          <a:xfrm>
            <a:off x="4663440" y="1481328"/>
            <a:ext cx="3566160" cy="201168"/>
          </a:xfrm>
          <a:prstGeom prst="rect">
            <a:avLst/>
          </a:prstGeom>
          <a:noFill/>
          <a:ln/>
        </p:spPr>
        <p:txBody>
          <a:bodyPr wrap="square" lIns="0" tIns="0" rIns="0" bIns="0" rtlCol="0" anchor="t"/>
          <a:lstStyle/>
          <a:p>
            <a:pPr algn="l" indent="0" marL="0">
              <a:buNone/>
            </a:pPr>
            <a:r>
              <a:rPr lang="en-US" sz="950" b="1" dirty="0">
                <a:solidFill>
                  <a:srgbClr val="1F8A8A"/>
                </a:solidFill>
                <a:latin typeface="Malgun Gothic" pitchFamily="34" charset="0"/>
                <a:ea typeface="Malgun Gothic" pitchFamily="34" charset="-122"/>
                <a:cs typeface="Malgun Gothic" pitchFamily="34" charset="-120"/>
              </a:rPr>
              <a:t>SRAM</a:t>
            </a:r>
            <a:endParaRPr lang="en-US" sz="950" dirty="0"/>
          </a:p>
        </p:txBody>
      </p:sp>
      <p:sp>
        <p:nvSpPr>
          <p:cNvPr id="32" name="Shape 30"/>
          <p:cNvSpPr/>
          <p:nvPr/>
        </p:nvSpPr>
        <p:spPr>
          <a:xfrm>
            <a:off x="4709160" y="1920240"/>
            <a:ext cx="3474720" cy="256032"/>
          </a:xfrm>
          <a:prstGeom prst="rect">
            <a:avLst/>
          </a:prstGeom>
          <a:solidFill>
            <a:srgbClr val="DDF3F0"/>
          </a:solidFill>
          <a:ln w="12700">
            <a:solidFill>
              <a:srgbClr val="1F8A8A"/>
            </a:solidFill>
            <a:prstDash val="solid"/>
          </a:ln>
        </p:spPr>
      </p:sp>
      <p:sp>
        <p:nvSpPr>
          <p:cNvPr id="33" name="Shape 31"/>
          <p:cNvSpPr/>
          <p:nvPr/>
        </p:nvSpPr>
        <p:spPr>
          <a:xfrm>
            <a:off x="4709160" y="1920240"/>
            <a:ext cx="3474720" cy="256032"/>
          </a:xfrm>
          <a:prstGeom prst="rect">
            <a:avLst/>
          </a:prstGeom>
          <a:solidFill>
            <a:srgbClr val="DDF3F0"/>
          </a:solidFill>
          <a:ln w="15875">
            <a:solidFill>
              <a:srgbClr val="1F8A8A"/>
            </a:solidFill>
            <a:prstDash val="solid"/>
          </a:ln>
        </p:spPr>
      </p:sp>
      <p:sp>
        <p:nvSpPr>
          <p:cNvPr id="34" name="Shape 32"/>
          <p:cNvSpPr/>
          <p:nvPr/>
        </p:nvSpPr>
        <p:spPr>
          <a:xfrm>
            <a:off x="4998720" y="1920240"/>
            <a:ext cx="914" cy="256032"/>
          </a:xfrm>
          <a:prstGeom prst="line">
            <a:avLst/>
          </a:prstGeom>
          <a:noFill/>
          <a:ln w="5080">
            <a:solidFill>
              <a:srgbClr val="D5DCE5"/>
            </a:solidFill>
            <a:prstDash val="solid"/>
          </a:ln>
        </p:spPr>
      </p:sp>
      <p:sp>
        <p:nvSpPr>
          <p:cNvPr id="35" name="Shape 33"/>
          <p:cNvSpPr/>
          <p:nvPr/>
        </p:nvSpPr>
        <p:spPr>
          <a:xfrm>
            <a:off x="5288280" y="1920240"/>
            <a:ext cx="914" cy="256032"/>
          </a:xfrm>
          <a:prstGeom prst="line">
            <a:avLst/>
          </a:prstGeom>
          <a:noFill/>
          <a:ln w="5080">
            <a:solidFill>
              <a:srgbClr val="D5DCE5"/>
            </a:solidFill>
            <a:prstDash val="solid"/>
          </a:ln>
        </p:spPr>
      </p:sp>
      <p:sp>
        <p:nvSpPr>
          <p:cNvPr id="36" name="Shape 34"/>
          <p:cNvSpPr/>
          <p:nvPr/>
        </p:nvSpPr>
        <p:spPr>
          <a:xfrm>
            <a:off x="5577840" y="1920240"/>
            <a:ext cx="914" cy="256032"/>
          </a:xfrm>
          <a:prstGeom prst="line">
            <a:avLst/>
          </a:prstGeom>
          <a:noFill/>
          <a:ln w="5080">
            <a:solidFill>
              <a:srgbClr val="D5DCE5"/>
            </a:solidFill>
            <a:prstDash val="solid"/>
          </a:ln>
        </p:spPr>
      </p:sp>
      <p:sp>
        <p:nvSpPr>
          <p:cNvPr id="37" name="Shape 35"/>
          <p:cNvSpPr/>
          <p:nvPr/>
        </p:nvSpPr>
        <p:spPr>
          <a:xfrm>
            <a:off x="5867400" y="1920240"/>
            <a:ext cx="914" cy="256032"/>
          </a:xfrm>
          <a:prstGeom prst="line">
            <a:avLst/>
          </a:prstGeom>
          <a:noFill/>
          <a:ln w="5080">
            <a:solidFill>
              <a:srgbClr val="D5DCE5"/>
            </a:solidFill>
            <a:prstDash val="solid"/>
          </a:ln>
        </p:spPr>
      </p:sp>
      <p:sp>
        <p:nvSpPr>
          <p:cNvPr id="38" name="Shape 36"/>
          <p:cNvSpPr/>
          <p:nvPr/>
        </p:nvSpPr>
        <p:spPr>
          <a:xfrm>
            <a:off x="6156960" y="1920240"/>
            <a:ext cx="914" cy="256032"/>
          </a:xfrm>
          <a:prstGeom prst="line">
            <a:avLst/>
          </a:prstGeom>
          <a:noFill/>
          <a:ln w="5080">
            <a:solidFill>
              <a:srgbClr val="D5DCE5"/>
            </a:solidFill>
            <a:prstDash val="solid"/>
          </a:ln>
        </p:spPr>
      </p:sp>
      <p:sp>
        <p:nvSpPr>
          <p:cNvPr id="39" name="Shape 37"/>
          <p:cNvSpPr/>
          <p:nvPr/>
        </p:nvSpPr>
        <p:spPr>
          <a:xfrm>
            <a:off x="6446520" y="1920240"/>
            <a:ext cx="914" cy="256032"/>
          </a:xfrm>
          <a:prstGeom prst="line">
            <a:avLst/>
          </a:prstGeom>
          <a:noFill/>
          <a:ln w="5080">
            <a:solidFill>
              <a:srgbClr val="D5DCE5"/>
            </a:solidFill>
            <a:prstDash val="solid"/>
          </a:ln>
        </p:spPr>
      </p:sp>
      <p:sp>
        <p:nvSpPr>
          <p:cNvPr id="40" name="Shape 38"/>
          <p:cNvSpPr/>
          <p:nvPr/>
        </p:nvSpPr>
        <p:spPr>
          <a:xfrm>
            <a:off x="6736080" y="1920240"/>
            <a:ext cx="914" cy="256032"/>
          </a:xfrm>
          <a:prstGeom prst="line">
            <a:avLst/>
          </a:prstGeom>
          <a:noFill/>
          <a:ln w="5080">
            <a:solidFill>
              <a:srgbClr val="D5DCE5"/>
            </a:solidFill>
            <a:prstDash val="solid"/>
          </a:ln>
        </p:spPr>
      </p:sp>
      <p:sp>
        <p:nvSpPr>
          <p:cNvPr id="41" name="Shape 39"/>
          <p:cNvSpPr/>
          <p:nvPr/>
        </p:nvSpPr>
        <p:spPr>
          <a:xfrm>
            <a:off x="7025640" y="1920240"/>
            <a:ext cx="914" cy="256032"/>
          </a:xfrm>
          <a:prstGeom prst="line">
            <a:avLst/>
          </a:prstGeom>
          <a:noFill/>
          <a:ln w="5080">
            <a:solidFill>
              <a:srgbClr val="D5DCE5"/>
            </a:solidFill>
            <a:prstDash val="solid"/>
          </a:ln>
        </p:spPr>
      </p:sp>
      <p:sp>
        <p:nvSpPr>
          <p:cNvPr id="42" name="Shape 40"/>
          <p:cNvSpPr/>
          <p:nvPr/>
        </p:nvSpPr>
        <p:spPr>
          <a:xfrm>
            <a:off x="7315200" y="1920240"/>
            <a:ext cx="914" cy="256032"/>
          </a:xfrm>
          <a:prstGeom prst="line">
            <a:avLst/>
          </a:prstGeom>
          <a:noFill/>
          <a:ln w="5080">
            <a:solidFill>
              <a:srgbClr val="D5DCE5"/>
            </a:solidFill>
            <a:prstDash val="solid"/>
          </a:ln>
        </p:spPr>
      </p:sp>
      <p:sp>
        <p:nvSpPr>
          <p:cNvPr id="43" name="Shape 41"/>
          <p:cNvSpPr/>
          <p:nvPr/>
        </p:nvSpPr>
        <p:spPr>
          <a:xfrm>
            <a:off x="7604760" y="1920240"/>
            <a:ext cx="914" cy="256032"/>
          </a:xfrm>
          <a:prstGeom prst="line">
            <a:avLst/>
          </a:prstGeom>
          <a:noFill/>
          <a:ln w="5080">
            <a:solidFill>
              <a:srgbClr val="D5DCE5"/>
            </a:solidFill>
            <a:prstDash val="solid"/>
          </a:ln>
        </p:spPr>
      </p:sp>
      <p:sp>
        <p:nvSpPr>
          <p:cNvPr id="44" name="Shape 42"/>
          <p:cNvSpPr/>
          <p:nvPr/>
        </p:nvSpPr>
        <p:spPr>
          <a:xfrm>
            <a:off x="7894320" y="1920240"/>
            <a:ext cx="914" cy="256032"/>
          </a:xfrm>
          <a:prstGeom prst="line">
            <a:avLst/>
          </a:prstGeom>
          <a:noFill/>
          <a:ln w="5080">
            <a:solidFill>
              <a:srgbClr val="D5DCE5"/>
            </a:solidFill>
            <a:prstDash val="solid"/>
          </a:ln>
        </p:spPr>
      </p:sp>
      <p:sp>
        <p:nvSpPr>
          <p:cNvPr id="45" name="Text 43"/>
          <p:cNvSpPr txBox="1"/>
          <p:nvPr/>
        </p:nvSpPr>
        <p:spPr>
          <a:xfrm>
            <a:off x="4709160" y="1920240"/>
            <a:ext cx="3474720" cy="256032"/>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k = 0 … 47</a:t>
            </a:r>
            <a:endParaRPr lang="en-US" sz="700" dirty="0"/>
          </a:p>
        </p:txBody>
      </p:sp>
      <p:sp>
        <p:nvSpPr>
          <p:cNvPr id="46" name="Text 44"/>
          <p:cNvSpPr txBox="1"/>
          <p:nvPr/>
        </p:nvSpPr>
        <p:spPr>
          <a:xfrm>
            <a:off x="4709160" y="1691640"/>
            <a:ext cx="356616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X [64,3072] = 1×48 tiles 상주 (384 KiB), a_at = m_panel</a:t>
            </a:r>
            <a:endParaRPr lang="en-US" sz="750" dirty="0"/>
          </a:p>
        </p:txBody>
      </p:sp>
      <p:sp>
        <p:nvSpPr>
          <p:cNvPr id="47" name="Shape 45"/>
          <p:cNvSpPr/>
          <p:nvPr/>
        </p:nvSpPr>
        <p:spPr>
          <a:xfrm>
            <a:off x="4709160" y="2514600"/>
            <a:ext cx="256032" cy="868680"/>
          </a:xfrm>
          <a:prstGeom prst="rect">
            <a:avLst/>
          </a:prstGeom>
          <a:solidFill>
            <a:srgbClr val="DDF3F0"/>
          </a:solidFill>
          <a:ln w="12700">
            <a:solidFill>
              <a:srgbClr val="1F8A8A"/>
            </a:solidFill>
            <a:prstDash val="solid"/>
          </a:ln>
        </p:spPr>
      </p:sp>
      <p:sp>
        <p:nvSpPr>
          <p:cNvPr id="48" name="Shape 46"/>
          <p:cNvSpPr/>
          <p:nvPr/>
        </p:nvSpPr>
        <p:spPr>
          <a:xfrm>
            <a:off x="4709160" y="2514600"/>
            <a:ext cx="256032" cy="868680"/>
          </a:xfrm>
          <a:prstGeom prst="rect">
            <a:avLst/>
          </a:prstGeom>
          <a:solidFill>
            <a:srgbClr val="FFF1DC"/>
          </a:solidFill>
          <a:ln w="12700">
            <a:solidFill>
              <a:srgbClr val="D98A1E"/>
            </a:solidFill>
            <a:prstDash val="solid"/>
          </a:ln>
        </p:spPr>
      </p:sp>
      <p:sp>
        <p:nvSpPr>
          <p:cNvPr id="49" name="Shape 47"/>
          <p:cNvSpPr/>
          <p:nvPr/>
        </p:nvSpPr>
        <p:spPr>
          <a:xfrm>
            <a:off x="4709160" y="2623185"/>
            <a:ext cx="256032" cy="914"/>
          </a:xfrm>
          <a:prstGeom prst="line">
            <a:avLst/>
          </a:prstGeom>
          <a:noFill/>
          <a:ln w="5080">
            <a:solidFill>
              <a:srgbClr val="D5DCE5"/>
            </a:solidFill>
            <a:prstDash val="solid"/>
          </a:ln>
        </p:spPr>
      </p:sp>
      <p:sp>
        <p:nvSpPr>
          <p:cNvPr id="50" name="Shape 48"/>
          <p:cNvSpPr/>
          <p:nvPr/>
        </p:nvSpPr>
        <p:spPr>
          <a:xfrm>
            <a:off x="4709160" y="2731770"/>
            <a:ext cx="256032" cy="914"/>
          </a:xfrm>
          <a:prstGeom prst="line">
            <a:avLst/>
          </a:prstGeom>
          <a:noFill/>
          <a:ln w="5080">
            <a:solidFill>
              <a:srgbClr val="D5DCE5"/>
            </a:solidFill>
            <a:prstDash val="solid"/>
          </a:ln>
        </p:spPr>
      </p:sp>
      <p:sp>
        <p:nvSpPr>
          <p:cNvPr id="51" name="Shape 49"/>
          <p:cNvSpPr/>
          <p:nvPr/>
        </p:nvSpPr>
        <p:spPr>
          <a:xfrm>
            <a:off x="4709160" y="2840355"/>
            <a:ext cx="256032" cy="914"/>
          </a:xfrm>
          <a:prstGeom prst="line">
            <a:avLst/>
          </a:prstGeom>
          <a:noFill/>
          <a:ln w="5080">
            <a:solidFill>
              <a:srgbClr val="D5DCE5"/>
            </a:solidFill>
            <a:prstDash val="solid"/>
          </a:ln>
        </p:spPr>
      </p:sp>
      <p:sp>
        <p:nvSpPr>
          <p:cNvPr id="52" name="Shape 50"/>
          <p:cNvSpPr/>
          <p:nvPr/>
        </p:nvSpPr>
        <p:spPr>
          <a:xfrm>
            <a:off x="4709160" y="2948940"/>
            <a:ext cx="256032" cy="914"/>
          </a:xfrm>
          <a:prstGeom prst="line">
            <a:avLst/>
          </a:prstGeom>
          <a:noFill/>
          <a:ln w="5080">
            <a:solidFill>
              <a:srgbClr val="D5DCE5"/>
            </a:solidFill>
            <a:prstDash val="solid"/>
          </a:ln>
        </p:spPr>
      </p:sp>
      <p:sp>
        <p:nvSpPr>
          <p:cNvPr id="53" name="Shape 51"/>
          <p:cNvSpPr/>
          <p:nvPr/>
        </p:nvSpPr>
        <p:spPr>
          <a:xfrm>
            <a:off x="4709160" y="3057525"/>
            <a:ext cx="256032" cy="914"/>
          </a:xfrm>
          <a:prstGeom prst="line">
            <a:avLst/>
          </a:prstGeom>
          <a:noFill/>
          <a:ln w="5080">
            <a:solidFill>
              <a:srgbClr val="D5DCE5"/>
            </a:solidFill>
            <a:prstDash val="solid"/>
          </a:ln>
        </p:spPr>
      </p:sp>
      <p:sp>
        <p:nvSpPr>
          <p:cNvPr id="54" name="Shape 52"/>
          <p:cNvSpPr/>
          <p:nvPr/>
        </p:nvSpPr>
        <p:spPr>
          <a:xfrm>
            <a:off x="4709160" y="3166110"/>
            <a:ext cx="256032" cy="914"/>
          </a:xfrm>
          <a:prstGeom prst="line">
            <a:avLst/>
          </a:prstGeom>
          <a:noFill/>
          <a:ln w="5080">
            <a:solidFill>
              <a:srgbClr val="D5DCE5"/>
            </a:solidFill>
            <a:prstDash val="solid"/>
          </a:ln>
        </p:spPr>
      </p:sp>
      <p:sp>
        <p:nvSpPr>
          <p:cNvPr id="55" name="Shape 53"/>
          <p:cNvSpPr/>
          <p:nvPr/>
        </p:nvSpPr>
        <p:spPr>
          <a:xfrm>
            <a:off x="4709160" y="3274695"/>
            <a:ext cx="256032" cy="914"/>
          </a:xfrm>
          <a:prstGeom prst="line">
            <a:avLst/>
          </a:prstGeom>
          <a:noFill/>
          <a:ln w="5080">
            <a:solidFill>
              <a:srgbClr val="D5DCE5"/>
            </a:solidFill>
            <a:prstDash val="solid"/>
          </a:ln>
        </p:spPr>
      </p:sp>
      <p:sp>
        <p:nvSpPr>
          <p:cNvPr id="56" name="Text 54"/>
          <p:cNvSpPr txBox="1"/>
          <p:nvPr/>
        </p:nvSpPr>
        <p:spPr>
          <a:xfrm>
            <a:off x="5029200" y="2514600"/>
            <a:ext cx="1554480" cy="548640"/>
          </a:xfrm>
          <a:prstGeom prst="rect">
            <a:avLst/>
          </a:prstGeom>
          <a:noFill/>
          <a:ln/>
        </p:spPr>
        <p:txBody>
          <a:bodyPr wrap="square" lIns="0" tIns="0" rIns="0" bIns="0" rtlCol="0" anchor="t"/>
          <a:lstStyle/>
          <a:p>
            <a:pPr algn="l" indent="0" marL="0">
              <a:buNone/>
            </a:pPr>
            <a:r>
              <a:rPr lang="en-US" sz="700" dirty="0">
                <a:solidFill>
                  <a:srgbClr val="D98A1E"/>
                </a:solidFill>
                <a:latin typeface="Malgun Gothic" pitchFamily="34" charset="0"/>
                <a:ea typeface="Malgun Gothic" pitchFamily="34" charset="-122"/>
                <a:cs typeface="Malgun Gothic" pitchFamily="34" charset="-120"/>
              </a:rPr>
              <a:t>W panel j</a:t>
            </a:r>
            <a:endParaRPr lang="en-US" sz="700" dirty="0"/>
          </a:p>
          <a:p>
            <a:pPr algn="l" indent="0" marL="0">
              <a:buNone/>
            </a:pPr>
            <a:r>
              <a:rPr lang="en-US" sz="700" dirty="0">
                <a:solidFill>
                  <a:srgbClr val="D98A1E"/>
                </a:solidFill>
                <a:latin typeface="Malgun Gothic" pitchFamily="34" charset="0"/>
                <a:ea typeface="Malgun Gothic" pitchFamily="34" charset="-122"/>
                <a:cs typeface="Malgun Gothic" pitchFamily="34" charset="-120"/>
              </a:rPr>
              <a:t>48×1 tiles 384 KiB</a:t>
            </a:r>
            <a:endParaRPr lang="en-US" sz="700" dirty="0"/>
          </a:p>
          <a:p>
            <a:pPr algn="l" indent="0" marL="0">
              <a:buNone/>
            </a:pPr>
            <a:r>
              <a:rPr lang="en-US" sz="700" dirty="0">
                <a:solidFill>
                  <a:srgbClr val="D98A1E"/>
                </a:solidFill>
                <a:latin typeface="Malgun Gothic" pitchFamily="34" charset="0"/>
                <a:ea typeface="Malgun Gothic" pitchFamily="34" charset="-122"/>
                <a:cs typeface="Malgun Gothic" pitchFamily="34" charset="-120"/>
              </a:rPr>
              <a:t>(b_at = n_panel)</a:t>
            </a:r>
            <a:endParaRPr lang="en-US" sz="700" dirty="0"/>
          </a:p>
        </p:txBody>
      </p:sp>
      <p:sp>
        <p:nvSpPr>
          <p:cNvPr id="57" name="Shape 55"/>
          <p:cNvSpPr/>
          <p:nvPr/>
        </p:nvSpPr>
        <p:spPr>
          <a:xfrm>
            <a:off x="1257300" y="1691640"/>
            <a:ext cx="3497580" cy="822960"/>
          </a:xfrm>
          <a:prstGeom prst="line">
            <a:avLst/>
          </a:prstGeom>
          <a:noFill/>
          <a:ln w="19050">
            <a:solidFill>
              <a:srgbClr val="D98A1E"/>
            </a:solidFill>
            <a:prstDash val="dash"/>
            <a:tailEnd type="triangle"/>
          </a:ln>
        </p:spPr>
      </p:sp>
      <p:sp>
        <p:nvSpPr>
          <p:cNvPr id="58" name="Text 56"/>
          <p:cNvSpPr txBox="1"/>
          <p:nvPr/>
        </p:nvSpPr>
        <p:spPr>
          <a:xfrm>
            <a:off x="4133088" y="2194560"/>
            <a:ext cx="457200" cy="365760"/>
          </a:xfrm>
          <a:prstGeom prst="rect">
            <a:avLst/>
          </a:prstGeom>
          <a:noFill/>
          <a:ln/>
        </p:spPr>
        <p:txBody>
          <a:bodyPr wrap="square" lIns="0" tIns="0" rIns="0" bIns="0" rtlCol="0" anchor="t"/>
          <a:lstStyle/>
          <a:p>
            <a:pPr algn="ctr" indent="0" marL="0">
              <a:buNone/>
            </a:pPr>
            <a:r>
              <a:rPr lang="en-US" sz="650" b="1" dirty="0">
                <a:solidFill>
                  <a:srgbClr val="D98A1E"/>
                </a:solidFill>
                <a:latin typeface="Malgun Gothic" pitchFamily="34" charset="0"/>
                <a:ea typeface="Malgun Gothic" pitchFamily="34" charset="-122"/>
                <a:cs typeface="Malgun Gothic" pitchFamily="34" charset="-120"/>
              </a:rPr>
              <a:t>GLOAD</a:t>
            </a:r>
            <a:endParaRPr lang="en-US" sz="650" dirty="0"/>
          </a:p>
          <a:p>
            <a:pPr algn="ctr" indent="0" marL="0">
              <a:buNone/>
            </a:pPr>
            <a:r>
              <a:rPr lang="en-US" sz="650" b="1" dirty="0">
                <a:solidFill>
                  <a:srgbClr val="D98A1E"/>
                </a:solidFill>
                <a:latin typeface="Malgun Gothic" pitchFamily="34" charset="0"/>
                <a:ea typeface="Malgun Gothic" pitchFamily="34" charset="-122"/>
                <a:cs typeface="Malgun Gothic" pitchFamily="34" charset="-120"/>
              </a:rPr>
              <a:t>panel j</a:t>
            </a:r>
            <a:endParaRPr lang="en-US" sz="650" dirty="0"/>
          </a:p>
        </p:txBody>
      </p:sp>
      <p:sp>
        <p:nvSpPr>
          <p:cNvPr id="59" name="Shape 57"/>
          <p:cNvSpPr/>
          <p:nvPr/>
        </p:nvSpPr>
        <p:spPr>
          <a:xfrm>
            <a:off x="7315200" y="2651760"/>
            <a:ext cx="502920" cy="502920"/>
          </a:xfrm>
          <a:prstGeom prst="rect">
            <a:avLst/>
          </a:prstGeom>
          <a:solidFill>
            <a:srgbClr val="ECE6FA"/>
          </a:solidFill>
          <a:ln w="12700">
            <a:solidFill>
              <a:srgbClr val="6C4FBF"/>
            </a:solidFill>
            <a:prstDash val="solid"/>
          </a:ln>
        </p:spPr>
      </p:sp>
      <p:sp>
        <p:nvSpPr>
          <p:cNvPr id="60" name="Shape 58"/>
          <p:cNvSpPr/>
          <p:nvPr/>
        </p:nvSpPr>
        <p:spPr>
          <a:xfrm>
            <a:off x="7315200" y="2651760"/>
            <a:ext cx="502920" cy="502920"/>
          </a:xfrm>
          <a:prstGeom prst="rect">
            <a:avLst/>
          </a:prstGeom>
          <a:solidFill>
            <a:srgbClr val="ECE6FA"/>
          </a:solidFill>
          <a:ln w="15875">
            <a:solidFill>
              <a:srgbClr val="6C4FBF"/>
            </a:solidFill>
            <a:prstDash val="solid"/>
          </a:ln>
        </p:spPr>
      </p:sp>
      <p:sp>
        <p:nvSpPr>
          <p:cNvPr id="61" name="Text 59"/>
          <p:cNvSpPr txBox="1"/>
          <p:nvPr/>
        </p:nvSpPr>
        <p:spPr>
          <a:xfrm>
            <a:off x="7315200" y="2651760"/>
            <a:ext cx="502920" cy="50292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48</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M_MUL</a:t>
            </a:r>
            <a:endParaRPr lang="en-US" sz="650" dirty="0"/>
          </a:p>
        </p:txBody>
      </p:sp>
      <p:sp>
        <p:nvSpPr>
          <p:cNvPr id="62" name="Text 60"/>
          <p:cNvSpPr txBox="1"/>
          <p:nvPr/>
        </p:nvSpPr>
        <p:spPr>
          <a:xfrm>
            <a:off x="7315200" y="2423160"/>
            <a:ext cx="118872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출력 tile (0, j)</a:t>
            </a:r>
            <a:endParaRPr lang="en-US" sz="700" dirty="0"/>
          </a:p>
        </p:txBody>
      </p:sp>
      <p:sp>
        <p:nvSpPr>
          <p:cNvPr id="63" name="Shape 61"/>
          <p:cNvSpPr/>
          <p:nvPr/>
        </p:nvSpPr>
        <p:spPr>
          <a:xfrm flipV="1">
            <a:off x="5010912" y="2903220"/>
            <a:ext cx="2304288" cy="45720"/>
          </a:xfrm>
          <a:prstGeom prst="line">
            <a:avLst/>
          </a:prstGeom>
          <a:noFill/>
          <a:ln w="19050">
            <a:solidFill>
              <a:srgbClr val="6C4FBF"/>
            </a:solidFill>
            <a:prstDash val="solid"/>
            <a:tailEnd type="triangle"/>
          </a:ln>
        </p:spPr>
      </p:sp>
      <p:sp>
        <p:nvSpPr>
          <p:cNvPr id="64" name="Shape 62"/>
          <p:cNvSpPr/>
          <p:nvPr/>
        </p:nvSpPr>
        <p:spPr>
          <a:xfrm>
            <a:off x="6446520" y="2176272"/>
            <a:ext cx="1120140" cy="475488"/>
          </a:xfrm>
          <a:prstGeom prst="line">
            <a:avLst/>
          </a:prstGeom>
          <a:noFill/>
          <a:ln w="19050">
            <a:solidFill>
              <a:srgbClr val="6C4FBF"/>
            </a:solidFill>
            <a:prstDash val="solid"/>
            <a:tailEnd type="triangle"/>
          </a:ln>
        </p:spPr>
      </p:sp>
      <p:sp>
        <p:nvSpPr>
          <p:cNvPr id="65" name="Text 63"/>
          <p:cNvSpPr txBox="1"/>
          <p:nvPr/>
        </p:nvSpPr>
        <p:spPr>
          <a:xfrm>
            <a:off x="5760720" y="3063240"/>
            <a:ext cx="1554480" cy="36576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X tile k × W tile k, k=0..47</a:t>
            </a:r>
            <a:endParaRPr lang="en-US" sz="650" dirty="0"/>
          </a:p>
          <a:p>
            <a:pPr algn="l" indent="0" marL="0">
              <a:buNone/>
            </a:pPr>
            <a:r>
              <a:rPr lang="en-US" sz="650" dirty="0">
                <a:solidFill>
                  <a:srgbClr val="5B6B7F"/>
                </a:solidFill>
                <a:latin typeface="Malgun Gothic" pitchFamily="34" charset="0"/>
                <a:ea typeface="Malgun Gothic" pitchFamily="34" charset="-122"/>
                <a:cs typeface="Malgun Gothic" pitchFamily="34" charset="-120"/>
              </a:rPr>
              <a:t>(MAC 0, 1, 1, …)</a:t>
            </a:r>
            <a:endParaRPr lang="en-US" sz="650" dirty="0"/>
          </a:p>
        </p:txBody>
      </p:sp>
      <p:sp>
        <p:nvSpPr>
          <p:cNvPr id="66" name="Shape 64"/>
          <p:cNvSpPr/>
          <p:nvPr/>
        </p:nvSpPr>
        <p:spPr>
          <a:xfrm>
            <a:off x="457200" y="3703320"/>
            <a:ext cx="7863840" cy="256032"/>
          </a:xfrm>
          <a:prstGeom prst="rect">
            <a:avLst/>
          </a:prstGeom>
          <a:solidFill>
            <a:srgbClr val="EEF2F6"/>
          </a:solidFill>
          <a:ln w="12700">
            <a:solidFill>
              <a:srgbClr val="C9D3DF"/>
            </a:solidFill>
            <a:prstDash val="solid"/>
          </a:ln>
        </p:spPr>
      </p:sp>
      <p:sp>
        <p:nvSpPr>
          <p:cNvPr id="67" name="Shape 65"/>
          <p:cNvSpPr/>
          <p:nvPr/>
        </p:nvSpPr>
        <p:spPr>
          <a:xfrm>
            <a:off x="2177415" y="3703320"/>
            <a:ext cx="245745" cy="256032"/>
          </a:xfrm>
          <a:prstGeom prst="rect">
            <a:avLst/>
          </a:prstGeom>
          <a:solidFill>
            <a:srgbClr val="ECE6FA"/>
          </a:solidFill>
          <a:ln w="15875">
            <a:solidFill>
              <a:srgbClr val="6C4FBF"/>
            </a:solidFill>
            <a:prstDash val="solid"/>
          </a:ln>
        </p:spPr>
      </p:sp>
      <p:sp>
        <p:nvSpPr>
          <p:cNvPr id="68" name="Shape 66"/>
          <p:cNvSpPr/>
          <p:nvPr/>
        </p:nvSpPr>
        <p:spPr>
          <a:xfrm>
            <a:off x="457200" y="3703320"/>
            <a:ext cx="1720215" cy="256032"/>
          </a:xfrm>
          <a:prstGeom prst="rect">
            <a:avLst/>
          </a:prstGeom>
          <a:solidFill>
            <a:srgbClr val="E5F3E7"/>
          </a:solidFill>
          <a:ln w="15875">
            <a:solidFill>
              <a:srgbClr val="2E7D32"/>
            </a:solidFill>
            <a:prstDash val="solid"/>
          </a:ln>
        </p:spPr>
      </p:sp>
      <p:sp>
        <p:nvSpPr>
          <p:cNvPr id="69" name="Shape 67"/>
          <p:cNvSpPr/>
          <p:nvPr/>
        </p:nvSpPr>
        <p:spPr>
          <a:xfrm>
            <a:off x="702945" y="3703320"/>
            <a:ext cx="914" cy="256032"/>
          </a:xfrm>
          <a:prstGeom prst="line">
            <a:avLst/>
          </a:prstGeom>
          <a:noFill/>
          <a:ln w="5080">
            <a:solidFill>
              <a:srgbClr val="D5DCE5"/>
            </a:solidFill>
            <a:prstDash val="solid"/>
          </a:ln>
        </p:spPr>
      </p:sp>
      <p:sp>
        <p:nvSpPr>
          <p:cNvPr id="70" name="Shape 68"/>
          <p:cNvSpPr/>
          <p:nvPr/>
        </p:nvSpPr>
        <p:spPr>
          <a:xfrm>
            <a:off x="948690" y="3703320"/>
            <a:ext cx="914" cy="256032"/>
          </a:xfrm>
          <a:prstGeom prst="line">
            <a:avLst/>
          </a:prstGeom>
          <a:noFill/>
          <a:ln w="5080">
            <a:solidFill>
              <a:srgbClr val="D5DCE5"/>
            </a:solidFill>
            <a:prstDash val="solid"/>
          </a:ln>
        </p:spPr>
      </p:sp>
      <p:sp>
        <p:nvSpPr>
          <p:cNvPr id="71" name="Shape 69"/>
          <p:cNvSpPr/>
          <p:nvPr/>
        </p:nvSpPr>
        <p:spPr>
          <a:xfrm>
            <a:off x="1194435" y="3703320"/>
            <a:ext cx="914" cy="256032"/>
          </a:xfrm>
          <a:prstGeom prst="line">
            <a:avLst/>
          </a:prstGeom>
          <a:noFill/>
          <a:ln w="5080">
            <a:solidFill>
              <a:srgbClr val="D5DCE5"/>
            </a:solidFill>
            <a:prstDash val="solid"/>
          </a:ln>
        </p:spPr>
      </p:sp>
      <p:sp>
        <p:nvSpPr>
          <p:cNvPr id="72" name="Shape 70"/>
          <p:cNvSpPr/>
          <p:nvPr/>
        </p:nvSpPr>
        <p:spPr>
          <a:xfrm>
            <a:off x="1440180" y="3703320"/>
            <a:ext cx="914" cy="256032"/>
          </a:xfrm>
          <a:prstGeom prst="line">
            <a:avLst/>
          </a:prstGeom>
          <a:noFill/>
          <a:ln w="5080">
            <a:solidFill>
              <a:srgbClr val="D5DCE5"/>
            </a:solidFill>
            <a:prstDash val="solid"/>
          </a:ln>
        </p:spPr>
      </p:sp>
      <p:sp>
        <p:nvSpPr>
          <p:cNvPr id="73" name="Shape 71"/>
          <p:cNvSpPr/>
          <p:nvPr/>
        </p:nvSpPr>
        <p:spPr>
          <a:xfrm>
            <a:off x="1685925" y="3703320"/>
            <a:ext cx="914" cy="256032"/>
          </a:xfrm>
          <a:prstGeom prst="line">
            <a:avLst/>
          </a:prstGeom>
          <a:noFill/>
          <a:ln w="5080">
            <a:solidFill>
              <a:srgbClr val="D5DCE5"/>
            </a:solidFill>
            <a:prstDash val="solid"/>
          </a:ln>
        </p:spPr>
      </p:sp>
      <p:sp>
        <p:nvSpPr>
          <p:cNvPr id="74" name="Shape 72"/>
          <p:cNvSpPr/>
          <p:nvPr/>
        </p:nvSpPr>
        <p:spPr>
          <a:xfrm>
            <a:off x="1931670" y="3703320"/>
            <a:ext cx="914" cy="256032"/>
          </a:xfrm>
          <a:prstGeom prst="line">
            <a:avLst/>
          </a:prstGeom>
          <a:noFill/>
          <a:ln w="5080">
            <a:solidFill>
              <a:srgbClr val="D5DCE5"/>
            </a:solidFill>
            <a:prstDash val="solid"/>
          </a:ln>
        </p:spPr>
      </p:sp>
      <p:sp>
        <p:nvSpPr>
          <p:cNvPr id="75" name="Shape 73"/>
          <p:cNvSpPr/>
          <p:nvPr/>
        </p:nvSpPr>
        <p:spPr>
          <a:xfrm>
            <a:off x="2177415" y="3703320"/>
            <a:ext cx="914" cy="256032"/>
          </a:xfrm>
          <a:prstGeom prst="line">
            <a:avLst/>
          </a:prstGeom>
          <a:noFill/>
          <a:ln w="5080">
            <a:solidFill>
              <a:srgbClr val="D5DCE5"/>
            </a:solidFill>
            <a:prstDash val="solid"/>
          </a:ln>
        </p:spPr>
      </p:sp>
      <p:sp>
        <p:nvSpPr>
          <p:cNvPr id="76" name="Shape 74"/>
          <p:cNvSpPr/>
          <p:nvPr/>
        </p:nvSpPr>
        <p:spPr>
          <a:xfrm>
            <a:off x="2423160" y="3703320"/>
            <a:ext cx="914" cy="256032"/>
          </a:xfrm>
          <a:prstGeom prst="line">
            <a:avLst/>
          </a:prstGeom>
          <a:noFill/>
          <a:ln w="5080">
            <a:solidFill>
              <a:srgbClr val="D5DCE5"/>
            </a:solidFill>
            <a:prstDash val="solid"/>
          </a:ln>
        </p:spPr>
      </p:sp>
      <p:sp>
        <p:nvSpPr>
          <p:cNvPr id="77" name="Shape 75"/>
          <p:cNvSpPr/>
          <p:nvPr/>
        </p:nvSpPr>
        <p:spPr>
          <a:xfrm>
            <a:off x="2668905" y="3703320"/>
            <a:ext cx="914" cy="256032"/>
          </a:xfrm>
          <a:prstGeom prst="line">
            <a:avLst/>
          </a:prstGeom>
          <a:noFill/>
          <a:ln w="5080">
            <a:solidFill>
              <a:srgbClr val="D5DCE5"/>
            </a:solidFill>
            <a:prstDash val="solid"/>
          </a:ln>
        </p:spPr>
      </p:sp>
      <p:sp>
        <p:nvSpPr>
          <p:cNvPr id="78" name="Shape 76"/>
          <p:cNvSpPr/>
          <p:nvPr/>
        </p:nvSpPr>
        <p:spPr>
          <a:xfrm>
            <a:off x="2914650" y="3703320"/>
            <a:ext cx="914" cy="256032"/>
          </a:xfrm>
          <a:prstGeom prst="line">
            <a:avLst/>
          </a:prstGeom>
          <a:noFill/>
          <a:ln w="5080">
            <a:solidFill>
              <a:srgbClr val="D5DCE5"/>
            </a:solidFill>
            <a:prstDash val="solid"/>
          </a:ln>
        </p:spPr>
      </p:sp>
      <p:sp>
        <p:nvSpPr>
          <p:cNvPr id="79" name="Shape 77"/>
          <p:cNvSpPr/>
          <p:nvPr/>
        </p:nvSpPr>
        <p:spPr>
          <a:xfrm>
            <a:off x="3160395" y="3703320"/>
            <a:ext cx="914" cy="256032"/>
          </a:xfrm>
          <a:prstGeom prst="line">
            <a:avLst/>
          </a:prstGeom>
          <a:noFill/>
          <a:ln w="5080">
            <a:solidFill>
              <a:srgbClr val="D5DCE5"/>
            </a:solidFill>
            <a:prstDash val="solid"/>
          </a:ln>
        </p:spPr>
      </p:sp>
      <p:sp>
        <p:nvSpPr>
          <p:cNvPr id="80" name="Shape 78"/>
          <p:cNvSpPr/>
          <p:nvPr/>
        </p:nvSpPr>
        <p:spPr>
          <a:xfrm>
            <a:off x="3406140" y="3703320"/>
            <a:ext cx="914" cy="256032"/>
          </a:xfrm>
          <a:prstGeom prst="line">
            <a:avLst/>
          </a:prstGeom>
          <a:noFill/>
          <a:ln w="5080">
            <a:solidFill>
              <a:srgbClr val="D5DCE5"/>
            </a:solidFill>
            <a:prstDash val="solid"/>
          </a:ln>
        </p:spPr>
      </p:sp>
      <p:sp>
        <p:nvSpPr>
          <p:cNvPr id="81" name="Shape 79"/>
          <p:cNvSpPr/>
          <p:nvPr/>
        </p:nvSpPr>
        <p:spPr>
          <a:xfrm>
            <a:off x="3651885" y="3703320"/>
            <a:ext cx="914" cy="256032"/>
          </a:xfrm>
          <a:prstGeom prst="line">
            <a:avLst/>
          </a:prstGeom>
          <a:noFill/>
          <a:ln w="5080">
            <a:solidFill>
              <a:srgbClr val="D5DCE5"/>
            </a:solidFill>
            <a:prstDash val="solid"/>
          </a:ln>
        </p:spPr>
      </p:sp>
      <p:sp>
        <p:nvSpPr>
          <p:cNvPr id="82" name="Shape 80"/>
          <p:cNvSpPr/>
          <p:nvPr/>
        </p:nvSpPr>
        <p:spPr>
          <a:xfrm>
            <a:off x="3897630" y="3703320"/>
            <a:ext cx="914" cy="256032"/>
          </a:xfrm>
          <a:prstGeom prst="line">
            <a:avLst/>
          </a:prstGeom>
          <a:noFill/>
          <a:ln w="5080">
            <a:solidFill>
              <a:srgbClr val="D5DCE5"/>
            </a:solidFill>
            <a:prstDash val="solid"/>
          </a:ln>
        </p:spPr>
      </p:sp>
      <p:sp>
        <p:nvSpPr>
          <p:cNvPr id="83" name="Shape 81"/>
          <p:cNvSpPr/>
          <p:nvPr/>
        </p:nvSpPr>
        <p:spPr>
          <a:xfrm>
            <a:off x="4143375" y="3703320"/>
            <a:ext cx="914" cy="256032"/>
          </a:xfrm>
          <a:prstGeom prst="line">
            <a:avLst/>
          </a:prstGeom>
          <a:noFill/>
          <a:ln w="5080">
            <a:solidFill>
              <a:srgbClr val="D5DCE5"/>
            </a:solidFill>
            <a:prstDash val="solid"/>
          </a:ln>
        </p:spPr>
      </p:sp>
      <p:sp>
        <p:nvSpPr>
          <p:cNvPr id="84" name="Shape 82"/>
          <p:cNvSpPr/>
          <p:nvPr/>
        </p:nvSpPr>
        <p:spPr>
          <a:xfrm>
            <a:off x="4389120" y="3703320"/>
            <a:ext cx="914" cy="256032"/>
          </a:xfrm>
          <a:prstGeom prst="line">
            <a:avLst/>
          </a:prstGeom>
          <a:noFill/>
          <a:ln w="5080">
            <a:solidFill>
              <a:srgbClr val="D5DCE5"/>
            </a:solidFill>
            <a:prstDash val="solid"/>
          </a:ln>
        </p:spPr>
      </p:sp>
      <p:sp>
        <p:nvSpPr>
          <p:cNvPr id="85" name="Shape 83"/>
          <p:cNvSpPr/>
          <p:nvPr/>
        </p:nvSpPr>
        <p:spPr>
          <a:xfrm>
            <a:off x="4634865" y="3703320"/>
            <a:ext cx="914" cy="256032"/>
          </a:xfrm>
          <a:prstGeom prst="line">
            <a:avLst/>
          </a:prstGeom>
          <a:noFill/>
          <a:ln w="5080">
            <a:solidFill>
              <a:srgbClr val="D5DCE5"/>
            </a:solidFill>
            <a:prstDash val="solid"/>
          </a:ln>
        </p:spPr>
      </p:sp>
      <p:sp>
        <p:nvSpPr>
          <p:cNvPr id="86" name="Shape 84"/>
          <p:cNvSpPr/>
          <p:nvPr/>
        </p:nvSpPr>
        <p:spPr>
          <a:xfrm>
            <a:off x="4880610" y="3703320"/>
            <a:ext cx="914" cy="256032"/>
          </a:xfrm>
          <a:prstGeom prst="line">
            <a:avLst/>
          </a:prstGeom>
          <a:noFill/>
          <a:ln w="5080">
            <a:solidFill>
              <a:srgbClr val="D5DCE5"/>
            </a:solidFill>
            <a:prstDash val="solid"/>
          </a:ln>
        </p:spPr>
      </p:sp>
      <p:sp>
        <p:nvSpPr>
          <p:cNvPr id="87" name="Shape 85"/>
          <p:cNvSpPr/>
          <p:nvPr/>
        </p:nvSpPr>
        <p:spPr>
          <a:xfrm>
            <a:off x="5126355" y="3703320"/>
            <a:ext cx="914" cy="256032"/>
          </a:xfrm>
          <a:prstGeom prst="line">
            <a:avLst/>
          </a:prstGeom>
          <a:noFill/>
          <a:ln w="5080">
            <a:solidFill>
              <a:srgbClr val="D5DCE5"/>
            </a:solidFill>
            <a:prstDash val="solid"/>
          </a:ln>
        </p:spPr>
      </p:sp>
      <p:sp>
        <p:nvSpPr>
          <p:cNvPr id="88" name="Shape 86"/>
          <p:cNvSpPr/>
          <p:nvPr/>
        </p:nvSpPr>
        <p:spPr>
          <a:xfrm>
            <a:off x="5372100" y="3703320"/>
            <a:ext cx="914" cy="256032"/>
          </a:xfrm>
          <a:prstGeom prst="line">
            <a:avLst/>
          </a:prstGeom>
          <a:noFill/>
          <a:ln w="5080">
            <a:solidFill>
              <a:srgbClr val="D5DCE5"/>
            </a:solidFill>
            <a:prstDash val="solid"/>
          </a:ln>
        </p:spPr>
      </p:sp>
      <p:sp>
        <p:nvSpPr>
          <p:cNvPr id="89" name="Shape 87"/>
          <p:cNvSpPr/>
          <p:nvPr/>
        </p:nvSpPr>
        <p:spPr>
          <a:xfrm>
            <a:off x="5617845" y="3703320"/>
            <a:ext cx="914" cy="256032"/>
          </a:xfrm>
          <a:prstGeom prst="line">
            <a:avLst/>
          </a:prstGeom>
          <a:noFill/>
          <a:ln w="5080">
            <a:solidFill>
              <a:srgbClr val="D5DCE5"/>
            </a:solidFill>
            <a:prstDash val="solid"/>
          </a:ln>
        </p:spPr>
      </p:sp>
      <p:sp>
        <p:nvSpPr>
          <p:cNvPr id="90" name="Shape 88"/>
          <p:cNvSpPr/>
          <p:nvPr/>
        </p:nvSpPr>
        <p:spPr>
          <a:xfrm>
            <a:off x="5863590" y="3703320"/>
            <a:ext cx="914" cy="256032"/>
          </a:xfrm>
          <a:prstGeom prst="line">
            <a:avLst/>
          </a:prstGeom>
          <a:noFill/>
          <a:ln w="5080">
            <a:solidFill>
              <a:srgbClr val="D5DCE5"/>
            </a:solidFill>
            <a:prstDash val="solid"/>
          </a:ln>
        </p:spPr>
      </p:sp>
      <p:sp>
        <p:nvSpPr>
          <p:cNvPr id="91" name="Shape 89"/>
          <p:cNvSpPr/>
          <p:nvPr/>
        </p:nvSpPr>
        <p:spPr>
          <a:xfrm>
            <a:off x="6109335" y="3703320"/>
            <a:ext cx="914" cy="256032"/>
          </a:xfrm>
          <a:prstGeom prst="line">
            <a:avLst/>
          </a:prstGeom>
          <a:noFill/>
          <a:ln w="5080">
            <a:solidFill>
              <a:srgbClr val="D5DCE5"/>
            </a:solidFill>
            <a:prstDash val="solid"/>
          </a:ln>
        </p:spPr>
      </p:sp>
      <p:sp>
        <p:nvSpPr>
          <p:cNvPr id="92" name="Shape 90"/>
          <p:cNvSpPr/>
          <p:nvPr/>
        </p:nvSpPr>
        <p:spPr>
          <a:xfrm>
            <a:off x="6355080" y="3703320"/>
            <a:ext cx="914" cy="256032"/>
          </a:xfrm>
          <a:prstGeom prst="line">
            <a:avLst/>
          </a:prstGeom>
          <a:noFill/>
          <a:ln w="5080">
            <a:solidFill>
              <a:srgbClr val="D5DCE5"/>
            </a:solidFill>
            <a:prstDash val="solid"/>
          </a:ln>
        </p:spPr>
      </p:sp>
      <p:sp>
        <p:nvSpPr>
          <p:cNvPr id="93" name="Shape 91"/>
          <p:cNvSpPr/>
          <p:nvPr/>
        </p:nvSpPr>
        <p:spPr>
          <a:xfrm>
            <a:off x="6600825" y="3703320"/>
            <a:ext cx="914" cy="256032"/>
          </a:xfrm>
          <a:prstGeom prst="line">
            <a:avLst/>
          </a:prstGeom>
          <a:noFill/>
          <a:ln w="5080">
            <a:solidFill>
              <a:srgbClr val="D5DCE5"/>
            </a:solidFill>
            <a:prstDash val="solid"/>
          </a:ln>
        </p:spPr>
      </p:sp>
      <p:sp>
        <p:nvSpPr>
          <p:cNvPr id="94" name="Shape 92"/>
          <p:cNvSpPr/>
          <p:nvPr/>
        </p:nvSpPr>
        <p:spPr>
          <a:xfrm>
            <a:off x="6846570" y="3703320"/>
            <a:ext cx="914" cy="256032"/>
          </a:xfrm>
          <a:prstGeom prst="line">
            <a:avLst/>
          </a:prstGeom>
          <a:noFill/>
          <a:ln w="5080">
            <a:solidFill>
              <a:srgbClr val="D5DCE5"/>
            </a:solidFill>
            <a:prstDash val="solid"/>
          </a:ln>
        </p:spPr>
      </p:sp>
      <p:sp>
        <p:nvSpPr>
          <p:cNvPr id="95" name="Shape 93"/>
          <p:cNvSpPr/>
          <p:nvPr/>
        </p:nvSpPr>
        <p:spPr>
          <a:xfrm>
            <a:off x="7092315" y="3703320"/>
            <a:ext cx="914" cy="256032"/>
          </a:xfrm>
          <a:prstGeom prst="line">
            <a:avLst/>
          </a:prstGeom>
          <a:noFill/>
          <a:ln w="5080">
            <a:solidFill>
              <a:srgbClr val="D5DCE5"/>
            </a:solidFill>
            <a:prstDash val="solid"/>
          </a:ln>
        </p:spPr>
      </p:sp>
      <p:sp>
        <p:nvSpPr>
          <p:cNvPr id="96" name="Shape 94"/>
          <p:cNvSpPr/>
          <p:nvPr/>
        </p:nvSpPr>
        <p:spPr>
          <a:xfrm>
            <a:off x="7338060" y="3703320"/>
            <a:ext cx="914" cy="256032"/>
          </a:xfrm>
          <a:prstGeom prst="line">
            <a:avLst/>
          </a:prstGeom>
          <a:noFill/>
          <a:ln w="5080">
            <a:solidFill>
              <a:srgbClr val="D5DCE5"/>
            </a:solidFill>
            <a:prstDash val="solid"/>
          </a:ln>
        </p:spPr>
      </p:sp>
      <p:sp>
        <p:nvSpPr>
          <p:cNvPr id="97" name="Shape 95"/>
          <p:cNvSpPr/>
          <p:nvPr/>
        </p:nvSpPr>
        <p:spPr>
          <a:xfrm>
            <a:off x="7583805" y="3703320"/>
            <a:ext cx="914" cy="256032"/>
          </a:xfrm>
          <a:prstGeom prst="line">
            <a:avLst/>
          </a:prstGeom>
          <a:noFill/>
          <a:ln w="5080">
            <a:solidFill>
              <a:srgbClr val="D5DCE5"/>
            </a:solidFill>
            <a:prstDash val="solid"/>
          </a:ln>
        </p:spPr>
      </p:sp>
      <p:sp>
        <p:nvSpPr>
          <p:cNvPr id="98" name="Shape 96"/>
          <p:cNvSpPr/>
          <p:nvPr/>
        </p:nvSpPr>
        <p:spPr>
          <a:xfrm>
            <a:off x="7829550" y="3703320"/>
            <a:ext cx="914" cy="256032"/>
          </a:xfrm>
          <a:prstGeom prst="line">
            <a:avLst/>
          </a:prstGeom>
          <a:noFill/>
          <a:ln w="5080">
            <a:solidFill>
              <a:srgbClr val="D5DCE5"/>
            </a:solidFill>
            <a:prstDash val="solid"/>
          </a:ln>
        </p:spPr>
      </p:sp>
      <p:sp>
        <p:nvSpPr>
          <p:cNvPr id="99" name="Shape 97"/>
          <p:cNvSpPr/>
          <p:nvPr/>
        </p:nvSpPr>
        <p:spPr>
          <a:xfrm>
            <a:off x="8075295" y="3703320"/>
            <a:ext cx="914" cy="256032"/>
          </a:xfrm>
          <a:prstGeom prst="line">
            <a:avLst/>
          </a:prstGeom>
          <a:noFill/>
          <a:ln w="5080">
            <a:solidFill>
              <a:srgbClr val="D5DCE5"/>
            </a:solidFill>
            <a:prstDash val="solid"/>
          </a:ln>
        </p:spPr>
      </p:sp>
      <p:sp>
        <p:nvSpPr>
          <p:cNvPr id="100" name="Text 98"/>
          <p:cNvSpPr txBox="1"/>
          <p:nvPr/>
        </p:nvSpPr>
        <p:spPr>
          <a:xfrm>
            <a:off x="2177415" y="3703320"/>
            <a:ext cx="245745" cy="256032"/>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j</a:t>
            </a:r>
            <a:endParaRPr lang="en-US" sz="700" dirty="0"/>
          </a:p>
        </p:txBody>
      </p:sp>
      <p:sp>
        <p:nvSpPr>
          <p:cNvPr id="101" name="Text 99"/>
          <p:cNvSpPr txBox="1"/>
          <p:nvPr/>
        </p:nvSpPr>
        <p:spPr>
          <a:xfrm>
            <a:off x="457200" y="3703320"/>
            <a:ext cx="1720215" cy="256032"/>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완료</a:t>
            </a:r>
            <a:endParaRPr lang="en-US" sz="700" dirty="0"/>
          </a:p>
        </p:txBody>
      </p:sp>
      <p:sp>
        <p:nvSpPr>
          <p:cNvPr id="102" name="Text 100"/>
          <p:cNvSpPr txBox="1"/>
          <p:nvPr/>
        </p:nvSpPr>
        <p:spPr>
          <a:xfrm>
            <a:off x="457200" y="3474720"/>
            <a:ext cx="7863840" cy="201168"/>
          </a:xfrm>
          <a:prstGeom prst="rect">
            <a:avLst/>
          </a:prstGeom>
          <a:noFill/>
          <a:ln/>
        </p:spPr>
        <p:txBody>
          <a:bodyPr wrap="square" lIns="0" tIns="0" rIns="0" bIns="0" rtlCol="0" anchor="t"/>
          <a:lstStyle/>
          <a:p>
            <a:pPr algn="l" indent="0" marL="0">
              <a:buNone/>
            </a:pPr>
            <a:r>
              <a:rPr lang="en-US" sz="750" b="1" dirty="0">
                <a:solidFill>
                  <a:srgbClr val="15243B"/>
                </a:solidFill>
                <a:latin typeface="Malgun Gothic" pitchFamily="34" charset="0"/>
                <a:ea typeface="Malgun Gothic" pitchFamily="34" charset="-122"/>
                <a:cs typeface="Malgun Gothic" pitchFamily="34" charset="-120"/>
              </a:rPr>
              <a:t>출력 [64,8192] = 1 × 128 tiles: tile j 완성(FP16 SAVE) → panel j+1 · 128 × 48 = 6,144 M_MUL, W 48 MiB 각 1회, X 1회</a:t>
            </a:r>
            <a:endParaRPr lang="en-US" sz="750" dirty="0"/>
          </a:p>
        </p:txBody>
      </p:sp>
      <p:sp>
        <p:nvSpPr>
          <p:cNvPr id="103" name="Shape 101"/>
          <p:cNvSpPr/>
          <p:nvPr/>
        </p:nvSpPr>
        <p:spPr>
          <a:xfrm flipH="1">
            <a:off x="2300288" y="3154680"/>
            <a:ext cx="5266373" cy="548640"/>
          </a:xfrm>
          <a:prstGeom prst="line">
            <a:avLst/>
          </a:prstGeom>
          <a:noFill/>
          <a:ln w="19050">
            <a:solidFill>
              <a:srgbClr val="6C4FBF"/>
            </a:solidFill>
            <a:prstDash val="solid"/>
            <a:tailEnd type="triangle"/>
          </a:ln>
        </p:spPr>
      </p:sp>
      <p:sp>
        <p:nvSpPr>
          <p:cNvPr id="104" name="Text 102"/>
          <p:cNvSpPr txBox="1"/>
          <p:nvPr/>
        </p:nvSpPr>
        <p:spPr>
          <a:xfrm>
            <a:off x="8595360" y="1463040"/>
            <a:ext cx="3136392" cy="2651760"/>
          </a:xfrm>
          <a:prstGeom prst="rect">
            <a:avLst/>
          </a:prstGeom>
          <a:noFill/>
          <a:ln/>
        </p:spPr>
        <p:txBody>
          <a:bodyPr wrap="square" lIns="0" tIns="0" rIns="0" bIns="0" rtlCol="0" anchor="t"/>
          <a:lstStyle/>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탐색 축: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m/n panel, K chunk, outer/inner 순서, X/W cache 위치(a_at/b_at). K는 항상 최내측 (accumulator 1개)</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검사: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같은 순회·복사 주기의 표기는 후보 하나로 정규화, 증명된 SRAM 초과는 제외 → 추정 DMA 순으로 실제 schedule·compaction·USMP·명령 생성 → (DMA, words, SRAM). 시도 64, legal 8, words max(100k, 기준×8)</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선택형: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MetaSchedule ReplayFunc 추첨 탐색 · trace DB 재사용 (기본 off, 마지막 슬라이드)</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선택 기록: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gate/up ("A",64) X 유지 · down ("B",256) W 4 MiB 유지, H는 SRAM 보관값</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tensorize: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64×64 조각 → npu_gemm_acc intrinsic → codegen이 descriptor·LOAD·M_MUL로</a:t>
            </a:r>
            <a:endParaRPr lang="en-US" sz="800" dirty="0"/>
          </a:p>
        </p:txBody>
      </p:sp>
      <p:sp>
        <p:nvSpPr>
          <p:cNvPr id="105" name="Text 103"/>
          <p:cNvSpPr txBox="1"/>
          <p:nvPr/>
        </p:nvSpPr>
        <p:spPr>
          <a:xfrm>
            <a:off x="457200" y="4160520"/>
            <a:ext cx="10972800"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실제 명령: H[64,128] @ W2[128,64] (word 52–71, 20 words) — ① X₀·B₀ MAC=0 ② X₁·B₁ MAC=1 ③ SAVE 1회</a:t>
            </a:r>
            <a:endParaRPr lang="en-US" sz="900" dirty="0"/>
          </a:p>
        </p:txBody>
      </p:sp>
      <p:sp>
        <p:nvSpPr>
          <p:cNvPr id="106" name="Shape 104"/>
          <p:cNvSpPr/>
          <p:nvPr/>
        </p:nvSpPr>
        <p:spPr>
          <a:xfrm>
            <a:off x="457200" y="4526280"/>
            <a:ext cx="563728" cy="384048"/>
          </a:xfrm>
          <a:prstGeom prst="rect">
            <a:avLst/>
          </a:prstGeom>
          <a:solidFill>
            <a:srgbClr val="E3EEFB"/>
          </a:solidFill>
          <a:ln w="6350">
            <a:solidFill>
              <a:srgbClr val="2F6DB5"/>
            </a:solidFill>
            <a:prstDash val="solid"/>
          </a:ln>
        </p:spPr>
      </p:sp>
      <p:sp>
        <p:nvSpPr>
          <p:cNvPr id="107" name="Text 105"/>
          <p:cNvSpPr txBox="1"/>
          <p:nvPr/>
        </p:nvSpPr>
        <p:spPr>
          <a:xfrm>
            <a:off x="457200"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M</a:t>
            </a:r>
            <a:endParaRPr lang="en-US" sz="650" dirty="0"/>
          </a:p>
        </p:txBody>
      </p:sp>
      <p:sp>
        <p:nvSpPr>
          <p:cNvPr id="108" name="Text 106"/>
          <p:cNvSpPr txBox="1"/>
          <p:nvPr/>
        </p:nvSpPr>
        <p:spPr>
          <a:xfrm>
            <a:off x="228600" y="492861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52</a:t>
            </a:r>
            <a:endParaRPr lang="en-US" sz="650" dirty="0"/>
          </a:p>
        </p:txBody>
      </p:sp>
      <p:sp>
        <p:nvSpPr>
          <p:cNvPr id="109" name="Text 107"/>
          <p:cNvSpPr txBox="1"/>
          <p:nvPr/>
        </p:nvSpPr>
        <p:spPr>
          <a:xfrm>
            <a:off x="182880" y="434340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① X₀ → SRC1</a:t>
            </a:r>
            <a:endParaRPr lang="en-US" sz="700" dirty="0"/>
          </a:p>
        </p:txBody>
      </p:sp>
      <p:sp>
        <p:nvSpPr>
          <p:cNvPr id="110" name="Shape 108"/>
          <p:cNvSpPr/>
          <p:nvPr/>
        </p:nvSpPr>
        <p:spPr>
          <a:xfrm>
            <a:off x="1020928" y="4526280"/>
            <a:ext cx="563728" cy="384048"/>
          </a:xfrm>
          <a:prstGeom prst="rect">
            <a:avLst/>
          </a:prstGeom>
          <a:solidFill>
            <a:srgbClr val="EEF1F5"/>
          </a:solidFill>
          <a:ln w="6350">
            <a:solidFill>
              <a:srgbClr val="5B6B7F"/>
            </a:solidFill>
            <a:prstDash val="solid"/>
          </a:ln>
        </p:spPr>
      </p:sp>
      <p:sp>
        <p:nvSpPr>
          <p:cNvPr id="111" name="Text 109"/>
          <p:cNvSpPr txBox="1"/>
          <p:nvPr/>
        </p:nvSpPr>
        <p:spPr>
          <a:xfrm>
            <a:off x="1020928"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COLS</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128</a:t>
            </a:r>
            <a:endParaRPr lang="en-US" sz="650" dirty="0"/>
          </a:p>
        </p:txBody>
      </p:sp>
      <p:sp>
        <p:nvSpPr>
          <p:cNvPr id="112" name="Shape 110"/>
          <p:cNvSpPr/>
          <p:nvPr/>
        </p:nvSpPr>
        <p:spPr>
          <a:xfrm>
            <a:off x="1584655" y="4526280"/>
            <a:ext cx="563728" cy="384048"/>
          </a:xfrm>
          <a:prstGeom prst="rect">
            <a:avLst/>
          </a:prstGeom>
          <a:solidFill>
            <a:srgbClr val="E3EEFB"/>
          </a:solidFill>
          <a:ln w="6350">
            <a:solidFill>
              <a:srgbClr val="2F6DB5"/>
            </a:solidFill>
            <a:prstDash val="solid"/>
          </a:ln>
        </p:spPr>
      </p:sp>
      <p:sp>
        <p:nvSpPr>
          <p:cNvPr id="113" name="Text 111"/>
          <p:cNvSpPr txBox="1"/>
          <p:nvPr/>
        </p:nvSpPr>
        <p:spPr>
          <a:xfrm>
            <a:off x="1584655"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P</a:t>
            </a:r>
            <a:endParaRPr lang="en-US" sz="650" dirty="0"/>
          </a:p>
        </p:txBody>
      </p:sp>
      <p:sp>
        <p:nvSpPr>
          <p:cNvPr id="114" name="Shape 112"/>
          <p:cNvSpPr/>
          <p:nvPr/>
        </p:nvSpPr>
        <p:spPr>
          <a:xfrm>
            <a:off x="2148383" y="4526280"/>
            <a:ext cx="563728" cy="384048"/>
          </a:xfrm>
          <a:prstGeom prst="rect">
            <a:avLst/>
          </a:prstGeom>
          <a:solidFill>
            <a:srgbClr val="DDF3F0"/>
          </a:solidFill>
          <a:ln w="6350">
            <a:solidFill>
              <a:srgbClr val="1F8A8A"/>
            </a:solidFill>
            <a:prstDash val="solid"/>
          </a:ln>
        </p:spPr>
      </p:sp>
      <p:sp>
        <p:nvSpPr>
          <p:cNvPr id="115" name="Text 113"/>
          <p:cNvSpPr txBox="1"/>
          <p:nvPr/>
        </p:nvSpPr>
        <p:spPr>
          <a:xfrm>
            <a:off x="2148383" y="452628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SRC1</a:t>
            </a:r>
            <a:endParaRPr lang="en-US" sz="650" dirty="0"/>
          </a:p>
        </p:txBody>
      </p:sp>
      <p:sp>
        <p:nvSpPr>
          <p:cNvPr id="116" name="Shape 114"/>
          <p:cNvSpPr/>
          <p:nvPr/>
        </p:nvSpPr>
        <p:spPr>
          <a:xfrm>
            <a:off x="2712110" y="4526280"/>
            <a:ext cx="563728" cy="384048"/>
          </a:xfrm>
          <a:prstGeom prst="rect">
            <a:avLst/>
          </a:prstGeom>
          <a:solidFill>
            <a:srgbClr val="E3EEFB"/>
          </a:solidFill>
          <a:ln w="6350">
            <a:solidFill>
              <a:srgbClr val="2F6DB5"/>
            </a:solidFill>
            <a:prstDash val="solid"/>
          </a:ln>
        </p:spPr>
      </p:sp>
      <p:sp>
        <p:nvSpPr>
          <p:cNvPr id="117" name="Text 115"/>
          <p:cNvSpPr txBox="1"/>
          <p:nvPr/>
        </p:nvSpPr>
        <p:spPr>
          <a:xfrm>
            <a:off x="2712110"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M</a:t>
            </a:r>
            <a:endParaRPr lang="en-US" sz="650" dirty="0"/>
          </a:p>
        </p:txBody>
      </p:sp>
      <p:sp>
        <p:nvSpPr>
          <p:cNvPr id="118" name="Text 116"/>
          <p:cNvSpPr txBox="1"/>
          <p:nvPr/>
        </p:nvSpPr>
        <p:spPr>
          <a:xfrm>
            <a:off x="2437790" y="434340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B₀ → SRC2</a:t>
            </a:r>
            <a:endParaRPr lang="en-US" sz="700" dirty="0"/>
          </a:p>
        </p:txBody>
      </p:sp>
      <p:sp>
        <p:nvSpPr>
          <p:cNvPr id="119" name="Shape 117"/>
          <p:cNvSpPr/>
          <p:nvPr/>
        </p:nvSpPr>
        <p:spPr>
          <a:xfrm>
            <a:off x="3275838" y="4526280"/>
            <a:ext cx="563728" cy="384048"/>
          </a:xfrm>
          <a:prstGeom prst="rect">
            <a:avLst/>
          </a:prstGeom>
          <a:solidFill>
            <a:srgbClr val="EEF1F5"/>
          </a:solidFill>
          <a:ln w="6350">
            <a:solidFill>
              <a:srgbClr val="5B6B7F"/>
            </a:solidFill>
            <a:prstDash val="solid"/>
          </a:ln>
        </p:spPr>
      </p:sp>
      <p:sp>
        <p:nvSpPr>
          <p:cNvPr id="120" name="Text 118"/>
          <p:cNvSpPr txBox="1"/>
          <p:nvPr/>
        </p:nvSpPr>
        <p:spPr>
          <a:xfrm>
            <a:off x="3275838"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COLS</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64</a:t>
            </a:r>
            <a:endParaRPr lang="en-US" sz="650" dirty="0"/>
          </a:p>
        </p:txBody>
      </p:sp>
      <p:sp>
        <p:nvSpPr>
          <p:cNvPr id="121" name="Shape 119"/>
          <p:cNvSpPr/>
          <p:nvPr/>
        </p:nvSpPr>
        <p:spPr>
          <a:xfrm>
            <a:off x="3839566" y="4526280"/>
            <a:ext cx="563728" cy="384048"/>
          </a:xfrm>
          <a:prstGeom prst="rect">
            <a:avLst/>
          </a:prstGeom>
          <a:solidFill>
            <a:srgbClr val="E3EEFB"/>
          </a:solidFill>
          <a:ln w="6350">
            <a:solidFill>
              <a:srgbClr val="2F6DB5"/>
            </a:solidFill>
            <a:prstDash val="solid"/>
          </a:ln>
        </p:spPr>
      </p:sp>
      <p:sp>
        <p:nvSpPr>
          <p:cNvPr id="122" name="Text 120"/>
          <p:cNvSpPr txBox="1"/>
          <p:nvPr/>
        </p:nvSpPr>
        <p:spPr>
          <a:xfrm>
            <a:off x="3839566"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P</a:t>
            </a:r>
            <a:endParaRPr lang="en-US" sz="650" dirty="0"/>
          </a:p>
        </p:txBody>
      </p:sp>
      <p:sp>
        <p:nvSpPr>
          <p:cNvPr id="123" name="Shape 121"/>
          <p:cNvSpPr/>
          <p:nvPr/>
        </p:nvSpPr>
        <p:spPr>
          <a:xfrm>
            <a:off x="4403293" y="4526280"/>
            <a:ext cx="563728" cy="384048"/>
          </a:xfrm>
          <a:prstGeom prst="rect">
            <a:avLst/>
          </a:prstGeom>
          <a:solidFill>
            <a:srgbClr val="DDF3F0"/>
          </a:solidFill>
          <a:ln w="6350">
            <a:solidFill>
              <a:srgbClr val="1F8A8A"/>
            </a:solidFill>
            <a:prstDash val="solid"/>
          </a:ln>
        </p:spPr>
      </p:sp>
      <p:sp>
        <p:nvSpPr>
          <p:cNvPr id="124" name="Text 122"/>
          <p:cNvSpPr txBox="1"/>
          <p:nvPr/>
        </p:nvSpPr>
        <p:spPr>
          <a:xfrm>
            <a:off x="4403293" y="452628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SRC2</a:t>
            </a:r>
            <a:endParaRPr lang="en-US" sz="650" dirty="0"/>
          </a:p>
        </p:txBody>
      </p:sp>
      <p:sp>
        <p:nvSpPr>
          <p:cNvPr id="125" name="Shape 123"/>
          <p:cNvSpPr/>
          <p:nvPr/>
        </p:nvSpPr>
        <p:spPr>
          <a:xfrm>
            <a:off x="4967021" y="4526280"/>
            <a:ext cx="563728" cy="384048"/>
          </a:xfrm>
          <a:prstGeom prst="rect">
            <a:avLst/>
          </a:prstGeom>
          <a:solidFill>
            <a:srgbClr val="ECE6FA"/>
          </a:solidFill>
          <a:ln w="6350">
            <a:solidFill>
              <a:srgbClr val="6C4FBF"/>
            </a:solidFill>
            <a:prstDash val="solid"/>
          </a:ln>
        </p:spPr>
      </p:sp>
      <p:sp>
        <p:nvSpPr>
          <p:cNvPr id="126" name="Text 124"/>
          <p:cNvSpPr txBox="1"/>
          <p:nvPr/>
        </p:nvSpPr>
        <p:spPr>
          <a:xfrm>
            <a:off x="4967021" y="452628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M_MUL</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MAC=0</a:t>
            </a:r>
            <a:endParaRPr lang="en-US" sz="650" dirty="0"/>
          </a:p>
        </p:txBody>
      </p:sp>
      <p:sp>
        <p:nvSpPr>
          <p:cNvPr id="127" name="Text 125"/>
          <p:cNvSpPr txBox="1"/>
          <p:nvPr/>
        </p:nvSpPr>
        <p:spPr>
          <a:xfrm>
            <a:off x="4738421" y="492861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60</a:t>
            </a:r>
            <a:endParaRPr lang="en-US" sz="650" dirty="0"/>
          </a:p>
        </p:txBody>
      </p:sp>
      <p:sp>
        <p:nvSpPr>
          <p:cNvPr id="128" name="Shape 126"/>
          <p:cNvSpPr/>
          <p:nvPr/>
        </p:nvSpPr>
        <p:spPr>
          <a:xfrm>
            <a:off x="5530748" y="4526280"/>
            <a:ext cx="563728" cy="384048"/>
          </a:xfrm>
          <a:prstGeom prst="rect">
            <a:avLst/>
          </a:prstGeom>
          <a:solidFill>
            <a:srgbClr val="E3EEFB"/>
          </a:solidFill>
          <a:ln w="6350">
            <a:solidFill>
              <a:srgbClr val="2F6DB5"/>
            </a:solidFill>
            <a:prstDash val="solid"/>
          </a:ln>
        </p:spPr>
      </p:sp>
      <p:sp>
        <p:nvSpPr>
          <p:cNvPr id="129" name="Text 127"/>
          <p:cNvSpPr txBox="1"/>
          <p:nvPr/>
        </p:nvSpPr>
        <p:spPr>
          <a:xfrm>
            <a:off x="5530748"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M</a:t>
            </a:r>
            <a:endParaRPr lang="en-US" sz="650" dirty="0"/>
          </a:p>
        </p:txBody>
      </p:sp>
      <p:sp>
        <p:nvSpPr>
          <p:cNvPr id="130" name="Text 128"/>
          <p:cNvSpPr txBox="1"/>
          <p:nvPr/>
        </p:nvSpPr>
        <p:spPr>
          <a:xfrm>
            <a:off x="5256428" y="434340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② X₁ (+64열)</a:t>
            </a:r>
            <a:endParaRPr lang="en-US" sz="700" dirty="0"/>
          </a:p>
        </p:txBody>
      </p:sp>
      <p:sp>
        <p:nvSpPr>
          <p:cNvPr id="131" name="Shape 129"/>
          <p:cNvSpPr/>
          <p:nvPr/>
        </p:nvSpPr>
        <p:spPr>
          <a:xfrm>
            <a:off x="6094476" y="4526280"/>
            <a:ext cx="563728" cy="384048"/>
          </a:xfrm>
          <a:prstGeom prst="rect">
            <a:avLst/>
          </a:prstGeom>
          <a:solidFill>
            <a:srgbClr val="E3EEFB"/>
          </a:solidFill>
          <a:ln w="6350">
            <a:solidFill>
              <a:srgbClr val="2F6DB5"/>
            </a:solidFill>
            <a:prstDash val="solid"/>
          </a:ln>
        </p:spPr>
      </p:sp>
      <p:sp>
        <p:nvSpPr>
          <p:cNvPr id="132" name="Text 130"/>
          <p:cNvSpPr txBox="1"/>
          <p:nvPr/>
        </p:nvSpPr>
        <p:spPr>
          <a:xfrm>
            <a:off x="6094476"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SRC1 P</a:t>
            </a:r>
            <a:endParaRPr lang="en-US" sz="650" dirty="0"/>
          </a:p>
        </p:txBody>
      </p:sp>
      <p:sp>
        <p:nvSpPr>
          <p:cNvPr id="133" name="Shape 131"/>
          <p:cNvSpPr/>
          <p:nvPr/>
        </p:nvSpPr>
        <p:spPr>
          <a:xfrm>
            <a:off x="6658204" y="4526280"/>
            <a:ext cx="563728" cy="384048"/>
          </a:xfrm>
          <a:prstGeom prst="rect">
            <a:avLst/>
          </a:prstGeom>
          <a:solidFill>
            <a:srgbClr val="DDF3F0"/>
          </a:solidFill>
          <a:ln w="6350">
            <a:solidFill>
              <a:srgbClr val="1F8A8A"/>
            </a:solidFill>
            <a:prstDash val="solid"/>
          </a:ln>
        </p:spPr>
      </p:sp>
      <p:sp>
        <p:nvSpPr>
          <p:cNvPr id="134" name="Text 132"/>
          <p:cNvSpPr txBox="1"/>
          <p:nvPr/>
        </p:nvSpPr>
        <p:spPr>
          <a:xfrm>
            <a:off x="6658204" y="452628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SRC1</a:t>
            </a:r>
            <a:endParaRPr lang="en-US" sz="650" dirty="0"/>
          </a:p>
        </p:txBody>
      </p:sp>
      <p:sp>
        <p:nvSpPr>
          <p:cNvPr id="135" name="Shape 133"/>
          <p:cNvSpPr/>
          <p:nvPr/>
        </p:nvSpPr>
        <p:spPr>
          <a:xfrm>
            <a:off x="7221931" y="4526280"/>
            <a:ext cx="563728" cy="384048"/>
          </a:xfrm>
          <a:prstGeom prst="rect">
            <a:avLst/>
          </a:prstGeom>
          <a:solidFill>
            <a:srgbClr val="E3EEFB"/>
          </a:solidFill>
          <a:ln w="6350">
            <a:solidFill>
              <a:srgbClr val="2F6DB5"/>
            </a:solidFill>
            <a:prstDash val="solid"/>
          </a:ln>
        </p:spPr>
      </p:sp>
      <p:sp>
        <p:nvSpPr>
          <p:cNvPr id="136" name="Text 134"/>
          <p:cNvSpPr txBox="1"/>
          <p:nvPr/>
        </p:nvSpPr>
        <p:spPr>
          <a:xfrm>
            <a:off x="7221931"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M</a:t>
            </a:r>
            <a:endParaRPr lang="en-US" sz="650" dirty="0"/>
          </a:p>
        </p:txBody>
      </p:sp>
      <p:sp>
        <p:nvSpPr>
          <p:cNvPr id="137" name="Text 135"/>
          <p:cNvSpPr txBox="1"/>
          <p:nvPr/>
        </p:nvSpPr>
        <p:spPr>
          <a:xfrm>
            <a:off x="6947611" y="434340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B₁ (+64행)</a:t>
            </a:r>
            <a:endParaRPr lang="en-US" sz="700" dirty="0"/>
          </a:p>
        </p:txBody>
      </p:sp>
      <p:sp>
        <p:nvSpPr>
          <p:cNvPr id="138" name="Shape 136"/>
          <p:cNvSpPr/>
          <p:nvPr/>
        </p:nvSpPr>
        <p:spPr>
          <a:xfrm>
            <a:off x="7785659" y="4526280"/>
            <a:ext cx="563728" cy="384048"/>
          </a:xfrm>
          <a:prstGeom prst="rect">
            <a:avLst/>
          </a:prstGeom>
          <a:solidFill>
            <a:srgbClr val="E3EEFB"/>
          </a:solidFill>
          <a:ln w="6350">
            <a:solidFill>
              <a:srgbClr val="2F6DB5"/>
            </a:solidFill>
            <a:prstDash val="solid"/>
          </a:ln>
        </p:spPr>
      </p:sp>
      <p:sp>
        <p:nvSpPr>
          <p:cNvPr id="139" name="Text 137"/>
          <p:cNvSpPr txBox="1"/>
          <p:nvPr/>
        </p:nvSpPr>
        <p:spPr>
          <a:xfrm>
            <a:off x="7785659"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SRC2 P</a:t>
            </a:r>
            <a:endParaRPr lang="en-US" sz="650" dirty="0"/>
          </a:p>
        </p:txBody>
      </p:sp>
      <p:sp>
        <p:nvSpPr>
          <p:cNvPr id="140" name="Shape 138"/>
          <p:cNvSpPr/>
          <p:nvPr/>
        </p:nvSpPr>
        <p:spPr>
          <a:xfrm>
            <a:off x="8349386" y="4526280"/>
            <a:ext cx="563728" cy="384048"/>
          </a:xfrm>
          <a:prstGeom prst="rect">
            <a:avLst/>
          </a:prstGeom>
          <a:solidFill>
            <a:srgbClr val="DDF3F0"/>
          </a:solidFill>
          <a:ln w="6350">
            <a:solidFill>
              <a:srgbClr val="1F8A8A"/>
            </a:solidFill>
            <a:prstDash val="solid"/>
          </a:ln>
        </p:spPr>
      </p:sp>
      <p:sp>
        <p:nvSpPr>
          <p:cNvPr id="141" name="Text 139"/>
          <p:cNvSpPr txBox="1"/>
          <p:nvPr/>
        </p:nvSpPr>
        <p:spPr>
          <a:xfrm>
            <a:off x="8349386" y="452628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LOAD</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SRC2</a:t>
            </a:r>
            <a:endParaRPr lang="en-US" sz="650" dirty="0"/>
          </a:p>
        </p:txBody>
      </p:sp>
      <p:sp>
        <p:nvSpPr>
          <p:cNvPr id="142" name="Shape 140"/>
          <p:cNvSpPr/>
          <p:nvPr/>
        </p:nvSpPr>
        <p:spPr>
          <a:xfrm>
            <a:off x="8913114" y="4526280"/>
            <a:ext cx="563728" cy="384048"/>
          </a:xfrm>
          <a:prstGeom prst="rect">
            <a:avLst/>
          </a:prstGeom>
          <a:solidFill>
            <a:srgbClr val="ECE6FA"/>
          </a:solidFill>
          <a:ln w="6350">
            <a:solidFill>
              <a:srgbClr val="6C4FBF"/>
            </a:solidFill>
            <a:prstDash val="solid"/>
          </a:ln>
        </p:spPr>
      </p:sp>
      <p:sp>
        <p:nvSpPr>
          <p:cNvPr id="143" name="Text 141"/>
          <p:cNvSpPr txBox="1"/>
          <p:nvPr/>
        </p:nvSpPr>
        <p:spPr>
          <a:xfrm>
            <a:off x="8913114" y="452628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M_MUL</a:t>
            </a:r>
            <a:endParaRPr lang="en-US" sz="650" dirty="0"/>
          </a:p>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MAC=1</a:t>
            </a:r>
            <a:endParaRPr lang="en-US" sz="650" dirty="0"/>
          </a:p>
        </p:txBody>
      </p:sp>
      <p:sp>
        <p:nvSpPr>
          <p:cNvPr id="144" name="Text 142"/>
          <p:cNvSpPr txBox="1"/>
          <p:nvPr/>
        </p:nvSpPr>
        <p:spPr>
          <a:xfrm>
            <a:off x="8684514" y="492861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67</a:t>
            </a:r>
            <a:endParaRPr lang="en-US" sz="650" dirty="0"/>
          </a:p>
        </p:txBody>
      </p:sp>
      <p:sp>
        <p:nvSpPr>
          <p:cNvPr id="145" name="Shape 143"/>
          <p:cNvSpPr/>
          <p:nvPr/>
        </p:nvSpPr>
        <p:spPr>
          <a:xfrm>
            <a:off x="9476842" y="4526280"/>
            <a:ext cx="563728" cy="384048"/>
          </a:xfrm>
          <a:prstGeom prst="rect">
            <a:avLst/>
          </a:prstGeom>
          <a:solidFill>
            <a:srgbClr val="E3EEFB"/>
          </a:solidFill>
          <a:ln w="6350">
            <a:solidFill>
              <a:srgbClr val="2F6DB5"/>
            </a:solidFill>
            <a:prstDash val="solid"/>
          </a:ln>
        </p:spPr>
      </p:sp>
      <p:sp>
        <p:nvSpPr>
          <p:cNvPr id="146" name="Text 144"/>
          <p:cNvSpPr txBox="1"/>
          <p:nvPr/>
        </p:nvSpPr>
        <p:spPr>
          <a:xfrm>
            <a:off x="9476842"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DST M</a:t>
            </a:r>
            <a:endParaRPr lang="en-US" sz="650" dirty="0"/>
          </a:p>
        </p:txBody>
      </p:sp>
      <p:sp>
        <p:nvSpPr>
          <p:cNvPr id="147" name="Text 145"/>
          <p:cNvSpPr txBox="1"/>
          <p:nvPr/>
        </p:nvSpPr>
        <p:spPr>
          <a:xfrm>
            <a:off x="9202522" y="4343400"/>
            <a:ext cx="1112368" cy="164592"/>
          </a:xfrm>
          <a:prstGeom prst="rect">
            <a:avLst/>
          </a:prstGeom>
          <a:noFill/>
          <a:ln/>
        </p:spPr>
        <p:txBody>
          <a:bodyPr wrap="square" lIns="0" tIns="0" rIns="0" bIns="0" rtlCol="0" anchor="t"/>
          <a:lstStyle/>
          <a:p>
            <a:pPr algn="ctr" indent="0" marL="0">
              <a:buNone/>
            </a:pPr>
            <a:r>
              <a:rPr lang="en-US" sz="700" b="1" dirty="0">
                <a:solidFill>
                  <a:srgbClr val="15243B"/>
                </a:solidFill>
                <a:latin typeface="Malgun Gothic" pitchFamily="34" charset="0"/>
                <a:ea typeface="Malgun Gothic" pitchFamily="34" charset="-122"/>
                <a:cs typeface="Malgun Gothic" pitchFamily="34" charset="-120"/>
              </a:rPr>
              <a:t>③ Y 저장</a:t>
            </a:r>
            <a:endParaRPr lang="en-US" sz="700" dirty="0"/>
          </a:p>
        </p:txBody>
      </p:sp>
      <p:sp>
        <p:nvSpPr>
          <p:cNvPr id="148" name="Shape 146"/>
          <p:cNvSpPr/>
          <p:nvPr/>
        </p:nvSpPr>
        <p:spPr>
          <a:xfrm>
            <a:off x="10040569" y="4526280"/>
            <a:ext cx="563728" cy="384048"/>
          </a:xfrm>
          <a:prstGeom prst="rect">
            <a:avLst/>
          </a:prstGeom>
          <a:solidFill>
            <a:srgbClr val="EEF1F5"/>
          </a:solidFill>
          <a:ln w="6350">
            <a:solidFill>
              <a:srgbClr val="5B6B7F"/>
            </a:solidFill>
            <a:prstDash val="solid"/>
          </a:ln>
        </p:spPr>
      </p:sp>
      <p:sp>
        <p:nvSpPr>
          <p:cNvPr id="149" name="Text 147"/>
          <p:cNvSpPr txBox="1"/>
          <p:nvPr/>
        </p:nvSpPr>
        <p:spPr>
          <a:xfrm>
            <a:off x="10040569"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COLS</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64</a:t>
            </a:r>
            <a:endParaRPr lang="en-US" sz="650" dirty="0"/>
          </a:p>
        </p:txBody>
      </p:sp>
      <p:sp>
        <p:nvSpPr>
          <p:cNvPr id="150" name="Shape 148"/>
          <p:cNvSpPr/>
          <p:nvPr/>
        </p:nvSpPr>
        <p:spPr>
          <a:xfrm>
            <a:off x="10604297" y="4526280"/>
            <a:ext cx="563728" cy="384048"/>
          </a:xfrm>
          <a:prstGeom prst="rect">
            <a:avLst/>
          </a:prstGeom>
          <a:solidFill>
            <a:srgbClr val="E3EEFB"/>
          </a:solidFill>
          <a:ln w="6350">
            <a:solidFill>
              <a:srgbClr val="2F6DB5"/>
            </a:solidFill>
            <a:prstDash val="solid"/>
          </a:ln>
        </p:spPr>
      </p:sp>
      <p:sp>
        <p:nvSpPr>
          <p:cNvPr id="151" name="Text 149"/>
          <p:cNvSpPr txBox="1"/>
          <p:nvPr/>
        </p:nvSpPr>
        <p:spPr>
          <a:xfrm>
            <a:off x="10604297" y="4526280"/>
            <a:ext cx="56372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ADDR</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DST P</a:t>
            </a:r>
            <a:endParaRPr lang="en-US" sz="650" dirty="0"/>
          </a:p>
        </p:txBody>
      </p:sp>
      <p:sp>
        <p:nvSpPr>
          <p:cNvPr id="152" name="Shape 150"/>
          <p:cNvSpPr/>
          <p:nvPr/>
        </p:nvSpPr>
        <p:spPr>
          <a:xfrm>
            <a:off x="11168024" y="4526280"/>
            <a:ext cx="563728" cy="384048"/>
          </a:xfrm>
          <a:prstGeom prst="rect">
            <a:avLst/>
          </a:prstGeom>
          <a:solidFill>
            <a:srgbClr val="E5F3E7"/>
          </a:solidFill>
          <a:ln w="6350">
            <a:solidFill>
              <a:srgbClr val="2E7D32"/>
            </a:solidFill>
            <a:prstDash val="solid"/>
          </a:ln>
        </p:spPr>
      </p:sp>
      <p:sp>
        <p:nvSpPr>
          <p:cNvPr id="153" name="Text 151"/>
          <p:cNvSpPr txBox="1"/>
          <p:nvPr/>
        </p:nvSpPr>
        <p:spPr>
          <a:xfrm>
            <a:off x="11168024" y="4526280"/>
            <a:ext cx="563728" cy="384048"/>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SAVE</a:t>
            </a:r>
            <a:endParaRPr lang="en-US" sz="650" dirty="0"/>
          </a:p>
        </p:txBody>
      </p:sp>
      <p:sp>
        <p:nvSpPr>
          <p:cNvPr id="154" name="Text 152"/>
          <p:cNvSpPr txBox="1"/>
          <p:nvPr/>
        </p:nvSpPr>
        <p:spPr>
          <a:xfrm>
            <a:off x="10939424" y="4928616"/>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71</a:t>
            </a:r>
            <a:endParaRPr lang="en-US" sz="650" dirty="0"/>
          </a:p>
        </p:txBody>
      </p:sp>
      <p:sp>
        <p:nvSpPr>
          <p:cNvPr id="155" name="Text 153"/>
          <p:cNvSpPr txBox="1"/>
          <p:nvPr/>
        </p:nvSpPr>
        <p:spPr>
          <a:xfrm>
            <a:off x="457200" y="5120640"/>
            <a:ext cx="11274552" cy="36576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descriptor(ADDR/COLS)를 바꾸고 LOAD → M_MUL(MAC bit) → 마지막에 SAVE. 두 번째 tile에서 COLS가 없는 이유: rows/cols가 그대로라 peephole이 생략. loop·branch 명령은 없음(정적 전개).</a:t>
            </a:r>
            <a:endParaRPr lang="en-US" sz="800" dirty="0"/>
          </a:p>
        </p:txBody>
      </p:sp>
      <p:sp>
        <p:nvSpPr>
          <p:cNvPr id="156" name="Shape 15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57" name="Text 15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K chunk 숫자만 보고 DMA를 판단하면 안 됩니다. cache stage가 어느 loop에 있는지(a_at/b_at)와 순회 순서가 재읽기 횟수, 곧 DMA를 정합니다.</a:t>
            </a:r>
            <a:endParaRPr lang="en-US" sz="1250" dirty="0"/>
          </a:p>
        </p:txBody>
      </p:sp>
      <p:sp>
        <p:nvSpPr>
          <p:cNvPr id="158" name="Text 15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9" name="Text 15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npu_schedule_space.py, npu_schedule.py, npu_intrin.py, evidence/current/refinement.json, two_matmuls_recorded/program.json (words 52–71)</a:t>
            </a:r>
            <a:endParaRPr lang="en-US" sz="850" dirty="0"/>
          </a:p>
        </p:txBody>
      </p:sp>
      <p:sp>
        <p:nvSpPr>
          <p:cNvPr id="160" name="Text 15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7 / 13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③ 배치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800" b="1" dirty="0">
                <a:solidFill>
                  <a:srgbClr val="15243B"/>
                </a:solidFill>
                <a:latin typeface="Malgun Gothic" pitchFamily="34" charset="0"/>
                <a:ea typeface="Malgun Gothic" pitchFamily="34" charset="-122"/>
                <a:cs typeface="Malgun Gothic" pitchFamily="34" charset="-120"/>
              </a:rPr>
              <a:t>Matmul 이외: SiLU 하나가 vector 명령 5개, attention은 query block으로 score를 SRAM에서 소비</a:t>
            </a:r>
            <a:endParaRPr lang="en-US" sz="18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원소별 연산은 VLEN 길이의 행이 SRAM scratch slot을 거치며 단계마다 descriptor·LOAD·SAVE가 붙습니다(왼쪽, 실제 opcode). Full-attention fusion은 query 행 block마다 K/V 전체와 score 행 전체를 SRAM에 두고 정확한 softmax를 합니다(오른쪽).</a:t>
            </a:r>
            <a:endParaRPr lang="en-US" sz="1250" dirty="0"/>
          </a:p>
        </p:txBody>
      </p:sp>
      <p:sp>
        <p:nvSpPr>
          <p:cNvPr id="5" name="Text 3"/>
          <p:cNvSpPr txBox="1"/>
          <p:nvPr/>
        </p:nvSpPr>
        <p:spPr>
          <a:xfrm>
            <a:off x="457200" y="1417320"/>
            <a:ext cx="594360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SiLU 한 행 (VLEN 128, FP16 scratch) — 오른쪽은 실제 opcode word</a:t>
            </a:r>
            <a:endParaRPr lang="en-US" sz="900" dirty="0"/>
          </a:p>
        </p:txBody>
      </p:sp>
      <p:sp>
        <p:nvSpPr>
          <p:cNvPr id="6" name="Shape 4"/>
          <p:cNvSpPr/>
          <p:nvPr/>
        </p:nvSpPr>
        <p:spPr>
          <a:xfrm>
            <a:off x="2148840" y="1737360"/>
            <a:ext cx="354330" cy="246888"/>
          </a:xfrm>
          <a:prstGeom prst="rect">
            <a:avLst/>
          </a:prstGeom>
          <a:solidFill>
            <a:srgbClr val="EEF1F5"/>
          </a:solidFill>
          <a:ln w="6350">
            <a:solidFill>
              <a:srgbClr val="5B6B7F"/>
            </a:solidFill>
            <a:prstDash val="solid"/>
          </a:ln>
        </p:spPr>
      </p:sp>
      <p:sp>
        <p:nvSpPr>
          <p:cNvPr id="7" name="Text 5"/>
          <p:cNvSpPr txBox="1"/>
          <p:nvPr/>
        </p:nvSpPr>
        <p:spPr>
          <a:xfrm>
            <a:off x="214884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x0</a:t>
            </a:r>
            <a:endParaRPr lang="en-US" sz="650" dirty="0"/>
          </a:p>
        </p:txBody>
      </p:sp>
      <p:sp>
        <p:nvSpPr>
          <p:cNvPr id="8" name="Shape 6"/>
          <p:cNvSpPr/>
          <p:nvPr/>
        </p:nvSpPr>
        <p:spPr>
          <a:xfrm>
            <a:off x="2503170" y="1737360"/>
            <a:ext cx="354330" cy="246888"/>
          </a:xfrm>
          <a:prstGeom prst="rect">
            <a:avLst/>
          </a:prstGeom>
          <a:solidFill>
            <a:srgbClr val="EEF1F5"/>
          </a:solidFill>
          <a:ln w="6350">
            <a:solidFill>
              <a:srgbClr val="5B6B7F"/>
            </a:solidFill>
            <a:prstDash val="solid"/>
          </a:ln>
        </p:spPr>
      </p:sp>
      <p:sp>
        <p:nvSpPr>
          <p:cNvPr id="9" name="Text 7"/>
          <p:cNvSpPr txBox="1"/>
          <p:nvPr/>
        </p:nvSpPr>
        <p:spPr>
          <a:xfrm>
            <a:off x="250317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x1</a:t>
            </a:r>
            <a:endParaRPr lang="en-US" sz="650" dirty="0"/>
          </a:p>
        </p:txBody>
      </p:sp>
      <p:sp>
        <p:nvSpPr>
          <p:cNvPr id="10" name="Shape 8"/>
          <p:cNvSpPr/>
          <p:nvPr/>
        </p:nvSpPr>
        <p:spPr>
          <a:xfrm>
            <a:off x="2857500" y="1737360"/>
            <a:ext cx="354330" cy="246888"/>
          </a:xfrm>
          <a:prstGeom prst="rect">
            <a:avLst/>
          </a:prstGeom>
          <a:solidFill>
            <a:srgbClr val="EEF1F5"/>
          </a:solidFill>
          <a:ln w="6350">
            <a:solidFill>
              <a:srgbClr val="5B6B7F"/>
            </a:solidFill>
            <a:prstDash val="solid"/>
          </a:ln>
        </p:spPr>
      </p:sp>
      <p:sp>
        <p:nvSpPr>
          <p:cNvPr id="11" name="Text 9"/>
          <p:cNvSpPr txBox="1"/>
          <p:nvPr/>
        </p:nvSpPr>
        <p:spPr>
          <a:xfrm>
            <a:off x="285750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x2</a:t>
            </a:r>
            <a:endParaRPr lang="en-US" sz="650" dirty="0"/>
          </a:p>
        </p:txBody>
      </p:sp>
      <p:sp>
        <p:nvSpPr>
          <p:cNvPr id="12" name="Shape 10"/>
          <p:cNvSpPr/>
          <p:nvPr/>
        </p:nvSpPr>
        <p:spPr>
          <a:xfrm>
            <a:off x="3211830" y="1737360"/>
            <a:ext cx="354330" cy="246888"/>
          </a:xfrm>
          <a:prstGeom prst="rect">
            <a:avLst/>
          </a:prstGeom>
          <a:solidFill>
            <a:srgbClr val="EEF1F5"/>
          </a:solidFill>
          <a:ln w="6350">
            <a:solidFill>
              <a:srgbClr val="5B6B7F"/>
            </a:solidFill>
            <a:prstDash val="solid"/>
          </a:ln>
        </p:spPr>
      </p:sp>
      <p:sp>
        <p:nvSpPr>
          <p:cNvPr id="13" name="Text 11"/>
          <p:cNvSpPr txBox="1"/>
          <p:nvPr/>
        </p:nvSpPr>
        <p:spPr>
          <a:xfrm>
            <a:off x="321183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x3</a:t>
            </a:r>
            <a:endParaRPr lang="en-US" sz="650" dirty="0"/>
          </a:p>
        </p:txBody>
      </p:sp>
      <p:sp>
        <p:nvSpPr>
          <p:cNvPr id="14" name="Shape 12"/>
          <p:cNvSpPr/>
          <p:nvPr/>
        </p:nvSpPr>
        <p:spPr>
          <a:xfrm>
            <a:off x="3566160" y="1737360"/>
            <a:ext cx="354330" cy="246888"/>
          </a:xfrm>
          <a:prstGeom prst="rect">
            <a:avLst/>
          </a:prstGeom>
          <a:solidFill>
            <a:srgbClr val="EEF1F5"/>
          </a:solidFill>
          <a:ln w="6350">
            <a:solidFill>
              <a:srgbClr val="5B6B7F"/>
            </a:solidFill>
            <a:prstDash val="solid"/>
          </a:ln>
        </p:spPr>
      </p:sp>
      <p:sp>
        <p:nvSpPr>
          <p:cNvPr id="15" name="Text 13"/>
          <p:cNvSpPr txBox="1"/>
          <p:nvPr/>
        </p:nvSpPr>
        <p:spPr>
          <a:xfrm>
            <a:off x="356616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x4</a:t>
            </a:r>
            <a:endParaRPr lang="en-US" sz="650" dirty="0"/>
          </a:p>
        </p:txBody>
      </p:sp>
      <p:sp>
        <p:nvSpPr>
          <p:cNvPr id="16" name="Shape 14"/>
          <p:cNvSpPr/>
          <p:nvPr/>
        </p:nvSpPr>
        <p:spPr>
          <a:xfrm>
            <a:off x="3920490" y="1737360"/>
            <a:ext cx="354330" cy="246888"/>
          </a:xfrm>
          <a:prstGeom prst="rect">
            <a:avLst/>
          </a:prstGeom>
          <a:solidFill>
            <a:srgbClr val="EEF1F5"/>
          </a:solidFill>
          <a:ln w="6350">
            <a:solidFill>
              <a:srgbClr val="5B6B7F"/>
            </a:solidFill>
            <a:prstDash val="solid"/>
          </a:ln>
        </p:spPr>
      </p:sp>
      <p:sp>
        <p:nvSpPr>
          <p:cNvPr id="17" name="Text 15"/>
          <p:cNvSpPr txBox="1"/>
          <p:nvPr/>
        </p:nvSpPr>
        <p:spPr>
          <a:xfrm>
            <a:off x="392049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x5</a:t>
            </a:r>
            <a:endParaRPr lang="en-US" sz="650" dirty="0"/>
          </a:p>
        </p:txBody>
      </p:sp>
      <p:sp>
        <p:nvSpPr>
          <p:cNvPr id="18" name="Shape 16"/>
          <p:cNvSpPr/>
          <p:nvPr/>
        </p:nvSpPr>
        <p:spPr>
          <a:xfrm>
            <a:off x="4274820" y="1737360"/>
            <a:ext cx="354330" cy="246888"/>
          </a:xfrm>
          <a:prstGeom prst="rect">
            <a:avLst/>
          </a:prstGeom>
          <a:solidFill>
            <a:srgbClr val="EEF1F5"/>
          </a:solidFill>
          <a:ln w="6350">
            <a:solidFill>
              <a:srgbClr val="5B6B7F"/>
            </a:solidFill>
            <a:prstDash val="solid"/>
          </a:ln>
        </p:spPr>
      </p:sp>
      <p:sp>
        <p:nvSpPr>
          <p:cNvPr id="19" name="Text 17"/>
          <p:cNvSpPr txBox="1"/>
          <p:nvPr/>
        </p:nvSpPr>
        <p:spPr>
          <a:xfrm>
            <a:off x="427482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x6</a:t>
            </a:r>
            <a:endParaRPr lang="en-US" sz="650" dirty="0"/>
          </a:p>
        </p:txBody>
      </p:sp>
      <p:sp>
        <p:nvSpPr>
          <p:cNvPr id="20" name="Shape 18"/>
          <p:cNvSpPr/>
          <p:nvPr/>
        </p:nvSpPr>
        <p:spPr>
          <a:xfrm>
            <a:off x="4629150" y="1737360"/>
            <a:ext cx="354330" cy="246888"/>
          </a:xfrm>
          <a:prstGeom prst="rect">
            <a:avLst/>
          </a:prstGeom>
          <a:solidFill>
            <a:srgbClr val="EEF1F5"/>
          </a:solidFill>
          <a:ln w="6350">
            <a:solidFill>
              <a:srgbClr val="5B6B7F"/>
            </a:solidFill>
            <a:prstDash val="solid"/>
          </a:ln>
        </p:spPr>
      </p:sp>
      <p:sp>
        <p:nvSpPr>
          <p:cNvPr id="21" name="Text 19"/>
          <p:cNvSpPr txBox="1"/>
          <p:nvPr/>
        </p:nvSpPr>
        <p:spPr>
          <a:xfrm>
            <a:off x="4629150" y="173736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22" name="Text 20"/>
          <p:cNvSpPr txBox="1"/>
          <p:nvPr/>
        </p:nvSpPr>
        <p:spPr>
          <a:xfrm>
            <a:off x="448056" y="1737360"/>
            <a:ext cx="164592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x 행 (T_add 결과)</a:t>
            </a:r>
            <a:endParaRPr lang="en-US" sz="800" dirty="0"/>
          </a:p>
        </p:txBody>
      </p:sp>
      <p:sp>
        <p:nvSpPr>
          <p:cNvPr id="23" name="Text 21"/>
          <p:cNvSpPr txBox="1"/>
          <p:nvPr/>
        </p:nvSpPr>
        <p:spPr>
          <a:xfrm>
            <a:off x="5056632" y="1737360"/>
            <a:ext cx="109728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SRC1.PARTIAL</a:t>
            </a:r>
            <a:endParaRPr lang="en-US" sz="650" dirty="0"/>
          </a:p>
        </p:txBody>
      </p:sp>
      <p:sp>
        <p:nvSpPr>
          <p:cNvPr id="24" name="Shape 22"/>
          <p:cNvSpPr/>
          <p:nvPr/>
        </p:nvSpPr>
        <p:spPr>
          <a:xfrm>
            <a:off x="2148840" y="2066544"/>
            <a:ext cx="354330" cy="246888"/>
          </a:xfrm>
          <a:prstGeom prst="rect">
            <a:avLst/>
          </a:prstGeom>
          <a:solidFill>
            <a:srgbClr val="ECE6FA"/>
          </a:solidFill>
          <a:ln w="6350">
            <a:solidFill>
              <a:srgbClr val="6C4FBF"/>
            </a:solidFill>
            <a:prstDash val="solid"/>
          </a:ln>
        </p:spPr>
      </p:sp>
      <p:sp>
        <p:nvSpPr>
          <p:cNvPr id="25" name="Text 23"/>
          <p:cNvSpPr txBox="1"/>
          <p:nvPr/>
        </p:nvSpPr>
        <p:spPr>
          <a:xfrm>
            <a:off x="214884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−x0</a:t>
            </a:r>
            <a:endParaRPr lang="en-US" sz="650" dirty="0"/>
          </a:p>
        </p:txBody>
      </p:sp>
      <p:sp>
        <p:nvSpPr>
          <p:cNvPr id="26" name="Shape 24"/>
          <p:cNvSpPr/>
          <p:nvPr/>
        </p:nvSpPr>
        <p:spPr>
          <a:xfrm>
            <a:off x="2503170" y="2066544"/>
            <a:ext cx="354330" cy="246888"/>
          </a:xfrm>
          <a:prstGeom prst="rect">
            <a:avLst/>
          </a:prstGeom>
          <a:solidFill>
            <a:srgbClr val="ECE6FA"/>
          </a:solidFill>
          <a:ln w="6350">
            <a:solidFill>
              <a:srgbClr val="6C4FBF"/>
            </a:solidFill>
            <a:prstDash val="solid"/>
          </a:ln>
        </p:spPr>
      </p:sp>
      <p:sp>
        <p:nvSpPr>
          <p:cNvPr id="27" name="Text 25"/>
          <p:cNvSpPr txBox="1"/>
          <p:nvPr/>
        </p:nvSpPr>
        <p:spPr>
          <a:xfrm>
            <a:off x="250317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−x1</a:t>
            </a:r>
            <a:endParaRPr lang="en-US" sz="650" dirty="0"/>
          </a:p>
        </p:txBody>
      </p:sp>
      <p:sp>
        <p:nvSpPr>
          <p:cNvPr id="28" name="Shape 26"/>
          <p:cNvSpPr/>
          <p:nvPr/>
        </p:nvSpPr>
        <p:spPr>
          <a:xfrm>
            <a:off x="2857500" y="2066544"/>
            <a:ext cx="354330" cy="246888"/>
          </a:xfrm>
          <a:prstGeom prst="rect">
            <a:avLst/>
          </a:prstGeom>
          <a:solidFill>
            <a:srgbClr val="ECE6FA"/>
          </a:solidFill>
          <a:ln w="6350">
            <a:solidFill>
              <a:srgbClr val="6C4FBF"/>
            </a:solidFill>
            <a:prstDash val="solid"/>
          </a:ln>
        </p:spPr>
      </p:sp>
      <p:sp>
        <p:nvSpPr>
          <p:cNvPr id="29" name="Text 27"/>
          <p:cNvSpPr txBox="1"/>
          <p:nvPr/>
        </p:nvSpPr>
        <p:spPr>
          <a:xfrm>
            <a:off x="285750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−x2</a:t>
            </a:r>
            <a:endParaRPr lang="en-US" sz="650" dirty="0"/>
          </a:p>
        </p:txBody>
      </p:sp>
      <p:sp>
        <p:nvSpPr>
          <p:cNvPr id="30" name="Shape 28"/>
          <p:cNvSpPr/>
          <p:nvPr/>
        </p:nvSpPr>
        <p:spPr>
          <a:xfrm>
            <a:off x="3211830" y="2066544"/>
            <a:ext cx="354330" cy="246888"/>
          </a:xfrm>
          <a:prstGeom prst="rect">
            <a:avLst/>
          </a:prstGeom>
          <a:solidFill>
            <a:srgbClr val="ECE6FA"/>
          </a:solidFill>
          <a:ln w="6350">
            <a:solidFill>
              <a:srgbClr val="6C4FBF"/>
            </a:solidFill>
            <a:prstDash val="solid"/>
          </a:ln>
        </p:spPr>
      </p:sp>
      <p:sp>
        <p:nvSpPr>
          <p:cNvPr id="31" name="Text 29"/>
          <p:cNvSpPr txBox="1"/>
          <p:nvPr/>
        </p:nvSpPr>
        <p:spPr>
          <a:xfrm>
            <a:off x="321183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−x3</a:t>
            </a:r>
            <a:endParaRPr lang="en-US" sz="650" dirty="0"/>
          </a:p>
        </p:txBody>
      </p:sp>
      <p:sp>
        <p:nvSpPr>
          <p:cNvPr id="32" name="Shape 30"/>
          <p:cNvSpPr/>
          <p:nvPr/>
        </p:nvSpPr>
        <p:spPr>
          <a:xfrm>
            <a:off x="3566160" y="2066544"/>
            <a:ext cx="354330" cy="246888"/>
          </a:xfrm>
          <a:prstGeom prst="rect">
            <a:avLst/>
          </a:prstGeom>
          <a:solidFill>
            <a:srgbClr val="ECE6FA"/>
          </a:solidFill>
          <a:ln w="6350">
            <a:solidFill>
              <a:srgbClr val="6C4FBF"/>
            </a:solidFill>
            <a:prstDash val="solid"/>
          </a:ln>
        </p:spPr>
      </p:sp>
      <p:sp>
        <p:nvSpPr>
          <p:cNvPr id="33" name="Text 31"/>
          <p:cNvSpPr txBox="1"/>
          <p:nvPr/>
        </p:nvSpPr>
        <p:spPr>
          <a:xfrm>
            <a:off x="356616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−x4</a:t>
            </a:r>
            <a:endParaRPr lang="en-US" sz="650" dirty="0"/>
          </a:p>
        </p:txBody>
      </p:sp>
      <p:sp>
        <p:nvSpPr>
          <p:cNvPr id="34" name="Shape 32"/>
          <p:cNvSpPr/>
          <p:nvPr/>
        </p:nvSpPr>
        <p:spPr>
          <a:xfrm>
            <a:off x="3920490" y="2066544"/>
            <a:ext cx="354330" cy="246888"/>
          </a:xfrm>
          <a:prstGeom prst="rect">
            <a:avLst/>
          </a:prstGeom>
          <a:solidFill>
            <a:srgbClr val="ECE6FA"/>
          </a:solidFill>
          <a:ln w="6350">
            <a:solidFill>
              <a:srgbClr val="6C4FBF"/>
            </a:solidFill>
            <a:prstDash val="solid"/>
          </a:ln>
        </p:spPr>
      </p:sp>
      <p:sp>
        <p:nvSpPr>
          <p:cNvPr id="35" name="Text 33"/>
          <p:cNvSpPr txBox="1"/>
          <p:nvPr/>
        </p:nvSpPr>
        <p:spPr>
          <a:xfrm>
            <a:off x="392049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−x5</a:t>
            </a:r>
            <a:endParaRPr lang="en-US" sz="650" dirty="0"/>
          </a:p>
        </p:txBody>
      </p:sp>
      <p:sp>
        <p:nvSpPr>
          <p:cNvPr id="36" name="Shape 34"/>
          <p:cNvSpPr/>
          <p:nvPr/>
        </p:nvSpPr>
        <p:spPr>
          <a:xfrm>
            <a:off x="4274820" y="2066544"/>
            <a:ext cx="354330" cy="246888"/>
          </a:xfrm>
          <a:prstGeom prst="rect">
            <a:avLst/>
          </a:prstGeom>
          <a:solidFill>
            <a:srgbClr val="ECE6FA"/>
          </a:solidFill>
          <a:ln w="6350">
            <a:solidFill>
              <a:srgbClr val="6C4FBF"/>
            </a:solidFill>
            <a:prstDash val="solid"/>
          </a:ln>
        </p:spPr>
      </p:sp>
      <p:sp>
        <p:nvSpPr>
          <p:cNvPr id="37" name="Text 35"/>
          <p:cNvSpPr txBox="1"/>
          <p:nvPr/>
        </p:nvSpPr>
        <p:spPr>
          <a:xfrm>
            <a:off x="427482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−x6</a:t>
            </a:r>
            <a:endParaRPr lang="en-US" sz="650" dirty="0"/>
          </a:p>
        </p:txBody>
      </p:sp>
      <p:sp>
        <p:nvSpPr>
          <p:cNvPr id="38" name="Shape 36"/>
          <p:cNvSpPr/>
          <p:nvPr/>
        </p:nvSpPr>
        <p:spPr>
          <a:xfrm>
            <a:off x="4629150" y="2066544"/>
            <a:ext cx="354330" cy="246888"/>
          </a:xfrm>
          <a:prstGeom prst="rect">
            <a:avLst/>
          </a:prstGeom>
          <a:solidFill>
            <a:srgbClr val="ECE6FA"/>
          </a:solidFill>
          <a:ln w="6350">
            <a:solidFill>
              <a:srgbClr val="6C4FBF"/>
            </a:solidFill>
            <a:prstDash val="solid"/>
          </a:ln>
        </p:spPr>
      </p:sp>
      <p:sp>
        <p:nvSpPr>
          <p:cNvPr id="39" name="Text 37"/>
          <p:cNvSpPr txBox="1"/>
          <p:nvPr/>
        </p:nvSpPr>
        <p:spPr>
          <a:xfrm>
            <a:off x="4629150" y="206654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40" name="Text 38"/>
          <p:cNvSpPr txBox="1"/>
          <p:nvPr/>
        </p:nvSpPr>
        <p:spPr>
          <a:xfrm>
            <a:off x="448056" y="2066544"/>
            <a:ext cx="164592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slot0 = −x</a:t>
            </a:r>
            <a:endParaRPr lang="en-US" sz="800" dirty="0"/>
          </a:p>
        </p:txBody>
      </p:sp>
      <p:sp>
        <p:nvSpPr>
          <p:cNvPr id="41" name="Text 39"/>
          <p:cNvSpPr txBox="1"/>
          <p:nvPr/>
        </p:nvSpPr>
        <p:spPr>
          <a:xfrm>
            <a:off x="5056632" y="2066544"/>
            <a:ext cx="109728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SIGN_INV 00000016</a:t>
            </a:r>
            <a:endParaRPr lang="en-US" sz="650" dirty="0"/>
          </a:p>
        </p:txBody>
      </p:sp>
      <p:sp>
        <p:nvSpPr>
          <p:cNvPr id="42" name="Shape 40"/>
          <p:cNvSpPr/>
          <p:nvPr/>
        </p:nvSpPr>
        <p:spPr>
          <a:xfrm>
            <a:off x="3566160" y="1984248"/>
            <a:ext cx="914" cy="82296"/>
          </a:xfrm>
          <a:prstGeom prst="line">
            <a:avLst/>
          </a:prstGeom>
          <a:noFill/>
          <a:ln w="9525">
            <a:solidFill>
              <a:srgbClr val="5B6B7F"/>
            </a:solidFill>
            <a:prstDash val="solid"/>
            <a:tailEnd type="triangle"/>
          </a:ln>
        </p:spPr>
      </p:sp>
      <p:sp>
        <p:nvSpPr>
          <p:cNvPr id="43" name="Shape 41"/>
          <p:cNvSpPr/>
          <p:nvPr/>
        </p:nvSpPr>
        <p:spPr>
          <a:xfrm>
            <a:off x="2148840" y="2395728"/>
            <a:ext cx="354330" cy="246888"/>
          </a:xfrm>
          <a:prstGeom prst="rect">
            <a:avLst/>
          </a:prstGeom>
          <a:solidFill>
            <a:srgbClr val="ECE6FA"/>
          </a:solidFill>
          <a:ln w="6350">
            <a:solidFill>
              <a:srgbClr val="6C4FBF"/>
            </a:solidFill>
            <a:prstDash val="solid"/>
          </a:ln>
        </p:spPr>
      </p:sp>
      <p:sp>
        <p:nvSpPr>
          <p:cNvPr id="44" name="Text 42"/>
          <p:cNvSpPr txBox="1"/>
          <p:nvPr/>
        </p:nvSpPr>
        <p:spPr>
          <a:xfrm>
            <a:off x="214884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e0</a:t>
            </a:r>
            <a:endParaRPr lang="en-US" sz="650" dirty="0"/>
          </a:p>
        </p:txBody>
      </p:sp>
      <p:sp>
        <p:nvSpPr>
          <p:cNvPr id="45" name="Shape 43"/>
          <p:cNvSpPr/>
          <p:nvPr/>
        </p:nvSpPr>
        <p:spPr>
          <a:xfrm>
            <a:off x="2503170" y="2395728"/>
            <a:ext cx="354330" cy="246888"/>
          </a:xfrm>
          <a:prstGeom prst="rect">
            <a:avLst/>
          </a:prstGeom>
          <a:solidFill>
            <a:srgbClr val="ECE6FA"/>
          </a:solidFill>
          <a:ln w="6350">
            <a:solidFill>
              <a:srgbClr val="6C4FBF"/>
            </a:solidFill>
            <a:prstDash val="solid"/>
          </a:ln>
        </p:spPr>
      </p:sp>
      <p:sp>
        <p:nvSpPr>
          <p:cNvPr id="46" name="Text 44"/>
          <p:cNvSpPr txBox="1"/>
          <p:nvPr/>
        </p:nvSpPr>
        <p:spPr>
          <a:xfrm>
            <a:off x="250317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e1</a:t>
            </a:r>
            <a:endParaRPr lang="en-US" sz="650" dirty="0"/>
          </a:p>
        </p:txBody>
      </p:sp>
      <p:sp>
        <p:nvSpPr>
          <p:cNvPr id="47" name="Shape 45"/>
          <p:cNvSpPr/>
          <p:nvPr/>
        </p:nvSpPr>
        <p:spPr>
          <a:xfrm>
            <a:off x="2857500" y="2395728"/>
            <a:ext cx="354330" cy="246888"/>
          </a:xfrm>
          <a:prstGeom prst="rect">
            <a:avLst/>
          </a:prstGeom>
          <a:solidFill>
            <a:srgbClr val="ECE6FA"/>
          </a:solidFill>
          <a:ln w="6350">
            <a:solidFill>
              <a:srgbClr val="6C4FBF"/>
            </a:solidFill>
            <a:prstDash val="solid"/>
          </a:ln>
        </p:spPr>
      </p:sp>
      <p:sp>
        <p:nvSpPr>
          <p:cNvPr id="48" name="Text 46"/>
          <p:cNvSpPr txBox="1"/>
          <p:nvPr/>
        </p:nvSpPr>
        <p:spPr>
          <a:xfrm>
            <a:off x="285750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e2</a:t>
            </a:r>
            <a:endParaRPr lang="en-US" sz="650" dirty="0"/>
          </a:p>
        </p:txBody>
      </p:sp>
      <p:sp>
        <p:nvSpPr>
          <p:cNvPr id="49" name="Shape 47"/>
          <p:cNvSpPr/>
          <p:nvPr/>
        </p:nvSpPr>
        <p:spPr>
          <a:xfrm>
            <a:off x="3211830" y="2395728"/>
            <a:ext cx="354330" cy="246888"/>
          </a:xfrm>
          <a:prstGeom prst="rect">
            <a:avLst/>
          </a:prstGeom>
          <a:solidFill>
            <a:srgbClr val="ECE6FA"/>
          </a:solidFill>
          <a:ln w="6350">
            <a:solidFill>
              <a:srgbClr val="6C4FBF"/>
            </a:solidFill>
            <a:prstDash val="solid"/>
          </a:ln>
        </p:spPr>
      </p:sp>
      <p:sp>
        <p:nvSpPr>
          <p:cNvPr id="50" name="Text 48"/>
          <p:cNvSpPr txBox="1"/>
          <p:nvPr/>
        </p:nvSpPr>
        <p:spPr>
          <a:xfrm>
            <a:off x="321183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e3</a:t>
            </a:r>
            <a:endParaRPr lang="en-US" sz="650" dirty="0"/>
          </a:p>
        </p:txBody>
      </p:sp>
      <p:sp>
        <p:nvSpPr>
          <p:cNvPr id="51" name="Shape 49"/>
          <p:cNvSpPr/>
          <p:nvPr/>
        </p:nvSpPr>
        <p:spPr>
          <a:xfrm>
            <a:off x="3566160" y="2395728"/>
            <a:ext cx="354330" cy="246888"/>
          </a:xfrm>
          <a:prstGeom prst="rect">
            <a:avLst/>
          </a:prstGeom>
          <a:solidFill>
            <a:srgbClr val="ECE6FA"/>
          </a:solidFill>
          <a:ln w="6350">
            <a:solidFill>
              <a:srgbClr val="6C4FBF"/>
            </a:solidFill>
            <a:prstDash val="solid"/>
          </a:ln>
        </p:spPr>
      </p:sp>
      <p:sp>
        <p:nvSpPr>
          <p:cNvPr id="52" name="Text 50"/>
          <p:cNvSpPr txBox="1"/>
          <p:nvPr/>
        </p:nvSpPr>
        <p:spPr>
          <a:xfrm>
            <a:off x="356616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e4</a:t>
            </a:r>
            <a:endParaRPr lang="en-US" sz="650" dirty="0"/>
          </a:p>
        </p:txBody>
      </p:sp>
      <p:sp>
        <p:nvSpPr>
          <p:cNvPr id="53" name="Shape 51"/>
          <p:cNvSpPr/>
          <p:nvPr/>
        </p:nvSpPr>
        <p:spPr>
          <a:xfrm>
            <a:off x="3920490" y="2395728"/>
            <a:ext cx="354330" cy="246888"/>
          </a:xfrm>
          <a:prstGeom prst="rect">
            <a:avLst/>
          </a:prstGeom>
          <a:solidFill>
            <a:srgbClr val="ECE6FA"/>
          </a:solidFill>
          <a:ln w="6350">
            <a:solidFill>
              <a:srgbClr val="6C4FBF"/>
            </a:solidFill>
            <a:prstDash val="solid"/>
          </a:ln>
        </p:spPr>
      </p:sp>
      <p:sp>
        <p:nvSpPr>
          <p:cNvPr id="54" name="Text 52"/>
          <p:cNvSpPr txBox="1"/>
          <p:nvPr/>
        </p:nvSpPr>
        <p:spPr>
          <a:xfrm>
            <a:off x="392049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e5</a:t>
            </a:r>
            <a:endParaRPr lang="en-US" sz="650" dirty="0"/>
          </a:p>
        </p:txBody>
      </p:sp>
      <p:sp>
        <p:nvSpPr>
          <p:cNvPr id="55" name="Shape 53"/>
          <p:cNvSpPr/>
          <p:nvPr/>
        </p:nvSpPr>
        <p:spPr>
          <a:xfrm>
            <a:off x="4274820" y="2395728"/>
            <a:ext cx="354330" cy="246888"/>
          </a:xfrm>
          <a:prstGeom prst="rect">
            <a:avLst/>
          </a:prstGeom>
          <a:solidFill>
            <a:srgbClr val="ECE6FA"/>
          </a:solidFill>
          <a:ln w="6350">
            <a:solidFill>
              <a:srgbClr val="6C4FBF"/>
            </a:solidFill>
            <a:prstDash val="solid"/>
          </a:ln>
        </p:spPr>
      </p:sp>
      <p:sp>
        <p:nvSpPr>
          <p:cNvPr id="56" name="Text 54"/>
          <p:cNvSpPr txBox="1"/>
          <p:nvPr/>
        </p:nvSpPr>
        <p:spPr>
          <a:xfrm>
            <a:off x="427482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e6</a:t>
            </a:r>
            <a:endParaRPr lang="en-US" sz="650" dirty="0"/>
          </a:p>
        </p:txBody>
      </p:sp>
      <p:sp>
        <p:nvSpPr>
          <p:cNvPr id="57" name="Shape 55"/>
          <p:cNvSpPr/>
          <p:nvPr/>
        </p:nvSpPr>
        <p:spPr>
          <a:xfrm>
            <a:off x="4629150" y="2395728"/>
            <a:ext cx="354330" cy="246888"/>
          </a:xfrm>
          <a:prstGeom prst="rect">
            <a:avLst/>
          </a:prstGeom>
          <a:solidFill>
            <a:srgbClr val="ECE6FA"/>
          </a:solidFill>
          <a:ln w="6350">
            <a:solidFill>
              <a:srgbClr val="6C4FBF"/>
            </a:solidFill>
            <a:prstDash val="solid"/>
          </a:ln>
        </p:spPr>
      </p:sp>
      <p:sp>
        <p:nvSpPr>
          <p:cNvPr id="58" name="Text 56"/>
          <p:cNvSpPr txBox="1"/>
          <p:nvPr/>
        </p:nvSpPr>
        <p:spPr>
          <a:xfrm>
            <a:off x="4629150" y="2395728"/>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59" name="Text 57"/>
          <p:cNvSpPr txBox="1"/>
          <p:nvPr/>
        </p:nvSpPr>
        <p:spPr>
          <a:xfrm>
            <a:off x="448056" y="2395728"/>
            <a:ext cx="164592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slot1 = exp(slot0)</a:t>
            </a:r>
            <a:endParaRPr lang="en-US" sz="800" dirty="0"/>
          </a:p>
        </p:txBody>
      </p:sp>
      <p:sp>
        <p:nvSpPr>
          <p:cNvPr id="60" name="Text 58"/>
          <p:cNvSpPr txBox="1"/>
          <p:nvPr/>
        </p:nvSpPr>
        <p:spPr>
          <a:xfrm>
            <a:off x="5056632" y="2395728"/>
            <a:ext cx="109728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EXP 0000000f</a:t>
            </a:r>
            <a:endParaRPr lang="en-US" sz="650" dirty="0"/>
          </a:p>
        </p:txBody>
      </p:sp>
      <p:sp>
        <p:nvSpPr>
          <p:cNvPr id="61" name="Shape 59"/>
          <p:cNvSpPr/>
          <p:nvPr/>
        </p:nvSpPr>
        <p:spPr>
          <a:xfrm>
            <a:off x="3566160" y="2313432"/>
            <a:ext cx="914" cy="82296"/>
          </a:xfrm>
          <a:prstGeom prst="line">
            <a:avLst/>
          </a:prstGeom>
          <a:noFill/>
          <a:ln w="9525">
            <a:solidFill>
              <a:srgbClr val="5B6B7F"/>
            </a:solidFill>
            <a:prstDash val="solid"/>
            <a:tailEnd type="triangle"/>
          </a:ln>
        </p:spPr>
      </p:sp>
      <p:sp>
        <p:nvSpPr>
          <p:cNvPr id="62" name="Shape 60"/>
          <p:cNvSpPr/>
          <p:nvPr/>
        </p:nvSpPr>
        <p:spPr>
          <a:xfrm>
            <a:off x="2148840" y="2724912"/>
            <a:ext cx="354330" cy="246888"/>
          </a:xfrm>
          <a:prstGeom prst="rect">
            <a:avLst/>
          </a:prstGeom>
          <a:solidFill>
            <a:srgbClr val="E3EEFB"/>
          </a:solidFill>
          <a:ln w="6350">
            <a:solidFill>
              <a:srgbClr val="2F6DB5"/>
            </a:solidFill>
            <a:prstDash val="solid"/>
          </a:ln>
        </p:spPr>
      </p:sp>
      <p:sp>
        <p:nvSpPr>
          <p:cNvPr id="63" name="Text 61"/>
          <p:cNvSpPr txBox="1"/>
          <p:nvPr/>
        </p:nvSpPr>
        <p:spPr>
          <a:xfrm>
            <a:off x="214884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64" name="Shape 62"/>
          <p:cNvSpPr/>
          <p:nvPr/>
        </p:nvSpPr>
        <p:spPr>
          <a:xfrm>
            <a:off x="2503170" y="2724912"/>
            <a:ext cx="354330" cy="246888"/>
          </a:xfrm>
          <a:prstGeom prst="rect">
            <a:avLst/>
          </a:prstGeom>
          <a:solidFill>
            <a:srgbClr val="E3EEFB"/>
          </a:solidFill>
          <a:ln w="6350">
            <a:solidFill>
              <a:srgbClr val="2F6DB5"/>
            </a:solidFill>
            <a:prstDash val="solid"/>
          </a:ln>
        </p:spPr>
      </p:sp>
      <p:sp>
        <p:nvSpPr>
          <p:cNvPr id="65" name="Text 63"/>
          <p:cNvSpPr txBox="1"/>
          <p:nvPr/>
        </p:nvSpPr>
        <p:spPr>
          <a:xfrm>
            <a:off x="250317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66" name="Shape 64"/>
          <p:cNvSpPr/>
          <p:nvPr/>
        </p:nvSpPr>
        <p:spPr>
          <a:xfrm>
            <a:off x="2857500" y="2724912"/>
            <a:ext cx="354330" cy="246888"/>
          </a:xfrm>
          <a:prstGeom prst="rect">
            <a:avLst/>
          </a:prstGeom>
          <a:solidFill>
            <a:srgbClr val="E3EEFB"/>
          </a:solidFill>
          <a:ln w="6350">
            <a:solidFill>
              <a:srgbClr val="2F6DB5"/>
            </a:solidFill>
            <a:prstDash val="solid"/>
          </a:ln>
        </p:spPr>
      </p:sp>
      <p:sp>
        <p:nvSpPr>
          <p:cNvPr id="67" name="Text 65"/>
          <p:cNvSpPr txBox="1"/>
          <p:nvPr/>
        </p:nvSpPr>
        <p:spPr>
          <a:xfrm>
            <a:off x="285750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68" name="Shape 66"/>
          <p:cNvSpPr/>
          <p:nvPr/>
        </p:nvSpPr>
        <p:spPr>
          <a:xfrm>
            <a:off x="3211830" y="2724912"/>
            <a:ext cx="354330" cy="246888"/>
          </a:xfrm>
          <a:prstGeom prst="rect">
            <a:avLst/>
          </a:prstGeom>
          <a:solidFill>
            <a:srgbClr val="E3EEFB"/>
          </a:solidFill>
          <a:ln w="6350">
            <a:solidFill>
              <a:srgbClr val="2F6DB5"/>
            </a:solidFill>
            <a:prstDash val="solid"/>
          </a:ln>
        </p:spPr>
      </p:sp>
      <p:sp>
        <p:nvSpPr>
          <p:cNvPr id="69" name="Text 67"/>
          <p:cNvSpPr txBox="1"/>
          <p:nvPr/>
        </p:nvSpPr>
        <p:spPr>
          <a:xfrm>
            <a:off x="321183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0" name="Shape 68"/>
          <p:cNvSpPr/>
          <p:nvPr/>
        </p:nvSpPr>
        <p:spPr>
          <a:xfrm>
            <a:off x="3566160" y="2724912"/>
            <a:ext cx="354330" cy="246888"/>
          </a:xfrm>
          <a:prstGeom prst="rect">
            <a:avLst/>
          </a:prstGeom>
          <a:solidFill>
            <a:srgbClr val="E3EEFB"/>
          </a:solidFill>
          <a:ln w="6350">
            <a:solidFill>
              <a:srgbClr val="2F6DB5"/>
            </a:solidFill>
            <a:prstDash val="solid"/>
          </a:ln>
        </p:spPr>
      </p:sp>
      <p:sp>
        <p:nvSpPr>
          <p:cNvPr id="71" name="Text 69"/>
          <p:cNvSpPr txBox="1"/>
          <p:nvPr/>
        </p:nvSpPr>
        <p:spPr>
          <a:xfrm>
            <a:off x="356616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2" name="Shape 70"/>
          <p:cNvSpPr/>
          <p:nvPr/>
        </p:nvSpPr>
        <p:spPr>
          <a:xfrm>
            <a:off x="3920490" y="2724912"/>
            <a:ext cx="354330" cy="246888"/>
          </a:xfrm>
          <a:prstGeom prst="rect">
            <a:avLst/>
          </a:prstGeom>
          <a:solidFill>
            <a:srgbClr val="E3EEFB"/>
          </a:solidFill>
          <a:ln w="6350">
            <a:solidFill>
              <a:srgbClr val="2F6DB5"/>
            </a:solidFill>
            <a:prstDash val="solid"/>
          </a:ln>
        </p:spPr>
      </p:sp>
      <p:sp>
        <p:nvSpPr>
          <p:cNvPr id="73" name="Text 71"/>
          <p:cNvSpPr txBox="1"/>
          <p:nvPr/>
        </p:nvSpPr>
        <p:spPr>
          <a:xfrm>
            <a:off x="392049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4" name="Shape 72"/>
          <p:cNvSpPr/>
          <p:nvPr/>
        </p:nvSpPr>
        <p:spPr>
          <a:xfrm>
            <a:off x="4274820" y="2724912"/>
            <a:ext cx="354330" cy="246888"/>
          </a:xfrm>
          <a:prstGeom prst="rect">
            <a:avLst/>
          </a:prstGeom>
          <a:solidFill>
            <a:srgbClr val="E3EEFB"/>
          </a:solidFill>
          <a:ln w="6350">
            <a:solidFill>
              <a:srgbClr val="2F6DB5"/>
            </a:solidFill>
            <a:prstDash val="solid"/>
          </a:ln>
        </p:spPr>
      </p:sp>
      <p:sp>
        <p:nvSpPr>
          <p:cNvPr id="75" name="Text 73"/>
          <p:cNvSpPr txBox="1"/>
          <p:nvPr/>
        </p:nvSpPr>
        <p:spPr>
          <a:xfrm>
            <a:off x="427482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6" name="Shape 74"/>
          <p:cNvSpPr/>
          <p:nvPr/>
        </p:nvSpPr>
        <p:spPr>
          <a:xfrm>
            <a:off x="4629150" y="2724912"/>
            <a:ext cx="354330" cy="246888"/>
          </a:xfrm>
          <a:prstGeom prst="rect">
            <a:avLst/>
          </a:prstGeom>
          <a:solidFill>
            <a:srgbClr val="E3EEFB"/>
          </a:solidFill>
          <a:ln w="6350">
            <a:solidFill>
              <a:srgbClr val="2F6DB5"/>
            </a:solidFill>
            <a:prstDash val="solid"/>
          </a:ln>
        </p:spPr>
      </p:sp>
      <p:sp>
        <p:nvSpPr>
          <p:cNvPr id="77" name="Text 75"/>
          <p:cNvSpPr txBox="1"/>
          <p:nvPr/>
        </p:nvSpPr>
        <p:spPr>
          <a:xfrm>
            <a:off x="4629150" y="2724912"/>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a:t>
            </a:r>
            <a:endParaRPr lang="en-US" sz="650" dirty="0"/>
          </a:p>
        </p:txBody>
      </p:sp>
      <p:sp>
        <p:nvSpPr>
          <p:cNvPr id="78" name="Text 76"/>
          <p:cNvSpPr txBox="1"/>
          <p:nvPr/>
        </p:nvSpPr>
        <p:spPr>
          <a:xfrm>
            <a:off x="448056" y="2724912"/>
            <a:ext cx="164592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slot2 = 1.0 (broadcast)</a:t>
            </a:r>
            <a:endParaRPr lang="en-US" sz="800" dirty="0"/>
          </a:p>
        </p:txBody>
      </p:sp>
      <p:sp>
        <p:nvSpPr>
          <p:cNvPr id="79" name="Text 77"/>
          <p:cNvSpPr txBox="1"/>
          <p:nvPr/>
        </p:nvSpPr>
        <p:spPr>
          <a:xfrm>
            <a:off x="5056632" y="2724912"/>
            <a:ext cx="109728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BCAST ×2 words</a:t>
            </a:r>
            <a:endParaRPr lang="en-US" sz="650" dirty="0"/>
          </a:p>
        </p:txBody>
      </p:sp>
      <p:sp>
        <p:nvSpPr>
          <p:cNvPr id="80" name="Shape 78"/>
          <p:cNvSpPr/>
          <p:nvPr/>
        </p:nvSpPr>
        <p:spPr>
          <a:xfrm>
            <a:off x="3566160" y="2642616"/>
            <a:ext cx="914" cy="82296"/>
          </a:xfrm>
          <a:prstGeom prst="line">
            <a:avLst/>
          </a:prstGeom>
          <a:noFill/>
          <a:ln w="9525">
            <a:solidFill>
              <a:srgbClr val="5B6B7F"/>
            </a:solidFill>
            <a:prstDash val="solid"/>
            <a:tailEnd type="triangle"/>
          </a:ln>
        </p:spPr>
      </p:sp>
      <p:sp>
        <p:nvSpPr>
          <p:cNvPr id="81" name="Shape 79"/>
          <p:cNvSpPr/>
          <p:nvPr/>
        </p:nvSpPr>
        <p:spPr>
          <a:xfrm>
            <a:off x="2148840" y="3054096"/>
            <a:ext cx="354330" cy="246888"/>
          </a:xfrm>
          <a:prstGeom prst="rect">
            <a:avLst/>
          </a:prstGeom>
          <a:solidFill>
            <a:srgbClr val="ECE6FA"/>
          </a:solidFill>
          <a:ln w="6350">
            <a:solidFill>
              <a:srgbClr val="6C4FBF"/>
            </a:solidFill>
            <a:prstDash val="solid"/>
          </a:ln>
        </p:spPr>
      </p:sp>
      <p:sp>
        <p:nvSpPr>
          <p:cNvPr id="82" name="Text 80"/>
          <p:cNvSpPr txBox="1"/>
          <p:nvPr/>
        </p:nvSpPr>
        <p:spPr>
          <a:xfrm>
            <a:off x="214884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1+e0</a:t>
            </a:r>
            <a:endParaRPr lang="en-US" sz="650" dirty="0"/>
          </a:p>
        </p:txBody>
      </p:sp>
      <p:sp>
        <p:nvSpPr>
          <p:cNvPr id="83" name="Shape 81"/>
          <p:cNvSpPr/>
          <p:nvPr/>
        </p:nvSpPr>
        <p:spPr>
          <a:xfrm>
            <a:off x="2503170" y="3054096"/>
            <a:ext cx="354330" cy="246888"/>
          </a:xfrm>
          <a:prstGeom prst="rect">
            <a:avLst/>
          </a:prstGeom>
          <a:solidFill>
            <a:srgbClr val="ECE6FA"/>
          </a:solidFill>
          <a:ln w="6350">
            <a:solidFill>
              <a:srgbClr val="6C4FBF"/>
            </a:solidFill>
            <a:prstDash val="solid"/>
          </a:ln>
        </p:spPr>
      </p:sp>
      <p:sp>
        <p:nvSpPr>
          <p:cNvPr id="84" name="Text 82"/>
          <p:cNvSpPr txBox="1"/>
          <p:nvPr/>
        </p:nvSpPr>
        <p:spPr>
          <a:xfrm>
            <a:off x="250317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1+e1</a:t>
            </a:r>
            <a:endParaRPr lang="en-US" sz="650" dirty="0"/>
          </a:p>
        </p:txBody>
      </p:sp>
      <p:sp>
        <p:nvSpPr>
          <p:cNvPr id="85" name="Shape 83"/>
          <p:cNvSpPr/>
          <p:nvPr/>
        </p:nvSpPr>
        <p:spPr>
          <a:xfrm>
            <a:off x="2857500" y="3054096"/>
            <a:ext cx="354330" cy="246888"/>
          </a:xfrm>
          <a:prstGeom prst="rect">
            <a:avLst/>
          </a:prstGeom>
          <a:solidFill>
            <a:srgbClr val="ECE6FA"/>
          </a:solidFill>
          <a:ln w="6350">
            <a:solidFill>
              <a:srgbClr val="6C4FBF"/>
            </a:solidFill>
            <a:prstDash val="solid"/>
          </a:ln>
        </p:spPr>
      </p:sp>
      <p:sp>
        <p:nvSpPr>
          <p:cNvPr id="86" name="Text 84"/>
          <p:cNvSpPr txBox="1"/>
          <p:nvPr/>
        </p:nvSpPr>
        <p:spPr>
          <a:xfrm>
            <a:off x="285750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1+e2</a:t>
            </a:r>
            <a:endParaRPr lang="en-US" sz="650" dirty="0"/>
          </a:p>
        </p:txBody>
      </p:sp>
      <p:sp>
        <p:nvSpPr>
          <p:cNvPr id="87" name="Shape 85"/>
          <p:cNvSpPr/>
          <p:nvPr/>
        </p:nvSpPr>
        <p:spPr>
          <a:xfrm>
            <a:off x="3211830" y="3054096"/>
            <a:ext cx="354330" cy="246888"/>
          </a:xfrm>
          <a:prstGeom prst="rect">
            <a:avLst/>
          </a:prstGeom>
          <a:solidFill>
            <a:srgbClr val="ECE6FA"/>
          </a:solidFill>
          <a:ln w="6350">
            <a:solidFill>
              <a:srgbClr val="6C4FBF"/>
            </a:solidFill>
            <a:prstDash val="solid"/>
          </a:ln>
        </p:spPr>
      </p:sp>
      <p:sp>
        <p:nvSpPr>
          <p:cNvPr id="88" name="Text 86"/>
          <p:cNvSpPr txBox="1"/>
          <p:nvPr/>
        </p:nvSpPr>
        <p:spPr>
          <a:xfrm>
            <a:off x="321183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1+e3</a:t>
            </a:r>
            <a:endParaRPr lang="en-US" sz="650" dirty="0"/>
          </a:p>
        </p:txBody>
      </p:sp>
      <p:sp>
        <p:nvSpPr>
          <p:cNvPr id="89" name="Shape 87"/>
          <p:cNvSpPr/>
          <p:nvPr/>
        </p:nvSpPr>
        <p:spPr>
          <a:xfrm>
            <a:off x="3566160" y="3054096"/>
            <a:ext cx="354330" cy="246888"/>
          </a:xfrm>
          <a:prstGeom prst="rect">
            <a:avLst/>
          </a:prstGeom>
          <a:solidFill>
            <a:srgbClr val="ECE6FA"/>
          </a:solidFill>
          <a:ln w="6350">
            <a:solidFill>
              <a:srgbClr val="6C4FBF"/>
            </a:solidFill>
            <a:prstDash val="solid"/>
          </a:ln>
        </p:spPr>
      </p:sp>
      <p:sp>
        <p:nvSpPr>
          <p:cNvPr id="90" name="Text 88"/>
          <p:cNvSpPr txBox="1"/>
          <p:nvPr/>
        </p:nvSpPr>
        <p:spPr>
          <a:xfrm>
            <a:off x="356616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1+e4</a:t>
            </a:r>
            <a:endParaRPr lang="en-US" sz="650" dirty="0"/>
          </a:p>
        </p:txBody>
      </p:sp>
      <p:sp>
        <p:nvSpPr>
          <p:cNvPr id="91" name="Shape 89"/>
          <p:cNvSpPr/>
          <p:nvPr/>
        </p:nvSpPr>
        <p:spPr>
          <a:xfrm>
            <a:off x="3920490" y="3054096"/>
            <a:ext cx="354330" cy="246888"/>
          </a:xfrm>
          <a:prstGeom prst="rect">
            <a:avLst/>
          </a:prstGeom>
          <a:solidFill>
            <a:srgbClr val="ECE6FA"/>
          </a:solidFill>
          <a:ln w="6350">
            <a:solidFill>
              <a:srgbClr val="6C4FBF"/>
            </a:solidFill>
            <a:prstDash val="solid"/>
          </a:ln>
        </p:spPr>
      </p:sp>
      <p:sp>
        <p:nvSpPr>
          <p:cNvPr id="92" name="Text 90"/>
          <p:cNvSpPr txBox="1"/>
          <p:nvPr/>
        </p:nvSpPr>
        <p:spPr>
          <a:xfrm>
            <a:off x="392049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1+e5</a:t>
            </a:r>
            <a:endParaRPr lang="en-US" sz="650" dirty="0"/>
          </a:p>
        </p:txBody>
      </p:sp>
      <p:sp>
        <p:nvSpPr>
          <p:cNvPr id="93" name="Shape 91"/>
          <p:cNvSpPr/>
          <p:nvPr/>
        </p:nvSpPr>
        <p:spPr>
          <a:xfrm>
            <a:off x="4274820" y="3054096"/>
            <a:ext cx="354330" cy="246888"/>
          </a:xfrm>
          <a:prstGeom prst="rect">
            <a:avLst/>
          </a:prstGeom>
          <a:solidFill>
            <a:srgbClr val="ECE6FA"/>
          </a:solidFill>
          <a:ln w="6350">
            <a:solidFill>
              <a:srgbClr val="6C4FBF"/>
            </a:solidFill>
            <a:prstDash val="solid"/>
          </a:ln>
        </p:spPr>
      </p:sp>
      <p:sp>
        <p:nvSpPr>
          <p:cNvPr id="94" name="Text 92"/>
          <p:cNvSpPr txBox="1"/>
          <p:nvPr/>
        </p:nvSpPr>
        <p:spPr>
          <a:xfrm>
            <a:off x="427482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1+e6</a:t>
            </a:r>
            <a:endParaRPr lang="en-US" sz="650" dirty="0"/>
          </a:p>
        </p:txBody>
      </p:sp>
      <p:sp>
        <p:nvSpPr>
          <p:cNvPr id="95" name="Shape 93"/>
          <p:cNvSpPr/>
          <p:nvPr/>
        </p:nvSpPr>
        <p:spPr>
          <a:xfrm>
            <a:off x="4629150" y="3054096"/>
            <a:ext cx="354330" cy="246888"/>
          </a:xfrm>
          <a:prstGeom prst="rect">
            <a:avLst/>
          </a:prstGeom>
          <a:solidFill>
            <a:srgbClr val="ECE6FA"/>
          </a:solidFill>
          <a:ln w="6350">
            <a:solidFill>
              <a:srgbClr val="6C4FBF"/>
            </a:solidFill>
            <a:prstDash val="solid"/>
          </a:ln>
        </p:spPr>
      </p:sp>
      <p:sp>
        <p:nvSpPr>
          <p:cNvPr id="96" name="Text 94"/>
          <p:cNvSpPr txBox="1"/>
          <p:nvPr/>
        </p:nvSpPr>
        <p:spPr>
          <a:xfrm>
            <a:off x="4629150" y="3054096"/>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97" name="Text 95"/>
          <p:cNvSpPr txBox="1"/>
          <p:nvPr/>
        </p:nvSpPr>
        <p:spPr>
          <a:xfrm>
            <a:off x="448056" y="3054096"/>
            <a:ext cx="164592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slot3 = slot1 + slot2</a:t>
            </a:r>
            <a:endParaRPr lang="en-US" sz="800" dirty="0"/>
          </a:p>
        </p:txBody>
      </p:sp>
      <p:sp>
        <p:nvSpPr>
          <p:cNvPr id="98" name="Text 96"/>
          <p:cNvSpPr txBox="1"/>
          <p:nvPr/>
        </p:nvSpPr>
        <p:spPr>
          <a:xfrm>
            <a:off x="5056632" y="3054096"/>
            <a:ext cx="109728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ADD 80000001</a:t>
            </a:r>
            <a:endParaRPr lang="en-US" sz="650" dirty="0"/>
          </a:p>
        </p:txBody>
      </p:sp>
      <p:sp>
        <p:nvSpPr>
          <p:cNvPr id="99" name="Shape 97"/>
          <p:cNvSpPr/>
          <p:nvPr/>
        </p:nvSpPr>
        <p:spPr>
          <a:xfrm>
            <a:off x="3566160" y="2971800"/>
            <a:ext cx="914" cy="82296"/>
          </a:xfrm>
          <a:prstGeom prst="line">
            <a:avLst/>
          </a:prstGeom>
          <a:noFill/>
          <a:ln w="9525">
            <a:solidFill>
              <a:srgbClr val="5B6B7F"/>
            </a:solidFill>
            <a:prstDash val="solid"/>
            <a:tailEnd type="triangle"/>
          </a:ln>
        </p:spPr>
      </p:sp>
      <p:sp>
        <p:nvSpPr>
          <p:cNvPr id="100" name="Shape 98"/>
          <p:cNvSpPr/>
          <p:nvPr/>
        </p:nvSpPr>
        <p:spPr>
          <a:xfrm>
            <a:off x="2148840" y="3383280"/>
            <a:ext cx="354330" cy="246888"/>
          </a:xfrm>
          <a:prstGeom prst="rect">
            <a:avLst/>
          </a:prstGeom>
          <a:solidFill>
            <a:srgbClr val="DDF3F0"/>
          </a:solidFill>
          <a:ln w="6350">
            <a:solidFill>
              <a:srgbClr val="1F8A8A"/>
            </a:solidFill>
            <a:prstDash val="solid"/>
          </a:ln>
        </p:spPr>
      </p:sp>
      <p:sp>
        <p:nvSpPr>
          <p:cNvPr id="101" name="Text 99"/>
          <p:cNvSpPr txBox="1"/>
          <p:nvPr/>
        </p:nvSpPr>
        <p:spPr>
          <a:xfrm>
            <a:off x="214884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σ0</a:t>
            </a:r>
            <a:endParaRPr lang="en-US" sz="650" dirty="0"/>
          </a:p>
        </p:txBody>
      </p:sp>
      <p:sp>
        <p:nvSpPr>
          <p:cNvPr id="102" name="Shape 100"/>
          <p:cNvSpPr/>
          <p:nvPr/>
        </p:nvSpPr>
        <p:spPr>
          <a:xfrm>
            <a:off x="2503170" y="3383280"/>
            <a:ext cx="354330" cy="246888"/>
          </a:xfrm>
          <a:prstGeom prst="rect">
            <a:avLst/>
          </a:prstGeom>
          <a:solidFill>
            <a:srgbClr val="DDF3F0"/>
          </a:solidFill>
          <a:ln w="6350">
            <a:solidFill>
              <a:srgbClr val="1F8A8A"/>
            </a:solidFill>
            <a:prstDash val="solid"/>
          </a:ln>
        </p:spPr>
      </p:sp>
      <p:sp>
        <p:nvSpPr>
          <p:cNvPr id="103" name="Text 101"/>
          <p:cNvSpPr txBox="1"/>
          <p:nvPr/>
        </p:nvSpPr>
        <p:spPr>
          <a:xfrm>
            <a:off x="250317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σ1</a:t>
            </a:r>
            <a:endParaRPr lang="en-US" sz="650" dirty="0"/>
          </a:p>
        </p:txBody>
      </p:sp>
      <p:sp>
        <p:nvSpPr>
          <p:cNvPr id="104" name="Shape 102"/>
          <p:cNvSpPr/>
          <p:nvPr/>
        </p:nvSpPr>
        <p:spPr>
          <a:xfrm>
            <a:off x="2857500" y="3383280"/>
            <a:ext cx="354330" cy="246888"/>
          </a:xfrm>
          <a:prstGeom prst="rect">
            <a:avLst/>
          </a:prstGeom>
          <a:solidFill>
            <a:srgbClr val="DDF3F0"/>
          </a:solidFill>
          <a:ln w="6350">
            <a:solidFill>
              <a:srgbClr val="1F8A8A"/>
            </a:solidFill>
            <a:prstDash val="solid"/>
          </a:ln>
        </p:spPr>
      </p:sp>
      <p:sp>
        <p:nvSpPr>
          <p:cNvPr id="105" name="Text 103"/>
          <p:cNvSpPr txBox="1"/>
          <p:nvPr/>
        </p:nvSpPr>
        <p:spPr>
          <a:xfrm>
            <a:off x="285750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σ2</a:t>
            </a:r>
            <a:endParaRPr lang="en-US" sz="650" dirty="0"/>
          </a:p>
        </p:txBody>
      </p:sp>
      <p:sp>
        <p:nvSpPr>
          <p:cNvPr id="106" name="Shape 104"/>
          <p:cNvSpPr/>
          <p:nvPr/>
        </p:nvSpPr>
        <p:spPr>
          <a:xfrm>
            <a:off x="3211830" y="3383280"/>
            <a:ext cx="354330" cy="246888"/>
          </a:xfrm>
          <a:prstGeom prst="rect">
            <a:avLst/>
          </a:prstGeom>
          <a:solidFill>
            <a:srgbClr val="DDF3F0"/>
          </a:solidFill>
          <a:ln w="6350">
            <a:solidFill>
              <a:srgbClr val="1F8A8A"/>
            </a:solidFill>
            <a:prstDash val="solid"/>
          </a:ln>
        </p:spPr>
      </p:sp>
      <p:sp>
        <p:nvSpPr>
          <p:cNvPr id="107" name="Text 105"/>
          <p:cNvSpPr txBox="1"/>
          <p:nvPr/>
        </p:nvSpPr>
        <p:spPr>
          <a:xfrm>
            <a:off x="321183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σ3</a:t>
            </a:r>
            <a:endParaRPr lang="en-US" sz="650" dirty="0"/>
          </a:p>
        </p:txBody>
      </p:sp>
      <p:sp>
        <p:nvSpPr>
          <p:cNvPr id="108" name="Shape 106"/>
          <p:cNvSpPr/>
          <p:nvPr/>
        </p:nvSpPr>
        <p:spPr>
          <a:xfrm>
            <a:off x="3566160" y="3383280"/>
            <a:ext cx="354330" cy="246888"/>
          </a:xfrm>
          <a:prstGeom prst="rect">
            <a:avLst/>
          </a:prstGeom>
          <a:solidFill>
            <a:srgbClr val="DDF3F0"/>
          </a:solidFill>
          <a:ln w="6350">
            <a:solidFill>
              <a:srgbClr val="1F8A8A"/>
            </a:solidFill>
            <a:prstDash val="solid"/>
          </a:ln>
        </p:spPr>
      </p:sp>
      <p:sp>
        <p:nvSpPr>
          <p:cNvPr id="109" name="Text 107"/>
          <p:cNvSpPr txBox="1"/>
          <p:nvPr/>
        </p:nvSpPr>
        <p:spPr>
          <a:xfrm>
            <a:off x="356616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σ4</a:t>
            </a:r>
            <a:endParaRPr lang="en-US" sz="650" dirty="0"/>
          </a:p>
        </p:txBody>
      </p:sp>
      <p:sp>
        <p:nvSpPr>
          <p:cNvPr id="110" name="Shape 108"/>
          <p:cNvSpPr/>
          <p:nvPr/>
        </p:nvSpPr>
        <p:spPr>
          <a:xfrm>
            <a:off x="3920490" y="3383280"/>
            <a:ext cx="354330" cy="246888"/>
          </a:xfrm>
          <a:prstGeom prst="rect">
            <a:avLst/>
          </a:prstGeom>
          <a:solidFill>
            <a:srgbClr val="DDF3F0"/>
          </a:solidFill>
          <a:ln w="6350">
            <a:solidFill>
              <a:srgbClr val="1F8A8A"/>
            </a:solidFill>
            <a:prstDash val="solid"/>
          </a:ln>
        </p:spPr>
      </p:sp>
      <p:sp>
        <p:nvSpPr>
          <p:cNvPr id="111" name="Text 109"/>
          <p:cNvSpPr txBox="1"/>
          <p:nvPr/>
        </p:nvSpPr>
        <p:spPr>
          <a:xfrm>
            <a:off x="392049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σ5</a:t>
            </a:r>
            <a:endParaRPr lang="en-US" sz="650" dirty="0"/>
          </a:p>
        </p:txBody>
      </p:sp>
      <p:sp>
        <p:nvSpPr>
          <p:cNvPr id="112" name="Shape 110"/>
          <p:cNvSpPr/>
          <p:nvPr/>
        </p:nvSpPr>
        <p:spPr>
          <a:xfrm>
            <a:off x="4274820" y="3383280"/>
            <a:ext cx="354330" cy="246888"/>
          </a:xfrm>
          <a:prstGeom prst="rect">
            <a:avLst/>
          </a:prstGeom>
          <a:solidFill>
            <a:srgbClr val="DDF3F0"/>
          </a:solidFill>
          <a:ln w="6350">
            <a:solidFill>
              <a:srgbClr val="1F8A8A"/>
            </a:solidFill>
            <a:prstDash val="solid"/>
          </a:ln>
        </p:spPr>
      </p:sp>
      <p:sp>
        <p:nvSpPr>
          <p:cNvPr id="113" name="Text 111"/>
          <p:cNvSpPr txBox="1"/>
          <p:nvPr/>
        </p:nvSpPr>
        <p:spPr>
          <a:xfrm>
            <a:off x="427482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σ6</a:t>
            </a:r>
            <a:endParaRPr lang="en-US" sz="650" dirty="0"/>
          </a:p>
        </p:txBody>
      </p:sp>
      <p:sp>
        <p:nvSpPr>
          <p:cNvPr id="114" name="Shape 112"/>
          <p:cNvSpPr/>
          <p:nvPr/>
        </p:nvSpPr>
        <p:spPr>
          <a:xfrm>
            <a:off x="4629150" y="3383280"/>
            <a:ext cx="354330" cy="246888"/>
          </a:xfrm>
          <a:prstGeom prst="rect">
            <a:avLst/>
          </a:prstGeom>
          <a:solidFill>
            <a:srgbClr val="DDF3F0"/>
          </a:solidFill>
          <a:ln w="6350">
            <a:solidFill>
              <a:srgbClr val="1F8A8A"/>
            </a:solidFill>
            <a:prstDash val="solid"/>
          </a:ln>
        </p:spPr>
      </p:sp>
      <p:sp>
        <p:nvSpPr>
          <p:cNvPr id="115" name="Text 113"/>
          <p:cNvSpPr txBox="1"/>
          <p:nvPr/>
        </p:nvSpPr>
        <p:spPr>
          <a:xfrm>
            <a:off x="4629150" y="3383280"/>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116" name="Text 114"/>
          <p:cNvSpPr txBox="1"/>
          <p:nvPr/>
        </p:nvSpPr>
        <p:spPr>
          <a:xfrm>
            <a:off x="448056" y="3383280"/>
            <a:ext cx="164592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sig = 1 / slot3</a:t>
            </a:r>
            <a:endParaRPr lang="en-US" sz="800" dirty="0"/>
          </a:p>
        </p:txBody>
      </p:sp>
      <p:sp>
        <p:nvSpPr>
          <p:cNvPr id="117" name="Text 115"/>
          <p:cNvSpPr txBox="1"/>
          <p:nvPr/>
        </p:nvSpPr>
        <p:spPr>
          <a:xfrm>
            <a:off x="5056632" y="3383280"/>
            <a:ext cx="109728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DIV 8000000b</a:t>
            </a:r>
            <a:endParaRPr lang="en-US" sz="650" dirty="0"/>
          </a:p>
        </p:txBody>
      </p:sp>
      <p:sp>
        <p:nvSpPr>
          <p:cNvPr id="118" name="Shape 116"/>
          <p:cNvSpPr/>
          <p:nvPr/>
        </p:nvSpPr>
        <p:spPr>
          <a:xfrm>
            <a:off x="3566160" y="3300984"/>
            <a:ext cx="914" cy="82296"/>
          </a:xfrm>
          <a:prstGeom prst="line">
            <a:avLst/>
          </a:prstGeom>
          <a:noFill/>
          <a:ln w="9525">
            <a:solidFill>
              <a:srgbClr val="5B6B7F"/>
            </a:solidFill>
            <a:prstDash val="solid"/>
            <a:tailEnd type="triangle"/>
          </a:ln>
        </p:spPr>
      </p:sp>
      <p:sp>
        <p:nvSpPr>
          <p:cNvPr id="119" name="Shape 117"/>
          <p:cNvSpPr/>
          <p:nvPr/>
        </p:nvSpPr>
        <p:spPr>
          <a:xfrm>
            <a:off x="2148840" y="3712464"/>
            <a:ext cx="354330" cy="246888"/>
          </a:xfrm>
          <a:prstGeom prst="rect">
            <a:avLst/>
          </a:prstGeom>
          <a:solidFill>
            <a:srgbClr val="E5F3E7"/>
          </a:solidFill>
          <a:ln w="6350">
            <a:solidFill>
              <a:srgbClr val="2E7D32"/>
            </a:solidFill>
            <a:prstDash val="solid"/>
          </a:ln>
        </p:spPr>
      </p:sp>
      <p:sp>
        <p:nvSpPr>
          <p:cNvPr id="120" name="Text 118"/>
          <p:cNvSpPr txBox="1"/>
          <p:nvPr/>
        </p:nvSpPr>
        <p:spPr>
          <a:xfrm>
            <a:off x="214884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y0</a:t>
            </a:r>
            <a:endParaRPr lang="en-US" sz="650" dirty="0"/>
          </a:p>
        </p:txBody>
      </p:sp>
      <p:sp>
        <p:nvSpPr>
          <p:cNvPr id="121" name="Shape 119"/>
          <p:cNvSpPr/>
          <p:nvPr/>
        </p:nvSpPr>
        <p:spPr>
          <a:xfrm>
            <a:off x="2503170" y="3712464"/>
            <a:ext cx="354330" cy="246888"/>
          </a:xfrm>
          <a:prstGeom prst="rect">
            <a:avLst/>
          </a:prstGeom>
          <a:solidFill>
            <a:srgbClr val="E5F3E7"/>
          </a:solidFill>
          <a:ln w="6350">
            <a:solidFill>
              <a:srgbClr val="2E7D32"/>
            </a:solidFill>
            <a:prstDash val="solid"/>
          </a:ln>
        </p:spPr>
      </p:sp>
      <p:sp>
        <p:nvSpPr>
          <p:cNvPr id="122" name="Text 120"/>
          <p:cNvSpPr txBox="1"/>
          <p:nvPr/>
        </p:nvSpPr>
        <p:spPr>
          <a:xfrm>
            <a:off x="250317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y1</a:t>
            </a:r>
            <a:endParaRPr lang="en-US" sz="650" dirty="0"/>
          </a:p>
        </p:txBody>
      </p:sp>
      <p:sp>
        <p:nvSpPr>
          <p:cNvPr id="123" name="Shape 121"/>
          <p:cNvSpPr/>
          <p:nvPr/>
        </p:nvSpPr>
        <p:spPr>
          <a:xfrm>
            <a:off x="2857500" y="3712464"/>
            <a:ext cx="354330" cy="246888"/>
          </a:xfrm>
          <a:prstGeom prst="rect">
            <a:avLst/>
          </a:prstGeom>
          <a:solidFill>
            <a:srgbClr val="E5F3E7"/>
          </a:solidFill>
          <a:ln w="6350">
            <a:solidFill>
              <a:srgbClr val="2E7D32"/>
            </a:solidFill>
            <a:prstDash val="solid"/>
          </a:ln>
        </p:spPr>
      </p:sp>
      <p:sp>
        <p:nvSpPr>
          <p:cNvPr id="124" name="Text 122"/>
          <p:cNvSpPr txBox="1"/>
          <p:nvPr/>
        </p:nvSpPr>
        <p:spPr>
          <a:xfrm>
            <a:off x="285750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y2</a:t>
            </a:r>
            <a:endParaRPr lang="en-US" sz="650" dirty="0"/>
          </a:p>
        </p:txBody>
      </p:sp>
      <p:sp>
        <p:nvSpPr>
          <p:cNvPr id="125" name="Shape 123"/>
          <p:cNvSpPr/>
          <p:nvPr/>
        </p:nvSpPr>
        <p:spPr>
          <a:xfrm>
            <a:off x="3211830" y="3712464"/>
            <a:ext cx="354330" cy="246888"/>
          </a:xfrm>
          <a:prstGeom prst="rect">
            <a:avLst/>
          </a:prstGeom>
          <a:solidFill>
            <a:srgbClr val="E5F3E7"/>
          </a:solidFill>
          <a:ln w="6350">
            <a:solidFill>
              <a:srgbClr val="2E7D32"/>
            </a:solidFill>
            <a:prstDash val="solid"/>
          </a:ln>
        </p:spPr>
      </p:sp>
      <p:sp>
        <p:nvSpPr>
          <p:cNvPr id="126" name="Text 124"/>
          <p:cNvSpPr txBox="1"/>
          <p:nvPr/>
        </p:nvSpPr>
        <p:spPr>
          <a:xfrm>
            <a:off x="321183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y3</a:t>
            </a:r>
            <a:endParaRPr lang="en-US" sz="650" dirty="0"/>
          </a:p>
        </p:txBody>
      </p:sp>
      <p:sp>
        <p:nvSpPr>
          <p:cNvPr id="127" name="Shape 125"/>
          <p:cNvSpPr/>
          <p:nvPr/>
        </p:nvSpPr>
        <p:spPr>
          <a:xfrm>
            <a:off x="3566160" y="3712464"/>
            <a:ext cx="354330" cy="246888"/>
          </a:xfrm>
          <a:prstGeom prst="rect">
            <a:avLst/>
          </a:prstGeom>
          <a:solidFill>
            <a:srgbClr val="E5F3E7"/>
          </a:solidFill>
          <a:ln w="6350">
            <a:solidFill>
              <a:srgbClr val="2E7D32"/>
            </a:solidFill>
            <a:prstDash val="solid"/>
          </a:ln>
        </p:spPr>
      </p:sp>
      <p:sp>
        <p:nvSpPr>
          <p:cNvPr id="128" name="Text 126"/>
          <p:cNvSpPr txBox="1"/>
          <p:nvPr/>
        </p:nvSpPr>
        <p:spPr>
          <a:xfrm>
            <a:off x="356616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y4</a:t>
            </a:r>
            <a:endParaRPr lang="en-US" sz="650" dirty="0"/>
          </a:p>
        </p:txBody>
      </p:sp>
      <p:sp>
        <p:nvSpPr>
          <p:cNvPr id="129" name="Shape 127"/>
          <p:cNvSpPr/>
          <p:nvPr/>
        </p:nvSpPr>
        <p:spPr>
          <a:xfrm>
            <a:off x="3920490" y="3712464"/>
            <a:ext cx="354330" cy="246888"/>
          </a:xfrm>
          <a:prstGeom prst="rect">
            <a:avLst/>
          </a:prstGeom>
          <a:solidFill>
            <a:srgbClr val="E5F3E7"/>
          </a:solidFill>
          <a:ln w="6350">
            <a:solidFill>
              <a:srgbClr val="2E7D32"/>
            </a:solidFill>
            <a:prstDash val="solid"/>
          </a:ln>
        </p:spPr>
      </p:sp>
      <p:sp>
        <p:nvSpPr>
          <p:cNvPr id="130" name="Text 128"/>
          <p:cNvSpPr txBox="1"/>
          <p:nvPr/>
        </p:nvSpPr>
        <p:spPr>
          <a:xfrm>
            <a:off x="392049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y5</a:t>
            </a:r>
            <a:endParaRPr lang="en-US" sz="650" dirty="0"/>
          </a:p>
        </p:txBody>
      </p:sp>
      <p:sp>
        <p:nvSpPr>
          <p:cNvPr id="131" name="Shape 129"/>
          <p:cNvSpPr/>
          <p:nvPr/>
        </p:nvSpPr>
        <p:spPr>
          <a:xfrm>
            <a:off x="4274820" y="3712464"/>
            <a:ext cx="354330" cy="246888"/>
          </a:xfrm>
          <a:prstGeom prst="rect">
            <a:avLst/>
          </a:prstGeom>
          <a:solidFill>
            <a:srgbClr val="E5F3E7"/>
          </a:solidFill>
          <a:ln w="6350">
            <a:solidFill>
              <a:srgbClr val="2E7D32"/>
            </a:solidFill>
            <a:prstDash val="solid"/>
          </a:ln>
        </p:spPr>
      </p:sp>
      <p:sp>
        <p:nvSpPr>
          <p:cNvPr id="132" name="Text 130"/>
          <p:cNvSpPr txBox="1"/>
          <p:nvPr/>
        </p:nvSpPr>
        <p:spPr>
          <a:xfrm>
            <a:off x="427482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y6</a:t>
            </a:r>
            <a:endParaRPr lang="en-US" sz="650" dirty="0"/>
          </a:p>
        </p:txBody>
      </p:sp>
      <p:sp>
        <p:nvSpPr>
          <p:cNvPr id="133" name="Shape 131"/>
          <p:cNvSpPr/>
          <p:nvPr/>
        </p:nvSpPr>
        <p:spPr>
          <a:xfrm>
            <a:off x="4629150" y="3712464"/>
            <a:ext cx="354330" cy="246888"/>
          </a:xfrm>
          <a:prstGeom prst="rect">
            <a:avLst/>
          </a:prstGeom>
          <a:solidFill>
            <a:srgbClr val="E5F3E7"/>
          </a:solidFill>
          <a:ln w="6350">
            <a:solidFill>
              <a:srgbClr val="2E7D32"/>
            </a:solidFill>
            <a:prstDash val="solid"/>
          </a:ln>
        </p:spPr>
      </p:sp>
      <p:sp>
        <p:nvSpPr>
          <p:cNvPr id="134" name="Text 132"/>
          <p:cNvSpPr txBox="1"/>
          <p:nvPr/>
        </p:nvSpPr>
        <p:spPr>
          <a:xfrm>
            <a:off x="4629150" y="3712464"/>
            <a:ext cx="354330" cy="24688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135" name="Text 133"/>
          <p:cNvSpPr txBox="1"/>
          <p:nvPr/>
        </p:nvSpPr>
        <p:spPr>
          <a:xfrm>
            <a:off x="448056" y="3712464"/>
            <a:ext cx="1645920" cy="246888"/>
          </a:xfrm>
          <a:prstGeom prst="rect">
            <a:avLst/>
          </a:prstGeom>
          <a:noFill/>
          <a:ln/>
        </p:spPr>
        <p:txBody>
          <a:bodyPr wrap="square" lIns="0" tIns="0" rIns="0" bIns="0" rtlCol="0" anchor="ctr"/>
          <a:lstStyle/>
          <a:p>
            <a:pPr algn="r" indent="0" marL="0">
              <a:buNone/>
            </a:pPr>
            <a:r>
              <a:rPr lang="en-US" sz="800" b="1" dirty="0">
                <a:solidFill>
                  <a:srgbClr val="15243B"/>
                </a:solidFill>
                <a:latin typeface="Malgun Gothic" pitchFamily="34" charset="0"/>
                <a:ea typeface="Malgun Gothic" pitchFamily="34" charset="-122"/>
                <a:cs typeface="Malgun Gothic" pitchFamily="34" charset="-120"/>
              </a:rPr>
              <a:t>y = x × sig</a:t>
            </a:r>
            <a:endParaRPr lang="en-US" sz="800" dirty="0"/>
          </a:p>
        </p:txBody>
      </p:sp>
      <p:sp>
        <p:nvSpPr>
          <p:cNvPr id="136" name="Text 134"/>
          <p:cNvSpPr txBox="1"/>
          <p:nvPr/>
        </p:nvSpPr>
        <p:spPr>
          <a:xfrm>
            <a:off x="5056632" y="3712464"/>
            <a:ext cx="1097280" cy="246888"/>
          </a:xfrm>
          <a:prstGeom prst="rect">
            <a:avLst/>
          </a:prstGeom>
          <a:noFill/>
          <a:ln/>
        </p:spPr>
        <p:txBody>
          <a:bodyPr wrap="square" lIns="0" tIns="0" rIns="0" bIns="0" rtlCol="0" anchor="ctr"/>
          <a:lstStyle/>
          <a:p>
            <a:pPr algn="l" indent="0" marL="0">
              <a:buNone/>
            </a:pPr>
            <a:r>
              <a:rPr lang="en-US" sz="650" dirty="0">
                <a:solidFill>
                  <a:srgbClr val="5B6B7F"/>
                </a:solidFill>
                <a:latin typeface="Courier New" pitchFamily="34" charset="0"/>
                <a:ea typeface="Courier New" pitchFamily="34" charset="-122"/>
                <a:cs typeface="Courier New" pitchFamily="34" charset="-120"/>
              </a:rPr>
              <a:t>MUL 8000000a</a:t>
            </a:r>
            <a:endParaRPr lang="en-US" sz="650" dirty="0"/>
          </a:p>
        </p:txBody>
      </p:sp>
      <p:sp>
        <p:nvSpPr>
          <p:cNvPr id="137" name="Text 135"/>
          <p:cNvSpPr txBox="1"/>
          <p:nvPr/>
        </p:nvSpPr>
        <p:spPr>
          <a:xfrm>
            <a:off x="457200" y="4114800"/>
            <a:ext cx="5943600" cy="548640"/>
          </a:xfrm>
          <a:prstGeom prst="rect">
            <a:avLst/>
          </a:prstGeom>
          <a:noFill/>
          <a:ln/>
        </p:spPr>
        <p:txBody>
          <a:bodyPr wrap="square" lIns="0" tIns="0" rIns="0" bIns="0" rtlCol="0" anchor="t"/>
          <a:lstStyle/>
          <a:p>
            <a:pPr algn="l" indent="0" marL="0">
              <a:buNone/>
            </a:pPr>
            <a:r>
              <a:rPr lang="en-US" sz="800" dirty="0">
                <a:solidFill>
                  <a:srgbClr val="5B6B7F"/>
                </a:solidFill>
                <a:latin typeface="Malgun Gothic" pitchFamily="34" charset="0"/>
                <a:ea typeface="Malgun Gothic" pitchFamily="34" charset="-122"/>
                <a:cs typeface="Malgun Gothic" pitchFamily="34" charset="-120"/>
              </a:rPr>
              <a:t>단계마다 VLEN·ADDR·LOAD(·LOAD)·OP·ADDR·SAVE → E1 fused 1,577 words 중 ADDR(0x80) 606, LOAD/SAVE 388/258. 행이 안 들어가면 stripe 반분, 연속 축 결합으로 64행×64 → 32행×128 (명령 절반).</a:t>
            </a:r>
            <a:endParaRPr lang="en-US" sz="800" dirty="0"/>
          </a:p>
        </p:txBody>
      </p:sp>
      <p:sp>
        <p:nvSpPr>
          <p:cNvPr id="138" name="Shape 136"/>
          <p:cNvSpPr/>
          <p:nvPr/>
        </p:nvSpPr>
        <p:spPr>
          <a:xfrm>
            <a:off x="457200" y="4754880"/>
            <a:ext cx="5943600" cy="1051560"/>
          </a:xfrm>
          <a:prstGeom prst="roundRect">
            <a:avLst>
              <a:gd name="adj" fmla="val 5217"/>
            </a:avLst>
          </a:prstGeom>
          <a:solidFill>
            <a:srgbClr val="EEF2F6"/>
          </a:solidFill>
          <a:ln w="12700">
            <a:solidFill>
              <a:srgbClr val="C9D3DF"/>
            </a:solidFill>
            <a:prstDash val="solid"/>
          </a:ln>
        </p:spPr>
      </p:sp>
      <p:sp>
        <p:nvSpPr>
          <p:cNvPr id="139" name="Text 137"/>
          <p:cNvSpPr txBox="1"/>
          <p:nvPr/>
        </p:nvSpPr>
        <p:spPr>
          <a:xfrm>
            <a:off x="585216" y="4809744"/>
            <a:ext cx="5687568" cy="94183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Softmax / RMSNorm도 같은 vector 경로: </a:t>
            </a:r>
            <a:pPr algn="l" indent="0" marL="0">
              <a:buNone/>
            </a:pPr>
            <a:r>
              <a:rPr lang="en-US" sz="850" dirty="0">
                <a:solidFill>
                  <a:srgbClr val="1F2D3D"/>
                </a:solidFill>
                <a:latin typeface="Malgun Gothic" pitchFamily="34" charset="0"/>
                <a:ea typeface="Malgun Gothic" pitchFamily="34" charset="-122"/>
                <a:cs typeface="Malgun Gothic" pitchFamily="34" charset="-120"/>
              </a:rPr>
              <a:t>REDUCE_MAX → SUB → EXP → REDUCE_SUM(FP32 내부) → DIV; RMSNorm은 absmax scale 후 Σz². 물리 256 lanes vs 논리 VLEN ≤ 65535는 RTL 미확인 항목이며 현재 비용 모델에 lane 활용률은 없습니다.</a:t>
            </a:r>
            <a:endParaRPr lang="en-US" sz="1200" dirty="0"/>
          </a:p>
        </p:txBody>
      </p:sp>
      <p:sp>
        <p:nvSpPr>
          <p:cNvPr id="140" name="Text 138"/>
          <p:cNvSpPr txBox="1"/>
          <p:nvPr/>
        </p:nvSpPr>
        <p:spPr>
          <a:xfrm>
            <a:off x="6629400" y="1417320"/>
            <a:ext cx="512064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Full-attention fusion: query block (진한 행)만 계산, score 행 전체를 SRAM에서 softmax</a:t>
            </a:r>
            <a:endParaRPr lang="en-US" sz="900" dirty="0"/>
          </a:p>
        </p:txBody>
      </p:sp>
      <p:sp>
        <p:nvSpPr>
          <p:cNvPr id="141" name="Shape 139"/>
          <p:cNvSpPr/>
          <p:nvPr/>
        </p:nvSpPr>
        <p:spPr>
          <a:xfrm>
            <a:off x="6629400" y="2286000"/>
            <a:ext cx="411480" cy="1463040"/>
          </a:xfrm>
          <a:prstGeom prst="rect">
            <a:avLst/>
          </a:prstGeom>
          <a:solidFill>
            <a:srgbClr val="EEF2F6"/>
          </a:solidFill>
          <a:ln w="12700">
            <a:solidFill>
              <a:srgbClr val="C9D3DF"/>
            </a:solidFill>
            <a:prstDash val="solid"/>
          </a:ln>
        </p:spPr>
      </p:sp>
      <p:sp>
        <p:nvSpPr>
          <p:cNvPr id="142" name="Shape 140"/>
          <p:cNvSpPr/>
          <p:nvPr/>
        </p:nvSpPr>
        <p:spPr>
          <a:xfrm>
            <a:off x="6629400" y="2651760"/>
            <a:ext cx="411480" cy="365760"/>
          </a:xfrm>
          <a:prstGeom prst="rect">
            <a:avLst/>
          </a:prstGeom>
          <a:solidFill>
            <a:srgbClr val="ECE6FA"/>
          </a:solidFill>
          <a:ln w="15875">
            <a:solidFill>
              <a:srgbClr val="6C4FBF"/>
            </a:solidFill>
            <a:prstDash val="solid"/>
          </a:ln>
        </p:spPr>
      </p:sp>
      <p:sp>
        <p:nvSpPr>
          <p:cNvPr id="143" name="Shape 141"/>
          <p:cNvSpPr/>
          <p:nvPr/>
        </p:nvSpPr>
        <p:spPr>
          <a:xfrm>
            <a:off x="6629400" y="2468880"/>
            <a:ext cx="411480" cy="914"/>
          </a:xfrm>
          <a:prstGeom prst="line">
            <a:avLst/>
          </a:prstGeom>
          <a:noFill/>
          <a:ln w="5080">
            <a:solidFill>
              <a:srgbClr val="D5DCE5"/>
            </a:solidFill>
            <a:prstDash val="solid"/>
          </a:ln>
        </p:spPr>
      </p:sp>
      <p:sp>
        <p:nvSpPr>
          <p:cNvPr id="144" name="Shape 142"/>
          <p:cNvSpPr/>
          <p:nvPr/>
        </p:nvSpPr>
        <p:spPr>
          <a:xfrm>
            <a:off x="6629400" y="2651760"/>
            <a:ext cx="411480" cy="914"/>
          </a:xfrm>
          <a:prstGeom prst="line">
            <a:avLst/>
          </a:prstGeom>
          <a:noFill/>
          <a:ln w="5080">
            <a:solidFill>
              <a:srgbClr val="D5DCE5"/>
            </a:solidFill>
            <a:prstDash val="solid"/>
          </a:ln>
        </p:spPr>
      </p:sp>
      <p:sp>
        <p:nvSpPr>
          <p:cNvPr id="145" name="Shape 143"/>
          <p:cNvSpPr/>
          <p:nvPr/>
        </p:nvSpPr>
        <p:spPr>
          <a:xfrm>
            <a:off x="6629400" y="2834640"/>
            <a:ext cx="411480" cy="914"/>
          </a:xfrm>
          <a:prstGeom prst="line">
            <a:avLst/>
          </a:prstGeom>
          <a:noFill/>
          <a:ln w="5080">
            <a:solidFill>
              <a:srgbClr val="D5DCE5"/>
            </a:solidFill>
            <a:prstDash val="solid"/>
          </a:ln>
        </p:spPr>
      </p:sp>
      <p:sp>
        <p:nvSpPr>
          <p:cNvPr id="146" name="Shape 144"/>
          <p:cNvSpPr/>
          <p:nvPr/>
        </p:nvSpPr>
        <p:spPr>
          <a:xfrm>
            <a:off x="6629400" y="3017520"/>
            <a:ext cx="411480" cy="914"/>
          </a:xfrm>
          <a:prstGeom prst="line">
            <a:avLst/>
          </a:prstGeom>
          <a:noFill/>
          <a:ln w="5080">
            <a:solidFill>
              <a:srgbClr val="D5DCE5"/>
            </a:solidFill>
            <a:prstDash val="solid"/>
          </a:ln>
        </p:spPr>
      </p:sp>
      <p:sp>
        <p:nvSpPr>
          <p:cNvPr id="147" name="Shape 145"/>
          <p:cNvSpPr/>
          <p:nvPr/>
        </p:nvSpPr>
        <p:spPr>
          <a:xfrm>
            <a:off x="6629400" y="3200400"/>
            <a:ext cx="411480" cy="914"/>
          </a:xfrm>
          <a:prstGeom prst="line">
            <a:avLst/>
          </a:prstGeom>
          <a:noFill/>
          <a:ln w="5080">
            <a:solidFill>
              <a:srgbClr val="D5DCE5"/>
            </a:solidFill>
            <a:prstDash val="solid"/>
          </a:ln>
        </p:spPr>
      </p:sp>
      <p:sp>
        <p:nvSpPr>
          <p:cNvPr id="148" name="Shape 146"/>
          <p:cNvSpPr/>
          <p:nvPr/>
        </p:nvSpPr>
        <p:spPr>
          <a:xfrm>
            <a:off x="6629400" y="3383280"/>
            <a:ext cx="411480" cy="914"/>
          </a:xfrm>
          <a:prstGeom prst="line">
            <a:avLst/>
          </a:prstGeom>
          <a:noFill/>
          <a:ln w="5080">
            <a:solidFill>
              <a:srgbClr val="D5DCE5"/>
            </a:solidFill>
            <a:prstDash val="solid"/>
          </a:ln>
        </p:spPr>
      </p:sp>
      <p:sp>
        <p:nvSpPr>
          <p:cNvPr id="149" name="Shape 147"/>
          <p:cNvSpPr/>
          <p:nvPr/>
        </p:nvSpPr>
        <p:spPr>
          <a:xfrm>
            <a:off x="6629400" y="3566160"/>
            <a:ext cx="411480" cy="914"/>
          </a:xfrm>
          <a:prstGeom prst="line">
            <a:avLst/>
          </a:prstGeom>
          <a:noFill/>
          <a:ln w="5080">
            <a:solidFill>
              <a:srgbClr val="D5DCE5"/>
            </a:solidFill>
            <a:prstDash val="solid"/>
          </a:ln>
        </p:spPr>
      </p:sp>
      <p:sp>
        <p:nvSpPr>
          <p:cNvPr id="150" name="Text 148"/>
          <p:cNvSpPr txBox="1"/>
          <p:nvPr/>
        </p:nvSpPr>
        <p:spPr>
          <a:xfrm>
            <a:off x="6629400" y="2651760"/>
            <a:ext cx="411480" cy="3657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blk</a:t>
            </a:r>
            <a:endParaRPr lang="en-US" sz="650" dirty="0"/>
          </a:p>
        </p:txBody>
      </p:sp>
      <p:sp>
        <p:nvSpPr>
          <p:cNvPr id="151" name="Text 149"/>
          <p:cNvSpPr txBox="1"/>
          <p:nvPr/>
        </p:nvSpPr>
        <p:spPr>
          <a:xfrm>
            <a:off x="6629400" y="2057400"/>
            <a:ext cx="82296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Q [S,128]</a:t>
            </a:r>
            <a:endParaRPr lang="en-US" sz="700" dirty="0"/>
          </a:p>
        </p:txBody>
      </p:sp>
      <p:sp>
        <p:nvSpPr>
          <p:cNvPr id="152" name="Shape 150"/>
          <p:cNvSpPr/>
          <p:nvPr/>
        </p:nvSpPr>
        <p:spPr>
          <a:xfrm>
            <a:off x="7269480" y="2011680"/>
            <a:ext cx="1828800" cy="274320"/>
          </a:xfrm>
          <a:prstGeom prst="rect">
            <a:avLst/>
          </a:prstGeom>
          <a:solidFill>
            <a:srgbClr val="DDF3F0"/>
          </a:solidFill>
          <a:ln w="12700">
            <a:solidFill>
              <a:srgbClr val="1F8A8A"/>
            </a:solidFill>
            <a:prstDash val="solid"/>
          </a:ln>
        </p:spPr>
      </p:sp>
      <p:sp>
        <p:nvSpPr>
          <p:cNvPr id="153" name="Shape 151"/>
          <p:cNvSpPr/>
          <p:nvPr/>
        </p:nvSpPr>
        <p:spPr>
          <a:xfrm>
            <a:off x="7498080" y="2011680"/>
            <a:ext cx="914" cy="274320"/>
          </a:xfrm>
          <a:prstGeom prst="line">
            <a:avLst/>
          </a:prstGeom>
          <a:noFill/>
          <a:ln w="5080">
            <a:solidFill>
              <a:srgbClr val="D5DCE5"/>
            </a:solidFill>
            <a:prstDash val="solid"/>
          </a:ln>
        </p:spPr>
      </p:sp>
      <p:sp>
        <p:nvSpPr>
          <p:cNvPr id="154" name="Shape 152"/>
          <p:cNvSpPr/>
          <p:nvPr/>
        </p:nvSpPr>
        <p:spPr>
          <a:xfrm>
            <a:off x="7726680" y="2011680"/>
            <a:ext cx="914" cy="274320"/>
          </a:xfrm>
          <a:prstGeom prst="line">
            <a:avLst/>
          </a:prstGeom>
          <a:noFill/>
          <a:ln w="5080">
            <a:solidFill>
              <a:srgbClr val="D5DCE5"/>
            </a:solidFill>
            <a:prstDash val="solid"/>
          </a:ln>
        </p:spPr>
      </p:sp>
      <p:sp>
        <p:nvSpPr>
          <p:cNvPr id="155" name="Shape 153"/>
          <p:cNvSpPr/>
          <p:nvPr/>
        </p:nvSpPr>
        <p:spPr>
          <a:xfrm>
            <a:off x="7955280" y="2011680"/>
            <a:ext cx="914" cy="274320"/>
          </a:xfrm>
          <a:prstGeom prst="line">
            <a:avLst/>
          </a:prstGeom>
          <a:noFill/>
          <a:ln w="5080">
            <a:solidFill>
              <a:srgbClr val="D5DCE5"/>
            </a:solidFill>
            <a:prstDash val="solid"/>
          </a:ln>
        </p:spPr>
      </p:sp>
      <p:sp>
        <p:nvSpPr>
          <p:cNvPr id="156" name="Shape 154"/>
          <p:cNvSpPr/>
          <p:nvPr/>
        </p:nvSpPr>
        <p:spPr>
          <a:xfrm>
            <a:off x="8183880" y="2011680"/>
            <a:ext cx="914" cy="274320"/>
          </a:xfrm>
          <a:prstGeom prst="line">
            <a:avLst/>
          </a:prstGeom>
          <a:noFill/>
          <a:ln w="5080">
            <a:solidFill>
              <a:srgbClr val="D5DCE5"/>
            </a:solidFill>
            <a:prstDash val="solid"/>
          </a:ln>
        </p:spPr>
      </p:sp>
      <p:sp>
        <p:nvSpPr>
          <p:cNvPr id="157" name="Shape 155"/>
          <p:cNvSpPr/>
          <p:nvPr/>
        </p:nvSpPr>
        <p:spPr>
          <a:xfrm>
            <a:off x="8412480" y="2011680"/>
            <a:ext cx="914" cy="274320"/>
          </a:xfrm>
          <a:prstGeom prst="line">
            <a:avLst/>
          </a:prstGeom>
          <a:noFill/>
          <a:ln w="5080">
            <a:solidFill>
              <a:srgbClr val="D5DCE5"/>
            </a:solidFill>
            <a:prstDash val="solid"/>
          </a:ln>
        </p:spPr>
      </p:sp>
      <p:sp>
        <p:nvSpPr>
          <p:cNvPr id="158" name="Shape 156"/>
          <p:cNvSpPr/>
          <p:nvPr/>
        </p:nvSpPr>
        <p:spPr>
          <a:xfrm>
            <a:off x="8641080" y="2011680"/>
            <a:ext cx="914" cy="274320"/>
          </a:xfrm>
          <a:prstGeom prst="line">
            <a:avLst/>
          </a:prstGeom>
          <a:noFill/>
          <a:ln w="5080">
            <a:solidFill>
              <a:srgbClr val="D5DCE5"/>
            </a:solidFill>
            <a:prstDash val="solid"/>
          </a:ln>
        </p:spPr>
      </p:sp>
      <p:sp>
        <p:nvSpPr>
          <p:cNvPr id="159" name="Shape 157"/>
          <p:cNvSpPr/>
          <p:nvPr/>
        </p:nvSpPr>
        <p:spPr>
          <a:xfrm>
            <a:off x="8869680" y="2011680"/>
            <a:ext cx="914" cy="274320"/>
          </a:xfrm>
          <a:prstGeom prst="line">
            <a:avLst/>
          </a:prstGeom>
          <a:noFill/>
          <a:ln w="5080">
            <a:solidFill>
              <a:srgbClr val="D5DCE5"/>
            </a:solidFill>
            <a:prstDash val="solid"/>
          </a:ln>
        </p:spPr>
      </p:sp>
      <p:sp>
        <p:nvSpPr>
          <p:cNvPr id="160" name="Text 158"/>
          <p:cNvSpPr txBox="1"/>
          <p:nvPr/>
        </p:nvSpPr>
        <p:spPr>
          <a:xfrm>
            <a:off x="7269480" y="1783080"/>
            <a:ext cx="18288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Kᵀ [128,S] head 전체</a:t>
            </a:r>
            <a:endParaRPr lang="en-US" sz="700" dirty="0"/>
          </a:p>
        </p:txBody>
      </p:sp>
      <p:sp>
        <p:nvSpPr>
          <p:cNvPr id="161" name="Shape 159"/>
          <p:cNvSpPr/>
          <p:nvPr/>
        </p:nvSpPr>
        <p:spPr>
          <a:xfrm>
            <a:off x="7269480" y="2377440"/>
            <a:ext cx="1828800" cy="1371600"/>
          </a:xfrm>
          <a:prstGeom prst="rect">
            <a:avLst/>
          </a:prstGeom>
          <a:solidFill>
            <a:srgbClr val="EEF2F6"/>
          </a:solidFill>
          <a:ln w="12700">
            <a:solidFill>
              <a:srgbClr val="C9D3DF"/>
            </a:solidFill>
            <a:prstDash val="solid"/>
          </a:ln>
        </p:spPr>
      </p:sp>
      <p:sp>
        <p:nvSpPr>
          <p:cNvPr id="162" name="Shape 160"/>
          <p:cNvSpPr/>
          <p:nvPr/>
        </p:nvSpPr>
        <p:spPr>
          <a:xfrm>
            <a:off x="7269480" y="2720340"/>
            <a:ext cx="1828800" cy="342900"/>
          </a:xfrm>
          <a:prstGeom prst="rect">
            <a:avLst/>
          </a:prstGeom>
          <a:solidFill>
            <a:srgbClr val="ECE6FA"/>
          </a:solidFill>
          <a:ln w="15875">
            <a:solidFill>
              <a:srgbClr val="6C4FBF"/>
            </a:solidFill>
            <a:prstDash val="solid"/>
          </a:ln>
        </p:spPr>
      </p:sp>
      <p:sp>
        <p:nvSpPr>
          <p:cNvPr id="163" name="Shape 161"/>
          <p:cNvSpPr/>
          <p:nvPr/>
        </p:nvSpPr>
        <p:spPr>
          <a:xfrm>
            <a:off x="7498080" y="2377440"/>
            <a:ext cx="228600" cy="171450"/>
          </a:xfrm>
          <a:prstGeom prst="rect">
            <a:avLst/>
          </a:prstGeom>
          <a:solidFill>
            <a:srgbClr val="EEF2F6"/>
          </a:solidFill>
          <a:ln w="3810">
            <a:solidFill>
              <a:srgbClr val="C9D3DF"/>
            </a:solidFill>
            <a:prstDash val="solid"/>
          </a:ln>
        </p:spPr>
      </p:sp>
      <p:sp>
        <p:nvSpPr>
          <p:cNvPr id="164" name="Shape 162"/>
          <p:cNvSpPr/>
          <p:nvPr/>
        </p:nvSpPr>
        <p:spPr>
          <a:xfrm>
            <a:off x="7726680" y="2377440"/>
            <a:ext cx="228600" cy="171450"/>
          </a:xfrm>
          <a:prstGeom prst="rect">
            <a:avLst/>
          </a:prstGeom>
          <a:solidFill>
            <a:srgbClr val="EEF2F6"/>
          </a:solidFill>
          <a:ln w="3810">
            <a:solidFill>
              <a:srgbClr val="C9D3DF"/>
            </a:solidFill>
            <a:prstDash val="solid"/>
          </a:ln>
        </p:spPr>
      </p:sp>
      <p:sp>
        <p:nvSpPr>
          <p:cNvPr id="165" name="Shape 163"/>
          <p:cNvSpPr/>
          <p:nvPr/>
        </p:nvSpPr>
        <p:spPr>
          <a:xfrm>
            <a:off x="7955280" y="2377440"/>
            <a:ext cx="228600" cy="171450"/>
          </a:xfrm>
          <a:prstGeom prst="rect">
            <a:avLst/>
          </a:prstGeom>
          <a:solidFill>
            <a:srgbClr val="EEF2F6"/>
          </a:solidFill>
          <a:ln w="3810">
            <a:solidFill>
              <a:srgbClr val="C9D3DF"/>
            </a:solidFill>
            <a:prstDash val="solid"/>
          </a:ln>
        </p:spPr>
      </p:sp>
      <p:sp>
        <p:nvSpPr>
          <p:cNvPr id="166" name="Shape 164"/>
          <p:cNvSpPr/>
          <p:nvPr/>
        </p:nvSpPr>
        <p:spPr>
          <a:xfrm>
            <a:off x="8183880" y="2377440"/>
            <a:ext cx="228600" cy="171450"/>
          </a:xfrm>
          <a:prstGeom prst="rect">
            <a:avLst/>
          </a:prstGeom>
          <a:solidFill>
            <a:srgbClr val="EEF2F6"/>
          </a:solidFill>
          <a:ln w="3810">
            <a:solidFill>
              <a:srgbClr val="C9D3DF"/>
            </a:solidFill>
            <a:prstDash val="solid"/>
          </a:ln>
        </p:spPr>
      </p:sp>
      <p:sp>
        <p:nvSpPr>
          <p:cNvPr id="167" name="Shape 165"/>
          <p:cNvSpPr/>
          <p:nvPr/>
        </p:nvSpPr>
        <p:spPr>
          <a:xfrm>
            <a:off x="8412480" y="2377440"/>
            <a:ext cx="228600" cy="171450"/>
          </a:xfrm>
          <a:prstGeom prst="rect">
            <a:avLst/>
          </a:prstGeom>
          <a:solidFill>
            <a:srgbClr val="EEF2F6"/>
          </a:solidFill>
          <a:ln w="3810">
            <a:solidFill>
              <a:srgbClr val="C9D3DF"/>
            </a:solidFill>
            <a:prstDash val="solid"/>
          </a:ln>
        </p:spPr>
      </p:sp>
      <p:sp>
        <p:nvSpPr>
          <p:cNvPr id="168" name="Shape 166"/>
          <p:cNvSpPr/>
          <p:nvPr/>
        </p:nvSpPr>
        <p:spPr>
          <a:xfrm>
            <a:off x="8641080" y="2377440"/>
            <a:ext cx="228600" cy="171450"/>
          </a:xfrm>
          <a:prstGeom prst="rect">
            <a:avLst/>
          </a:prstGeom>
          <a:solidFill>
            <a:srgbClr val="EEF2F6"/>
          </a:solidFill>
          <a:ln w="3810">
            <a:solidFill>
              <a:srgbClr val="C9D3DF"/>
            </a:solidFill>
            <a:prstDash val="solid"/>
          </a:ln>
        </p:spPr>
      </p:sp>
      <p:sp>
        <p:nvSpPr>
          <p:cNvPr id="169" name="Shape 167"/>
          <p:cNvSpPr/>
          <p:nvPr/>
        </p:nvSpPr>
        <p:spPr>
          <a:xfrm>
            <a:off x="8869680" y="2377440"/>
            <a:ext cx="228600" cy="171450"/>
          </a:xfrm>
          <a:prstGeom prst="rect">
            <a:avLst/>
          </a:prstGeom>
          <a:solidFill>
            <a:srgbClr val="EEF2F6"/>
          </a:solidFill>
          <a:ln w="3810">
            <a:solidFill>
              <a:srgbClr val="C9D3DF"/>
            </a:solidFill>
            <a:prstDash val="solid"/>
          </a:ln>
        </p:spPr>
      </p:sp>
      <p:sp>
        <p:nvSpPr>
          <p:cNvPr id="170" name="Shape 168"/>
          <p:cNvSpPr/>
          <p:nvPr/>
        </p:nvSpPr>
        <p:spPr>
          <a:xfrm>
            <a:off x="7726680" y="2548890"/>
            <a:ext cx="228600" cy="171450"/>
          </a:xfrm>
          <a:prstGeom prst="rect">
            <a:avLst/>
          </a:prstGeom>
          <a:solidFill>
            <a:srgbClr val="EEF2F6"/>
          </a:solidFill>
          <a:ln w="3810">
            <a:solidFill>
              <a:srgbClr val="C9D3DF"/>
            </a:solidFill>
            <a:prstDash val="solid"/>
          </a:ln>
        </p:spPr>
      </p:sp>
      <p:sp>
        <p:nvSpPr>
          <p:cNvPr id="171" name="Shape 169"/>
          <p:cNvSpPr/>
          <p:nvPr/>
        </p:nvSpPr>
        <p:spPr>
          <a:xfrm>
            <a:off x="7955280" y="2548890"/>
            <a:ext cx="228600" cy="171450"/>
          </a:xfrm>
          <a:prstGeom prst="rect">
            <a:avLst/>
          </a:prstGeom>
          <a:solidFill>
            <a:srgbClr val="EEF2F6"/>
          </a:solidFill>
          <a:ln w="3810">
            <a:solidFill>
              <a:srgbClr val="C9D3DF"/>
            </a:solidFill>
            <a:prstDash val="solid"/>
          </a:ln>
        </p:spPr>
      </p:sp>
      <p:sp>
        <p:nvSpPr>
          <p:cNvPr id="172" name="Shape 170"/>
          <p:cNvSpPr/>
          <p:nvPr/>
        </p:nvSpPr>
        <p:spPr>
          <a:xfrm>
            <a:off x="8183880" y="2548890"/>
            <a:ext cx="228600" cy="171450"/>
          </a:xfrm>
          <a:prstGeom prst="rect">
            <a:avLst/>
          </a:prstGeom>
          <a:solidFill>
            <a:srgbClr val="EEF2F6"/>
          </a:solidFill>
          <a:ln w="3810">
            <a:solidFill>
              <a:srgbClr val="C9D3DF"/>
            </a:solidFill>
            <a:prstDash val="solid"/>
          </a:ln>
        </p:spPr>
      </p:sp>
      <p:sp>
        <p:nvSpPr>
          <p:cNvPr id="173" name="Shape 171"/>
          <p:cNvSpPr/>
          <p:nvPr/>
        </p:nvSpPr>
        <p:spPr>
          <a:xfrm>
            <a:off x="8412480" y="2548890"/>
            <a:ext cx="228600" cy="171450"/>
          </a:xfrm>
          <a:prstGeom prst="rect">
            <a:avLst/>
          </a:prstGeom>
          <a:solidFill>
            <a:srgbClr val="EEF2F6"/>
          </a:solidFill>
          <a:ln w="3810">
            <a:solidFill>
              <a:srgbClr val="C9D3DF"/>
            </a:solidFill>
            <a:prstDash val="solid"/>
          </a:ln>
        </p:spPr>
      </p:sp>
      <p:sp>
        <p:nvSpPr>
          <p:cNvPr id="174" name="Shape 172"/>
          <p:cNvSpPr/>
          <p:nvPr/>
        </p:nvSpPr>
        <p:spPr>
          <a:xfrm>
            <a:off x="8641080" y="2548890"/>
            <a:ext cx="228600" cy="171450"/>
          </a:xfrm>
          <a:prstGeom prst="rect">
            <a:avLst/>
          </a:prstGeom>
          <a:solidFill>
            <a:srgbClr val="EEF2F6"/>
          </a:solidFill>
          <a:ln w="3810">
            <a:solidFill>
              <a:srgbClr val="C9D3DF"/>
            </a:solidFill>
            <a:prstDash val="solid"/>
          </a:ln>
        </p:spPr>
      </p:sp>
      <p:sp>
        <p:nvSpPr>
          <p:cNvPr id="175" name="Shape 173"/>
          <p:cNvSpPr/>
          <p:nvPr/>
        </p:nvSpPr>
        <p:spPr>
          <a:xfrm>
            <a:off x="8869680" y="2548890"/>
            <a:ext cx="228600" cy="171450"/>
          </a:xfrm>
          <a:prstGeom prst="rect">
            <a:avLst/>
          </a:prstGeom>
          <a:solidFill>
            <a:srgbClr val="EEF2F6"/>
          </a:solidFill>
          <a:ln w="3810">
            <a:solidFill>
              <a:srgbClr val="C9D3DF"/>
            </a:solidFill>
            <a:prstDash val="solid"/>
          </a:ln>
        </p:spPr>
      </p:sp>
      <p:sp>
        <p:nvSpPr>
          <p:cNvPr id="176" name="Shape 174"/>
          <p:cNvSpPr/>
          <p:nvPr/>
        </p:nvSpPr>
        <p:spPr>
          <a:xfrm>
            <a:off x="7955280" y="2720340"/>
            <a:ext cx="228600" cy="171450"/>
          </a:xfrm>
          <a:prstGeom prst="rect">
            <a:avLst/>
          </a:prstGeom>
          <a:solidFill>
            <a:srgbClr val="EEF2F6"/>
          </a:solidFill>
          <a:ln w="3810">
            <a:solidFill>
              <a:srgbClr val="C9D3DF"/>
            </a:solidFill>
            <a:prstDash val="solid"/>
          </a:ln>
        </p:spPr>
      </p:sp>
      <p:sp>
        <p:nvSpPr>
          <p:cNvPr id="177" name="Shape 175"/>
          <p:cNvSpPr/>
          <p:nvPr/>
        </p:nvSpPr>
        <p:spPr>
          <a:xfrm>
            <a:off x="8183880" y="2720340"/>
            <a:ext cx="228600" cy="171450"/>
          </a:xfrm>
          <a:prstGeom prst="rect">
            <a:avLst/>
          </a:prstGeom>
          <a:solidFill>
            <a:srgbClr val="EEF2F6"/>
          </a:solidFill>
          <a:ln w="3810">
            <a:solidFill>
              <a:srgbClr val="C9D3DF"/>
            </a:solidFill>
            <a:prstDash val="solid"/>
          </a:ln>
        </p:spPr>
      </p:sp>
      <p:sp>
        <p:nvSpPr>
          <p:cNvPr id="178" name="Shape 176"/>
          <p:cNvSpPr/>
          <p:nvPr/>
        </p:nvSpPr>
        <p:spPr>
          <a:xfrm>
            <a:off x="8412480" y="2720340"/>
            <a:ext cx="228600" cy="171450"/>
          </a:xfrm>
          <a:prstGeom prst="rect">
            <a:avLst/>
          </a:prstGeom>
          <a:solidFill>
            <a:srgbClr val="EEF2F6"/>
          </a:solidFill>
          <a:ln w="3810">
            <a:solidFill>
              <a:srgbClr val="C9D3DF"/>
            </a:solidFill>
            <a:prstDash val="solid"/>
          </a:ln>
        </p:spPr>
      </p:sp>
      <p:sp>
        <p:nvSpPr>
          <p:cNvPr id="179" name="Shape 177"/>
          <p:cNvSpPr/>
          <p:nvPr/>
        </p:nvSpPr>
        <p:spPr>
          <a:xfrm>
            <a:off x="8641080" y="2720340"/>
            <a:ext cx="228600" cy="171450"/>
          </a:xfrm>
          <a:prstGeom prst="rect">
            <a:avLst/>
          </a:prstGeom>
          <a:solidFill>
            <a:srgbClr val="EEF2F6"/>
          </a:solidFill>
          <a:ln w="3810">
            <a:solidFill>
              <a:srgbClr val="C9D3DF"/>
            </a:solidFill>
            <a:prstDash val="solid"/>
          </a:ln>
        </p:spPr>
      </p:sp>
      <p:sp>
        <p:nvSpPr>
          <p:cNvPr id="180" name="Shape 178"/>
          <p:cNvSpPr/>
          <p:nvPr/>
        </p:nvSpPr>
        <p:spPr>
          <a:xfrm>
            <a:off x="8869680" y="2720340"/>
            <a:ext cx="228600" cy="171450"/>
          </a:xfrm>
          <a:prstGeom prst="rect">
            <a:avLst/>
          </a:prstGeom>
          <a:solidFill>
            <a:srgbClr val="EEF2F6"/>
          </a:solidFill>
          <a:ln w="3810">
            <a:solidFill>
              <a:srgbClr val="C9D3DF"/>
            </a:solidFill>
            <a:prstDash val="solid"/>
          </a:ln>
        </p:spPr>
      </p:sp>
      <p:sp>
        <p:nvSpPr>
          <p:cNvPr id="181" name="Shape 179"/>
          <p:cNvSpPr/>
          <p:nvPr/>
        </p:nvSpPr>
        <p:spPr>
          <a:xfrm>
            <a:off x="8183880" y="2891790"/>
            <a:ext cx="228600" cy="171450"/>
          </a:xfrm>
          <a:prstGeom prst="rect">
            <a:avLst/>
          </a:prstGeom>
          <a:solidFill>
            <a:srgbClr val="EEF2F6"/>
          </a:solidFill>
          <a:ln w="3810">
            <a:solidFill>
              <a:srgbClr val="C9D3DF"/>
            </a:solidFill>
            <a:prstDash val="solid"/>
          </a:ln>
        </p:spPr>
      </p:sp>
      <p:sp>
        <p:nvSpPr>
          <p:cNvPr id="182" name="Shape 180"/>
          <p:cNvSpPr/>
          <p:nvPr/>
        </p:nvSpPr>
        <p:spPr>
          <a:xfrm>
            <a:off x="8412480" y="2891790"/>
            <a:ext cx="228600" cy="171450"/>
          </a:xfrm>
          <a:prstGeom prst="rect">
            <a:avLst/>
          </a:prstGeom>
          <a:solidFill>
            <a:srgbClr val="EEF2F6"/>
          </a:solidFill>
          <a:ln w="3810">
            <a:solidFill>
              <a:srgbClr val="C9D3DF"/>
            </a:solidFill>
            <a:prstDash val="solid"/>
          </a:ln>
        </p:spPr>
      </p:sp>
      <p:sp>
        <p:nvSpPr>
          <p:cNvPr id="183" name="Shape 181"/>
          <p:cNvSpPr/>
          <p:nvPr/>
        </p:nvSpPr>
        <p:spPr>
          <a:xfrm>
            <a:off x="8641080" y="2891790"/>
            <a:ext cx="228600" cy="171450"/>
          </a:xfrm>
          <a:prstGeom prst="rect">
            <a:avLst/>
          </a:prstGeom>
          <a:solidFill>
            <a:srgbClr val="EEF2F6"/>
          </a:solidFill>
          <a:ln w="3810">
            <a:solidFill>
              <a:srgbClr val="C9D3DF"/>
            </a:solidFill>
            <a:prstDash val="solid"/>
          </a:ln>
        </p:spPr>
      </p:sp>
      <p:sp>
        <p:nvSpPr>
          <p:cNvPr id="184" name="Shape 182"/>
          <p:cNvSpPr/>
          <p:nvPr/>
        </p:nvSpPr>
        <p:spPr>
          <a:xfrm>
            <a:off x="8869680" y="2891790"/>
            <a:ext cx="228600" cy="171450"/>
          </a:xfrm>
          <a:prstGeom prst="rect">
            <a:avLst/>
          </a:prstGeom>
          <a:solidFill>
            <a:srgbClr val="EEF2F6"/>
          </a:solidFill>
          <a:ln w="3810">
            <a:solidFill>
              <a:srgbClr val="C9D3DF"/>
            </a:solidFill>
            <a:prstDash val="solid"/>
          </a:ln>
        </p:spPr>
      </p:sp>
      <p:sp>
        <p:nvSpPr>
          <p:cNvPr id="185" name="Shape 183"/>
          <p:cNvSpPr/>
          <p:nvPr/>
        </p:nvSpPr>
        <p:spPr>
          <a:xfrm>
            <a:off x="8412480" y="3063240"/>
            <a:ext cx="228600" cy="171450"/>
          </a:xfrm>
          <a:prstGeom prst="rect">
            <a:avLst/>
          </a:prstGeom>
          <a:solidFill>
            <a:srgbClr val="EEF2F6"/>
          </a:solidFill>
          <a:ln w="3810">
            <a:solidFill>
              <a:srgbClr val="C9D3DF"/>
            </a:solidFill>
            <a:prstDash val="solid"/>
          </a:ln>
        </p:spPr>
      </p:sp>
      <p:sp>
        <p:nvSpPr>
          <p:cNvPr id="186" name="Shape 184"/>
          <p:cNvSpPr/>
          <p:nvPr/>
        </p:nvSpPr>
        <p:spPr>
          <a:xfrm>
            <a:off x="8641080" y="3063240"/>
            <a:ext cx="228600" cy="171450"/>
          </a:xfrm>
          <a:prstGeom prst="rect">
            <a:avLst/>
          </a:prstGeom>
          <a:solidFill>
            <a:srgbClr val="EEF2F6"/>
          </a:solidFill>
          <a:ln w="3810">
            <a:solidFill>
              <a:srgbClr val="C9D3DF"/>
            </a:solidFill>
            <a:prstDash val="solid"/>
          </a:ln>
        </p:spPr>
      </p:sp>
      <p:sp>
        <p:nvSpPr>
          <p:cNvPr id="187" name="Shape 185"/>
          <p:cNvSpPr/>
          <p:nvPr/>
        </p:nvSpPr>
        <p:spPr>
          <a:xfrm>
            <a:off x="8869680" y="3063240"/>
            <a:ext cx="228600" cy="171450"/>
          </a:xfrm>
          <a:prstGeom prst="rect">
            <a:avLst/>
          </a:prstGeom>
          <a:solidFill>
            <a:srgbClr val="EEF2F6"/>
          </a:solidFill>
          <a:ln w="3810">
            <a:solidFill>
              <a:srgbClr val="C9D3DF"/>
            </a:solidFill>
            <a:prstDash val="solid"/>
          </a:ln>
        </p:spPr>
      </p:sp>
      <p:sp>
        <p:nvSpPr>
          <p:cNvPr id="188" name="Shape 186"/>
          <p:cNvSpPr/>
          <p:nvPr/>
        </p:nvSpPr>
        <p:spPr>
          <a:xfrm>
            <a:off x="8641080" y="3234690"/>
            <a:ext cx="228600" cy="171450"/>
          </a:xfrm>
          <a:prstGeom prst="rect">
            <a:avLst/>
          </a:prstGeom>
          <a:solidFill>
            <a:srgbClr val="EEF2F6"/>
          </a:solidFill>
          <a:ln w="3810">
            <a:solidFill>
              <a:srgbClr val="C9D3DF"/>
            </a:solidFill>
            <a:prstDash val="solid"/>
          </a:ln>
        </p:spPr>
      </p:sp>
      <p:sp>
        <p:nvSpPr>
          <p:cNvPr id="189" name="Shape 187"/>
          <p:cNvSpPr/>
          <p:nvPr/>
        </p:nvSpPr>
        <p:spPr>
          <a:xfrm>
            <a:off x="8869680" y="3234690"/>
            <a:ext cx="228600" cy="171450"/>
          </a:xfrm>
          <a:prstGeom prst="rect">
            <a:avLst/>
          </a:prstGeom>
          <a:solidFill>
            <a:srgbClr val="EEF2F6"/>
          </a:solidFill>
          <a:ln w="3810">
            <a:solidFill>
              <a:srgbClr val="C9D3DF"/>
            </a:solidFill>
            <a:prstDash val="solid"/>
          </a:ln>
        </p:spPr>
      </p:sp>
      <p:sp>
        <p:nvSpPr>
          <p:cNvPr id="190" name="Shape 188"/>
          <p:cNvSpPr/>
          <p:nvPr/>
        </p:nvSpPr>
        <p:spPr>
          <a:xfrm>
            <a:off x="8869680" y="3406140"/>
            <a:ext cx="228600" cy="171450"/>
          </a:xfrm>
          <a:prstGeom prst="rect">
            <a:avLst/>
          </a:prstGeom>
          <a:solidFill>
            <a:srgbClr val="EEF2F6"/>
          </a:solidFill>
          <a:ln w="3810">
            <a:solidFill>
              <a:srgbClr val="C9D3DF"/>
            </a:solidFill>
            <a:prstDash val="solid"/>
          </a:ln>
        </p:spPr>
      </p:sp>
      <p:sp>
        <p:nvSpPr>
          <p:cNvPr id="191" name="Shape 189"/>
          <p:cNvSpPr/>
          <p:nvPr/>
        </p:nvSpPr>
        <p:spPr>
          <a:xfrm>
            <a:off x="7498080" y="2377440"/>
            <a:ext cx="914" cy="1371600"/>
          </a:xfrm>
          <a:prstGeom prst="line">
            <a:avLst/>
          </a:prstGeom>
          <a:noFill/>
          <a:ln w="5080">
            <a:solidFill>
              <a:srgbClr val="D5DCE5"/>
            </a:solidFill>
            <a:prstDash val="solid"/>
          </a:ln>
        </p:spPr>
      </p:sp>
      <p:sp>
        <p:nvSpPr>
          <p:cNvPr id="192" name="Shape 190"/>
          <p:cNvSpPr/>
          <p:nvPr/>
        </p:nvSpPr>
        <p:spPr>
          <a:xfrm>
            <a:off x="7726680" y="2377440"/>
            <a:ext cx="914" cy="1371600"/>
          </a:xfrm>
          <a:prstGeom prst="line">
            <a:avLst/>
          </a:prstGeom>
          <a:noFill/>
          <a:ln w="5080">
            <a:solidFill>
              <a:srgbClr val="D5DCE5"/>
            </a:solidFill>
            <a:prstDash val="solid"/>
          </a:ln>
        </p:spPr>
      </p:sp>
      <p:sp>
        <p:nvSpPr>
          <p:cNvPr id="193" name="Shape 191"/>
          <p:cNvSpPr/>
          <p:nvPr/>
        </p:nvSpPr>
        <p:spPr>
          <a:xfrm>
            <a:off x="7955280" y="2377440"/>
            <a:ext cx="914" cy="1371600"/>
          </a:xfrm>
          <a:prstGeom prst="line">
            <a:avLst/>
          </a:prstGeom>
          <a:noFill/>
          <a:ln w="5080">
            <a:solidFill>
              <a:srgbClr val="D5DCE5"/>
            </a:solidFill>
            <a:prstDash val="solid"/>
          </a:ln>
        </p:spPr>
      </p:sp>
      <p:sp>
        <p:nvSpPr>
          <p:cNvPr id="194" name="Shape 192"/>
          <p:cNvSpPr/>
          <p:nvPr/>
        </p:nvSpPr>
        <p:spPr>
          <a:xfrm>
            <a:off x="8183880" y="2377440"/>
            <a:ext cx="914" cy="1371600"/>
          </a:xfrm>
          <a:prstGeom prst="line">
            <a:avLst/>
          </a:prstGeom>
          <a:noFill/>
          <a:ln w="5080">
            <a:solidFill>
              <a:srgbClr val="D5DCE5"/>
            </a:solidFill>
            <a:prstDash val="solid"/>
          </a:ln>
        </p:spPr>
      </p:sp>
      <p:sp>
        <p:nvSpPr>
          <p:cNvPr id="195" name="Shape 193"/>
          <p:cNvSpPr/>
          <p:nvPr/>
        </p:nvSpPr>
        <p:spPr>
          <a:xfrm>
            <a:off x="8412480" y="2377440"/>
            <a:ext cx="914" cy="1371600"/>
          </a:xfrm>
          <a:prstGeom prst="line">
            <a:avLst/>
          </a:prstGeom>
          <a:noFill/>
          <a:ln w="5080">
            <a:solidFill>
              <a:srgbClr val="D5DCE5"/>
            </a:solidFill>
            <a:prstDash val="solid"/>
          </a:ln>
        </p:spPr>
      </p:sp>
      <p:sp>
        <p:nvSpPr>
          <p:cNvPr id="196" name="Shape 194"/>
          <p:cNvSpPr/>
          <p:nvPr/>
        </p:nvSpPr>
        <p:spPr>
          <a:xfrm>
            <a:off x="8641080" y="2377440"/>
            <a:ext cx="914" cy="1371600"/>
          </a:xfrm>
          <a:prstGeom prst="line">
            <a:avLst/>
          </a:prstGeom>
          <a:noFill/>
          <a:ln w="5080">
            <a:solidFill>
              <a:srgbClr val="D5DCE5"/>
            </a:solidFill>
            <a:prstDash val="solid"/>
          </a:ln>
        </p:spPr>
      </p:sp>
      <p:sp>
        <p:nvSpPr>
          <p:cNvPr id="197" name="Shape 195"/>
          <p:cNvSpPr/>
          <p:nvPr/>
        </p:nvSpPr>
        <p:spPr>
          <a:xfrm>
            <a:off x="8869680" y="2377440"/>
            <a:ext cx="914" cy="1371600"/>
          </a:xfrm>
          <a:prstGeom prst="line">
            <a:avLst/>
          </a:prstGeom>
          <a:noFill/>
          <a:ln w="5080">
            <a:solidFill>
              <a:srgbClr val="D5DCE5"/>
            </a:solidFill>
            <a:prstDash val="solid"/>
          </a:ln>
        </p:spPr>
      </p:sp>
      <p:sp>
        <p:nvSpPr>
          <p:cNvPr id="198" name="Shape 196"/>
          <p:cNvSpPr/>
          <p:nvPr/>
        </p:nvSpPr>
        <p:spPr>
          <a:xfrm>
            <a:off x="7269480" y="2548890"/>
            <a:ext cx="1828800" cy="914"/>
          </a:xfrm>
          <a:prstGeom prst="line">
            <a:avLst/>
          </a:prstGeom>
          <a:noFill/>
          <a:ln w="5080">
            <a:solidFill>
              <a:srgbClr val="D5DCE5"/>
            </a:solidFill>
            <a:prstDash val="solid"/>
          </a:ln>
        </p:spPr>
      </p:sp>
      <p:sp>
        <p:nvSpPr>
          <p:cNvPr id="199" name="Shape 197"/>
          <p:cNvSpPr/>
          <p:nvPr/>
        </p:nvSpPr>
        <p:spPr>
          <a:xfrm>
            <a:off x="7269480" y="2720340"/>
            <a:ext cx="1828800" cy="914"/>
          </a:xfrm>
          <a:prstGeom prst="line">
            <a:avLst/>
          </a:prstGeom>
          <a:noFill/>
          <a:ln w="5080">
            <a:solidFill>
              <a:srgbClr val="D5DCE5"/>
            </a:solidFill>
            <a:prstDash val="solid"/>
          </a:ln>
        </p:spPr>
      </p:sp>
      <p:sp>
        <p:nvSpPr>
          <p:cNvPr id="200" name="Shape 198"/>
          <p:cNvSpPr/>
          <p:nvPr/>
        </p:nvSpPr>
        <p:spPr>
          <a:xfrm>
            <a:off x="7269480" y="2891790"/>
            <a:ext cx="1828800" cy="914"/>
          </a:xfrm>
          <a:prstGeom prst="line">
            <a:avLst/>
          </a:prstGeom>
          <a:noFill/>
          <a:ln w="5080">
            <a:solidFill>
              <a:srgbClr val="D5DCE5"/>
            </a:solidFill>
            <a:prstDash val="solid"/>
          </a:ln>
        </p:spPr>
      </p:sp>
      <p:sp>
        <p:nvSpPr>
          <p:cNvPr id="201" name="Shape 199"/>
          <p:cNvSpPr/>
          <p:nvPr/>
        </p:nvSpPr>
        <p:spPr>
          <a:xfrm>
            <a:off x="7269480" y="3063240"/>
            <a:ext cx="1828800" cy="914"/>
          </a:xfrm>
          <a:prstGeom prst="line">
            <a:avLst/>
          </a:prstGeom>
          <a:noFill/>
          <a:ln w="5080">
            <a:solidFill>
              <a:srgbClr val="D5DCE5"/>
            </a:solidFill>
            <a:prstDash val="solid"/>
          </a:ln>
        </p:spPr>
      </p:sp>
      <p:sp>
        <p:nvSpPr>
          <p:cNvPr id="202" name="Shape 200"/>
          <p:cNvSpPr/>
          <p:nvPr/>
        </p:nvSpPr>
        <p:spPr>
          <a:xfrm>
            <a:off x="7269480" y="3234690"/>
            <a:ext cx="1828800" cy="914"/>
          </a:xfrm>
          <a:prstGeom prst="line">
            <a:avLst/>
          </a:prstGeom>
          <a:noFill/>
          <a:ln w="5080">
            <a:solidFill>
              <a:srgbClr val="D5DCE5"/>
            </a:solidFill>
            <a:prstDash val="solid"/>
          </a:ln>
        </p:spPr>
      </p:sp>
      <p:sp>
        <p:nvSpPr>
          <p:cNvPr id="203" name="Shape 201"/>
          <p:cNvSpPr/>
          <p:nvPr/>
        </p:nvSpPr>
        <p:spPr>
          <a:xfrm>
            <a:off x="7269480" y="3406140"/>
            <a:ext cx="1828800" cy="914"/>
          </a:xfrm>
          <a:prstGeom prst="line">
            <a:avLst/>
          </a:prstGeom>
          <a:noFill/>
          <a:ln w="5080">
            <a:solidFill>
              <a:srgbClr val="D5DCE5"/>
            </a:solidFill>
            <a:prstDash val="solid"/>
          </a:ln>
        </p:spPr>
      </p:sp>
      <p:sp>
        <p:nvSpPr>
          <p:cNvPr id="204" name="Shape 202"/>
          <p:cNvSpPr/>
          <p:nvPr/>
        </p:nvSpPr>
        <p:spPr>
          <a:xfrm>
            <a:off x="7269480" y="3577590"/>
            <a:ext cx="1828800" cy="914"/>
          </a:xfrm>
          <a:prstGeom prst="line">
            <a:avLst/>
          </a:prstGeom>
          <a:noFill/>
          <a:ln w="5080">
            <a:solidFill>
              <a:srgbClr val="D5DCE5"/>
            </a:solidFill>
            <a:prstDash val="solid"/>
          </a:ln>
        </p:spPr>
      </p:sp>
      <p:sp>
        <p:nvSpPr>
          <p:cNvPr id="205" name="Text 203"/>
          <p:cNvSpPr txBox="1"/>
          <p:nvPr/>
        </p:nvSpPr>
        <p:spPr>
          <a:xfrm>
            <a:off x="7269480" y="3785616"/>
            <a:ext cx="2103120" cy="36576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scores [S,S] block 행 (/√128 +mask), 회색 = causal 0</a:t>
            </a:r>
            <a:endParaRPr lang="en-US" sz="650" dirty="0"/>
          </a:p>
        </p:txBody>
      </p:sp>
      <p:sp>
        <p:nvSpPr>
          <p:cNvPr id="206" name="Shape 204"/>
          <p:cNvSpPr/>
          <p:nvPr/>
        </p:nvSpPr>
        <p:spPr>
          <a:xfrm>
            <a:off x="7059168" y="2834640"/>
            <a:ext cx="210312" cy="57150"/>
          </a:xfrm>
          <a:prstGeom prst="line">
            <a:avLst/>
          </a:prstGeom>
          <a:noFill/>
          <a:ln w="15240">
            <a:solidFill>
              <a:srgbClr val="6C4FBF"/>
            </a:solidFill>
            <a:prstDash val="solid"/>
            <a:tailEnd type="triangle"/>
          </a:ln>
        </p:spPr>
      </p:sp>
      <p:sp>
        <p:nvSpPr>
          <p:cNvPr id="207" name="Shape 205"/>
          <p:cNvSpPr/>
          <p:nvPr/>
        </p:nvSpPr>
        <p:spPr>
          <a:xfrm>
            <a:off x="9125712" y="2891790"/>
            <a:ext cx="338328" cy="914"/>
          </a:xfrm>
          <a:prstGeom prst="line">
            <a:avLst/>
          </a:prstGeom>
          <a:noFill/>
          <a:ln w="15240">
            <a:solidFill>
              <a:srgbClr val="6C4FBF"/>
            </a:solidFill>
            <a:prstDash val="solid"/>
            <a:tailEnd type="triangle"/>
          </a:ln>
        </p:spPr>
      </p:sp>
      <p:sp>
        <p:nvSpPr>
          <p:cNvPr id="208" name="Text 206"/>
          <p:cNvSpPr txBox="1"/>
          <p:nvPr/>
        </p:nvSpPr>
        <p:spPr>
          <a:xfrm>
            <a:off x="9052560" y="2350008"/>
            <a:ext cx="502920" cy="274320"/>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softmax</a:t>
            </a:r>
            <a:endParaRPr lang="en-US" sz="600" dirty="0"/>
          </a:p>
        </p:txBody>
      </p:sp>
      <p:sp>
        <p:nvSpPr>
          <p:cNvPr id="209" name="Shape 207"/>
          <p:cNvSpPr/>
          <p:nvPr/>
        </p:nvSpPr>
        <p:spPr>
          <a:xfrm>
            <a:off x="9509760" y="2377440"/>
            <a:ext cx="1280160" cy="1371600"/>
          </a:xfrm>
          <a:prstGeom prst="rect">
            <a:avLst/>
          </a:prstGeom>
          <a:solidFill>
            <a:srgbClr val="EEF2F6"/>
          </a:solidFill>
          <a:ln w="12700">
            <a:solidFill>
              <a:srgbClr val="C9D3DF"/>
            </a:solidFill>
            <a:prstDash val="solid"/>
          </a:ln>
        </p:spPr>
      </p:sp>
      <p:sp>
        <p:nvSpPr>
          <p:cNvPr id="210" name="Shape 208"/>
          <p:cNvSpPr/>
          <p:nvPr/>
        </p:nvSpPr>
        <p:spPr>
          <a:xfrm>
            <a:off x="9509760" y="2720340"/>
            <a:ext cx="1280160" cy="342900"/>
          </a:xfrm>
          <a:prstGeom prst="rect">
            <a:avLst/>
          </a:prstGeom>
          <a:solidFill>
            <a:srgbClr val="ECE6FA"/>
          </a:solidFill>
          <a:ln w="15875">
            <a:solidFill>
              <a:srgbClr val="6C4FBF"/>
            </a:solidFill>
            <a:prstDash val="solid"/>
          </a:ln>
        </p:spPr>
      </p:sp>
      <p:sp>
        <p:nvSpPr>
          <p:cNvPr id="211" name="Shape 209"/>
          <p:cNvSpPr/>
          <p:nvPr/>
        </p:nvSpPr>
        <p:spPr>
          <a:xfrm>
            <a:off x="9669780" y="2377440"/>
            <a:ext cx="160020" cy="171450"/>
          </a:xfrm>
          <a:prstGeom prst="rect">
            <a:avLst/>
          </a:prstGeom>
          <a:solidFill>
            <a:srgbClr val="EEF2F6"/>
          </a:solidFill>
          <a:ln w="3810">
            <a:solidFill>
              <a:srgbClr val="C9D3DF"/>
            </a:solidFill>
            <a:prstDash val="solid"/>
          </a:ln>
        </p:spPr>
      </p:sp>
      <p:sp>
        <p:nvSpPr>
          <p:cNvPr id="212" name="Shape 210"/>
          <p:cNvSpPr/>
          <p:nvPr/>
        </p:nvSpPr>
        <p:spPr>
          <a:xfrm>
            <a:off x="9829800" y="2377440"/>
            <a:ext cx="160020" cy="171450"/>
          </a:xfrm>
          <a:prstGeom prst="rect">
            <a:avLst/>
          </a:prstGeom>
          <a:solidFill>
            <a:srgbClr val="EEF2F6"/>
          </a:solidFill>
          <a:ln w="3810">
            <a:solidFill>
              <a:srgbClr val="C9D3DF"/>
            </a:solidFill>
            <a:prstDash val="solid"/>
          </a:ln>
        </p:spPr>
      </p:sp>
      <p:sp>
        <p:nvSpPr>
          <p:cNvPr id="213" name="Shape 211"/>
          <p:cNvSpPr/>
          <p:nvPr/>
        </p:nvSpPr>
        <p:spPr>
          <a:xfrm>
            <a:off x="9989820" y="2377440"/>
            <a:ext cx="160020" cy="171450"/>
          </a:xfrm>
          <a:prstGeom prst="rect">
            <a:avLst/>
          </a:prstGeom>
          <a:solidFill>
            <a:srgbClr val="EEF2F6"/>
          </a:solidFill>
          <a:ln w="3810">
            <a:solidFill>
              <a:srgbClr val="C9D3DF"/>
            </a:solidFill>
            <a:prstDash val="solid"/>
          </a:ln>
        </p:spPr>
      </p:sp>
      <p:sp>
        <p:nvSpPr>
          <p:cNvPr id="214" name="Shape 212"/>
          <p:cNvSpPr/>
          <p:nvPr/>
        </p:nvSpPr>
        <p:spPr>
          <a:xfrm>
            <a:off x="10149840" y="2377440"/>
            <a:ext cx="160020" cy="171450"/>
          </a:xfrm>
          <a:prstGeom prst="rect">
            <a:avLst/>
          </a:prstGeom>
          <a:solidFill>
            <a:srgbClr val="EEF2F6"/>
          </a:solidFill>
          <a:ln w="3810">
            <a:solidFill>
              <a:srgbClr val="C9D3DF"/>
            </a:solidFill>
            <a:prstDash val="solid"/>
          </a:ln>
        </p:spPr>
      </p:sp>
      <p:sp>
        <p:nvSpPr>
          <p:cNvPr id="215" name="Shape 213"/>
          <p:cNvSpPr/>
          <p:nvPr/>
        </p:nvSpPr>
        <p:spPr>
          <a:xfrm>
            <a:off x="10309860" y="2377440"/>
            <a:ext cx="160020" cy="171450"/>
          </a:xfrm>
          <a:prstGeom prst="rect">
            <a:avLst/>
          </a:prstGeom>
          <a:solidFill>
            <a:srgbClr val="EEF2F6"/>
          </a:solidFill>
          <a:ln w="3810">
            <a:solidFill>
              <a:srgbClr val="C9D3DF"/>
            </a:solidFill>
            <a:prstDash val="solid"/>
          </a:ln>
        </p:spPr>
      </p:sp>
      <p:sp>
        <p:nvSpPr>
          <p:cNvPr id="216" name="Shape 214"/>
          <p:cNvSpPr/>
          <p:nvPr/>
        </p:nvSpPr>
        <p:spPr>
          <a:xfrm>
            <a:off x="10469880" y="2377440"/>
            <a:ext cx="160020" cy="171450"/>
          </a:xfrm>
          <a:prstGeom prst="rect">
            <a:avLst/>
          </a:prstGeom>
          <a:solidFill>
            <a:srgbClr val="EEF2F6"/>
          </a:solidFill>
          <a:ln w="3810">
            <a:solidFill>
              <a:srgbClr val="C9D3DF"/>
            </a:solidFill>
            <a:prstDash val="solid"/>
          </a:ln>
        </p:spPr>
      </p:sp>
      <p:sp>
        <p:nvSpPr>
          <p:cNvPr id="217" name="Shape 215"/>
          <p:cNvSpPr/>
          <p:nvPr/>
        </p:nvSpPr>
        <p:spPr>
          <a:xfrm>
            <a:off x="10629900" y="2377440"/>
            <a:ext cx="160020" cy="171450"/>
          </a:xfrm>
          <a:prstGeom prst="rect">
            <a:avLst/>
          </a:prstGeom>
          <a:solidFill>
            <a:srgbClr val="EEF2F6"/>
          </a:solidFill>
          <a:ln w="3810">
            <a:solidFill>
              <a:srgbClr val="C9D3DF"/>
            </a:solidFill>
            <a:prstDash val="solid"/>
          </a:ln>
        </p:spPr>
      </p:sp>
      <p:sp>
        <p:nvSpPr>
          <p:cNvPr id="218" name="Shape 216"/>
          <p:cNvSpPr/>
          <p:nvPr/>
        </p:nvSpPr>
        <p:spPr>
          <a:xfrm>
            <a:off x="9829800" y="2548890"/>
            <a:ext cx="160020" cy="171450"/>
          </a:xfrm>
          <a:prstGeom prst="rect">
            <a:avLst/>
          </a:prstGeom>
          <a:solidFill>
            <a:srgbClr val="EEF2F6"/>
          </a:solidFill>
          <a:ln w="3810">
            <a:solidFill>
              <a:srgbClr val="C9D3DF"/>
            </a:solidFill>
            <a:prstDash val="solid"/>
          </a:ln>
        </p:spPr>
      </p:sp>
      <p:sp>
        <p:nvSpPr>
          <p:cNvPr id="219" name="Shape 217"/>
          <p:cNvSpPr/>
          <p:nvPr/>
        </p:nvSpPr>
        <p:spPr>
          <a:xfrm>
            <a:off x="9989820" y="2548890"/>
            <a:ext cx="160020" cy="171450"/>
          </a:xfrm>
          <a:prstGeom prst="rect">
            <a:avLst/>
          </a:prstGeom>
          <a:solidFill>
            <a:srgbClr val="EEF2F6"/>
          </a:solidFill>
          <a:ln w="3810">
            <a:solidFill>
              <a:srgbClr val="C9D3DF"/>
            </a:solidFill>
            <a:prstDash val="solid"/>
          </a:ln>
        </p:spPr>
      </p:sp>
      <p:sp>
        <p:nvSpPr>
          <p:cNvPr id="220" name="Shape 218"/>
          <p:cNvSpPr/>
          <p:nvPr/>
        </p:nvSpPr>
        <p:spPr>
          <a:xfrm>
            <a:off x="10149840" y="2548890"/>
            <a:ext cx="160020" cy="171450"/>
          </a:xfrm>
          <a:prstGeom prst="rect">
            <a:avLst/>
          </a:prstGeom>
          <a:solidFill>
            <a:srgbClr val="EEF2F6"/>
          </a:solidFill>
          <a:ln w="3810">
            <a:solidFill>
              <a:srgbClr val="C9D3DF"/>
            </a:solidFill>
            <a:prstDash val="solid"/>
          </a:ln>
        </p:spPr>
      </p:sp>
      <p:sp>
        <p:nvSpPr>
          <p:cNvPr id="221" name="Shape 219"/>
          <p:cNvSpPr/>
          <p:nvPr/>
        </p:nvSpPr>
        <p:spPr>
          <a:xfrm>
            <a:off x="10309860" y="2548890"/>
            <a:ext cx="160020" cy="171450"/>
          </a:xfrm>
          <a:prstGeom prst="rect">
            <a:avLst/>
          </a:prstGeom>
          <a:solidFill>
            <a:srgbClr val="EEF2F6"/>
          </a:solidFill>
          <a:ln w="3810">
            <a:solidFill>
              <a:srgbClr val="C9D3DF"/>
            </a:solidFill>
            <a:prstDash val="solid"/>
          </a:ln>
        </p:spPr>
      </p:sp>
      <p:sp>
        <p:nvSpPr>
          <p:cNvPr id="222" name="Shape 220"/>
          <p:cNvSpPr/>
          <p:nvPr/>
        </p:nvSpPr>
        <p:spPr>
          <a:xfrm>
            <a:off x="10469880" y="2548890"/>
            <a:ext cx="160020" cy="171450"/>
          </a:xfrm>
          <a:prstGeom prst="rect">
            <a:avLst/>
          </a:prstGeom>
          <a:solidFill>
            <a:srgbClr val="EEF2F6"/>
          </a:solidFill>
          <a:ln w="3810">
            <a:solidFill>
              <a:srgbClr val="C9D3DF"/>
            </a:solidFill>
            <a:prstDash val="solid"/>
          </a:ln>
        </p:spPr>
      </p:sp>
      <p:sp>
        <p:nvSpPr>
          <p:cNvPr id="223" name="Shape 221"/>
          <p:cNvSpPr/>
          <p:nvPr/>
        </p:nvSpPr>
        <p:spPr>
          <a:xfrm>
            <a:off x="10629900" y="2548890"/>
            <a:ext cx="160020" cy="171450"/>
          </a:xfrm>
          <a:prstGeom prst="rect">
            <a:avLst/>
          </a:prstGeom>
          <a:solidFill>
            <a:srgbClr val="EEF2F6"/>
          </a:solidFill>
          <a:ln w="3810">
            <a:solidFill>
              <a:srgbClr val="C9D3DF"/>
            </a:solidFill>
            <a:prstDash val="solid"/>
          </a:ln>
        </p:spPr>
      </p:sp>
      <p:sp>
        <p:nvSpPr>
          <p:cNvPr id="224" name="Shape 222"/>
          <p:cNvSpPr/>
          <p:nvPr/>
        </p:nvSpPr>
        <p:spPr>
          <a:xfrm>
            <a:off x="9989820" y="2720340"/>
            <a:ext cx="160020" cy="171450"/>
          </a:xfrm>
          <a:prstGeom prst="rect">
            <a:avLst/>
          </a:prstGeom>
          <a:solidFill>
            <a:srgbClr val="EEF2F6"/>
          </a:solidFill>
          <a:ln w="3810">
            <a:solidFill>
              <a:srgbClr val="C9D3DF"/>
            </a:solidFill>
            <a:prstDash val="solid"/>
          </a:ln>
        </p:spPr>
      </p:sp>
      <p:sp>
        <p:nvSpPr>
          <p:cNvPr id="225" name="Shape 223"/>
          <p:cNvSpPr/>
          <p:nvPr/>
        </p:nvSpPr>
        <p:spPr>
          <a:xfrm>
            <a:off x="10149840" y="2720340"/>
            <a:ext cx="160020" cy="171450"/>
          </a:xfrm>
          <a:prstGeom prst="rect">
            <a:avLst/>
          </a:prstGeom>
          <a:solidFill>
            <a:srgbClr val="EEF2F6"/>
          </a:solidFill>
          <a:ln w="3810">
            <a:solidFill>
              <a:srgbClr val="C9D3DF"/>
            </a:solidFill>
            <a:prstDash val="solid"/>
          </a:ln>
        </p:spPr>
      </p:sp>
      <p:sp>
        <p:nvSpPr>
          <p:cNvPr id="226" name="Shape 224"/>
          <p:cNvSpPr/>
          <p:nvPr/>
        </p:nvSpPr>
        <p:spPr>
          <a:xfrm>
            <a:off x="10309860" y="2720340"/>
            <a:ext cx="160020" cy="171450"/>
          </a:xfrm>
          <a:prstGeom prst="rect">
            <a:avLst/>
          </a:prstGeom>
          <a:solidFill>
            <a:srgbClr val="EEF2F6"/>
          </a:solidFill>
          <a:ln w="3810">
            <a:solidFill>
              <a:srgbClr val="C9D3DF"/>
            </a:solidFill>
            <a:prstDash val="solid"/>
          </a:ln>
        </p:spPr>
      </p:sp>
      <p:sp>
        <p:nvSpPr>
          <p:cNvPr id="227" name="Shape 225"/>
          <p:cNvSpPr/>
          <p:nvPr/>
        </p:nvSpPr>
        <p:spPr>
          <a:xfrm>
            <a:off x="10469880" y="2720340"/>
            <a:ext cx="160020" cy="171450"/>
          </a:xfrm>
          <a:prstGeom prst="rect">
            <a:avLst/>
          </a:prstGeom>
          <a:solidFill>
            <a:srgbClr val="EEF2F6"/>
          </a:solidFill>
          <a:ln w="3810">
            <a:solidFill>
              <a:srgbClr val="C9D3DF"/>
            </a:solidFill>
            <a:prstDash val="solid"/>
          </a:ln>
        </p:spPr>
      </p:sp>
      <p:sp>
        <p:nvSpPr>
          <p:cNvPr id="228" name="Shape 226"/>
          <p:cNvSpPr/>
          <p:nvPr/>
        </p:nvSpPr>
        <p:spPr>
          <a:xfrm>
            <a:off x="10629900" y="2720340"/>
            <a:ext cx="160020" cy="171450"/>
          </a:xfrm>
          <a:prstGeom prst="rect">
            <a:avLst/>
          </a:prstGeom>
          <a:solidFill>
            <a:srgbClr val="EEF2F6"/>
          </a:solidFill>
          <a:ln w="3810">
            <a:solidFill>
              <a:srgbClr val="C9D3DF"/>
            </a:solidFill>
            <a:prstDash val="solid"/>
          </a:ln>
        </p:spPr>
      </p:sp>
      <p:sp>
        <p:nvSpPr>
          <p:cNvPr id="229" name="Shape 227"/>
          <p:cNvSpPr/>
          <p:nvPr/>
        </p:nvSpPr>
        <p:spPr>
          <a:xfrm>
            <a:off x="10149840" y="2891790"/>
            <a:ext cx="160020" cy="171450"/>
          </a:xfrm>
          <a:prstGeom prst="rect">
            <a:avLst/>
          </a:prstGeom>
          <a:solidFill>
            <a:srgbClr val="EEF2F6"/>
          </a:solidFill>
          <a:ln w="3810">
            <a:solidFill>
              <a:srgbClr val="C9D3DF"/>
            </a:solidFill>
            <a:prstDash val="solid"/>
          </a:ln>
        </p:spPr>
      </p:sp>
      <p:sp>
        <p:nvSpPr>
          <p:cNvPr id="230" name="Shape 228"/>
          <p:cNvSpPr/>
          <p:nvPr/>
        </p:nvSpPr>
        <p:spPr>
          <a:xfrm>
            <a:off x="10309860" y="2891790"/>
            <a:ext cx="160020" cy="171450"/>
          </a:xfrm>
          <a:prstGeom prst="rect">
            <a:avLst/>
          </a:prstGeom>
          <a:solidFill>
            <a:srgbClr val="EEF2F6"/>
          </a:solidFill>
          <a:ln w="3810">
            <a:solidFill>
              <a:srgbClr val="C9D3DF"/>
            </a:solidFill>
            <a:prstDash val="solid"/>
          </a:ln>
        </p:spPr>
      </p:sp>
      <p:sp>
        <p:nvSpPr>
          <p:cNvPr id="231" name="Shape 229"/>
          <p:cNvSpPr/>
          <p:nvPr/>
        </p:nvSpPr>
        <p:spPr>
          <a:xfrm>
            <a:off x="10469880" y="2891790"/>
            <a:ext cx="160020" cy="171450"/>
          </a:xfrm>
          <a:prstGeom prst="rect">
            <a:avLst/>
          </a:prstGeom>
          <a:solidFill>
            <a:srgbClr val="EEF2F6"/>
          </a:solidFill>
          <a:ln w="3810">
            <a:solidFill>
              <a:srgbClr val="C9D3DF"/>
            </a:solidFill>
            <a:prstDash val="solid"/>
          </a:ln>
        </p:spPr>
      </p:sp>
      <p:sp>
        <p:nvSpPr>
          <p:cNvPr id="232" name="Shape 230"/>
          <p:cNvSpPr/>
          <p:nvPr/>
        </p:nvSpPr>
        <p:spPr>
          <a:xfrm>
            <a:off x="10629900" y="2891790"/>
            <a:ext cx="160020" cy="171450"/>
          </a:xfrm>
          <a:prstGeom prst="rect">
            <a:avLst/>
          </a:prstGeom>
          <a:solidFill>
            <a:srgbClr val="EEF2F6"/>
          </a:solidFill>
          <a:ln w="3810">
            <a:solidFill>
              <a:srgbClr val="C9D3DF"/>
            </a:solidFill>
            <a:prstDash val="solid"/>
          </a:ln>
        </p:spPr>
      </p:sp>
      <p:sp>
        <p:nvSpPr>
          <p:cNvPr id="233" name="Shape 231"/>
          <p:cNvSpPr/>
          <p:nvPr/>
        </p:nvSpPr>
        <p:spPr>
          <a:xfrm>
            <a:off x="10309860" y="3063240"/>
            <a:ext cx="160020" cy="171450"/>
          </a:xfrm>
          <a:prstGeom prst="rect">
            <a:avLst/>
          </a:prstGeom>
          <a:solidFill>
            <a:srgbClr val="EEF2F6"/>
          </a:solidFill>
          <a:ln w="3810">
            <a:solidFill>
              <a:srgbClr val="C9D3DF"/>
            </a:solidFill>
            <a:prstDash val="solid"/>
          </a:ln>
        </p:spPr>
      </p:sp>
      <p:sp>
        <p:nvSpPr>
          <p:cNvPr id="234" name="Shape 232"/>
          <p:cNvSpPr/>
          <p:nvPr/>
        </p:nvSpPr>
        <p:spPr>
          <a:xfrm>
            <a:off x="10469880" y="3063240"/>
            <a:ext cx="160020" cy="171450"/>
          </a:xfrm>
          <a:prstGeom prst="rect">
            <a:avLst/>
          </a:prstGeom>
          <a:solidFill>
            <a:srgbClr val="EEF2F6"/>
          </a:solidFill>
          <a:ln w="3810">
            <a:solidFill>
              <a:srgbClr val="C9D3DF"/>
            </a:solidFill>
            <a:prstDash val="solid"/>
          </a:ln>
        </p:spPr>
      </p:sp>
      <p:sp>
        <p:nvSpPr>
          <p:cNvPr id="235" name="Shape 233"/>
          <p:cNvSpPr/>
          <p:nvPr/>
        </p:nvSpPr>
        <p:spPr>
          <a:xfrm>
            <a:off x="10629900" y="3063240"/>
            <a:ext cx="160020" cy="171450"/>
          </a:xfrm>
          <a:prstGeom prst="rect">
            <a:avLst/>
          </a:prstGeom>
          <a:solidFill>
            <a:srgbClr val="EEF2F6"/>
          </a:solidFill>
          <a:ln w="3810">
            <a:solidFill>
              <a:srgbClr val="C9D3DF"/>
            </a:solidFill>
            <a:prstDash val="solid"/>
          </a:ln>
        </p:spPr>
      </p:sp>
      <p:sp>
        <p:nvSpPr>
          <p:cNvPr id="236" name="Shape 234"/>
          <p:cNvSpPr/>
          <p:nvPr/>
        </p:nvSpPr>
        <p:spPr>
          <a:xfrm>
            <a:off x="10469880" y="3234690"/>
            <a:ext cx="160020" cy="171450"/>
          </a:xfrm>
          <a:prstGeom prst="rect">
            <a:avLst/>
          </a:prstGeom>
          <a:solidFill>
            <a:srgbClr val="EEF2F6"/>
          </a:solidFill>
          <a:ln w="3810">
            <a:solidFill>
              <a:srgbClr val="C9D3DF"/>
            </a:solidFill>
            <a:prstDash val="solid"/>
          </a:ln>
        </p:spPr>
      </p:sp>
      <p:sp>
        <p:nvSpPr>
          <p:cNvPr id="237" name="Shape 235"/>
          <p:cNvSpPr/>
          <p:nvPr/>
        </p:nvSpPr>
        <p:spPr>
          <a:xfrm>
            <a:off x="10629900" y="3234690"/>
            <a:ext cx="160020" cy="171450"/>
          </a:xfrm>
          <a:prstGeom prst="rect">
            <a:avLst/>
          </a:prstGeom>
          <a:solidFill>
            <a:srgbClr val="EEF2F6"/>
          </a:solidFill>
          <a:ln w="3810">
            <a:solidFill>
              <a:srgbClr val="C9D3DF"/>
            </a:solidFill>
            <a:prstDash val="solid"/>
          </a:ln>
        </p:spPr>
      </p:sp>
      <p:sp>
        <p:nvSpPr>
          <p:cNvPr id="238" name="Shape 236"/>
          <p:cNvSpPr/>
          <p:nvPr/>
        </p:nvSpPr>
        <p:spPr>
          <a:xfrm>
            <a:off x="10629900" y="3406140"/>
            <a:ext cx="160020" cy="171450"/>
          </a:xfrm>
          <a:prstGeom prst="rect">
            <a:avLst/>
          </a:prstGeom>
          <a:solidFill>
            <a:srgbClr val="EEF2F6"/>
          </a:solidFill>
          <a:ln w="3810">
            <a:solidFill>
              <a:srgbClr val="C9D3DF"/>
            </a:solidFill>
            <a:prstDash val="solid"/>
          </a:ln>
        </p:spPr>
      </p:sp>
      <p:sp>
        <p:nvSpPr>
          <p:cNvPr id="239" name="Shape 237"/>
          <p:cNvSpPr/>
          <p:nvPr/>
        </p:nvSpPr>
        <p:spPr>
          <a:xfrm>
            <a:off x="9669780" y="2377440"/>
            <a:ext cx="914" cy="1371600"/>
          </a:xfrm>
          <a:prstGeom prst="line">
            <a:avLst/>
          </a:prstGeom>
          <a:noFill/>
          <a:ln w="5080">
            <a:solidFill>
              <a:srgbClr val="D5DCE5"/>
            </a:solidFill>
            <a:prstDash val="solid"/>
          </a:ln>
        </p:spPr>
      </p:sp>
      <p:sp>
        <p:nvSpPr>
          <p:cNvPr id="240" name="Shape 238"/>
          <p:cNvSpPr/>
          <p:nvPr/>
        </p:nvSpPr>
        <p:spPr>
          <a:xfrm>
            <a:off x="9829800" y="2377440"/>
            <a:ext cx="914" cy="1371600"/>
          </a:xfrm>
          <a:prstGeom prst="line">
            <a:avLst/>
          </a:prstGeom>
          <a:noFill/>
          <a:ln w="5080">
            <a:solidFill>
              <a:srgbClr val="D5DCE5"/>
            </a:solidFill>
            <a:prstDash val="solid"/>
          </a:ln>
        </p:spPr>
      </p:sp>
      <p:sp>
        <p:nvSpPr>
          <p:cNvPr id="241" name="Shape 239"/>
          <p:cNvSpPr/>
          <p:nvPr/>
        </p:nvSpPr>
        <p:spPr>
          <a:xfrm>
            <a:off x="9989820" y="2377440"/>
            <a:ext cx="914" cy="1371600"/>
          </a:xfrm>
          <a:prstGeom prst="line">
            <a:avLst/>
          </a:prstGeom>
          <a:noFill/>
          <a:ln w="5080">
            <a:solidFill>
              <a:srgbClr val="D5DCE5"/>
            </a:solidFill>
            <a:prstDash val="solid"/>
          </a:ln>
        </p:spPr>
      </p:sp>
      <p:sp>
        <p:nvSpPr>
          <p:cNvPr id="242" name="Shape 240"/>
          <p:cNvSpPr/>
          <p:nvPr/>
        </p:nvSpPr>
        <p:spPr>
          <a:xfrm>
            <a:off x="10149840" y="2377440"/>
            <a:ext cx="914" cy="1371600"/>
          </a:xfrm>
          <a:prstGeom prst="line">
            <a:avLst/>
          </a:prstGeom>
          <a:noFill/>
          <a:ln w="5080">
            <a:solidFill>
              <a:srgbClr val="D5DCE5"/>
            </a:solidFill>
            <a:prstDash val="solid"/>
          </a:ln>
        </p:spPr>
      </p:sp>
      <p:sp>
        <p:nvSpPr>
          <p:cNvPr id="243" name="Shape 241"/>
          <p:cNvSpPr/>
          <p:nvPr/>
        </p:nvSpPr>
        <p:spPr>
          <a:xfrm>
            <a:off x="10309860" y="2377440"/>
            <a:ext cx="914" cy="1371600"/>
          </a:xfrm>
          <a:prstGeom prst="line">
            <a:avLst/>
          </a:prstGeom>
          <a:noFill/>
          <a:ln w="5080">
            <a:solidFill>
              <a:srgbClr val="D5DCE5"/>
            </a:solidFill>
            <a:prstDash val="solid"/>
          </a:ln>
        </p:spPr>
      </p:sp>
      <p:sp>
        <p:nvSpPr>
          <p:cNvPr id="244" name="Shape 242"/>
          <p:cNvSpPr/>
          <p:nvPr/>
        </p:nvSpPr>
        <p:spPr>
          <a:xfrm>
            <a:off x="10469880" y="2377440"/>
            <a:ext cx="914" cy="1371600"/>
          </a:xfrm>
          <a:prstGeom prst="line">
            <a:avLst/>
          </a:prstGeom>
          <a:noFill/>
          <a:ln w="5080">
            <a:solidFill>
              <a:srgbClr val="D5DCE5"/>
            </a:solidFill>
            <a:prstDash val="solid"/>
          </a:ln>
        </p:spPr>
      </p:sp>
      <p:sp>
        <p:nvSpPr>
          <p:cNvPr id="245" name="Shape 243"/>
          <p:cNvSpPr/>
          <p:nvPr/>
        </p:nvSpPr>
        <p:spPr>
          <a:xfrm>
            <a:off x="10629900" y="2377440"/>
            <a:ext cx="914" cy="1371600"/>
          </a:xfrm>
          <a:prstGeom prst="line">
            <a:avLst/>
          </a:prstGeom>
          <a:noFill/>
          <a:ln w="5080">
            <a:solidFill>
              <a:srgbClr val="D5DCE5"/>
            </a:solidFill>
            <a:prstDash val="solid"/>
          </a:ln>
        </p:spPr>
      </p:sp>
      <p:sp>
        <p:nvSpPr>
          <p:cNvPr id="246" name="Shape 244"/>
          <p:cNvSpPr/>
          <p:nvPr/>
        </p:nvSpPr>
        <p:spPr>
          <a:xfrm>
            <a:off x="9509760" y="2548890"/>
            <a:ext cx="1280160" cy="914"/>
          </a:xfrm>
          <a:prstGeom prst="line">
            <a:avLst/>
          </a:prstGeom>
          <a:noFill/>
          <a:ln w="5080">
            <a:solidFill>
              <a:srgbClr val="D5DCE5"/>
            </a:solidFill>
            <a:prstDash val="solid"/>
          </a:ln>
        </p:spPr>
      </p:sp>
      <p:sp>
        <p:nvSpPr>
          <p:cNvPr id="247" name="Shape 245"/>
          <p:cNvSpPr/>
          <p:nvPr/>
        </p:nvSpPr>
        <p:spPr>
          <a:xfrm>
            <a:off x="9509760" y="2720340"/>
            <a:ext cx="1280160" cy="914"/>
          </a:xfrm>
          <a:prstGeom prst="line">
            <a:avLst/>
          </a:prstGeom>
          <a:noFill/>
          <a:ln w="5080">
            <a:solidFill>
              <a:srgbClr val="D5DCE5"/>
            </a:solidFill>
            <a:prstDash val="solid"/>
          </a:ln>
        </p:spPr>
      </p:sp>
      <p:sp>
        <p:nvSpPr>
          <p:cNvPr id="248" name="Shape 246"/>
          <p:cNvSpPr/>
          <p:nvPr/>
        </p:nvSpPr>
        <p:spPr>
          <a:xfrm>
            <a:off x="9509760" y="2891790"/>
            <a:ext cx="1280160" cy="914"/>
          </a:xfrm>
          <a:prstGeom prst="line">
            <a:avLst/>
          </a:prstGeom>
          <a:noFill/>
          <a:ln w="5080">
            <a:solidFill>
              <a:srgbClr val="D5DCE5"/>
            </a:solidFill>
            <a:prstDash val="solid"/>
          </a:ln>
        </p:spPr>
      </p:sp>
      <p:sp>
        <p:nvSpPr>
          <p:cNvPr id="249" name="Shape 247"/>
          <p:cNvSpPr/>
          <p:nvPr/>
        </p:nvSpPr>
        <p:spPr>
          <a:xfrm>
            <a:off x="9509760" y="3063240"/>
            <a:ext cx="1280160" cy="914"/>
          </a:xfrm>
          <a:prstGeom prst="line">
            <a:avLst/>
          </a:prstGeom>
          <a:noFill/>
          <a:ln w="5080">
            <a:solidFill>
              <a:srgbClr val="D5DCE5"/>
            </a:solidFill>
            <a:prstDash val="solid"/>
          </a:ln>
        </p:spPr>
      </p:sp>
      <p:sp>
        <p:nvSpPr>
          <p:cNvPr id="250" name="Shape 248"/>
          <p:cNvSpPr/>
          <p:nvPr/>
        </p:nvSpPr>
        <p:spPr>
          <a:xfrm>
            <a:off x="9509760" y="3234690"/>
            <a:ext cx="1280160" cy="914"/>
          </a:xfrm>
          <a:prstGeom prst="line">
            <a:avLst/>
          </a:prstGeom>
          <a:noFill/>
          <a:ln w="5080">
            <a:solidFill>
              <a:srgbClr val="D5DCE5"/>
            </a:solidFill>
            <a:prstDash val="solid"/>
          </a:ln>
        </p:spPr>
      </p:sp>
      <p:sp>
        <p:nvSpPr>
          <p:cNvPr id="251" name="Shape 249"/>
          <p:cNvSpPr/>
          <p:nvPr/>
        </p:nvSpPr>
        <p:spPr>
          <a:xfrm>
            <a:off x="9509760" y="3406140"/>
            <a:ext cx="1280160" cy="914"/>
          </a:xfrm>
          <a:prstGeom prst="line">
            <a:avLst/>
          </a:prstGeom>
          <a:noFill/>
          <a:ln w="5080">
            <a:solidFill>
              <a:srgbClr val="D5DCE5"/>
            </a:solidFill>
            <a:prstDash val="solid"/>
          </a:ln>
        </p:spPr>
      </p:sp>
      <p:sp>
        <p:nvSpPr>
          <p:cNvPr id="252" name="Shape 250"/>
          <p:cNvSpPr/>
          <p:nvPr/>
        </p:nvSpPr>
        <p:spPr>
          <a:xfrm>
            <a:off x="9509760" y="3577590"/>
            <a:ext cx="1280160" cy="914"/>
          </a:xfrm>
          <a:prstGeom prst="line">
            <a:avLst/>
          </a:prstGeom>
          <a:noFill/>
          <a:ln w="5080">
            <a:solidFill>
              <a:srgbClr val="D5DCE5"/>
            </a:solidFill>
            <a:prstDash val="solid"/>
          </a:ln>
        </p:spPr>
      </p:sp>
      <p:sp>
        <p:nvSpPr>
          <p:cNvPr id="253" name="Text 251"/>
          <p:cNvSpPr txBox="1"/>
          <p:nvPr/>
        </p:nvSpPr>
        <p:spPr>
          <a:xfrm>
            <a:off x="9509760" y="3785616"/>
            <a:ext cx="1280160" cy="36576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P block (SRAM)</a:t>
            </a:r>
            <a:endParaRPr lang="en-US" sz="650" dirty="0"/>
          </a:p>
        </p:txBody>
      </p:sp>
      <p:sp>
        <p:nvSpPr>
          <p:cNvPr id="254" name="Shape 252"/>
          <p:cNvSpPr/>
          <p:nvPr/>
        </p:nvSpPr>
        <p:spPr>
          <a:xfrm>
            <a:off x="10972800" y="2286000"/>
            <a:ext cx="320040" cy="1463040"/>
          </a:xfrm>
          <a:prstGeom prst="rect">
            <a:avLst/>
          </a:prstGeom>
          <a:solidFill>
            <a:srgbClr val="DDF3F0"/>
          </a:solidFill>
          <a:ln w="12700">
            <a:solidFill>
              <a:srgbClr val="1F8A8A"/>
            </a:solidFill>
            <a:prstDash val="solid"/>
          </a:ln>
        </p:spPr>
      </p:sp>
      <p:sp>
        <p:nvSpPr>
          <p:cNvPr id="255" name="Shape 253"/>
          <p:cNvSpPr/>
          <p:nvPr/>
        </p:nvSpPr>
        <p:spPr>
          <a:xfrm>
            <a:off x="10972800" y="2468880"/>
            <a:ext cx="320040" cy="914"/>
          </a:xfrm>
          <a:prstGeom prst="line">
            <a:avLst/>
          </a:prstGeom>
          <a:noFill/>
          <a:ln w="5080">
            <a:solidFill>
              <a:srgbClr val="D5DCE5"/>
            </a:solidFill>
            <a:prstDash val="solid"/>
          </a:ln>
        </p:spPr>
      </p:sp>
      <p:sp>
        <p:nvSpPr>
          <p:cNvPr id="256" name="Shape 254"/>
          <p:cNvSpPr/>
          <p:nvPr/>
        </p:nvSpPr>
        <p:spPr>
          <a:xfrm>
            <a:off x="10972800" y="2651760"/>
            <a:ext cx="320040" cy="914"/>
          </a:xfrm>
          <a:prstGeom prst="line">
            <a:avLst/>
          </a:prstGeom>
          <a:noFill/>
          <a:ln w="5080">
            <a:solidFill>
              <a:srgbClr val="D5DCE5"/>
            </a:solidFill>
            <a:prstDash val="solid"/>
          </a:ln>
        </p:spPr>
      </p:sp>
      <p:sp>
        <p:nvSpPr>
          <p:cNvPr id="257" name="Shape 255"/>
          <p:cNvSpPr/>
          <p:nvPr/>
        </p:nvSpPr>
        <p:spPr>
          <a:xfrm>
            <a:off x="10972800" y="2834640"/>
            <a:ext cx="320040" cy="914"/>
          </a:xfrm>
          <a:prstGeom prst="line">
            <a:avLst/>
          </a:prstGeom>
          <a:noFill/>
          <a:ln w="5080">
            <a:solidFill>
              <a:srgbClr val="D5DCE5"/>
            </a:solidFill>
            <a:prstDash val="solid"/>
          </a:ln>
        </p:spPr>
      </p:sp>
      <p:sp>
        <p:nvSpPr>
          <p:cNvPr id="258" name="Shape 256"/>
          <p:cNvSpPr/>
          <p:nvPr/>
        </p:nvSpPr>
        <p:spPr>
          <a:xfrm>
            <a:off x="10972800" y="3017520"/>
            <a:ext cx="320040" cy="914"/>
          </a:xfrm>
          <a:prstGeom prst="line">
            <a:avLst/>
          </a:prstGeom>
          <a:noFill/>
          <a:ln w="5080">
            <a:solidFill>
              <a:srgbClr val="D5DCE5"/>
            </a:solidFill>
            <a:prstDash val="solid"/>
          </a:ln>
        </p:spPr>
      </p:sp>
      <p:sp>
        <p:nvSpPr>
          <p:cNvPr id="259" name="Shape 257"/>
          <p:cNvSpPr/>
          <p:nvPr/>
        </p:nvSpPr>
        <p:spPr>
          <a:xfrm>
            <a:off x="10972800" y="3200400"/>
            <a:ext cx="320040" cy="914"/>
          </a:xfrm>
          <a:prstGeom prst="line">
            <a:avLst/>
          </a:prstGeom>
          <a:noFill/>
          <a:ln w="5080">
            <a:solidFill>
              <a:srgbClr val="D5DCE5"/>
            </a:solidFill>
            <a:prstDash val="solid"/>
          </a:ln>
        </p:spPr>
      </p:sp>
      <p:sp>
        <p:nvSpPr>
          <p:cNvPr id="260" name="Shape 258"/>
          <p:cNvSpPr/>
          <p:nvPr/>
        </p:nvSpPr>
        <p:spPr>
          <a:xfrm>
            <a:off x="10972800" y="3383280"/>
            <a:ext cx="320040" cy="914"/>
          </a:xfrm>
          <a:prstGeom prst="line">
            <a:avLst/>
          </a:prstGeom>
          <a:noFill/>
          <a:ln w="5080">
            <a:solidFill>
              <a:srgbClr val="D5DCE5"/>
            </a:solidFill>
            <a:prstDash val="solid"/>
          </a:ln>
        </p:spPr>
      </p:sp>
      <p:sp>
        <p:nvSpPr>
          <p:cNvPr id="261" name="Shape 259"/>
          <p:cNvSpPr/>
          <p:nvPr/>
        </p:nvSpPr>
        <p:spPr>
          <a:xfrm>
            <a:off x="10972800" y="3566160"/>
            <a:ext cx="320040" cy="914"/>
          </a:xfrm>
          <a:prstGeom prst="line">
            <a:avLst/>
          </a:prstGeom>
          <a:noFill/>
          <a:ln w="5080">
            <a:solidFill>
              <a:srgbClr val="D5DCE5"/>
            </a:solidFill>
            <a:prstDash val="solid"/>
          </a:ln>
        </p:spPr>
      </p:sp>
      <p:sp>
        <p:nvSpPr>
          <p:cNvPr id="262" name="Text 260"/>
          <p:cNvSpPr txBox="1"/>
          <p:nvPr/>
        </p:nvSpPr>
        <p:spPr>
          <a:xfrm>
            <a:off x="10972800" y="2057400"/>
            <a:ext cx="4572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V</a:t>
            </a:r>
            <a:endParaRPr lang="en-US" sz="700" dirty="0"/>
          </a:p>
        </p:txBody>
      </p:sp>
      <p:sp>
        <p:nvSpPr>
          <p:cNvPr id="263" name="Shape 261"/>
          <p:cNvSpPr/>
          <p:nvPr/>
        </p:nvSpPr>
        <p:spPr>
          <a:xfrm>
            <a:off x="11430000" y="2286000"/>
            <a:ext cx="320040" cy="1463040"/>
          </a:xfrm>
          <a:prstGeom prst="rect">
            <a:avLst/>
          </a:prstGeom>
          <a:solidFill>
            <a:srgbClr val="EEF2F6"/>
          </a:solidFill>
          <a:ln w="12700">
            <a:solidFill>
              <a:srgbClr val="C9D3DF"/>
            </a:solidFill>
            <a:prstDash val="solid"/>
          </a:ln>
        </p:spPr>
      </p:sp>
      <p:sp>
        <p:nvSpPr>
          <p:cNvPr id="264" name="Shape 262"/>
          <p:cNvSpPr/>
          <p:nvPr/>
        </p:nvSpPr>
        <p:spPr>
          <a:xfrm>
            <a:off x="11430000" y="2651760"/>
            <a:ext cx="320040" cy="365760"/>
          </a:xfrm>
          <a:prstGeom prst="rect">
            <a:avLst/>
          </a:prstGeom>
          <a:solidFill>
            <a:srgbClr val="E5F3E7"/>
          </a:solidFill>
          <a:ln w="15875">
            <a:solidFill>
              <a:srgbClr val="2E7D32"/>
            </a:solidFill>
            <a:prstDash val="solid"/>
          </a:ln>
        </p:spPr>
      </p:sp>
      <p:sp>
        <p:nvSpPr>
          <p:cNvPr id="265" name="Shape 263"/>
          <p:cNvSpPr/>
          <p:nvPr/>
        </p:nvSpPr>
        <p:spPr>
          <a:xfrm>
            <a:off x="11430000" y="2468880"/>
            <a:ext cx="320040" cy="914"/>
          </a:xfrm>
          <a:prstGeom prst="line">
            <a:avLst/>
          </a:prstGeom>
          <a:noFill/>
          <a:ln w="5080">
            <a:solidFill>
              <a:srgbClr val="D5DCE5"/>
            </a:solidFill>
            <a:prstDash val="solid"/>
          </a:ln>
        </p:spPr>
      </p:sp>
      <p:sp>
        <p:nvSpPr>
          <p:cNvPr id="266" name="Shape 264"/>
          <p:cNvSpPr/>
          <p:nvPr/>
        </p:nvSpPr>
        <p:spPr>
          <a:xfrm>
            <a:off x="11430000" y="2651760"/>
            <a:ext cx="320040" cy="914"/>
          </a:xfrm>
          <a:prstGeom prst="line">
            <a:avLst/>
          </a:prstGeom>
          <a:noFill/>
          <a:ln w="5080">
            <a:solidFill>
              <a:srgbClr val="D5DCE5"/>
            </a:solidFill>
            <a:prstDash val="solid"/>
          </a:ln>
        </p:spPr>
      </p:sp>
      <p:sp>
        <p:nvSpPr>
          <p:cNvPr id="267" name="Shape 265"/>
          <p:cNvSpPr/>
          <p:nvPr/>
        </p:nvSpPr>
        <p:spPr>
          <a:xfrm>
            <a:off x="11430000" y="2834640"/>
            <a:ext cx="320040" cy="914"/>
          </a:xfrm>
          <a:prstGeom prst="line">
            <a:avLst/>
          </a:prstGeom>
          <a:noFill/>
          <a:ln w="5080">
            <a:solidFill>
              <a:srgbClr val="D5DCE5"/>
            </a:solidFill>
            <a:prstDash val="solid"/>
          </a:ln>
        </p:spPr>
      </p:sp>
      <p:sp>
        <p:nvSpPr>
          <p:cNvPr id="268" name="Shape 266"/>
          <p:cNvSpPr/>
          <p:nvPr/>
        </p:nvSpPr>
        <p:spPr>
          <a:xfrm>
            <a:off x="11430000" y="3017520"/>
            <a:ext cx="320040" cy="914"/>
          </a:xfrm>
          <a:prstGeom prst="line">
            <a:avLst/>
          </a:prstGeom>
          <a:noFill/>
          <a:ln w="5080">
            <a:solidFill>
              <a:srgbClr val="D5DCE5"/>
            </a:solidFill>
            <a:prstDash val="solid"/>
          </a:ln>
        </p:spPr>
      </p:sp>
      <p:sp>
        <p:nvSpPr>
          <p:cNvPr id="269" name="Shape 267"/>
          <p:cNvSpPr/>
          <p:nvPr/>
        </p:nvSpPr>
        <p:spPr>
          <a:xfrm>
            <a:off x="11430000" y="3200400"/>
            <a:ext cx="320040" cy="914"/>
          </a:xfrm>
          <a:prstGeom prst="line">
            <a:avLst/>
          </a:prstGeom>
          <a:noFill/>
          <a:ln w="5080">
            <a:solidFill>
              <a:srgbClr val="D5DCE5"/>
            </a:solidFill>
            <a:prstDash val="solid"/>
          </a:ln>
        </p:spPr>
      </p:sp>
      <p:sp>
        <p:nvSpPr>
          <p:cNvPr id="270" name="Shape 268"/>
          <p:cNvSpPr/>
          <p:nvPr/>
        </p:nvSpPr>
        <p:spPr>
          <a:xfrm>
            <a:off x="11430000" y="3383280"/>
            <a:ext cx="320040" cy="914"/>
          </a:xfrm>
          <a:prstGeom prst="line">
            <a:avLst/>
          </a:prstGeom>
          <a:noFill/>
          <a:ln w="5080">
            <a:solidFill>
              <a:srgbClr val="D5DCE5"/>
            </a:solidFill>
            <a:prstDash val="solid"/>
          </a:ln>
        </p:spPr>
      </p:sp>
      <p:sp>
        <p:nvSpPr>
          <p:cNvPr id="271" name="Shape 269"/>
          <p:cNvSpPr/>
          <p:nvPr/>
        </p:nvSpPr>
        <p:spPr>
          <a:xfrm>
            <a:off x="11430000" y="3566160"/>
            <a:ext cx="320040" cy="914"/>
          </a:xfrm>
          <a:prstGeom prst="line">
            <a:avLst/>
          </a:prstGeom>
          <a:noFill/>
          <a:ln w="5080">
            <a:solidFill>
              <a:srgbClr val="D5DCE5"/>
            </a:solidFill>
            <a:prstDash val="solid"/>
          </a:ln>
        </p:spPr>
      </p:sp>
      <p:sp>
        <p:nvSpPr>
          <p:cNvPr id="272" name="Text 270"/>
          <p:cNvSpPr txBox="1"/>
          <p:nvPr/>
        </p:nvSpPr>
        <p:spPr>
          <a:xfrm>
            <a:off x="11430000" y="2057400"/>
            <a:ext cx="45720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out</a:t>
            </a:r>
            <a:endParaRPr lang="en-US" sz="700" dirty="0"/>
          </a:p>
        </p:txBody>
      </p:sp>
      <p:sp>
        <p:nvSpPr>
          <p:cNvPr id="273" name="Shape 271"/>
          <p:cNvSpPr/>
          <p:nvPr/>
        </p:nvSpPr>
        <p:spPr>
          <a:xfrm flipV="1">
            <a:off x="10808208" y="2834640"/>
            <a:ext cx="164592" cy="57150"/>
          </a:xfrm>
          <a:prstGeom prst="line">
            <a:avLst/>
          </a:prstGeom>
          <a:noFill/>
          <a:ln w="15240">
            <a:solidFill>
              <a:srgbClr val="6C4FBF"/>
            </a:solidFill>
            <a:prstDash val="solid"/>
            <a:tailEnd type="triangle"/>
          </a:ln>
        </p:spPr>
      </p:sp>
      <p:sp>
        <p:nvSpPr>
          <p:cNvPr id="274" name="Shape 272"/>
          <p:cNvSpPr/>
          <p:nvPr/>
        </p:nvSpPr>
        <p:spPr>
          <a:xfrm>
            <a:off x="11311128" y="2834640"/>
            <a:ext cx="118872" cy="914"/>
          </a:xfrm>
          <a:prstGeom prst="line">
            <a:avLst/>
          </a:prstGeom>
          <a:noFill/>
          <a:ln w="15240">
            <a:solidFill>
              <a:srgbClr val="2E7D32"/>
            </a:solidFill>
            <a:prstDash val="solid"/>
            <a:tailEnd type="triangle"/>
          </a:ln>
        </p:spPr>
      </p:sp>
      <p:sp>
        <p:nvSpPr>
          <p:cNvPr id="275" name="Text 273"/>
          <p:cNvSpPr txBox="1"/>
          <p:nvPr/>
        </p:nvSpPr>
        <p:spPr>
          <a:xfrm>
            <a:off x="6629400" y="4160520"/>
            <a:ext cx="5120640" cy="1645920"/>
          </a:xfrm>
          <a:prstGeom prst="rect">
            <a:avLst/>
          </a:prstGeom>
          <a:noFill/>
          <a:ln/>
        </p:spPr>
        <p:txBody>
          <a:bodyPr wrap="square" lIns="0" tIns="0" rIns="0" bIns="0" rtlCol="0" anchor="t"/>
          <a:lstStyle/>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schedule: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row block을 head loop 바깥에 (reorder) → block마다 모든 head. scores·max·exp·sum·PV acc는 SRAM에만</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block 크기: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가장 큰 block부터, SRAM 초과 시 반분 (floor = min(rows,64)). K/V는 block마다 재읽기</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S=3072: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24-head score 432 MiB → head 1개 64행 block 384 KiB. 조건: rank-3 FP16, m·d·t 64배수 (decode m=1은 제외)</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없는 것: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key 방향 online softmax (FlashAttention). 한 block이 행 전체를 가져 softmax는 정확</a:t>
            </a:r>
            <a:endParaRPr lang="en-US" sz="800" dirty="0"/>
          </a:p>
        </p:txBody>
      </p:sp>
      <p:sp>
        <p:nvSpPr>
          <p:cNvPr id="276" name="Shape 274"/>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277" name="Text 275"/>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words는 짧은 vector 행과 descriptor 반복에 좌우되고, attention은 384 KiB score만이 아니라 K/V·mask·확률·출력이 함께 SRAM에 있어야 합니다.</a:t>
            </a:r>
            <a:endParaRPr lang="en-US" sz="1250" dirty="0"/>
          </a:p>
        </p:txBody>
      </p:sp>
      <p:sp>
        <p:nvSpPr>
          <p:cNvPr id="278" name="Text 276"/>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279" name="Text 277"/>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tir_codegen_v09.py (_materialize, _sigmoid), docs/examples/pipeline/09_packets.json, npu_intrin.schedule_attention_blocked, npu_schedule._fit_attention</a:t>
            </a:r>
            <a:endParaRPr lang="en-US" sz="850" dirty="0"/>
          </a:p>
        </p:txBody>
      </p:sp>
      <p:sp>
        <p:nvSpPr>
          <p:cNvPr id="280" name="Text 278"/>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8 / 13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④ 메모리</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메모리 계획: DRAM pool, 커널 안의 offset 공유, 커널 사이 SRAM 보관</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① TVM StaticPlanBlockMemory가 수명이 겹치지 않는 tensor를 같은 pool에 두고 backend가 flat 주소를 줍니다. ② USMP가 커널 buffer의 충돌을 분석해 offset을 공유합니다. ③ 보관 탐색이 중간값 H를 SRAM 위쪽에 예약하고 남은 용량으로 커널을 다시 schedule합니다.</a:t>
            </a:r>
            <a:endParaRPr lang="en-US" sz="1250" dirty="0"/>
          </a:p>
        </p:txBody>
      </p:sp>
      <p:sp>
        <p:nvSpPr>
          <p:cNvPr id="5" name="Text 3"/>
          <p:cNvSpPr txBox="1"/>
          <p:nvPr/>
        </p:nvSpPr>
        <p:spPr>
          <a:xfrm>
            <a:off x="457200" y="1371600"/>
            <a:ext cx="10972800" cy="201168"/>
          </a:xfrm>
          <a:prstGeom prst="rect">
            <a:avLst/>
          </a:prstGeom>
          <a:noFill/>
          <a:ln/>
        </p:spPr>
        <p:txBody>
          <a:bodyPr wrap="square" lIns="0" tIns="0" rIns="0" bIns="0" rtlCol="0" anchor="t"/>
          <a:lstStyle/>
          <a:p>
            <a:pPr algn="l" indent="0" marL="0">
              <a:buNone/>
            </a:pPr>
            <a:r>
              <a:rPr lang="en-US" sz="850" b="1" dirty="0">
                <a:solidFill>
                  <a:srgbClr val="D98A1E"/>
                </a:solidFill>
                <a:latin typeface="Malgun Gothic" pitchFamily="34" charset="0"/>
                <a:ea typeface="Malgun Gothic" pitchFamily="34" charset="-122"/>
                <a:cs typeface="Malgun Gothic" pitchFamily="34" charset="-120"/>
              </a:rPr>
              <a:t>① DRAM image (flat, unit 2 B): parameter → 상수 → storage pool(수명 안 겹치는 tensor 공유) → 출력 → literal</a:t>
            </a:r>
            <a:endParaRPr lang="en-US" sz="850" dirty="0"/>
          </a:p>
        </p:txBody>
      </p:sp>
      <p:sp>
        <p:nvSpPr>
          <p:cNvPr id="6" name="Shape 4"/>
          <p:cNvSpPr/>
          <p:nvPr/>
        </p:nvSpPr>
        <p:spPr>
          <a:xfrm>
            <a:off x="457200" y="1591056"/>
            <a:ext cx="11274552" cy="347472"/>
          </a:xfrm>
          <a:prstGeom prst="rect">
            <a:avLst/>
          </a:prstGeom>
          <a:solidFill>
            <a:srgbClr val="EEF2F6"/>
          </a:solidFill>
          <a:ln w="9525">
            <a:solidFill>
              <a:srgbClr val="C9D3DF"/>
            </a:solidFill>
            <a:prstDash val="solid"/>
          </a:ln>
        </p:spPr>
      </p:sp>
      <p:sp>
        <p:nvSpPr>
          <p:cNvPr id="7" name="Shape 5"/>
          <p:cNvSpPr/>
          <p:nvPr/>
        </p:nvSpPr>
        <p:spPr>
          <a:xfrm>
            <a:off x="457200" y="1591056"/>
            <a:ext cx="3382366" cy="347472"/>
          </a:xfrm>
          <a:prstGeom prst="rect">
            <a:avLst/>
          </a:prstGeom>
          <a:solidFill>
            <a:srgbClr val="FFF1DC"/>
          </a:solidFill>
          <a:ln w="12700">
            <a:solidFill>
              <a:srgbClr val="D98A1E"/>
            </a:solidFill>
            <a:prstDash val="solid"/>
          </a:ln>
        </p:spPr>
      </p:sp>
      <p:sp>
        <p:nvSpPr>
          <p:cNvPr id="8" name="Text 6"/>
          <p:cNvSpPr txBox="1"/>
          <p:nvPr/>
        </p:nvSpPr>
        <p:spPr>
          <a:xfrm>
            <a:off x="457200" y="1591056"/>
            <a:ext cx="3382366" cy="34747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parameter leaves (변환된 순서)</a:t>
            </a:r>
            <a:endParaRPr lang="en-US" sz="750" dirty="0"/>
          </a:p>
        </p:txBody>
      </p:sp>
      <p:sp>
        <p:nvSpPr>
          <p:cNvPr id="9" name="Shape 7"/>
          <p:cNvSpPr/>
          <p:nvPr/>
        </p:nvSpPr>
        <p:spPr>
          <a:xfrm>
            <a:off x="3839566" y="1591056"/>
            <a:ext cx="901964" cy="347472"/>
          </a:xfrm>
          <a:prstGeom prst="rect">
            <a:avLst/>
          </a:prstGeom>
          <a:solidFill>
            <a:srgbClr val="EEF1F5"/>
          </a:solidFill>
          <a:ln w="12700">
            <a:solidFill>
              <a:srgbClr val="5B6B7F"/>
            </a:solidFill>
            <a:prstDash val="solid"/>
          </a:ln>
        </p:spPr>
      </p:sp>
      <p:sp>
        <p:nvSpPr>
          <p:cNvPr id="10" name="Text 8"/>
          <p:cNvSpPr txBox="1"/>
          <p:nvPr/>
        </p:nvSpPr>
        <p:spPr>
          <a:xfrm>
            <a:off x="3839566" y="1591056"/>
            <a:ext cx="901964" cy="34747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graph 상수</a:t>
            </a:r>
            <a:endParaRPr lang="en-US" sz="750" dirty="0"/>
          </a:p>
        </p:txBody>
      </p:sp>
      <p:sp>
        <p:nvSpPr>
          <p:cNvPr id="11" name="Shape 9"/>
          <p:cNvSpPr/>
          <p:nvPr/>
        </p:nvSpPr>
        <p:spPr>
          <a:xfrm>
            <a:off x="4741530" y="1591056"/>
            <a:ext cx="2029419" cy="347472"/>
          </a:xfrm>
          <a:prstGeom prst="rect">
            <a:avLst/>
          </a:prstGeom>
          <a:solidFill>
            <a:srgbClr val="E3EEFB"/>
          </a:solidFill>
          <a:ln w="12700">
            <a:solidFill>
              <a:srgbClr val="2F6DB5"/>
            </a:solidFill>
            <a:prstDash val="solid"/>
          </a:ln>
        </p:spPr>
      </p:sp>
      <p:sp>
        <p:nvSpPr>
          <p:cNvPr id="12" name="Text 10"/>
          <p:cNvSpPr txBox="1"/>
          <p:nvPr/>
        </p:nvSpPr>
        <p:spPr>
          <a:xfrm>
            <a:off x="4741530" y="1591056"/>
            <a:ext cx="2029419" cy="34747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pool A: G → U 재사용</a:t>
            </a:r>
            <a:endParaRPr lang="en-US" sz="750" dirty="0"/>
          </a:p>
        </p:txBody>
      </p:sp>
      <p:sp>
        <p:nvSpPr>
          <p:cNvPr id="13" name="Shape 11"/>
          <p:cNvSpPr/>
          <p:nvPr/>
        </p:nvSpPr>
        <p:spPr>
          <a:xfrm>
            <a:off x="6770949" y="1591056"/>
            <a:ext cx="1578437" cy="347472"/>
          </a:xfrm>
          <a:prstGeom prst="rect">
            <a:avLst/>
          </a:prstGeom>
          <a:solidFill>
            <a:srgbClr val="E3EEFB"/>
          </a:solidFill>
          <a:ln w="12700">
            <a:solidFill>
              <a:srgbClr val="2F6DB5"/>
            </a:solidFill>
            <a:prstDash val="solid"/>
          </a:ln>
        </p:spPr>
      </p:sp>
      <p:sp>
        <p:nvSpPr>
          <p:cNvPr id="14" name="Text 12"/>
          <p:cNvSpPr txBox="1"/>
          <p:nvPr/>
        </p:nvSpPr>
        <p:spPr>
          <a:xfrm>
            <a:off x="6770949" y="1591056"/>
            <a:ext cx="1578437" cy="34747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pool B: S → H</a:t>
            </a:r>
            <a:endParaRPr lang="en-US" sz="750" dirty="0"/>
          </a:p>
        </p:txBody>
      </p:sp>
      <p:sp>
        <p:nvSpPr>
          <p:cNvPr id="15" name="Shape 13"/>
          <p:cNvSpPr/>
          <p:nvPr/>
        </p:nvSpPr>
        <p:spPr>
          <a:xfrm>
            <a:off x="8349386" y="1591056"/>
            <a:ext cx="1803928" cy="347472"/>
          </a:xfrm>
          <a:prstGeom prst="rect">
            <a:avLst/>
          </a:prstGeom>
          <a:solidFill>
            <a:srgbClr val="ECE6FA"/>
          </a:solidFill>
          <a:ln w="12700">
            <a:solidFill>
              <a:srgbClr val="6C4FBF"/>
            </a:solidFill>
            <a:prstDash val="solid"/>
          </a:ln>
        </p:spPr>
      </p:sp>
      <p:sp>
        <p:nvSpPr>
          <p:cNvPr id="16" name="Text 14"/>
          <p:cNvSpPr txBox="1"/>
          <p:nvPr/>
        </p:nvSpPr>
        <p:spPr>
          <a:xfrm>
            <a:off x="8349386" y="1591056"/>
            <a:ext cx="1803928" cy="34747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출력 tree</a:t>
            </a:r>
            <a:endParaRPr lang="en-US" sz="750" dirty="0"/>
          </a:p>
        </p:txBody>
      </p:sp>
      <p:sp>
        <p:nvSpPr>
          <p:cNvPr id="17" name="Shape 15"/>
          <p:cNvSpPr/>
          <p:nvPr/>
        </p:nvSpPr>
        <p:spPr>
          <a:xfrm>
            <a:off x="10153315" y="1591056"/>
            <a:ext cx="1578437" cy="347472"/>
          </a:xfrm>
          <a:prstGeom prst="rect">
            <a:avLst/>
          </a:prstGeom>
          <a:solidFill>
            <a:srgbClr val="EEF2F6"/>
          </a:solidFill>
          <a:ln w="12700">
            <a:solidFill>
              <a:srgbClr val="C9D3DF"/>
            </a:solidFill>
            <a:prstDash val="solid"/>
          </a:ln>
        </p:spPr>
      </p:sp>
      <p:sp>
        <p:nvSpPr>
          <p:cNvPr id="18" name="Text 16"/>
          <p:cNvSpPr txBox="1"/>
          <p:nvPr/>
        </p:nvSpPr>
        <p:spPr>
          <a:xfrm>
            <a:off x="10153315" y="1591056"/>
            <a:ext cx="1578437" cy="347472"/>
          </a:xfrm>
          <a:prstGeom prst="rect">
            <a:avLst/>
          </a:prstGeom>
          <a:noFill/>
          <a:ln/>
        </p:spPr>
        <p:txBody>
          <a:bodyPr wrap="square" lIns="0" tIns="0" rIns="0" bIns="0" rtlCol="0" anchor="ctr"/>
          <a:lstStyle/>
          <a:p>
            <a:pPr algn="ctr" indent="0" marL="0">
              <a:buNone/>
            </a:pPr>
            <a:r>
              <a:rPr lang="en-US" sz="750" b="1" dirty="0">
                <a:solidFill>
                  <a:srgbClr val="1F2D3D"/>
                </a:solidFill>
                <a:latin typeface="Malgun Gothic" pitchFamily="34" charset="0"/>
                <a:ea typeface="Malgun Gothic" pitchFamily="34" charset="-122"/>
                <a:cs typeface="Malgun Gothic" pitchFamily="34" charset="-120"/>
              </a:rPr>
              <a:t>literal · FP32 1.0</a:t>
            </a:r>
            <a:endParaRPr lang="en-US" sz="750" dirty="0"/>
          </a:p>
        </p:txBody>
      </p:sp>
      <p:sp>
        <p:nvSpPr>
          <p:cNvPr id="19" name="Text 17"/>
          <p:cNvSpPr txBox="1"/>
          <p:nvPr/>
        </p:nvSpPr>
        <p:spPr>
          <a:xfrm>
            <a:off x="493776" y="2514600"/>
            <a:ext cx="2194560" cy="300446"/>
          </a:xfrm>
          <a:prstGeom prst="rect">
            <a:avLst/>
          </a:prstGeom>
          <a:noFill/>
          <a:ln/>
        </p:spPr>
        <p:txBody>
          <a:bodyPr wrap="square" lIns="0" tIns="0" rIns="0" bIns="0" rtlCol="0" anchor="ctr"/>
          <a:lstStyle/>
          <a:p>
            <a:pPr algn="r" indent="0" marL="0">
              <a:buNone/>
            </a:pPr>
            <a:r>
              <a:rPr lang="en-US" sz="750" b="1" dirty="0">
                <a:solidFill>
                  <a:srgbClr val="C0392B"/>
                </a:solidFill>
                <a:latin typeface="Malgun Gothic" pitchFamily="34" charset="0"/>
                <a:ea typeface="Malgun Gothic" pitchFamily="34" charset="-122"/>
                <a:cs typeface="Malgun Gothic" pitchFamily="34" charset="-120"/>
              </a:rPr>
              <a:t>matmul acc 목적지 (pinned)</a:t>
            </a:r>
            <a:endParaRPr lang="en-US" sz="750" dirty="0"/>
          </a:p>
        </p:txBody>
      </p:sp>
      <p:sp>
        <p:nvSpPr>
          <p:cNvPr id="20" name="Shape 18"/>
          <p:cNvSpPr/>
          <p:nvPr/>
        </p:nvSpPr>
        <p:spPr>
          <a:xfrm>
            <a:off x="2743200" y="2556662"/>
            <a:ext cx="3566160" cy="216321"/>
          </a:xfrm>
          <a:prstGeom prst="rect">
            <a:avLst/>
          </a:prstGeom>
          <a:solidFill>
            <a:srgbClr val="EEF2F6"/>
          </a:solidFill>
          <a:ln w="12700">
            <a:solidFill>
              <a:srgbClr val="EEF2F6"/>
            </a:solidFill>
            <a:prstDash val="solid"/>
          </a:ln>
        </p:spPr>
      </p:sp>
      <p:sp>
        <p:nvSpPr>
          <p:cNvPr id="21" name="Shape 19"/>
          <p:cNvSpPr/>
          <p:nvPr/>
        </p:nvSpPr>
        <p:spPr>
          <a:xfrm>
            <a:off x="2743200" y="2556662"/>
            <a:ext cx="713232" cy="216321"/>
          </a:xfrm>
          <a:prstGeom prst="rect">
            <a:avLst/>
          </a:prstGeom>
          <a:solidFill>
            <a:srgbClr val="ECE6FA"/>
          </a:solidFill>
          <a:ln w="19050">
            <a:solidFill>
              <a:srgbClr val="C0392B"/>
            </a:solidFill>
            <a:prstDash val="solid"/>
          </a:ln>
        </p:spPr>
      </p:sp>
      <p:sp>
        <p:nvSpPr>
          <p:cNvPr id="22" name="Text 20"/>
          <p:cNvSpPr txBox="1"/>
          <p:nvPr/>
        </p:nvSpPr>
        <p:spPr>
          <a:xfrm>
            <a:off x="493776" y="2815046"/>
            <a:ext cx="2194560" cy="300446"/>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T_add (A)</a:t>
            </a:r>
            <a:endParaRPr lang="en-US" sz="750" dirty="0"/>
          </a:p>
        </p:txBody>
      </p:sp>
      <p:sp>
        <p:nvSpPr>
          <p:cNvPr id="23" name="Shape 21"/>
          <p:cNvSpPr/>
          <p:nvPr/>
        </p:nvSpPr>
        <p:spPr>
          <a:xfrm>
            <a:off x="2743200" y="2857108"/>
            <a:ext cx="3566160" cy="216321"/>
          </a:xfrm>
          <a:prstGeom prst="rect">
            <a:avLst/>
          </a:prstGeom>
          <a:solidFill>
            <a:srgbClr val="EEF2F6"/>
          </a:solidFill>
          <a:ln w="12700">
            <a:solidFill>
              <a:srgbClr val="EEF2F6"/>
            </a:solidFill>
            <a:prstDash val="solid"/>
          </a:ln>
        </p:spPr>
      </p:sp>
      <p:sp>
        <p:nvSpPr>
          <p:cNvPr id="24" name="Shape 22"/>
          <p:cNvSpPr/>
          <p:nvPr/>
        </p:nvSpPr>
        <p:spPr>
          <a:xfrm>
            <a:off x="3456432" y="2857108"/>
            <a:ext cx="713232" cy="216321"/>
          </a:xfrm>
          <a:prstGeom prst="rect">
            <a:avLst/>
          </a:prstGeom>
          <a:solidFill>
            <a:srgbClr val="DDF3F0"/>
          </a:solidFill>
          <a:ln w="9525">
            <a:solidFill>
              <a:srgbClr val="1F8A8A"/>
            </a:solidFill>
            <a:prstDash val="solid"/>
          </a:ln>
        </p:spPr>
      </p:sp>
      <p:sp>
        <p:nvSpPr>
          <p:cNvPr id="25" name="Text 23"/>
          <p:cNvSpPr txBox="1"/>
          <p:nvPr/>
        </p:nvSpPr>
        <p:spPr>
          <a:xfrm>
            <a:off x="493776" y="3115491"/>
            <a:ext cx="2194560" cy="300446"/>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Wᵀ panel</a:t>
            </a:r>
            <a:endParaRPr lang="en-US" sz="750" dirty="0"/>
          </a:p>
        </p:txBody>
      </p:sp>
      <p:sp>
        <p:nvSpPr>
          <p:cNvPr id="26" name="Shape 24"/>
          <p:cNvSpPr/>
          <p:nvPr/>
        </p:nvSpPr>
        <p:spPr>
          <a:xfrm>
            <a:off x="2743200" y="3157554"/>
            <a:ext cx="3566160" cy="216321"/>
          </a:xfrm>
          <a:prstGeom prst="rect">
            <a:avLst/>
          </a:prstGeom>
          <a:solidFill>
            <a:srgbClr val="EEF2F6"/>
          </a:solidFill>
          <a:ln w="12700">
            <a:solidFill>
              <a:srgbClr val="EEF2F6"/>
            </a:solidFill>
            <a:prstDash val="solid"/>
          </a:ln>
        </p:spPr>
      </p:sp>
      <p:sp>
        <p:nvSpPr>
          <p:cNvPr id="27" name="Shape 25"/>
          <p:cNvSpPr/>
          <p:nvPr/>
        </p:nvSpPr>
        <p:spPr>
          <a:xfrm>
            <a:off x="3456432" y="3157554"/>
            <a:ext cx="1426464" cy="216321"/>
          </a:xfrm>
          <a:prstGeom prst="rect">
            <a:avLst/>
          </a:prstGeom>
          <a:solidFill>
            <a:srgbClr val="FFF1DC"/>
          </a:solidFill>
          <a:ln w="9525">
            <a:solidFill>
              <a:srgbClr val="D98A1E"/>
            </a:solidFill>
            <a:prstDash val="solid"/>
          </a:ln>
        </p:spPr>
      </p:sp>
      <p:sp>
        <p:nvSpPr>
          <p:cNvPr id="28" name="Text 26"/>
          <p:cNvSpPr txBox="1"/>
          <p:nvPr/>
        </p:nvSpPr>
        <p:spPr>
          <a:xfrm>
            <a:off x="3456432" y="3157554"/>
            <a:ext cx="1426464" cy="216321"/>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공유</a:t>
            </a:r>
            <a:endParaRPr lang="en-US" sz="650" dirty="0"/>
          </a:p>
        </p:txBody>
      </p:sp>
      <p:sp>
        <p:nvSpPr>
          <p:cNvPr id="29" name="Text 27"/>
          <p:cNvSpPr txBox="1"/>
          <p:nvPr/>
        </p:nvSpPr>
        <p:spPr>
          <a:xfrm>
            <a:off x="493776" y="3415937"/>
            <a:ext cx="2194560" cy="300446"/>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P f16 / Y (수명 안 겹침)</a:t>
            </a:r>
            <a:endParaRPr lang="en-US" sz="750" dirty="0"/>
          </a:p>
        </p:txBody>
      </p:sp>
      <p:sp>
        <p:nvSpPr>
          <p:cNvPr id="30" name="Shape 28"/>
          <p:cNvSpPr/>
          <p:nvPr/>
        </p:nvSpPr>
        <p:spPr>
          <a:xfrm>
            <a:off x="2743200" y="3458000"/>
            <a:ext cx="3566160" cy="216321"/>
          </a:xfrm>
          <a:prstGeom prst="rect">
            <a:avLst/>
          </a:prstGeom>
          <a:solidFill>
            <a:srgbClr val="EEF2F6"/>
          </a:solidFill>
          <a:ln w="12700">
            <a:solidFill>
              <a:srgbClr val="EEF2F6"/>
            </a:solidFill>
            <a:prstDash val="solid"/>
          </a:ln>
        </p:spPr>
      </p:sp>
      <p:sp>
        <p:nvSpPr>
          <p:cNvPr id="31" name="Shape 29"/>
          <p:cNvSpPr/>
          <p:nvPr/>
        </p:nvSpPr>
        <p:spPr>
          <a:xfrm>
            <a:off x="4169664" y="3458000"/>
            <a:ext cx="713232" cy="216321"/>
          </a:xfrm>
          <a:prstGeom prst="rect">
            <a:avLst/>
          </a:prstGeom>
          <a:solidFill>
            <a:srgbClr val="DDF3F0"/>
          </a:solidFill>
          <a:ln w="9525">
            <a:solidFill>
              <a:srgbClr val="1F8A8A"/>
            </a:solidFill>
            <a:prstDash val="solid"/>
          </a:ln>
        </p:spPr>
      </p:sp>
      <p:sp>
        <p:nvSpPr>
          <p:cNvPr id="32" name="Text 30"/>
          <p:cNvSpPr txBox="1"/>
          <p:nvPr/>
        </p:nvSpPr>
        <p:spPr>
          <a:xfrm>
            <a:off x="4169664" y="3458000"/>
            <a:ext cx="914400" cy="216321"/>
          </a:xfrm>
          <a:prstGeom prst="rect">
            <a:avLst/>
          </a:prstGeom>
          <a:noFill/>
          <a:ln/>
        </p:spPr>
        <p:txBody>
          <a:bodyPr wrap="square" lIns="0" tIns="0" rIns="0" bIns="0" rtlCol="0" anchor="ctr"/>
          <a:lstStyle/>
          <a:p>
            <a:pPr algn="l" indent="0" marL="0">
              <a:buNone/>
            </a:pPr>
            <a:r>
              <a:rPr lang="en-US" sz="650" dirty="0">
                <a:solidFill>
                  <a:srgbClr val="1F2D3D"/>
                </a:solidFill>
                <a:latin typeface="Malgun Gothic" pitchFamily="34" charset="0"/>
                <a:ea typeface="Malgun Gothic" pitchFamily="34" charset="-122"/>
                <a:cs typeface="Malgun Gothic" pitchFamily="34" charset="-120"/>
              </a:rPr>
              <a:t>공유</a:t>
            </a:r>
            <a:endParaRPr lang="en-US" sz="650" dirty="0"/>
          </a:p>
        </p:txBody>
      </p:sp>
      <p:sp>
        <p:nvSpPr>
          <p:cNvPr id="33" name="Text 31"/>
          <p:cNvSpPr txBox="1"/>
          <p:nvPr/>
        </p:nvSpPr>
        <p:spPr>
          <a:xfrm>
            <a:off x="493776" y="3716383"/>
            <a:ext cx="2194560" cy="300446"/>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sigmoid 결과</a:t>
            </a:r>
            <a:endParaRPr lang="en-US" sz="750" dirty="0"/>
          </a:p>
        </p:txBody>
      </p:sp>
      <p:sp>
        <p:nvSpPr>
          <p:cNvPr id="34" name="Shape 32"/>
          <p:cNvSpPr/>
          <p:nvPr/>
        </p:nvSpPr>
        <p:spPr>
          <a:xfrm>
            <a:off x="2743200" y="3758445"/>
            <a:ext cx="3566160" cy="216321"/>
          </a:xfrm>
          <a:prstGeom prst="rect">
            <a:avLst/>
          </a:prstGeom>
          <a:solidFill>
            <a:srgbClr val="EEF2F6"/>
          </a:solidFill>
          <a:ln w="12700">
            <a:solidFill>
              <a:srgbClr val="EEF2F6"/>
            </a:solidFill>
            <a:prstDash val="solid"/>
          </a:ln>
        </p:spPr>
      </p:sp>
      <p:sp>
        <p:nvSpPr>
          <p:cNvPr id="35" name="Shape 33"/>
          <p:cNvSpPr/>
          <p:nvPr/>
        </p:nvSpPr>
        <p:spPr>
          <a:xfrm>
            <a:off x="4882896" y="3758445"/>
            <a:ext cx="713232" cy="216321"/>
          </a:xfrm>
          <a:prstGeom prst="rect">
            <a:avLst/>
          </a:prstGeom>
          <a:solidFill>
            <a:srgbClr val="DDF3F0"/>
          </a:solidFill>
          <a:ln w="9525">
            <a:solidFill>
              <a:srgbClr val="1F8A8A"/>
            </a:solidFill>
            <a:prstDash val="solid"/>
          </a:ln>
        </p:spPr>
      </p:sp>
      <p:sp>
        <p:nvSpPr>
          <p:cNvPr id="36" name="Text 34"/>
          <p:cNvSpPr txBox="1"/>
          <p:nvPr/>
        </p:nvSpPr>
        <p:spPr>
          <a:xfrm>
            <a:off x="493776" y="4016829"/>
            <a:ext cx="2194560" cy="300446"/>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bias (256 nib)</a:t>
            </a:r>
            <a:endParaRPr lang="en-US" sz="750" dirty="0"/>
          </a:p>
        </p:txBody>
      </p:sp>
      <p:sp>
        <p:nvSpPr>
          <p:cNvPr id="37" name="Shape 35"/>
          <p:cNvSpPr/>
          <p:nvPr/>
        </p:nvSpPr>
        <p:spPr>
          <a:xfrm>
            <a:off x="2743200" y="4058891"/>
            <a:ext cx="3566160" cy="216321"/>
          </a:xfrm>
          <a:prstGeom prst="rect">
            <a:avLst/>
          </a:prstGeom>
          <a:solidFill>
            <a:srgbClr val="EEF2F6"/>
          </a:solidFill>
          <a:ln w="12700">
            <a:solidFill>
              <a:srgbClr val="EEF2F6"/>
            </a:solidFill>
            <a:prstDash val="solid"/>
          </a:ln>
        </p:spPr>
      </p:sp>
      <p:sp>
        <p:nvSpPr>
          <p:cNvPr id="38" name="Shape 36"/>
          <p:cNvSpPr/>
          <p:nvPr/>
        </p:nvSpPr>
        <p:spPr>
          <a:xfrm>
            <a:off x="4882896" y="4058891"/>
            <a:ext cx="18288" cy="216321"/>
          </a:xfrm>
          <a:prstGeom prst="rect">
            <a:avLst/>
          </a:prstGeom>
          <a:solidFill>
            <a:srgbClr val="E3EEFB"/>
          </a:solidFill>
          <a:ln w="9525">
            <a:solidFill>
              <a:srgbClr val="2F6DB5"/>
            </a:solidFill>
            <a:prstDash val="solid"/>
          </a:ln>
        </p:spPr>
      </p:sp>
      <p:sp>
        <p:nvSpPr>
          <p:cNvPr id="39" name="Text 37"/>
          <p:cNvSpPr txBox="1"/>
          <p:nvPr/>
        </p:nvSpPr>
        <p:spPr>
          <a:xfrm>
            <a:off x="493776" y="4317274"/>
            <a:ext cx="2194560" cy="300446"/>
          </a:xfrm>
          <a:prstGeom prst="rect">
            <a:avLst/>
          </a:prstGeom>
          <a:noFill/>
          <a:ln/>
        </p:spPr>
        <p:txBody>
          <a:bodyPr wrap="square" lIns="0" tIns="0" rIns="0" bIns="0" rtlCol="0" anchor="ct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X panel</a:t>
            </a:r>
            <a:endParaRPr lang="en-US" sz="750" dirty="0"/>
          </a:p>
        </p:txBody>
      </p:sp>
      <p:sp>
        <p:nvSpPr>
          <p:cNvPr id="40" name="Shape 38"/>
          <p:cNvSpPr/>
          <p:nvPr/>
        </p:nvSpPr>
        <p:spPr>
          <a:xfrm>
            <a:off x="2743200" y="4359337"/>
            <a:ext cx="3566160" cy="216321"/>
          </a:xfrm>
          <a:prstGeom prst="rect">
            <a:avLst/>
          </a:prstGeom>
          <a:solidFill>
            <a:srgbClr val="EEF2F6"/>
          </a:solidFill>
          <a:ln w="12700">
            <a:solidFill>
              <a:srgbClr val="EEF2F6"/>
            </a:solidFill>
            <a:prstDash val="solid"/>
          </a:ln>
        </p:spPr>
      </p:sp>
      <p:sp>
        <p:nvSpPr>
          <p:cNvPr id="41" name="Shape 39"/>
          <p:cNvSpPr/>
          <p:nvPr/>
        </p:nvSpPr>
        <p:spPr>
          <a:xfrm>
            <a:off x="4882896" y="4359337"/>
            <a:ext cx="1426464" cy="216321"/>
          </a:xfrm>
          <a:prstGeom prst="rect">
            <a:avLst/>
          </a:prstGeom>
          <a:solidFill>
            <a:srgbClr val="FFF1DC"/>
          </a:solidFill>
          <a:ln w="9525">
            <a:solidFill>
              <a:srgbClr val="D98A1E"/>
            </a:solidFill>
            <a:prstDash val="solid"/>
          </a:ln>
        </p:spPr>
      </p:sp>
      <p:sp>
        <p:nvSpPr>
          <p:cNvPr id="42" name="Text 40"/>
          <p:cNvSpPr txBox="1"/>
          <p:nvPr/>
        </p:nvSpPr>
        <p:spPr>
          <a:xfrm>
            <a:off x="4882896" y="4359337"/>
            <a:ext cx="1426464" cy="216321"/>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공유</a:t>
            </a:r>
            <a:endParaRPr lang="en-US" sz="650" dirty="0"/>
          </a:p>
        </p:txBody>
      </p:sp>
      <p:sp>
        <p:nvSpPr>
          <p:cNvPr id="43" name="Shape 41"/>
          <p:cNvSpPr/>
          <p:nvPr/>
        </p:nvSpPr>
        <p:spPr>
          <a:xfrm>
            <a:off x="2743200" y="2514600"/>
            <a:ext cx="914" cy="2103120"/>
          </a:xfrm>
          <a:prstGeom prst="line">
            <a:avLst/>
          </a:prstGeom>
          <a:noFill/>
          <a:ln w="6350">
            <a:solidFill>
              <a:srgbClr val="C9D3DF"/>
            </a:solidFill>
            <a:prstDash val="dash"/>
          </a:ln>
        </p:spPr>
      </p:sp>
      <p:sp>
        <p:nvSpPr>
          <p:cNvPr id="44" name="Text 42"/>
          <p:cNvSpPr txBox="1"/>
          <p:nvPr/>
        </p:nvSpPr>
        <p:spPr>
          <a:xfrm>
            <a:off x="2331720" y="463600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0</a:t>
            </a:r>
            <a:endParaRPr lang="en-US" sz="700" dirty="0"/>
          </a:p>
        </p:txBody>
      </p:sp>
      <p:sp>
        <p:nvSpPr>
          <p:cNvPr id="45" name="Shape 43"/>
          <p:cNvSpPr/>
          <p:nvPr/>
        </p:nvSpPr>
        <p:spPr>
          <a:xfrm>
            <a:off x="3456432" y="2514600"/>
            <a:ext cx="914" cy="2103120"/>
          </a:xfrm>
          <a:prstGeom prst="line">
            <a:avLst/>
          </a:prstGeom>
          <a:noFill/>
          <a:ln w="6350">
            <a:solidFill>
              <a:srgbClr val="C9D3DF"/>
            </a:solidFill>
            <a:prstDash val="dash"/>
          </a:ln>
        </p:spPr>
      </p:sp>
      <p:sp>
        <p:nvSpPr>
          <p:cNvPr id="46" name="Text 44"/>
          <p:cNvSpPr txBox="1"/>
          <p:nvPr/>
        </p:nvSpPr>
        <p:spPr>
          <a:xfrm>
            <a:off x="3044952" y="463600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16384</a:t>
            </a:r>
            <a:endParaRPr lang="en-US" sz="700" dirty="0"/>
          </a:p>
        </p:txBody>
      </p:sp>
      <p:sp>
        <p:nvSpPr>
          <p:cNvPr id="47" name="Shape 45"/>
          <p:cNvSpPr/>
          <p:nvPr/>
        </p:nvSpPr>
        <p:spPr>
          <a:xfrm>
            <a:off x="4169664" y="2514600"/>
            <a:ext cx="914" cy="2103120"/>
          </a:xfrm>
          <a:prstGeom prst="line">
            <a:avLst/>
          </a:prstGeom>
          <a:noFill/>
          <a:ln w="6350">
            <a:solidFill>
              <a:srgbClr val="C9D3DF"/>
            </a:solidFill>
            <a:prstDash val="dash"/>
          </a:ln>
        </p:spPr>
      </p:sp>
      <p:sp>
        <p:nvSpPr>
          <p:cNvPr id="48" name="Text 46"/>
          <p:cNvSpPr txBox="1"/>
          <p:nvPr/>
        </p:nvSpPr>
        <p:spPr>
          <a:xfrm>
            <a:off x="3758184" y="463600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32768</a:t>
            </a:r>
            <a:endParaRPr lang="en-US" sz="700" dirty="0"/>
          </a:p>
        </p:txBody>
      </p:sp>
      <p:sp>
        <p:nvSpPr>
          <p:cNvPr id="49" name="Shape 47"/>
          <p:cNvSpPr/>
          <p:nvPr/>
        </p:nvSpPr>
        <p:spPr>
          <a:xfrm>
            <a:off x="4882896" y="2514600"/>
            <a:ext cx="914" cy="2103120"/>
          </a:xfrm>
          <a:prstGeom prst="line">
            <a:avLst/>
          </a:prstGeom>
          <a:noFill/>
          <a:ln w="6350">
            <a:solidFill>
              <a:srgbClr val="C9D3DF"/>
            </a:solidFill>
            <a:prstDash val="dash"/>
          </a:ln>
        </p:spPr>
      </p:sp>
      <p:sp>
        <p:nvSpPr>
          <p:cNvPr id="50" name="Text 48"/>
          <p:cNvSpPr txBox="1"/>
          <p:nvPr/>
        </p:nvSpPr>
        <p:spPr>
          <a:xfrm>
            <a:off x="4471416" y="463600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49152</a:t>
            </a:r>
            <a:endParaRPr lang="en-US" sz="700" dirty="0"/>
          </a:p>
        </p:txBody>
      </p:sp>
      <p:sp>
        <p:nvSpPr>
          <p:cNvPr id="51" name="Shape 49"/>
          <p:cNvSpPr/>
          <p:nvPr/>
        </p:nvSpPr>
        <p:spPr>
          <a:xfrm>
            <a:off x="5596128" y="2514600"/>
            <a:ext cx="914" cy="2103120"/>
          </a:xfrm>
          <a:prstGeom prst="line">
            <a:avLst/>
          </a:prstGeom>
          <a:noFill/>
          <a:ln w="6350">
            <a:solidFill>
              <a:srgbClr val="C9D3DF"/>
            </a:solidFill>
            <a:prstDash val="dash"/>
          </a:ln>
        </p:spPr>
      </p:sp>
      <p:sp>
        <p:nvSpPr>
          <p:cNvPr id="52" name="Text 50"/>
          <p:cNvSpPr txBox="1"/>
          <p:nvPr/>
        </p:nvSpPr>
        <p:spPr>
          <a:xfrm>
            <a:off x="5184648" y="463600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65536</a:t>
            </a:r>
            <a:endParaRPr lang="en-US" sz="700" dirty="0"/>
          </a:p>
        </p:txBody>
      </p:sp>
      <p:sp>
        <p:nvSpPr>
          <p:cNvPr id="53" name="Shape 51"/>
          <p:cNvSpPr/>
          <p:nvPr/>
        </p:nvSpPr>
        <p:spPr>
          <a:xfrm>
            <a:off x="6309360" y="2514600"/>
            <a:ext cx="914" cy="2103120"/>
          </a:xfrm>
          <a:prstGeom prst="line">
            <a:avLst/>
          </a:prstGeom>
          <a:noFill/>
          <a:ln w="6350">
            <a:solidFill>
              <a:srgbClr val="C9D3DF"/>
            </a:solidFill>
            <a:prstDash val="dash"/>
          </a:ln>
        </p:spPr>
      </p:sp>
      <p:sp>
        <p:nvSpPr>
          <p:cNvPr id="54" name="Text 52"/>
          <p:cNvSpPr txBox="1"/>
          <p:nvPr/>
        </p:nvSpPr>
        <p:spPr>
          <a:xfrm>
            <a:off x="5897880" y="4636008"/>
            <a:ext cx="822960" cy="164592"/>
          </a:xfrm>
          <a:prstGeom prst="rect">
            <a:avLst/>
          </a:prstGeom>
          <a:noFill/>
          <a:ln/>
        </p:spPr>
        <p:txBody>
          <a:bodyPr wrap="square" lIns="0" tIns="0" rIns="0" bIns="0" rtlCol="0" anchor="t"/>
          <a:lstStyle/>
          <a:p>
            <a:pPr algn="ctr" indent="0" marL="0">
              <a:buNone/>
            </a:pPr>
            <a:r>
              <a:rPr lang="en-US" sz="700" dirty="0">
                <a:solidFill>
                  <a:srgbClr val="5B6B7F"/>
                </a:solidFill>
                <a:latin typeface="Courier New" pitchFamily="34" charset="0"/>
                <a:ea typeface="Courier New" pitchFamily="34" charset="-122"/>
                <a:cs typeface="Courier New" pitchFamily="34" charset="-120"/>
              </a:rPr>
              <a:t>81920</a:t>
            </a:r>
            <a:endParaRPr lang="en-US" sz="700" dirty="0"/>
          </a:p>
        </p:txBody>
      </p:sp>
      <p:sp>
        <p:nvSpPr>
          <p:cNvPr id="55" name="Text 53"/>
          <p:cNvSpPr txBox="1"/>
          <p:nvPr/>
        </p:nvSpPr>
        <p:spPr>
          <a:xfrm>
            <a:off x="493776" y="2258568"/>
            <a:ext cx="576072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② USMP (작은 예제 fused 커널): 충돌 없는 buffer가 offset 공유 — nibble</a:t>
            </a:r>
            <a:endParaRPr lang="en-US" sz="900" dirty="0"/>
          </a:p>
        </p:txBody>
      </p:sp>
      <p:sp>
        <p:nvSpPr>
          <p:cNvPr id="56" name="Text 54"/>
          <p:cNvSpPr txBox="1"/>
          <p:nvPr/>
        </p:nvSpPr>
        <p:spPr>
          <a:xfrm>
            <a:off x="457200" y="4846320"/>
            <a:ext cx="5852160" cy="54864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peak 150,808(bump) → 85,016 nibbles (32,896 B 절약). gemm 목적지는 SAVE가 지연되므로 pinned(모든 buffer와 충돌)로 offset 0을 혼자 씀. greedy_by_size / greedy_by_conflicts vs bump 중 최소 peak 채택.</a:t>
            </a:r>
            <a:endParaRPr lang="en-US" sz="750" dirty="0"/>
          </a:p>
        </p:txBody>
      </p:sp>
      <p:sp>
        <p:nvSpPr>
          <p:cNvPr id="57" name="Text 55"/>
          <p:cNvSpPr txBox="1"/>
          <p:nvPr/>
        </p:nvSpPr>
        <p:spPr>
          <a:xfrm>
            <a:off x="6629400" y="2194560"/>
            <a:ext cx="5102352" cy="201168"/>
          </a:xfrm>
          <a:prstGeom prst="rect">
            <a:avLst/>
          </a:prstGeom>
          <a:noFill/>
          <a:ln/>
        </p:spPr>
        <p:txBody>
          <a:bodyPr wrap="square" lIns="0" tIns="0" rIns="0" bIns="0" rtlCol="0" anchor="t"/>
          <a:lstStyle/>
          <a:p>
            <a:pPr algn="l" indent="0" marL="0">
              <a:buNone/>
            </a:pPr>
            <a:r>
              <a:rPr lang="en-US" sz="850" b="1" dirty="0">
                <a:solidFill>
                  <a:srgbClr val="B7791F"/>
                </a:solidFill>
                <a:latin typeface="Malgun Gothic" pitchFamily="34" charset="0"/>
                <a:ea typeface="Malgun Gothic" pitchFamily="34" charset="-122"/>
                <a:cs typeface="Malgun Gothic" pitchFamily="34" charset="-120"/>
              </a:rPr>
              <a:t>③ 커널 사이 보관 (두 matmul, SRAM 44 KiB, 실제 주소 bytes)</a:t>
            </a:r>
            <a:endParaRPr lang="en-US" sz="850" dirty="0"/>
          </a:p>
        </p:txBody>
      </p:sp>
      <p:sp>
        <p:nvSpPr>
          <p:cNvPr id="58" name="Text 56"/>
          <p:cNvSpPr txBox="1"/>
          <p:nvPr/>
        </p:nvSpPr>
        <p:spPr>
          <a:xfrm>
            <a:off x="6629400" y="2423160"/>
            <a:ext cx="5102352" cy="18288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커널 1: X @ W1 → H (H를 SRAM에 직접 SAVE)</a:t>
            </a:r>
            <a:endParaRPr lang="en-US" sz="750" dirty="0"/>
          </a:p>
        </p:txBody>
      </p:sp>
      <p:sp>
        <p:nvSpPr>
          <p:cNvPr id="59" name="Shape 57"/>
          <p:cNvSpPr/>
          <p:nvPr/>
        </p:nvSpPr>
        <p:spPr>
          <a:xfrm>
            <a:off x="6629400" y="2624328"/>
            <a:ext cx="5102352" cy="384048"/>
          </a:xfrm>
          <a:prstGeom prst="rect">
            <a:avLst/>
          </a:prstGeom>
          <a:solidFill>
            <a:srgbClr val="EEF2F6"/>
          </a:solidFill>
          <a:ln w="9525">
            <a:solidFill>
              <a:srgbClr val="C9D3DF"/>
            </a:solidFill>
            <a:prstDash val="solid"/>
          </a:ln>
        </p:spPr>
      </p:sp>
      <p:sp>
        <p:nvSpPr>
          <p:cNvPr id="60" name="Shape 58"/>
          <p:cNvSpPr/>
          <p:nvPr/>
        </p:nvSpPr>
        <p:spPr>
          <a:xfrm>
            <a:off x="6629400" y="2624328"/>
            <a:ext cx="175303" cy="384048"/>
          </a:xfrm>
          <a:prstGeom prst="rect">
            <a:avLst/>
          </a:prstGeom>
          <a:solidFill>
            <a:srgbClr val="EEF1F5"/>
          </a:solidFill>
          <a:ln w="12700">
            <a:solidFill>
              <a:srgbClr val="5B6B7F"/>
            </a:solidFill>
            <a:prstDash val="solid"/>
          </a:ln>
        </p:spPr>
      </p:sp>
      <p:sp>
        <p:nvSpPr>
          <p:cNvPr id="61" name="Text 59"/>
          <p:cNvSpPr txBox="1"/>
          <p:nvPr/>
        </p:nvSpPr>
        <p:spPr>
          <a:xfrm>
            <a:off x="6629400" y="2624328"/>
            <a:ext cx="175303"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pool</a:t>
            </a:r>
            <a:endParaRPr lang="en-US" sz="700" dirty="0"/>
          </a:p>
        </p:txBody>
      </p:sp>
      <p:sp>
        <p:nvSpPr>
          <p:cNvPr id="62" name="Shape 60"/>
          <p:cNvSpPr/>
          <p:nvPr/>
        </p:nvSpPr>
        <p:spPr>
          <a:xfrm>
            <a:off x="6804703" y="2624328"/>
            <a:ext cx="927700" cy="384048"/>
          </a:xfrm>
          <a:prstGeom prst="rect">
            <a:avLst/>
          </a:prstGeom>
          <a:solidFill>
            <a:srgbClr val="DDF3F0"/>
          </a:solidFill>
          <a:ln w="12700">
            <a:solidFill>
              <a:srgbClr val="1F8A8A"/>
            </a:solidFill>
            <a:prstDash val="solid"/>
          </a:ln>
        </p:spPr>
      </p:sp>
      <p:sp>
        <p:nvSpPr>
          <p:cNvPr id="63" name="Text 61"/>
          <p:cNvSpPr txBox="1"/>
          <p:nvPr/>
        </p:nvSpPr>
        <p:spPr>
          <a:xfrm>
            <a:off x="6804703" y="2624328"/>
            <a:ext cx="927700"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X 8,192</a:t>
            </a:r>
            <a:endParaRPr lang="en-US" sz="700" dirty="0"/>
          </a:p>
        </p:txBody>
      </p:sp>
      <p:sp>
        <p:nvSpPr>
          <p:cNvPr id="64" name="Shape 62"/>
          <p:cNvSpPr/>
          <p:nvPr/>
        </p:nvSpPr>
        <p:spPr>
          <a:xfrm>
            <a:off x="7732403" y="2624328"/>
            <a:ext cx="1855401" cy="384048"/>
          </a:xfrm>
          <a:prstGeom prst="rect">
            <a:avLst/>
          </a:prstGeom>
          <a:solidFill>
            <a:srgbClr val="FFF1DC"/>
          </a:solidFill>
          <a:ln w="12700">
            <a:solidFill>
              <a:srgbClr val="D98A1E"/>
            </a:solidFill>
            <a:prstDash val="solid"/>
          </a:ln>
        </p:spPr>
      </p:sp>
      <p:sp>
        <p:nvSpPr>
          <p:cNvPr id="65" name="Text 63"/>
          <p:cNvSpPr txBox="1"/>
          <p:nvPr/>
        </p:nvSpPr>
        <p:spPr>
          <a:xfrm>
            <a:off x="7732403" y="2624328"/>
            <a:ext cx="1855401"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W1 16,384</a:t>
            </a:r>
            <a:endParaRPr lang="en-US" sz="700" dirty="0"/>
          </a:p>
        </p:txBody>
      </p:sp>
      <p:sp>
        <p:nvSpPr>
          <p:cNvPr id="66" name="Shape 64"/>
          <p:cNvSpPr/>
          <p:nvPr/>
        </p:nvSpPr>
        <p:spPr>
          <a:xfrm>
            <a:off x="9587804" y="2624328"/>
            <a:ext cx="1855401" cy="384048"/>
          </a:xfrm>
          <a:prstGeom prst="rect">
            <a:avLst/>
          </a:prstGeom>
          <a:solidFill>
            <a:srgbClr val="FFF6DB"/>
          </a:solidFill>
          <a:ln w="12700">
            <a:solidFill>
              <a:srgbClr val="B7791F"/>
            </a:solidFill>
            <a:prstDash val="solid"/>
          </a:ln>
        </p:spPr>
      </p:sp>
      <p:sp>
        <p:nvSpPr>
          <p:cNvPr id="67" name="Text 65"/>
          <p:cNvSpPr txBox="1"/>
          <p:nvPr/>
        </p:nvSpPr>
        <p:spPr>
          <a:xfrm>
            <a:off x="9587804" y="2624328"/>
            <a:ext cx="1855401"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H 16,384 (보관)</a:t>
            </a:r>
            <a:endParaRPr lang="en-US" sz="700" dirty="0"/>
          </a:p>
        </p:txBody>
      </p:sp>
      <p:sp>
        <p:nvSpPr>
          <p:cNvPr id="68" name="Shape 66"/>
          <p:cNvSpPr/>
          <p:nvPr/>
        </p:nvSpPr>
        <p:spPr>
          <a:xfrm>
            <a:off x="6629400" y="3008376"/>
            <a:ext cx="914" cy="73152"/>
          </a:xfrm>
          <a:prstGeom prst="line">
            <a:avLst/>
          </a:prstGeom>
          <a:noFill/>
          <a:ln w="9525">
            <a:solidFill>
              <a:srgbClr val="5B6B7F"/>
            </a:solidFill>
            <a:prstDash val="solid"/>
          </a:ln>
        </p:spPr>
      </p:sp>
      <p:sp>
        <p:nvSpPr>
          <p:cNvPr id="69" name="Text 67"/>
          <p:cNvSpPr txBox="1"/>
          <p:nvPr/>
        </p:nvSpPr>
        <p:spPr>
          <a:xfrm>
            <a:off x="6172200" y="309067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0</a:t>
            </a:r>
            <a:endParaRPr lang="en-US" sz="800" dirty="0"/>
          </a:p>
        </p:txBody>
      </p:sp>
      <p:sp>
        <p:nvSpPr>
          <p:cNvPr id="70" name="Shape 68"/>
          <p:cNvSpPr/>
          <p:nvPr/>
        </p:nvSpPr>
        <p:spPr>
          <a:xfrm>
            <a:off x="6804703" y="3008376"/>
            <a:ext cx="914" cy="73152"/>
          </a:xfrm>
          <a:prstGeom prst="line">
            <a:avLst/>
          </a:prstGeom>
          <a:noFill/>
          <a:ln w="9525">
            <a:solidFill>
              <a:srgbClr val="5B6B7F"/>
            </a:solidFill>
            <a:prstDash val="solid"/>
          </a:ln>
        </p:spPr>
      </p:sp>
      <p:sp>
        <p:nvSpPr>
          <p:cNvPr id="71" name="Text 69"/>
          <p:cNvSpPr txBox="1"/>
          <p:nvPr/>
        </p:nvSpPr>
        <p:spPr>
          <a:xfrm>
            <a:off x="6347503" y="309067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1548</a:t>
            </a:r>
            <a:endParaRPr lang="en-US" sz="800" dirty="0"/>
          </a:p>
        </p:txBody>
      </p:sp>
      <p:sp>
        <p:nvSpPr>
          <p:cNvPr id="72" name="Shape 70"/>
          <p:cNvSpPr/>
          <p:nvPr/>
        </p:nvSpPr>
        <p:spPr>
          <a:xfrm>
            <a:off x="7732403" y="3008376"/>
            <a:ext cx="914" cy="73152"/>
          </a:xfrm>
          <a:prstGeom prst="line">
            <a:avLst/>
          </a:prstGeom>
          <a:noFill/>
          <a:ln w="9525">
            <a:solidFill>
              <a:srgbClr val="5B6B7F"/>
            </a:solidFill>
            <a:prstDash val="solid"/>
          </a:ln>
        </p:spPr>
      </p:sp>
      <p:sp>
        <p:nvSpPr>
          <p:cNvPr id="73" name="Text 71"/>
          <p:cNvSpPr txBox="1"/>
          <p:nvPr/>
        </p:nvSpPr>
        <p:spPr>
          <a:xfrm>
            <a:off x="7275203" y="309067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9740</a:t>
            </a:r>
            <a:endParaRPr lang="en-US" sz="800" dirty="0"/>
          </a:p>
        </p:txBody>
      </p:sp>
      <p:sp>
        <p:nvSpPr>
          <p:cNvPr id="74" name="Shape 72"/>
          <p:cNvSpPr/>
          <p:nvPr/>
        </p:nvSpPr>
        <p:spPr>
          <a:xfrm>
            <a:off x="9587804" y="3008376"/>
            <a:ext cx="914" cy="73152"/>
          </a:xfrm>
          <a:prstGeom prst="line">
            <a:avLst/>
          </a:prstGeom>
          <a:noFill/>
          <a:ln w="9525">
            <a:solidFill>
              <a:srgbClr val="5B6B7F"/>
            </a:solidFill>
            <a:prstDash val="solid"/>
          </a:ln>
        </p:spPr>
      </p:sp>
      <p:sp>
        <p:nvSpPr>
          <p:cNvPr id="75" name="Text 73"/>
          <p:cNvSpPr txBox="1"/>
          <p:nvPr/>
        </p:nvSpPr>
        <p:spPr>
          <a:xfrm>
            <a:off x="9130604" y="309067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26124</a:t>
            </a:r>
            <a:endParaRPr lang="en-US" sz="800" dirty="0"/>
          </a:p>
        </p:txBody>
      </p:sp>
      <p:sp>
        <p:nvSpPr>
          <p:cNvPr id="76" name="Shape 74"/>
          <p:cNvSpPr/>
          <p:nvPr/>
        </p:nvSpPr>
        <p:spPr>
          <a:xfrm>
            <a:off x="11443205" y="3008376"/>
            <a:ext cx="914" cy="73152"/>
          </a:xfrm>
          <a:prstGeom prst="line">
            <a:avLst/>
          </a:prstGeom>
          <a:noFill/>
          <a:ln w="9525">
            <a:solidFill>
              <a:srgbClr val="5B6B7F"/>
            </a:solidFill>
            <a:prstDash val="solid"/>
          </a:ln>
        </p:spPr>
      </p:sp>
      <p:sp>
        <p:nvSpPr>
          <p:cNvPr id="77" name="Text 75"/>
          <p:cNvSpPr txBox="1"/>
          <p:nvPr/>
        </p:nvSpPr>
        <p:spPr>
          <a:xfrm>
            <a:off x="10986005" y="309067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42508</a:t>
            </a:r>
            <a:endParaRPr lang="en-US" sz="800" dirty="0"/>
          </a:p>
        </p:txBody>
      </p:sp>
      <p:sp>
        <p:nvSpPr>
          <p:cNvPr id="78" name="Shape 76"/>
          <p:cNvSpPr/>
          <p:nvPr/>
        </p:nvSpPr>
        <p:spPr>
          <a:xfrm>
            <a:off x="11731752" y="3008376"/>
            <a:ext cx="914" cy="73152"/>
          </a:xfrm>
          <a:prstGeom prst="line">
            <a:avLst/>
          </a:prstGeom>
          <a:noFill/>
          <a:ln w="9525">
            <a:solidFill>
              <a:srgbClr val="5B6B7F"/>
            </a:solidFill>
            <a:prstDash val="solid"/>
          </a:ln>
        </p:spPr>
      </p:sp>
      <p:sp>
        <p:nvSpPr>
          <p:cNvPr id="79" name="Text 77"/>
          <p:cNvSpPr txBox="1"/>
          <p:nvPr/>
        </p:nvSpPr>
        <p:spPr>
          <a:xfrm>
            <a:off x="11274552" y="309067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45056</a:t>
            </a:r>
            <a:endParaRPr lang="en-US" sz="800" dirty="0"/>
          </a:p>
        </p:txBody>
      </p:sp>
      <p:sp>
        <p:nvSpPr>
          <p:cNvPr id="80" name="Text 78"/>
          <p:cNvSpPr txBox="1"/>
          <p:nvPr/>
        </p:nvSpPr>
        <p:spPr>
          <a:xfrm>
            <a:off x="6629400" y="3246120"/>
            <a:ext cx="5102352" cy="18288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커널 2: H @ W2 → Y (H를 그 자리에서 직접 LOAD)</a:t>
            </a:r>
            <a:endParaRPr lang="en-US" sz="750" dirty="0"/>
          </a:p>
        </p:txBody>
      </p:sp>
      <p:sp>
        <p:nvSpPr>
          <p:cNvPr id="81" name="Shape 79"/>
          <p:cNvSpPr/>
          <p:nvPr/>
        </p:nvSpPr>
        <p:spPr>
          <a:xfrm>
            <a:off x="6629400" y="3447288"/>
            <a:ext cx="5102352" cy="384048"/>
          </a:xfrm>
          <a:prstGeom prst="rect">
            <a:avLst/>
          </a:prstGeom>
          <a:solidFill>
            <a:srgbClr val="EEF2F6"/>
          </a:solidFill>
          <a:ln w="9525">
            <a:solidFill>
              <a:srgbClr val="C9D3DF"/>
            </a:solidFill>
            <a:prstDash val="solid"/>
          </a:ln>
        </p:spPr>
      </p:sp>
      <p:sp>
        <p:nvSpPr>
          <p:cNvPr id="82" name="Shape 80"/>
          <p:cNvSpPr/>
          <p:nvPr/>
        </p:nvSpPr>
        <p:spPr>
          <a:xfrm>
            <a:off x="6629400" y="3447288"/>
            <a:ext cx="175303" cy="384048"/>
          </a:xfrm>
          <a:prstGeom prst="rect">
            <a:avLst/>
          </a:prstGeom>
          <a:solidFill>
            <a:srgbClr val="EEF1F5"/>
          </a:solidFill>
          <a:ln w="12700">
            <a:solidFill>
              <a:srgbClr val="5B6B7F"/>
            </a:solidFill>
            <a:prstDash val="solid"/>
          </a:ln>
        </p:spPr>
      </p:sp>
      <p:sp>
        <p:nvSpPr>
          <p:cNvPr id="83" name="Text 81"/>
          <p:cNvSpPr txBox="1"/>
          <p:nvPr/>
        </p:nvSpPr>
        <p:spPr>
          <a:xfrm>
            <a:off x="6629400" y="3447288"/>
            <a:ext cx="175303"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pool</a:t>
            </a:r>
            <a:endParaRPr lang="en-US" sz="700" dirty="0"/>
          </a:p>
        </p:txBody>
      </p:sp>
      <p:sp>
        <p:nvSpPr>
          <p:cNvPr id="84" name="Shape 82"/>
          <p:cNvSpPr/>
          <p:nvPr/>
        </p:nvSpPr>
        <p:spPr>
          <a:xfrm>
            <a:off x="6804703" y="3447288"/>
            <a:ext cx="927700" cy="384048"/>
          </a:xfrm>
          <a:prstGeom prst="rect">
            <a:avLst/>
          </a:prstGeom>
          <a:solidFill>
            <a:srgbClr val="DDF3F0"/>
          </a:solidFill>
          <a:ln w="12700">
            <a:solidFill>
              <a:srgbClr val="1F8A8A"/>
            </a:solidFill>
            <a:prstDash val="solid"/>
          </a:ln>
        </p:spPr>
      </p:sp>
      <p:sp>
        <p:nvSpPr>
          <p:cNvPr id="85" name="Text 83"/>
          <p:cNvSpPr txBox="1"/>
          <p:nvPr/>
        </p:nvSpPr>
        <p:spPr>
          <a:xfrm>
            <a:off x="6804703" y="3447288"/>
            <a:ext cx="927700"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Y 작업 (X 자리)</a:t>
            </a:r>
            <a:endParaRPr lang="en-US" sz="700" dirty="0"/>
          </a:p>
        </p:txBody>
      </p:sp>
      <p:sp>
        <p:nvSpPr>
          <p:cNvPr id="86" name="Shape 84"/>
          <p:cNvSpPr/>
          <p:nvPr/>
        </p:nvSpPr>
        <p:spPr>
          <a:xfrm>
            <a:off x="7732403" y="3447288"/>
            <a:ext cx="1855401" cy="384048"/>
          </a:xfrm>
          <a:prstGeom prst="rect">
            <a:avLst/>
          </a:prstGeom>
          <a:solidFill>
            <a:srgbClr val="FFF1DC"/>
          </a:solidFill>
          <a:ln w="12700">
            <a:solidFill>
              <a:srgbClr val="D98A1E"/>
            </a:solidFill>
            <a:prstDash val="solid"/>
          </a:ln>
        </p:spPr>
      </p:sp>
      <p:sp>
        <p:nvSpPr>
          <p:cNvPr id="87" name="Text 85"/>
          <p:cNvSpPr txBox="1"/>
          <p:nvPr/>
        </p:nvSpPr>
        <p:spPr>
          <a:xfrm>
            <a:off x="7732403" y="3447288"/>
            <a:ext cx="1855401"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W2 (W1 자리)</a:t>
            </a:r>
            <a:endParaRPr lang="en-US" sz="700" dirty="0"/>
          </a:p>
        </p:txBody>
      </p:sp>
      <p:sp>
        <p:nvSpPr>
          <p:cNvPr id="88" name="Shape 86"/>
          <p:cNvSpPr/>
          <p:nvPr/>
        </p:nvSpPr>
        <p:spPr>
          <a:xfrm>
            <a:off x="9587804" y="3447288"/>
            <a:ext cx="1855401" cy="384048"/>
          </a:xfrm>
          <a:prstGeom prst="rect">
            <a:avLst/>
          </a:prstGeom>
          <a:solidFill>
            <a:srgbClr val="FFF6DB"/>
          </a:solidFill>
          <a:ln w="12700">
            <a:solidFill>
              <a:srgbClr val="B7791F"/>
            </a:solidFill>
            <a:prstDash val="solid"/>
          </a:ln>
        </p:spPr>
      </p:sp>
      <p:sp>
        <p:nvSpPr>
          <p:cNvPr id="89" name="Text 87"/>
          <p:cNvSpPr txBox="1"/>
          <p:nvPr/>
        </p:nvSpPr>
        <p:spPr>
          <a:xfrm>
            <a:off x="9587804" y="3447288"/>
            <a:ext cx="1855401" cy="384048"/>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H 유지 → GSTORE/GLOAD 없음</a:t>
            </a:r>
            <a:endParaRPr lang="en-US" sz="700" dirty="0"/>
          </a:p>
        </p:txBody>
      </p:sp>
      <p:sp>
        <p:nvSpPr>
          <p:cNvPr id="90" name="Shape 88"/>
          <p:cNvSpPr/>
          <p:nvPr/>
        </p:nvSpPr>
        <p:spPr>
          <a:xfrm>
            <a:off x="6629400" y="3831336"/>
            <a:ext cx="914" cy="73152"/>
          </a:xfrm>
          <a:prstGeom prst="line">
            <a:avLst/>
          </a:prstGeom>
          <a:noFill/>
          <a:ln w="9525">
            <a:solidFill>
              <a:srgbClr val="5B6B7F"/>
            </a:solidFill>
            <a:prstDash val="solid"/>
          </a:ln>
        </p:spPr>
      </p:sp>
      <p:sp>
        <p:nvSpPr>
          <p:cNvPr id="91" name="Text 89"/>
          <p:cNvSpPr txBox="1"/>
          <p:nvPr/>
        </p:nvSpPr>
        <p:spPr>
          <a:xfrm>
            <a:off x="6172200" y="391363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0</a:t>
            </a:r>
            <a:endParaRPr lang="en-US" sz="800" dirty="0"/>
          </a:p>
        </p:txBody>
      </p:sp>
      <p:sp>
        <p:nvSpPr>
          <p:cNvPr id="92" name="Shape 90"/>
          <p:cNvSpPr/>
          <p:nvPr/>
        </p:nvSpPr>
        <p:spPr>
          <a:xfrm>
            <a:off x="6804703" y="3831336"/>
            <a:ext cx="914" cy="73152"/>
          </a:xfrm>
          <a:prstGeom prst="line">
            <a:avLst/>
          </a:prstGeom>
          <a:noFill/>
          <a:ln w="9525">
            <a:solidFill>
              <a:srgbClr val="5B6B7F"/>
            </a:solidFill>
            <a:prstDash val="solid"/>
          </a:ln>
        </p:spPr>
      </p:sp>
      <p:sp>
        <p:nvSpPr>
          <p:cNvPr id="93" name="Text 91"/>
          <p:cNvSpPr txBox="1"/>
          <p:nvPr/>
        </p:nvSpPr>
        <p:spPr>
          <a:xfrm>
            <a:off x="6347503" y="391363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1548</a:t>
            </a:r>
            <a:endParaRPr lang="en-US" sz="800" dirty="0"/>
          </a:p>
        </p:txBody>
      </p:sp>
      <p:sp>
        <p:nvSpPr>
          <p:cNvPr id="94" name="Shape 92"/>
          <p:cNvSpPr/>
          <p:nvPr/>
        </p:nvSpPr>
        <p:spPr>
          <a:xfrm>
            <a:off x="7732403" y="3831336"/>
            <a:ext cx="914" cy="73152"/>
          </a:xfrm>
          <a:prstGeom prst="line">
            <a:avLst/>
          </a:prstGeom>
          <a:noFill/>
          <a:ln w="9525">
            <a:solidFill>
              <a:srgbClr val="5B6B7F"/>
            </a:solidFill>
            <a:prstDash val="solid"/>
          </a:ln>
        </p:spPr>
      </p:sp>
      <p:sp>
        <p:nvSpPr>
          <p:cNvPr id="95" name="Text 93"/>
          <p:cNvSpPr txBox="1"/>
          <p:nvPr/>
        </p:nvSpPr>
        <p:spPr>
          <a:xfrm>
            <a:off x="7275203" y="391363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9740</a:t>
            </a:r>
            <a:endParaRPr lang="en-US" sz="800" dirty="0"/>
          </a:p>
        </p:txBody>
      </p:sp>
      <p:sp>
        <p:nvSpPr>
          <p:cNvPr id="96" name="Shape 94"/>
          <p:cNvSpPr/>
          <p:nvPr/>
        </p:nvSpPr>
        <p:spPr>
          <a:xfrm>
            <a:off x="9587804" y="3831336"/>
            <a:ext cx="914" cy="73152"/>
          </a:xfrm>
          <a:prstGeom prst="line">
            <a:avLst/>
          </a:prstGeom>
          <a:noFill/>
          <a:ln w="9525">
            <a:solidFill>
              <a:srgbClr val="5B6B7F"/>
            </a:solidFill>
            <a:prstDash val="solid"/>
          </a:ln>
        </p:spPr>
      </p:sp>
      <p:sp>
        <p:nvSpPr>
          <p:cNvPr id="97" name="Text 95"/>
          <p:cNvSpPr txBox="1"/>
          <p:nvPr/>
        </p:nvSpPr>
        <p:spPr>
          <a:xfrm>
            <a:off x="9130604" y="391363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26124</a:t>
            </a:r>
            <a:endParaRPr lang="en-US" sz="800" dirty="0"/>
          </a:p>
        </p:txBody>
      </p:sp>
      <p:sp>
        <p:nvSpPr>
          <p:cNvPr id="98" name="Shape 96"/>
          <p:cNvSpPr/>
          <p:nvPr/>
        </p:nvSpPr>
        <p:spPr>
          <a:xfrm>
            <a:off x="11443205" y="3831336"/>
            <a:ext cx="914" cy="73152"/>
          </a:xfrm>
          <a:prstGeom prst="line">
            <a:avLst/>
          </a:prstGeom>
          <a:noFill/>
          <a:ln w="9525">
            <a:solidFill>
              <a:srgbClr val="5B6B7F"/>
            </a:solidFill>
            <a:prstDash val="solid"/>
          </a:ln>
        </p:spPr>
      </p:sp>
      <p:sp>
        <p:nvSpPr>
          <p:cNvPr id="99" name="Text 97"/>
          <p:cNvSpPr txBox="1"/>
          <p:nvPr/>
        </p:nvSpPr>
        <p:spPr>
          <a:xfrm>
            <a:off x="10986005" y="391363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42508</a:t>
            </a:r>
            <a:endParaRPr lang="en-US" sz="800" dirty="0"/>
          </a:p>
        </p:txBody>
      </p:sp>
      <p:sp>
        <p:nvSpPr>
          <p:cNvPr id="100" name="Shape 98"/>
          <p:cNvSpPr/>
          <p:nvPr/>
        </p:nvSpPr>
        <p:spPr>
          <a:xfrm>
            <a:off x="11731752" y="3831336"/>
            <a:ext cx="914" cy="73152"/>
          </a:xfrm>
          <a:prstGeom prst="line">
            <a:avLst/>
          </a:prstGeom>
          <a:noFill/>
          <a:ln w="9525">
            <a:solidFill>
              <a:srgbClr val="5B6B7F"/>
            </a:solidFill>
            <a:prstDash val="solid"/>
          </a:ln>
        </p:spPr>
      </p:sp>
      <p:sp>
        <p:nvSpPr>
          <p:cNvPr id="101" name="Text 99"/>
          <p:cNvSpPr txBox="1"/>
          <p:nvPr/>
        </p:nvSpPr>
        <p:spPr>
          <a:xfrm>
            <a:off x="11274552" y="3913632"/>
            <a:ext cx="914400" cy="182880"/>
          </a:xfrm>
          <a:prstGeom prst="rect">
            <a:avLst/>
          </a:prstGeom>
          <a:noFill/>
          <a:ln/>
        </p:spPr>
        <p:txBody>
          <a:bodyPr wrap="square" lIns="0" tIns="0" rIns="0" bIns="0" rtlCol="0" anchor="t"/>
          <a:lstStyle/>
          <a:p>
            <a:pPr algn="ctr" indent="0" marL="0">
              <a:buNone/>
            </a:pPr>
            <a:r>
              <a:rPr lang="en-US" sz="800" dirty="0">
                <a:solidFill>
                  <a:srgbClr val="5B6B7F"/>
                </a:solidFill>
                <a:latin typeface="Malgun Gothic" pitchFamily="34" charset="0"/>
                <a:ea typeface="Malgun Gothic" pitchFamily="34" charset="-122"/>
                <a:cs typeface="Malgun Gothic" pitchFamily="34" charset="-120"/>
              </a:rPr>
              <a:t>45056</a:t>
            </a:r>
            <a:endParaRPr lang="en-US" sz="800" dirty="0"/>
          </a:p>
        </p:txBody>
      </p:sp>
      <p:sp>
        <p:nvSpPr>
          <p:cNvPr id="102" name="Shape 100"/>
          <p:cNvSpPr/>
          <p:nvPr/>
        </p:nvSpPr>
        <p:spPr>
          <a:xfrm>
            <a:off x="10515504" y="3008376"/>
            <a:ext cx="914" cy="438912"/>
          </a:xfrm>
          <a:prstGeom prst="line">
            <a:avLst/>
          </a:prstGeom>
          <a:noFill/>
          <a:ln w="25400">
            <a:solidFill>
              <a:srgbClr val="B7791F"/>
            </a:solidFill>
            <a:prstDash val="solid"/>
            <a:tailEnd type="triangle"/>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29400" y="4114800"/>
          <a:ext cx="5102352" cy="914400"/>
        </p:xfrm>
        <a:graphic>
          <a:graphicData uri="http://schemas.openxmlformats.org/drawingml/2006/table">
            <a:tbl>
              <a:tblPr/>
              <a:tblGrid>
                <a:gridCol w="1463040"/>
                <a:gridCol w="960120"/>
                <a:gridCol w="731520"/>
                <a:gridCol w="914400"/>
                <a:gridCol w="1033272"/>
              </a:tblGrid>
              <a:tr h="237744">
                <a:tc>
                  <a:txBody>
                    <a:bodyPr/>
                    <a:lstStyle/>
                    <a:p>
                      <a:pPr algn="l" indent="0" marL="0">
                        <a:buNone/>
                      </a:pPr>
                      <a:r>
                        <a:rPr lang="en-US" sz="800" b="1" dirty="0">
                          <a:solidFill>
                            <a:srgbClr val="FFFFFF"/>
                          </a:solidFill>
                          <a:latin typeface="Malgun Gothic" pitchFamily="34" charset="0"/>
                          <a:ea typeface="Malgun Gothic" pitchFamily="34" charset="-122"/>
                          <a:cs typeface="Malgun Gothic" pitchFamily="34" charset="-120"/>
                        </a:rPr>
                        <a:t>E2 (실제 실행)</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DMA bytes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words</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SRAM peak</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800" b="1" dirty="0">
                          <a:solidFill>
                            <a:srgbClr val="FFFFFF"/>
                          </a:solidFill>
                          <a:latin typeface="Malgun Gothic" pitchFamily="34" charset="0"/>
                          <a:ea typeface="Malgun Gothic" pitchFamily="34" charset="-122"/>
                          <a:cs typeface="Malgun Gothic" pitchFamily="34" charset="-120"/>
                        </a:rPr>
                        <a:t>DRAM image</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37744">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32 KiB (보관 불가)</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81,932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88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26,124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65,548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37744">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44 KiB 보관 off</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81,932</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87</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34,316</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65,548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37744">
                <a:tc>
                  <a:txBody>
                    <a:bodyPr/>
                    <a:lstStyle/>
                    <a:p>
                      <a:pPr algn="l" indent="0" marL="0">
                        <a:buNone/>
                      </a:pPr>
                      <a:r>
                        <a:rPr lang="en-US" sz="800" dirty="0">
                          <a:solidFill>
                            <a:srgbClr val="1F2D3D"/>
                          </a:solidFill>
                          <a:latin typeface="Malgun Gothic" pitchFamily="34" charset="0"/>
                          <a:ea typeface="Malgun Gothic" pitchFamily="34" charset="-122"/>
                          <a:cs typeface="Malgun Gothic" pitchFamily="34" charset="-120"/>
                        </a:rPr>
                        <a:t>44 KiB 보관 on</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49,164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77</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42,508</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800" dirty="0">
                          <a:solidFill>
                            <a:srgbClr val="1F2D3D"/>
                          </a:solidFill>
                          <a:latin typeface="Malgun Gothic" pitchFamily="34" charset="0"/>
                          <a:ea typeface="Malgun Gothic" pitchFamily="34" charset="-122"/>
                          <a:cs typeface="Malgun Gothic" pitchFamily="34" charset="-120"/>
                        </a:rPr>
                        <a:t>49,164</a:t>
                      </a:r>
                      <a:endParaRPr lang="en-US" sz="80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04" name="Text 101"/>
          <p:cNvSpPr txBox="1"/>
          <p:nvPr/>
        </p:nvSpPr>
        <p:spPr>
          <a:xfrm>
            <a:off x="6629400" y="5166360"/>
            <a:ext cx="5102352" cy="64008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H의 저장·재읽기 32,768 B 제거, H의 DRAM pool 제거(주소 재배치). 보관은 tensor 전체만, beam 4 + all-DRAM 비교, 이득이 실제 비용일 때만 채택. KV cache·출력·parameter는 ABI 계약으로 보호(이름이 아님).</a:t>
            </a:r>
            <a:endParaRPr lang="en-US" sz="750" dirty="0"/>
          </a:p>
        </p:txBody>
      </p:sp>
      <p:sp>
        <p:nvSpPr>
          <p:cNvPr id="105" name="Shape 10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06" name="Text 10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커널을 합치지 않아도 SRAM만으로 연결할 수 있습니다. 같은 주소가 나중에 다른 값이 될 수 있으므로 보관 탐색은 "값의 버전"을 키로 삼습니다.</a:t>
            </a:r>
            <a:endParaRPr lang="en-US" sz="1250" dirty="0"/>
          </a:p>
        </p:txBody>
      </p:sp>
      <p:sp>
        <p:nvSpPr>
          <p:cNvPr id="107" name="Text 10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08" name="Text 10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npu_memplan.py, npu_sram.py, npu_memory_search.py, bundle/program.json sram_layouts, two_matmuls_recorded/program.json, examples/memory/measurements.json (E2)</a:t>
            </a:r>
            <a:endParaRPr lang="en-US" sz="850" dirty="0"/>
          </a:p>
        </p:txBody>
      </p:sp>
      <p:sp>
        <p:nvSpPr>
          <p:cNvPr id="109" name="Text 10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9 / 13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⑤ 실행</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000" b="1" dirty="0">
                <a:solidFill>
                  <a:srgbClr val="15243B"/>
                </a:solidFill>
                <a:latin typeface="Malgun Gothic" pitchFamily="34" charset="0"/>
                <a:ea typeface="Malgun Gothic" pitchFamily="34" charset="-122"/>
                <a:cs typeface="Malgun Gothic" pitchFamily="34" charset="-120"/>
              </a:rPr>
              <a:t>ISA: 정적으로 전개된 명령 stream — descriptor 설정, LOAD/SAVE, M_MUL, DMA packet</a:t>
            </a:r>
            <a:endParaRPr lang="en-US" sz="20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두 matmul 예제의 77 words 전체(위)와 실제 word 해독(아래). walker가 TIR loop를 완전히 unroll하므로 loop·branch 명령이 없고, linker가 커널 stream을 이어 붙인 뒤 peephole·forwarding·DRAM 압축으로 마무리합니다.</a:t>
            </a:r>
            <a:endParaRPr lang="en-US" sz="1250" dirty="0"/>
          </a:p>
        </p:txBody>
      </p:sp>
      <p:sp>
        <p:nvSpPr>
          <p:cNvPr id="5" name="Text 3"/>
          <p:cNvSpPr txBox="1"/>
          <p:nvPr/>
        </p:nvSpPr>
        <p:spPr>
          <a:xfrm>
            <a:off x="457200" y="1371600"/>
            <a:ext cx="11274552"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77 words 전체 = 62 instructions (DMA 5개 × 4 words + 1-word 명령 57개): 주황 DMA · 파랑 ADDR · 회색 ROWS/COLS · 청록 LOAD · 초록 SAVE · 보라 M_MUL · 빨강 HALT</a:t>
            </a:r>
            <a:endParaRPr lang="en-US" sz="850" dirty="0"/>
          </a:p>
        </p:txBody>
      </p:sp>
      <p:sp>
        <p:nvSpPr>
          <p:cNvPr id="6" name="Shape 4"/>
          <p:cNvSpPr/>
          <p:nvPr/>
        </p:nvSpPr>
        <p:spPr>
          <a:xfrm>
            <a:off x="457200" y="1627632"/>
            <a:ext cx="585691" cy="384048"/>
          </a:xfrm>
          <a:prstGeom prst="rect">
            <a:avLst/>
          </a:prstGeom>
          <a:solidFill>
            <a:srgbClr val="FFF1DC"/>
          </a:solidFill>
          <a:ln w="6350">
            <a:solidFill>
              <a:srgbClr val="D98A1E"/>
            </a:solidFill>
            <a:prstDash val="solid"/>
          </a:ln>
        </p:spPr>
      </p:sp>
      <p:sp>
        <p:nvSpPr>
          <p:cNvPr id="7" name="Text 5"/>
          <p:cNvSpPr txBox="1"/>
          <p:nvPr/>
        </p:nvSpPr>
        <p:spPr>
          <a:xfrm>
            <a:off x="457200" y="1627632"/>
            <a:ext cx="58569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GLOAD</a:t>
            </a:r>
            <a:endParaRPr lang="en-US" sz="600" dirty="0"/>
          </a:p>
        </p:txBody>
      </p:sp>
      <p:sp>
        <p:nvSpPr>
          <p:cNvPr id="8" name="Text 6"/>
          <p:cNvSpPr txBox="1"/>
          <p:nvPr/>
        </p:nvSpPr>
        <p:spPr>
          <a:xfrm>
            <a:off x="228600"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a:t>
            </a:r>
            <a:endParaRPr lang="en-US" sz="650" dirty="0"/>
          </a:p>
        </p:txBody>
      </p:sp>
      <p:sp>
        <p:nvSpPr>
          <p:cNvPr id="9" name="Shape 7"/>
          <p:cNvSpPr/>
          <p:nvPr/>
        </p:nvSpPr>
        <p:spPr>
          <a:xfrm>
            <a:off x="1042891" y="1627632"/>
            <a:ext cx="585691" cy="384048"/>
          </a:xfrm>
          <a:prstGeom prst="rect">
            <a:avLst/>
          </a:prstGeom>
          <a:solidFill>
            <a:srgbClr val="FFF1DC"/>
          </a:solidFill>
          <a:ln w="6350">
            <a:solidFill>
              <a:srgbClr val="D98A1E"/>
            </a:solidFill>
            <a:prstDash val="solid"/>
          </a:ln>
        </p:spPr>
      </p:sp>
      <p:sp>
        <p:nvSpPr>
          <p:cNvPr id="10" name="Text 8"/>
          <p:cNvSpPr txBox="1"/>
          <p:nvPr/>
        </p:nvSpPr>
        <p:spPr>
          <a:xfrm>
            <a:off x="1042891" y="1627632"/>
            <a:ext cx="58569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GLOAD</a:t>
            </a:r>
            <a:endParaRPr lang="en-US" sz="600" dirty="0"/>
          </a:p>
        </p:txBody>
      </p:sp>
      <p:sp>
        <p:nvSpPr>
          <p:cNvPr id="11" name="Text 9"/>
          <p:cNvSpPr txBox="1"/>
          <p:nvPr/>
        </p:nvSpPr>
        <p:spPr>
          <a:xfrm>
            <a:off x="814291"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a:t>
            </a:r>
            <a:endParaRPr lang="en-US" sz="650" dirty="0"/>
          </a:p>
        </p:txBody>
      </p:sp>
      <p:sp>
        <p:nvSpPr>
          <p:cNvPr id="12" name="Shape 10"/>
          <p:cNvSpPr/>
          <p:nvPr/>
        </p:nvSpPr>
        <p:spPr>
          <a:xfrm>
            <a:off x="1628582" y="1627632"/>
            <a:ext cx="585691" cy="384048"/>
          </a:xfrm>
          <a:prstGeom prst="rect">
            <a:avLst/>
          </a:prstGeom>
          <a:solidFill>
            <a:srgbClr val="FFF1DC"/>
          </a:solidFill>
          <a:ln w="6350">
            <a:solidFill>
              <a:srgbClr val="D98A1E"/>
            </a:solidFill>
            <a:prstDash val="solid"/>
          </a:ln>
        </p:spPr>
      </p:sp>
      <p:sp>
        <p:nvSpPr>
          <p:cNvPr id="13" name="Text 11"/>
          <p:cNvSpPr txBox="1"/>
          <p:nvPr/>
        </p:nvSpPr>
        <p:spPr>
          <a:xfrm>
            <a:off x="1628582" y="1627632"/>
            <a:ext cx="58569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GLOAD</a:t>
            </a:r>
            <a:endParaRPr lang="en-US" sz="600" dirty="0"/>
          </a:p>
        </p:txBody>
      </p:sp>
      <p:sp>
        <p:nvSpPr>
          <p:cNvPr id="14" name="Text 12"/>
          <p:cNvSpPr txBox="1"/>
          <p:nvPr/>
        </p:nvSpPr>
        <p:spPr>
          <a:xfrm>
            <a:off x="1399982"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8</a:t>
            </a:r>
            <a:endParaRPr lang="en-US" sz="650" dirty="0"/>
          </a:p>
        </p:txBody>
      </p:sp>
      <p:sp>
        <p:nvSpPr>
          <p:cNvPr id="15" name="Shape 13"/>
          <p:cNvSpPr/>
          <p:nvPr/>
        </p:nvSpPr>
        <p:spPr>
          <a:xfrm>
            <a:off x="2214273" y="1627632"/>
            <a:ext cx="146423" cy="384048"/>
          </a:xfrm>
          <a:prstGeom prst="rect">
            <a:avLst/>
          </a:prstGeom>
          <a:solidFill>
            <a:srgbClr val="E3EEFB"/>
          </a:solidFill>
          <a:ln w="6350">
            <a:solidFill>
              <a:srgbClr val="2F6DB5"/>
            </a:solidFill>
            <a:prstDash val="solid"/>
          </a:ln>
        </p:spPr>
      </p:sp>
      <p:sp>
        <p:nvSpPr>
          <p:cNvPr id="16" name="Shape 14"/>
          <p:cNvSpPr/>
          <p:nvPr/>
        </p:nvSpPr>
        <p:spPr>
          <a:xfrm>
            <a:off x="2360696" y="1627632"/>
            <a:ext cx="146423" cy="384048"/>
          </a:xfrm>
          <a:prstGeom prst="rect">
            <a:avLst/>
          </a:prstGeom>
          <a:solidFill>
            <a:srgbClr val="E3EEFB"/>
          </a:solidFill>
          <a:ln w="6350">
            <a:solidFill>
              <a:srgbClr val="2F6DB5"/>
            </a:solidFill>
            <a:prstDash val="solid"/>
          </a:ln>
        </p:spPr>
      </p:sp>
      <p:sp>
        <p:nvSpPr>
          <p:cNvPr id="17" name="Shape 15"/>
          <p:cNvSpPr/>
          <p:nvPr/>
        </p:nvSpPr>
        <p:spPr>
          <a:xfrm>
            <a:off x="2507119" y="1627632"/>
            <a:ext cx="146423" cy="384048"/>
          </a:xfrm>
          <a:prstGeom prst="rect">
            <a:avLst/>
          </a:prstGeom>
          <a:solidFill>
            <a:srgbClr val="EEF1F5"/>
          </a:solidFill>
          <a:ln w="6350">
            <a:solidFill>
              <a:srgbClr val="5B6B7F"/>
            </a:solidFill>
            <a:prstDash val="solid"/>
          </a:ln>
        </p:spPr>
      </p:sp>
      <p:sp>
        <p:nvSpPr>
          <p:cNvPr id="18" name="Shape 16"/>
          <p:cNvSpPr/>
          <p:nvPr/>
        </p:nvSpPr>
        <p:spPr>
          <a:xfrm>
            <a:off x="2653541" y="1627632"/>
            <a:ext cx="146423" cy="384048"/>
          </a:xfrm>
          <a:prstGeom prst="rect">
            <a:avLst/>
          </a:prstGeom>
          <a:solidFill>
            <a:srgbClr val="EEF1F5"/>
          </a:solidFill>
          <a:ln w="6350">
            <a:solidFill>
              <a:srgbClr val="5B6B7F"/>
            </a:solidFill>
            <a:prstDash val="solid"/>
          </a:ln>
        </p:spPr>
      </p:sp>
      <p:sp>
        <p:nvSpPr>
          <p:cNvPr id="19" name="Shape 17"/>
          <p:cNvSpPr/>
          <p:nvPr/>
        </p:nvSpPr>
        <p:spPr>
          <a:xfrm>
            <a:off x="2799964" y="1627632"/>
            <a:ext cx="146423" cy="384048"/>
          </a:xfrm>
          <a:prstGeom prst="rect">
            <a:avLst/>
          </a:prstGeom>
          <a:solidFill>
            <a:srgbClr val="E3EEFB"/>
          </a:solidFill>
          <a:ln w="6350">
            <a:solidFill>
              <a:srgbClr val="2F6DB5"/>
            </a:solidFill>
            <a:prstDash val="solid"/>
          </a:ln>
        </p:spPr>
      </p:sp>
      <p:sp>
        <p:nvSpPr>
          <p:cNvPr id="20" name="Shape 18"/>
          <p:cNvSpPr/>
          <p:nvPr/>
        </p:nvSpPr>
        <p:spPr>
          <a:xfrm>
            <a:off x="2946387" y="1627632"/>
            <a:ext cx="146423" cy="384048"/>
          </a:xfrm>
          <a:prstGeom prst="rect">
            <a:avLst/>
          </a:prstGeom>
          <a:solidFill>
            <a:srgbClr val="E3EEFB"/>
          </a:solidFill>
          <a:ln w="6350">
            <a:solidFill>
              <a:srgbClr val="2F6DB5"/>
            </a:solidFill>
            <a:prstDash val="solid"/>
          </a:ln>
        </p:spPr>
      </p:sp>
      <p:sp>
        <p:nvSpPr>
          <p:cNvPr id="21" name="Shape 19"/>
          <p:cNvSpPr/>
          <p:nvPr/>
        </p:nvSpPr>
        <p:spPr>
          <a:xfrm>
            <a:off x="3092810" y="1627632"/>
            <a:ext cx="146423" cy="384048"/>
          </a:xfrm>
          <a:prstGeom prst="rect">
            <a:avLst/>
          </a:prstGeom>
          <a:solidFill>
            <a:srgbClr val="EEF1F5"/>
          </a:solidFill>
          <a:ln w="6350">
            <a:solidFill>
              <a:srgbClr val="5B6B7F"/>
            </a:solidFill>
            <a:prstDash val="solid"/>
          </a:ln>
        </p:spPr>
      </p:sp>
      <p:sp>
        <p:nvSpPr>
          <p:cNvPr id="22" name="Shape 20"/>
          <p:cNvSpPr/>
          <p:nvPr/>
        </p:nvSpPr>
        <p:spPr>
          <a:xfrm>
            <a:off x="3239232" y="1627632"/>
            <a:ext cx="146423" cy="384048"/>
          </a:xfrm>
          <a:prstGeom prst="rect">
            <a:avLst/>
          </a:prstGeom>
          <a:solidFill>
            <a:srgbClr val="EEF1F5"/>
          </a:solidFill>
          <a:ln w="6350">
            <a:solidFill>
              <a:srgbClr val="5B6B7F"/>
            </a:solidFill>
            <a:prstDash val="solid"/>
          </a:ln>
        </p:spPr>
      </p:sp>
      <p:sp>
        <p:nvSpPr>
          <p:cNvPr id="23" name="Shape 21"/>
          <p:cNvSpPr/>
          <p:nvPr/>
        </p:nvSpPr>
        <p:spPr>
          <a:xfrm>
            <a:off x="3385655" y="1627632"/>
            <a:ext cx="146423" cy="384048"/>
          </a:xfrm>
          <a:prstGeom prst="rect">
            <a:avLst/>
          </a:prstGeom>
          <a:solidFill>
            <a:srgbClr val="DDF3F0"/>
          </a:solidFill>
          <a:ln w="6350">
            <a:solidFill>
              <a:srgbClr val="1F8A8A"/>
            </a:solidFill>
            <a:prstDash val="solid"/>
          </a:ln>
        </p:spPr>
      </p:sp>
      <p:sp>
        <p:nvSpPr>
          <p:cNvPr id="24" name="Shape 22"/>
          <p:cNvSpPr/>
          <p:nvPr/>
        </p:nvSpPr>
        <p:spPr>
          <a:xfrm>
            <a:off x="3532078" y="1627632"/>
            <a:ext cx="146423" cy="384048"/>
          </a:xfrm>
          <a:prstGeom prst="rect">
            <a:avLst/>
          </a:prstGeom>
          <a:solidFill>
            <a:srgbClr val="E3EEFB"/>
          </a:solidFill>
          <a:ln w="6350">
            <a:solidFill>
              <a:srgbClr val="2F6DB5"/>
            </a:solidFill>
            <a:prstDash val="solid"/>
          </a:ln>
        </p:spPr>
      </p:sp>
      <p:sp>
        <p:nvSpPr>
          <p:cNvPr id="25" name="Shape 23"/>
          <p:cNvSpPr/>
          <p:nvPr/>
        </p:nvSpPr>
        <p:spPr>
          <a:xfrm>
            <a:off x="3678501" y="1627632"/>
            <a:ext cx="146423" cy="384048"/>
          </a:xfrm>
          <a:prstGeom prst="rect">
            <a:avLst/>
          </a:prstGeom>
          <a:solidFill>
            <a:srgbClr val="E3EEFB"/>
          </a:solidFill>
          <a:ln w="6350">
            <a:solidFill>
              <a:srgbClr val="2F6DB5"/>
            </a:solidFill>
            <a:prstDash val="solid"/>
          </a:ln>
        </p:spPr>
      </p:sp>
      <p:sp>
        <p:nvSpPr>
          <p:cNvPr id="26" name="Shape 24"/>
          <p:cNvSpPr/>
          <p:nvPr/>
        </p:nvSpPr>
        <p:spPr>
          <a:xfrm>
            <a:off x="3824923" y="1627632"/>
            <a:ext cx="146423" cy="384048"/>
          </a:xfrm>
          <a:prstGeom prst="rect">
            <a:avLst/>
          </a:prstGeom>
          <a:solidFill>
            <a:srgbClr val="EEF1F5"/>
          </a:solidFill>
          <a:ln w="6350">
            <a:solidFill>
              <a:srgbClr val="5B6B7F"/>
            </a:solidFill>
            <a:prstDash val="solid"/>
          </a:ln>
        </p:spPr>
      </p:sp>
      <p:sp>
        <p:nvSpPr>
          <p:cNvPr id="27" name="Shape 25"/>
          <p:cNvSpPr/>
          <p:nvPr/>
        </p:nvSpPr>
        <p:spPr>
          <a:xfrm>
            <a:off x="3971346" y="1627632"/>
            <a:ext cx="146423" cy="384048"/>
          </a:xfrm>
          <a:prstGeom prst="rect">
            <a:avLst/>
          </a:prstGeom>
          <a:solidFill>
            <a:srgbClr val="EEF1F5"/>
          </a:solidFill>
          <a:ln w="6350">
            <a:solidFill>
              <a:srgbClr val="5B6B7F"/>
            </a:solidFill>
            <a:prstDash val="solid"/>
          </a:ln>
        </p:spPr>
      </p:sp>
      <p:sp>
        <p:nvSpPr>
          <p:cNvPr id="28" name="Shape 26"/>
          <p:cNvSpPr/>
          <p:nvPr/>
        </p:nvSpPr>
        <p:spPr>
          <a:xfrm>
            <a:off x="4117769" y="1627632"/>
            <a:ext cx="146423" cy="384048"/>
          </a:xfrm>
          <a:prstGeom prst="rect">
            <a:avLst/>
          </a:prstGeom>
          <a:solidFill>
            <a:srgbClr val="E3EEFB"/>
          </a:solidFill>
          <a:ln w="6350">
            <a:solidFill>
              <a:srgbClr val="2F6DB5"/>
            </a:solidFill>
            <a:prstDash val="solid"/>
          </a:ln>
        </p:spPr>
      </p:sp>
      <p:sp>
        <p:nvSpPr>
          <p:cNvPr id="29" name="Shape 27"/>
          <p:cNvSpPr/>
          <p:nvPr/>
        </p:nvSpPr>
        <p:spPr>
          <a:xfrm>
            <a:off x="4264192" y="1627632"/>
            <a:ext cx="146423" cy="384048"/>
          </a:xfrm>
          <a:prstGeom prst="rect">
            <a:avLst/>
          </a:prstGeom>
          <a:solidFill>
            <a:srgbClr val="E3EEFB"/>
          </a:solidFill>
          <a:ln w="6350">
            <a:solidFill>
              <a:srgbClr val="2F6DB5"/>
            </a:solidFill>
            <a:prstDash val="solid"/>
          </a:ln>
        </p:spPr>
      </p:sp>
      <p:sp>
        <p:nvSpPr>
          <p:cNvPr id="30" name="Shape 28"/>
          <p:cNvSpPr/>
          <p:nvPr/>
        </p:nvSpPr>
        <p:spPr>
          <a:xfrm>
            <a:off x="4410614" y="1627632"/>
            <a:ext cx="146423" cy="384048"/>
          </a:xfrm>
          <a:prstGeom prst="rect">
            <a:avLst/>
          </a:prstGeom>
          <a:solidFill>
            <a:srgbClr val="EEF1F5"/>
          </a:solidFill>
          <a:ln w="6350">
            <a:solidFill>
              <a:srgbClr val="5B6B7F"/>
            </a:solidFill>
            <a:prstDash val="solid"/>
          </a:ln>
        </p:spPr>
      </p:sp>
      <p:sp>
        <p:nvSpPr>
          <p:cNvPr id="31" name="Shape 29"/>
          <p:cNvSpPr/>
          <p:nvPr/>
        </p:nvSpPr>
        <p:spPr>
          <a:xfrm>
            <a:off x="4557037" y="1627632"/>
            <a:ext cx="146423" cy="384048"/>
          </a:xfrm>
          <a:prstGeom prst="rect">
            <a:avLst/>
          </a:prstGeom>
          <a:solidFill>
            <a:srgbClr val="EEF1F5"/>
          </a:solidFill>
          <a:ln w="6350">
            <a:solidFill>
              <a:srgbClr val="5B6B7F"/>
            </a:solidFill>
            <a:prstDash val="solid"/>
          </a:ln>
        </p:spPr>
      </p:sp>
      <p:sp>
        <p:nvSpPr>
          <p:cNvPr id="32" name="Shape 30"/>
          <p:cNvSpPr/>
          <p:nvPr/>
        </p:nvSpPr>
        <p:spPr>
          <a:xfrm>
            <a:off x="4703460" y="1627632"/>
            <a:ext cx="146423" cy="384048"/>
          </a:xfrm>
          <a:prstGeom prst="rect">
            <a:avLst/>
          </a:prstGeom>
          <a:solidFill>
            <a:srgbClr val="DDF3F0"/>
          </a:solidFill>
          <a:ln w="6350">
            <a:solidFill>
              <a:srgbClr val="1F8A8A"/>
            </a:solidFill>
            <a:prstDash val="solid"/>
          </a:ln>
        </p:spPr>
      </p:sp>
      <p:sp>
        <p:nvSpPr>
          <p:cNvPr id="33" name="Shape 31"/>
          <p:cNvSpPr/>
          <p:nvPr/>
        </p:nvSpPr>
        <p:spPr>
          <a:xfrm>
            <a:off x="4849883" y="1627632"/>
            <a:ext cx="146423" cy="384048"/>
          </a:xfrm>
          <a:prstGeom prst="rect">
            <a:avLst/>
          </a:prstGeom>
          <a:solidFill>
            <a:srgbClr val="ECE6FA"/>
          </a:solidFill>
          <a:ln w="6350">
            <a:solidFill>
              <a:srgbClr val="6C4FBF"/>
            </a:solidFill>
            <a:prstDash val="solid"/>
          </a:ln>
        </p:spPr>
      </p:sp>
      <p:sp>
        <p:nvSpPr>
          <p:cNvPr id="34" name="Text 32"/>
          <p:cNvSpPr txBox="1"/>
          <p:nvPr/>
        </p:nvSpPr>
        <p:spPr>
          <a:xfrm>
            <a:off x="4849883" y="1627632"/>
            <a:ext cx="146423"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M</a:t>
            </a:r>
            <a:endParaRPr lang="en-US" sz="600" dirty="0"/>
          </a:p>
        </p:txBody>
      </p:sp>
      <p:sp>
        <p:nvSpPr>
          <p:cNvPr id="35" name="Text 33"/>
          <p:cNvSpPr txBox="1"/>
          <p:nvPr/>
        </p:nvSpPr>
        <p:spPr>
          <a:xfrm>
            <a:off x="4621283"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30</a:t>
            </a:r>
            <a:endParaRPr lang="en-US" sz="650" dirty="0"/>
          </a:p>
        </p:txBody>
      </p:sp>
      <p:sp>
        <p:nvSpPr>
          <p:cNvPr id="36" name="Shape 34"/>
          <p:cNvSpPr/>
          <p:nvPr/>
        </p:nvSpPr>
        <p:spPr>
          <a:xfrm>
            <a:off x="4996305" y="1627632"/>
            <a:ext cx="146423" cy="384048"/>
          </a:xfrm>
          <a:prstGeom prst="rect">
            <a:avLst/>
          </a:prstGeom>
          <a:solidFill>
            <a:srgbClr val="E3EEFB"/>
          </a:solidFill>
          <a:ln w="6350">
            <a:solidFill>
              <a:srgbClr val="2F6DB5"/>
            </a:solidFill>
            <a:prstDash val="solid"/>
          </a:ln>
        </p:spPr>
      </p:sp>
      <p:sp>
        <p:nvSpPr>
          <p:cNvPr id="37" name="Shape 35"/>
          <p:cNvSpPr/>
          <p:nvPr/>
        </p:nvSpPr>
        <p:spPr>
          <a:xfrm>
            <a:off x="5142728" y="1627632"/>
            <a:ext cx="146423" cy="384048"/>
          </a:xfrm>
          <a:prstGeom prst="rect">
            <a:avLst/>
          </a:prstGeom>
          <a:solidFill>
            <a:srgbClr val="E3EEFB"/>
          </a:solidFill>
          <a:ln w="6350">
            <a:solidFill>
              <a:srgbClr val="2F6DB5"/>
            </a:solidFill>
            <a:prstDash val="solid"/>
          </a:ln>
        </p:spPr>
      </p:sp>
      <p:sp>
        <p:nvSpPr>
          <p:cNvPr id="38" name="Shape 36"/>
          <p:cNvSpPr/>
          <p:nvPr/>
        </p:nvSpPr>
        <p:spPr>
          <a:xfrm>
            <a:off x="5289151" y="1627632"/>
            <a:ext cx="146423" cy="384048"/>
          </a:xfrm>
          <a:prstGeom prst="rect">
            <a:avLst/>
          </a:prstGeom>
          <a:solidFill>
            <a:srgbClr val="EEF1F5"/>
          </a:solidFill>
          <a:ln w="6350">
            <a:solidFill>
              <a:srgbClr val="5B6B7F"/>
            </a:solidFill>
            <a:prstDash val="solid"/>
          </a:ln>
        </p:spPr>
      </p:sp>
      <p:sp>
        <p:nvSpPr>
          <p:cNvPr id="39" name="Shape 37"/>
          <p:cNvSpPr/>
          <p:nvPr/>
        </p:nvSpPr>
        <p:spPr>
          <a:xfrm>
            <a:off x="5435574" y="1627632"/>
            <a:ext cx="146423" cy="384048"/>
          </a:xfrm>
          <a:prstGeom prst="rect">
            <a:avLst/>
          </a:prstGeom>
          <a:solidFill>
            <a:srgbClr val="EEF1F5"/>
          </a:solidFill>
          <a:ln w="6350">
            <a:solidFill>
              <a:srgbClr val="5B6B7F"/>
            </a:solidFill>
            <a:prstDash val="solid"/>
          </a:ln>
        </p:spPr>
      </p:sp>
      <p:sp>
        <p:nvSpPr>
          <p:cNvPr id="40" name="Shape 38"/>
          <p:cNvSpPr/>
          <p:nvPr/>
        </p:nvSpPr>
        <p:spPr>
          <a:xfrm>
            <a:off x="5581996" y="1627632"/>
            <a:ext cx="146423" cy="384048"/>
          </a:xfrm>
          <a:prstGeom prst="rect">
            <a:avLst/>
          </a:prstGeom>
          <a:solidFill>
            <a:srgbClr val="E3EEFB"/>
          </a:solidFill>
          <a:ln w="6350">
            <a:solidFill>
              <a:srgbClr val="2F6DB5"/>
            </a:solidFill>
            <a:prstDash val="solid"/>
          </a:ln>
        </p:spPr>
      </p:sp>
      <p:sp>
        <p:nvSpPr>
          <p:cNvPr id="41" name="Shape 39"/>
          <p:cNvSpPr/>
          <p:nvPr/>
        </p:nvSpPr>
        <p:spPr>
          <a:xfrm>
            <a:off x="5728419" y="1627632"/>
            <a:ext cx="146423" cy="384048"/>
          </a:xfrm>
          <a:prstGeom prst="rect">
            <a:avLst/>
          </a:prstGeom>
          <a:solidFill>
            <a:srgbClr val="E3EEFB"/>
          </a:solidFill>
          <a:ln w="6350">
            <a:solidFill>
              <a:srgbClr val="2F6DB5"/>
            </a:solidFill>
            <a:prstDash val="solid"/>
          </a:ln>
        </p:spPr>
      </p:sp>
      <p:sp>
        <p:nvSpPr>
          <p:cNvPr id="42" name="Shape 40"/>
          <p:cNvSpPr/>
          <p:nvPr/>
        </p:nvSpPr>
        <p:spPr>
          <a:xfrm>
            <a:off x="5874842" y="1627632"/>
            <a:ext cx="146423" cy="384048"/>
          </a:xfrm>
          <a:prstGeom prst="rect">
            <a:avLst/>
          </a:prstGeom>
          <a:solidFill>
            <a:srgbClr val="EEF1F5"/>
          </a:solidFill>
          <a:ln w="6350">
            <a:solidFill>
              <a:srgbClr val="5B6B7F"/>
            </a:solidFill>
            <a:prstDash val="solid"/>
          </a:ln>
        </p:spPr>
      </p:sp>
      <p:sp>
        <p:nvSpPr>
          <p:cNvPr id="43" name="Shape 41"/>
          <p:cNvSpPr/>
          <p:nvPr/>
        </p:nvSpPr>
        <p:spPr>
          <a:xfrm>
            <a:off x="6021265" y="1627632"/>
            <a:ext cx="146423" cy="384048"/>
          </a:xfrm>
          <a:prstGeom prst="rect">
            <a:avLst/>
          </a:prstGeom>
          <a:solidFill>
            <a:srgbClr val="EEF1F5"/>
          </a:solidFill>
          <a:ln w="6350">
            <a:solidFill>
              <a:srgbClr val="5B6B7F"/>
            </a:solidFill>
            <a:prstDash val="solid"/>
          </a:ln>
        </p:spPr>
      </p:sp>
      <p:sp>
        <p:nvSpPr>
          <p:cNvPr id="44" name="Shape 42"/>
          <p:cNvSpPr/>
          <p:nvPr/>
        </p:nvSpPr>
        <p:spPr>
          <a:xfrm>
            <a:off x="6167687" y="1627632"/>
            <a:ext cx="146423" cy="384048"/>
          </a:xfrm>
          <a:prstGeom prst="rect">
            <a:avLst/>
          </a:prstGeom>
          <a:solidFill>
            <a:srgbClr val="E5F3E7"/>
          </a:solidFill>
          <a:ln w="6350">
            <a:solidFill>
              <a:srgbClr val="2E7D32"/>
            </a:solidFill>
            <a:prstDash val="solid"/>
          </a:ln>
        </p:spPr>
      </p:sp>
      <p:sp>
        <p:nvSpPr>
          <p:cNvPr id="45" name="Shape 43"/>
          <p:cNvSpPr/>
          <p:nvPr/>
        </p:nvSpPr>
        <p:spPr>
          <a:xfrm>
            <a:off x="6314110" y="1627632"/>
            <a:ext cx="146423" cy="384048"/>
          </a:xfrm>
          <a:prstGeom prst="rect">
            <a:avLst/>
          </a:prstGeom>
          <a:solidFill>
            <a:srgbClr val="DDF3F0"/>
          </a:solidFill>
          <a:ln w="6350">
            <a:solidFill>
              <a:srgbClr val="1F8A8A"/>
            </a:solidFill>
            <a:prstDash val="solid"/>
          </a:ln>
        </p:spPr>
      </p:sp>
      <p:sp>
        <p:nvSpPr>
          <p:cNvPr id="46" name="Shape 44"/>
          <p:cNvSpPr/>
          <p:nvPr/>
        </p:nvSpPr>
        <p:spPr>
          <a:xfrm>
            <a:off x="6460533" y="1627632"/>
            <a:ext cx="146423" cy="384048"/>
          </a:xfrm>
          <a:prstGeom prst="rect">
            <a:avLst/>
          </a:prstGeom>
          <a:solidFill>
            <a:srgbClr val="E3EEFB"/>
          </a:solidFill>
          <a:ln w="6350">
            <a:solidFill>
              <a:srgbClr val="2F6DB5"/>
            </a:solidFill>
            <a:prstDash val="solid"/>
          </a:ln>
        </p:spPr>
      </p:sp>
      <p:sp>
        <p:nvSpPr>
          <p:cNvPr id="47" name="Shape 45"/>
          <p:cNvSpPr/>
          <p:nvPr/>
        </p:nvSpPr>
        <p:spPr>
          <a:xfrm>
            <a:off x="6606956" y="1627632"/>
            <a:ext cx="146423" cy="384048"/>
          </a:xfrm>
          <a:prstGeom prst="rect">
            <a:avLst/>
          </a:prstGeom>
          <a:solidFill>
            <a:srgbClr val="E3EEFB"/>
          </a:solidFill>
          <a:ln w="6350">
            <a:solidFill>
              <a:srgbClr val="2F6DB5"/>
            </a:solidFill>
            <a:prstDash val="solid"/>
          </a:ln>
        </p:spPr>
      </p:sp>
      <p:sp>
        <p:nvSpPr>
          <p:cNvPr id="48" name="Shape 46"/>
          <p:cNvSpPr/>
          <p:nvPr/>
        </p:nvSpPr>
        <p:spPr>
          <a:xfrm>
            <a:off x="6753378" y="1627632"/>
            <a:ext cx="146423" cy="384048"/>
          </a:xfrm>
          <a:prstGeom prst="rect">
            <a:avLst/>
          </a:prstGeom>
          <a:solidFill>
            <a:srgbClr val="DDF3F0"/>
          </a:solidFill>
          <a:ln w="6350">
            <a:solidFill>
              <a:srgbClr val="1F8A8A"/>
            </a:solidFill>
            <a:prstDash val="solid"/>
          </a:ln>
        </p:spPr>
      </p:sp>
      <p:sp>
        <p:nvSpPr>
          <p:cNvPr id="49" name="Shape 47"/>
          <p:cNvSpPr/>
          <p:nvPr/>
        </p:nvSpPr>
        <p:spPr>
          <a:xfrm>
            <a:off x="6899801" y="1627632"/>
            <a:ext cx="146423" cy="384048"/>
          </a:xfrm>
          <a:prstGeom prst="rect">
            <a:avLst/>
          </a:prstGeom>
          <a:solidFill>
            <a:srgbClr val="ECE6FA"/>
          </a:solidFill>
          <a:ln w="6350">
            <a:solidFill>
              <a:srgbClr val="6C4FBF"/>
            </a:solidFill>
            <a:prstDash val="solid"/>
          </a:ln>
        </p:spPr>
      </p:sp>
      <p:sp>
        <p:nvSpPr>
          <p:cNvPr id="50" name="Text 48"/>
          <p:cNvSpPr txBox="1"/>
          <p:nvPr/>
        </p:nvSpPr>
        <p:spPr>
          <a:xfrm>
            <a:off x="6899801" y="1627632"/>
            <a:ext cx="146423"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M</a:t>
            </a:r>
            <a:endParaRPr lang="en-US" sz="600" dirty="0"/>
          </a:p>
        </p:txBody>
      </p:sp>
      <p:sp>
        <p:nvSpPr>
          <p:cNvPr id="51" name="Text 49"/>
          <p:cNvSpPr txBox="1"/>
          <p:nvPr/>
        </p:nvSpPr>
        <p:spPr>
          <a:xfrm>
            <a:off x="6671201"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44</a:t>
            </a:r>
            <a:endParaRPr lang="en-US" sz="650" dirty="0"/>
          </a:p>
        </p:txBody>
      </p:sp>
      <p:sp>
        <p:nvSpPr>
          <p:cNvPr id="52" name="Shape 50"/>
          <p:cNvSpPr/>
          <p:nvPr/>
        </p:nvSpPr>
        <p:spPr>
          <a:xfrm>
            <a:off x="7046224" y="1627632"/>
            <a:ext cx="146423" cy="384048"/>
          </a:xfrm>
          <a:prstGeom prst="rect">
            <a:avLst/>
          </a:prstGeom>
          <a:solidFill>
            <a:srgbClr val="E3EEFB"/>
          </a:solidFill>
          <a:ln w="6350">
            <a:solidFill>
              <a:srgbClr val="2F6DB5"/>
            </a:solidFill>
            <a:prstDash val="solid"/>
          </a:ln>
        </p:spPr>
      </p:sp>
      <p:sp>
        <p:nvSpPr>
          <p:cNvPr id="53" name="Shape 51"/>
          <p:cNvSpPr/>
          <p:nvPr/>
        </p:nvSpPr>
        <p:spPr>
          <a:xfrm>
            <a:off x="7192647" y="1627632"/>
            <a:ext cx="146423" cy="384048"/>
          </a:xfrm>
          <a:prstGeom prst="rect">
            <a:avLst/>
          </a:prstGeom>
          <a:solidFill>
            <a:srgbClr val="E3EEFB"/>
          </a:solidFill>
          <a:ln w="6350">
            <a:solidFill>
              <a:srgbClr val="2F6DB5"/>
            </a:solidFill>
            <a:prstDash val="solid"/>
          </a:ln>
        </p:spPr>
      </p:sp>
      <p:sp>
        <p:nvSpPr>
          <p:cNvPr id="54" name="Shape 52"/>
          <p:cNvSpPr/>
          <p:nvPr/>
        </p:nvSpPr>
        <p:spPr>
          <a:xfrm>
            <a:off x="7339069" y="1627632"/>
            <a:ext cx="146423" cy="384048"/>
          </a:xfrm>
          <a:prstGeom prst="rect">
            <a:avLst/>
          </a:prstGeom>
          <a:solidFill>
            <a:srgbClr val="E5F3E7"/>
          </a:solidFill>
          <a:ln w="6350">
            <a:solidFill>
              <a:srgbClr val="2E7D32"/>
            </a:solidFill>
            <a:prstDash val="solid"/>
          </a:ln>
        </p:spPr>
      </p:sp>
      <p:sp>
        <p:nvSpPr>
          <p:cNvPr id="55" name="Shape 53"/>
          <p:cNvSpPr/>
          <p:nvPr/>
        </p:nvSpPr>
        <p:spPr>
          <a:xfrm>
            <a:off x="7485492" y="1627632"/>
            <a:ext cx="585691" cy="384048"/>
          </a:xfrm>
          <a:prstGeom prst="rect">
            <a:avLst/>
          </a:prstGeom>
          <a:solidFill>
            <a:srgbClr val="FFF1DC"/>
          </a:solidFill>
          <a:ln w="6350">
            <a:solidFill>
              <a:srgbClr val="D98A1E"/>
            </a:solidFill>
            <a:prstDash val="solid"/>
          </a:ln>
        </p:spPr>
      </p:sp>
      <p:sp>
        <p:nvSpPr>
          <p:cNvPr id="56" name="Text 54"/>
          <p:cNvSpPr txBox="1"/>
          <p:nvPr/>
        </p:nvSpPr>
        <p:spPr>
          <a:xfrm>
            <a:off x="7485492" y="1627632"/>
            <a:ext cx="58569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GLOAD</a:t>
            </a:r>
            <a:endParaRPr lang="en-US" sz="600" dirty="0"/>
          </a:p>
        </p:txBody>
      </p:sp>
      <p:sp>
        <p:nvSpPr>
          <p:cNvPr id="57" name="Text 55"/>
          <p:cNvSpPr txBox="1"/>
          <p:nvPr/>
        </p:nvSpPr>
        <p:spPr>
          <a:xfrm>
            <a:off x="7256892"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48</a:t>
            </a:r>
            <a:endParaRPr lang="en-US" sz="650" dirty="0"/>
          </a:p>
        </p:txBody>
      </p:sp>
      <p:sp>
        <p:nvSpPr>
          <p:cNvPr id="58" name="Shape 56"/>
          <p:cNvSpPr/>
          <p:nvPr/>
        </p:nvSpPr>
        <p:spPr>
          <a:xfrm>
            <a:off x="8071183" y="1627632"/>
            <a:ext cx="146423" cy="384048"/>
          </a:xfrm>
          <a:prstGeom prst="rect">
            <a:avLst/>
          </a:prstGeom>
          <a:solidFill>
            <a:srgbClr val="E3EEFB"/>
          </a:solidFill>
          <a:ln w="6350">
            <a:solidFill>
              <a:srgbClr val="2F6DB5"/>
            </a:solidFill>
            <a:prstDash val="solid"/>
          </a:ln>
        </p:spPr>
      </p:sp>
      <p:sp>
        <p:nvSpPr>
          <p:cNvPr id="59" name="Shape 57"/>
          <p:cNvSpPr/>
          <p:nvPr/>
        </p:nvSpPr>
        <p:spPr>
          <a:xfrm>
            <a:off x="8217606" y="1627632"/>
            <a:ext cx="146423" cy="384048"/>
          </a:xfrm>
          <a:prstGeom prst="rect">
            <a:avLst/>
          </a:prstGeom>
          <a:solidFill>
            <a:srgbClr val="EEF1F5"/>
          </a:solidFill>
          <a:ln w="6350">
            <a:solidFill>
              <a:srgbClr val="5B6B7F"/>
            </a:solidFill>
            <a:prstDash val="solid"/>
          </a:ln>
        </p:spPr>
      </p:sp>
      <p:sp>
        <p:nvSpPr>
          <p:cNvPr id="60" name="Shape 58"/>
          <p:cNvSpPr/>
          <p:nvPr/>
        </p:nvSpPr>
        <p:spPr>
          <a:xfrm>
            <a:off x="8364029" y="1627632"/>
            <a:ext cx="146423" cy="384048"/>
          </a:xfrm>
          <a:prstGeom prst="rect">
            <a:avLst/>
          </a:prstGeom>
          <a:solidFill>
            <a:srgbClr val="E3EEFB"/>
          </a:solidFill>
          <a:ln w="6350">
            <a:solidFill>
              <a:srgbClr val="2F6DB5"/>
            </a:solidFill>
            <a:prstDash val="solid"/>
          </a:ln>
        </p:spPr>
      </p:sp>
      <p:sp>
        <p:nvSpPr>
          <p:cNvPr id="61" name="Shape 59"/>
          <p:cNvSpPr/>
          <p:nvPr/>
        </p:nvSpPr>
        <p:spPr>
          <a:xfrm>
            <a:off x="8510451" y="1627632"/>
            <a:ext cx="146423" cy="384048"/>
          </a:xfrm>
          <a:prstGeom prst="rect">
            <a:avLst/>
          </a:prstGeom>
          <a:solidFill>
            <a:srgbClr val="DDF3F0"/>
          </a:solidFill>
          <a:ln w="6350">
            <a:solidFill>
              <a:srgbClr val="1F8A8A"/>
            </a:solidFill>
            <a:prstDash val="solid"/>
          </a:ln>
        </p:spPr>
      </p:sp>
      <p:sp>
        <p:nvSpPr>
          <p:cNvPr id="62" name="Shape 60"/>
          <p:cNvSpPr/>
          <p:nvPr/>
        </p:nvSpPr>
        <p:spPr>
          <a:xfrm>
            <a:off x="8656874" y="1627632"/>
            <a:ext cx="146423" cy="384048"/>
          </a:xfrm>
          <a:prstGeom prst="rect">
            <a:avLst/>
          </a:prstGeom>
          <a:solidFill>
            <a:srgbClr val="E3EEFB"/>
          </a:solidFill>
          <a:ln w="6350">
            <a:solidFill>
              <a:srgbClr val="2F6DB5"/>
            </a:solidFill>
            <a:prstDash val="solid"/>
          </a:ln>
        </p:spPr>
      </p:sp>
      <p:sp>
        <p:nvSpPr>
          <p:cNvPr id="63" name="Shape 61"/>
          <p:cNvSpPr/>
          <p:nvPr/>
        </p:nvSpPr>
        <p:spPr>
          <a:xfrm>
            <a:off x="8803297" y="1627632"/>
            <a:ext cx="146423" cy="384048"/>
          </a:xfrm>
          <a:prstGeom prst="rect">
            <a:avLst/>
          </a:prstGeom>
          <a:solidFill>
            <a:srgbClr val="EEF1F5"/>
          </a:solidFill>
          <a:ln w="6350">
            <a:solidFill>
              <a:srgbClr val="5B6B7F"/>
            </a:solidFill>
            <a:prstDash val="solid"/>
          </a:ln>
        </p:spPr>
      </p:sp>
      <p:sp>
        <p:nvSpPr>
          <p:cNvPr id="64" name="Shape 62"/>
          <p:cNvSpPr/>
          <p:nvPr/>
        </p:nvSpPr>
        <p:spPr>
          <a:xfrm>
            <a:off x="8949720" y="1627632"/>
            <a:ext cx="146423" cy="384048"/>
          </a:xfrm>
          <a:prstGeom prst="rect">
            <a:avLst/>
          </a:prstGeom>
          <a:solidFill>
            <a:srgbClr val="E3EEFB"/>
          </a:solidFill>
          <a:ln w="6350">
            <a:solidFill>
              <a:srgbClr val="2F6DB5"/>
            </a:solidFill>
            <a:prstDash val="solid"/>
          </a:ln>
        </p:spPr>
      </p:sp>
      <p:sp>
        <p:nvSpPr>
          <p:cNvPr id="65" name="Shape 63"/>
          <p:cNvSpPr/>
          <p:nvPr/>
        </p:nvSpPr>
        <p:spPr>
          <a:xfrm>
            <a:off x="9096142" y="1627632"/>
            <a:ext cx="146423" cy="384048"/>
          </a:xfrm>
          <a:prstGeom prst="rect">
            <a:avLst/>
          </a:prstGeom>
          <a:solidFill>
            <a:srgbClr val="DDF3F0"/>
          </a:solidFill>
          <a:ln w="6350">
            <a:solidFill>
              <a:srgbClr val="1F8A8A"/>
            </a:solidFill>
            <a:prstDash val="solid"/>
          </a:ln>
        </p:spPr>
      </p:sp>
      <p:sp>
        <p:nvSpPr>
          <p:cNvPr id="66" name="Shape 64"/>
          <p:cNvSpPr/>
          <p:nvPr/>
        </p:nvSpPr>
        <p:spPr>
          <a:xfrm>
            <a:off x="9242565" y="1627632"/>
            <a:ext cx="146423" cy="384048"/>
          </a:xfrm>
          <a:prstGeom prst="rect">
            <a:avLst/>
          </a:prstGeom>
          <a:solidFill>
            <a:srgbClr val="ECE6FA"/>
          </a:solidFill>
          <a:ln w="6350">
            <a:solidFill>
              <a:srgbClr val="6C4FBF"/>
            </a:solidFill>
            <a:prstDash val="solid"/>
          </a:ln>
        </p:spPr>
      </p:sp>
      <p:sp>
        <p:nvSpPr>
          <p:cNvPr id="67" name="Text 65"/>
          <p:cNvSpPr txBox="1"/>
          <p:nvPr/>
        </p:nvSpPr>
        <p:spPr>
          <a:xfrm>
            <a:off x="9242565" y="1627632"/>
            <a:ext cx="146423"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M</a:t>
            </a:r>
            <a:endParaRPr lang="en-US" sz="600" dirty="0"/>
          </a:p>
        </p:txBody>
      </p:sp>
      <p:sp>
        <p:nvSpPr>
          <p:cNvPr id="68" name="Text 66"/>
          <p:cNvSpPr txBox="1"/>
          <p:nvPr/>
        </p:nvSpPr>
        <p:spPr>
          <a:xfrm>
            <a:off x="9013965"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60</a:t>
            </a:r>
            <a:endParaRPr lang="en-US" sz="650" dirty="0"/>
          </a:p>
        </p:txBody>
      </p:sp>
      <p:sp>
        <p:nvSpPr>
          <p:cNvPr id="69" name="Shape 67"/>
          <p:cNvSpPr/>
          <p:nvPr/>
        </p:nvSpPr>
        <p:spPr>
          <a:xfrm>
            <a:off x="9388988" y="1627632"/>
            <a:ext cx="146423" cy="384048"/>
          </a:xfrm>
          <a:prstGeom prst="rect">
            <a:avLst/>
          </a:prstGeom>
          <a:solidFill>
            <a:srgbClr val="E3EEFB"/>
          </a:solidFill>
          <a:ln w="6350">
            <a:solidFill>
              <a:srgbClr val="2F6DB5"/>
            </a:solidFill>
            <a:prstDash val="solid"/>
          </a:ln>
        </p:spPr>
      </p:sp>
      <p:sp>
        <p:nvSpPr>
          <p:cNvPr id="70" name="Shape 68"/>
          <p:cNvSpPr/>
          <p:nvPr/>
        </p:nvSpPr>
        <p:spPr>
          <a:xfrm>
            <a:off x="9535411" y="1627632"/>
            <a:ext cx="146423" cy="384048"/>
          </a:xfrm>
          <a:prstGeom prst="rect">
            <a:avLst/>
          </a:prstGeom>
          <a:solidFill>
            <a:srgbClr val="E3EEFB"/>
          </a:solidFill>
          <a:ln w="6350">
            <a:solidFill>
              <a:srgbClr val="2F6DB5"/>
            </a:solidFill>
            <a:prstDash val="solid"/>
          </a:ln>
        </p:spPr>
      </p:sp>
      <p:sp>
        <p:nvSpPr>
          <p:cNvPr id="71" name="Shape 69"/>
          <p:cNvSpPr/>
          <p:nvPr/>
        </p:nvSpPr>
        <p:spPr>
          <a:xfrm>
            <a:off x="9681833" y="1627632"/>
            <a:ext cx="146423" cy="384048"/>
          </a:xfrm>
          <a:prstGeom prst="rect">
            <a:avLst/>
          </a:prstGeom>
          <a:solidFill>
            <a:srgbClr val="DDF3F0"/>
          </a:solidFill>
          <a:ln w="6350">
            <a:solidFill>
              <a:srgbClr val="1F8A8A"/>
            </a:solidFill>
            <a:prstDash val="solid"/>
          </a:ln>
        </p:spPr>
      </p:sp>
      <p:sp>
        <p:nvSpPr>
          <p:cNvPr id="72" name="Shape 70"/>
          <p:cNvSpPr/>
          <p:nvPr/>
        </p:nvSpPr>
        <p:spPr>
          <a:xfrm>
            <a:off x="9828256" y="1627632"/>
            <a:ext cx="146423" cy="384048"/>
          </a:xfrm>
          <a:prstGeom prst="rect">
            <a:avLst/>
          </a:prstGeom>
          <a:solidFill>
            <a:srgbClr val="E3EEFB"/>
          </a:solidFill>
          <a:ln w="6350">
            <a:solidFill>
              <a:srgbClr val="2F6DB5"/>
            </a:solidFill>
            <a:prstDash val="solid"/>
          </a:ln>
        </p:spPr>
      </p:sp>
      <p:sp>
        <p:nvSpPr>
          <p:cNvPr id="73" name="Shape 71"/>
          <p:cNvSpPr/>
          <p:nvPr/>
        </p:nvSpPr>
        <p:spPr>
          <a:xfrm>
            <a:off x="9974679" y="1627632"/>
            <a:ext cx="146423" cy="384048"/>
          </a:xfrm>
          <a:prstGeom prst="rect">
            <a:avLst/>
          </a:prstGeom>
          <a:solidFill>
            <a:srgbClr val="E3EEFB"/>
          </a:solidFill>
          <a:ln w="6350">
            <a:solidFill>
              <a:srgbClr val="2F6DB5"/>
            </a:solidFill>
            <a:prstDash val="solid"/>
          </a:ln>
        </p:spPr>
      </p:sp>
      <p:sp>
        <p:nvSpPr>
          <p:cNvPr id="74" name="Shape 72"/>
          <p:cNvSpPr/>
          <p:nvPr/>
        </p:nvSpPr>
        <p:spPr>
          <a:xfrm>
            <a:off x="10121102" y="1627632"/>
            <a:ext cx="146423" cy="384048"/>
          </a:xfrm>
          <a:prstGeom prst="rect">
            <a:avLst/>
          </a:prstGeom>
          <a:solidFill>
            <a:srgbClr val="DDF3F0"/>
          </a:solidFill>
          <a:ln w="6350">
            <a:solidFill>
              <a:srgbClr val="1F8A8A"/>
            </a:solidFill>
            <a:prstDash val="solid"/>
          </a:ln>
        </p:spPr>
      </p:sp>
      <p:sp>
        <p:nvSpPr>
          <p:cNvPr id="75" name="Shape 73"/>
          <p:cNvSpPr/>
          <p:nvPr/>
        </p:nvSpPr>
        <p:spPr>
          <a:xfrm>
            <a:off x="10267524" y="1627632"/>
            <a:ext cx="146423" cy="384048"/>
          </a:xfrm>
          <a:prstGeom prst="rect">
            <a:avLst/>
          </a:prstGeom>
          <a:solidFill>
            <a:srgbClr val="ECE6FA"/>
          </a:solidFill>
          <a:ln w="6350">
            <a:solidFill>
              <a:srgbClr val="6C4FBF"/>
            </a:solidFill>
            <a:prstDash val="solid"/>
          </a:ln>
        </p:spPr>
      </p:sp>
      <p:sp>
        <p:nvSpPr>
          <p:cNvPr id="76" name="Text 74"/>
          <p:cNvSpPr txBox="1"/>
          <p:nvPr/>
        </p:nvSpPr>
        <p:spPr>
          <a:xfrm>
            <a:off x="10267524" y="1627632"/>
            <a:ext cx="146423"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M</a:t>
            </a:r>
            <a:endParaRPr lang="en-US" sz="600" dirty="0"/>
          </a:p>
        </p:txBody>
      </p:sp>
      <p:sp>
        <p:nvSpPr>
          <p:cNvPr id="77" name="Text 75"/>
          <p:cNvSpPr txBox="1"/>
          <p:nvPr/>
        </p:nvSpPr>
        <p:spPr>
          <a:xfrm>
            <a:off x="10038924"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67</a:t>
            </a:r>
            <a:endParaRPr lang="en-US" sz="650" dirty="0"/>
          </a:p>
        </p:txBody>
      </p:sp>
      <p:sp>
        <p:nvSpPr>
          <p:cNvPr id="78" name="Shape 76"/>
          <p:cNvSpPr/>
          <p:nvPr/>
        </p:nvSpPr>
        <p:spPr>
          <a:xfrm>
            <a:off x="10413947" y="1627632"/>
            <a:ext cx="146423" cy="384048"/>
          </a:xfrm>
          <a:prstGeom prst="rect">
            <a:avLst/>
          </a:prstGeom>
          <a:solidFill>
            <a:srgbClr val="E3EEFB"/>
          </a:solidFill>
          <a:ln w="6350">
            <a:solidFill>
              <a:srgbClr val="2F6DB5"/>
            </a:solidFill>
            <a:prstDash val="solid"/>
          </a:ln>
        </p:spPr>
      </p:sp>
      <p:sp>
        <p:nvSpPr>
          <p:cNvPr id="79" name="Shape 77"/>
          <p:cNvSpPr/>
          <p:nvPr/>
        </p:nvSpPr>
        <p:spPr>
          <a:xfrm>
            <a:off x="10560370" y="1627632"/>
            <a:ext cx="146423" cy="384048"/>
          </a:xfrm>
          <a:prstGeom prst="rect">
            <a:avLst/>
          </a:prstGeom>
          <a:solidFill>
            <a:srgbClr val="EEF1F5"/>
          </a:solidFill>
          <a:ln w="6350">
            <a:solidFill>
              <a:srgbClr val="5B6B7F"/>
            </a:solidFill>
            <a:prstDash val="solid"/>
          </a:ln>
        </p:spPr>
      </p:sp>
      <p:sp>
        <p:nvSpPr>
          <p:cNvPr id="80" name="Shape 78"/>
          <p:cNvSpPr/>
          <p:nvPr/>
        </p:nvSpPr>
        <p:spPr>
          <a:xfrm>
            <a:off x="10706793" y="1627632"/>
            <a:ext cx="146423" cy="384048"/>
          </a:xfrm>
          <a:prstGeom prst="rect">
            <a:avLst/>
          </a:prstGeom>
          <a:solidFill>
            <a:srgbClr val="E3EEFB"/>
          </a:solidFill>
          <a:ln w="6350">
            <a:solidFill>
              <a:srgbClr val="2F6DB5"/>
            </a:solidFill>
            <a:prstDash val="solid"/>
          </a:ln>
        </p:spPr>
      </p:sp>
      <p:sp>
        <p:nvSpPr>
          <p:cNvPr id="81" name="Shape 79"/>
          <p:cNvSpPr/>
          <p:nvPr/>
        </p:nvSpPr>
        <p:spPr>
          <a:xfrm>
            <a:off x="10853215" y="1627632"/>
            <a:ext cx="146423" cy="384048"/>
          </a:xfrm>
          <a:prstGeom prst="rect">
            <a:avLst/>
          </a:prstGeom>
          <a:solidFill>
            <a:srgbClr val="E5F3E7"/>
          </a:solidFill>
          <a:ln w="6350">
            <a:solidFill>
              <a:srgbClr val="2E7D32"/>
            </a:solidFill>
            <a:prstDash val="solid"/>
          </a:ln>
        </p:spPr>
      </p:sp>
      <p:sp>
        <p:nvSpPr>
          <p:cNvPr id="82" name="Shape 80"/>
          <p:cNvSpPr/>
          <p:nvPr/>
        </p:nvSpPr>
        <p:spPr>
          <a:xfrm>
            <a:off x="10999638" y="1627632"/>
            <a:ext cx="585691" cy="384048"/>
          </a:xfrm>
          <a:prstGeom prst="rect">
            <a:avLst/>
          </a:prstGeom>
          <a:solidFill>
            <a:srgbClr val="FFF1DC"/>
          </a:solidFill>
          <a:ln w="6350">
            <a:solidFill>
              <a:srgbClr val="D98A1E"/>
            </a:solidFill>
            <a:prstDash val="solid"/>
          </a:ln>
        </p:spPr>
      </p:sp>
      <p:sp>
        <p:nvSpPr>
          <p:cNvPr id="83" name="Text 81"/>
          <p:cNvSpPr txBox="1"/>
          <p:nvPr/>
        </p:nvSpPr>
        <p:spPr>
          <a:xfrm>
            <a:off x="10999638" y="1627632"/>
            <a:ext cx="585691"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GSTORE</a:t>
            </a:r>
            <a:endParaRPr lang="en-US" sz="600" dirty="0"/>
          </a:p>
        </p:txBody>
      </p:sp>
      <p:sp>
        <p:nvSpPr>
          <p:cNvPr id="84" name="Text 82"/>
          <p:cNvSpPr txBox="1"/>
          <p:nvPr/>
        </p:nvSpPr>
        <p:spPr>
          <a:xfrm>
            <a:off x="10771038"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72</a:t>
            </a:r>
            <a:endParaRPr lang="en-US" sz="650" dirty="0"/>
          </a:p>
        </p:txBody>
      </p:sp>
      <p:sp>
        <p:nvSpPr>
          <p:cNvPr id="85" name="Shape 83"/>
          <p:cNvSpPr/>
          <p:nvPr/>
        </p:nvSpPr>
        <p:spPr>
          <a:xfrm>
            <a:off x="11585329" y="1627632"/>
            <a:ext cx="146423" cy="384048"/>
          </a:xfrm>
          <a:prstGeom prst="rect">
            <a:avLst/>
          </a:prstGeom>
          <a:solidFill>
            <a:srgbClr val="FBE9E7"/>
          </a:solidFill>
          <a:ln w="6350">
            <a:solidFill>
              <a:srgbClr val="C0392B"/>
            </a:solidFill>
            <a:prstDash val="solid"/>
          </a:ln>
        </p:spPr>
      </p:sp>
      <p:sp>
        <p:nvSpPr>
          <p:cNvPr id="86" name="Text 84"/>
          <p:cNvSpPr txBox="1"/>
          <p:nvPr/>
        </p:nvSpPr>
        <p:spPr>
          <a:xfrm>
            <a:off x="11585329" y="1627632"/>
            <a:ext cx="146423"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HALT</a:t>
            </a:r>
            <a:endParaRPr lang="en-US" sz="600" dirty="0"/>
          </a:p>
        </p:txBody>
      </p:sp>
      <p:sp>
        <p:nvSpPr>
          <p:cNvPr id="87" name="Text 85"/>
          <p:cNvSpPr txBox="1"/>
          <p:nvPr/>
        </p:nvSpPr>
        <p:spPr>
          <a:xfrm>
            <a:off x="11356729" y="2029968"/>
            <a:ext cx="457200" cy="146304"/>
          </a:xfrm>
          <a:prstGeom prst="rect">
            <a:avLst/>
          </a:prstGeom>
          <a:noFill/>
          <a:ln/>
        </p:spPr>
        <p:txBody>
          <a:bodyPr wrap="square" lIns="0" tIns="0" rIns="0" bIns="0" rtlCol="0" anchor="t"/>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76</a:t>
            </a:r>
            <a:endParaRPr lang="en-US" sz="650" dirty="0"/>
          </a:p>
        </p:txBody>
      </p:sp>
      <p:sp>
        <p:nvSpPr>
          <p:cNvPr id="88" name="Text 86"/>
          <p:cNvSpPr txBox="1"/>
          <p:nvPr/>
        </p:nvSpPr>
        <p:spPr>
          <a:xfrm>
            <a:off x="457200" y="2212848"/>
            <a:ext cx="11274552" cy="201168"/>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0–3 상수 pool  ·  4–47 커널 0 (W1·X GLOAD, tile 0 MAC=0 SAVE, tile 1 MAC=0 SAVE → H 직접)  ·  48–75 커널 1 (W2 GLOAD, MAC 0/1, SAVE Y, GSTORE)  ·  76 HALT</a:t>
            </a:r>
            <a:endParaRPr lang="en-US" sz="750" dirty="0"/>
          </a:p>
        </p:txBody>
      </p:sp>
      <p:sp>
        <p:nvSpPr>
          <p:cNvPr id="89" name="Text 87"/>
          <p:cNvSpPr txBox="1"/>
          <p:nvPr/>
        </p:nvSpPr>
        <p:spPr>
          <a:xfrm>
            <a:off x="457200" y="2560320"/>
            <a:ext cx="5852160"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DMA packet 해독 (word 8–11: X를 SRAM byte 1548로)</a:t>
            </a:r>
            <a:endParaRPr lang="en-US" sz="900" dirty="0"/>
          </a:p>
        </p:txBody>
      </p:sp>
      <p:sp>
        <p:nvSpPr>
          <p:cNvPr id="90" name="Text 88"/>
          <p:cNvSpPr txBox="1"/>
          <p:nvPr/>
        </p:nvSpPr>
        <p:spPr>
          <a:xfrm>
            <a:off x="457200" y="3072384"/>
            <a:ext cx="822960" cy="274320"/>
          </a:xfrm>
          <a:prstGeom prst="rect">
            <a:avLst/>
          </a:prstGeom>
          <a:noFill/>
          <a:ln/>
        </p:spPr>
        <p:txBody>
          <a:bodyPr wrap="square" lIns="0" tIns="0" rIns="0" bIns="0" rtlCol="0" anchor="t"/>
          <a:lstStyle/>
          <a:p>
            <a:pPr algn="l" indent="0" marL="0">
              <a:buNone/>
            </a:pPr>
            <a:r>
              <a:rPr lang="en-US" sz="850" b="1" dirty="0">
                <a:solidFill>
                  <a:srgbClr val="1F2D3D"/>
                </a:solidFill>
                <a:latin typeface="Courier New" pitchFamily="34" charset="0"/>
                <a:ea typeface="Courier New" pitchFamily="34" charset="-122"/>
                <a:cs typeface="Courier New" pitchFamily="34" charset="-120"/>
              </a:rPr>
              <a:t>000c18a0</a:t>
            </a:r>
            <a:endParaRPr lang="en-US" sz="850" dirty="0"/>
          </a:p>
        </p:txBody>
      </p:sp>
      <p:sp>
        <p:nvSpPr>
          <p:cNvPr id="91" name="Shape 89"/>
          <p:cNvSpPr/>
          <p:nvPr/>
        </p:nvSpPr>
        <p:spPr>
          <a:xfrm>
            <a:off x="1325880" y="3017520"/>
            <a:ext cx="3703320" cy="384048"/>
          </a:xfrm>
          <a:prstGeom prst="rect">
            <a:avLst/>
          </a:prstGeom>
          <a:solidFill>
            <a:srgbClr val="DDF3F0"/>
          </a:solidFill>
          <a:ln w="9525">
            <a:solidFill>
              <a:srgbClr val="1F8A8A"/>
            </a:solidFill>
            <a:prstDash val="solid"/>
          </a:ln>
        </p:spPr>
      </p:sp>
      <p:sp>
        <p:nvSpPr>
          <p:cNvPr id="92" name="Text 90"/>
          <p:cNvSpPr txBox="1"/>
          <p:nvPr/>
        </p:nvSpPr>
        <p:spPr>
          <a:xfrm>
            <a:off x="1325880" y="3035808"/>
            <a:ext cx="3703320"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SRAM nibble 주소</a:t>
            </a:r>
            <a:endParaRPr lang="en-US" sz="700" dirty="0"/>
          </a:p>
        </p:txBody>
      </p:sp>
      <p:sp>
        <p:nvSpPr>
          <p:cNvPr id="93" name="Text 91"/>
          <p:cNvSpPr txBox="1"/>
          <p:nvPr/>
        </p:nvSpPr>
        <p:spPr>
          <a:xfrm>
            <a:off x="1325880" y="3209544"/>
            <a:ext cx="3703320"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0xC18 = 3096 nib = byte 1548</a:t>
            </a:r>
            <a:endParaRPr lang="en-US" sz="650" dirty="0"/>
          </a:p>
        </p:txBody>
      </p:sp>
      <p:sp>
        <p:nvSpPr>
          <p:cNvPr id="94" name="Text 92"/>
          <p:cNvSpPr txBox="1"/>
          <p:nvPr/>
        </p:nvSpPr>
        <p:spPr>
          <a:xfrm>
            <a:off x="1325880" y="2834640"/>
            <a:ext cx="370332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31..8</a:t>
            </a:r>
            <a:endParaRPr lang="en-US" sz="700" dirty="0"/>
          </a:p>
        </p:txBody>
      </p:sp>
      <p:sp>
        <p:nvSpPr>
          <p:cNvPr id="95" name="Shape 93"/>
          <p:cNvSpPr/>
          <p:nvPr/>
        </p:nvSpPr>
        <p:spPr>
          <a:xfrm>
            <a:off x="5029200" y="3017520"/>
            <a:ext cx="1234440" cy="384048"/>
          </a:xfrm>
          <a:prstGeom prst="rect">
            <a:avLst/>
          </a:prstGeom>
          <a:solidFill>
            <a:srgbClr val="ECE6FA"/>
          </a:solidFill>
          <a:ln w="9525">
            <a:solidFill>
              <a:srgbClr val="6C4FBF"/>
            </a:solidFill>
            <a:prstDash val="solid"/>
          </a:ln>
        </p:spPr>
      </p:sp>
      <p:sp>
        <p:nvSpPr>
          <p:cNvPr id="96" name="Text 94"/>
          <p:cNvSpPr txBox="1"/>
          <p:nvPr/>
        </p:nvSpPr>
        <p:spPr>
          <a:xfrm>
            <a:off x="5029200" y="3035808"/>
            <a:ext cx="1234440"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op</a:t>
            </a:r>
            <a:endParaRPr lang="en-US" sz="700" dirty="0"/>
          </a:p>
        </p:txBody>
      </p:sp>
      <p:sp>
        <p:nvSpPr>
          <p:cNvPr id="97" name="Text 95"/>
          <p:cNvSpPr txBox="1"/>
          <p:nvPr/>
        </p:nvSpPr>
        <p:spPr>
          <a:xfrm>
            <a:off x="5029200" y="3209544"/>
            <a:ext cx="1234440"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0xA0</a:t>
            </a:r>
            <a:endParaRPr lang="en-US" sz="650" dirty="0"/>
          </a:p>
        </p:txBody>
      </p:sp>
      <p:sp>
        <p:nvSpPr>
          <p:cNvPr id="98" name="Text 96"/>
          <p:cNvSpPr txBox="1"/>
          <p:nvPr/>
        </p:nvSpPr>
        <p:spPr>
          <a:xfrm>
            <a:off x="5029200" y="2834640"/>
            <a:ext cx="123444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7..0</a:t>
            </a:r>
            <a:endParaRPr lang="en-US" sz="700" dirty="0"/>
          </a:p>
        </p:txBody>
      </p:sp>
      <p:sp>
        <p:nvSpPr>
          <p:cNvPr id="99" name="Text 97"/>
          <p:cNvSpPr txBox="1"/>
          <p:nvPr/>
        </p:nvSpPr>
        <p:spPr>
          <a:xfrm>
            <a:off x="457200" y="3639312"/>
            <a:ext cx="822960" cy="274320"/>
          </a:xfrm>
          <a:prstGeom prst="rect">
            <a:avLst/>
          </a:prstGeom>
          <a:noFill/>
          <a:ln/>
        </p:spPr>
        <p:txBody>
          <a:bodyPr wrap="square" lIns="0" tIns="0" rIns="0" bIns="0" rtlCol="0" anchor="t"/>
          <a:lstStyle/>
          <a:p>
            <a:pPr algn="l" indent="0" marL="0">
              <a:buNone/>
            </a:pPr>
            <a:r>
              <a:rPr lang="en-US" sz="850" b="1" dirty="0">
                <a:solidFill>
                  <a:srgbClr val="1F2D3D"/>
                </a:solidFill>
                <a:latin typeface="Courier New" pitchFamily="34" charset="0"/>
                <a:ea typeface="Courier New" pitchFamily="34" charset="-122"/>
                <a:cs typeface="Courier New" pitchFamily="34" charset="-120"/>
              </a:rPr>
              <a:t>00000000</a:t>
            </a:r>
            <a:endParaRPr lang="en-US" sz="850" dirty="0"/>
          </a:p>
        </p:txBody>
      </p:sp>
      <p:sp>
        <p:nvSpPr>
          <p:cNvPr id="100" name="Shape 98"/>
          <p:cNvSpPr/>
          <p:nvPr/>
        </p:nvSpPr>
        <p:spPr>
          <a:xfrm>
            <a:off x="1325880" y="3584448"/>
            <a:ext cx="4937760" cy="384048"/>
          </a:xfrm>
          <a:prstGeom prst="rect">
            <a:avLst/>
          </a:prstGeom>
          <a:solidFill>
            <a:srgbClr val="FFF1DC"/>
          </a:solidFill>
          <a:ln w="9525">
            <a:solidFill>
              <a:srgbClr val="D98A1E"/>
            </a:solidFill>
            <a:prstDash val="solid"/>
          </a:ln>
        </p:spPr>
      </p:sp>
      <p:sp>
        <p:nvSpPr>
          <p:cNvPr id="101" name="Text 99"/>
          <p:cNvSpPr txBox="1"/>
          <p:nvPr/>
        </p:nvSpPr>
        <p:spPr>
          <a:xfrm>
            <a:off x="1325880" y="3602736"/>
            <a:ext cx="4937760"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global cell 주소</a:t>
            </a:r>
            <a:endParaRPr lang="en-US" sz="700" dirty="0"/>
          </a:p>
        </p:txBody>
      </p:sp>
      <p:sp>
        <p:nvSpPr>
          <p:cNvPr id="102" name="Text 100"/>
          <p:cNvSpPr txBox="1"/>
          <p:nvPr/>
        </p:nvSpPr>
        <p:spPr>
          <a:xfrm>
            <a:off x="1325880" y="3776472"/>
            <a:ext cx="4937760"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 → byte 0 (X)</a:t>
            </a:r>
            <a:endParaRPr lang="en-US" sz="650" dirty="0"/>
          </a:p>
        </p:txBody>
      </p:sp>
      <p:sp>
        <p:nvSpPr>
          <p:cNvPr id="103" name="Text 101"/>
          <p:cNvSpPr txBox="1"/>
          <p:nvPr/>
        </p:nvSpPr>
        <p:spPr>
          <a:xfrm>
            <a:off x="1325880" y="3401568"/>
            <a:ext cx="493776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31..0</a:t>
            </a:r>
            <a:endParaRPr lang="en-US" sz="700" dirty="0"/>
          </a:p>
        </p:txBody>
      </p:sp>
      <p:sp>
        <p:nvSpPr>
          <p:cNvPr id="104" name="Text 102"/>
          <p:cNvSpPr txBox="1"/>
          <p:nvPr/>
        </p:nvSpPr>
        <p:spPr>
          <a:xfrm>
            <a:off x="457200" y="4206240"/>
            <a:ext cx="822960" cy="274320"/>
          </a:xfrm>
          <a:prstGeom prst="rect">
            <a:avLst/>
          </a:prstGeom>
          <a:noFill/>
          <a:ln/>
        </p:spPr>
        <p:txBody>
          <a:bodyPr wrap="square" lIns="0" tIns="0" rIns="0" bIns="0" rtlCol="0" anchor="t"/>
          <a:lstStyle/>
          <a:p>
            <a:pPr algn="l" indent="0" marL="0">
              <a:buNone/>
            </a:pPr>
            <a:r>
              <a:rPr lang="en-US" sz="850" b="1" dirty="0">
                <a:solidFill>
                  <a:srgbClr val="1F2D3D"/>
                </a:solidFill>
                <a:latin typeface="Courier New" pitchFamily="34" charset="0"/>
                <a:ea typeface="Courier New" pitchFamily="34" charset="-122"/>
                <a:cs typeface="Courier New" pitchFamily="34" charset="-120"/>
              </a:rPr>
              <a:t>00000800</a:t>
            </a:r>
            <a:endParaRPr lang="en-US" sz="850" dirty="0"/>
          </a:p>
        </p:txBody>
      </p:sp>
      <p:sp>
        <p:nvSpPr>
          <p:cNvPr id="105" name="Shape 103"/>
          <p:cNvSpPr/>
          <p:nvPr/>
        </p:nvSpPr>
        <p:spPr>
          <a:xfrm>
            <a:off x="1325880" y="4151376"/>
            <a:ext cx="4937760" cy="384048"/>
          </a:xfrm>
          <a:prstGeom prst="rect">
            <a:avLst/>
          </a:prstGeom>
          <a:solidFill>
            <a:srgbClr val="FFF1DC"/>
          </a:solidFill>
          <a:ln w="9525">
            <a:solidFill>
              <a:srgbClr val="D98A1E"/>
            </a:solidFill>
            <a:prstDash val="solid"/>
          </a:ln>
        </p:spPr>
      </p:sp>
      <p:sp>
        <p:nvSpPr>
          <p:cNvPr id="106" name="Text 104"/>
          <p:cNvSpPr txBox="1"/>
          <p:nvPr/>
        </p:nvSpPr>
        <p:spPr>
          <a:xfrm>
            <a:off x="1325880" y="4169664"/>
            <a:ext cx="4937760"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row stride (cells)</a:t>
            </a:r>
            <a:endParaRPr lang="en-US" sz="700" dirty="0"/>
          </a:p>
        </p:txBody>
      </p:sp>
      <p:sp>
        <p:nvSpPr>
          <p:cNvPr id="107" name="Text 105"/>
          <p:cNvSpPr txBox="1"/>
          <p:nvPr/>
        </p:nvSpPr>
        <p:spPr>
          <a:xfrm>
            <a:off x="1325880" y="4343400"/>
            <a:ext cx="4937760"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2048 cells = 8192 B</a:t>
            </a:r>
            <a:endParaRPr lang="en-US" sz="650" dirty="0"/>
          </a:p>
        </p:txBody>
      </p:sp>
      <p:sp>
        <p:nvSpPr>
          <p:cNvPr id="108" name="Text 106"/>
          <p:cNvSpPr txBox="1"/>
          <p:nvPr/>
        </p:nvSpPr>
        <p:spPr>
          <a:xfrm>
            <a:off x="1325880" y="3968496"/>
            <a:ext cx="493776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31..0</a:t>
            </a:r>
            <a:endParaRPr lang="en-US" sz="700" dirty="0"/>
          </a:p>
        </p:txBody>
      </p:sp>
      <p:sp>
        <p:nvSpPr>
          <p:cNvPr id="109" name="Text 107"/>
          <p:cNvSpPr txBox="1"/>
          <p:nvPr/>
        </p:nvSpPr>
        <p:spPr>
          <a:xfrm>
            <a:off x="457200" y="4773168"/>
            <a:ext cx="822960" cy="274320"/>
          </a:xfrm>
          <a:prstGeom prst="rect">
            <a:avLst/>
          </a:prstGeom>
          <a:noFill/>
          <a:ln/>
        </p:spPr>
        <p:txBody>
          <a:bodyPr wrap="square" lIns="0" tIns="0" rIns="0" bIns="0" rtlCol="0" anchor="t"/>
          <a:lstStyle/>
          <a:p>
            <a:pPr algn="l" indent="0" marL="0">
              <a:buNone/>
            </a:pPr>
            <a:r>
              <a:rPr lang="en-US" sz="850" b="1" dirty="0">
                <a:solidFill>
                  <a:srgbClr val="1F2D3D"/>
                </a:solidFill>
                <a:latin typeface="Courier New" pitchFamily="34" charset="0"/>
                <a:ea typeface="Courier New" pitchFamily="34" charset="-122"/>
                <a:cs typeface="Courier New" pitchFamily="34" charset="-120"/>
              </a:rPr>
              <a:t>00010800</a:t>
            </a:r>
            <a:endParaRPr lang="en-US" sz="850" dirty="0"/>
          </a:p>
        </p:txBody>
      </p:sp>
      <p:sp>
        <p:nvSpPr>
          <p:cNvPr id="110" name="Shape 108"/>
          <p:cNvSpPr/>
          <p:nvPr/>
        </p:nvSpPr>
        <p:spPr>
          <a:xfrm>
            <a:off x="1325880" y="4718304"/>
            <a:ext cx="2468880" cy="384048"/>
          </a:xfrm>
          <a:prstGeom prst="rect">
            <a:avLst/>
          </a:prstGeom>
          <a:solidFill>
            <a:srgbClr val="E3EEFB"/>
          </a:solidFill>
          <a:ln w="9525">
            <a:solidFill>
              <a:srgbClr val="2F6DB5"/>
            </a:solidFill>
            <a:prstDash val="solid"/>
          </a:ln>
        </p:spPr>
      </p:sp>
      <p:sp>
        <p:nvSpPr>
          <p:cNvPr id="111" name="Text 109"/>
          <p:cNvSpPr txBox="1"/>
          <p:nvPr/>
        </p:nvSpPr>
        <p:spPr>
          <a:xfrm>
            <a:off x="1325880" y="4736592"/>
            <a:ext cx="2468880"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rows</a:t>
            </a:r>
            <a:endParaRPr lang="en-US" sz="700" dirty="0"/>
          </a:p>
        </p:txBody>
      </p:sp>
      <p:sp>
        <p:nvSpPr>
          <p:cNvPr id="112" name="Text 110"/>
          <p:cNvSpPr txBox="1"/>
          <p:nvPr/>
        </p:nvSpPr>
        <p:spPr>
          <a:xfrm>
            <a:off x="1325880" y="4910328"/>
            <a:ext cx="2468880"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1</a:t>
            </a:r>
            <a:endParaRPr lang="en-US" sz="650" dirty="0"/>
          </a:p>
        </p:txBody>
      </p:sp>
      <p:sp>
        <p:nvSpPr>
          <p:cNvPr id="113" name="Text 111"/>
          <p:cNvSpPr txBox="1"/>
          <p:nvPr/>
        </p:nvSpPr>
        <p:spPr>
          <a:xfrm>
            <a:off x="1325880" y="4535424"/>
            <a:ext cx="246888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31..16</a:t>
            </a:r>
            <a:endParaRPr lang="en-US" sz="700" dirty="0"/>
          </a:p>
        </p:txBody>
      </p:sp>
      <p:sp>
        <p:nvSpPr>
          <p:cNvPr id="114" name="Shape 112"/>
          <p:cNvSpPr/>
          <p:nvPr/>
        </p:nvSpPr>
        <p:spPr>
          <a:xfrm>
            <a:off x="3794760" y="4718304"/>
            <a:ext cx="2468880" cy="384048"/>
          </a:xfrm>
          <a:prstGeom prst="rect">
            <a:avLst/>
          </a:prstGeom>
          <a:solidFill>
            <a:srgbClr val="E3EEFB"/>
          </a:solidFill>
          <a:ln w="9525">
            <a:solidFill>
              <a:srgbClr val="2F6DB5"/>
            </a:solidFill>
            <a:prstDash val="solid"/>
          </a:ln>
        </p:spPr>
      </p:sp>
      <p:sp>
        <p:nvSpPr>
          <p:cNvPr id="115" name="Text 113"/>
          <p:cNvSpPr txBox="1"/>
          <p:nvPr/>
        </p:nvSpPr>
        <p:spPr>
          <a:xfrm>
            <a:off x="3794760" y="4736592"/>
            <a:ext cx="2468880"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cols (cells)</a:t>
            </a:r>
            <a:endParaRPr lang="en-US" sz="700" dirty="0"/>
          </a:p>
        </p:txBody>
      </p:sp>
      <p:sp>
        <p:nvSpPr>
          <p:cNvPr id="116" name="Text 114"/>
          <p:cNvSpPr txBox="1"/>
          <p:nvPr/>
        </p:nvSpPr>
        <p:spPr>
          <a:xfrm>
            <a:off x="3794760" y="4910328"/>
            <a:ext cx="2468880"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2048 = 8192 B</a:t>
            </a:r>
            <a:endParaRPr lang="en-US" sz="650" dirty="0"/>
          </a:p>
        </p:txBody>
      </p:sp>
      <p:sp>
        <p:nvSpPr>
          <p:cNvPr id="117" name="Text 115"/>
          <p:cNvSpPr txBox="1"/>
          <p:nvPr/>
        </p:nvSpPr>
        <p:spPr>
          <a:xfrm>
            <a:off x="3794760" y="4535424"/>
            <a:ext cx="2468880"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15..0</a:t>
            </a:r>
            <a:endParaRPr lang="en-US" sz="700" dirty="0"/>
          </a:p>
        </p:txBody>
      </p:sp>
      <p:sp>
        <p:nvSpPr>
          <p:cNvPr id="118" name="Text 116"/>
          <p:cNvSpPr txBox="1"/>
          <p:nvPr/>
        </p:nvSpPr>
        <p:spPr>
          <a:xfrm>
            <a:off x="457200" y="5303520"/>
            <a:ext cx="5852160" cy="457200"/>
          </a:xfrm>
          <a:prstGeom prst="rect">
            <a:avLst/>
          </a:prstGeom>
          <a:noFill/>
          <a:ln/>
        </p:spPr>
        <p:txBody>
          <a:bodyPr wrap="square" lIns="0" tIns="0" rIns="0" bIns="0" rtlCol="0" anchor="t"/>
          <a:lstStyle/>
          <a:p>
            <a:pPr algn="l" indent="0" marL="0">
              <a:buNone/>
            </a:pPr>
            <a:r>
              <a:rPr lang="en-US" sz="750" dirty="0">
                <a:solidFill>
                  <a:srgbClr val="5B6B7F"/>
                </a:solidFill>
                <a:latin typeface="Malgun Gothic" pitchFamily="34" charset="0"/>
                <a:ea typeface="Malgun Gothic" pitchFamily="34" charset="-122"/>
                <a:cs typeface="Malgun Gothic" pitchFamily="34" charset="-120"/>
              </a:rPr>
              <a:t>단위: SRAM nibble(fp16 = 4), global 32-bit cell(×4 B), plan unit 2 B. 한 숫자를 다른 단위로 읽으면 2배/4배 어긋남. DMA는 dtype 없는 cell 이동.</a:t>
            </a:r>
            <a:endParaRPr lang="en-US" sz="750" dirty="0"/>
          </a:p>
        </p:txBody>
      </p:sp>
      <p:sp>
        <p:nvSpPr>
          <p:cNvPr id="119" name="Text 117"/>
          <p:cNvSpPr txBox="1"/>
          <p:nvPr/>
        </p:nvSpPr>
        <p:spPr>
          <a:xfrm>
            <a:off x="6629400" y="2560320"/>
            <a:ext cx="5120640"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M_MUL word: 80000042 (MAC=0) vs 88000042 (MAC=1)</a:t>
            </a:r>
            <a:endParaRPr lang="en-US" sz="900" dirty="0"/>
          </a:p>
        </p:txBody>
      </p:sp>
      <p:sp>
        <p:nvSpPr>
          <p:cNvPr id="120" name="Shape 118"/>
          <p:cNvSpPr/>
          <p:nvPr/>
        </p:nvSpPr>
        <p:spPr>
          <a:xfrm>
            <a:off x="6629400" y="3017520"/>
            <a:ext cx="318897" cy="384048"/>
          </a:xfrm>
          <a:prstGeom prst="rect">
            <a:avLst/>
          </a:prstGeom>
          <a:solidFill>
            <a:srgbClr val="ECE6FA"/>
          </a:solidFill>
          <a:ln w="9525">
            <a:solidFill>
              <a:srgbClr val="6C4FBF"/>
            </a:solidFill>
            <a:prstDash val="solid"/>
          </a:ln>
        </p:spPr>
      </p:sp>
      <p:sp>
        <p:nvSpPr>
          <p:cNvPr id="121" name="Text 119"/>
          <p:cNvSpPr txBox="1"/>
          <p:nvPr/>
        </p:nvSpPr>
        <p:spPr>
          <a:xfrm>
            <a:off x="6629400" y="3035808"/>
            <a:ext cx="318897"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mode</a:t>
            </a:r>
            <a:endParaRPr lang="en-US" sz="700" dirty="0"/>
          </a:p>
        </p:txBody>
      </p:sp>
      <p:sp>
        <p:nvSpPr>
          <p:cNvPr id="122" name="Text 120"/>
          <p:cNvSpPr txBox="1"/>
          <p:nvPr/>
        </p:nvSpPr>
        <p:spPr>
          <a:xfrm>
            <a:off x="6629400" y="3209544"/>
            <a:ext cx="318897"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VECTOR</a:t>
            </a:r>
            <a:endParaRPr lang="en-US" sz="650" dirty="0"/>
          </a:p>
        </p:txBody>
      </p:sp>
      <p:sp>
        <p:nvSpPr>
          <p:cNvPr id="123" name="Text 121"/>
          <p:cNvSpPr txBox="1"/>
          <p:nvPr/>
        </p:nvSpPr>
        <p:spPr>
          <a:xfrm>
            <a:off x="6629400" y="2834640"/>
            <a:ext cx="318897"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31..30</a:t>
            </a:r>
            <a:endParaRPr lang="en-US" sz="700" dirty="0"/>
          </a:p>
        </p:txBody>
      </p:sp>
      <p:sp>
        <p:nvSpPr>
          <p:cNvPr id="124" name="Shape 122"/>
          <p:cNvSpPr/>
          <p:nvPr/>
        </p:nvSpPr>
        <p:spPr>
          <a:xfrm>
            <a:off x="6948297" y="3017520"/>
            <a:ext cx="318897" cy="384048"/>
          </a:xfrm>
          <a:prstGeom prst="rect">
            <a:avLst/>
          </a:prstGeom>
          <a:solidFill>
            <a:srgbClr val="E3EEFB"/>
          </a:solidFill>
          <a:ln w="9525">
            <a:solidFill>
              <a:srgbClr val="2F6DB5"/>
            </a:solidFill>
            <a:prstDash val="solid"/>
          </a:ln>
        </p:spPr>
      </p:sp>
      <p:sp>
        <p:nvSpPr>
          <p:cNvPr id="125" name="Text 123"/>
          <p:cNvSpPr txBox="1"/>
          <p:nvPr/>
        </p:nvSpPr>
        <p:spPr>
          <a:xfrm>
            <a:off x="6948297" y="3035808"/>
            <a:ext cx="318897"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act</a:t>
            </a:r>
            <a:endParaRPr lang="en-US" sz="700" dirty="0"/>
          </a:p>
        </p:txBody>
      </p:sp>
      <p:sp>
        <p:nvSpPr>
          <p:cNvPr id="126" name="Text 124"/>
          <p:cNvSpPr txBox="1"/>
          <p:nvPr/>
        </p:nvSpPr>
        <p:spPr>
          <a:xfrm>
            <a:off x="6948297" y="3209544"/>
            <a:ext cx="318897"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OFF</a:t>
            </a:r>
            <a:endParaRPr lang="en-US" sz="650" dirty="0"/>
          </a:p>
        </p:txBody>
      </p:sp>
      <p:sp>
        <p:nvSpPr>
          <p:cNvPr id="127" name="Text 125"/>
          <p:cNvSpPr txBox="1"/>
          <p:nvPr/>
        </p:nvSpPr>
        <p:spPr>
          <a:xfrm>
            <a:off x="6948297" y="2834640"/>
            <a:ext cx="318897"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29..28</a:t>
            </a:r>
            <a:endParaRPr lang="en-US" sz="700" dirty="0"/>
          </a:p>
        </p:txBody>
      </p:sp>
      <p:sp>
        <p:nvSpPr>
          <p:cNvPr id="128" name="Shape 126"/>
          <p:cNvSpPr/>
          <p:nvPr/>
        </p:nvSpPr>
        <p:spPr>
          <a:xfrm>
            <a:off x="7267194" y="3017520"/>
            <a:ext cx="159449" cy="384048"/>
          </a:xfrm>
          <a:prstGeom prst="rect">
            <a:avLst/>
          </a:prstGeom>
          <a:solidFill>
            <a:srgbClr val="FBE9E7"/>
          </a:solidFill>
          <a:ln w="9525">
            <a:solidFill>
              <a:srgbClr val="C0392B"/>
            </a:solidFill>
            <a:prstDash val="solid"/>
          </a:ln>
        </p:spPr>
      </p:sp>
      <p:sp>
        <p:nvSpPr>
          <p:cNvPr id="129" name="Text 127"/>
          <p:cNvSpPr txBox="1"/>
          <p:nvPr/>
        </p:nvSpPr>
        <p:spPr>
          <a:xfrm>
            <a:off x="7267194" y="3035808"/>
            <a:ext cx="159449"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MAC</a:t>
            </a:r>
            <a:endParaRPr lang="en-US" sz="700" dirty="0"/>
          </a:p>
        </p:txBody>
      </p:sp>
      <p:sp>
        <p:nvSpPr>
          <p:cNvPr id="130" name="Text 128"/>
          <p:cNvSpPr txBox="1"/>
          <p:nvPr/>
        </p:nvSpPr>
        <p:spPr>
          <a:xfrm>
            <a:off x="7267194" y="3209544"/>
            <a:ext cx="159449"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0/1</a:t>
            </a:r>
            <a:endParaRPr lang="en-US" sz="650" dirty="0"/>
          </a:p>
        </p:txBody>
      </p:sp>
      <p:sp>
        <p:nvSpPr>
          <p:cNvPr id="131" name="Text 129"/>
          <p:cNvSpPr txBox="1"/>
          <p:nvPr/>
        </p:nvSpPr>
        <p:spPr>
          <a:xfrm>
            <a:off x="7267194" y="2834640"/>
            <a:ext cx="159449"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27</a:t>
            </a:r>
            <a:endParaRPr lang="en-US" sz="700" dirty="0"/>
          </a:p>
        </p:txBody>
      </p:sp>
      <p:sp>
        <p:nvSpPr>
          <p:cNvPr id="132" name="Shape 130"/>
          <p:cNvSpPr/>
          <p:nvPr/>
        </p:nvSpPr>
        <p:spPr>
          <a:xfrm>
            <a:off x="7426642" y="3017520"/>
            <a:ext cx="478346" cy="384048"/>
          </a:xfrm>
          <a:prstGeom prst="rect">
            <a:avLst/>
          </a:prstGeom>
          <a:solidFill>
            <a:srgbClr val="EEF2F6"/>
          </a:solidFill>
          <a:ln w="9525">
            <a:solidFill>
              <a:srgbClr val="C9D3DF"/>
            </a:solidFill>
            <a:prstDash val="solid"/>
          </a:ln>
        </p:spPr>
      </p:sp>
      <p:sp>
        <p:nvSpPr>
          <p:cNvPr id="133" name="Text 131"/>
          <p:cNvSpPr txBox="1"/>
          <p:nvPr/>
        </p:nvSpPr>
        <p:spPr>
          <a:xfrm>
            <a:off x="7426642" y="3035808"/>
            <a:ext cx="478346" cy="192024"/>
          </a:xfrm>
          <a:prstGeom prst="rect">
            <a:avLst/>
          </a:prstGeom>
          <a:noFill/>
          <a:ln/>
        </p:spPr>
        <p:txBody>
          <a:bodyPr wrap="square" lIns="0" tIns="0" rIns="0" bIns="0" rtlCol="0" anchor="ctr"/>
          <a:lstStyle/>
          <a:p>
            <a:pPr algn="ctr" indent="0" marL="0">
              <a:buNone/>
            </a:pPr>
            <a:endParaRPr lang="en-US" sz="700" dirty="0"/>
          </a:p>
        </p:txBody>
      </p:sp>
      <p:sp>
        <p:nvSpPr>
          <p:cNvPr id="134" name="Text 132"/>
          <p:cNvSpPr txBox="1"/>
          <p:nvPr/>
        </p:nvSpPr>
        <p:spPr>
          <a:xfrm>
            <a:off x="7426642" y="2834640"/>
            <a:ext cx="478346"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26..24</a:t>
            </a:r>
            <a:endParaRPr lang="en-US" sz="700" dirty="0"/>
          </a:p>
        </p:txBody>
      </p:sp>
      <p:sp>
        <p:nvSpPr>
          <p:cNvPr id="135" name="Shape 133"/>
          <p:cNvSpPr/>
          <p:nvPr/>
        </p:nvSpPr>
        <p:spPr>
          <a:xfrm>
            <a:off x="7904988" y="3017520"/>
            <a:ext cx="2551176" cy="384048"/>
          </a:xfrm>
          <a:prstGeom prst="rect">
            <a:avLst/>
          </a:prstGeom>
          <a:solidFill>
            <a:srgbClr val="EEF2F6"/>
          </a:solidFill>
          <a:ln w="9525">
            <a:solidFill>
              <a:srgbClr val="C9D3DF"/>
            </a:solidFill>
            <a:prstDash val="solid"/>
          </a:ln>
        </p:spPr>
      </p:sp>
      <p:sp>
        <p:nvSpPr>
          <p:cNvPr id="136" name="Text 134"/>
          <p:cNvSpPr txBox="1"/>
          <p:nvPr/>
        </p:nvSpPr>
        <p:spPr>
          <a:xfrm>
            <a:off x="7904988" y="3035808"/>
            <a:ext cx="2551176"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imm</a:t>
            </a:r>
            <a:endParaRPr lang="en-US" sz="700" dirty="0"/>
          </a:p>
        </p:txBody>
      </p:sp>
      <p:sp>
        <p:nvSpPr>
          <p:cNvPr id="137" name="Text 135"/>
          <p:cNvSpPr txBox="1"/>
          <p:nvPr/>
        </p:nvSpPr>
        <p:spPr>
          <a:xfrm>
            <a:off x="7904988" y="3209544"/>
            <a:ext cx="2551176"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a:t>
            </a:r>
            <a:endParaRPr lang="en-US" sz="650" dirty="0"/>
          </a:p>
        </p:txBody>
      </p:sp>
      <p:sp>
        <p:nvSpPr>
          <p:cNvPr id="138" name="Text 136"/>
          <p:cNvSpPr txBox="1"/>
          <p:nvPr/>
        </p:nvSpPr>
        <p:spPr>
          <a:xfrm>
            <a:off x="7904988" y="2834640"/>
            <a:ext cx="2551176"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23..8</a:t>
            </a:r>
            <a:endParaRPr lang="en-US" sz="700" dirty="0"/>
          </a:p>
        </p:txBody>
      </p:sp>
      <p:sp>
        <p:nvSpPr>
          <p:cNvPr id="139" name="Shape 137"/>
          <p:cNvSpPr/>
          <p:nvPr/>
        </p:nvSpPr>
        <p:spPr>
          <a:xfrm>
            <a:off x="10456164" y="3017520"/>
            <a:ext cx="1275588" cy="384048"/>
          </a:xfrm>
          <a:prstGeom prst="rect">
            <a:avLst/>
          </a:prstGeom>
          <a:solidFill>
            <a:srgbClr val="ECE6FA"/>
          </a:solidFill>
          <a:ln w="9525">
            <a:solidFill>
              <a:srgbClr val="6C4FBF"/>
            </a:solidFill>
            <a:prstDash val="solid"/>
          </a:ln>
        </p:spPr>
      </p:sp>
      <p:sp>
        <p:nvSpPr>
          <p:cNvPr id="140" name="Text 138"/>
          <p:cNvSpPr txBox="1"/>
          <p:nvPr/>
        </p:nvSpPr>
        <p:spPr>
          <a:xfrm>
            <a:off x="10456164" y="3035808"/>
            <a:ext cx="1275588" cy="192024"/>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op</a:t>
            </a:r>
            <a:endParaRPr lang="en-US" sz="700" dirty="0"/>
          </a:p>
        </p:txBody>
      </p:sp>
      <p:sp>
        <p:nvSpPr>
          <p:cNvPr id="141" name="Text 139"/>
          <p:cNvSpPr txBox="1"/>
          <p:nvPr/>
        </p:nvSpPr>
        <p:spPr>
          <a:xfrm>
            <a:off x="10456164" y="3209544"/>
            <a:ext cx="1275588" cy="176662"/>
          </a:xfrm>
          <a:prstGeom prst="rect">
            <a:avLst/>
          </a:prstGeom>
          <a:noFill/>
          <a:ln/>
        </p:spPr>
        <p:txBody>
          <a:bodyPr wrap="square" lIns="0" tIns="0" rIns="0" bIns="0" rtlCol="0" anchor="ctr"/>
          <a:lstStyle/>
          <a:p>
            <a:pPr algn="ctr" indent="0" marL="0">
              <a:buNone/>
            </a:pPr>
            <a:r>
              <a:rPr lang="en-US" sz="650" dirty="0">
                <a:solidFill>
                  <a:srgbClr val="5B6B7F"/>
                </a:solidFill>
                <a:latin typeface="Courier New" pitchFamily="34" charset="0"/>
                <a:ea typeface="Courier New" pitchFamily="34" charset="-122"/>
                <a:cs typeface="Courier New" pitchFamily="34" charset="-120"/>
              </a:rPr>
              <a:t>0x42</a:t>
            </a:r>
            <a:endParaRPr lang="en-US" sz="650" dirty="0"/>
          </a:p>
        </p:txBody>
      </p:sp>
      <p:sp>
        <p:nvSpPr>
          <p:cNvPr id="142" name="Text 140"/>
          <p:cNvSpPr txBox="1"/>
          <p:nvPr/>
        </p:nvSpPr>
        <p:spPr>
          <a:xfrm>
            <a:off x="10456164" y="2834640"/>
            <a:ext cx="1275588" cy="164592"/>
          </a:xfrm>
          <a:prstGeom prst="rect">
            <a:avLst/>
          </a:prstGeom>
          <a:noFill/>
          <a:ln/>
        </p:spPr>
        <p:txBody>
          <a:bodyPr wrap="square" lIns="0" tIns="0" rIns="0" bIns="0" rtlCol="0" anchor="t"/>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7..0</a:t>
            </a:r>
            <a:endParaRPr lang="en-US" sz="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29400" y="3611880"/>
          <a:ext cx="5102352" cy="914400"/>
        </p:xfrm>
        <a:graphic>
          <a:graphicData uri="http://schemas.openxmlformats.org/drawingml/2006/table">
            <a:tbl>
              <a:tblPr/>
              <a:tblGrid>
                <a:gridCol w="1737360"/>
                <a:gridCol w="3364992"/>
              </a:tblGrid>
              <a:tr h="246888">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Descriptor = 상태 register</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뜻</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0x80 ADDR</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SRC1/SRC2/DST × MAIN/PARTIAL 주소 (16-bit 절반씩)</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0x88/0x89 ROWS/COLS</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rows/cols + dtype. MAIN cols = row stride (128 el = 256 B)</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0x90 LOAD / 0x98 SAVE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PARTIAL 64×64 view를 MAIN stride로 읽고/쓰기</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peephole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값이 같을 때만 중복 설정 삭제 (커널 1에 0x88 없음)</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bl>
          </a:graphicData>
        </a:graphic>
      </p:graphicFrame>
      <p:sp>
        <p:nvSpPr>
          <p:cNvPr id="144" name="Shape 141"/>
          <p:cNvSpPr/>
          <p:nvPr/>
        </p:nvSpPr>
        <p:spPr>
          <a:xfrm>
            <a:off x="6629400" y="5029200"/>
            <a:ext cx="5102352" cy="777240"/>
          </a:xfrm>
          <a:prstGeom prst="roundRect">
            <a:avLst>
              <a:gd name="adj" fmla="val 7059"/>
            </a:avLst>
          </a:prstGeom>
          <a:solidFill>
            <a:srgbClr val="EEF2F6"/>
          </a:solidFill>
          <a:ln w="12700">
            <a:solidFill>
              <a:srgbClr val="C9D3DF"/>
            </a:solidFill>
            <a:prstDash val="solid"/>
          </a:ln>
        </p:spPr>
      </p:sp>
      <p:sp>
        <p:nvSpPr>
          <p:cNvPr id="145" name="Text 142"/>
          <p:cNvSpPr txBox="1"/>
          <p:nvPr/>
        </p:nvSpPr>
        <p:spPr>
          <a:xfrm>
            <a:off x="6757416" y="5084064"/>
            <a:ext cx="4846320" cy="667512"/>
          </a:xfrm>
          <a:prstGeom prst="rect">
            <a:avLst/>
          </a:prstGeom>
          <a:noFill/>
          <a:ln/>
        </p:spPr>
        <p:txBody>
          <a:bodyPr wrap="square" lIns="0" tIns="0" rIns="0" bIns="0" rtlCol="0" anchor="ctr"/>
          <a:lstStyle/>
          <a:p>
            <a:pPr algn="l" indent="0" marL="0">
              <a:buNone/>
            </a:pPr>
            <a:r>
              <a:rPr lang="en-US" sz="1200" b="1" dirty="0">
                <a:solidFill>
                  <a:srgbClr val="1F2D3D"/>
                </a:solidFill>
                <a:latin typeface="Malgun Gothic" pitchFamily="34" charset="0"/>
                <a:ea typeface="Malgun Gothic" pitchFamily="34" charset="-122"/>
                <a:cs typeface="Malgun Gothic" pitchFamily="34" charset="-120"/>
              </a:rPr>
              <a:t>Linker: </a:t>
            </a:r>
            <a:pPr algn="l" indent="0" marL="0">
              <a:buNone/>
            </a:pPr>
            <a:r>
              <a:rPr lang="en-US" sz="800" dirty="0">
                <a:solidFill>
                  <a:srgbClr val="1F2D3D"/>
                </a:solidFill>
                <a:latin typeface="Malgun Gothic" pitchFamily="34" charset="0"/>
                <a:ea typeface="Malgun Gothic" pitchFamily="34" charset="-122"/>
                <a:cs typeface="Malgun Gothic" pitchFamily="34" charset="-120"/>
              </a:rPr>
              <a:t>상수 pool GLOAD → 커널 stream 연결(binding 순서) → HALT → residency forwarding → peephole → joint vs all-DRAM 비교 → 미사용 DRAM pool 제거 → KV append 재구성. Python/native walker는 같은 contract hash를 공유하고 C-model counters와 대조합니다.</a:t>
            </a:r>
            <a:endParaRPr lang="en-US" sz="1200" dirty="0"/>
          </a:p>
        </p:txBody>
      </p:sp>
      <p:sp>
        <p:nvSpPr>
          <p:cNvPr id="146" name="Shape 143"/>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47" name="Text 144"/>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words는 "명령 저장 공간"이며 cycle이 아닙니다. bundle(program_memory.bin + program.json + IR + image)만으로 실장치 latency를 주장하지 않습니다.</a:t>
            </a:r>
            <a:endParaRPr lang="en-US" sz="1250" dirty="0"/>
          </a:p>
        </p:txBody>
      </p:sp>
      <p:sp>
        <p:nvSpPr>
          <p:cNvPr id="148" name="Text 145"/>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49" name="Text 146"/>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two_matmuls_recorded/program_memory.bin, program.json; tir_codegen_v09.py, v09_walker.cc, npu_link.py, peephole.py, isa_v09.py</a:t>
            </a:r>
            <a:endParaRPr lang="en-US" sz="850" dirty="0"/>
          </a:p>
        </p:txBody>
      </p:sp>
      <p:sp>
        <p:nvSpPr>
          <p:cNvPr id="150" name="Text 147"/>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10 / 13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⑤ 실행</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750" b="1" dirty="0">
                <a:solidFill>
                  <a:srgbClr val="15243B"/>
                </a:solidFill>
                <a:latin typeface="Malgun Gothic" pitchFamily="34" charset="0"/>
                <a:ea typeface="Malgun Gothic" pitchFamily="34" charset="-122"/>
                <a:cs typeface="Malgun Gothic" pitchFamily="34" charset="-120"/>
              </a:rPr>
              <a:t>Runtime: prefill 1개 + decode 1개 프로그램, cache는 DRAM에 남고 새 K/V는 DMA tail이 슬롯에 쓴다</a:t>
            </a:r>
            <a:endParaRPr lang="en-US" sz="175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Decode는 capacity C개 슬롯 + 현재 token으로 항상 C+1 길이를 attention하고 mask가 유효 길이를 전달합니다. host는 embedding·cos/sin·mask만 patch(6,676 B)하고, program 끝의 append tail이 새 K/V를 슬롯 L에 옮깁니다.</a:t>
            </a:r>
            <a:endParaRPr lang="en-US" sz="1250" dirty="0"/>
          </a:p>
        </p:txBody>
      </p:sp>
      <p:sp>
        <p:nvSpPr>
          <p:cNvPr id="5" name="Text 3"/>
          <p:cNvSpPr txBox="1"/>
          <p:nvPr/>
        </p:nvSpPr>
        <p:spPr>
          <a:xfrm>
            <a:off x="457200" y="1371600"/>
            <a:ext cx="5852160"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prefill(7 tokens) → decode → decode: 실제 3-token 기록</a:t>
            </a:r>
            <a:endParaRPr lang="en-US" sz="900" dirty="0"/>
          </a:p>
        </p:txBody>
      </p:sp>
      <p:sp>
        <p:nvSpPr>
          <p:cNvPr id="6" name="Shape 4"/>
          <p:cNvSpPr/>
          <p:nvPr/>
        </p:nvSpPr>
        <p:spPr>
          <a:xfrm>
            <a:off x="457200" y="1627632"/>
            <a:ext cx="502920" cy="457200"/>
          </a:xfrm>
          <a:prstGeom prst="roundRect">
            <a:avLst>
              <a:gd name="adj" fmla="val 8000"/>
            </a:avLst>
          </a:prstGeom>
          <a:solidFill>
            <a:srgbClr val="FFF1DC"/>
          </a:solidFill>
          <a:ln w="12700">
            <a:solidFill>
              <a:srgbClr val="D98A1E"/>
            </a:solidFill>
            <a:prstDash val="solid"/>
          </a:ln>
        </p:spPr>
      </p:sp>
      <p:sp>
        <p:nvSpPr>
          <p:cNvPr id="7" name="Text 5"/>
          <p:cNvSpPr txBox="1"/>
          <p:nvPr/>
        </p:nvSpPr>
        <p:spPr>
          <a:xfrm>
            <a:off x="457200" y="1645920"/>
            <a:ext cx="502920"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&lt;bos&gt;</a:t>
            </a:r>
            <a:endParaRPr lang="en-US" sz="650" dirty="0"/>
          </a:p>
        </p:txBody>
      </p:sp>
      <p:sp>
        <p:nvSpPr>
          <p:cNvPr id="8" name="Text 6"/>
          <p:cNvSpPr txBox="1"/>
          <p:nvPr/>
        </p:nvSpPr>
        <p:spPr>
          <a:xfrm>
            <a:off x="457200" y="1847088"/>
            <a:ext cx="502920" cy="201168"/>
          </a:xfrm>
          <a:prstGeom prst="rect">
            <a:avLst/>
          </a:prstGeom>
          <a:noFill/>
          <a:ln/>
        </p:spPr>
        <p:txBody>
          <a:bodyPr wrap="square" lIns="0" tIns="0" rIns="0" bIns="0" rtlCol="0" anchor="t"/>
          <a:lstStyle/>
          <a:p>
            <a:pPr algn="ctr" indent="0" marL="0">
              <a:buNone/>
            </a:pPr>
            <a:r>
              <a:rPr lang="en-US" sz="550" dirty="0">
                <a:solidFill>
                  <a:srgbClr val="5B6B7F"/>
                </a:solidFill>
                <a:latin typeface="Courier New" pitchFamily="34" charset="0"/>
                <a:ea typeface="Courier New" pitchFamily="34" charset="-122"/>
                <a:cs typeface="Courier New" pitchFamily="34" charset="-120"/>
              </a:rPr>
              <a:t>128000</a:t>
            </a:r>
            <a:endParaRPr lang="en-US" sz="550" dirty="0"/>
          </a:p>
        </p:txBody>
      </p:sp>
      <p:sp>
        <p:nvSpPr>
          <p:cNvPr id="9" name="Shape 7"/>
          <p:cNvSpPr/>
          <p:nvPr/>
        </p:nvSpPr>
        <p:spPr>
          <a:xfrm>
            <a:off x="1005840" y="1627632"/>
            <a:ext cx="502920" cy="457200"/>
          </a:xfrm>
          <a:prstGeom prst="roundRect">
            <a:avLst>
              <a:gd name="adj" fmla="val 8000"/>
            </a:avLst>
          </a:prstGeom>
          <a:solidFill>
            <a:srgbClr val="FFF1DC"/>
          </a:solidFill>
          <a:ln w="12700">
            <a:solidFill>
              <a:srgbClr val="D98A1E"/>
            </a:solidFill>
            <a:prstDash val="solid"/>
          </a:ln>
        </p:spPr>
      </p:sp>
      <p:sp>
        <p:nvSpPr>
          <p:cNvPr id="10" name="Text 8"/>
          <p:cNvSpPr txBox="1"/>
          <p:nvPr/>
        </p:nvSpPr>
        <p:spPr>
          <a:xfrm>
            <a:off x="1005840" y="1645920"/>
            <a:ext cx="502920"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Hello</a:t>
            </a:r>
            <a:endParaRPr lang="en-US" sz="650" dirty="0"/>
          </a:p>
        </p:txBody>
      </p:sp>
      <p:sp>
        <p:nvSpPr>
          <p:cNvPr id="11" name="Text 9"/>
          <p:cNvSpPr txBox="1"/>
          <p:nvPr/>
        </p:nvSpPr>
        <p:spPr>
          <a:xfrm>
            <a:off x="1005840" y="1847088"/>
            <a:ext cx="502920" cy="201168"/>
          </a:xfrm>
          <a:prstGeom prst="rect">
            <a:avLst/>
          </a:prstGeom>
          <a:noFill/>
          <a:ln/>
        </p:spPr>
        <p:txBody>
          <a:bodyPr wrap="square" lIns="0" tIns="0" rIns="0" bIns="0" rtlCol="0" anchor="t"/>
          <a:lstStyle/>
          <a:p>
            <a:pPr algn="ctr" indent="0" marL="0">
              <a:buNone/>
            </a:pPr>
            <a:r>
              <a:rPr lang="en-US" sz="550" dirty="0">
                <a:solidFill>
                  <a:srgbClr val="5B6B7F"/>
                </a:solidFill>
                <a:latin typeface="Courier New" pitchFamily="34" charset="0"/>
                <a:ea typeface="Courier New" pitchFamily="34" charset="-122"/>
                <a:cs typeface="Courier New" pitchFamily="34" charset="-120"/>
              </a:rPr>
              <a:t>9906</a:t>
            </a:r>
            <a:endParaRPr lang="en-US" sz="550" dirty="0"/>
          </a:p>
        </p:txBody>
      </p:sp>
      <p:sp>
        <p:nvSpPr>
          <p:cNvPr id="12" name="Shape 10"/>
          <p:cNvSpPr/>
          <p:nvPr/>
        </p:nvSpPr>
        <p:spPr>
          <a:xfrm>
            <a:off x="1554480" y="1627632"/>
            <a:ext cx="502920" cy="457200"/>
          </a:xfrm>
          <a:prstGeom prst="roundRect">
            <a:avLst>
              <a:gd name="adj" fmla="val 8000"/>
            </a:avLst>
          </a:prstGeom>
          <a:solidFill>
            <a:srgbClr val="FFF1DC"/>
          </a:solidFill>
          <a:ln w="12700">
            <a:solidFill>
              <a:srgbClr val="D98A1E"/>
            </a:solidFill>
            <a:prstDash val="solid"/>
          </a:ln>
        </p:spPr>
      </p:sp>
      <p:sp>
        <p:nvSpPr>
          <p:cNvPr id="13" name="Text 11"/>
          <p:cNvSpPr txBox="1"/>
          <p:nvPr/>
        </p:nvSpPr>
        <p:spPr>
          <a:xfrm>
            <a:off x="1554480" y="1645920"/>
            <a:ext cx="502920"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14" name="Text 12"/>
          <p:cNvSpPr txBox="1"/>
          <p:nvPr/>
        </p:nvSpPr>
        <p:spPr>
          <a:xfrm>
            <a:off x="1554480" y="1847088"/>
            <a:ext cx="502920" cy="201168"/>
          </a:xfrm>
          <a:prstGeom prst="rect">
            <a:avLst/>
          </a:prstGeom>
          <a:noFill/>
          <a:ln/>
        </p:spPr>
        <p:txBody>
          <a:bodyPr wrap="square" lIns="0" tIns="0" rIns="0" bIns="0" rtlCol="0" anchor="t"/>
          <a:lstStyle/>
          <a:p>
            <a:pPr algn="ctr" indent="0" marL="0">
              <a:buNone/>
            </a:pPr>
            <a:r>
              <a:rPr lang="en-US" sz="550" dirty="0">
                <a:solidFill>
                  <a:srgbClr val="5B6B7F"/>
                </a:solidFill>
                <a:latin typeface="Courier New" pitchFamily="34" charset="0"/>
                <a:ea typeface="Courier New" pitchFamily="34" charset="-122"/>
                <a:cs typeface="Courier New" pitchFamily="34" charset="-120"/>
              </a:rPr>
              <a:t>11</a:t>
            </a:r>
            <a:endParaRPr lang="en-US" sz="550" dirty="0"/>
          </a:p>
        </p:txBody>
      </p:sp>
      <p:sp>
        <p:nvSpPr>
          <p:cNvPr id="15" name="Shape 13"/>
          <p:cNvSpPr/>
          <p:nvPr/>
        </p:nvSpPr>
        <p:spPr>
          <a:xfrm>
            <a:off x="2103120" y="1627632"/>
            <a:ext cx="502920" cy="457200"/>
          </a:xfrm>
          <a:prstGeom prst="roundRect">
            <a:avLst>
              <a:gd name="adj" fmla="val 8000"/>
            </a:avLst>
          </a:prstGeom>
          <a:solidFill>
            <a:srgbClr val="FFF1DC"/>
          </a:solidFill>
          <a:ln w="12700">
            <a:solidFill>
              <a:srgbClr val="D98A1E"/>
            </a:solidFill>
            <a:prstDash val="solid"/>
          </a:ln>
        </p:spPr>
      </p:sp>
      <p:sp>
        <p:nvSpPr>
          <p:cNvPr id="16" name="Text 14"/>
          <p:cNvSpPr txBox="1"/>
          <p:nvPr/>
        </p:nvSpPr>
        <p:spPr>
          <a:xfrm>
            <a:off x="2103120" y="1645920"/>
            <a:ext cx="502920"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 N</a:t>
            </a:r>
            <a:endParaRPr lang="en-US" sz="650" dirty="0"/>
          </a:p>
        </p:txBody>
      </p:sp>
      <p:sp>
        <p:nvSpPr>
          <p:cNvPr id="17" name="Text 15"/>
          <p:cNvSpPr txBox="1"/>
          <p:nvPr/>
        </p:nvSpPr>
        <p:spPr>
          <a:xfrm>
            <a:off x="2103120" y="1847088"/>
            <a:ext cx="502920" cy="201168"/>
          </a:xfrm>
          <a:prstGeom prst="rect">
            <a:avLst/>
          </a:prstGeom>
          <a:noFill/>
          <a:ln/>
        </p:spPr>
        <p:txBody>
          <a:bodyPr wrap="square" lIns="0" tIns="0" rIns="0" bIns="0" rtlCol="0" anchor="t"/>
          <a:lstStyle/>
          <a:p>
            <a:pPr algn="ctr" indent="0" marL="0">
              <a:buNone/>
            </a:pPr>
            <a:r>
              <a:rPr lang="en-US" sz="550" dirty="0">
                <a:solidFill>
                  <a:srgbClr val="5B6B7F"/>
                </a:solidFill>
                <a:latin typeface="Courier New" pitchFamily="34" charset="0"/>
                <a:ea typeface="Courier New" pitchFamily="34" charset="-122"/>
                <a:cs typeface="Courier New" pitchFamily="34" charset="-120"/>
              </a:rPr>
              <a:t>452</a:t>
            </a:r>
            <a:endParaRPr lang="en-US" sz="550" dirty="0"/>
          </a:p>
        </p:txBody>
      </p:sp>
      <p:sp>
        <p:nvSpPr>
          <p:cNvPr id="18" name="Shape 16"/>
          <p:cNvSpPr/>
          <p:nvPr/>
        </p:nvSpPr>
        <p:spPr>
          <a:xfrm>
            <a:off x="2651760" y="1627632"/>
            <a:ext cx="502920" cy="457200"/>
          </a:xfrm>
          <a:prstGeom prst="roundRect">
            <a:avLst>
              <a:gd name="adj" fmla="val 8000"/>
            </a:avLst>
          </a:prstGeom>
          <a:solidFill>
            <a:srgbClr val="FFF1DC"/>
          </a:solidFill>
          <a:ln w="12700">
            <a:solidFill>
              <a:srgbClr val="D98A1E"/>
            </a:solidFill>
            <a:prstDash val="solid"/>
          </a:ln>
        </p:spPr>
      </p:sp>
      <p:sp>
        <p:nvSpPr>
          <p:cNvPr id="19" name="Text 17"/>
          <p:cNvSpPr txBox="1"/>
          <p:nvPr/>
        </p:nvSpPr>
        <p:spPr>
          <a:xfrm>
            <a:off x="2651760" y="1645920"/>
            <a:ext cx="502920"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PU</a:t>
            </a:r>
            <a:endParaRPr lang="en-US" sz="650" dirty="0"/>
          </a:p>
        </p:txBody>
      </p:sp>
      <p:sp>
        <p:nvSpPr>
          <p:cNvPr id="20" name="Text 18"/>
          <p:cNvSpPr txBox="1"/>
          <p:nvPr/>
        </p:nvSpPr>
        <p:spPr>
          <a:xfrm>
            <a:off x="2651760" y="1847088"/>
            <a:ext cx="502920" cy="201168"/>
          </a:xfrm>
          <a:prstGeom prst="rect">
            <a:avLst/>
          </a:prstGeom>
          <a:noFill/>
          <a:ln/>
        </p:spPr>
        <p:txBody>
          <a:bodyPr wrap="square" lIns="0" tIns="0" rIns="0" bIns="0" rtlCol="0" anchor="t"/>
          <a:lstStyle/>
          <a:p>
            <a:pPr algn="ctr" indent="0" marL="0">
              <a:buNone/>
            </a:pPr>
            <a:r>
              <a:rPr lang="en-US" sz="550" dirty="0">
                <a:solidFill>
                  <a:srgbClr val="5B6B7F"/>
                </a:solidFill>
                <a:latin typeface="Courier New" pitchFamily="34" charset="0"/>
                <a:ea typeface="Courier New" pitchFamily="34" charset="-122"/>
                <a:cs typeface="Courier New" pitchFamily="34" charset="-120"/>
              </a:rPr>
              <a:t>6459</a:t>
            </a:r>
            <a:endParaRPr lang="en-US" sz="550" dirty="0"/>
          </a:p>
        </p:txBody>
      </p:sp>
      <p:sp>
        <p:nvSpPr>
          <p:cNvPr id="21" name="Shape 19"/>
          <p:cNvSpPr/>
          <p:nvPr/>
        </p:nvSpPr>
        <p:spPr>
          <a:xfrm>
            <a:off x="3200400" y="1627632"/>
            <a:ext cx="502920" cy="457200"/>
          </a:xfrm>
          <a:prstGeom prst="roundRect">
            <a:avLst>
              <a:gd name="adj" fmla="val 8000"/>
            </a:avLst>
          </a:prstGeom>
          <a:solidFill>
            <a:srgbClr val="FFF1DC"/>
          </a:solidFill>
          <a:ln w="12700">
            <a:solidFill>
              <a:srgbClr val="D98A1E"/>
            </a:solidFill>
            <a:prstDash val="solid"/>
          </a:ln>
        </p:spPr>
      </p:sp>
      <p:sp>
        <p:nvSpPr>
          <p:cNvPr id="22" name="Text 20"/>
          <p:cNvSpPr txBox="1"/>
          <p:nvPr/>
        </p:nvSpPr>
        <p:spPr>
          <a:xfrm>
            <a:off x="3200400" y="1645920"/>
            <a:ext cx="502920"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 compiler</a:t>
            </a:r>
            <a:endParaRPr lang="en-US" sz="650" dirty="0"/>
          </a:p>
        </p:txBody>
      </p:sp>
      <p:sp>
        <p:nvSpPr>
          <p:cNvPr id="23" name="Text 21"/>
          <p:cNvSpPr txBox="1"/>
          <p:nvPr/>
        </p:nvSpPr>
        <p:spPr>
          <a:xfrm>
            <a:off x="3200400" y="1847088"/>
            <a:ext cx="502920" cy="201168"/>
          </a:xfrm>
          <a:prstGeom prst="rect">
            <a:avLst/>
          </a:prstGeom>
          <a:noFill/>
          <a:ln/>
        </p:spPr>
        <p:txBody>
          <a:bodyPr wrap="square" lIns="0" tIns="0" rIns="0" bIns="0" rtlCol="0" anchor="t"/>
          <a:lstStyle/>
          <a:p>
            <a:pPr algn="ctr" indent="0" marL="0">
              <a:buNone/>
            </a:pPr>
            <a:r>
              <a:rPr lang="en-US" sz="550" dirty="0">
                <a:solidFill>
                  <a:srgbClr val="5B6B7F"/>
                </a:solidFill>
                <a:latin typeface="Courier New" pitchFamily="34" charset="0"/>
                <a:ea typeface="Courier New" pitchFamily="34" charset="-122"/>
                <a:cs typeface="Courier New" pitchFamily="34" charset="-120"/>
              </a:rPr>
              <a:t>19979</a:t>
            </a:r>
            <a:endParaRPr lang="en-US" sz="550" dirty="0"/>
          </a:p>
        </p:txBody>
      </p:sp>
      <p:sp>
        <p:nvSpPr>
          <p:cNvPr id="24" name="Shape 22"/>
          <p:cNvSpPr/>
          <p:nvPr/>
        </p:nvSpPr>
        <p:spPr>
          <a:xfrm>
            <a:off x="3749040" y="1627632"/>
            <a:ext cx="502920" cy="457200"/>
          </a:xfrm>
          <a:prstGeom prst="roundRect">
            <a:avLst>
              <a:gd name="adj" fmla="val 8000"/>
            </a:avLst>
          </a:prstGeom>
          <a:solidFill>
            <a:srgbClr val="FFF1DC"/>
          </a:solidFill>
          <a:ln w="12700">
            <a:solidFill>
              <a:srgbClr val="D98A1E"/>
            </a:solidFill>
            <a:prstDash val="solid"/>
          </a:ln>
        </p:spPr>
      </p:sp>
      <p:sp>
        <p:nvSpPr>
          <p:cNvPr id="25" name="Text 23"/>
          <p:cNvSpPr txBox="1"/>
          <p:nvPr/>
        </p:nvSpPr>
        <p:spPr>
          <a:xfrm>
            <a:off x="3749040" y="1645920"/>
            <a:ext cx="502920"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a:t>
            </a:r>
            <a:endParaRPr lang="en-US" sz="650" dirty="0"/>
          </a:p>
        </p:txBody>
      </p:sp>
      <p:sp>
        <p:nvSpPr>
          <p:cNvPr id="26" name="Text 24"/>
          <p:cNvSpPr txBox="1"/>
          <p:nvPr/>
        </p:nvSpPr>
        <p:spPr>
          <a:xfrm>
            <a:off x="3749040" y="1847088"/>
            <a:ext cx="502920" cy="201168"/>
          </a:xfrm>
          <a:prstGeom prst="rect">
            <a:avLst/>
          </a:prstGeom>
          <a:noFill/>
          <a:ln/>
        </p:spPr>
        <p:txBody>
          <a:bodyPr wrap="square" lIns="0" tIns="0" rIns="0" bIns="0" rtlCol="0" anchor="t"/>
          <a:lstStyle/>
          <a:p>
            <a:pPr algn="ctr" indent="0" marL="0">
              <a:buNone/>
            </a:pPr>
            <a:r>
              <a:rPr lang="en-US" sz="550" dirty="0">
                <a:solidFill>
                  <a:srgbClr val="5B6B7F"/>
                </a:solidFill>
                <a:latin typeface="Courier New" pitchFamily="34" charset="0"/>
                <a:ea typeface="Courier New" pitchFamily="34" charset="-122"/>
                <a:cs typeface="Courier New" pitchFamily="34" charset="-120"/>
              </a:rPr>
              <a:t>0</a:t>
            </a:r>
            <a:endParaRPr lang="en-US" sz="550" dirty="0"/>
          </a:p>
        </p:txBody>
      </p:sp>
      <p:sp>
        <p:nvSpPr>
          <p:cNvPr id="27" name="Shape 25"/>
          <p:cNvSpPr/>
          <p:nvPr/>
        </p:nvSpPr>
        <p:spPr>
          <a:xfrm>
            <a:off x="4206240" y="1627632"/>
            <a:ext cx="749808" cy="457200"/>
          </a:xfrm>
          <a:prstGeom prst="roundRect">
            <a:avLst>
              <a:gd name="adj" fmla="val 8000"/>
            </a:avLst>
          </a:prstGeom>
          <a:solidFill>
            <a:srgbClr val="ECE6FA"/>
          </a:solidFill>
          <a:ln w="12700">
            <a:solidFill>
              <a:srgbClr val="6C4FBF"/>
            </a:solidFill>
            <a:prstDash val="solid"/>
          </a:ln>
        </p:spPr>
      </p:sp>
      <p:sp>
        <p:nvSpPr>
          <p:cNvPr id="28" name="Text 26"/>
          <p:cNvSpPr txBox="1"/>
          <p:nvPr/>
        </p:nvSpPr>
        <p:spPr>
          <a:xfrm>
            <a:off x="4206240" y="1645920"/>
            <a:ext cx="749808"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 I" 358</a:t>
            </a:r>
            <a:endParaRPr lang="en-US" sz="650" dirty="0"/>
          </a:p>
        </p:txBody>
      </p:sp>
      <p:sp>
        <p:nvSpPr>
          <p:cNvPr id="29" name="Text 27"/>
          <p:cNvSpPr txBox="1"/>
          <p:nvPr/>
        </p:nvSpPr>
        <p:spPr>
          <a:xfrm>
            <a:off x="4206240" y="1847088"/>
            <a:ext cx="749808" cy="201168"/>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prefill</a:t>
            </a:r>
            <a:endParaRPr lang="en-US" sz="600" dirty="0"/>
          </a:p>
        </p:txBody>
      </p:sp>
      <p:sp>
        <p:nvSpPr>
          <p:cNvPr id="30" name="Shape 28"/>
          <p:cNvSpPr/>
          <p:nvPr/>
        </p:nvSpPr>
        <p:spPr>
          <a:xfrm>
            <a:off x="4965192" y="1856232"/>
            <a:ext cx="36576" cy="914"/>
          </a:xfrm>
          <a:prstGeom prst="line">
            <a:avLst/>
          </a:prstGeom>
          <a:noFill/>
          <a:ln w="9525">
            <a:solidFill>
              <a:srgbClr val="5B6B7F"/>
            </a:solidFill>
            <a:prstDash val="solid"/>
            <a:tailEnd type="triangle"/>
          </a:ln>
        </p:spPr>
      </p:sp>
      <p:sp>
        <p:nvSpPr>
          <p:cNvPr id="31" name="Shape 29"/>
          <p:cNvSpPr/>
          <p:nvPr/>
        </p:nvSpPr>
        <p:spPr>
          <a:xfrm>
            <a:off x="5010912" y="1627632"/>
            <a:ext cx="749808" cy="457200"/>
          </a:xfrm>
          <a:prstGeom prst="roundRect">
            <a:avLst>
              <a:gd name="adj" fmla="val 8000"/>
            </a:avLst>
          </a:prstGeom>
          <a:solidFill>
            <a:srgbClr val="ECE6FA"/>
          </a:solidFill>
          <a:ln w="12700">
            <a:solidFill>
              <a:srgbClr val="6C4FBF"/>
            </a:solidFill>
            <a:prstDash val="solid"/>
          </a:ln>
        </p:spPr>
      </p:sp>
      <p:sp>
        <p:nvSpPr>
          <p:cNvPr id="32" name="Text 30"/>
          <p:cNvSpPr txBox="1"/>
          <p:nvPr/>
        </p:nvSpPr>
        <p:spPr>
          <a:xfrm>
            <a:off x="5010912" y="1645920"/>
            <a:ext cx="749808"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"'m" 2846</a:t>
            </a:r>
            <a:endParaRPr lang="en-US" sz="650" dirty="0"/>
          </a:p>
        </p:txBody>
      </p:sp>
      <p:sp>
        <p:nvSpPr>
          <p:cNvPr id="33" name="Text 31"/>
          <p:cNvSpPr txBox="1"/>
          <p:nvPr/>
        </p:nvSpPr>
        <p:spPr>
          <a:xfrm>
            <a:off x="5010912" y="1847088"/>
            <a:ext cx="749808" cy="201168"/>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decode @7</a:t>
            </a:r>
            <a:endParaRPr lang="en-US" sz="600" dirty="0"/>
          </a:p>
        </p:txBody>
      </p:sp>
      <p:sp>
        <p:nvSpPr>
          <p:cNvPr id="34" name="Shape 32"/>
          <p:cNvSpPr/>
          <p:nvPr/>
        </p:nvSpPr>
        <p:spPr>
          <a:xfrm>
            <a:off x="5769864" y="1856232"/>
            <a:ext cx="36576" cy="914"/>
          </a:xfrm>
          <a:prstGeom prst="line">
            <a:avLst/>
          </a:prstGeom>
          <a:noFill/>
          <a:ln w="9525">
            <a:solidFill>
              <a:srgbClr val="5B6B7F"/>
            </a:solidFill>
            <a:prstDash val="solid"/>
            <a:tailEnd type="triangle"/>
          </a:ln>
        </p:spPr>
      </p:sp>
      <p:sp>
        <p:nvSpPr>
          <p:cNvPr id="35" name="Shape 33"/>
          <p:cNvSpPr/>
          <p:nvPr/>
        </p:nvSpPr>
        <p:spPr>
          <a:xfrm>
            <a:off x="5815584" y="1627632"/>
            <a:ext cx="749808" cy="457200"/>
          </a:xfrm>
          <a:prstGeom prst="roundRect">
            <a:avLst>
              <a:gd name="adj" fmla="val 8000"/>
            </a:avLst>
          </a:prstGeom>
          <a:solidFill>
            <a:srgbClr val="ECE6FA"/>
          </a:solidFill>
          <a:ln w="12700">
            <a:solidFill>
              <a:srgbClr val="6C4FBF"/>
            </a:solidFill>
            <a:prstDash val="solid"/>
          </a:ln>
        </p:spPr>
      </p:sp>
      <p:sp>
        <p:nvSpPr>
          <p:cNvPr id="36" name="Text 34"/>
          <p:cNvSpPr txBox="1"/>
          <p:nvPr/>
        </p:nvSpPr>
        <p:spPr>
          <a:xfrm>
            <a:off x="5815584" y="1645920"/>
            <a:ext cx="749808" cy="219456"/>
          </a:xfrm>
          <a:prstGeom prst="rect">
            <a:avLst/>
          </a:prstGeom>
          <a:noFill/>
          <a:ln/>
        </p:spPr>
        <p:txBody>
          <a:bodyPr wrap="square" lIns="0" tIns="0" rIns="0" bIns="0" rtlCol="0" anchor="t"/>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 trying" 4560</a:t>
            </a:r>
            <a:endParaRPr lang="en-US" sz="650" dirty="0"/>
          </a:p>
        </p:txBody>
      </p:sp>
      <p:sp>
        <p:nvSpPr>
          <p:cNvPr id="37" name="Text 35"/>
          <p:cNvSpPr txBox="1"/>
          <p:nvPr/>
        </p:nvSpPr>
        <p:spPr>
          <a:xfrm>
            <a:off x="5815584" y="1847088"/>
            <a:ext cx="749808" cy="201168"/>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decode @8</a:t>
            </a:r>
            <a:endParaRPr lang="en-US" sz="600" dirty="0"/>
          </a:p>
        </p:txBody>
      </p:sp>
      <p:sp>
        <p:nvSpPr>
          <p:cNvPr id="38" name="Shape 36"/>
          <p:cNvSpPr/>
          <p:nvPr/>
        </p:nvSpPr>
        <p:spPr>
          <a:xfrm>
            <a:off x="4041648" y="1856232"/>
            <a:ext cx="146304" cy="914"/>
          </a:xfrm>
          <a:prstGeom prst="line">
            <a:avLst/>
          </a:prstGeom>
          <a:noFill/>
          <a:ln w="12700">
            <a:solidFill>
              <a:srgbClr val="5B6B7F"/>
            </a:solidFill>
            <a:prstDash val="solid"/>
            <a:tailEnd type="triangle"/>
          </a:ln>
        </p:spPr>
      </p:sp>
      <p:sp>
        <p:nvSpPr>
          <p:cNvPr id="39" name="Text 37"/>
          <p:cNvSpPr txBox="1"/>
          <p:nvPr/>
        </p:nvSpPr>
        <p:spPr>
          <a:xfrm>
            <a:off x="457200" y="2286000"/>
            <a:ext cx="5852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decode @7이 보는 논리적 입력: capacity C=9 + 현재 = 10 슬롯, 유효 길이 L=7</a:t>
            </a:r>
            <a:endParaRPr lang="en-US" sz="850" dirty="0"/>
          </a:p>
        </p:txBody>
      </p:sp>
      <p:sp>
        <p:nvSpPr>
          <p:cNvPr id="40" name="Shape 38"/>
          <p:cNvSpPr/>
          <p:nvPr/>
        </p:nvSpPr>
        <p:spPr>
          <a:xfrm>
            <a:off x="457200" y="2514600"/>
            <a:ext cx="530352" cy="457200"/>
          </a:xfrm>
          <a:prstGeom prst="roundRect">
            <a:avLst>
              <a:gd name="adj" fmla="val 8000"/>
            </a:avLst>
          </a:prstGeom>
          <a:solidFill>
            <a:srgbClr val="FFF1DC"/>
          </a:solidFill>
          <a:ln w="12700">
            <a:solidFill>
              <a:srgbClr val="D98A1E"/>
            </a:solidFill>
            <a:prstDash val="solid"/>
          </a:ln>
        </p:spPr>
      </p:sp>
      <p:sp>
        <p:nvSpPr>
          <p:cNvPr id="41" name="Text 39"/>
          <p:cNvSpPr txBox="1"/>
          <p:nvPr/>
        </p:nvSpPr>
        <p:spPr>
          <a:xfrm>
            <a:off x="457200"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0</a:t>
            </a:r>
            <a:endParaRPr lang="en-US" sz="900" dirty="0"/>
          </a:p>
        </p:txBody>
      </p:sp>
      <p:sp>
        <p:nvSpPr>
          <p:cNvPr id="42" name="Text 40"/>
          <p:cNvSpPr txBox="1"/>
          <p:nvPr/>
        </p:nvSpPr>
        <p:spPr>
          <a:xfrm>
            <a:off x="457200"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유효</a:t>
            </a:r>
            <a:endParaRPr lang="en-US" sz="600" dirty="0"/>
          </a:p>
        </p:txBody>
      </p:sp>
      <p:sp>
        <p:nvSpPr>
          <p:cNvPr id="43" name="Shape 41"/>
          <p:cNvSpPr/>
          <p:nvPr/>
        </p:nvSpPr>
        <p:spPr>
          <a:xfrm>
            <a:off x="1033272" y="2514600"/>
            <a:ext cx="530352" cy="457200"/>
          </a:xfrm>
          <a:prstGeom prst="roundRect">
            <a:avLst>
              <a:gd name="adj" fmla="val 8000"/>
            </a:avLst>
          </a:prstGeom>
          <a:solidFill>
            <a:srgbClr val="FFF1DC"/>
          </a:solidFill>
          <a:ln w="12700">
            <a:solidFill>
              <a:srgbClr val="D98A1E"/>
            </a:solidFill>
            <a:prstDash val="solid"/>
          </a:ln>
        </p:spPr>
      </p:sp>
      <p:sp>
        <p:nvSpPr>
          <p:cNvPr id="44" name="Text 42"/>
          <p:cNvSpPr txBox="1"/>
          <p:nvPr/>
        </p:nvSpPr>
        <p:spPr>
          <a:xfrm>
            <a:off x="1033272"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1</a:t>
            </a:r>
            <a:endParaRPr lang="en-US" sz="900" dirty="0"/>
          </a:p>
        </p:txBody>
      </p:sp>
      <p:sp>
        <p:nvSpPr>
          <p:cNvPr id="45" name="Text 43"/>
          <p:cNvSpPr txBox="1"/>
          <p:nvPr/>
        </p:nvSpPr>
        <p:spPr>
          <a:xfrm>
            <a:off x="1033272"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유효</a:t>
            </a:r>
            <a:endParaRPr lang="en-US" sz="600" dirty="0"/>
          </a:p>
        </p:txBody>
      </p:sp>
      <p:sp>
        <p:nvSpPr>
          <p:cNvPr id="46" name="Shape 44"/>
          <p:cNvSpPr/>
          <p:nvPr/>
        </p:nvSpPr>
        <p:spPr>
          <a:xfrm>
            <a:off x="1609344" y="2514600"/>
            <a:ext cx="530352" cy="457200"/>
          </a:xfrm>
          <a:prstGeom prst="roundRect">
            <a:avLst>
              <a:gd name="adj" fmla="val 8000"/>
            </a:avLst>
          </a:prstGeom>
          <a:solidFill>
            <a:srgbClr val="FFF1DC"/>
          </a:solidFill>
          <a:ln w="12700">
            <a:solidFill>
              <a:srgbClr val="D98A1E"/>
            </a:solidFill>
            <a:prstDash val="solid"/>
          </a:ln>
        </p:spPr>
      </p:sp>
      <p:sp>
        <p:nvSpPr>
          <p:cNvPr id="47" name="Text 45"/>
          <p:cNvSpPr txBox="1"/>
          <p:nvPr/>
        </p:nvSpPr>
        <p:spPr>
          <a:xfrm>
            <a:off x="1609344"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2</a:t>
            </a:r>
            <a:endParaRPr lang="en-US" sz="900" dirty="0"/>
          </a:p>
        </p:txBody>
      </p:sp>
      <p:sp>
        <p:nvSpPr>
          <p:cNvPr id="48" name="Text 46"/>
          <p:cNvSpPr txBox="1"/>
          <p:nvPr/>
        </p:nvSpPr>
        <p:spPr>
          <a:xfrm>
            <a:off x="1609344"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유효</a:t>
            </a:r>
            <a:endParaRPr lang="en-US" sz="600" dirty="0"/>
          </a:p>
        </p:txBody>
      </p:sp>
      <p:sp>
        <p:nvSpPr>
          <p:cNvPr id="49" name="Shape 47"/>
          <p:cNvSpPr/>
          <p:nvPr/>
        </p:nvSpPr>
        <p:spPr>
          <a:xfrm>
            <a:off x="2185416" y="2514600"/>
            <a:ext cx="530352" cy="457200"/>
          </a:xfrm>
          <a:prstGeom prst="roundRect">
            <a:avLst>
              <a:gd name="adj" fmla="val 8000"/>
            </a:avLst>
          </a:prstGeom>
          <a:solidFill>
            <a:srgbClr val="FFF1DC"/>
          </a:solidFill>
          <a:ln w="12700">
            <a:solidFill>
              <a:srgbClr val="D98A1E"/>
            </a:solidFill>
            <a:prstDash val="solid"/>
          </a:ln>
        </p:spPr>
      </p:sp>
      <p:sp>
        <p:nvSpPr>
          <p:cNvPr id="50" name="Text 48"/>
          <p:cNvSpPr txBox="1"/>
          <p:nvPr/>
        </p:nvSpPr>
        <p:spPr>
          <a:xfrm>
            <a:off x="2185416"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3</a:t>
            </a:r>
            <a:endParaRPr lang="en-US" sz="900" dirty="0"/>
          </a:p>
        </p:txBody>
      </p:sp>
      <p:sp>
        <p:nvSpPr>
          <p:cNvPr id="51" name="Text 49"/>
          <p:cNvSpPr txBox="1"/>
          <p:nvPr/>
        </p:nvSpPr>
        <p:spPr>
          <a:xfrm>
            <a:off x="2185416"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유효</a:t>
            </a:r>
            <a:endParaRPr lang="en-US" sz="600" dirty="0"/>
          </a:p>
        </p:txBody>
      </p:sp>
      <p:sp>
        <p:nvSpPr>
          <p:cNvPr id="52" name="Shape 50"/>
          <p:cNvSpPr/>
          <p:nvPr/>
        </p:nvSpPr>
        <p:spPr>
          <a:xfrm>
            <a:off x="2761488" y="2514600"/>
            <a:ext cx="530352" cy="457200"/>
          </a:xfrm>
          <a:prstGeom prst="roundRect">
            <a:avLst>
              <a:gd name="adj" fmla="val 8000"/>
            </a:avLst>
          </a:prstGeom>
          <a:solidFill>
            <a:srgbClr val="FFF1DC"/>
          </a:solidFill>
          <a:ln w="12700">
            <a:solidFill>
              <a:srgbClr val="D98A1E"/>
            </a:solidFill>
            <a:prstDash val="solid"/>
          </a:ln>
        </p:spPr>
      </p:sp>
      <p:sp>
        <p:nvSpPr>
          <p:cNvPr id="53" name="Text 51"/>
          <p:cNvSpPr txBox="1"/>
          <p:nvPr/>
        </p:nvSpPr>
        <p:spPr>
          <a:xfrm>
            <a:off x="2761488"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4</a:t>
            </a:r>
            <a:endParaRPr lang="en-US" sz="900" dirty="0"/>
          </a:p>
        </p:txBody>
      </p:sp>
      <p:sp>
        <p:nvSpPr>
          <p:cNvPr id="54" name="Text 52"/>
          <p:cNvSpPr txBox="1"/>
          <p:nvPr/>
        </p:nvSpPr>
        <p:spPr>
          <a:xfrm>
            <a:off x="2761488"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유효</a:t>
            </a:r>
            <a:endParaRPr lang="en-US" sz="600" dirty="0"/>
          </a:p>
        </p:txBody>
      </p:sp>
      <p:sp>
        <p:nvSpPr>
          <p:cNvPr id="55" name="Shape 53"/>
          <p:cNvSpPr/>
          <p:nvPr/>
        </p:nvSpPr>
        <p:spPr>
          <a:xfrm>
            <a:off x="3337560" y="2514600"/>
            <a:ext cx="530352" cy="457200"/>
          </a:xfrm>
          <a:prstGeom prst="roundRect">
            <a:avLst>
              <a:gd name="adj" fmla="val 8000"/>
            </a:avLst>
          </a:prstGeom>
          <a:solidFill>
            <a:srgbClr val="FFF1DC"/>
          </a:solidFill>
          <a:ln w="12700">
            <a:solidFill>
              <a:srgbClr val="D98A1E"/>
            </a:solidFill>
            <a:prstDash val="solid"/>
          </a:ln>
        </p:spPr>
      </p:sp>
      <p:sp>
        <p:nvSpPr>
          <p:cNvPr id="56" name="Text 54"/>
          <p:cNvSpPr txBox="1"/>
          <p:nvPr/>
        </p:nvSpPr>
        <p:spPr>
          <a:xfrm>
            <a:off x="3337560"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5</a:t>
            </a:r>
            <a:endParaRPr lang="en-US" sz="900" dirty="0"/>
          </a:p>
        </p:txBody>
      </p:sp>
      <p:sp>
        <p:nvSpPr>
          <p:cNvPr id="57" name="Text 55"/>
          <p:cNvSpPr txBox="1"/>
          <p:nvPr/>
        </p:nvSpPr>
        <p:spPr>
          <a:xfrm>
            <a:off x="3337560"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유효</a:t>
            </a:r>
            <a:endParaRPr lang="en-US" sz="600" dirty="0"/>
          </a:p>
        </p:txBody>
      </p:sp>
      <p:sp>
        <p:nvSpPr>
          <p:cNvPr id="58" name="Shape 56"/>
          <p:cNvSpPr/>
          <p:nvPr/>
        </p:nvSpPr>
        <p:spPr>
          <a:xfrm>
            <a:off x="3913632" y="2514600"/>
            <a:ext cx="530352" cy="457200"/>
          </a:xfrm>
          <a:prstGeom prst="roundRect">
            <a:avLst>
              <a:gd name="adj" fmla="val 8000"/>
            </a:avLst>
          </a:prstGeom>
          <a:solidFill>
            <a:srgbClr val="FFF1DC"/>
          </a:solidFill>
          <a:ln w="12700">
            <a:solidFill>
              <a:srgbClr val="D98A1E"/>
            </a:solidFill>
            <a:prstDash val="solid"/>
          </a:ln>
        </p:spPr>
      </p:sp>
      <p:sp>
        <p:nvSpPr>
          <p:cNvPr id="59" name="Text 57"/>
          <p:cNvSpPr txBox="1"/>
          <p:nvPr/>
        </p:nvSpPr>
        <p:spPr>
          <a:xfrm>
            <a:off x="3913632"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6</a:t>
            </a:r>
            <a:endParaRPr lang="en-US" sz="900" dirty="0"/>
          </a:p>
        </p:txBody>
      </p:sp>
      <p:sp>
        <p:nvSpPr>
          <p:cNvPr id="60" name="Text 58"/>
          <p:cNvSpPr txBox="1"/>
          <p:nvPr/>
        </p:nvSpPr>
        <p:spPr>
          <a:xfrm>
            <a:off x="3913632"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유효</a:t>
            </a:r>
            <a:endParaRPr lang="en-US" sz="600" dirty="0"/>
          </a:p>
        </p:txBody>
      </p:sp>
      <p:sp>
        <p:nvSpPr>
          <p:cNvPr id="61" name="Shape 59"/>
          <p:cNvSpPr/>
          <p:nvPr/>
        </p:nvSpPr>
        <p:spPr>
          <a:xfrm>
            <a:off x="4489704" y="2514600"/>
            <a:ext cx="530352" cy="457200"/>
          </a:xfrm>
          <a:prstGeom prst="roundRect">
            <a:avLst>
              <a:gd name="adj" fmla="val 8000"/>
            </a:avLst>
          </a:prstGeom>
          <a:solidFill>
            <a:srgbClr val="EEF2F6"/>
          </a:solidFill>
          <a:ln w="12700">
            <a:solidFill>
              <a:srgbClr val="C9D3DF"/>
            </a:solidFill>
            <a:prstDash val="solid"/>
          </a:ln>
        </p:spPr>
      </p:sp>
      <p:sp>
        <p:nvSpPr>
          <p:cNvPr id="62" name="Text 60"/>
          <p:cNvSpPr txBox="1"/>
          <p:nvPr/>
        </p:nvSpPr>
        <p:spPr>
          <a:xfrm>
            <a:off x="4489704"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7</a:t>
            </a:r>
            <a:endParaRPr lang="en-US" sz="900" dirty="0"/>
          </a:p>
        </p:txBody>
      </p:sp>
      <p:sp>
        <p:nvSpPr>
          <p:cNvPr id="63" name="Text 61"/>
          <p:cNvSpPr txBox="1"/>
          <p:nvPr/>
        </p:nvSpPr>
        <p:spPr>
          <a:xfrm>
            <a:off x="4489704"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빈</a:t>
            </a:r>
            <a:endParaRPr lang="en-US" sz="600" dirty="0"/>
          </a:p>
        </p:txBody>
      </p:sp>
      <p:sp>
        <p:nvSpPr>
          <p:cNvPr id="64" name="Shape 62"/>
          <p:cNvSpPr/>
          <p:nvPr/>
        </p:nvSpPr>
        <p:spPr>
          <a:xfrm>
            <a:off x="5065776" y="2514600"/>
            <a:ext cx="530352" cy="457200"/>
          </a:xfrm>
          <a:prstGeom prst="roundRect">
            <a:avLst>
              <a:gd name="adj" fmla="val 8000"/>
            </a:avLst>
          </a:prstGeom>
          <a:solidFill>
            <a:srgbClr val="EEF2F6"/>
          </a:solidFill>
          <a:ln w="12700">
            <a:solidFill>
              <a:srgbClr val="C9D3DF"/>
            </a:solidFill>
            <a:prstDash val="solid"/>
          </a:ln>
        </p:spPr>
      </p:sp>
      <p:sp>
        <p:nvSpPr>
          <p:cNvPr id="65" name="Text 63"/>
          <p:cNvSpPr txBox="1"/>
          <p:nvPr/>
        </p:nvSpPr>
        <p:spPr>
          <a:xfrm>
            <a:off x="5065776"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8</a:t>
            </a:r>
            <a:endParaRPr lang="en-US" sz="900" dirty="0"/>
          </a:p>
        </p:txBody>
      </p:sp>
      <p:sp>
        <p:nvSpPr>
          <p:cNvPr id="66" name="Text 64"/>
          <p:cNvSpPr txBox="1"/>
          <p:nvPr/>
        </p:nvSpPr>
        <p:spPr>
          <a:xfrm>
            <a:off x="5065776"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빈</a:t>
            </a:r>
            <a:endParaRPr lang="en-US" sz="600" dirty="0"/>
          </a:p>
        </p:txBody>
      </p:sp>
      <p:sp>
        <p:nvSpPr>
          <p:cNvPr id="67" name="Shape 65"/>
          <p:cNvSpPr/>
          <p:nvPr/>
        </p:nvSpPr>
        <p:spPr>
          <a:xfrm>
            <a:off x="5641848" y="2514600"/>
            <a:ext cx="530352" cy="457200"/>
          </a:xfrm>
          <a:prstGeom prst="roundRect">
            <a:avLst>
              <a:gd name="adj" fmla="val 8000"/>
            </a:avLst>
          </a:prstGeom>
          <a:solidFill>
            <a:srgbClr val="ECE6FA"/>
          </a:solidFill>
          <a:ln w="12700">
            <a:solidFill>
              <a:srgbClr val="6C4FBF"/>
            </a:solidFill>
            <a:prstDash val="solid"/>
          </a:ln>
        </p:spPr>
      </p:sp>
      <p:sp>
        <p:nvSpPr>
          <p:cNvPr id="68" name="Text 66"/>
          <p:cNvSpPr txBox="1"/>
          <p:nvPr/>
        </p:nvSpPr>
        <p:spPr>
          <a:xfrm>
            <a:off x="5641848" y="2532888"/>
            <a:ext cx="530352" cy="201168"/>
          </a:xfrm>
          <a:prstGeom prst="rect">
            <a:avLst/>
          </a:prstGeom>
          <a:noFill/>
          <a:ln/>
        </p:spPr>
        <p:txBody>
          <a:bodyPr wrap="square" lIns="0" tIns="0" rIns="0" bIns="0" rtlCol="0" anchor="t"/>
          <a:lstStyle/>
          <a:p>
            <a:pPr algn="ctr" indent="0" marL="0">
              <a:buNone/>
            </a:pPr>
            <a:r>
              <a:rPr lang="en-US" sz="900" b="1" dirty="0">
                <a:solidFill>
                  <a:srgbClr val="1F2D3D"/>
                </a:solidFill>
                <a:latin typeface="Malgun Gothic" pitchFamily="34" charset="0"/>
                <a:ea typeface="Malgun Gothic" pitchFamily="34" charset="-122"/>
                <a:cs typeface="Malgun Gothic" pitchFamily="34" charset="-120"/>
              </a:rPr>
              <a:t>9</a:t>
            </a:r>
            <a:endParaRPr lang="en-US" sz="900" dirty="0"/>
          </a:p>
        </p:txBody>
      </p:sp>
      <p:sp>
        <p:nvSpPr>
          <p:cNvPr id="69" name="Text 67"/>
          <p:cNvSpPr txBox="1"/>
          <p:nvPr/>
        </p:nvSpPr>
        <p:spPr>
          <a:xfrm>
            <a:off x="5641848" y="2734056"/>
            <a:ext cx="530352" cy="219456"/>
          </a:xfrm>
          <a:prstGeom prst="rect">
            <a:avLst/>
          </a:prstGeom>
          <a:noFill/>
          <a:ln/>
        </p:spPr>
        <p:txBody>
          <a:bodyPr wrap="square" lIns="0" tIns="0" rIns="0" bIns="0" rtlCol="0" anchor="t"/>
          <a:lstStyle/>
          <a:p>
            <a:pPr algn="ctr" indent="0" marL="0">
              <a:buNone/>
            </a:pPr>
            <a:r>
              <a:rPr lang="en-US" sz="600" dirty="0">
                <a:solidFill>
                  <a:srgbClr val="5B6B7F"/>
                </a:solidFill>
                <a:latin typeface="Malgun Gothic" pitchFamily="34" charset="0"/>
                <a:ea typeface="Malgun Gothic" pitchFamily="34" charset="-122"/>
                <a:cs typeface="Malgun Gothic" pitchFamily="34" charset="-120"/>
              </a:rPr>
              <a:t>현재</a:t>
            </a:r>
            <a:endParaRPr lang="en-US" sz="600" dirty="0"/>
          </a:p>
        </p:txBody>
      </p:sp>
      <p:sp>
        <p:nvSpPr>
          <p:cNvPr id="70" name="Text 68"/>
          <p:cNvSpPr txBox="1"/>
          <p:nvPr/>
        </p:nvSpPr>
        <p:spPr>
          <a:xfrm>
            <a:off x="457200" y="2999232"/>
            <a:ext cx="5852160" cy="201168"/>
          </a:xfrm>
          <a:prstGeom prst="rect">
            <a:avLst/>
          </a:prstGeom>
          <a:noFill/>
          <a:ln/>
        </p:spPr>
        <p:txBody>
          <a:bodyPr wrap="square" lIns="0" tIns="0" rIns="0" bIns="0" rtlCol="0" anchor="t"/>
          <a:lstStyle/>
          <a:p>
            <a:pPr algn="l" indent="0" marL="0">
              <a:buNone/>
            </a:pPr>
            <a:r>
              <a:rPr lang="en-US" sz="700" dirty="0">
                <a:solidFill>
                  <a:srgbClr val="15243B"/>
                </a:solidFill>
                <a:latin typeface="Courier New" pitchFamily="34" charset="0"/>
                <a:ea typeface="Courier New" pitchFamily="34" charset="-122"/>
                <a:cs typeface="Courier New" pitchFamily="34" charset="-120"/>
              </a:rPr>
              <a:t>mask [1,1,10]:  0 0 0 0 0 0 0  −65504 −65504  0   → softmax가 빈 슬롯의 기여를 0으로 (계산 자체는 수행)</a:t>
            </a:r>
            <a:endParaRPr lang="en-US" sz="700" dirty="0"/>
          </a:p>
        </p:txBody>
      </p:sp>
      <p:sp>
        <p:nvSpPr>
          <p:cNvPr id="71" name="Text 69"/>
          <p:cNvSpPr txBox="1"/>
          <p:nvPr/>
        </p:nvSpPr>
        <p:spPr>
          <a:xfrm>
            <a:off x="457200" y="3337560"/>
            <a:ext cx="5852160" cy="201168"/>
          </a:xfrm>
          <a:prstGeom prst="rect">
            <a:avLst/>
          </a:prstGeom>
          <a:noFill/>
          <a:ln/>
        </p:spPr>
        <p:txBody>
          <a:bodyPr wrap="square" lIns="0" tIns="0" rIns="0" bIns="0" rtlCol="0" anchor="t"/>
          <a:lstStyle/>
          <a:p>
            <a:pPr algn="l" indent="0" marL="0">
              <a:buNone/>
            </a:pPr>
            <a:r>
              <a:rPr lang="en-US" sz="850" b="1" dirty="0">
                <a:solidFill>
                  <a:srgbClr val="15243B"/>
                </a:solidFill>
                <a:latin typeface="Malgun Gothic" pitchFamily="34" charset="0"/>
                <a:ea typeface="Malgun Gothic" pitchFamily="34" charset="-122"/>
                <a:cs typeface="Malgun Gothic" pitchFamily="34" charset="-120"/>
              </a:rPr>
              <a:t>KV append: 계산은 별도 DRAM 출력으로, tail DMA가 cache 슬롯 L=7에 기록</a:t>
            </a:r>
            <a:endParaRPr lang="en-US" sz="850" dirty="0"/>
          </a:p>
        </p:txBody>
      </p:sp>
      <p:sp>
        <p:nvSpPr>
          <p:cNvPr id="72" name="Shape 70"/>
          <p:cNvSpPr/>
          <p:nvPr/>
        </p:nvSpPr>
        <p:spPr>
          <a:xfrm>
            <a:off x="457200" y="3794760"/>
            <a:ext cx="2103120" cy="1188720"/>
          </a:xfrm>
          <a:prstGeom prst="rect">
            <a:avLst/>
          </a:prstGeom>
          <a:solidFill>
            <a:srgbClr val="EEF2F6"/>
          </a:solidFill>
          <a:ln w="12700">
            <a:solidFill>
              <a:srgbClr val="C9D3DF"/>
            </a:solidFill>
            <a:prstDash val="solid"/>
          </a:ln>
        </p:spPr>
      </p:sp>
      <p:sp>
        <p:nvSpPr>
          <p:cNvPr id="73" name="Shape 71"/>
          <p:cNvSpPr/>
          <p:nvPr/>
        </p:nvSpPr>
        <p:spPr>
          <a:xfrm>
            <a:off x="457200" y="3794760"/>
            <a:ext cx="1635760" cy="1188720"/>
          </a:xfrm>
          <a:prstGeom prst="rect">
            <a:avLst/>
          </a:prstGeom>
          <a:solidFill>
            <a:srgbClr val="FFF1DC"/>
          </a:solidFill>
          <a:ln w="15875">
            <a:solidFill>
              <a:srgbClr val="D98A1E"/>
            </a:solidFill>
            <a:prstDash val="solid"/>
          </a:ln>
        </p:spPr>
      </p:sp>
      <p:sp>
        <p:nvSpPr>
          <p:cNvPr id="74" name="Shape 72"/>
          <p:cNvSpPr/>
          <p:nvPr/>
        </p:nvSpPr>
        <p:spPr>
          <a:xfrm>
            <a:off x="2092960" y="3794760"/>
            <a:ext cx="233680" cy="1188720"/>
          </a:xfrm>
          <a:prstGeom prst="rect">
            <a:avLst/>
          </a:prstGeom>
          <a:solidFill>
            <a:srgbClr val="FFF6DB"/>
          </a:solidFill>
          <a:ln w="15875">
            <a:solidFill>
              <a:srgbClr val="B7791F"/>
            </a:solidFill>
            <a:prstDash val="solid"/>
          </a:ln>
        </p:spPr>
      </p:sp>
      <p:sp>
        <p:nvSpPr>
          <p:cNvPr id="75" name="Shape 73"/>
          <p:cNvSpPr/>
          <p:nvPr/>
        </p:nvSpPr>
        <p:spPr>
          <a:xfrm>
            <a:off x="690880" y="3794760"/>
            <a:ext cx="914" cy="1188720"/>
          </a:xfrm>
          <a:prstGeom prst="line">
            <a:avLst/>
          </a:prstGeom>
          <a:noFill/>
          <a:ln w="5080">
            <a:solidFill>
              <a:srgbClr val="D5DCE5"/>
            </a:solidFill>
            <a:prstDash val="solid"/>
          </a:ln>
        </p:spPr>
      </p:sp>
      <p:sp>
        <p:nvSpPr>
          <p:cNvPr id="76" name="Shape 74"/>
          <p:cNvSpPr/>
          <p:nvPr/>
        </p:nvSpPr>
        <p:spPr>
          <a:xfrm>
            <a:off x="924560" y="3794760"/>
            <a:ext cx="914" cy="1188720"/>
          </a:xfrm>
          <a:prstGeom prst="line">
            <a:avLst/>
          </a:prstGeom>
          <a:noFill/>
          <a:ln w="5080">
            <a:solidFill>
              <a:srgbClr val="D5DCE5"/>
            </a:solidFill>
            <a:prstDash val="solid"/>
          </a:ln>
        </p:spPr>
      </p:sp>
      <p:sp>
        <p:nvSpPr>
          <p:cNvPr id="77" name="Shape 75"/>
          <p:cNvSpPr/>
          <p:nvPr/>
        </p:nvSpPr>
        <p:spPr>
          <a:xfrm>
            <a:off x="1158240" y="3794760"/>
            <a:ext cx="914" cy="1188720"/>
          </a:xfrm>
          <a:prstGeom prst="line">
            <a:avLst/>
          </a:prstGeom>
          <a:noFill/>
          <a:ln w="5080">
            <a:solidFill>
              <a:srgbClr val="D5DCE5"/>
            </a:solidFill>
            <a:prstDash val="solid"/>
          </a:ln>
        </p:spPr>
      </p:sp>
      <p:sp>
        <p:nvSpPr>
          <p:cNvPr id="78" name="Shape 76"/>
          <p:cNvSpPr/>
          <p:nvPr/>
        </p:nvSpPr>
        <p:spPr>
          <a:xfrm>
            <a:off x="1391920" y="3794760"/>
            <a:ext cx="914" cy="1188720"/>
          </a:xfrm>
          <a:prstGeom prst="line">
            <a:avLst/>
          </a:prstGeom>
          <a:noFill/>
          <a:ln w="5080">
            <a:solidFill>
              <a:srgbClr val="D5DCE5"/>
            </a:solidFill>
            <a:prstDash val="solid"/>
          </a:ln>
        </p:spPr>
      </p:sp>
      <p:sp>
        <p:nvSpPr>
          <p:cNvPr id="79" name="Shape 77"/>
          <p:cNvSpPr/>
          <p:nvPr/>
        </p:nvSpPr>
        <p:spPr>
          <a:xfrm>
            <a:off x="1625600" y="3794760"/>
            <a:ext cx="914" cy="1188720"/>
          </a:xfrm>
          <a:prstGeom prst="line">
            <a:avLst/>
          </a:prstGeom>
          <a:noFill/>
          <a:ln w="5080">
            <a:solidFill>
              <a:srgbClr val="D5DCE5"/>
            </a:solidFill>
            <a:prstDash val="solid"/>
          </a:ln>
        </p:spPr>
      </p:sp>
      <p:sp>
        <p:nvSpPr>
          <p:cNvPr id="80" name="Shape 78"/>
          <p:cNvSpPr/>
          <p:nvPr/>
        </p:nvSpPr>
        <p:spPr>
          <a:xfrm>
            <a:off x="1859280" y="3794760"/>
            <a:ext cx="914" cy="1188720"/>
          </a:xfrm>
          <a:prstGeom prst="line">
            <a:avLst/>
          </a:prstGeom>
          <a:noFill/>
          <a:ln w="5080">
            <a:solidFill>
              <a:srgbClr val="D5DCE5"/>
            </a:solidFill>
            <a:prstDash val="solid"/>
          </a:ln>
        </p:spPr>
      </p:sp>
      <p:sp>
        <p:nvSpPr>
          <p:cNvPr id="81" name="Shape 79"/>
          <p:cNvSpPr/>
          <p:nvPr/>
        </p:nvSpPr>
        <p:spPr>
          <a:xfrm>
            <a:off x="2092960" y="3794760"/>
            <a:ext cx="914" cy="1188720"/>
          </a:xfrm>
          <a:prstGeom prst="line">
            <a:avLst/>
          </a:prstGeom>
          <a:noFill/>
          <a:ln w="5080">
            <a:solidFill>
              <a:srgbClr val="D5DCE5"/>
            </a:solidFill>
            <a:prstDash val="solid"/>
          </a:ln>
        </p:spPr>
      </p:sp>
      <p:sp>
        <p:nvSpPr>
          <p:cNvPr id="82" name="Shape 80"/>
          <p:cNvSpPr/>
          <p:nvPr/>
        </p:nvSpPr>
        <p:spPr>
          <a:xfrm>
            <a:off x="2326640" y="3794760"/>
            <a:ext cx="914" cy="1188720"/>
          </a:xfrm>
          <a:prstGeom prst="line">
            <a:avLst/>
          </a:prstGeom>
          <a:noFill/>
          <a:ln w="5080">
            <a:solidFill>
              <a:srgbClr val="D5DCE5"/>
            </a:solidFill>
            <a:prstDash val="solid"/>
          </a:ln>
        </p:spPr>
      </p:sp>
      <p:sp>
        <p:nvSpPr>
          <p:cNvPr id="83" name="Shape 81"/>
          <p:cNvSpPr/>
          <p:nvPr/>
        </p:nvSpPr>
        <p:spPr>
          <a:xfrm>
            <a:off x="457200" y="3943350"/>
            <a:ext cx="2103120" cy="914"/>
          </a:xfrm>
          <a:prstGeom prst="line">
            <a:avLst/>
          </a:prstGeom>
          <a:noFill/>
          <a:ln w="5080">
            <a:solidFill>
              <a:srgbClr val="D5DCE5"/>
            </a:solidFill>
            <a:prstDash val="solid"/>
          </a:ln>
        </p:spPr>
      </p:sp>
      <p:sp>
        <p:nvSpPr>
          <p:cNvPr id="84" name="Shape 82"/>
          <p:cNvSpPr/>
          <p:nvPr/>
        </p:nvSpPr>
        <p:spPr>
          <a:xfrm>
            <a:off x="457200" y="4091940"/>
            <a:ext cx="2103120" cy="914"/>
          </a:xfrm>
          <a:prstGeom prst="line">
            <a:avLst/>
          </a:prstGeom>
          <a:noFill/>
          <a:ln w="5080">
            <a:solidFill>
              <a:srgbClr val="D5DCE5"/>
            </a:solidFill>
            <a:prstDash val="solid"/>
          </a:ln>
        </p:spPr>
      </p:sp>
      <p:sp>
        <p:nvSpPr>
          <p:cNvPr id="85" name="Shape 83"/>
          <p:cNvSpPr/>
          <p:nvPr/>
        </p:nvSpPr>
        <p:spPr>
          <a:xfrm>
            <a:off x="457200" y="4240530"/>
            <a:ext cx="2103120" cy="914"/>
          </a:xfrm>
          <a:prstGeom prst="line">
            <a:avLst/>
          </a:prstGeom>
          <a:noFill/>
          <a:ln w="5080">
            <a:solidFill>
              <a:srgbClr val="D5DCE5"/>
            </a:solidFill>
            <a:prstDash val="solid"/>
          </a:ln>
        </p:spPr>
      </p:sp>
      <p:sp>
        <p:nvSpPr>
          <p:cNvPr id="86" name="Shape 84"/>
          <p:cNvSpPr/>
          <p:nvPr/>
        </p:nvSpPr>
        <p:spPr>
          <a:xfrm>
            <a:off x="457200" y="4389120"/>
            <a:ext cx="2103120" cy="914"/>
          </a:xfrm>
          <a:prstGeom prst="line">
            <a:avLst/>
          </a:prstGeom>
          <a:noFill/>
          <a:ln w="5080">
            <a:solidFill>
              <a:srgbClr val="D5DCE5"/>
            </a:solidFill>
            <a:prstDash val="solid"/>
          </a:ln>
        </p:spPr>
      </p:sp>
      <p:sp>
        <p:nvSpPr>
          <p:cNvPr id="87" name="Shape 85"/>
          <p:cNvSpPr/>
          <p:nvPr/>
        </p:nvSpPr>
        <p:spPr>
          <a:xfrm>
            <a:off x="457200" y="4537710"/>
            <a:ext cx="2103120" cy="914"/>
          </a:xfrm>
          <a:prstGeom prst="line">
            <a:avLst/>
          </a:prstGeom>
          <a:noFill/>
          <a:ln w="5080">
            <a:solidFill>
              <a:srgbClr val="D5DCE5"/>
            </a:solidFill>
            <a:prstDash val="solid"/>
          </a:ln>
        </p:spPr>
      </p:sp>
      <p:sp>
        <p:nvSpPr>
          <p:cNvPr id="88" name="Shape 86"/>
          <p:cNvSpPr/>
          <p:nvPr/>
        </p:nvSpPr>
        <p:spPr>
          <a:xfrm>
            <a:off x="457200" y="4686300"/>
            <a:ext cx="2103120" cy="914"/>
          </a:xfrm>
          <a:prstGeom prst="line">
            <a:avLst/>
          </a:prstGeom>
          <a:noFill/>
          <a:ln w="5080">
            <a:solidFill>
              <a:srgbClr val="D5DCE5"/>
            </a:solidFill>
            <a:prstDash val="solid"/>
          </a:ln>
        </p:spPr>
      </p:sp>
      <p:sp>
        <p:nvSpPr>
          <p:cNvPr id="89" name="Shape 87"/>
          <p:cNvSpPr/>
          <p:nvPr/>
        </p:nvSpPr>
        <p:spPr>
          <a:xfrm>
            <a:off x="457200" y="4834890"/>
            <a:ext cx="2103120" cy="914"/>
          </a:xfrm>
          <a:prstGeom prst="line">
            <a:avLst/>
          </a:prstGeom>
          <a:noFill/>
          <a:ln w="5080">
            <a:solidFill>
              <a:srgbClr val="D5DCE5"/>
            </a:solidFill>
            <a:prstDash val="solid"/>
          </a:ln>
        </p:spPr>
      </p:sp>
      <p:sp>
        <p:nvSpPr>
          <p:cNvPr id="90" name="Text 88"/>
          <p:cNvSpPr txBox="1"/>
          <p:nvPr/>
        </p:nvSpPr>
        <p:spPr>
          <a:xfrm>
            <a:off x="457200" y="3794760"/>
            <a:ext cx="1635760" cy="118872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유효 0…6</a:t>
            </a:r>
            <a:endParaRPr lang="en-US" sz="650" dirty="0"/>
          </a:p>
        </p:txBody>
      </p:sp>
      <p:sp>
        <p:nvSpPr>
          <p:cNvPr id="91" name="Text 89"/>
          <p:cNvSpPr txBox="1"/>
          <p:nvPr/>
        </p:nvSpPr>
        <p:spPr>
          <a:xfrm>
            <a:off x="2092960" y="3794760"/>
            <a:ext cx="233680" cy="118872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7</a:t>
            </a:r>
            <a:endParaRPr lang="en-US" sz="650" dirty="0"/>
          </a:p>
        </p:txBody>
      </p:sp>
      <p:sp>
        <p:nvSpPr>
          <p:cNvPr id="92" name="Text 90"/>
          <p:cNvSpPr txBox="1"/>
          <p:nvPr/>
        </p:nvSpPr>
        <p:spPr>
          <a:xfrm>
            <a:off x="457200" y="3566160"/>
            <a:ext cx="237744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k_cache[l,h] [128, C=9] (열 = slot)</a:t>
            </a:r>
            <a:endParaRPr lang="en-US" sz="700" dirty="0"/>
          </a:p>
        </p:txBody>
      </p:sp>
      <p:sp>
        <p:nvSpPr>
          <p:cNvPr id="93" name="Text 91"/>
          <p:cNvSpPr txBox="1"/>
          <p:nvPr/>
        </p:nvSpPr>
        <p:spPr>
          <a:xfrm>
            <a:off x="457200" y="5020056"/>
            <a:ext cx="2377440" cy="36576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열 1개: 128행 × 2 B, stride 18 B → 2D DMA</a:t>
            </a:r>
            <a:endParaRPr lang="en-US" sz="650" dirty="0"/>
          </a:p>
        </p:txBody>
      </p:sp>
      <p:sp>
        <p:nvSpPr>
          <p:cNvPr id="94" name="Shape 92"/>
          <p:cNvSpPr/>
          <p:nvPr/>
        </p:nvSpPr>
        <p:spPr>
          <a:xfrm>
            <a:off x="2788920" y="3794760"/>
            <a:ext cx="201168" cy="1188720"/>
          </a:xfrm>
          <a:prstGeom prst="rect">
            <a:avLst/>
          </a:prstGeom>
          <a:solidFill>
            <a:srgbClr val="ECE6FA"/>
          </a:solidFill>
          <a:ln w="12700">
            <a:solidFill>
              <a:srgbClr val="6C4FBF"/>
            </a:solidFill>
            <a:prstDash val="solid"/>
          </a:ln>
        </p:spPr>
      </p:sp>
      <p:sp>
        <p:nvSpPr>
          <p:cNvPr id="95" name="Shape 93"/>
          <p:cNvSpPr/>
          <p:nvPr/>
        </p:nvSpPr>
        <p:spPr>
          <a:xfrm>
            <a:off x="2788920" y="3794760"/>
            <a:ext cx="201168" cy="1188720"/>
          </a:xfrm>
          <a:prstGeom prst="rect">
            <a:avLst/>
          </a:prstGeom>
          <a:solidFill>
            <a:srgbClr val="ECE6FA"/>
          </a:solidFill>
          <a:ln w="15875">
            <a:solidFill>
              <a:srgbClr val="6C4FBF"/>
            </a:solidFill>
            <a:prstDash val="solid"/>
          </a:ln>
        </p:spPr>
      </p:sp>
      <p:sp>
        <p:nvSpPr>
          <p:cNvPr id="96" name="Shape 94"/>
          <p:cNvSpPr/>
          <p:nvPr/>
        </p:nvSpPr>
        <p:spPr>
          <a:xfrm>
            <a:off x="2788920" y="3943350"/>
            <a:ext cx="201168" cy="914"/>
          </a:xfrm>
          <a:prstGeom prst="line">
            <a:avLst/>
          </a:prstGeom>
          <a:noFill/>
          <a:ln w="5080">
            <a:solidFill>
              <a:srgbClr val="D5DCE5"/>
            </a:solidFill>
            <a:prstDash val="solid"/>
          </a:ln>
        </p:spPr>
      </p:sp>
      <p:sp>
        <p:nvSpPr>
          <p:cNvPr id="97" name="Shape 95"/>
          <p:cNvSpPr/>
          <p:nvPr/>
        </p:nvSpPr>
        <p:spPr>
          <a:xfrm>
            <a:off x="2788920" y="4091940"/>
            <a:ext cx="201168" cy="914"/>
          </a:xfrm>
          <a:prstGeom prst="line">
            <a:avLst/>
          </a:prstGeom>
          <a:noFill/>
          <a:ln w="5080">
            <a:solidFill>
              <a:srgbClr val="D5DCE5"/>
            </a:solidFill>
            <a:prstDash val="solid"/>
          </a:ln>
        </p:spPr>
      </p:sp>
      <p:sp>
        <p:nvSpPr>
          <p:cNvPr id="98" name="Shape 96"/>
          <p:cNvSpPr/>
          <p:nvPr/>
        </p:nvSpPr>
        <p:spPr>
          <a:xfrm>
            <a:off x="2788920" y="4240530"/>
            <a:ext cx="201168" cy="914"/>
          </a:xfrm>
          <a:prstGeom prst="line">
            <a:avLst/>
          </a:prstGeom>
          <a:noFill/>
          <a:ln w="5080">
            <a:solidFill>
              <a:srgbClr val="D5DCE5"/>
            </a:solidFill>
            <a:prstDash val="solid"/>
          </a:ln>
        </p:spPr>
      </p:sp>
      <p:sp>
        <p:nvSpPr>
          <p:cNvPr id="99" name="Shape 97"/>
          <p:cNvSpPr/>
          <p:nvPr/>
        </p:nvSpPr>
        <p:spPr>
          <a:xfrm>
            <a:off x="2788920" y="4389120"/>
            <a:ext cx="201168" cy="914"/>
          </a:xfrm>
          <a:prstGeom prst="line">
            <a:avLst/>
          </a:prstGeom>
          <a:noFill/>
          <a:ln w="5080">
            <a:solidFill>
              <a:srgbClr val="D5DCE5"/>
            </a:solidFill>
            <a:prstDash val="solid"/>
          </a:ln>
        </p:spPr>
      </p:sp>
      <p:sp>
        <p:nvSpPr>
          <p:cNvPr id="100" name="Shape 98"/>
          <p:cNvSpPr/>
          <p:nvPr/>
        </p:nvSpPr>
        <p:spPr>
          <a:xfrm>
            <a:off x="2788920" y="4537710"/>
            <a:ext cx="201168" cy="914"/>
          </a:xfrm>
          <a:prstGeom prst="line">
            <a:avLst/>
          </a:prstGeom>
          <a:noFill/>
          <a:ln w="5080">
            <a:solidFill>
              <a:srgbClr val="D5DCE5"/>
            </a:solidFill>
            <a:prstDash val="solid"/>
          </a:ln>
        </p:spPr>
      </p:sp>
      <p:sp>
        <p:nvSpPr>
          <p:cNvPr id="101" name="Shape 99"/>
          <p:cNvSpPr/>
          <p:nvPr/>
        </p:nvSpPr>
        <p:spPr>
          <a:xfrm>
            <a:off x="2788920" y="4686300"/>
            <a:ext cx="201168" cy="914"/>
          </a:xfrm>
          <a:prstGeom prst="line">
            <a:avLst/>
          </a:prstGeom>
          <a:noFill/>
          <a:ln w="5080">
            <a:solidFill>
              <a:srgbClr val="D5DCE5"/>
            </a:solidFill>
            <a:prstDash val="solid"/>
          </a:ln>
        </p:spPr>
      </p:sp>
      <p:sp>
        <p:nvSpPr>
          <p:cNvPr id="102" name="Shape 100"/>
          <p:cNvSpPr/>
          <p:nvPr/>
        </p:nvSpPr>
        <p:spPr>
          <a:xfrm>
            <a:off x="2788920" y="4834890"/>
            <a:ext cx="201168" cy="914"/>
          </a:xfrm>
          <a:prstGeom prst="line">
            <a:avLst/>
          </a:prstGeom>
          <a:noFill/>
          <a:ln w="5080">
            <a:solidFill>
              <a:srgbClr val="D5DCE5"/>
            </a:solidFill>
            <a:prstDash val="solid"/>
          </a:ln>
        </p:spPr>
      </p:sp>
      <p:sp>
        <p:nvSpPr>
          <p:cNvPr id="103" name="Text 101"/>
          <p:cNvSpPr txBox="1"/>
          <p:nvPr/>
        </p:nvSpPr>
        <p:spPr>
          <a:xfrm>
            <a:off x="2788920" y="3566160"/>
            <a:ext cx="54864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K_new</a:t>
            </a:r>
            <a:endParaRPr lang="en-US" sz="700" dirty="0"/>
          </a:p>
        </p:txBody>
      </p:sp>
      <p:sp>
        <p:nvSpPr>
          <p:cNvPr id="104" name="Shape 102"/>
          <p:cNvSpPr/>
          <p:nvPr/>
        </p:nvSpPr>
        <p:spPr>
          <a:xfrm flipH="1">
            <a:off x="2209800" y="4389120"/>
            <a:ext cx="579120" cy="914"/>
          </a:xfrm>
          <a:prstGeom prst="line">
            <a:avLst/>
          </a:prstGeom>
          <a:noFill/>
          <a:ln w="19050">
            <a:solidFill>
              <a:srgbClr val="B7791F"/>
            </a:solidFill>
            <a:prstDash val="solid"/>
            <a:tailEnd type="triangle"/>
          </a:ln>
        </p:spPr>
      </p:sp>
      <p:sp>
        <p:nvSpPr>
          <p:cNvPr id="105" name="Shape 103"/>
          <p:cNvSpPr/>
          <p:nvPr/>
        </p:nvSpPr>
        <p:spPr>
          <a:xfrm>
            <a:off x="3383280" y="3657600"/>
            <a:ext cx="1828800" cy="1417320"/>
          </a:xfrm>
          <a:prstGeom prst="rect">
            <a:avLst/>
          </a:prstGeom>
          <a:solidFill>
            <a:srgbClr val="EEF2F6"/>
          </a:solidFill>
          <a:ln w="12700">
            <a:solidFill>
              <a:srgbClr val="C9D3DF"/>
            </a:solidFill>
            <a:prstDash val="solid"/>
          </a:ln>
        </p:spPr>
      </p:sp>
      <p:sp>
        <p:nvSpPr>
          <p:cNvPr id="106" name="Shape 104"/>
          <p:cNvSpPr/>
          <p:nvPr/>
        </p:nvSpPr>
        <p:spPr>
          <a:xfrm>
            <a:off x="3383280" y="3657600"/>
            <a:ext cx="1828800" cy="1102360"/>
          </a:xfrm>
          <a:prstGeom prst="rect">
            <a:avLst/>
          </a:prstGeom>
          <a:solidFill>
            <a:srgbClr val="FFF1DC"/>
          </a:solidFill>
          <a:ln w="15875">
            <a:solidFill>
              <a:srgbClr val="D98A1E"/>
            </a:solidFill>
            <a:prstDash val="solid"/>
          </a:ln>
        </p:spPr>
      </p:sp>
      <p:sp>
        <p:nvSpPr>
          <p:cNvPr id="107" name="Shape 105"/>
          <p:cNvSpPr/>
          <p:nvPr/>
        </p:nvSpPr>
        <p:spPr>
          <a:xfrm>
            <a:off x="3383280" y="4759960"/>
            <a:ext cx="1828800" cy="157480"/>
          </a:xfrm>
          <a:prstGeom prst="rect">
            <a:avLst/>
          </a:prstGeom>
          <a:solidFill>
            <a:srgbClr val="FFF6DB"/>
          </a:solidFill>
          <a:ln w="15875">
            <a:solidFill>
              <a:srgbClr val="B7791F"/>
            </a:solidFill>
            <a:prstDash val="solid"/>
          </a:ln>
        </p:spPr>
      </p:sp>
      <p:sp>
        <p:nvSpPr>
          <p:cNvPr id="108" name="Shape 106"/>
          <p:cNvSpPr/>
          <p:nvPr/>
        </p:nvSpPr>
        <p:spPr>
          <a:xfrm>
            <a:off x="3611880" y="3657600"/>
            <a:ext cx="914" cy="1417320"/>
          </a:xfrm>
          <a:prstGeom prst="line">
            <a:avLst/>
          </a:prstGeom>
          <a:noFill/>
          <a:ln w="5080">
            <a:solidFill>
              <a:srgbClr val="D5DCE5"/>
            </a:solidFill>
            <a:prstDash val="solid"/>
          </a:ln>
        </p:spPr>
      </p:sp>
      <p:sp>
        <p:nvSpPr>
          <p:cNvPr id="109" name="Shape 107"/>
          <p:cNvSpPr/>
          <p:nvPr/>
        </p:nvSpPr>
        <p:spPr>
          <a:xfrm>
            <a:off x="3840480" y="3657600"/>
            <a:ext cx="914" cy="1417320"/>
          </a:xfrm>
          <a:prstGeom prst="line">
            <a:avLst/>
          </a:prstGeom>
          <a:noFill/>
          <a:ln w="5080">
            <a:solidFill>
              <a:srgbClr val="D5DCE5"/>
            </a:solidFill>
            <a:prstDash val="solid"/>
          </a:ln>
        </p:spPr>
      </p:sp>
      <p:sp>
        <p:nvSpPr>
          <p:cNvPr id="110" name="Shape 108"/>
          <p:cNvSpPr/>
          <p:nvPr/>
        </p:nvSpPr>
        <p:spPr>
          <a:xfrm>
            <a:off x="4069080" y="3657600"/>
            <a:ext cx="914" cy="1417320"/>
          </a:xfrm>
          <a:prstGeom prst="line">
            <a:avLst/>
          </a:prstGeom>
          <a:noFill/>
          <a:ln w="5080">
            <a:solidFill>
              <a:srgbClr val="D5DCE5"/>
            </a:solidFill>
            <a:prstDash val="solid"/>
          </a:ln>
        </p:spPr>
      </p:sp>
      <p:sp>
        <p:nvSpPr>
          <p:cNvPr id="111" name="Shape 109"/>
          <p:cNvSpPr/>
          <p:nvPr/>
        </p:nvSpPr>
        <p:spPr>
          <a:xfrm>
            <a:off x="4297680" y="3657600"/>
            <a:ext cx="914" cy="1417320"/>
          </a:xfrm>
          <a:prstGeom prst="line">
            <a:avLst/>
          </a:prstGeom>
          <a:noFill/>
          <a:ln w="5080">
            <a:solidFill>
              <a:srgbClr val="D5DCE5"/>
            </a:solidFill>
            <a:prstDash val="solid"/>
          </a:ln>
        </p:spPr>
      </p:sp>
      <p:sp>
        <p:nvSpPr>
          <p:cNvPr id="112" name="Shape 110"/>
          <p:cNvSpPr/>
          <p:nvPr/>
        </p:nvSpPr>
        <p:spPr>
          <a:xfrm>
            <a:off x="4526280" y="3657600"/>
            <a:ext cx="914" cy="1417320"/>
          </a:xfrm>
          <a:prstGeom prst="line">
            <a:avLst/>
          </a:prstGeom>
          <a:noFill/>
          <a:ln w="5080">
            <a:solidFill>
              <a:srgbClr val="D5DCE5"/>
            </a:solidFill>
            <a:prstDash val="solid"/>
          </a:ln>
        </p:spPr>
      </p:sp>
      <p:sp>
        <p:nvSpPr>
          <p:cNvPr id="113" name="Shape 111"/>
          <p:cNvSpPr/>
          <p:nvPr/>
        </p:nvSpPr>
        <p:spPr>
          <a:xfrm>
            <a:off x="4754880" y="3657600"/>
            <a:ext cx="914" cy="1417320"/>
          </a:xfrm>
          <a:prstGeom prst="line">
            <a:avLst/>
          </a:prstGeom>
          <a:noFill/>
          <a:ln w="5080">
            <a:solidFill>
              <a:srgbClr val="D5DCE5"/>
            </a:solidFill>
            <a:prstDash val="solid"/>
          </a:ln>
        </p:spPr>
      </p:sp>
      <p:sp>
        <p:nvSpPr>
          <p:cNvPr id="114" name="Shape 112"/>
          <p:cNvSpPr/>
          <p:nvPr/>
        </p:nvSpPr>
        <p:spPr>
          <a:xfrm>
            <a:off x="4983480" y="3657600"/>
            <a:ext cx="914" cy="1417320"/>
          </a:xfrm>
          <a:prstGeom prst="line">
            <a:avLst/>
          </a:prstGeom>
          <a:noFill/>
          <a:ln w="5080">
            <a:solidFill>
              <a:srgbClr val="D5DCE5"/>
            </a:solidFill>
            <a:prstDash val="solid"/>
          </a:ln>
        </p:spPr>
      </p:sp>
      <p:sp>
        <p:nvSpPr>
          <p:cNvPr id="115" name="Shape 113"/>
          <p:cNvSpPr/>
          <p:nvPr/>
        </p:nvSpPr>
        <p:spPr>
          <a:xfrm>
            <a:off x="3383280" y="3815080"/>
            <a:ext cx="1828800" cy="914"/>
          </a:xfrm>
          <a:prstGeom prst="line">
            <a:avLst/>
          </a:prstGeom>
          <a:noFill/>
          <a:ln w="5080">
            <a:solidFill>
              <a:srgbClr val="D5DCE5"/>
            </a:solidFill>
            <a:prstDash val="solid"/>
          </a:ln>
        </p:spPr>
      </p:sp>
      <p:sp>
        <p:nvSpPr>
          <p:cNvPr id="116" name="Shape 114"/>
          <p:cNvSpPr/>
          <p:nvPr/>
        </p:nvSpPr>
        <p:spPr>
          <a:xfrm>
            <a:off x="3383280" y="3972560"/>
            <a:ext cx="1828800" cy="914"/>
          </a:xfrm>
          <a:prstGeom prst="line">
            <a:avLst/>
          </a:prstGeom>
          <a:noFill/>
          <a:ln w="5080">
            <a:solidFill>
              <a:srgbClr val="D5DCE5"/>
            </a:solidFill>
            <a:prstDash val="solid"/>
          </a:ln>
        </p:spPr>
      </p:sp>
      <p:sp>
        <p:nvSpPr>
          <p:cNvPr id="117" name="Shape 115"/>
          <p:cNvSpPr/>
          <p:nvPr/>
        </p:nvSpPr>
        <p:spPr>
          <a:xfrm>
            <a:off x="3383280" y="4130040"/>
            <a:ext cx="1828800" cy="914"/>
          </a:xfrm>
          <a:prstGeom prst="line">
            <a:avLst/>
          </a:prstGeom>
          <a:noFill/>
          <a:ln w="5080">
            <a:solidFill>
              <a:srgbClr val="D5DCE5"/>
            </a:solidFill>
            <a:prstDash val="solid"/>
          </a:ln>
        </p:spPr>
      </p:sp>
      <p:sp>
        <p:nvSpPr>
          <p:cNvPr id="118" name="Shape 116"/>
          <p:cNvSpPr/>
          <p:nvPr/>
        </p:nvSpPr>
        <p:spPr>
          <a:xfrm>
            <a:off x="3383280" y="4287520"/>
            <a:ext cx="1828800" cy="914"/>
          </a:xfrm>
          <a:prstGeom prst="line">
            <a:avLst/>
          </a:prstGeom>
          <a:noFill/>
          <a:ln w="5080">
            <a:solidFill>
              <a:srgbClr val="D5DCE5"/>
            </a:solidFill>
            <a:prstDash val="solid"/>
          </a:ln>
        </p:spPr>
      </p:sp>
      <p:sp>
        <p:nvSpPr>
          <p:cNvPr id="119" name="Shape 117"/>
          <p:cNvSpPr/>
          <p:nvPr/>
        </p:nvSpPr>
        <p:spPr>
          <a:xfrm>
            <a:off x="3383280" y="4445000"/>
            <a:ext cx="1828800" cy="914"/>
          </a:xfrm>
          <a:prstGeom prst="line">
            <a:avLst/>
          </a:prstGeom>
          <a:noFill/>
          <a:ln w="5080">
            <a:solidFill>
              <a:srgbClr val="D5DCE5"/>
            </a:solidFill>
            <a:prstDash val="solid"/>
          </a:ln>
        </p:spPr>
      </p:sp>
      <p:sp>
        <p:nvSpPr>
          <p:cNvPr id="120" name="Shape 118"/>
          <p:cNvSpPr/>
          <p:nvPr/>
        </p:nvSpPr>
        <p:spPr>
          <a:xfrm>
            <a:off x="3383280" y="4602480"/>
            <a:ext cx="1828800" cy="914"/>
          </a:xfrm>
          <a:prstGeom prst="line">
            <a:avLst/>
          </a:prstGeom>
          <a:noFill/>
          <a:ln w="5080">
            <a:solidFill>
              <a:srgbClr val="D5DCE5"/>
            </a:solidFill>
            <a:prstDash val="solid"/>
          </a:ln>
        </p:spPr>
      </p:sp>
      <p:sp>
        <p:nvSpPr>
          <p:cNvPr id="121" name="Shape 119"/>
          <p:cNvSpPr/>
          <p:nvPr/>
        </p:nvSpPr>
        <p:spPr>
          <a:xfrm>
            <a:off x="3383280" y="4759960"/>
            <a:ext cx="1828800" cy="914"/>
          </a:xfrm>
          <a:prstGeom prst="line">
            <a:avLst/>
          </a:prstGeom>
          <a:noFill/>
          <a:ln w="5080">
            <a:solidFill>
              <a:srgbClr val="D5DCE5"/>
            </a:solidFill>
            <a:prstDash val="solid"/>
          </a:ln>
        </p:spPr>
      </p:sp>
      <p:sp>
        <p:nvSpPr>
          <p:cNvPr id="122" name="Shape 120"/>
          <p:cNvSpPr/>
          <p:nvPr/>
        </p:nvSpPr>
        <p:spPr>
          <a:xfrm>
            <a:off x="3383280" y="4917440"/>
            <a:ext cx="1828800" cy="914"/>
          </a:xfrm>
          <a:prstGeom prst="line">
            <a:avLst/>
          </a:prstGeom>
          <a:noFill/>
          <a:ln w="5080">
            <a:solidFill>
              <a:srgbClr val="D5DCE5"/>
            </a:solidFill>
            <a:prstDash val="solid"/>
          </a:ln>
        </p:spPr>
      </p:sp>
      <p:sp>
        <p:nvSpPr>
          <p:cNvPr id="123" name="Text 121"/>
          <p:cNvSpPr txBox="1"/>
          <p:nvPr/>
        </p:nvSpPr>
        <p:spPr>
          <a:xfrm>
            <a:off x="3383280" y="3657600"/>
            <a:ext cx="1828800" cy="11023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유효 0…6</a:t>
            </a:r>
            <a:endParaRPr lang="en-US" sz="650" dirty="0"/>
          </a:p>
        </p:txBody>
      </p:sp>
      <p:sp>
        <p:nvSpPr>
          <p:cNvPr id="124" name="Text 122"/>
          <p:cNvSpPr txBox="1"/>
          <p:nvPr/>
        </p:nvSpPr>
        <p:spPr>
          <a:xfrm>
            <a:off x="3383280" y="4759960"/>
            <a:ext cx="1828800" cy="15748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7</a:t>
            </a:r>
            <a:endParaRPr lang="en-US" sz="650" dirty="0"/>
          </a:p>
        </p:txBody>
      </p:sp>
      <p:sp>
        <p:nvSpPr>
          <p:cNvPr id="125" name="Text 123"/>
          <p:cNvSpPr txBox="1"/>
          <p:nvPr/>
        </p:nvSpPr>
        <p:spPr>
          <a:xfrm>
            <a:off x="3383280" y="3429000"/>
            <a:ext cx="210312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v_cache[l,h] [C=9, 128] (행 = slot)</a:t>
            </a:r>
            <a:endParaRPr lang="en-US" sz="700" dirty="0"/>
          </a:p>
        </p:txBody>
      </p:sp>
      <p:sp>
        <p:nvSpPr>
          <p:cNvPr id="126" name="Text 124"/>
          <p:cNvSpPr txBox="1"/>
          <p:nvPr/>
        </p:nvSpPr>
        <p:spPr>
          <a:xfrm>
            <a:off x="3383280" y="5111496"/>
            <a:ext cx="2103120" cy="365760"/>
          </a:xfrm>
          <a:prstGeom prst="rect">
            <a:avLst/>
          </a:prstGeom>
          <a:noFill/>
          <a:ln/>
        </p:spPr>
        <p:txBody>
          <a:bodyPr wrap="square" lIns="0" tIns="0" rIns="0" bIns="0" rtlCol="0" anchor="t"/>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행 1개: 연속 256 B → 1D DMA</a:t>
            </a:r>
            <a:endParaRPr lang="en-US" sz="650" dirty="0"/>
          </a:p>
        </p:txBody>
      </p:sp>
      <p:sp>
        <p:nvSpPr>
          <p:cNvPr id="127" name="Shape 125"/>
          <p:cNvSpPr/>
          <p:nvPr/>
        </p:nvSpPr>
        <p:spPr>
          <a:xfrm>
            <a:off x="5349240" y="4709160"/>
            <a:ext cx="960120" cy="164592"/>
          </a:xfrm>
          <a:prstGeom prst="rect">
            <a:avLst/>
          </a:prstGeom>
          <a:solidFill>
            <a:srgbClr val="ECE6FA"/>
          </a:solidFill>
          <a:ln w="12700">
            <a:solidFill>
              <a:srgbClr val="6C4FBF"/>
            </a:solidFill>
            <a:prstDash val="solid"/>
          </a:ln>
        </p:spPr>
      </p:sp>
      <p:sp>
        <p:nvSpPr>
          <p:cNvPr id="128" name="Shape 126"/>
          <p:cNvSpPr/>
          <p:nvPr/>
        </p:nvSpPr>
        <p:spPr>
          <a:xfrm>
            <a:off x="5349240" y="4709160"/>
            <a:ext cx="960120" cy="164592"/>
          </a:xfrm>
          <a:prstGeom prst="rect">
            <a:avLst/>
          </a:prstGeom>
          <a:solidFill>
            <a:srgbClr val="ECE6FA"/>
          </a:solidFill>
          <a:ln w="15875">
            <a:solidFill>
              <a:srgbClr val="6C4FBF"/>
            </a:solidFill>
            <a:prstDash val="solid"/>
          </a:ln>
        </p:spPr>
      </p:sp>
      <p:sp>
        <p:nvSpPr>
          <p:cNvPr id="129" name="Shape 127"/>
          <p:cNvSpPr/>
          <p:nvPr/>
        </p:nvSpPr>
        <p:spPr>
          <a:xfrm>
            <a:off x="5469255" y="4709160"/>
            <a:ext cx="914" cy="164592"/>
          </a:xfrm>
          <a:prstGeom prst="line">
            <a:avLst/>
          </a:prstGeom>
          <a:noFill/>
          <a:ln w="5080">
            <a:solidFill>
              <a:srgbClr val="D5DCE5"/>
            </a:solidFill>
            <a:prstDash val="solid"/>
          </a:ln>
        </p:spPr>
      </p:sp>
      <p:sp>
        <p:nvSpPr>
          <p:cNvPr id="130" name="Shape 128"/>
          <p:cNvSpPr/>
          <p:nvPr/>
        </p:nvSpPr>
        <p:spPr>
          <a:xfrm>
            <a:off x="5589270" y="4709160"/>
            <a:ext cx="914" cy="164592"/>
          </a:xfrm>
          <a:prstGeom prst="line">
            <a:avLst/>
          </a:prstGeom>
          <a:noFill/>
          <a:ln w="5080">
            <a:solidFill>
              <a:srgbClr val="D5DCE5"/>
            </a:solidFill>
            <a:prstDash val="solid"/>
          </a:ln>
        </p:spPr>
      </p:sp>
      <p:sp>
        <p:nvSpPr>
          <p:cNvPr id="131" name="Shape 129"/>
          <p:cNvSpPr/>
          <p:nvPr/>
        </p:nvSpPr>
        <p:spPr>
          <a:xfrm>
            <a:off x="5709285" y="4709160"/>
            <a:ext cx="914" cy="164592"/>
          </a:xfrm>
          <a:prstGeom prst="line">
            <a:avLst/>
          </a:prstGeom>
          <a:noFill/>
          <a:ln w="5080">
            <a:solidFill>
              <a:srgbClr val="D5DCE5"/>
            </a:solidFill>
            <a:prstDash val="solid"/>
          </a:ln>
        </p:spPr>
      </p:sp>
      <p:sp>
        <p:nvSpPr>
          <p:cNvPr id="132" name="Shape 130"/>
          <p:cNvSpPr/>
          <p:nvPr/>
        </p:nvSpPr>
        <p:spPr>
          <a:xfrm>
            <a:off x="5829300" y="4709160"/>
            <a:ext cx="914" cy="164592"/>
          </a:xfrm>
          <a:prstGeom prst="line">
            <a:avLst/>
          </a:prstGeom>
          <a:noFill/>
          <a:ln w="5080">
            <a:solidFill>
              <a:srgbClr val="D5DCE5"/>
            </a:solidFill>
            <a:prstDash val="solid"/>
          </a:ln>
        </p:spPr>
      </p:sp>
      <p:sp>
        <p:nvSpPr>
          <p:cNvPr id="133" name="Shape 131"/>
          <p:cNvSpPr/>
          <p:nvPr/>
        </p:nvSpPr>
        <p:spPr>
          <a:xfrm>
            <a:off x="5949315" y="4709160"/>
            <a:ext cx="914" cy="164592"/>
          </a:xfrm>
          <a:prstGeom prst="line">
            <a:avLst/>
          </a:prstGeom>
          <a:noFill/>
          <a:ln w="5080">
            <a:solidFill>
              <a:srgbClr val="D5DCE5"/>
            </a:solidFill>
            <a:prstDash val="solid"/>
          </a:ln>
        </p:spPr>
      </p:sp>
      <p:sp>
        <p:nvSpPr>
          <p:cNvPr id="134" name="Shape 132"/>
          <p:cNvSpPr/>
          <p:nvPr/>
        </p:nvSpPr>
        <p:spPr>
          <a:xfrm>
            <a:off x="6069330" y="4709160"/>
            <a:ext cx="914" cy="164592"/>
          </a:xfrm>
          <a:prstGeom prst="line">
            <a:avLst/>
          </a:prstGeom>
          <a:noFill/>
          <a:ln w="5080">
            <a:solidFill>
              <a:srgbClr val="D5DCE5"/>
            </a:solidFill>
            <a:prstDash val="solid"/>
          </a:ln>
        </p:spPr>
      </p:sp>
      <p:sp>
        <p:nvSpPr>
          <p:cNvPr id="135" name="Shape 133"/>
          <p:cNvSpPr/>
          <p:nvPr/>
        </p:nvSpPr>
        <p:spPr>
          <a:xfrm>
            <a:off x="6189345" y="4709160"/>
            <a:ext cx="914" cy="164592"/>
          </a:xfrm>
          <a:prstGeom prst="line">
            <a:avLst/>
          </a:prstGeom>
          <a:noFill/>
          <a:ln w="5080">
            <a:solidFill>
              <a:srgbClr val="D5DCE5"/>
            </a:solidFill>
            <a:prstDash val="solid"/>
          </a:ln>
        </p:spPr>
      </p:sp>
      <p:sp>
        <p:nvSpPr>
          <p:cNvPr id="136" name="Text 134"/>
          <p:cNvSpPr txBox="1"/>
          <p:nvPr/>
        </p:nvSpPr>
        <p:spPr>
          <a:xfrm>
            <a:off x="5349240" y="4480560"/>
            <a:ext cx="960120" cy="201168"/>
          </a:xfrm>
          <a:prstGeom prst="rect">
            <a:avLst/>
          </a:prstGeom>
          <a:noFill/>
          <a:ln/>
        </p:spPr>
        <p:txBody>
          <a:bodyPr wrap="square" lIns="0" tIns="0" rIns="0" bIns="0" rtlCol="0" anchor="t"/>
          <a:lstStyle/>
          <a:p>
            <a:pPr algn="l" indent="0" marL="0">
              <a:buNone/>
            </a:pPr>
            <a:r>
              <a:rPr lang="en-US" sz="700" b="1" dirty="0">
                <a:solidFill>
                  <a:srgbClr val="15243B"/>
                </a:solidFill>
                <a:latin typeface="Malgun Gothic" pitchFamily="34" charset="0"/>
                <a:ea typeface="Malgun Gothic" pitchFamily="34" charset="-122"/>
                <a:cs typeface="Malgun Gothic" pitchFamily="34" charset="-120"/>
              </a:rPr>
              <a:t>V_new</a:t>
            </a:r>
            <a:endParaRPr lang="en-US" sz="700" dirty="0"/>
          </a:p>
        </p:txBody>
      </p:sp>
      <p:sp>
        <p:nvSpPr>
          <p:cNvPr id="137" name="Shape 135"/>
          <p:cNvSpPr/>
          <p:nvPr/>
        </p:nvSpPr>
        <p:spPr>
          <a:xfrm flipH="1">
            <a:off x="5212080" y="4791456"/>
            <a:ext cx="137160" cy="47244"/>
          </a:xfrm>
          <a:prstGeom prst="line">
            <a:avLst/>
          </a:prstGeom>
          <a:noFill/>
          <a:ln w="19050">
            <a:solidFill>
              <a:srgbClr val="B7791F"/>
            </a:solidFill>
            <a:prstDash val="solid"/>
            <a:tailEnd type="triangle"/>
          </a:ln>
        </p:spPr>
      </p:sp>
      <p:sp>
        <p:nvSpPr>
          <p:cNvPr id="138" name="Text 136"/>
          <p:cNvSpPr txBox="1"/>
          <p:nvPr/>
        </p:nvSpPr>
        <p:spPr>
          <a:xfrm>
            <a:off x="6766560" y="1371600"/>
            <a:ext cx="4965192" cy="201168"/>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step마다 실제로 바뀌는 바이트 (DecodeSession · PersistentTransport)</a:t>
            </a:r>
            <a:endParaRPr lang="en-US" sz="900" dirty="0"/>
          </a:p>
        </p:txBody>
      </p:sp>
      <p:sp>
        <p:nvSpPr>
          <p:cNvPr id="139" name="Text 137"/>
          <p:cNvSpPr txBox="1"/>
          <p:nvPr/>
        </p:nvSpPr>
        <p:spPr>
          <a:xfrm>
            <a:off x="6766560" y="1609344"/>
            <a:ext cx="4965192" cy="182880"/>
          </a:xfrm>
          <a:prstGeom prst="rect">
            <a:avLst/>
          </a:prstGeom>
          <a:noFill/>
          <a:ln/>
        </p:spPr>
        <p:txBody>
          <a:bodyPr wrap="square" lIns="0" tIns="0" rIns="0" bIns="0" rtlCol="0" anchor="t"/>
          <a:lstStyle/>
          <a:p>
            <a:pPr algn="l" indent="0" marL="0">
              <a:buNone/>
            </a:pPr>
            <a:r>
              <a:rPr lang="en-US" sz="750" b="1" dirty="0">
                <a:solidFill>
                  <a:srgbClr val="D98A1E"/>
                </a:solidFill>
                <a:latin typeface="Malgun Gothic" pitchFamily="34" charset="0"/>
                <a:ea typeface="Malgun Gothic" pitchFamily="34" charset="-122"/>
                <a:cs typeface="Malgun Gothic" pitchFamily="34" charset="-120"/>
              </a:rPr>
              <a:t>global_memory.bin ≈ 6.43 GB</a:t>
            </a:r>
            <a:endParaRPr lang="en-US" sz="750" dirty="0"/>
          </a:p>
        </p:txBody>
      </p:sp>
      <p:sp>
        <p:nvSpPr>
          <p:cNvPr id="140" name="Shape 138"/>
          <p:cNvSpPr/>
          <p:nvPr/>
        </p:nvSpPr>
        <p:spPr>
          <a:xfrm>
            <a:off x="6766560" y="1801368"/>
            <a:ext cx="4965192" cy="365760"/>
          </a:xfrm>
          <a:prstGeom prst="rect">
            <a:avLst/>
          </a:prstGeom>
          <a:solidFill>
            <a:srgbClr val="EEF2F6"/>
          </a:solidFill>
          <a:ln w="9525">
            <a:solidFill>
              <a:srgbClr val="C9D3DF"/>
            </a:solidFill>
            <a:prstDash val="solid"/>
          </a:ln>
        </p:spPr>
      </p:sp>
      <p:sp>
        <p:nvSpPr>
          <p:cNvPr id="141" name="Shape 139"/>
          <p:cNvSpPr/>
          <p:nvPr/>
        </p:nvSpPr>
        <p:spPr>
          <a:xfrm>
            <a:off x="6766560" y="1801368"/>
            <a:ext cx="3376331" cy="365760"/>
          </a:xfrm>
          <a:prstGeom prst="rect">
            <a:avLst/>
          </a:prstGeom>
          <a:solidFill>
            <a:srgbClr val="FFF1DC"/>
          </a:solidFill>
          <a:ln w="12700">
            <a:solidFill>
              <a:srgbClr val="D98A1E"/>
            </a:solidFill>
            <a:prstDash val="solid"/>
          </a:ln>
        </p:spPr>
      </p:sp>
      <p:sp>
        <p:nvSpPr>
          <p:cNvPr id="142" name="Text 140"/>
          <p:cNvSpPr txBox="1"/>
          <p:nvPr/>
        </p:nvSpPr>
        <p:spPr>
          <a:xfrm>
            <a:off x="6766560" y="1801368"/>
            <a:ext cx="3376331" cy="3657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weight (변경 없음, rewrite 0 B)</a:t>
            </a:r>
            <a:endParaRPr lang="en-US" sz="650" dirty="0"/>
          </a:p>
        </p:txBody>
      </p:sp>
      <p:sp>
        <p:nvSpPr>
          <p:cNvPr id="143" name="Shape 141"/>
          <p:cNvSpPr/>
          <p:nvPr/>
        </p:nvSpPr>
        <p:spPr>
          <a:xfrm>
            <a:off x="10142891" y="1801368"/>
            <a:ext cx="397215" cy="365760"/>
          </a:xfrm>
          <a:prstGeom prst="rect">
            <a:avLst/>
          </a:prstGeom>
          <a:solidFill>
            <a:srgbClr val="FFF6DB"/>
          </a:solidFill>
          <a:ln w="12700">
            <a:solidFill>
              <a:srgbClr val="B7791F"/>
            </a:solidFill>
            <a:prstDash val="solid"/>
          </a:ln>
        </p:spPr>
      </p:sp>
      <p:sp>
        <p:nvSpPr>
          <p:cNvPr id="144" name="Text 142"/>
          <p:cNvSpPr txBox="1"/>
          <p:nvPr/>
        </p:nvSpPr>
        <p:spPr>
          <a:xfrm>
            <a:off x="10142891" y="1801368"/>
            <a:ext cx="397215" cy="3657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입력 6,676 B</a:t>
            </a:r>
            <a:endParaRPr lang="en-US" sz="650" dirty="0"/>
          </a:p>
        </p:txBody>
      </p:sp>
      <p:sp>
        <p:nvSpPr>
          <p:cNvPr id="145" name="Shape 143"/>
          <p:cNvSpPr/>
          <p:nvPr/>
        </p:nvSpPr>
        <p:spPr>
          <a:xfrm>
            <a:off x="10540106" y="1801368"/>
            <a:ext cx="794431" cy="365760"/>
          </a:xfrm>
          <a:prstGeom prst="rect">
            <a:avLst/>
          </a:prstGeom>
          <a:solidFill>
            <a:srgbClr val="DDF3F0"/>
          </a:solidFill>
          <a:ln w="12700">
            <a:solidFill>
              <a:srgbClr val="1F8A8A"/>
            </a:solidFill>
            <a:prstDash val="solid"/>
          </a:ln>
        </p:spPr>
      </p:sp>
      <p:sp>
        <p:nvSpPr>
          <p:cNvPr id="146" name="Text 144"/>
          <p:cNvSpPr txBox="1"/>
          <p:nvPr/>
        </p:nvSpPr>
        <p:spPr>
          <a:xfrm>
            <a:off x="10540106" y="1801368"/>
            <a:ext cx="794431" cy="3657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KV cache (tail이 갱신)</a:t>
            </a:r>
            <a:endParaRPr lang="en-US" sz="650" dirty="0"/>
          </a:p>
        </p:txBody>
      </p:sp>
      <p:sp>
        <p:nvSpPr>
          <p:cNvPr id="147" name="Shape 145"/>
          <p:cNvSpPr/>
          <p:nvPr/>
        </p:nvSpPr>
        <p:spPr>
          <a:xfrm>
            <a:off x="11334537" y="1801368"/>
            <a:ext cx="397215" cy="365760"/>
          </a:xfrm>
          <a:prstGeom prst="rect">
            <a:avLst/>
          </a:prstGeom>
          <a:solidFill>
            <a:srgbClr val="ECE6FA"/>
          </a:solidFill>
          <a:ln w="12700">
            <a:solidFill>
              <a:srgbClr val="6C4FBF"/>
            </a:solidFill>
            <a:prstDash val="solid"/>
          </a:ln>
        </p:spPr>
      </p:sp>
      <p:sp>
        <p:nvSpPr>
          <p:cNvPr id="148" name="Text 146"/>
          <p:cNvSpPr txBox="1"/>
          <p:nvPr/>
        </p:nvSpPr>
        <p:spPr>
          <a:xfrm>
            <a:off x="11334537" y="1801368"/>
            <a:ext cx="397215" cy="3657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출력</a:t>
            </a:r>
            <a:endParaRPr lang="en-US" sz="650" dirty="0"/>
          </a:p>
        </p:txBody>
      </p:sp>
      <p:sp>
        <p:nvSpPr>
          <p:cNvPr id="149" name="Text 147"/>
          <p:cNvSpPr txBox="1"/>
          <p:nvPr/>
        </p:nvSpPr>
        <p:spPr>
          <a:xfrm>
            <a:off x="6766560" y="2240280"/>
            <a:ext cx="4965192" cy="182880"/>
          </a:xfrm>
          <a:prstGeom prst="rect">
            <a:avLst/>
          </a:prstGeom>
          <a:noFill/>
          <a:ln/>
        </p:spPr>
        <p:txBody>
          <a:bodyPr wrap="square" lIns="0" tIns="0" rIns="0" bIns="0" rtlCol="0" anchor="t"/>
          <a:lstStyle/>
          <a:p>
            <a:pPr algn="l" indent="0" marL="0">
              <a:buNone/>
            </a:pPr>
            <a:r>
              <a:rPr lang="en-US" sz="750" b="1" dirty="0">
                <a:solidFill>
                  <a:srgbClr val="6C4FBF"/>
                </a:solidFill>
                <a:latin typeface="Malgun Gothic" pitchFamily="34" charset="0"/>
                <a:ea typeface="Malgun Gothic" pitchFamily="34" charset="-122"/>
                <a:cs typeface="Malgun Gothic" pitchFamily="34" charset="-120"/>
              </a:rPr>
              <a:t>program_memory.bin 7,324,697 words</a:t>
            </a:r>
            <a:endParaRPr lang="en-US" sz="750" dirty="0"/>
          </a:p>
        </p:txBody>
      </p:sp>
      <p:sp>
        <p:nvSpPr>
          <p:cNvPr id="150" name="Shape 148"/>
          <p:cNvSpPr/>
          <p:nvPr/>
        </p:nvSpPr>
        <p:spPr>
          <a:xfrm>
            <a:off x="6766560" y="2432304"/>
            <a:ext cx="4965192" cy="365760"/>
          </a:xfrm>
          <a:prstGeom prst="rect">
            <a:avLst/>
          </a:prstGeom>
          <a:solidFill>
            <a:srgbClr val="EEF2F6"/>
          </a:solidFill>
          <a:ln w="9525">
            <a:solidFill>
              <a:srgbClr val="C9D3DF"/>
            </a:solidFill>
            <a:prstDash val="solid"/>
          </a:ln>
        </p:spPr>
      </p:sp>
      <p:sp>
        <p:nvSpPr>
          <p:cNvPr id="151" name="Shape 149"/>
          <p:cNvSpPr/>
          <p:nvPr/>
        </p:nvSpPr>
        <p:spPr>
          <a:xfrm>
            <a:off x="6766560" y="2432304"/>
            <a:ext cx="4369369" cy="365760"/>
          </a:xfrm>
          <a:prstGeom prst="rect">
            <a:avLst/>
          </a:prstGeom>
          <a:solidFill>
            <a:srgbClr val="E3EEFB"/>
          </a:solidFill>
          <a:ln w="12700">
            <a:solidFill>
              <a:srgbClr val="2F6DB5"/>
            </a:solidFill>
            <a:prstDash val="solid"/>
          </a:ln>
        </p:spPr>
      </p:sp>
      <p:sp>
        <p:nvSpPr>
          <p:cNvPr id="152" name="Text 150"/>
          <p:cNvSpPr txBox="1"/>
          <p:nvPr/>
        </p:nvSpPr>
        <p:spPr>
          <a:xfrm>
            <a:off x="6766560" y="2432304"/>
            <a:ext cx="4369369" cy="3657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decode base 7,310,801 words (변경 없음, 재link 없음)</a:t>
            </a:r>
            <a:endParaRPr lang="en-US" sz="650" dirty="0"/>
          </a:p>
        </p:txBody>
      </p:sp>
      <p:sp>
        <p:nvSpPr>
          <p:cNvPr id="153" name="Shape 151"/>
          <p:cNvSpPr/>
          <p:nvPr/>
        </p:nvSpPr>
        <p:spPr>
          <a:xfrm>
            <a:off x="11135929" y="2432304"/>
            <a:ext cx="546171" cy="365760"/>
          </a:xfrm>
          <a:prstGeom prst="rect">
            <a:avLst/>
          </a:prstGeom>
          <a:solidFill>
            <a:srgbClr val="FFF6DB"/>
          </a:solidFill>
          <a:ln w="12700">
            <a:solidFill>
              <a:srgbClr val="B7791F"/>
            </a:solidFill>
            <a:prstDash val="solid"/>
          </a:ln>
        </p:spPr>
      </p:sp>
      <p:sp>
        <p:nvSpPr>
          <p:cNvPr id="154" name="Text 152"/>
          <p:cNvSpPr txBox="1"/>
          <p:nvPr/>
        </p:nvSpPr>
        <p:spPr>
          <a:xfrm>
            <a:off x="11135929" y="2432304"/>
            <a:ext cx="546171" cy="365760"/>
          </a:xfrm>
          <a:prstGeom prst="rect">
            <a:avLst/>
          </a:prstGeom>
          <a:noFill/>
          <a:ln/>
        </p:spPr>
        <p:txBody>
          <a:bodyPr wrap="square" lIns="0" tIns="0" rIns="0" bIns="0" rtlCol="0" anchor="ctr"/>
          <a:lstStyle/>
          <a:p>
            <a:pPr algn="ctr" indent="0" marL="0">
              <a:buNone/>
            </a:pPr>
            <a:r>
              <a:rPr lang="en-US" sz="650" b="1" dirty="0">
                <a:solidFill>
                  <a:srgbClr val="1F2D3D"/>
                </a:solidFill>
                <a:latin typeface="Malgun Gothic" pitchFamily="34" charset="0"/>
                <a:ea typeface="Malgun Gothic" pitchFamily="34" charset="-122"/>
                <a:cs typeface="Malgun Gothic" pitchFamily="34" charset="-120"/>
              </a:rPr>
              <a:t>tail 13,896 (fixup)</a:t>
            </a:r>
            <a:endParaRPr lang="en-US" sz="650" dirty="0"/>
          </a:p>
        </p:txBody>
      </p:sp>
      <p:sp>
        <p:nvSpPr>
          <p:cNvPr id="155" name="Shape 153"/>
          <p:cNvSpPr/>
          <p:nvPr/>
        </p:nvSpPr>
        <p:spPr>
          <a:xfrm>
            <a:off x="11682100" y="2432304"/>
            <a:ext cx="49652" cy="365760"/>
          </a:xfrm>
          <a:prstGeom prst="rect">
            <a:avLst/>
          </a:prstGeom>
          <a:solidFill>
            <a:srgbClr val="FBE9E7"/>
          </a:solidFill>
          <a:ln w="12700">
            <a:solidFill>
              <a:srgbClr val="C0392B"/>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766560" y="2971800"/>
          <a:ext cx="4965192" cy="914400"/>
        </p:xfrm>
        <a:graphic>
          <a:graphicData uri="http://schemas.openxmlformats.org/drawingml/2006/table">
            <a:tbl>
              <a:tblPr/>
              <a:tblGrid>
                <a:gridCol w="2011680"/>
                <a:gridCol w="3090672"/>
              </a:tblGrid>
              <a:tr h="246888">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대상</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step 사이</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decode 계산 명령 · DRAM weight</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재사용 (host rewrite 0 B)</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embedding · cos/sin · mask</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host patch 6,676 B (plan.address 위치)</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KV append 명령 주소</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position fixup (suffix patch 55,568 B)</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persistent DRAM cache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saved image → 다음 입력 (rename)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C-model</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호출마다 전체 image read/write (기능 검증용, cycle 없음)</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766560" y="4572000"/>
          <a:ext cx="4965192" cy="914400"/>
        </p:xfrm>
        <a:graphic>
          <a:graphicData uri="http://schemas.openxmlformats.org/drawingml/2006/table">
            <a:tbl>
              <a:tblPr/>
              <a:tblGrid>
                <a:gridCol w="1097280"/>
                <a:gridCol w="731520"/>
                <a:gridCol w="822960"/>
                <a:gridCol w="1280160"/>
                <a:gridCol w="1170432"/>
              </a:tblGrid>
              <a:tr h="219456">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실행</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750" b="1" dirty="0">
                          <a:solidFill>
                            <a:srgbClr val="FFFFFF"/>
                          </a:solidFill>
                          <a:latin typeface="Malgun Gothic" pitchFamily="34" charset="0"/>
                          <a:ea typeface="Malgun Gothic" pitchFamily="34" charset="-122"/>
                          <a:cs typeface="Malgun Gothic" pitchFamily="34" charset="-120"/>
                        </a:rPr>
                        <a:t>token</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ctr" indent="0" marL="0">
                        <a:buNone/>
                      </a:pPr>
                      <a:r>
                        <a:rPr lang="en-US" sz="750" b="1" dirty="0">
                          <a:solidFill>
                            <a:srgbClr val="FFFFFF"/>
                          </a:solidFill>
                          <a:latin typeface="Malgun Gothic" pitchFamily="34" charset="0"/>
                          <a:ea typeface="Malgun Gothic" pitchFamily="34" charset="-122"/>
                          <a:cs typeface="Malgun Gothic" pitchFamily="34" charset="-120"/>
                        </a:rPr>
                        <a:t>HF 일치</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750" b="1" dirty="0">
                          <a:solidFill>
                            <a:srgbClr val="FFFFFF"/>
                          </a:solidFill>
                          <a:latin typeface="Malgun Gothic" pitchFamily="34" charset="0"/>
                          <a:ea typeface="Malgun Gothic" pitchFamily="34" charset="-122"/>
                          <a:cs typeface="Malgun Gothic" pitchFamily="34" charset="-120"/>
                        </a:rPr>
                        <a:t>logits cosine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r" indent="0" marL="0">
                        <a:buNone/>
                      </a:pPr>
                      <a:r>
                        <a:rPr lang="en-US" sz="750" b="1" dirty="0">
                          <a:solidFill>
                            <a:srgbClr val="FFFFFF"/>
                          </a:solidFill>
                          <a:latin typeface="Malgun Gothic" pitchFamily="34" charset="0"/>
                          <a:ea typeface="Malgun Gothic" pitchFamily="34" charset="-122"/>
                          <a:cs typeface="Malgun Gothic" pitchFamily="34" charset="-120"/>
                        </a:rPr>
                        <a:t>최대 절대차</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19456">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prefill</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358</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예</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0.9999977</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0.035</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19456">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decode @7</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2846</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예</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0.9999958</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0.023</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19456">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decode @8</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4560</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ctr" indent="0" marL="0">
                        <a:buNone/>
                      </a:pPr>
                      <a:r>
                        <a:rPr lang="en-US" sz="750" dirty="0">
                          <a:solidFill>
                            <a:srgbClr val="1F2D3D"/>
                          </a:solidFill>
                          <a:latin typeface="Malgun Gothic" pitchFamily="34" charset="0"/>
                          <a:ea typeface="Malgun Gothic" pitchFamily="34" charset="-122"/>
                          <a:cs typeface="Malgun Gothic" pitchFamily="34" charset="-120"/>
                        </a:rPr>
                        <a:t>예</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0.9999930</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r" indent="0" marL="0">
                        <a:buNone/>
                      </a:pPr>
                      <a:r>
                        <a:rPr lang="en-US" sz="750" dirty="0">
                          <a:solidFill>
                            <a:srgbClr val="1F2D3D"/>
                          </a:solidFill>
                          <a:latin typeface="Malgun Gothic" pitchFamily="34" charset="0"/>
                          <a:ea typeface="Malgun Gothic" pitchFamily="34" charset="-122"/>
                          <a:cs typeface="Malgun Gothic" pitchFamily="34" charset="-120"/>
                        </a:rPr>
                        <a:t>0.039</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58" name="Text 154"/>
          <p:cNvSpPr txBox="1"/>
          <p:nvPr/>
        </p:nvSpPr>
        <p:spPr>
          <a:xfrm>
            <a:off x="6766560" y="5532120"/>
            <a:ext cx="4965192" cy="32004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prefill 8.58M words / DMA 6.46 GB, decode 7.31M words. compiler 통계·host patch·simulator I/O는 서로 다른 측정 층.</a:t>
            </a:r>
            <a:endParaRPr lang="en-US" sz="700" dirty="0"/>
          </a:p>
        </p:txBody>
      </p:sp>
      <p:sp>
        <p:nvSpPr>
          <p:cNvPr id="159" name="Shape 155"/>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60" name="Text 156"/>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Greedy argmax는 host에서. 마지막 예측 token은 아직 NPU에 넣지 않았으므로 생성 token 수와 decode 실행 횟수가 한 번 차이 납니다.</a:t>
            </a:r>
            <a:endParaRPr lang="en-US" sz="1250" dirty="0"/>
          </a:p>
        </p:txBody>
      </p:sp>
      <p:sp>
        <p:nvSpPr>
          <p:cNvPr id="161" name="Text 157"/>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62" name="Text 158"/>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npu_generate.py (generate, DecodeSession, length_mask), npu_cache.AppendPlan, v09_runtime.PersistentTransport, evidence/current/llama_validation.json</a:t>
            </a:r>
            <a:endParaRPr lang="en-US" sz="850" dirty="0"/>
          </a:p>
        </p:txBody>
      </p:sp>
      <p:sp>
        <p:nvSpPr>
          <p:cNvPr id="163" name="Text 159"/>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11 / 13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검증 · 경계</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2400" b="1" dirty="0">
                <a:solidFill>
                  <a:srgbClr val="15243B"/>
                </a:solidFill>
                <a:latin typeface="Malgun Gothic" pitchFamily="34" charset="0"/>
                <a:ea typeface="Malgun Gothic" pitchFamily="34" charset="-122"/>
                <a:cs typeface="Malgun Gothic" pitchFamily="34" charset="-120"/>
              </a:rPr>
              <a:t>검증된 것과 아직 없는 것</a:t>
            </a:r>
            <a:endParaRPr lang="en-US" sz="24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작은 예제는 실제 C-model 실행에서 fused/unfused bit-exact, LLVM reference와 최대 절대차 0. 전체 Llama 3.2 3B는 HF와 같은 greedy token 3개, logits cosine ≥ 0.99999. 아래 수치는 모두 보존 기록이며 ISA words나 DMA를 실장치 latency로 바꾸어 말하지 않습니다.</a:t>
            </a:r>
            <a:endParaRPr lang="en-US" sz="1250" dirty="0"/>
          </a:p>
        </p:txBody>
      </p:sp>
      <p:graphicFrame>
        <p:nvGraphicFramePr>
          <p:cNvPr id="5" name="Chart 0" descr=""/>
          <p:cNvGraphicFramePr/>
          <p:nvPr/>
        </p:nvGraphicFramePr>
        <p:xfrm>
          <a:off x="457200" y="1417320"/>
          <a:ext cx="2743200" cy="20116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3337560" y="1417320"/>
          <a:ext cx="3200400" cy="2011680"/>
        </p:xfrm>
        <a:graphic xmlns:a="http://schemas.openxmlformats.org/drawingml/2006/main">
          <a:graphicData uri="http://schemas.openxmlformats.org/drawingml/2006/chart">
            <c:chart xmlns:c="http://schemas.openxmlformats.org/drawingml/2006/chart" r:id="rId2"/>
          </a:graphicData>
        </a:graphic>
      </p:graphicFrame>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3611880"/>
          <a:ext cx="6080760" cy="914400"/>
        </p:xfrm>
        <a:graphic>
          <a:graphicData uri="http://schemas.openxmlformats.org/drawingml/2006/table">
            <a:tbl>
              <a:tblPr/>
              <a:tblGrid>
                <a:gridCol w="1828800"/>
                <a:gridCol w="3017520"/>
                <a:gridCol w="1234440"/>
              </a:tblGrid>
              <a:tr h="301752">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실험</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결과</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50" b="1" dirty="0">
                          <a:solidFill>
                            <a:srgbClr val="FFFFFF"/>
                          </a:solidFill>
                          <a:latin typeface="Malgun Gothic" pitchFamily="34" charset="0"/>
                          <a:ea typeface="Malgun Gothic" pitchFamily="34" charset="-122"/>
                          <a:cs typeface="Malgun Gothic" pitchFamily="34" charset="-120"/>
                        </a:rPr>
                        <a:t>검증 수준</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301752">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E3 직접 SRAM 출력·DRAM 압축</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words 85 → 77, image 65,548 → 49,164 B, bit-exact</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보존 실행</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E4 실제 폭 MLP (M=64)</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5 kernels, 140,594 words, DMA 152 MB, SRAM peak 7.45 MB</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정적 compile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E5 compile 속도</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M=7: 84.2 → 22.1 s, trial 347 → 112, binary hash 동일</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단일 관측</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301752">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E6 전체 Llama 3B</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358 / 2846 / 4560 = " I'm trying", cosine ≥ 0.99999</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보존 실행 (948 s, cold compile 아님)</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301752">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E7 회귀 gate</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17 suites exit 0, skip 없음</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보존 실행</a:t>
                      </a:r>
                      <a:endParaRPr lang="en-US" sz="75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8" name="Text 3"/>
          <p:cNvSpPr txBox="1"/>
          <p:nvPr/>
        </p:nvSpPr>
        <p:spPr>
          <a:xfrm>
            <a:off x="6766560" y="1417320"/>
            <a:ext cx="4965192" cy="219456"/>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현재 지원 경계</a:t>
            </a:r>
            <a:endParaRPr lang="en-US" sz="1000" dirty="0"/>
          </a:p>
        </p:txBody>
      </p:sp>
      <p:sp>
        <p:nvSpPr>
          <p:cNvPr id="9" name="Text 4"/>
          <p:cNvSpPr txBox="1"/>
          <p:nvPr/>
        </p:nvSpPr>
        <p:spPr>
          <a:xfrm>
            <a:off x="6766560" y="1691640"/>
            <a:ext cx="4965192" cy="2103120"/>
          </a:xfrm>
          <a:prstGeom prst="rect">
            <a:avLst/>
          </a:prstGeom>
          <a:noFill/>
          <a:ln/>
        </p:spPr>
        <p:txBody>
          <a:bodyPr wrap="square" lIns="0" tIns="0" rIns="0" bIns="0" rtlCol="0" anchor="t"/>
          <a:lstStyle/>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Shape·control flow: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정적 shape, 지원된 정적 호출의 직선 전개 (dynamic control flow 거절)</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연산: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softmax 마지막 축 1..65504, RMSNorm FP16, full-attention은 rank-3 FP16 64배수 (decode 제외), RoPE default/linear/llama3</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메모리: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tensor 전체 보관만, 고정 호출 순서, 완전 미사용 pool만 제거</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Runtime: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C-model adapter (image/file patch). RTL·실장치 runtime 검증 아님</a:t>
            </a:r>
            <a:endParaRPr lang="en-US" sz="800" dirty="0"/>
          </a:p>
          <a:p>
            <a:pPr algn="l" marL="152400" indent="-152400">
              <a:spcAft>
                <a:spcPts val="300"/>
              </a:spcAft>
              <a:buSzPct val="100000"/>
              <a:buChar char="•"/>
            </a:pPr>
            <a:r>
              <a:rPr lang="en-US" sz="800" b="1" dirty="0">
                <a:solidFill>
                  <a:srgbClr val="1F2D3D"/>
                </a:solidFill>
                <a:latin typeface="Malgun Gothic" pitchFamily="34" charset="0"/>
                <a:ea typeface="Malgun Gothic" pitchFamily="34" charset="-122"/>
                <a:cs typeface="Malgun Gothic" pitchFamily="34" charset="-120"/>
              </a:rPr>
              <a:t>양자화: </a:t>
            </a:r>
            <a:pPr algn="l" indent="0" marL="0">
              <a:spcAft>
                <a:spcPts val="300"/>
              </a:spcAft>
              <a:buNone/>
            </a:pPr>
            <a:r>
              <a:rPr lang="en-US" sz="800" dirty="0">
                <a:solidFill>
                  <a:srgbClr val="1F2D3D"/>
                </a:solidFill>
                <a:latin typeface="Malgun Gothic" pitchFamily="34" charset="0"/>
                <a:ea typeface="Malgun Gothic" pitchFamily="34" charset="-122"/>
                <a:cs typeface="Malgun Gothic" pitchFamily="34" charset="-120"/>
              </a:rPr>
              <a:t>W8A16/W8A8 kernel bit equality까지. generation에는 미연결</a:t>
            </a:r>
            <a:endParaRPr lang="en-US" sz="800" dirty="0"/>
          </a:p>
        </p:txBody>
      </p:sp>
      <p:sp>
        <p:nvSpPr>
          <p:cNvPr id="10" name="Text 5"/>
          <p:cNvSpPr txBox="1"/>
          <p:nvPr/>
        </p:nvSpPr>
        <p:spPr>
          <a:xfrm>
            <a:off x="6766560" y="3931920"/>
            <a:ext cx="4965192" cy="219456"/>
          </a:xfrm>
          <a:prstGeom prst="rect">
            <a:avLst/>
          </a:prstGeom>
          <a:noFill/>
          <a:ln/>
        </p:spPr>
        <p:txBody>
          <a:bodyPr wrap="square" lIns="0" tIns="0" rIns="0" bIns="0" rtlCol="0" anchor="t"/>
          <a:lstStyle/>
          <a:p>
            <a:pPr algn="l" indent="0" marL="0">
              <a:buNone/>
            </a:pPr>
            <a:r>
              <a:rPr lang="en-US" sz="1000" b="1" dirty="0">
                <a:solidFill>
                  <a:srgbClr val="15243B"/>
                </a:solidFill>
                <a:latin typeface="Malgun Gothic" pitchFamily="34" charset="0"/>
                <a:ea typeface="Malgun Gothic" pitchFamily="34" charset="-122"/>
                <a:cs typeface="Malgun Gothic" pitchFamily="34" charset="-120"/>
              </a:rPr>
              <a:t>남은 검토 (착수 목록 아님)</a:t>
            </a:r>
            <a:endParaRPr lang="en-US" sz="1000" dirty="0"/>
          </a:p>
        </p:txBody>
      </p:sp>
      <p:sp>
        <p:nvSpPr>
          <p:cNvPr id="11" name="Text 6"/>
          <p:cNvSpPr txBox="1"/>
          <p:nvPr/>
        </p:nvSpPr>
        <p:spPr>
          <a:xfrm>
            <a:off x="6766560" y="4206240"/>
            <a:ext cx="4965192" cy="1645920"/>
          </a:xfrm>
          <a:prstGeom prst="rect">
            <a:avLst/>
          </a:prstGeom>
          <a:noFill/>
          <a:ln/>
        </p:spPr>
        <p:txBody>
          <a:bodyPr wrap="square" lIns="0" tIns="0" rIns="0" bIns="0" rtlCol="0" anchor="t"/>
          <a:lstStyle/>
          <a:p>
            <a:pPr algn="l" marL="152400" indent="-152400">
              <a:spcAft>
                <a:spcPts val="300"/>
              </a:spcAft>
              <a:buSzPct val="100000"/>
              <a:buChar char="•"/>
            </a:pPr>
            <a:r>
              <a:rPr lang="en-US" sz="800" dirty="0">
                <a:solidFill>
                  <a:srgbClr val="1F2D3D"/>
                </a:solidFill>
                <a:latin typeface="Malgun Gothic" pitchFamily="34" charset="0"/>
                <a:ea typeface="Malgun Gothic" pitchFamily="34" charset="-122"/>
                <a:cs typeface="Malgun Gothic" pitchFamily="34" charset="-120"/>
              </a:rPr>
              <a:t>Vector 256 lanes vs 긴 VLEN의 RTL 계약 · vector 비용 모델(lane 활용률·cycle)</a:t>
            </a:r>
            <a:endParaRPr lang="en-US" sz="800" dirty="0"/>
          </a:p>
          <a:p>
            <a:pPr algn="l" marL="152400" indent="-152400">
              <a:spcAft>
                <a:spcPts val="300"/>
              </a:spcAft>
              <a:buSzPct val="100000"/>
              <a:buChar char="•"/>
            </a:pPr>
            <a:r>
              <a:rPr lang="en-US" sz="800" dirty="0">
                <a:solidFill>
                  <a:srgbClr val="1F2D3D"/>
                </a:solidFill>
                <a:latin typeface="Malgun Gothic" pitchFamily="34" charset="0"/>
                <a:ea typeface="Malgun Gothic" pitchFamily="34" charset="-122"/>
                <a:cs typeface="Malgun Gothic" pitchFamily="34" charset="-120"/>
              </a:rPr>
              <a:t>Attention key-online softmax · decode capacity 낭비(bucket, 최종 슬롯 직접 저장)</a:t>
            </a:r>
            <a:endParaRPr lang="en-US" sz="800" dirty="0"/>
          </a:p>
          <a:p>
            <a:pPr algn="l" marL="152400" indent="-152400">
              <a:spcAft>
                <a:spcPts val="300"/>
              </a:spcAft>
              <a:buSzPct val="100000"/>
              <a:buChar char="•"/>
            </a:pPr>
            <a:r>
              <a:rPr lang="en-US" sz="800" dirty="0">
                <a:solidFill>
                  <a:srgbClr val="1F2D3D"/>
                </a:solidFill>
                <a:latin typeface="Malgun Gothic" pitchFamily="34" charset="0"/>
                <a:ea typeface="Malgun Gothic" pitchFamily="34" charset="-122"/>
                <a:cs typeface="Malgun Gothic" pitchFamily="34" charset="-120"/>
              </a:rPr>
              <a:t>부분 tile 보관·퇴거·호출 순서 변경 · 사용 중 pool 내부 압축</a:t>
            </a:r>
            <a:endParaRPr lang="en-US" sz="800" dirty="0"/>
          </a:p>
          <a:p>
            <a:pPr algn="l" marL="152400" indent="-152400">
              <a:spcAft>
                <a:spcPts val="300"/>
              </a:spcAft>
              <a:buSzPct val="100000"/>
              <a:buChar char="•"/>
            </a:pPr>
            <a:r>
              <a:rPr lang="en-US" sz="800" dirty="0">
                <a:solidFill>
                  <a:srgbClr val="1F2D3D"/>
                </a:solidFill>
                <a:latin typeface="Malgun Gothic" pitchFamily="34" charset="0"/>
                <a:ea typeface="Malgun Gothic" pitchFamily="34" charset="-122"/>
                <a:cs typeface="Malgun Gothic" pitchFamily="34" charset="-120"/>
              </a:rPr>
              <a:t>성능 모델: RTL/장치 timing 확보 뒤 DMA→words→SRAM 순서와의 상관 확인</a:t>
            </a:r>
            <a:endParaRPr lang="en-US" sz="800" dirty="0"/>
          </a:p>
        </p:txBody>
      </p:sp>
      <p:sp>
        <p:nvSpPr>
          <p:cNvPr id="12" name="Shape 7"/>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3" name="Text 8"/>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지표(DMA/words/SRAM)로 확인되지 않는 개선은 채택하지 않습니다. 수치 정확성(HF 대비)과 프로그램 비용은 별개의 표이며 같은 source hash를 가리킵니다.</a:t>
            </a:r>
            <a:endParaRPr lang="en-US" sz="1250" dirty="0"/>
          </a:p>
        </p:txBody>
      </p:sp>
      <p:sp>
        <p:nvSpPr>
          <p:cNvPr id="14" name="Text 9"/>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5" name="Text 10"/>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docs/current/11_experiments.md (E1~E7), 12_operations_limits.md, evidence/current/*</a:t>
            </a:r>
            <a:endParaRPr lang="en-US" sz="850" dirty="0"/>
          </a:p>
        </p:txBody>
      </p:sp>
      <p:sp>
        <p:nvSpPr>
          <p:cNvPr id="16" name="Text 11"/>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12 / 13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01168"/>
            <a:ext cx="8229600" cy="256032"/>
          </a:xfrm>
          <a:prstGeom prst="rect">
            <a:avLst/>
          </a:prstGeom>
          <a:noFill/>
          <a:ln/>
        </p:spPr>
        <p:txBody>
          <a:bodyPr wrap="square" lIns="0" tIns="0" rIns="0" bIns="0" rtlCol="0" anchor="t"/>
          <a:lstStyle/>
          <a:p>
            <a:pPr algn="l" indent="0" marL="0">
              <a:buNone/>
            </a:pPr>
            <a:r>
              <a:rPr lang="en-US" sz="1050" b="1" spc="100" kern="0" dirty="0">
                <a:solidFill>
                  <a:srgbClr val="1F8A8A"/>
                </a:solidFill>
                <a:latin typeface="Malgun Gothic" pitchFamily="34" charset="0"/>
                <a:ea typeface="Malgun Gothic" pitchFamily="34" charset="-122"/>
                <a:cs typeface="Malgun Gothic" pitchFamily="34" charset="-120"/>
              </a:rPr>
              <a:t>탐색 개선 · 전체 모델 실험</a:t>
            </a:r>
            <a:endParaRPr lang="en-US" sz="1050" dirty="0"/>
          </a:p>
        </p:txBody>
      </p:sp>
      <p:sp>
        <p:nvSpPr>
          <p:cNvPr id="3" name="Text 1"/>
          <p:cNvSpPr txBox="1"/>
          <p:nvPr/>
        </p:nvSpPr>
        <p:spPr>
          <a:xfrm>
            <a:off x="457200" y="420624"/>
            <a:ext cx="11247120" cy="548640"/>
          </a:xfrm>
          <a:prstGeom prst="rect">
            <a:avLst/>
          </a:prstGeom>
          <a:noFill/>
          <a:ln/>
        </p:spPr>
        <p:txBody>
          <a:bodyPr wrap="square" lIns="0" tIns="0" rIns="0" bIns="0" rtlCol="0" anchor="t"/>
          <a:lstStyle/>
          <a:p>
            <a:pPr algn="l" indent="0" marL="0">
              <a:buNone/>
            </a:pPr>
            <a:r>
              <a:rPr lang="en-US" sz="1700" b="1" dirty="0">
                <a:solidFill>
                  <a:srgbClr val="15243B"/>
                </a:solidFill>
                <a:latin typeface="Malgun Gothic" pitchFamily="34" charset="0"/>
                <a:ea typeface="Malgun Gothic" pitchFamily="34" charset="-122"/>
                <a:cs typeface="Malgun Gothic" pitchFamily="34" charset="-120"/>
              </a:rPr>
              <a:t>09-29 탐색 개선: 중복 후보 정규화, 증명된 용량 초과 제외, 적응형 words 예산 — MetaSchedule은 선택형</a:t>
            </a:r>
            <a:endParaRPr lang="en-US" sz="1700" dirty="0"/>
          </a:p>
        </p:txBody>
      </p:sp>
      <p:sp>
        <p:nvSpPr>
          <p:cNvPr id="4" name="Text 2"/>
          <p:cNvSpPr txBox="1"/>
          <p:nvPr/>
        </p:nvSpPr>
        <p:spPr>
          <a:xfrm>
            <a:off x="457200" y="932688"/>
            <a:ext cx="11247120" cy="411480"/>
          </a:xfrm>
          <a:prstGeom prst="rect">
            <a:avLst/>
          </a:prstGeom>
          <a:noFill/>
          <a:ln/>
        </p:spPr>
        <p:txBody>
          <a:bodyPr wrap="square" lIns="0" tIns="0" rIns="0" bIns="0" rtlCol="0" anchor="t"/>
          <a:lstStyle/>
          <a:p>
            <a:pPr algn="l" indent="0" marL="0">
              <a:buNone/>
            </a:pPr>
            <a:r>
              <a:rPr lang="en-US" sz="1250" dirty="0">
                <a:solidFill>
                  <a:srgbClr val="5B6B7F"/>
                </a:solidFill>
                <a:latin typeface="Malgun Gothic" pitchFamily="34" charset="0"/>
                <a:ea typeface="Malgun Gothic" pitchFamily="34" charset="-122"/>
                <a:cs typeface="Malgun Gothic" pitchFamily="34" charset="-120"/>
              </a:rPr>
              <a:t>같은 tile 순회·복사 주기의 표기는 한 후보로 합치고(512-token down 22,236 → 5,034), 두 입력 cache 합이 8 MiB를 넘는 1,596개를 증명으로 제외한 뒤 3,438개를 검사 목록에 둡니다. 기본 탐색은 space, ReplayFunc 추첨과 trace DB는 옵션입니다.</a:t>
            </a:r>
            <a:endParaRPr lang="en-US" sz="1250" dirty="0"/>
          </a:p>
        </p:txBody>
      </p:sp>
      <p:sp>
        <p:nvSpPr>
          <p:cNvPr id="5" name="Text 3"/>
          <p:cNvSpPr txBox="1"/>
          <p:nvPr/>
        </p:nvSpPr>
        <p:spPr>
          <a:xfrm>
            <a:off x="457200" y="1417320"/>
            <a:ext cx="361188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① 표기 중복 → signature 하나 (toy [128,256]×K128)</a:t>
            </a:r>
            <a:endParaRPr lang="en-US" sz="900" dirty="0"/>
          </a:p>
        </p:txBody>
      </p:sp>
      <p:sp>
        <p:nvSpPr>
          <p:cNvPr id="6" name="Shape 4"/>
          <p:cNvSpPr/>
          <p:nvPr/>
        </p:nvSpPr>
        <p:spPr>
          <a:xfrm>
            <a:off x="1280160" y="1691640"/>
            <a:ext cx="582930" cy="246888"/>
          </a:xfrm>
          <a:prstGeom prst="rect">
            <a:avLst/>
          </a:prstGeom>
          <a:solidFill>
            <a:srgbClr val="E3EEFB"/>
          </a:solidFill>
          <a:ln w="6350">
            <a:solidFill>
              <a:srgbClr val="2F6DB5"/>
            </a:solidFill>
            <a:prstDash val="solid"/>
          </a:ln>
        </p:spPr>
      </p:sp>
      <p:sp>
        <p:nvSpPr>
          <p:cNvPr id="7" name="Text 5"/>
          <p:cNvSpPr txBox="1"/>
          <p:nvPr/>
        </p:nvSpPr>
        <p:spPr>
          <a:xfrm>
            <a:off x="1280160" y="1691640"/>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m_p 2</a:t>
            </a:r>
            <a:endParaRPr lang="en-US" sz="700" dirty="0"/>
          </a:p>
        </p:txBody>
      </p:sp>
      <p:sp>
        <p:nvSpPr>
          <p:cNvPr id="8" name="Shape 6"/>
          <p:cNvSpPr/>
          <p:nvPr/>
        </p:nvSpPr>
        <p:spPr>
          <a:xfrm>
            <a:off x="1863090" y="1691640"/>
            <a:ext cx="582930" cy="246888"/>
          </a:xfrm>
          <a:prstGeom prst="rect">
            <a:avLst/>
          </a:prstGeom>
          <a:solidFill>
            <a:srgbClr val="DDF3F0"/>
          </a:solidFill>
          <a:ln w="6350">
            <a:solidFill>
              <a:srgbClr val="1F8A8A"/>
            </a:solidFill>
            <a:prstDash val="solid"/>
          </a:ln>
        </p:spPr>
      </p:sp>
      <p:sp>
        <p:nvSpPr>
          <p:cNvPr id="9" name="Text 7"/>
          <p:cNvSpPr txBox="1"/>
          <p:nvPr/>
        </p:nvSpPr>
        <p:spPr>
          <a:xfrm>
            <a:off x="1863090" y="1691640"/>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n_p 4</a:t>
            </a:r>
            <a:endParaRPr lang="en-US" sz="700" dirty="0"/>
          </a:p>
        </p:txBody>
      </p:sp>
      <p:sp>
        <p:nvSpPr>
          <p:cNvPr id="10" name="Shape 8"/>
          <p:cNvSpPr/>
          <p:nvPr/>
        </p:nvSpPr>
        <p:spPr>
          <a:xfrm>
            <a:off x="2446020" y="1691640"/>
            <a:ext cx="582930" cy="246888"/>
          </a:xfrm>
          <a:prstGeom prst="rect">
            <a:avLst/>
          </a:prstGeom>
          <a:solidFill>
            <a:srgbClr val="EEF2F6"/>
          </a:solidFill>
          <a:ln w="6350">
            <a:solidFill>
              <a:srgbClr val="C9D3DF"/>
            </a:solidFill>
            <a:prstDash val="solid"/>
          </a:ln>
        </p:spPr>
      </p:sp>
      <p:sp>
        <p:nvSpPr>
          <p:cNvPr id="11" name="Text 9"/>
          <p:cNvSpPr txBox="1"/>
          <p:nvPr/>
        </p:nvSpPr>
        <p:spPr>
          <a:xfrm>
            <a:off x="2446020" y="1691640"/>
            <a:ext cx="582930" cy="246888"/>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n_t 1</a:t>
            </a:r>
            <a:endParaRPr lang="en-US" sz="700" dirty="0"/>
          </a:p>
        </p:txBody>
      </p:sp>
      <p:sp>
        <p:nvSpPr>
          <p:cNvPr id="12" name="Shape 10"/>
          <p:cNvSpPr/>
          <p:nvPr/>
        </p:nvSpPr>
        <p:spPr>
          <a:xfrm>
            <a:off x="3028950" y="1691640"/>
            <a:ext cx="582930" cy="246888"/>
          </a:xfrm>
          <a:prstGeom prst="rect">
            <a:avLst/>
          </a:prstGeom>
          <a:solidFill>
            <a:srgbClr val="ECE6FA"/>
          </a:solidFill>
          <a:ln w="6350">
            <a:solidFill>
              <a:srgbClr val="6C4FBF"/>
            </a:solidFill>
            <a:prstDash val="solid"/>
          </a:ln>
        </p:spPr>
      </p:sp>
      <p:sp>
        <p:nvSpPr>
          <p:cNvPr id="13" name="Text 11"/>
          <p:cNvSpPr txBox="1"/>
          <p:nvPr/>
        </p:nvSpPr>
        <p:spPr>
          <a:xfrm>
            <a:off x="3028950" y="1691640"/>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 2</a:t>
            </a:r>
            <a:endParaRPr lang="en-US" sz="700" dirty="0"/>
          </a:p>
        </p:txBody>
      </p:sp>
      <p:sp>
        <p:nvSpPr>
          <p:cNvPr id="14" name="Text 12"/>
          <p:cNvSpPr txBox="1"/>
          <p:nvPr/>
        </p:nvSpPr>
        <p:spPr>
          <a:xfrm>
            <a:off x="448056" y="1691640"/>
            <a:ext cx="777240" cy="246888"/>
          </a:xfrm>
          <a:prstGeom prst="rect">
            <a:avLst/>
          </a:prstGeom>
          <a:noFill/>
          <a:ln/>
        </p:spPr>
        <p:txBody>
          <a:bodyPr wrap="square" lIns="0" tIns="0" rIns="0" bIns="0" rtlCol="0" anchor="ctr"/>
          <a:lstStyle/>
          <a:p>
            <a:pPr algn="r" indent="0" marL="0">
              <a:buNone/>
            </a:pPr>
            <a:r>
              <a:rPr lang="en-US" sz="750" b="1" dirty="0">
                <a:solidFill>
                  <a:srgbClr val="15243B"/>
                </a:solidFill>
                <a:latin typeface="Malgun Gothic" pitchFamily="34" charset="0"/>
                <a:ea typeface="Malgun Gothic" pitchFamily="34" charset="-122"/>
                <a:cs typeface="Malgun Gothic" pitchFamily="34" charset="-120"/>
              </a:rPr>
              <a:t>n_panel=64</a:t>
            </a:r>
            <a:endParaRPr lang="en-US" sz="750" dirty="0"/>
          </a:p>
        </p:txBody>
      </p:sp>
      <p:sp>
        <p:nvSpPr>
          <p:cNvPr id="15" name="Shape 13"/>
          <p:cNvSpPr/>
          <p:nvPr/>
        </p:nvSpPr>
        <p:spPr>
          <a:xfrm>
            <a:off x="1280160" y="1993392"/>
            <a:ext cx="582930" cy="246888"/>
          </a:xfrm>
          <a:prstGeom prst="rect">
            <a:avLst/>
          </a:prstGeom>
          <a:solidFill>
            <a:srgbClr val="E3EEFB"/>
          </a:solidFill>
          <a:ln w="6350">
            <a:solidFill>
              <a:srgbClr val="2F6DB5"/>
            </a:solidFill>
            <a:prstDash val="solid"/>
          </a:ln>
        </p:spPr>
      </p:sp>
      <p:sp>
        <p:nvSpPr>
          <p:cNvPr id="16" name="Text 14"/>
          <p:cNvSpPr txBox="1"/>
          <p:nvPr/>
        </p:nvSpPr>
        <p:spPr>
          <a:xfrm>
            <a:off x="1280160" y="1993392"/>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m_p 2</a:t>
            </a:r>
            <a:endParaRPr lang="en-US" sz="700" dirty="0"/>
          </a:p>
        </p:txBody>
      </p:sp>
      <p:sp>
        <p:nvSpPr>
          <p:cNvPr id="17" name="Shape 15"/>
          <p:cNvSpPr/>
          <p:nvPr/>
        </p:nvSpPr>
        <p:spPr>
          <a:xfrm>
            <a:off x="1863090" y="1993392"/>
            <a:ext cx="582930" cy="246888"/>
          </a:xfrm>
          <a:prstGeom prst="rect">
            <a:avLst/>
          </a:prstGeom>
          <a:solidFill>
            <a:srgbClr val="DDF3F0"/>
          </a:solidFill>
          <a:ln w="6350">
            <a:solidFill>
              <a:srgbClr val="1F8A8A"/>
            </a:solidFill>
            <a:prstDash val="solid"/>
          </a:ln>
        </p:spPr>
      </p:sp>
      <p:sp>
        <p:nvSpPr>
          <p:cNvPr id="18" name="Text 16"/>
          <p:cNvSpPr txBox="1"/>
          <p:nvPr/>
        </p:nvSpPr>
        <p:spPr>
          <a:xfrm>
            <a:off x="1863090" y="1993392"/>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n_p 2</a:t>
            </a:r>
            <a:endParaRPr lang="en-US" sz="700" dirty="0"/>
          </a:p>
        </p:txBody>
      </p:sp>
      <p:sp>
        <p:nvSpPr>
          <p:cNvPr id="19" name="Shape 17"/>
          <p:cNvSpPr/>
          <p:nvPr/>
        </p:nvSpPr>
        <p:spPr>
          <a:xfrm>
            <a:off x="2446020" y="1993392"/>
            <a:ext cx="582930" cy="246888"/>
          </a:xfrm>
          <a:prstGeom prst="rect">
            <a:avLst/>
          </a:prstGeom>
          <a:solidFill>
            <a:srgbClr val="DDF3F0"/>
          </a:solidFill>
          <a:ln w="6350">
            <a:solidFill>
              <a:srgbClr val="1F8A8A"/>
            </a:solidFill>
            <a:prstDash val="solid"/>
          </a:ln>
        </p:spPr>
      </p:sp>
      <p:sp>
        <p:nvSpPr>
          <p:cNvPr id="20" name="Text 18"/>
          <p:cNvSpPr txBox="1"/>
          <p:nvPr/>
        </p:nvSpPr>
        <p:spPr>
          <a:xfrm>
            <a:off x="2446020" y="1993392"/>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n_t 2</a:t>
            </a:r>
            <a:endParaRPr lang="en-US" sz="700" dirty="0"/>
          </a:p>
        </p:txBody>
      </p:sp>
      <p:sp>
        <p:nvSpPr>
          <p:cNvPr id="21" name="Shape 19"/>
          <p:cNvSpPr/>
          <p:nvPr/>
        </p:nvSpPr>
        <p:spPr>
          <a:xfrm>
            <a:off x="3028950" y="1993392"/>
            <a:ext cx="582930" cy="246888"/>
          </a:xfrm>
          <a:prstGeom prst="rect">
            <a:avLst/>
          </a:prstGeom>
          <a:solidFill>
            <a:srgbClr val="ECE6FA"/>
          </a:solidFill>
          <a:ln w="6350">
            <a:solidFill>
              <a:srgbClr val="6C4FBF"/>
            </a:solidFill>
            <a:prstDash val="solid"/>
          </a:ln>
        </p:spPr>
      </p:sp>
      <p:sp>
        <p:nvSpPr>
          <p:cNvPr id="22" name="Text 20"/>
          <p:cNvSpPr txBox="1"/>
          <p:nvPr/>
        </p:nvSpPr>
        <p:spPr>
          <a:xfrm>
            <a:off x="3028950" y="1993392"/>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 2</a:t>
            </a:r>
            <a:endParaRPr lang="en-US" sz="700" dirty="0"/>
          </a:p>
        </p:txBody>
      </p:sp>
      <p:sp>
        <p:nvSpPr>
          <p:cNvPr id="23" name="Text 21"/>
          <p:cNvSpPr txBox="1"/>
          <p:nvPr/>
        </p:nvSpPr>
        <p:spPr>
          <a:xfrm>
            <a:off x="448056" y="1993392"/>
            <a:ext cx="777240" cy="246888"/>
          </a:xfrm>
          <a:prstGeom prst="rect">
            <a:avLst/>
          </a:prstGeom>
          <a:noFill/>
          <a:ln/>
        </p:spPr>
        <p:txBody>
          <a:bodyPr wrap="square" lIns="0" tIns="0" rIns="0" bIns="0" rtlCol="0" anchor="ctr"/>
          <a:lstStyle/>
          <a:p>
            <a:pPr algn="r" indent="0" marL="0">
              <a:buNone/>
            </a:pPr>
            <a:r>
              <a:rPr lang="en-US" sz="750" b="1" dirty="0">
                <a:solidFill>
                  <a:srgbClr val="15243B"/>
                </a:solidFill>
                <a:latin typeface="Malgun Gothic" pitchFamily="34" charset="0"/>
                <a:ea typeface="Malgun Gothic" pitchFamily="34" charset="-122"/>
                <a:cs typeface="Malgun Gothic" pitchFamily="34" charset="-120"/>
              </a:rPr>
              <a:t>n_panel=128</a:t>
            </a:r>
            <a:endParaRPr lang="en-US" sz="750" dirty="0"/>
          </a:p>
        </p:txBody>
      </p:sp>
      <p:sp>
        <p:nvSpPr>
          <p:cNvPr id="24" name="Shape 22"/>
          <p:cNvSpPr/>
          <p:nvPr/>
        </p:nvSpPr>
        <p:spPr>
          <a:xfrm>
            <a:off x="1280160" y="2295144"/>
            <a:ext cx="582930" cy="246888"/>
          </a:xfrm>
          <a:prstGeom prst="rect">
            <a:avLst/>
          </a:prstGeom>
          <a:solidFill>
            <a:srgbClr val="E3EEFB"/>
          </a:solidFill>
          <a:ln w="6350">
            <a:solidFill>
              <a:srgbClr val="2F6DB5"/>
            </a:solidFill>
            <a:prstDash val="solid"/>
          </a:ln>
        </p:spPr>
      </p:sp>
      <p:sp>
        <p:nvSpPr>
          <p:cNvPr id="25" name="Text 23"/>
          <p:cNvSpPr txBox="1"/>
          <p:nvPr/>
        </p:nvSpPr>
        <p:spPr>
          <a:xfrm>
            <a:off x="1280160" y="2295144"/>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m_p 2</a:t>
            </a:r>
            <a:endParaRPr lang="en-US" sz="700" dirty="0"/>
          </a:p>
        </p:txBody>
      </p:sp>
      <p:sp>
        <p:nvSpPr>
          <p:cNvPr id="26" name="Shape 24"/>
          <p:cNvSpPr/>
          <p:nvPr/>
        </p:nvSpPr>
        <p:spPr>
          <a:xfrm>
            <a:off x="1863090" y="2295144"/>
            <a:ext cx="582930" cy="246888"/>
          </a:xfrm>
          <a:prstGeom prst="rect">
            <a:avLst/>
          </a:prstGeom>
          <a:solidFill>
            <a:srgbClr val="EEF2F6"/>
          </a:solidFill>
          <a:ln w="6350">
            <a:solidFill>
              <a:srgbClr val="C9D3DF"/>
            </a:solidFill>
            <a:prstDash val="solid"/>
          </a:ln>
        </p:spPr>
      </p:sp>
      <p:sp>
        <p:nvSpPr>
          <p:cNvPr id="27" name="Text 25"/>
          <p:cNvSpPr txBox="1"/>
          <p:nvPr/>
        </p:nvSpPr>
        <p:spPr>
          <a:xfrm>
            <a:off x="1863090" y="2295144"/>
            <a:ext cx="582930" cy="246888"/>
          </a:xfrm>
          <a:prstGeom prst="rect">
            <a:avLst/>
          </a:prstGeom>
          <a:noFill/>
          <a:ln/>
        </p:spPr>
        <p:txBody>
          <a:bodyPr wrap="square" lIns="0" tIns="0" rIns="0" bIns="0" rtlCol="0" anchor="ctr"/>
          <a:lstStyle/>
          <a:p>
            <a:pPr algn="ctr" indent="0" marL="0">
              <a:buNone/>
            </a:pPr>
            <a:r>
              <a:rPr lang="en-US" sz="700" dirty="0">
                <a:solidFill>
                  <a:srgbClr val="5B6B7F"/>
                </a:solidFill>
                <a:latin typeface="Malgun Gothic" pitchFamily="34" charset="0"/>
                <a:ea typeface="Malgun Gothic" pitchFamily="34" charset="-122"/>
                <a:cs typeface="Malgun Gothic" pitchFamily="34" charset="-120"/>
              </a:rPr>
              <a:t>n_p 1</a:t>
            </a:r>
            <a:endParaRPr lang="en-US" sz="700" dirty="0"/>
          </a:p>
        </p:txBody>
      </p:sp>
      <p:sp>
        <p:nvSpPr>
          <p:cNvPr id="28" name="Shape 26"/>
          <p:cNvSpPr/>
          <p:nvPr/>
        </p:nvSpPr>
        <p:spPr>
          <a:xfrm>
            <a:off x="2446020" y="2295144"/>
            <a:ext cx="582930" cy="246888"/>
          </a:xfrm>
          <a:prstGeom prst="rect">
            <a:avLst/>
          </a:prstGeom>
          <a:solidFill>
            <a:srgbClr val="DDF3F0"/>
          </a:solidFill>
          <a:ln w="6350">
            <a:solidFill>
              <a:srgbClr val="1F8A8A"/>
            </a:solidFill>
            <a:prstDash val="solid"/>
          </a:ln>
        </p:spPr>
      </p:sp>
      <p:sp>
        <p:nvSpPr>
          <p:cNvPr id="29" name="Text 27"/>
          <p:cNvSpPr txBox="1"/>
          <p:nvPr/>
        </p:nvSpPr>
        <p:spPr>
          <a:xfrm>
            <a:off x="2446020" y="2295144"/>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n_t 4</a:t>
            </a:r>
            <a:endParaRPr lang="en-US" sz="700" dirty="0"/>
          </a:p>
        </p:txBody>
      </p:sp>
      <p:sp>
        <p:nvSpPr>
          <p:cNvPr id="30" name="Shape 28"/>
          <p:cNvSpPr/>
          <p:nvPr/>
        </p:nvSpPr>
        <p:spPr>
          <a:xfrm>
            <a:off x="3028950" y="2295144"/>
            <a:ext cx="582930" cy="246888"/>
          </a:xfrm>
          <a:prstGeom prst="rect">
            <a:avLst/>
          </a:prstGeom>
          <a:solidFill>
            <a:srgbClr val="ECE6FA"/>
          </a:solidFill>
          <a:ln w="6350">
            <a:solidFill>
              <a:srgbClr val="6C4FBF"/>
            </a:solidFill>
            <a:prstDash val="solid"/>
          </a:ln>
        </p:spPr>
      </p:sp>
      <p:sp>
        <p:nvSpPr>
          <p:cNvPr id="31" name="Text 29"/>
          <p:cNvSpPr txBox="1"/>
          <p:nvPr/>
        </p:nvSpPr>
        <p:spPr>
          <a:xfrm>
            <a:off x="3028950" y="2295144"/>
            <a:ext cx="582930" cy="246888"/>
          </a:xfrm>
          <a:prstGeom prst="rect">
            <a:avLst/>
          </a:prstGeom>
          <a:noFill/>
          <a:ln/>
        </p:spPr>
        <p:txBody>
          <a:bodyPr wrap="square" lIns="0" tIns="0" rIns="0" bIns="0" rtlCol="0" anchor="ctr"/>
          <a:lstStyle/>
          <a:p>
            <a:pPr algn="ctr" indent="0" marL="0">
              <a:buNone/>
            </a:pPr>
            <a:r>
              <a:rPr lang="en-US" sz="700" dirty="0">
                <a:solidFill>
                  <a:srgbClr val="1F2D3D"/>
                </a:solidFill>
                <a:latin typeface="Malgun Gothic" pitchFamily="34" charset="0"/>
                <a:ea typeface="Malgun Gothic" pitchFamily="34" charset="-122"/>
                <a:cs typeface="Malgun Gothic" pitchFamily="34" charset="-120"/>
              </a:rPr>
              <a:t>k 2</a:t>
            </a:r>
            <a:endParaRPr lang="en-US" sz="700" dirty="0"/>
          </a:p>
        </p:txBody>
      </p:sp>
      <p:sp>
        <p:nvSpPr>
          <p:cNvPr id="32" name="Text 30"/>
          <p:cNvSpPr txBox="1"/>
          <p:nvPr/>
        </p:nvSpPr>
        <p:spPr>
          <a:xfrm>
            <a:off x="448056" y="2295144"/>
            <a:ext cx="777240" cy="246888"/>
          </a:xfrm>
          <a:prstGeom prst="rect">
            <a:avLst/>
          </a:prstGeom>
          <a:noFill/>
          <a:ln/>
        </p:spPr>
        <p:txBody>
          <a:bodyPr wrap="square" lIns="0" tIns="0" rIns="0" bIns="0" rtlCol="0" anchor="ctr"/>
          <a:lstStyle/>
          <a:p>
            <a:pPr algn="r" indent="0" marL="0">
              <a:buNone/>
            </a:pPr>
            <a:r>
              <a:rPr lang="en-US" sz="750" b="1" dirty="0">
                <a:solidFill>
                  <a:srgbClr val="15243B"/>
                </a:solidFill>
                <a:latin typeface="Malgun Gothic" pitchFamily="34" charset="0"/>
                <a:ea typeface="Malgun Gothic" pitchFamily="34" charset="-122"/>
                <a:cs typeface="Malgun Gothic" pitchFamily="34" charset="-120"/>
              </a:rPr>
              <a:t>n_panel=256</a:t>
            </a:r>
            <a:endParaRPr lang="en-US" sz="750" dirty="0"/>
          </a:p>
        </p:txBody>
      </p:sp>
      <p:sp>
        <p:nvSpPr>
          <p:cNvPr id="33" name="Text 31"/>
          <p:cNvSpPr txBox="1"/>
          <p:nvPr/>
        </p:nvSpPr>
        <p:spPr>
          <a:xfrm>
            <a:off x="3657600" y="1691640"/>
            <a:ext cx="457200" cy="868680"/>
          </a:xfrm>
          <a:prstGeom prst="rect">
            <a:avLst/>
          </a:prstGeom>
          <a:noFill/>
          <a:ln/>
        </p:spPr>
        <p:txBody>
          <a:bodyPr wrap="square" lIns="0" tIns="0" rIns="0" bIns="0" rtlCol="0" anchor="ctr"/>
          <a:lstStyle/>
          <a:p>
            <a:pPr algn="l" indent="0" marL="0">
              <a:buNone/>
            </a:pPr>
            <a:r>
              <a:rPr lang="en-US" sz="650" dirty="0">
                <a:solidFill>
                  <a:srgbClr val="5B6B7F"/>
                </a:solidFill>
                <a:latin typeface="Malgun Gothic" pitchFamily="34" charset="0"/>
                <a:ea typeface="Malgun Gothic" pitchFamily="34" charset="-122"/>
                <a:cs typeface="Malgun Gothic" pitchFamily="34" charset="-120"/>
              </a:rPr>
              <a:t>→ 같은</a:t>
            </a:r>
            <a:endParaRPr lang="en-US" sz="650" dirty="0"/>
          </a:p>
          <a:p>
            <a:pPr algn="l" indent="0" marL="0">
              <a:buNone/>
            </a:pPr>
            <a:r>
              <a:rPr lang="en-US" sz="650" dirty="0">
                <a:solidFill>
                  <a:srgbClr val="5B6B7F"/>
                </a:solidFill>
                <a:latin typeface="Malgun Gothic" pitchFamily="34" charset="0"/>
                <a:ea typeface="Malgun Gothic" pitchFamily="34" charset="-122"/>
                <a:cs typeface="Malgun Gothic" pitchFamily="34" charset="-120"/>
              </a:rPr>
              <a:t>순회</a:t>
            </a:r>
            <a:endParaRPr lang="en-US" sz="650" dirty="0"/>
          </a:p>
          <a:p>
            <a:pPr algn="l" indent="0" marL="0">
              <a:buNone/>
            </a:pPr>
            <a:r>
              <a:rPr lang="en-US" sz="650" dirty="0">
                <a:solidFill>
                  <a:srgbClr val="5B6B7F"/>
                </a:solidFill>
                <a:latin typeface="Malgun Gothic" pitchFamily="34" charset="0"/>
                <a:ea typeface="Malgun Gothic" pitchFamily="34" charset="-122"/>
                <a:cs typeface="Malgun Gothic" pitchFamily="34" charset="-120"/>
              </a:rPr>
              <a:t>1 2 3 4</a:t>
            </a:r>
            <a:endParaRPr lang="en-US" sz="650" dirty="0"/>
          </a:p>
        </p:txBody>
      </p:sp>
      <p:sp>
        <p:nvSpPr>
          <p:cNvPr id="34" name="Text 32"/>
          <p:cNvSpPr txBox="1"/>
          <p:nvPr/>
        </p:nvSpPr>
        <p:spPr>
          <a:xfrm>
            <a:off x="1280160" y="2651760"/>
            <a:ext cx="1600200" cy="219456"/>
          </a:xfrm>
          <a:prstGeom prst="roundRect">
            <a:avLst>
              <a:gd name="adj" fmla="val 54167"/>
            </a:avLst>
          </a:prstGeom>
          <a:solidFill>
            <a:srgbClr val="15243B"/>
          </a:solidFill>
          <a:ln w="9525">
            <a:solidFill>
              <a:srgbClr val="15243B"/>
            </a:solidFill>
          </a:ln>
        </p:spPr>
        <p:txBody>
          <a:bodyPr wrap="square" lIns="0" tIns="0" rIns="0" bIns="0" rtlCol="0" anchor="ctr"/>
          <a:lstStyle/>
          <a:p>
            <a:pPr algn="ctr" indent="0" marL="0">
              <a:buNone/>
            </a:pPr>
            <a:r>
              <a:rPr lang="en-US" sz="750" b="1" dirty="0">
                <a:solidFill>
                  <a:srgbClr val="FFFFFF"/>
                </a:solidFill>
                <a:latin typeface="Malgun Gothic" pitchFamily="34" charset="0"/>
                <a:ea typeface="Malgun Gothic" pitchFamily="34" charset="-122"/>
                <a:cs typeface="Malgun Gothic" pitchFamily="34" charset="-120"/>
              </a:rPr>
              <a:t>signature (m2, n4, k2)</a:t>
            </a:r>
            <a:endParaRPr lang="en-US" sz="750" dirty="0"/>
          </a:p>
        </p:txBody>
      </p:sp>
      <p:sp>
        <p:nvSpPr>
          <p:cNvPr id="35" name="Text 33"/>
          <p:cNvSpPr txBox="1"/>
          <p:nvPr/>
        </p:nvSpPr>
        <p:spPr>
          <a:xfrm>
            <a:off x="457200" y="2926080"/>
            <a:ext cx="3611880" cy="457200"/>
          </a:xfrm>
          <a:prstGeom prst="rect">
            <a:avLst/>
          </a:prstGeom>
          <a:noFill/>
          <a:ln/>
        </p:spPr>
        <p:txBody>
          <a:bodyPr wrap="square" lIns="0" tIns="0" rIns="0" bIns="0" rtlCol="0" anchor="t"/>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loop 위치 조합 1,728 → 후보 73 (현재 코드 계산). 복사 위치(prefix)가 다르면, 예: b_at=n_panel의 tile마다 vs 2 tile마다, 별도 후보로 유지.</a:t>
            </a:r>
            <a:endParaRPr lang="en-US" sz="750" dirty="0"/>
          </a:p>
        </p:txBody>
      </p:sp>
      <p:sp>
        <p:nvSpPr>
          <p:cNvPr id="36" name="Text 34"/>
          <p:cNvSpPr txBox="1"/>
          <p:nvPr/>
        </p:nvSpPr>
        <p:spPr>
          <a:xfrm>
            <a:off x="4297680" y="1417320"/>
            <a:ext cx="356616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② 두 입력 cache 합으로 증명된 초과만 제외</a:t>
            </a:r>
            <a:endParaRPr lang="en-US" sz="900" dirty="0"/>
          </a:p>
        </p:txBody>
      </p:sp>
      <p:sp>
        <p:nvSpPr>
          <p:cNvPr id="37" name="Shape 35"/>
          <p:cNvSpPr/>
          <p:nvPr/>
        </p:nvSpPr>
        <p:spPr>
          <a:xfrm>
            <a:off x="4297680" y="1691640"/>
            <a:ext cx="3063240" cy="274320"/>
          </a:xfrm>
          <a:prstGeom prst="rect">
            <a:avLst/>
          </a:prstGeom>
          <a:solidFill>
            <a:srgbClr val="EEF2F6"/>
          </a:solidFill>
          <a:ln w="9525">
            <a:solidFill>
              <a:srgbClr val="C9D3DF"/>
            </a:solidFill>
            <a:prstDash val="solid"/>
          </a:ln>
        </p:spPr>
      </p:sp>
      <p:sp>
        <p:nvSpPr>
          <p:cNvPr id="38" name="Shape 36"/>
          <p:cNvSpPr/>
          <p:nvPr/>
        </p:nvSpPr>
        <p:spPr>
          <a:xfrm>
            <a:off x="4297680" y="1691640"/>
            <a:ext cx="29914" cy="274320"/>
          </a:xfrm>
          <a:prstGeom prst="rect">
            <a:avLst/>
          </a:prstGeom>
          <a:solidFill>
            <a:srgbClr val="EEF1F5"/>
          </a:solidFill>
          <a:ln w="12700">
            <a:solidFill>
              <a:srgbClr val="5B6B7F"/>
            </a:solidFill>
            <a:prstDash val="solid"/>
          </a:ln>
        </p:spPr>
      </p:sp>
      <p:sp>
        <p:nvSpPr>
          <p:cNvPr id="39" name="Shape 37"/>
          <p:cNvSpPr/>
          <p:nvPr/>
        </p:nvSpPr>
        <p:spPr>
          <a:xfrm>
            <a:off x="4327594" y="1691640"/>
            <a:ext cx="2552700" cy="274320"/>
          </a:xfrm>
          <a:prstGeom prst="rect">
            <a:avLst/>
          </a:prstGeom>
          <a:solidFill>
            <a:srgbClr val="FBE9E7"/>
          </a:solidFill>
          <a:ln w="12700">
            <a:solidFill>
              <a:srgbClr val="C0392B"/>
            </a:solidFill>
            <a:prstDash val="solid"/>
          </a:ln>
        </p:spPr>
      </p:sp>
      <p:sp>
        <p:nvSpPr>
          <p:cNvPr id="40" name="Text 38"/>
          <p:cNvSpPr txBox="1"/>
          <p:nvPr/>
        </p:nvSpPr>
        <p:spPr>
          <a:xfrm>
            <a:off x="4327594" y="1691640"/>
            <a:ext cx="2552700" cy="27432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H cache 8 MiB (512행)</a:t>
            </a:r>
            <a:endParaRPr lang="en-US" sz="700" dirty="0"/>
          </a:p>
        </p:txBody>
      </p:sp>
      <p:sp>
        <p:nvSpPr>
          <p:cNvPr id="41" name="Shape 39"/>
          <p:cNvSpPr/>
          <p:nvPr/>
        </p:nvSpPr>
        <p:spPr>
          <a:xfrm>
            <a:off x="6880294" y="1691640"/>
            <a:ext cx="319088" cy="274320"/>
          </a:xfrm>
          <a:prstGeom prst="rect">
            <a:avLst/>
          </a:prstGeom>
          <a:solidFill>
            <a:srgbClr val="FFF1DC"/>
          </a:solidFill>
          <a:ln w="12700">
            <a:solidFill>
              <a:srgbClr val="D98A1E"/>
            </a:solidFill>
            <a:prstDash val="solid"/>
          </a:ln>
        </p:spPr>
      </p:sp>
      <p:sp>
        <p:nvSpPr>
          <p:cNvPr id="42" name="Text 40"/>
          <p:cNvSpPr txBox="1"/>
          <p:nvPr/>
        </p:nvSpPr>
        <p:spPr>
          <a:xfrm>
            <a:off x="6880294" y="1691640"/>
            <a:ext cx="319088" cy="27432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a:t>
            </a:r>
            <a:endParaRPr lang="en-US" sz="700" dirty="0"/>
          </a:p>
        </p:txBody>
      </p:sp>
      <p:sp>
        <p:nvSpPr>
          <p:cNvPr id="43" name="Text 41"/>
          <p:cNvSpPr txBox="1"/>
          <p:nvPr/>
        </p:nvSpPr>
        <p:spPr>
          <a:xfrm>
            <a:off x="7406640" y="1691640"/>
            <a:ext cx="457200" cy="274320"/>
          </a:xfrm>
          <a:prstGeom prst="rect">
            <a:avLst/>
          </a:prstGeom>
          <a:noFill/>
          <a:ln/>
        </p:spPr>
        <p:txBody>
          <a:bodyPr wrap="square" lIns="0" tIns="0" rIns="0" bIns="0" rtlCol="0" anchor="ctr"/>
          <a:lstStyle/>
          <a:p>
            <a:pPr algn="l" indent="0" marL="0">
              <a:buNone/>
            </a:pPr>
            <a:r>
              <a:rPr lang="en-US" sz="750" b="1" dirty="0">
                <a:solidFill>
                  <a:srgbClr val="C0392B"/>
                </a:solidFill>
                <a:latin typeface="Malgun Gothic" pitchFamily="34" charset="0"/>
                <a:ea typeface="Malgun Gothic" pitchFamily="34" charset="-122"/>
                <a:cs typeface="Malgun Gothic" pitchFamily="34" charset="-120"/>
              </a:rPr>
              <a:t>제외</a:t>
            </a:r>
            <a:endParaRPr lang="en-US" sz="750" dirty="0"/>
          </a:p>
        </p:txBody>
      </p:sp>
      <p:sp>
        <p:nvSpPr>
          <p:cNvPr id="44" name="Shape 42"/>
          <p:cNvSpPr/>
          <p:nvPr/>
        </p:nvSpPr>
        <p:spPr>
          <a:xfrm>
            <a:off x="4297680" y="2103120"/>
            <a:ext cx="3063240" cy="274320"/>
          </a:xfrm>
          <a:prstGeom prst="rect">
            <a:avLst/>
          </a:prstGeom>
          <a:solidFill>
            <a:srgbClr val="EEF2F6"/>
          </a:solidFill>
          <a:ln w="9525">
            <a:solidFill>
              <a:srgbClr val="C9D3DF"/>
            </a:solidFill>
            <a:prstDash val="solid"/>
          </a:ln>
        </p:spPr>
      </p:sp>
      <p:sp>
        <p:nvSpPr>
          <p:cNvPr id="45" name="Shape 43"/>
          <p:cNvSpPr/>
          <p:nvPr/>
        </p:nvSpPr>
        <p:spPr>
          <a:xfrm>
            <a:off x="4297680" y="2103120"/>
            <a:ext cx="29914" cy="274320"/>
          </a:xfrm>
          <a:prstGeom prst="rect">
            <a:avLst/>
          </a:prstGeom>
          <a:solidFill>
            <a:srgbClr val="EEF1F5"/>
          </a:solidFill>
          <a:ln w="12700">
            <a:solidFill>
              <a:srgbClr val="5B6B7F"/>
            </a:solidFill>
            <a:prstDash val="solid"/>
          </a:ln>
        </p:spPr>
      </p:sp>
      <p:sp>
        <p:nvSpPr>
          <p:cNvPr id="46" name="Shape 44"/>
          <p:cNvSpPr/>
          <p:nvPr/>
        </p:nvSpPr>
        <p:spPr>
          <a:xfrm>
            <a:off x="4327594" y="2103120"/>
            <a:ext cx="1276350" cy="274320"/>
          </a:xfrm>
          <a:prstGeom prst="rect">
            <a:avLst/>
          </a:prstGeom>
          <a:solidFill>
            <a:srgbClr val="DDF3F0"/>
          </a:solidFill>
          <a:ln w="12700">
            <a:solidFill>
              <a:srgbClr val="1F8A8A"/>
            </a:solidFill>
            <a:prstDash val="solid"/>
          </a:ln>
        </p:spPr>
      </p:sp>
      <p:sp>
        <p:nvSpPr>
          <p:cNvPr id="47" name="Text 45"/>
          <p:cNvSpPr txBox="1"/>
          <p:nvPr/>
        </p:nvSpPr>
        <p:spPr>
          <a:xfrm>
            <a:off x="4327594" y="2103120"/>
            <a:ext cx="1276350" cy="27432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H 4 MiB (256행)</a:t>
            </a:r>
            <a:endParaRPr lang="en-US" sz="700" dirty="0"/>
          </a:p>
        </p:txBody>
      </p:sp>
      <p:sp>
        <p:nvSpPr>
          <p:cNvPr id="48" name="Shape 46"/>
          <p:cNvSpPr/>
          <p:nvPr/>
        </p:nvSpPr>
        <p:spPr>
          <a:xfrm>
            <a:off x="5603944" y="2103120"/>
            <a:ext cx="319088" cy="274320"/>
          </a:xfrm>
          <a:prstGeom prst="rect">
            <a:avLst/>
          </a:prstGeom>
          <a:solidFill>
            <a:srgbClr val="FFF1DC"/>
          </a:solidFill>
          <a:ln w="12700">
            <a:solidFill>
              <a:srgbClr val="D98A1E"/>
            </a:solidFill>
            <a:prstDash val="solid"/>
          </a:ln>
        </p:spPr>
      </p:sp>
      <p:sp>
        <p:nvSpPr>
          <p:cNvPr id="49" name="Text 47"/>
          <p:cNvSpPr txBox="1"/>
          <p:nvPr/>
        </p:nvSpPr>
        <p:spPr>
          <a:xfrm>
            <a:off x="5603944" y="2103120"/>
            <a:ext cx="319088" cy="274320"/>
          </a:xfrm>
          <a:prstGeom prst="rect">
            <a:avLst/>
          </a:prstGeom>
          <a:noFill/>
          <a:ln/>
        </p:spPr>
        <p:txBody>
          <a:bodyPr wrap="square" lIns="0" tIns="0" rIns="0" bIns="0" rtlCol="0" anchor="ctr"/>
          <a:lstStyle/>
          <a:p>
            <a:pPr algn="ctr" indent="0" marL="0">
              <a:buNone/>
            </a:pPr>
            <a:r>
              <a:rPr lang="en-US" sz="700" b="1" dirty="0">
                <a:solidFill>
                  <a:srgbClr val="1F2D3D"/>
                </a:solidFill>
                <a:latin typeface="Malgun Gothic" pitchFamily="34" charset="0"/>
                <a:ea typeface="Malgun Gothic" pitchFamily="34" charset="-122"/>
                <a:cs typeface="Malgun Gothic" pitchFamily="34" charset="-120"/>
              </a:rPr>
              <a:t>W</a:t>
            </a:r>
            <a:endParaRPr lang="en-US" sz="700" dirty="0"/>
          </a:p>
        </p:txBody>
      </p:sp>
      <p:sp>
        <p:nvSpPr>
          <p:cNvPr id="50" name="Text 48"/>
          <p:cNvSpPr txBox="1"/>
          <p:nvPr/>
        </p:nvSpPr>
        <p:spPr>
          <a:xfrm>
            <a:off x="7406640" y="2103120"/>
            <a:ext cx="457200" cy="274320"/>
          </a:xfrm>
          <a:prstGeom prst="rect">
            <a:avLst/>
          </a:prstGeom>
          <a:noFill/>
          <a:ln/>
        </p:spPr>
        <p:txBody>
          <a:bodyPr wrap="square" lIns="0" tIns="0" rIns="0" bIns="0" rtlCol="0" anchor="ctr"/>
          <a:lstStyle/>
          <a:p>
            <a:pPr algn="l" indent="0" marL="0">
              <a:buNone/>
            </a:pPr>
            <a:r>
              <a:rPr lang="en-US" sz="750" b="1" dirty="0">
                <a:solidFill>
                  <a:srgbClr val="2E7D32"/>
                </a:solidFill>
                <a:latin typeface="Malgun Gothic" pitchFamily="34" charset="0"/>
                <a:ea typeface="Malgun Gothic" pitchFamily="34" charset="-122"/>
                <a:cs typeface="Malgun Gothic" pitchFamily="34" charset="-120"/>
              </a:rPr>
              <a:t>검사</a:t>
            </a:r>
            <a:endParaRPr lang="en-US" sz="750" dirty="0"/>
          </a:p>
        </p:txBody>
      </p:sp>
      <p:sp>
        <p:nvSpPr>
          <p:cNvPr id="51" name="Shape 49"/>
          <p:cNvSpPr/>
          <p:nvPr/>
        </p:nvSpPr>
        <p:spPr>
          <a:xfrm>
            <a:off x="6880294" y="1627632"/>
            <a:ext cx="914" cy="822960"/>
          </a:xfrm>
          <a:prstGeom prst="line">
            <a:avLst/>
          </a:prstGeom>
          <a:noFill/>
          <a:ln w="19050">
            <a:solidFill>
              <a:srgbClr val="C0392B"/>
            </a:solidFill>
            <a:prstDash val="dash"/>
          </a:ln>
        </p:spPr>
      </p:sp>
      <p:sp>
        <p:nvSpPr>
          <p:cNvPr id="52" name="Text 50"/>
          <p:cNvSpPr txBox="1"/>
          <p:nvPr/>
        </p:nvSpPr>
        <p:spPr>
          <a:xfrm>
            <a:off x="5600134" y="2423160"/>
            <a:ext cx="1463040" cy="164592"/>
          </a:xfrm>
          <a:prstGeom prst="rect">
            <a:avLst/>
          </a:prstGeom>
          <a:noFill/>
          <a:ln/>
        </p:spPr>
        <p:txBody>
          <a:bodyPr wrap="square" lIns="0" tIns="0" rIns="0" bIns="0" rtlCol="0" anchor="t"/>
          <a:lstStyle/>
          <a:p>
            <a:pPr algn="ctr" indent="0" marL="0">
              <a:buNone/>
            </a:pPr>
            <a:r>
              <a:rPr lang="en-US" sz="650" dirty="0">
                <a:solidFill>
                  <a:srgbClr val="C0392B"/>
                </a:solidFill>
                <a:latin typeface="Malgun Gothic" pitchFamily="34" charset="0"/>
                <a:ea typeface="Malgun Gothic" pitchFamily="34" charset="-122"/>
                <a:cs typeface="Malgun Gothic" pitchFamily="34" charset="-120"/>
              </a:rPr>
              <a:t>가용 = 8 MiB − scratch prefix</a:t>
            </a:r>
            <a:endParaRPr lang="en-US" sz="650" dirty="0"/>
          </a:p>
        </p:txBody>
      </p:sp>
      <p:sp>
        <p:nvSpPr>
          <p:cNvPr id="53" name="Text 51"/>
          <p:cNvSpPr txBox="1"/>
          <p:nvPr/>
        </p:nvSpPr>
        <p:spPr>
          <a:xfrm>
            <a:off x="4297680" y="2651760"/>
            <a:ext cx="3566160" cy="731520"/>
          </a:xfrm>
          <a:prstGeom prst="rect">
            <a:avLst/>
          </a:prstGeom>
          <a:noFill/>
          <a:ln/>
        </p:spPr>
        <p:txBody>
          <a:bodyPr wrap="square" lIns="0" tIns="0" rIns="0" bIns="0" rtlCol="0" anchor="t"/>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조건: 정렬 rank-2 FP16 직접 입력 2개, 64배수(ordinary). padding·computed producer는 순서만 뒤로. 512-token down: 5,034 중 1,596 제외 → 3,438 검사 목록 (E9). gate M=64: 203 → 162 (계산).</a:t>
            </a:r>
            <a:endParaRPr lang="en-US" sz="750" dirty="0"/>
          </a:p>
        </p:txBody>
      </p:sp>
      <p:sp>
        <p:nvSpPr>
          <p:cNvPr id="54" name="Text 52"/>
          <p:cNvSpPr txBox="1"/>
          <p:nvPr/>
        </p:nvSpPr>
        <p:spPr>
          <a:xfrm>
            <a:off x="8138160" y="1417320"/>
            <a:ext cx="3593592"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③ 예산과 종료 사유 (stop_reason)</a:t>
            </a:r>
            <a:endParaRPr lang="en-US" sz="900" dirty="0"/>
          </a:p>
        </p:txBody>
      </p:sp>
      <p:sp>
        <p:nvSpPr>
          <p:cNvPr id="55" name="Shape 53"/>
          <p:cNvSpPr/>
          <p:nvPr/>
        </p:nvSpPr>
        <p:spPr>
          <a:xfrm>
            <a:off x="8138160" y="1691640"/>
            <a:ext cx="898398" cy="384048"/>
          </a:xfrm>
          <a:prstGeom prst="rect">
            <a:avLst/>
          </a:prstGeom>
          <a:solidFill>
            <a:srgbClr val="E5F3E7"/>
          </a:solidFill>
          <a:ln w="6350">
            <a:solidFill>
              <a:srgbClr val="2E7D32"/>
            </a:solidFill>
            <a:prstDash val="solid"/>
          </a:ln>
        </p:spPr>
      </p:sp>
      <p:sp>
        <p:nvSpPr>
          <p:cNvPr id="56" name="Text 54"/>
          <p:cNvSpPr txBox="1"/>
          <p:nvPr/>
        </p:nvSpPr>
        <p:spPr>
          <a:xfrm>
            <a:off x="8138160" y="1691640"/>
            <a:ext cx="89839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legal_budget</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legal ≥ 8</a:t>
            </a:r>
            <a:endParaRPr lang="en-US" sz="650" dirty="0"/>
          </a:p>
        </p:txBody>
      </p:sp>
      <p:sp>
        <p:nvSpPr>
          <p:cNvPr id="57" name="Shape 55"/>
          <p:cNvSpPr/>
          <p:nvPr/>
        </p:nvSpPr>
        <p:spPr>
          <a:xfrm>
            <a:off x="9036558" y="1691640"/>
            <a:ext cx="898398" cy="384048"/>
          </a:xfrm>
          <a:prstGeom prst="rect">
            <a:avLst/>
          </a:prstGeom>
          <a:solidFill>
            <a:srgbClr val="FFF6DB"/>
          </a:solidFill>
          <a:ln w="6350">
            <a:solidFill>
              <a:srgbClr val="B7791F"/>
            </a:solidFill>
            <a:prstDash val="solid"/>
          </a:ln>
        </p:spPr>
      </p:sp>
      <p:sp>
        <p:nvSpPr>
          <p:cNvPr id="58" name="Text 56"/>
          <p:cNvSpPr txBox="1"/>
          <p:nvPr/>
        </p:nvSpPr>
        <p:spPr>
          <a:xfrm>
            <a:off x="9036558" y="1691640"/>
            <a:ext cx="898398" cy="384048"/>
          </a:xfrm>
          <a:prstGeom prst="rect">
            <a:avLst/>
          </a:prstGeom>
          <a:noFill/>
          <a:ln/>
        </p:spPr>
        <p:txBody>
          <a:bodyPr wrap="square" lIns="0" tIns="0" rIns="0" bIns="0" rtlCol="0" anchor="ctr"/>
          <a:lstStyle/>
          <a:p>
            <a:pPr algn="ctr" indent="0" marL="0">
              <a:buNone/>
            </a:pPr>
            <a:r>
              <a:rPr lang="en-US" sz="600" dirty="0">
                <a:solidFill>
                  <a:srgbClr val="1F2D3D"/>
                </a:solidFill>
                <a:latin typeface="Malgun Gothic" pitchFamily="34" charset="0"/>
                <a:ea typeface="Malgun Gothic" pitchFamily="34" charset="-122"/>
                <a:cs typeface="Malgun Gothic" pitchFamily="34" charset="-120"/>
              </a:rPr>
              <a:t>word_budget</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legal ≥ 2 ∧ Σwords ≥</a:t>
            </a:r>
            <a:endParaRPr lang="en-US" sz="600" dirty="0"/>
          </a:p>
          <a:p>
            <a:pPr algn="ctr" indent="0" marL="0">
              <a:buNone/>
            </a:pPr>
            <a:r>
              <a:rPr lang="en-US" sz="600" dirty="0">
                <a:solidFill>
                  <a:srgbClr val="1F2D3D"/>
                </a:solidFill>
                <a:latin typeface="Malgun Gothic" pitchFamily="34" charset="0"/>
                <a:ea typeface="Malgun Gothic" pitchFamily="34" charset="-122"/>
                <a:cs typeface="Malgun Gothic" pitchFamily="34" charset="-120"/>
              </a:rPr>
              <a:t>max(100k, 기준×8)</a:t>
            </a:r>
            <a:endParaRPr lang="en-US" sz="600" dirty="0"/>
          </a:p>
        </p:txBody>
      </p:sp>
      <p:sp>
        <p:nvSpPr>
          <p:cNvPr id="59" name="Shape 57"/>
          <p:cNvSpPr/>
          <p:nvPr/>
        </p:nvSpPr>
        <p:spPr>
          <a:xfrm>
            <a:off x="9934956" y="1691640"/>
            <a:ext cx="898398" cy="384048"/>
          </a:xfrm>
          <a:prstGeom prst="rect">
            <a:avLst/>
          </a:prstGeom>
          <a:solidFill>
            <a:srgbClr val="FBE9E7"/>
          </a:solidFill>
          <a:ln w="6350">
            <a:solidFill>
              <a:srgbClr val="C0392B"/>
            </a:solidFill>
            <a:prstDash val="solid"/>
          </a:ln>
        </p:spPr>
      </p:sp>
      <p:sp>
        <p:nvSpPr>
          <p:cNvPr id="60" name="Text 58"/>
          <p:cNvSpPr txBox="1"/>
          <p:nvPr/>
        </p:nvSpPr>
        <p:spPr>
          <a:xfrm>
            <a:off x="9934956" y="1691640"/>
            <a:ext cx="89839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attempt_budget</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검사 ≥ 64</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(실패 포함)</a:t>
            </a:r>
            <a:endParaRPr lang="en-US" sz="650" dirty="0"/>
          </a:p>
        </p:txBody>
      </p:sp>
      <p:sp>
        <p:nvSpPr>
          <p:cNvPr id="61" name="Shape 59"/>
          <p:cNvSpPr/>
          <p:nvPr/>
        </p:nvSpPr>
        <p:spPr>
          <a:xfrm>
            <a:off x="10833354" y="1691640"/>
            <a:ext cx="898398" cy="384048"/>
          </a:xfrm>
          <a:prstGeom prst="rect">
            <a:avLst/>
          </a:prstGeom>
          <a:solidFill>
            <a:srgbClr val="EEF2F6"/>
          </a:solidFill>
          <a:ln w="6350">
            <a:solidFill>
              <a:srgbClr val="C9D3DF"/>
            </a:solidFill>
            <a:prstDash val="solid"/>
          </a:ln>
        </p:spPr>
      </p:sp>
      <p:sp>
        <p:nvSpPr>
          <p:cNvPr id="62" name="Text 60"/>
          <p:cNvSpPr txBox="1"/>
          <p:nvPr/>
        </p:nvSpPr>
        <p:spPr>
          <a:xfrm>
            <a:off x="10833354" y="1691640"/>
            <a:ext cx="898398" cy="384048"/>
          </a:xfrm>
          <a:prstGeom prst="rect">
            <a:avLst/>
          </a:prstGeom>
          <a:noFill/>
          <a:ln/>
        </p:spPr>
        <p:txBody>
          <a:bodyPr wrap="square" lIns="0" tIns="0" rIns="0" bIns="0" rtlCol="0" anchor="ctr"/>
          <a:lstStyle/>
          <a:p>
            <a:pPr algn="ctr" indent="0" marL="0">
              <a:buNone/>
            </a:pPr>
            <a:r>
              <a:rPr lang="en-US" sz="650" dirty="0">
                <a:solidFill>
                  <a:srgbClr val="1F2D3D"/>
                </a:solidFill>
                <a:latin typeface="Malgun Gothic" pitchFamily="34" charset="0"/>
                <a:ea typeface="Malgun Gothic" pitchFamily="34" charset="-122"/>
                <a:cs typeface="Malgun Gothic" pitchFamily="34" charset="-120"/>
              </a:rPr>
              <a:t>exhausted /</a:t>
            </a:r>
            <a:endParaRPr lang="en-US" sz="650" dirty="0"/>
          </a:p>
          <a:p>
            <a:pPr algn="ctr" indent="0" marL="0">
              <a:buNone/>
            </a:pPr>
            <a:r>
              <a:rPr lang="en-US" sz="650" dirty="0">
                <a:solidFill>
                  <a:srgbClr val="1F2D3D"/>
                </a:solidFill>
                <a:latin typeface="Malgun Gothic" pitchFamily="34" charset="0"/>
                <a:ea typeface="Malgun Gothic" pitchFamily="34" charset="-122"/>
                <a:cs typeface="Malgun Gothic" pitchFamily="34" charset="-120"/>
              </a:rPr>
              <a:t>database_hit</a:t>
            </a:r>
            <a:endParaRPr lang="en-US" sz="650" dirty="0"/>
          </a:p>
        </p:txBody>
      </p:sp>
      <p:sp>
        <p:nvSpPr>
          <p:cNvPr id="63" name="Text 61"/>
          <p:cNvSpPr txBox="1"/>
          <p:nvPr/>
        </p:nvSpPr>
        <p:spPr>
          <a:xfrm>
            <a:off x="8138160" y="2148840"/>
            <a:ext cx="3593592" cy="1188720"/>
          </a:xfrm>
          <a:prstGeom prst="rect">
            <a:avLst/>
          </a:prstGeom>
          <a:noFill/>
          <a:ln/>
        </p:spPr>
        <p:txBody>
          <a:bodyPr wrap="square" lIns="0" tIns="0" rIns="0" bIns="0" rtlCol="0" anchor="t"/>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incumbent(legacy A/B/B_stream/None, legal 2·시도 64)를 먼저 잡고 확장 후보를 검사. 기준 words가 큰 커널일수록 words 한도가 같이 커져 큰 커널에서 너무 일찍 끝나지 않음(E8 512-down: 16회 모두 용량 초과 → 개선 후 4회 검사 = 합법 4개). E10 실행기는 legal 16 · 시도 128 · words 10⁹.</a:t>
            </a:r>
            <a:endParaRPr lang="en-US" sz="750" dirty="0"/>
          </a:p>
        </p:txBody>
      </p:sp>
      <p:sp>
        <p:nvSpPr>
          <p:cNvPr id="64" name="Text 62"/>
          <p:cNvSpPr txBox="1"/>
          <p:nvPr/>
        </p:nvSpPr>
        <p:spPr>
          <a:xfrm>
            <a:off x="457200" y="3520440"/>
            <a:ext cx="7406640"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④ 검사 순서: space(추정 DMA 순) vs ReplayFunc(sample_categorical 추첨) · 선택된 trace는 JSONDatabase에 저장·재생 — 평가는 공통</a:t>
            </a:r>
            <a:endParaRPr lang="en-US" sz="900" dirty="0"/>
          </a:p>
        </p:txBody>
      </p:sp>
      <p:sp>
        <p:nvSpPr>
          <p:cNvPr id="65" name="Shape 63"/>
          <p:cNvSpPr/>
          <p:nvPr/>
        </p:nvSpPr>
        <p:spPr>
          <a:xfrm>
            <a:off x="1280160" y="4160520"/>
            <a:ext cx="289560" cy="274320"/>
          </a:xfrm>
          <a:prstGeom prst="rect">
            <a:avLst/>
          </a:prstGeom>
          <a:solidFill>
            <a:srgbClr val="EEF2F6"/>
          </a:solidFill>
          <a:ln w="6350">
            <a:solidFill>
              <a:srgbClr val="C9D3DF"/>
            </a:solidFill>
            <a:prstDash val="solid"/>
          </a:ln>
        </p:spPr>
      </p:sp>
      <p:sp>
        <p:nvSpPr>
          <p:cNvPr id="66" name="Text 64"/>
          <p:cNvSpPr txBox="1"/>
          <p:nvPr/>
        </p:nvSpPr>
        <p:spPr>
          <a:xfrm>
            <a:off x="128016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0</a:t>
            </a:r>
            <a:endParaRPr lang="en-US" sz="700" dirty="0"/>
          </a:p>
        </p:txBody>
      </p:sp>
      <p:sp>
        <p:nvSpPr>
          <p:cNvPr id="67" name="Shape 65"/>
          <p:cNvSpPr/>
          <p:nvPr/>
        </p:nvSpPr>
        <p:spPr>
          <a:xfrm>
            <a:off x="1569720" y="4160520"/>
            <a:ext cx="289560" cy="274320"/>
          </a:xfrm>
          <a:prstGeom prst="rect">
            <a:avLst/>
          </a:prstGeom>
          <a:solidFill>
            <a:srgbClr val="EEF2F6"/>
          </a:solidFill>
          <a:ln w="6350">
            <a:solidFill>
              <a:srgbClr val="C9D3DF"/>
            </a:solidFill>
            <a:prstDash val="solid"/>
          </a:ln>
        </p:spPr>
      </p:sp>
      <p:sp>
        <p:nvSpPr>
          <p:cNvPr id="68" name="Text 66"/>
          <p:cNvSpPr txBox="1"/>
          <p:nvPr/>
        </p:nvSpPr>
        <p:spPr>
          <a:xfrm>
            <a:off x="156972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1</a:t>
            </a:r>
            <a:endParaRPr lang="en-US" sz="700" dirty="0"/>
          </a:p>
        </p:txBody>
      </p:sp>
      <p:sp>
        <p:nvSpPr>
          <p:cNvPr id="69" name="Shape 67"/>
          <p:cNvSpPr/>
          <p:nvPr/>
        </p:nvSpPr>
        <p:spPr>
          <a:xfrm>
            <a:off x="1859280" y="4160520"/>
            <a:ext cx="289560" cy="274320"/>
          </a:xfrm>
          <a:prstGeom prst="rect">
            <a:avLst/>
          </a:prstGeom>
          <a:solidFill>
            <a:srgbClr val="EEF2F6"/>
          </a:solidFill>
          <a:ln w="6350">
            <a:solidFill>
              <a:srgbClr val="C9D3DF"/>
            </a:solidFill>
            <a:prstDash val="solid"/>
          </a:ln>
        </p:spPr>
      </p:sp>
      <p:sp>
        <p:nvSpPr>
          <p:cNvPr id="70" name="Text 68"/>
          <p:cNvSpPr txBox="1"/>
          <p:nvPr/>
        </p:nvSpPr>
        <p:spPr>
          <a:xfrm>
            <a:off x="185928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2</a:t>
            </a:r>
            <a:endParaRPr lang="en-US" sz="700" dirty="0"/>
          </a:p>
        </p:txBody>
      </p:sp>
      <p:sp>
        <p:nvSpPr>
          <p:cNvPr id="71" name="Shape 69"/>
          <p:cNvSpPr/>
          <p:nvPr/>
        </p:nvSpPr>
        <p:spPr>
          <a:xfrm>
            <a:off x="2148840" y="4160520"/>
            <a:ext cx="289560" cy="274320"/>
          </a:xfrm>
          <a:prstGeom prst="rect">
            <a:avLst/>
          </a:prstGeom>
          <a:solidFill>
            <a:srgbClr val="EEF2F6"/>
          </a:solidFill>
          <a:ln w="6350">
            <a:solidFill>
              <a:srgbClr val="C9D3DF"/>
            </a:solidFill>
            <a:prstDash val="solid"/>
          </a:ln>
        </p:spPr>
      </p:sp>
      <p:sp>
        <p:nvSpPr>
          <p:cNvPr id="72" name="Text 70"/>
          <p:cNvSpPr txBox="1"/>
          <p:nvPr/>
        </p:nvSpPr>
        <p:spPr>
          <a:xfrm>
            <a:off x="214884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3</a:t>
            </a:r>
            <a:endParaRPr lang="en-US" sz="700" dirty="0"/>
          </a:p>
        </p:txBody>
      </p:sp>
      <p:sp>
        <p:nvSpPr>
          <p:cNvPr id="73" name="Shape 71"/>
          <p:cNvSpPr/>
          <p:nvPr/>
        </p:nvSpPr>
        <p:spPr>
          <a:xfrm>
            <a:off x="2438400" y="4160520"/>
            <a:ext cx="289560" cy="274320"/>
          </a:xfrm>
          <a:prstGeom prst="rect">
            <a:avLst/>
          </a:prstGeom>
          <a:solidFill>
            <a:srgbClr val="EEF2F6"/>
          </a:solidFill>
          <a:ln w="6350">
            <a:solidFill>
              <a:srgbClr val="C9D3DF"/>
            </a:solidFill>
            <a:prstDash val="solid"/>
          </a:ln>
        </p:spPr>
      </p:sp>
      <p:sp>
        <p:nvSpPr>
          <p:cNvPr id="74" name="Text 72"/>
          <p:cNvSpPr txBox="1"/>
          <p:nvPr/>
        </p:nvSpPr>
        <p:spPr>
          <a:xfrm>
            <a:off x="243840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4</a:t>
            </a:r>
            <a:endParaRPr lang="en-US" sz="700" dirty="0"/>
          </a:p>
        </p:txBody>
      </p:sp>
      <p:sp>
        <p:nvSpPr>
          <p:cNvPr id="75" name="Shape 73"/>
          <p:cNvSpPr/>
          <p:nvPr/>
        </p:nvSpPr>
        <p:spPr>
          <a:xfrm>
            <a:off x="2727960" y="4160520"/>
            <a:ext cx="289560" cy="274320"/>
          </a:xfrm>
          <a:prstGeom prst="rect">
            <a:avLst/>
          </a:prstGeom>
          <a:solidFill>
            <a:srgbClr val="EEF2F6"/>
          </a:solidFill>
          <a:ln w="6350">
            <a:solidFill>
              <a:srgbClr val="C9D3DF"/>
            </a:solidFill>
            <a:prstDash val="solid"/>
          </a:ln>
        </p:spPr>
      </p:sp>
      <p:sp>
        <p:nvSpPr>
          <p:cNvPr id="76" name="Text 74"/>
          <p:cNvSpPr txBox="1"/>
          <p:nvPr/>
        </p:nvSpPr>
        <p:spPr>
          <a:xfrm>
            <a:off x="272796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5</a:t>
            </a:r>
            <a:endParaRPr lang="en-US" sz="700" dirty="0"/>
          </a:p>
        </p:txBody>
      </p:sp>
      <p:sp>
        <p:nvSpPr>
          <p:cNvPr id="77" name="Shape 75"/>
          <p:cNvSpPr/>
          <p:nvPr/>
        </p:nvSpPr>
        <p:spPr>
          <a:xfrm>
            <a:off x="3017520" y="4160520"/>
            <a:ext cx="289560" cy="274320"/>
          </a:xfrm>
          <a:prstGeom prst="rect">
            <a:avLst/>
          </a:prstGeom>
          <a:solidFill>
            <a:srgbClr val="EEF2F6"/>
          </a:solidFill>
          <a:ln w="6350">
            <a:solidFill>
              <a:srgbClr val="C9D3DF"/>
            </a:solidFill>
            <a:prstDash val="solid"/>
          </a:ln>
        </p:spPr>
      </p:sp>
      <p:sp>
        <p:nvSpPr>
          <p:cNvPr id="78" name="Text 76"/>
          <p:cNvSpPr txBox="1"/>
          <p:nvPr/>
        </p:nvSpPr>
        <p:spPr>
          <a:xfrm>
            <a:off x="301752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6</a:t>
            </a:r>
            <a:endParaRPr lang="en-US" sz="700" dirty="0"/>
          </a:p>
        </p:txBody>
      </p:sp>
      <p:sp>
        <p:nvSpPr>
          <p:cNvPr id="79" name="Shape 77"/>
          <p:cNvSpPr/>
          <p:nvPr/>
        </p:nvSpPr>
        <p:spPr>
          <a:xfrm>
            <a:off x="3307080" y="4160520"/>
            <a:ext cx="289560" cy="274320"/>
          </a:xfrm>
          <a:prstGeom prst="rect">
            <a:avLst/>
          </a:prstGeom>
          <a:solidFill>
            <a:srgbClr val="EEF2F6"/>
          </a:solidFill>
          <a:ln w="6350">
            <a:solidFill>
              <a:srgbClr val="C9D3DF"/>
            </a:solidFill>
            <a:prstDash val="solid"/>
          </a:ln>
        </p:spPr>
      </p:sp>
      <p:sp>
        <p:nvSpPr>
          <p:cNvPr id="80" name="Text 78"/>
          <p:cNvSpPr txBox="1"/>
          <p:nvPr/>
        </p:nvSpPr>
        <p:spPr>
          <a:xfrm>
            <a:off x="330708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7</a:t>
            </a:r>
            <a:endParaRPr lang="en-US" sz="700" dirty="0"/>
          </a:p>
        </p:txBody>
      </p:sp>
      <p:sp>
        <p:nvSpPr>
          <p:cNvPr id="81" name="Shape 79"/>
          <p:cNvSpPr/>
          <p:nvPr/>
        </p:nvSpPr>
        <p:spPr>
          <a:xfrm>
            <a:off x="3596640" y="4160520"/>
            <a:ext cx="289560" cy="274320"/>
          </a:xfrm>
          <a:prstGeom prst="rect">
            <a:avLst/>
          </a:prstGeom>
          <a:solidFill>
            <a:srgbClr val="EEF2F6"/>
          </a:solidFill>
          <a:ln w="6350">
            <a:solidFill>
              <a:srgbClr val="C9D3DF"/>
            </a:solidFill>
            <a:prstDash val="solid"/>
          </a:ln>
        </p:spPr>
      </p:sp>
      <p:sp>
        <p:nvSpPr>
          <p:cNvPr id="82" name="Text 80"/>
          <p:cNvSpPr txBox="1"/>
          <p:nvPr/>
        </p:nvSpPr>
        <p:spPr>
          <a:xfrm>
            <a:off x="359664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8</a:t>
            </a:r>
            <a:endParaRPr lang="en-US" sz="700" dirty="0"/>
          </a:p>
        </p:txBody>
      </p:sp>
      <p:sp>
        <p:nvSpPr>
          <p:cNvPr id="83" name="Shape 81"/>
          <p:cNvSpPr/>
          <p:nvPr/>
        </p:nvSpPr>
        <p:spPr>
          <a:xfrm>
            <a:off x="3886200" y="4160520"/>
            <a:ext cx="289560" cy="274320"/>
          </a:xfrm>
          <a:prstGeom prst="rect">
            <a:avLst/>
          </a:prstGeom>
          <a:solidFill>
            <a:srgbClr val="EEF2F6"/>
          </a:solidFill>
          <a:ln w="6350">
            <a:solidFill>
              <a:srgbClr val="C9D3DF"/>
            </a:solidFill>
            <a:prstDash val="solid"/>
          </a:ln>
        </p:spPr>
      </p:sp>
      <p:sp>
        <p:nvSpPr>
          <p:cNvPr id="84" name="Text 82"/>
          <p:cNvSpPr txBox="1"/>
          <p:nvPr/>
        </p:nvSpPr>
        <p:spPr>
          <a:xfrm>
            <a:off x="388620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9</a:t>
            </a:r>
            <a:endParaRPr lang="en-US" sz="700" dirty="0"/>
          </a:p>
        </p:txBody>
      </p:sp>
      <p:sp>
        <p:nvSpPr>
          <p:cNvPr id="85" name="Shape 83"/>
          <p:cNvSpPr/>
          <p:nvPr/>
        </p:nvSpPr>
        <p:spPr>
          <a:xfrm>
            <a:off x="4175760" y="4160520"/>
            <a:ext cx="289560" cy="274320"/>
          </a:xfrm>
          <a:prstGeom prst="rect">
            <a:avLst/>
          </a:prstGeom>
          <a:solidFill>
            <a:srgbClr val="EEF2F6"/>
          </a:solidFill>
          <a:ln w="6350">
            <a:solidFill>
              <a:srgbClr val="C9D3DF"/>
            </a:solidFill>
            <a:prstDash val="solid"/>
          </a:ln>
        </p:spPr>
      </p:sp>
      <p:sp>
        <p:nvSpPr>
          <p:cNvPr id="86" name="Text 84"/>
          <p:cNvSpPr txBox="1"/>
          <p:nvPr/>
        </p:nvSpPr>
        <p:spPr>
          <a:xfrm>
            <a:off x="417576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10</a:t>
            </a:r>
            <a:endParaRPr lang="en-US" sz="700" dirty="0"/>
          </a:p>
        </p:txBody>
      </p:sp>
      <p:sp>
        <p:nvSpPr>
          <p:cNvPr id="87" name="Shape 85"/>
          <p:cNvSpPr/>
          <p:nvPr/>
        </p:nvSpPr>
        <p:spPr>
          <a:xfrm>
            <a:off x="4465320" y="4160520"/>
            <a:ext cx="289560" cy="274320"/>
          </a:xfrm>
          <a:prstGeom prst="rect">
            <a:avLst/>
          </a:prstGeom>
          <a:solidFill>
            <a:srgbClr val="EEF2F6"/>
          </a:solidFill>
          <a:ln w="6350">
            <a:solidFill>
              <a:srgbClr val="C9D3DF"/>
            </a:solidFill>
            <a:prstDash val="solid"/>
          </a:ln>
        </p:spPr>
      </p:sp>
      <p:sp>
        <p:nvSpPr>
          <p:cNvPr id="88" name="Text 86"/>
          <p:cNvSpPr txBox="1"/>
          <p:nvPr/>
        </p:nvSpPr>
        <p:spPr>
          <a:xfrm>
            <a:off x="4465320" y="4160520"/>
            <a:ext cx="289560" cy="274320"/>
          </a:xfrm>
          <a:prstGeom prst="rect">
            <a:avLst/>
          </a:prstGeom>
          <a:noFill/>
          <a:ln/>
        </p:spPr>
        <p:txBody>
          <a:bodyPr wrap="square" lIns="0" tIns="0" rIns="0" bIns="0" rtlCol="0" anchor="ctr"/>
          <a:lstStyle/>
          <a:p>
            <a:pPr algn="ctr" indent="0" marL="0">
              <a:buNone/>
            </a:pPr>
            <a:r>
              <a:rPr lang="en-US" sz="700" dirty="0">
                <a:solidFill>
                  <a:srgbClr val="1F2D3D"/>
                </a:solidFill>
                <a:latin typeface="Courier New" pitchFamily="34" charset="0"/>
                <a:ea typeface="Courier New" pitchFamily="34" charset="-122"/>
                <a:cs typeface="Courier New" pitchFamily="34" charset="-120"/>
              </a:rPr>
              <a:t>11</a:t>
            </a:r>
            <a:endParaRPr lang="en-US" sz="700" dirty="0"/>
          </a:p>
        </p:txBody>
      </p:sp>
      <p:sp>
        <p:nvSpPr>
          <p:cNvPr id="89" name="Text 87"/>
          <p:cNvSpPr txBox="1"/>
          <p:nvPr/>
        </p:nvSpPr>
        <p:spPr>
          <a:xfrm>
            <a:off x="448056" y="4160520"/>
            <a:ext cx="777240" cy="274320"/>
          </a:xfrm>
          <a:prstGeom prst="rect">
            <a:avLst/>
          </a:prstGeom>
          <a:noFill/>
          <a:ln/>
        </p:spPr>
        <p:txBody>
          <a:bodyPr wrap="square" lIns="0" tIns="0" rIns="0" bIns="0" rtlCol="0" anchor="ctr"/>
          <a:lstStyle/>
          <a:p>
            <a:pPr algn="r" indent="0" marL="0">
              <a:buNone/>
            </a:pPr>
            <a:r>
              <a:rPr lang="en-US" sz="750" b="1" dirty="0">
                <a:solidFill>
                  <a:srgbClr val="15243B"/>
                </a:solidFill>
                <a:latin typeface="Malgun Gothic" pitchFamily="34" charset="0"/>
                <a:ea typeface="Malgun Gothic" pitchFamily="34" charset="-122"/>
                <a:cs typeface="Malgun Gothic" pitchFamily="34" charset="-120"/>
              </a:rPr>
              <a:t>후보 pool</a:t>
            </a:r>
            <a:endParaRPr lang="en-US" sz="750" dirty="0"/>
          </a:p>
        </p:txBody>
      </p:sp>
      <p:sp>
        <p:nvSpPr>
          <p:cNvPr id="90" name="Text 88"/>
          <p:cNvSpPr txBox="1"/>
          <p:nvPr/>
        </p:nvSpPr>
        <p:spPr>
          <a:xfrm>
            <a:off x="457200" y="3794760"/>
            <a:ext cx="777240" cy="274320"/>
          </a:xfrm>
          <a:prstGeom prst="rect">
            <a:avLst/>
          </a:prstGeom>
          <a:noFill/>
          <a:ln/>
        </p:spPr>
        <p:txBody>
          <a:bodyPr wrap="square" lIns="0" tIns="0" rIns="0" bIns="0" rtlCol="0" anchor="ctr"/>
          <a:lstStyle/>
          <a:p>
            <a:pPr algn="r" indent="0" marL="0">
              <a:buNone/>
            </a:pPr>
            <a:r>
              <a:rPr lang="en-US" sz="750" b="1" dirty="0">
                <a:solidFill>
                  <a:srgbClr val="1F8A8A"/>
                </a:solidFill>
                <a:latin typeface="Malgun Gothic" pitchFamily="34" charset="0"/>
                <a:ea typeface="Malgun Gothic" pitchFamily="34" charset="-122"/>
                <a:cs typeface="Malgun Gothic" pitchFamily="34" charset="-120"/>
              </a:rPr>
              <a:t>space</a:t>
            </a:r>
            <a:endParaRPr lang="en-US" sz="750" dirty="0"/>
          </a:p>
        </p:txBody>
      </p:sp>
      <p:sp>
        <p:nvSpPr>
          <p:cNvPr id="91" name="Shape 89"/>
          <p:cNvSpPr/>
          <p:nvPr/>
        </p:nvSpPr>
        <p:spPr>
          <a:xfrm>
            <a:off x="1424940" y="3913632"/>
            <a:ext cx="914" cy="228600"/>
          </a:xfrm>
          <a:prstGeom prst="line">
            <a:avLst/>
          </a:prstGeom>
          <a:noFill/>
          <a:ln w="15240">
            <a:solidFill>
              <a:srgbClr val="1F8A8A"/>
            </a:solidFill>
            <a:prstDash val="solid"/>
            <a:tailEnd type="triangle"/>
          </a:ln>
        </p:spPr>
      </p:sp>
      <p:sp>
        <p:nvSpPr>
          <p:cNvPr id="92" name="Text 90"/>
          <p:cNvSpPr txBox="1"/>
          <p:nvPr/>
        </p:nvSpPr>
        <p:spPr>
          <a:xfrm>
            <a:off x="1242060" y="3749040"/>
            <a:ext cx="365760" cy="164592"/>
          </a:xfrm>
          <a:prstGeom prst="rect">
            <a:avLst/>
          </a:prstGeom>
          <a:noFill/>
          <a:ln/>
        </p:spPr>
        <p:txBody>
          <a:bodyPr wrap="square" lIns="0" tIns="0" rIns="0" bIns="0" rtlCol="0" anchor="t"/>
          <a:lstStyle/>
          <a:p>
            <a:pPr algn="ctr" indent="0" marL="0">
              <a:buNone/>
            </a:pPr>
            <a:r>
              <a:rPr lang="en-US" sz="700" b="1" dirty="0">
                <a:solidFill>
                  <a:srgbClr val="1F8A8A"/>
                </a:solidFill>
                <a:latin typeface="Malgun Gothic" pitchFamily="34" charset="0"/>
                <a:ea typeface="Malgun Gothic" pitchFamily="34" charset="-122"/>
                <a:cs typeface="Malgun Gothic" pitchFamily="34" charset="-120"/>
              </a:rPr>
              <a:t>①</a:t>
            </a:r>
            <a:endParaRPr lang="en-US" sz="700" dirty="0"/>
          </a:p>
        </p:txBody>
      </p:sp>
      <p:sp>
        <p:nvSpPr>
          <p:cNvPr id="93" name="Shape 91"/>
          <p:cNvSpPr/>
          <p:nvPr/>
        </p:nvSpPr>
        <p:spPr>
          <a:xfrm>
            <a:off x="1714500" y="3913632"/>
            <a:ext cx="914" cy="228600"/>
          </a:xfrm>
          <a:prstGeom prst="line">
            <a:avLst/>
          </a:prstGeom>
          <a:noFill/>
          <a:ln w="15240">
            <a:solidFill>
              <a:srgbClr val="1F8A8A"/>
            </a:solidFill>
            <a:prstDash val="solid"/>
            <a:tailEnd type="triangle"/>
          </a:ln>
        </p:spPr>
      </p:sp>
      <p:sp>
        <p:nvSpPr>
          <p:cNvPr id="94" name="Text 92"/>
          <p:cNvSpPr txBox="1"/>
          <p:nvPr/>
        </p:nvSpPr>
        <p:spPr>
          <a:xfrm>
            <a:off x="1531620" y="3749040"/>
            <a:ext cx="365760" cy="164592"/>
          </a:xfrm>
          <a:prstGeom prst="rect">
            <a:avLst/>
          </a:prstGeom>
          <a:noFill/>
          <a:ln/>
        </p:spPr>
        <p:txBody>
          <a:bodyPr wrap="square" lIns="0" tIns="0" rIns="0" bIns="0" rtlCol="0" anchor="t"/>
          <a:lstStyle/>
          <a:p>
            <a:pPr algn="ctr" indent="0" marL="0">
              <a:buNone/>
            </a:pPr>
            <a:r>
              <a:rPr lang="en-US" sz="700" b="1" dirty="0">
                <a:solidFill>
                  <a:srgbClr val="1F8A8A"/>
                </a:solidFill>
                <a:latin typeface="Malgun Gothic" pitchFamily="34" charset="0"/>
                <a:ea typeface="Malgun Gothic" pitchFamily="34" charset="-122"/>
                <a:cs typeface="Malgun Gothic" pitchFamily="34" charset="-120"/>
              </a:rPr>
              <a:t>②</a:t>
            </a:r>
            <a:endParaRPr lang="en-US" sz="700" dirty="0"/>
          </a:p>
        </p:txBody>
      </p:sp>
      <p:sp>
        <p:nvSpPr>
          <p:cNvPr id="95" name="Shape 93"/>
          <p:cNvSpPr/>
          <p:nvPr/>
        </p:nvSpPr>
        <p:spPr>
          <a:xfrm>
            <a:off x="2004060" y="3913632"/>
            <a:ext cx="914" cy="228600"/>
          </a:xfrm>
          <a:prstGeom prst="line">
            <a:avLst/>
          </a:prstGeom>
          <a:noFill/>
          <a:ln w="15240">
            <a:solidFill>
              <a:srgbClr val="1F8A8A"/>
            </a:solidFill>
            <a:prstDash val="solid"/>
            <a:tailEnd type="triangle"/>
          </a:ln>
        </p:spPr>
      </p:sp>
      <p:sp>
        <p:nvSpPr>
          <p:cNvPr id="96" name="Text 94"/>
          <p:cNvSpPr txBox="1"/>
          <p:nvPr/>
        </p:nvSpPr>
        <p:spPr>
          <a:xfrm>
            <a:off x="1821180" y="3749040"/>
            <a:ext cx="365760" cy="164592"/>
          </a:xfrm>
          <a:prstGeom prst="rect">
            <a:avLst/>
          </a:prstGeom>
          <a:noFill/>
          <a:ln/>
        </p:spPr>
        <p:txBody>
          <a:bodyPr wrap="square" lIns="0" tIns="0" rIns="0" bIns="0" rtlCol="0" anchor="t"/>
          <a:lstStyle/>
          <a:p>
            <a:pPr algn="ctr" indent="0" marL="0">
              <a:buNone/>
            </a:pPr>
            <a:r>
              <a:rPr lang="en-US" sz="700" b="1" dirty="0">
                <a:solidFill>
                  <a:srgbClr val="1F8A8A"/>
                </a:solidFill>
                <a:latin typeface="Malgun Gothic" pitchFamily="34" charset="0"/>
                <a:ea typeface="Malgun Gothic" pitchFamily="34" charset="-122"/>
                <a:cs typeface="Malgun Gothic" pitchFamily="34" charset="-120"/>
              </a:rPr>
              <a:t>③</a:t>
            </a:r>
            <a:endParaRPr lang="en-US" sz="700" dirty="0"/>
          </a:p>
        </p:txBody>
      </p:sp>
      <p:sp>
        <p:nvSpPr>
          <p:cNvPr id="97" name="Shape 95"/>
          <p:cNvSpPr/>
          <p:nvPr/>
        </p:nvSpPr>
        <p:spPr>
          <a:xfrm>
            <a:off x="2293620" y="3913632"/>
            <a:ext cx="914" cy="228600"/>
          </a:xfrm>
          <a:prstGeom prst="line">
            <a:avLst/>
          </a:prstGeom>
          <a:noFill/>
          <a:ln w="15240">
            <a:solidFill>
              <a:srgbClr val="1F8A8A"/>
            </a:solidFill>
            <a:prstDash val="solid"/>
            <a:tailEnd type="triangle"/>
          </a:ln>
        </p:spPr>
      </p:sp>
      <p:sp>
        <p:nvSpPr>
          <p:cNvPr id="98" name="Text 96"/>
          <p:cNvSpPr txBox="1"/>
          <p:nvPr/>
        </p:nvSpPr>
        <p:spPr>
          <a:xfrm>
            <a:off x="2110740" y="3749040"/>
            <a:ext cx="365760" cy="164592"/>
          </a:xfrm>
          <a:prstGeom prst="rect">
            <a:avLst/>
          </a:prstGeom>
          <a:noFill/>
          <a:ln/>
        </p:spPr>
        <p:txBody>
          <a:bodyPr wrap="square" lIns="0" tIns="0" rIns="0" bIns="0" rtlCol="0" anchor="t"/>
          <a:lstStyle/>
          <a:p>
            <a:pPr algn="ctr" indent="0" marL="0">
              <a:buNone/>
            </a:pPr>
            <a:r>
              <a:rPr lang="en-US" sz="700" b="1" dirty="0">
                <a:solidFill>
                  <a:srgbClr val="1F8A8A"/>
                </a:solidFill>
                <a:latin typeface="Malgun Gothic" pitchFamily="34" charset="0"/>
                <a:ea typeface="Malgun Gothic" pitchFamily="34" charset="-122"/>
                <a:cs typeface="Malgun Gothic" pitchFamily="34" charset="-120"/>
              </a:rPr>
              <a:t>④</a:t>
            </a:r>
            <a:endParaRPr lang="en-US" sz="700" dirty="0"/>
          </a:p>
        </p:txBody>
      </p:sp>
      <p:sp>
        <p:nvSpPr>
          <p:cNvPr id="99" name="Text 97"/>
          <p:cNvSpPr txBox="1"/>
          <p:nvPr/>
        </p:nvSpPr>
        <p:spPr>
          <a:xfrm>
            <a:off x="2583180" y="3767328"/>
            <a:ext cx="2194560" cy="274320"/>
          </a:xfrm>
          <a:prstGeom prst="rect">
            <a:avLst/>
          </a:prstGeom>
          <a:noFill/>
          <a:ln/>
        </p:spPr>
        <p:txBody>
          <a:bodyPr wrap="square" lIns="0" tIns="0" rIns="0" bIns="0" rtlCol="0" anchor="ctr"/>
          <a:lstStyle/>
          <a:p>
            <a:pPr algn="l" indent="0" marL="0">
              <a:buNone/>
            </a:pPr>
            <a:r>
              <a:rPr lang="en-US" sz="700" dirty="0">
                <a:solidFill>
                  <a:srgbClr val="1F8A8A"/>
                </a:solidFill>
                <a:latin typeface="Malgun Gothic" pitchFamily="34" charset="0"/>
                <a:ea typeface="Malgun Gothic" pitchFamily="34" charset="-122"/>
                <a:cs typeface="Malgun Gothic" pitchFamily="34" charset="-120"/>
              </a:rPr>
              <a:t>… 정렬 순서대로</a:t>
            </a:r>
            <a:endParaRPr lang="en-US" sz="700" dirty="0"/>
          </a:p>
        </p:txBody>
      </p:sp>
      <p:sp>
        <p:nvSpPr>
          <p:cNvPr id="100" name="Text 98"/>
          <p:cNvSpPr txBox="1"/>
          <p:nvPr/>
        </p:nvSpPr>
        <p:spPr>
          <a:xfrm>
            <a:off x="457200" y="4480560"/>
            <a:ext cx="777240" cy="274320"/>
          </a:xfrm>
          <a:prstGeom prst="rect">
            <a:avLst/>
          </a:prstGeom>
          <a:noFill/>
          <a:ln/>
        </p:spPr>
        <p:txBody>
          <a:bodyPr wrap="square" lIns="0" tIns="0" rIns="0" bIns="0" rtlCol="0" anchor="ctr"/>
          <a:lstStyle/>
          <a:p>
            <a:pPr algn="r" indent="0" marL="0">
              <a:buNone/>
            </a:pPr>
            <a:r>
              <a:rPr lang="en-US" sz="750" b="1" dirty="0">
                <a:solidFill>
                  <a:srgbClr val="6C4FBF"/>
                </a:solidFill>
                <a:latin typeface="Malgun Gothic" pitchFamily="34" charset="0"/>
                <a:ea typeface="Malgun Gothic" pitchFamily="34" charset="-122"/>
                <a:cs typeface="Malgun Gothic" pitchFamily="34" charset="-120"/>
              </a:rPr>
              <a:t>ReplayFunc</a:t>
            </a:r>
            <a:endParaRPr lang="en-US" sz="750" dirty="0"/>
          </a:p>
        </p:txBody>
      </p:sp>
      <p:sp>
        <p:nvSpPr>
          <p:cNvPr id="101" name="Shape 99"/>
          <p:cNvSpPr/>
          <p:nvPr/>
        </p:nvSpPr>
        <p:spPr>
          <a:xfrm flipV="1">
            <a:off x="3451860" y="4453128"/>
            <a:ext cx="914" cy="301752"/>
          </a:xfrm>
          <a:prstGeom prst="line">
            <a:avLst/>
          </a:prstGeom>
          <a:noFill/>
          <a:ln w="15240">
            <a:solidFill>
              <a:srgbClr val="6C4FBF"/>
            </a:solidFill>
            <a:prstDash val="solid"/>
            <a:tailEnd type="triangle"/>
          </a:ln>
        </p:spPr>
      </p:sp>
      <p:sp>
        <p:nvSpPr>
          <p:cNvPr id="102" name="Text 100"/>
          <p:cNvSpPr txBox="1"/>
          <p:nvPr/>
        </p:nvSpPr>
        <p:spPr>
          <a:xfrm>
            <a:off x="3177540" y="4754880"/>
            <a:ext cx="548640" cy="164592"/>
          </a:xfrm>
          <a:prstGeom prst="rect">
            <a:avLst/>
          </a:prstGeom>
          <a:noFill/>
          <a:ln/>
        </p:spPr>
        <p:txBody>
          <a:bodyPr wrap="square" lIns="0" tIns="0" rIns="0" bIns="0" rtlCol="0" anchor="t"/>
          <a:lstStyle/>
          <a:p>
            <a:pPr algn="ctr" indent="0" marL="0">
              <a:buNone/>
            </a:pPr>
            <a:r>
              <a:rPr lang="en-US" sz="650" b="1" dirty="0">
                <a:solidFill>
                  <a:srgbClr val="6C4FBF"/>
                </a:solidFill>
                <a:latin typeface="Malgun Gothic" pitchFamily="34" charset="0"/>
                <a:ea typeface="Malgun Gothic" pitchFamily="34" charset="-122"/>
                <a:cs typeface="Malgun Gothic" pitchFamily="34" charset="-120"/>
              </a:rPr>
              <a:t>①</a:t>
            </a:r>
            <a:endParaRPr lang="en-US" sz="650" dirty="0"/>
          </a:p>
        </p:txBody>
      </p:sp>
      <p:sp>
        <p:nvSpPr>
          <p:cNvPr id="103" name="Shape 101"/>
          <p:cNvSpPr/>
          <p:nvPr/>
        </p:nvSpPr>
        <p:spPr>
          <a:xfrm flipV="1">
            <a:off x="2004060" y="4453128"/>
            <a:ext cx="914" cy="301752"/>
          </a:xfrm>
          <a:prstGeom prst="line">
            <a:avLst/>
          </a:prstGeom>
          <a:noFill/>
          <a:ln w="15240">
            <a:solidFill>
              <a:srgbClr val="6C4FBF"/>
            </a:solidFill>
            <a:prstDash val="solid"/>
            <a:tailEnd type="triangle"/>
          </a:ln>
        </p:spPr>
      </p:sp>
      <p:sp>
        <p:nvSpPr>
          <p:cNvPr id="104" name="Text 102"/>
          <p:cNvSpPr txBox="1"/>
          <p:nvPr/>
        </p:nvSpPr>
        <p:spPr>
          <a:xfrm>
            <a:off x="1729740" y="4754880"/>
            <a:ext cx="548640" cy="164592"/>
          </a:xfrm>
          <a:prstGeom prst="rect">
            <a:avLst/>
          </a:prstGeom>
          <a:noFill/>
          <a:ln/>
        </p:spPr>
        <p:txBody>
          <a:bodyPr wrap="square" lIns="0" tIns="0" rIns="0" bIns="0" rtlCol="0" anchor="t"/>
          <a:lstStyle/>
          <a:p>
            <a:pPr algn="ctr" indent="0" marL="0">
              <a:buNone/>
            </a:pPr>
            <a:r>
              <a:rPr lang="en-US" sz="650" b="1" dirty="0">
                <a:solidFill>
                  <a:srgbClr val="6C4FBF"/>
                </a:solidFill>
                <a:latin typeface="Malgun Gothic" pitchFamily="34" charset="0"/>
                <a:ea typeface="Malgun Gothic" pitchFamily="34" charset="-122"/>
                <a:cs typeface="Malgun Gothic" pitchFamily="34" charset="-120"/>
              </a:rPr>
              <a:t>②</a:t>
            </a:r>
            <a:endParaRPr lang="en-US" sz="650" dirty="0"/>
          </a:p>
        </p:txBody>
      </p:sp>
      <p:sp>
        <p:nvSpPr>
          <p:cNvPr id="105" name="Shape 103"/>
          <p:cNvSpPr/>
          <p:nvPr/>
        </p:nvSpPr>
        <p:spPr>
          <a:xfrm flipV="1">
            <a:off x="3543300" y="4453128"/>
            <a:ext cx="914" cy="448056"/>
          </a:xfrm>
          <a:prstGeom prst="line">
            <a:avLst/>
          </a:prstGeom>
          <a:noFill/>
          <a:ln w="15240">
            <a:solidFill>
              <a:srgbClr val="C0392B"/>
            </a:solidFill>
            <a:prstDash val="solid"/>
            <a:tailEnd type="triangle"/>
          </a:ln>
        </p:spPr>
      </p:sp>
      <p:sp>
        <p:nvSpPr>
          <p:cNvPr id="106" name="Text 104"/>
          <p:cNvSpPr txBox="1"/>
          <p:nvPr/>
        </p:nvSpPr>
        <p:spPr>
          <a:xfrm>
            <a:off x="3268980" y="4901184"/>
            <a:ext cx="548640" cy="164592"/>
          </a:xfrm>
          <a:prstGeom prst="rect">
            <a:avLst/>
          </a:prstGeom>
          <a:noFill/>
          <a:ln/>
        </p:spPr>
        <p:txBody>
          <a:bodyPr wrap="square" lIns="0" tIns="0" rIns="0" bIns="0" rtlCol="0" anchor="t"/>
          <a:lstStyle/>
          <a:p>
            <a:pPr algn="ctr" indent="0" marL="0">
              <a:buNone/>
            </a:pPr>
            <a:r>
              <a:rPr lang="en-US" sz="650" b="1" dirty="0">
                <a:solidFill>
                  <a:srgbClr val="C0392B"/>
                </a:solidFill>
                <a:latin typeface="Malgun Gothic" pitchFamily="34" charset="0"/>
                <a:ea typeface="Malgun Gothic" pitchFamily="34" charset="-122"/>
                <a:cs typeface="Malgun Gothic" pitchFamily="34" charset="-120"/>
              </a:rPr>
              <a:t>③중복</a:t>
            </a:r>
            <a:endParaRPr lang="en-US" sz="650" dirty="0"/>
          </a:p>
        </p:txBody>
      </p:sp>
      <p:sp>
        <p:nvSpPr>
          <p:cNvPr id="107" name="Shape 105"/>
          <p:cNvSpPr/>
          <p:nvPr/>
        </p:nvSpPr>
        <p:spPr>
          <a:xfrm flipV="1">
            <a:off x="4320540" y="4453128"/>
            <a:ext cx="914" cy="301752"/>
          </a:xfrm>
          <a:prstGeom prst="line">
            <a:avLst/>
          </a:prstGeom>
          <a:noFill/>
          <a:ln w="15240">
            <a:solidFill>
              <a:srgbClr val="6C4FBF"/>
            </a:solidFill>
            <a:prstDash val="solid"/>
            <a:tailEnd type="triangle"/>
          </a:ln>
        </p:spPr>
      </p:sp>
      <p:sp>
        <p:nvSpPr>
          <p:cNvPr id="108" name="Text 106"/>
          <p:cNvSpPr txBox="1"/>
          <p:nvPr/>
        </p:nvSpPr>
        <p:spPr>
          <a:xfrm>
            <a:off x="4046220" y="4754880"/>
            <a:ext cx="548640" cy="164592"/>
          </a:xfrm>
          <a:prstGeom prst="rect">
            <a:avLst/>
          </a:prstGeom>
          <a:noFill/>
          <a:ln/>
        </p:spPr>
        <p:txBody>
          <a:bodyPr wrap="square" lIns="0" tIns="0" rIns="0" bIns="0" rtlCol="0" anchor="t"/>
          <a:lstStyle/>
          <a:p>
            <a:pPr algn="ctr" indent="0" marL="0">
              <a:buNone/>
            </a:pPr>
            <a:r>
              <a:rPr lang="en-US" sz="650" b="1" dirty="0">
                <a:solidFill>
                  <a:srgbClr val="6C4FBF"/>
                </a:solidFill>
                <a:latin typeface="Malgun Gothic" pitchFamily="34" charset="0"/>
                <a:ea typeface="Malgun Gothic" pitchFamily="34" charset="-122"/>
                <a:cs typeface="Malgun Gothic" pitchFamily="34" charset="-120"/>
              </a:rPr>
              <a:t>④</a:t>
            </a:r>
            <a:endParaRPr lang="en-US" sz="650" dirty="0"/>
          </a:p>
        </p:txBody>
      </p:sp>
      <p:sp>
        <p:nvSpPr>
          <p:cNvPr id="109" name="Text 107"/>
          <p:cNvSpPr txBox="1"/>
          <p:nvPr/>
        </p:nvSpPr>
        <p:spPr>
          <a:xfrm>
            <a:off x="457200" y="5102352"/>
            <a:ext cx="4572000" cy="502920"/>
          </a:xfrm>
          <a:prstGeom prst="rect">
            <a:avLst/>
          </a:prstGeom>
          <a:noFill/>
          <a:ln/>
        </p:spPr>
        <p:txBody>
          <a:bodyPr wrap="square" lIns="0" tIns="0" rIns="0" bIns="0" rtlCol="0" anchor="t"/>
          <a:lstStyle/>
          <a:p>
            <a:pPr algn="l" indent="0" marL="0">
              <a:buNone/>
            </a:pPr>
            <a:r>
              <a:rPr lang="en-US" sz="750" dirty="0">
                <a:solidFill>
                  <a:srgbClr val="1F2D3D"/>
                </a:solidFill>
                <a:latin typeface="Malgun Gothic" pitchFamily="34" charset="0"/>
                <a:ea typeface="Malgun Gothic" pitchFamily="34" charset="-122"/>
                <a:cs typeface="Malgun Gothic" pitchFamily="34" charset="-120"/>
              </a:rPr>
              <a:t>중복 추첨은 schedule을 다시 만들지 않고 시도만 소비. 두 순서 모두 schedule → lowering → SRAM 배치 → 명령 생성 → (DMA, words, SRAM). Llama 4개 커널: 최종 binary 동일(E8) · 512-down 개선 후 4회/4 legal, 이전과 같은 명령(E9).</a:t>
            </a:r>
            <a:endParaRPr lang="en-US" sz="750" dirty="0"/>
          </a:p>
        </p:txBody>
      </p:sp>
      <p:sp>
        <p:nvSpPr>
          <p:cNvPr id="110" name="Shape 108"/>
          <p:cNvSpPr/>
          <p:nvPr/>
        </p:nvSpPr>
        <p:spPr>
          <a:xfrm>
            <a:off x="5074920" y="3794760"/>
            <a:ext cx="2788920" cy="1737360"/>
          </a:xfrm>
          <a:prstGeom prst="roundRect">
            <a:avLst>
              <a:gd name="adj" fmla="val 2632"/>
            </a:avLst>
          </a:prstGeom>
          <a:solidFill>
            <a:srgbClr val="F5F7FA"/>
          </a:solidFill>
          <a:ln w="9525">
            <a:solidFill>
              <a:srgbClr val="C9D3DF"/>
            </a:solidFill>
            <a:prstDash val="solid"/>
          </a:ln>
        </p:spPr>
      </p:sp>
      <p:sp>
        <p:nvSpPr>
          <p:cNvPr id="111" name="Text 109"/>
          <p:cNvSpPr txBox="1"/>
          <p:nvPr/>
        </p:nvSpPr>
        <p:spPr>
          <a:xfrm>
            <a:off x="5184648" y="3867912"/>
            <a:ext cx="2569464" cy="1591056"/>
          </a:xfrm>
          <a:prstGeom prst="rect">
            <a:avLst/>
          </a:prstGeom>
          <a:noFill/>
          <a:ln/>
        </p:spPr>
        <p:txBody>
          <a:bodyPr wrap="square" lIns="0" tIns="0" rIns="0" bIns="0" rtlCol="0" anchor="t"/>
          <a:lstStyle/>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 JSONDatabase (선택형, 기본 off)</a:t>
            </a:r>
            <a:endParaRPr lang="en-US" sz="680" dirty="0"/>
          </a:p>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Workload: PrimFunc + 실행 조건</a:t>
            </a:r>
            <a:endParaRPr lang="en-US" sz="680" dirty="0"/>
          </a:p>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  (shape·dtype·scope·SRAM·scratch</a:t>
            </a:r>
            <a:endParaRPr lang="en-US" sz="680" dirty="0"/>
          </a:p>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   ·수치·버전) − 탐색 설정</a:t>
            </a:r>
            <a:endParaRPr lang="en-US" sz="680" dirty="0"/>
          </a:p>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TuningRecord: trace, run_secs=None</a:t>
            </a:r>
            <a:endParaRPr lang="en-US" sz="680" dirty="0"/>
          </a:p>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reuse: 재생·재검증 → 탐색 0회</a:t>
            </a:r>
            <a:endParaRPr lang="en-US" sz="680" dirty="0"/>
          </a:p>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tune: incumbent → 개선 시만 기록</a:t>
            </a:r>
            <a:endParaRPr lang="en-US" sz="680" dirty="0"/>
          </a:p>
          <a:p>
            <a:pPr algn="l" indent="0" marL="0">
              <a:lnSpc>
                <a:spcPct val="105000"/>
              </a:lnSpc>
              <a:buNone/>
            </a:pPr>
            <a:r>
              <a:rPr lang="en-US" sz="680" dirty="0">
                <a:solidFill>
                  <a:srgbClr val="1F2D3D"/>
                </a:solidFill>
                <a:latin typeface="Courier New" pitchFamily="34" charset="0"/>
                <a:ea typeface="Courier New" pitchFamily="34" charset="-122"/>
                <a:cs typeface="Courier New" pitchFamily="34" charset="-120"/>
              </a:rPr>
              <a:t># 작은 예제: 새 후보 TIR 8→0, bit-exact</a:t>
            </a:r>
            <a:endParaRPr lang="en-US" sz="680" dirty="0"/>
          </a:p>
        </p:txBody>
      </p:sp>
      <p:sp>
        <p:nvSpPr>
          <p:cNvPr id="112" name="Text 110"/>
          <p:cNvSpPr txBox="1"/>
          <p:nvPr/>
        </p:nvSpPr>
        <p:spPr>
          <a:xfrm>
            <a:off x="8138160" y="3520440"/>
            <a:ext cx="3593592" cy="219456"/>
          </a:xfrm>
          <a:prstGeom prst="rect">
            <a:avLst/>
          </a:prstGeom>
          <a:noFill/>
          <a:ln/>
        </p:spPr>
        <p:txBody>
          <a:bodyPr wrap="square" lIns="0" tIns="0" rIns="0" bIns="0" rtlCol="0" anchor="t"/>
          <a:lstStyle/>
          <a:p>
            <a:pPr algn="l" indent="0" marL="0">
              <a:buNone/>
            </a:pPr>
            <a:r>
              <a:rPr lang="en-US" sz="900" b="1" dirty="0">
                <a:solidFill>
                  <a:srgbClr val="15243B"/>
                </a:solidFill>
                <a:latin typeface="Malgun Gothic" pitchFamily="34" charset="0"/>
                <a:ea typeface="Malgun Gothic" pitchFamily="34" charset="-122"/>
                <a:cs typeface="Malgun Gothic" pitchFamily="34" charset="-120"/>
              </a:rPr>
              <a:t>⑤ E10 중단: 28-layer · 256-token prefill</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138160" y="3794760"/>
          <a:ext cx="3593592" cy="914400"/>
        </p:xfrm>
        <a:graphic>
          <a:graphicData uri="http://schemas.openxmlformats.org/drawingml/2006/table">
            <a:tbl>
              <a:tblPr/>
              <a:tblGrid>
                <a:gridCol w="1051560"/>
                <a:gridCol w="2542032"/>
              </a:tblGrid>
              <a:tr h="274320">
                <a:tc>
                  <a:txBody>
                    <a:bodyPr/>
                    <a:lstStyle/>
                    <a:p>
                      <a:pPr algn="l" indent="0" marL="0">
                        <a:buNone/>
                      </a:pPr>
                      <a:r>
                        <a:rPr lang="en-US" sz="730" b="1" dirty="0">
                          <a:solidFill>
                            <a:srgbClr val="FFFFFF"/>
                          </a:solidFill>
                          <a:latin typeface="Malgun Gothic" pitchFamily="34" charset="0"/>
                          <a:ea typeface="Malgun Gothic" pitchFamily="34" charset="-122"/>
                          <a:cs typeface="Malgun Gothic" pitchFamily="34" charset="-120"/>
                        </a:rPr>
                        <a:t>조건</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c>
                  <a:txBody>
                    <a:bodyPr/>
                    <a:lstStyle/>
                    <a:p>
                      <a:pPr algn="l" indent="0" marL="0">
                        <a:buNone/>
                      </a:pPr>
                      <a:r>
                        <a:rPr lang="en-US" sz="730" b="1" dirty="0">
                          <a:solidFill>
                            <a:srgbClr val="FFFFFF"/>
                          </a:solidFill>
                          <a:latin typeface="Malgun Gothic" pitchFamily="34" charset="0"/>
                          <a:ea typeface="Malgun Gothic" pitchFamily="34" charset="-122"/>
                          <a:cs typeface="Malgun Gothic" pitchFamily="34" charset="-120"/>
                        </a:rPr>
                        <a:t>값</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15243B"/>
                    </a:solidFill>
                  </a:tcPr>
                </a:tc>
              </a:tr>
              <a:tr h="274320">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graph 시간</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None (120 s 제한 해제)</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graph 구성</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27 → source 3 × generic 3 = 9</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matmul 예산</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legal 16 · 시도 128 · words 10⁹</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r h="274320">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메모리</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joint on · beam 4 · DB 미사용</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FFFFFF"/>
                    </a:solidFill>
                  </a:tcPr>
                </a:tc>
              </a:tr>
              <a:tr h="274320">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상태</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c>
                  <a:txBody>
                    <a:bodyPr/>
                    <a:lstStyle/>
                    <a:p>
                      <a:pPr algn="l" indent="0" marL="0">
                        <a:buNone/>
                      </a:pPr>
                      <a:r>
                        <a:rPr lang="en-US" sz="730" dirty="0">
                          <a:solidFill>
                            <a:srgbClr val="1F2D3D"/>
                          </a:solidFill>
                          <a:latin typeface="Malgun Gothic" pitchFamily="34" charset="0"/>
                          <a:ea typeface="Malgun Gothic" pitchFamily="34" charset="-122"/>
                          <a:cs typeface="Malgun Gothic" pitchFamily="34" charset="-120"/>
                        </a:rPr>
                        <a:t>메모리 증가로 중단 · 전체 재검증 미실행</a:t>
                      </a:r>
                      <a:endParaRPr lang="en-US" sz="730" dirty="0">
                        <a:latin typeface="Malgun Gothic" charset="0"/>
                        <a:ea typeface="Malgun Gothic" charset="0"/>
                        <a:cs typeface="Malgun Gothic" charset="0"/>
                      </a:endParaRPr>
                    </a:p>
                  </a:txBody>
                  <a:tcPr marL="63500" marR="63500" marT="38100" marB="38100" anchor="ctr">
                    <a:lnL w="6350" cap="flat" cmpd="sng" algn="ctr">
                      <a:solidFill>
                        <a:srgbClr val="C9D3DF"/>
                      </a:solidFill>
                      <a:prstDash val="solid"/>
                      <a:round/>
                      <a:headEnd type="none" w="med" len="med"/>
                      <a:tailEnd type="none" w="med" len="med"/>
                    </a:lnL>
                    <a:lnR w="6350" cap="flat" cmpd="sng" algn="ctr">
                      <a:solidFill>
                        <a:srgbClr val="C9D3DF"/>
                      </a:solidFill>
                      <a:prstDash val="solid"/>
                      <a:round/>
                      <a:headEnd type="none" w="med" len="med"/>
                      <a:tailEnd type="none" w="med" len="med"/>
                    </a:lnR>
                    <a:lnT w="6350" cap="flat" cmpd="sng" algn="ctr">
                      <a:solidFill>
                        <a:srgbClr val="C9D3DF"/>
                      </a:solidFill>
                      <a:prstDash val="solid"/>
                      <a:round/>
                      <a:headEnd type="none" w="med" len="med"/>
                      <a:tailEnd type="none" w="med" len="med"/>
                    </a:lnT>
                    <a:lnB w="6350" cap="flat" cmpd="sng" algn="ctr">
                      <a:solidFill>
                        <a:srgbClr val="C9D3DF"/>
                      </a:solidFill>
                      <a:prstDash val="solid"/>
                      <a:round/>
                      <a:headEnd type="none" w="med" len="med"/>
                      <a:tailEnd type="none" w="med" len="med"/>
                    </a:lnB>
                    <a:solidFill>
                      <a:srgbClr val="EEF2F6"/>
                    </a:solidFill>
                  </a:tcPr>
                </a:tc>
              </a:tr>
            </a:tbl>
          </a:graphicData>
        </a:graphic>
      </p:graphicFrame>
      <p:sp>
        <p:nvSpPr>
          <p:cNvPr id="114" name="Text 111"/>
          <p:cNvSpPr txBox="1"/>
          <p:nvPr/>
        </p:nvSpPr>
        <p:spPr>
          <a:xfrm>
            <a:off x="8138160" y="5486400"/>
            <a:ext cx="3593592" cy="365760"/>
          </a:xfrm>
          <a:prstGeom prst="rect">
            <a:avLst/>
          </a:prstGeom>
          <a:noFill/>
          <a:ln/>
        </p:spPr>
        <p:txBody>
          <a:bodyPr wrap="square" lIns="0" tIns="0" rIns="0" bIns="0" rtlCol="0" anchor="t"/>
          <a:lstStyle/>
          <a:p>
            <a:pPr algn="l" indent="0" marL="0">
              <a:buNone/>
            </a:pPr>
            <a:r>
              <a:rPr lang="en-US" sz="700" dirty="0">
                <a:solidFill>
                  <a:srgbClr val="5B6B7F"/>
                </a:solidFill>
                <a:latin typeface="Malgun Gothic" pitchFamily="34" charset="0"/>
                <a:ea typeface="Malgun Gothic" pitchFamily="34" charset="-122"/>
                <a:cs typeface="Malgun Gothic" pitchFamily="34" charset="-120"/>
              </a:rPr>
              <a:t>비용·fusion 채택·출력 일치는 완료 전까지 주장하지 않음</a:t>
            </a:r>
            <a:endParaRPr lang="en-US" sz="700" dirty="0"/>
          </a:p>
        </p:txBody>
      </p:sp>
      <p:sp>
        <p:nvSpPr>
          <p:cNvPr id="115" name="Shape 112"/>
          <p:cNvSpPr/>
          <p:nvPr/>
        </p:nvSpPr>
        <p:spPr>
          <a:xfrm>
            <a:off x="457200" y="5943600"/>
            <a:ext cx="11274552" cy="420624"/>
          </a:xfrm>
          <a:prstGeom prst="roundRect">
            <a:avLst>
              <a:gd name="adj" fmla="val 10870"/>
            </a:avLst>
          </a:prstGeom>
          <a:solidFill>
            <a:srgbClr val="EEF2F6"/>
          </a:solidFill>
          <a:ln w="12700">
            <a:solidFill>
              <a:srgbClr val="EEF2F6"/>
            </a:solidFill>
            <a:prstDash val="solid"/>
          </a:ln>
        </p:spPr>
      </p:sp>
      <p:sp>
        <p:nvSpPr>
          <p:cNvPr id="116" name="Text 113"/>
          <p:cNvSpPr txBox="1"/>
          <p:nvPr/>
        </p:nvSpPr>
        <p:spPr>
          <a:xfrm>
            <a:off x="621792" y="5998464"/>
            <a:ext cx="10972800" cy="310896"/>
          </a:xfrm>
          <a:prstGeom prst="rect">
            <a:avLst/>
          </a:prstGeom>
          <a:noFill/>
          <a:ln/>
        </p:spPr>
        <p:txBody>
          <a:bodyPr wrap="square" lIns="0" tIns="0" rIns="0" bIns="0" rtlCol="0" anchor="ctr"/>
          <a:lstStyle/>
          <a:p>
            <a:pPr algn="l" indent="0" marL="0">
              <a:buNone/>
            </a:pPr>
            <a:r>
              <a:rPr lang="en-US" sz="1250" b="1" dirty="0">
                <a:solidFill>
                  <a:srgbClr val="15243B"/>
                </a:solidFill>
                <a:latin typeface="Malgun Gothic" pitchFamily="34" charset="0"/>
                <a:ea typeface="Malgun Gothic" pitchFamily="34" charset="-122"/>
                <a:cs typeface="Malgun Gothic" pitchFamily="34" charset="-120"/>
              </a:rPr>
              <a:t>개선된 것은 탐색의 낭비와 기록 재사용입니다. 512-token down의 최종 명령은 개선 전과 같았고(E9), 전체 모델 결과(E10)는 완료 전까지 주장하지 않습니다.</a:t>
            </a:r>
            <a:endParaRPr lang="en-US" sz="1250" dirty="0"/>
          </a:p>
        </p:txBody>
      </p:sp>
      <p:sp>
        <p:nvSpPr>
          <p:cNvPr id="117" name="Text 114"/>
          <p:cNvSpPr txBox="1"/>
          <p:nvPr/>
        </p:nvSpPr>
        <p:spPr>
          <a:xfrm>
            <a:off x="457200" y="6473952"/>
            <a:ext cx="4114800" cy="228600"/>
          </a:xfrm>
          <a:prstGeom prst="rect">
            <a:avLst/>
          </a:prstGeom>
          <a:noFill/>
          <a:ln/>
        </p:spPr>
        <p:txBody>
          <a:bodyPr wrap="square" lIns="0" tIns="0" rIns="0" bIns="0" rtlCol="0" anchor="t"/>
          <a:lstStyle/>
          <a:p>
            <a:pPr algn="l" indent="0" marL="0">
              <a:buNone/>
            </a:pPr>
            <a:r>
              <a:rPr lang="en-US" sz="850" dirty="0">
                <a:solidFill>
                  <a:srgbClr val="5B6B7F"/>
                </a:solidFill>
                <a:latin typeface="Malgun Gothic" pitchFamily="34" charset="0"/>
                <a:ea typeface="Malgun Gothic" pitchFamily="34" charset="-122"/>
                <a:cs typeface="Malgun Gothic" pitchFamily="34" charset="-120"/>
              </a:rPr>
              <a:t>TVM 기반 NPU compiler · v09 · FP16</a:t>
            </a:r>
            <a:endParaRPr lang="en-US" sz="850" dirty="0"/>
          </a:p>
        </p:txBody>
      </p:sp>
      <p:sp>
        <p:nvSpPr>
          <p:cNvPr id="118" name="Text 115"/>
          <p:cNvSpPr txBox="1"/>
          <p:nvPr/>
        </p:nvSpPr>
        <p:spPr>
          <a:xfrm>
            <a:off x="3840480" y="6473952"/>
            <a:ext cx="6766560" cy="228600"/>
          </a:xfrm>
          <a:prstGeom prst="rect">
            <a:avLst/>
          </a:prstGeom>
          <a:noFill/>
          <a:ln/>
        </p:spPr>
        <p:txBody>
          <a:bodyPr wrap="square" lIns="0" tIns="0" rIns="0" bIns="0" rtlCol="0" anchor="t"/>
          <a:lstStyle/>
          <a:p>
            <a:pPr algn="ctr" indent="0" marL="0">
              <a:buNone/>
            </a:pPr>
            <a:r>
              <a:rPr lang="en-US" sz="850" dirty="0">
                <a:solidFill>
                  <a:srgbClr val="5B6B7F"/>
                </a:solidFill>
                <a:latin typeface="Malgun Gothic" pitchFamily="34" charset="0"/>
                <a:ea typeface="Malgun Gothic" pitchFamily="34" charset="-122"/>
                <a:cs typeface="Malgun Gothic" pitchFamily="34" charset="-120"/>
              </a:rPr>
              <a:t>근거: npu_schedule_space.py, npu_schedule.py, npu_meta_schedule.py; evidence/current/llama_schedule_refinement.json (E9), llama_prefill256_full_search_progress.json (E10)</a:t>
            </a:r>
            <a:endParaRPr lang="en-US" sz="850" dirty="0"/>
          </a:p>
        </p:txBody>
      </p:sp>
      <p:sp>
        <p:nvSpPr>
          <p:cNvPr id="119" name="Text 116"/>
          <p:cNvSpPr txBox="1"/>
          <p:nvPr/>
        </p:nvSpPr>
        <p:spPr>
          <a:xfrm>
            <a:off x="10789920" y="6473952"/>
            <a:ext cx="941832" cy="228600"/>
          </a:xfrm>
          <a:prstGeom prst="rect">
            <a:avLst/>
          </a:prstGeom>
          <a:noFill/>
          <a:ln/>
        </p:spPr>
        <p:txBody>
          <a:bodyPr wrap="square" lIns="0" tIns="0" rIns="0" bIns="0" rtlCol="0" anchor="t"/>
          <a:lstStyle/>
          <a:p>
            <a:pPr algn="r" indent="0" marL="0">
              <a:buNone/>
            </a:pPr>
            <a:r>
              <a:rPr lang="en-US" sz="850" dirty="0">
                <a:solidFill>
                  <a:srgbClr val="5B6B7F"/>
                </a:solidFill>
                <a:latin typeface="Malgun Gothic" pitchFamily="34" charset="0"/>
                <a:ea typeface="Malgun Gothic" pitchFamily="34" charset="-122"/>
                <a:cs typeface="Malgun Gothic" pitchFamily="34" charset="-120"/>
              </a:rPr>
              <a:t>13 / 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TVM 기반 LLM NPU Compiler</dc:title>
  <dc:subject>PptxGenJS Presentation</dc:subject>
  <dc:creator>NPU compiler</dc:creator>
  <cp:lastModifiedBy>NPU compiler</cp:lastModifiedBy>
  <cp:revision>1</cp:revision>
  <dcterms:created xsi:type="dcterms:W3CDTF">2026-09-29T16:21:24Z</dcterms:created>
  <dcterms:modified xsi:type="dcterms:W3CDTF">2026-09-29T16:21:24Z</dcterms:modified>
</cp:coreProperties>
</file>