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TVM 기반 LLM NPU compiler</a:t>
            </a:r>
          </a:p>
          <a:p/>
          <a:p>
            <a:r>
              <a:t>현재 메모리 계층을 사용하는 v09 backend를 설명합니다. 모델의 계산이 어떻게 장치 명령이 되는지, 그 과정에서 어떤 데이터를 SRAM에 두는지를 Llama 예제로 연결합니다. 본문은 FP16 경로입니다. 기존 main backend와 양자화는 부록에서 현재 구조와 구분합니다. 모든 실험은 문서에 보존한 기록이며 발표자료 제작 과정에서 모델을 재컴파일하거나 새 성능 측정을 하지 않았습니다.</a:t>
            </a:r>
          </a:p>
          <a:p/>
          <a:p>
            <a:r>
              <a:t>슬라이드 본문:</a:t>
            </a:r>
          </a:p>
          <a:p>
            <a:r>
              <a:t>설명의 출발점</a:t>
            </a:r>
          </a:p>
          <a:p>
            <a:r>
              <a:t>모델이 정의한 계산을 NPU에서 실행하려면 수식, 실행 순서, 메모리 주소를 모두 정해야 합니다. 이 발표는 같은 예제를 이 세 관점으로 이어서 설명합니다.</a:t>
            </a:r>
          </a:p>
          <a:p/>
          <a:p>
            <a:r>
              <a:t>두 가지 예제를 함께 사용</a:t>
            </a:r>
          </a:p>
          <a:p>
            <a:r>
              <a:t>작은 Linear·두 matmul 예제로 IR과 주소를 읽고, Llama의 실제 hidden 3072·MLP 8192 크기로 확장합니다. 작은 그림이 실제 모델의 어떤 부분인지 연결합니다.</a:t>
            </a:r>
          </a:p>
          <a:p/>
          <a:p>
            <a:r>
              <a:t>현재 기준</a:t>
            </a:r>
          </a:p>
          <a:p>
            <a:r>
              <a:t>메모리 계층이 적용된 v09 FP16 backend가 본문입니다. 양자화와 기존 main은 부록으로 구분하며, 실험 수치는 문서에 남아 있는 검증 기록을 사용합니다.</a:t>
            </a:r>
          </a:p>
          <a:p/>
          <a:p>
            <a:r>
              <a:t>예제와 해석: 읽는 순서: 모델 → Relax/TIR → fusion → schedule → 메모리 → ISA → runtime → 검증</a:t>
            </a:r>
          </a:p>
          <a:p/>
          <a:p>
            <a:r>
              <a:t>근거 파일 (docs 기준):</a:t>
            </a:r>
          </a:p>
          <a:p>
            <a:r>
              <a:t>current/01_overview.md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질문으로 compiler를 이해합니다</a:t>
            </a:r>
          </a:p>
          <a:p/>
          <a:p>
            <a:r>
              <a:t>첫째는 계산의 의미입니다. Matmul과 norm이 어떤 수식과 dtype을 따르는지 정합니다. 둘째는 실행 배치입니다. 큰 계산을 타일로 나누고 loop와 cache 위치를 정합니다. 셋째는 데이터 수명과 주소입니다. 앞 계산의 출력을 언제까지 보관해야 하는지 판단합니다. 이 세 결정이 ISA와 runtime 계약으로 연결됩니다.</a:t>
            </a:r>
          </a:p>
          <a:p/>
          <a:p>
            <a:r>
              <a:t>슬라이드 본문:</a:t>
            </a:r>
          </a:p>
          <a:p>
            <a:r>
              <a:t>계산: 값의 의미를 정한다</a:t>
            </a:r>
          </a:p>
          <a:p>
            <a:r>
              <a:t>Relax는 matmul·add·SiLU의 연결을 표현합니다. Semantic TIR는 각 원소의 수식, reduction 축, FP16/FP32 변환 위치를 정의합니다.</a:t>
            </a:r>
          </a:p>
          <a:p/>
          <a:p>
            <a:r>
              <a:t>배치: 같은 계산을 나누어 실행한다</a:t>
            </a:r>
          </a:p>
          <a:p>
            <a:r>
              <a:t>Schedule은 loop를 64 단위로 나누고 입력 panel을 어느 반복 밖에서 올릴지 정합니다. 같은 tensor도 재읽는 횟수에 따라 DMA가 달라집니다.</a:t>
            </a:r>
          </a:p>
          <a:p/>
          <a:p>
            <a:r>
              <a:t>보관: 다음 계산까지 이어준다</a:t>
            </a:r>
          </a:p>
          <a:p>
            <a:r>
              <a:t>Memory planning은 값의 마지막 사용과 작업 공간을 함께 봅니다. 두 커널을 합치지 않아도 같은 SRAM 영역으로 중간값을 넘길 수 있습니다.</a:t>
            </a:r>
          </a:p>
          <a:p/>
          <a:p>
            <a:r>
              <a:t>예제와 해석: 관통 예제: Y = SiLU(X[64,128] × B[128,64] + bias[64]). 세 단계는 모두 이 계산을 구체화합니다.</a:t>
            </a:r>
          </a:p>
          <a:p/>
          <a:p>
            <a:r>
              <a:t>근거 파일 (docs 기준):</a:t>
            </a:r>
          </a:p>
          <a:p>
            <a:r>
              <a:t>current/01_overview.md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Compile, 준비, 실행은 서로 다른 작업입니다</a:t>
            </a:r>
          </a:p>
          <a:p/>
          <a:p>
            <a:r>
              <a:t>Compile은 정적 shape와 dtype으로 graph, schedule, 주소, 명령을 결정합니다. 준비 단계는 host transform을 실행하고 weight 및 입력을 DRAM image에 넣습니다. 실행에서는 바뀐 입력을 넣고 같은 명령을 재사용합니다. Weight가 parameter이고 shape와 ABI가 같으면 값을 바꾸어 재사용할 수 있지만, constant folding한 weight까지 무조건 교체할 수 있는 것은 아닙니다.</a:t>
            </a:r>
          </a:p>
          <a:p/>
          <a:p>
            <a:r>
              <a:t>슬라이드 본문:</a:t>
            </a:r>
          </a:p>
          <a:p>
            <a:r>
              <a:t>Compile: 정적 구조를 결정</a:t>
            </a:r>
          </a:p>
          <a:p>
            <a:r>
              <a:t>Shape·dtype·장치 조건을 받아 계산 프로그램과 주소 계획을 만듭니다. 값이 parameter라면 실제 weight 내용은 준비 단계에 넣을 수 있습니다.</a:t>
            </a:r>
          </a:p>
          <a:p/>
          <a:p>
            <a:r>
              <a:t>Prepare: 실제 배열을 배치</a:t>
            </a:r>
          </a:p>
          <a:p>
            <a:r>
              <a:t>Host transform을 실행하여 W.T 등을 만들고, 변환된 signature 순서대로 DRAM image를 채웁니다. 이 준비 비용과 NPU 실행 비용을 구분합니다.</a:t>
            </a:r>
          </a:p>
          <a:p/>
          <a:p>
            <a:r>
              <a:t>Run: 바뀐 입력을 넣어 실행</a:t>
            </a:r>
          </a:p>
          <a:p>
            <a:r>
              <a:t>Decode는 token·position·mask와 KV 상태를 갱신하며 기본 계산 프로그램을 재사용합니다. Constant로 접힌 weight까지 임의로 바꿀 수 있다는 뜻은 아닙니다.</a:t>
            </a:r>
          </a:p>
          <a:p/>
          <a:p>
            <a:r>
              <a:t>예제와 해석: 예: transpose 함수는 compile 때 만들어지지만, 실제 weight 배열의 transpose는 host 준비 때 실행합니다.</a:t>
            </a:r>
          </a:p>
          <a:p/>
          <a:p>
            <a:r>
              <a:t>근거 파일 (docs 기준):</a:t>
            </a:r>
          </a:p>
          <a:p>
            <a:r>
              <a:t>current/01_overview.md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장치는 세 층의 메모리를 사용합니다</a:t>
            </a:r>
          </a:p>
          <a:p/>
          <a:p>
            <a:r>
              <a:t>DRAM에는 weight, 외부 입력과 출력, persistent KV cache가 있습니다. SRAM은 현재 계산할 조각과 유지할 중간값을 담습니다. 연산장치는 SRAM에서 입력을 받아 실제 계산을 합니다. Matrix FP32 accumulator는 연산장치 내부의 상태이며 SRAM 전체 중간 buffer와 구분해야 합니다. 기본 SRAM은 8 MiB, matrix tile은 64×64입니다. Vector 256은 물리 폭이며 긴 논리 VLEN의 RTL 동작은 아직 확인해야 할 항목입니다.</a:t>
            </a:r>
          </a:p>
          <a:p/>
          <a:p>
            <a:r>
              <a:t>슬라이드 본문:</a:t>
            </a:r>
          </a:p>
          <a:p>
            <a:r>
              <a:t>DRAM: 모델과 호출 간 상태</a:t>
            </a:r>
          </a:p>
          <a:p>
            <a:r>
              <a:t>Weight 전체, 외부 입력·출력, persistent KV cache가 놓입니다. 기본 SRAM 8 MiB보다 큰 tensor는 계산에 필요한 부분만 가져옵니다.</a:t>
            </a:r>
          </a:p>
          <a:p/>
          <a:p>
            <a:r>
              <a:t>SRAM: 계산할 조각과 보관할 값</a:t>
            </a:r>
          </a:p>
          <a:p>
            <a:r>
              <a:t>입력 panel, vector scratch, 다음 커널이 쓸 중간값이 공간을 나눠 씁니다. 보관을 늘리면 현재 커널에 줄 수 있는 작업 공간은 줄어듭니다.</a:t>
            </a:r>
          </a:p>
          <a:p/>
          <a:p>
            <a:r>
              <a:t>Unit: 실제 계산과 누산 상태</a:t>
            </a:r>
          </a:p>
          <a:p>
            <a:r>
              <a:t>Matrix unit의 FP32 accumulator는 SRAM buffer와 다릅니다. SRAM에 값이 있어도 연산장치 입력으로 LOAD하고, 완료된 결과를 SAVE하는 단계는 필요합니다.</a:t>
            </a:r>
          </a:p>
          <a:p/>
          <a:p>
            <a:r>
              <a:t>예제와 해석: GLOAD/GSTORE는 DRAM↔SRAM, LOAD/SAVE는 SRAM↔연산장치 이동입니다. 이 둘을 섞어 세지 않습니다.</a:t>
            </a:r>
          </a:p>
          <a:p/>
          <a:p>
            <a:r>
              <a:t>근거 파일 (docs 기준):</a:t>
            </a:r>
          </a:p>
          <a:p>
            <a:r>
              <a:t>current/01_overview.md</a:t>
            </a:r>
          </a:p>
          <a:p>
            <a:r>
              <a:t>current/09_isa.md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Llama 한 layer의 계산을 끝까지 따라갑니다</a:t>
            </a:r>
          </a:p>
          <a:p/>
          <a:p>
            <a:r>
              <a:t>입력 X는 S×3072입니다. Attention 앞과 MLP 앞에서 각각 RMSNorm을 합니다. Attention은 QKV projection, RoPE, QK transpose, scale/mask/softmax, PV, O projection으로 이어집니다. 첫 residual은 attention 전 X를 보관했다 더합니다. MLP는 SiLU(gate)와 up을 곱하고 down projection을 합니다. 두 번째 residual도 MLP 앞 값을 유지해야 합니다. 전체 모델에는 이 layer가 28개 있습니다.</a:t>
            </a:r>
          </a:p>
          <a:p/>
          <a:p>
            <a:r>
              <a:t>슬라이드 본문:</a:t>
            </a:r>
          </a:p>
          <a:p>
            <a:r>
              <a:t>Attention의 입력과 출력</a:t>
            </a:r>
          </a:p>
          <a:p>
            <a:r>
              <a:t>X[S,3072]를 정규화하고 Q/K/V를 만듭니다. Q는 24 heads, K/V는 8 heads, 각 head 폭은 128이며 Q/K에 RoPE를 적용합니다.</a:t>
            </a:r>
          </a:p>
          <a:p/>
          <a:p>
            <a:r>
              <a:t>MLP는 두 갈래 계산</a:t>
            </a:r>
          </a:p>
          <a:p>
            <a:r>
              <a:t>Gate와 up은 각각 3072→8192 projection입니다. SiLU(gate)와 up을 원소별로 곱한 뒤 down으로 8192→3072를 계산합니다.</a:t>
            </a:r>
          </a:p>
          <a:p/>
          <a:p>
            <a:r>
              <a:t>Residual은 수명을 늘린다</a:t>
            </a:r>
          </a:p>
          <a:p>
            <a:r>
              <a:t>입력 X는 attention이 끝난 뒤 add할 때까지 필요합니다. 첫 residual 결과 R도 MLP 뒤에 다시 쓰므로, 바로 다음 연산만 보고 공간을 해제하면 안 됩니다.</a:t>
            </a:r>
          </a:p>
          <a:p/>
          <a:p>
            <a:r>
              <a:t>예제와 해석: S=64이면 hidden activation은 384 KiB, gate/up 출력은 각각 1 MiB입니다. 전체 모델은 이 layer를 28번 사용합니다.</a:t>
            </a:r>
          </a:p>
          <a:p/>
          <a:p>
            <a:r>
              <a:t>근거 파일 (docs 기준):</a:t>
            </a:r>
          </a:p>
          <a:p>
            <a:r>
              <a:t>current/02_model_relax.md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TVM의 표준 변환 위에 NPU의 결정을 얹습니다</a:t>
            </a:r>
          </a:p>
          <a:p/>
          <a:p>
            <a:r>
              <a:t>이 그림은 책임의 순서입니다. 실제 후보 비교는 schedule과 codegen까지 내려간 뒤 비용을 보고 돌아옵니다. TVM 표준 기능은 LegalizeOps, FuseOps/FuseTIR, Schedule API, buffer compaction, StaticPlanBlockMemory와 USMP입니다. NPU는 수치 정의와 intrinsic, 후보 탐색, 커널 사이 보관, ISA와 runtime을 구현합니다. DLight를 직접 호출하는 구조는 아니지만 표준 Schedule API를 사용하고 있습니다.</a:t>
            </a:r>
          </a:p>
          <a:p/>
          <a:p>
            <a:r>
              <a:t>슬라이드 본문:</a:t>
            </a:r>
          </a:p>
          <a:p>
            <a:r>
              <a:t>표준 TVM이 제공하는 도구</a:t>
            </a:r>
          </a:p>
          <a:p>
            <a:r>
              <a:t>LegalizeOps·FuseOps/FuseTIR가 계산을 변환하고, Schedule API가 loop와 cache를 바꿉니다. StaticPlanBlockMemory·USMP는 메모리 분석에 사용합니다.</a:t>
            </a:r>
          </a:p>
          <a:p/>
          <a:p>
            <a:r>
              <a:t>NPU backend가 정하는 정책</a:t>
            </a:r>
          </a:p>
          <a:p>
            <a:r>
              <a:t>FP32 누산·FP16 저장 계약, 64×64 intrinsic, 후보 탐색, SRAM 보관, ISA 인코딩은 장치 특성에 맞게 구현합니다. 표준 pass 호출만으로 정해지지 않습니다.</a:t>
            </a:r>
          </a:p>
          <a:p/>
          <a:p>
            <a:r>
              <a:t>선택은 후단 결과까지 본다</a:t>
            </a:r>
          </a:p>
          <a:p>
            <a:r>
              <a:t>후보를 schedule·메모리 배치·명령 생성까지 내려 DMA와 words를 비교합니다. 따라서 파이프라인은 변환의 순서와 후보를 되돌아보는 선택 과정을 함께 가집니다.</a:t>
            </a:r>
          </a:p>
          <a:p/>
          <a:p>
            <a:r>
              <a:t>예제와 해석: DLight를 직접 호출하지 않지만 TVM Schedule API를 사용합니다. API와 그 위의 선택 정책을 구분해서 읽습니다.</a:t>
            </a:r>
          </a:p>
          <a:p/>
          <a:p>
            <a:r>
              <a:t>근거 파일 (docs 기준):</a:t>
            </a:r>
          </a:p>
          <a:p>
            <a:r>
              <a:t>current/01_overview.md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작은 예제 하나로 중간 결과를 연결합니다</a:t>
            </a:r>
          </a:p>
          <a:p/>
          <a:p>
            <a:r>
              <a:t>예제는 X[64,128], checkpoint W[64,128], bias[64]입니다. W transpose는 [128,64]이고 matmul, add, SiLU를 거쳐 [64,64]가 나옵니다. Llama projection은 보통 bias가 없으므로 이 예제를 Llama 수식과 완전히 동일하게 보지 않습니다. 같은 예제의 authored Relax, host transform, semantic TIR, selected TIR, scheduled TIR, ISA와 출력이 문서에 남아 있습니다.</a:t>
            </a:r>
          </a:p>
          <a:p/>
          <a:p>
            <a:r>
              <a:t>슬라이드 본문:</a:t>
            </a:r>
          </a:p>
          <a:p>
            <a:r>
              <a:t>모델 입력의 의미</a:t>
            </a:r>
          </a:p>
          <a:p>
            <a:r>
              <a:t>X는 64개 위치의 128차원 입력이고 W는 출력 채널 64개에 대한 weight입니다. Host에서 B=W.T[128,64]를 준비합니다.</a:t>
            </a:r>
          </a:p>
          <a:p/>
          <a:p>
            <a:r>
              <a:t>중간 tensor의 의미</a:t>
            </a:r>
          </a:p>
          <a:p>
            <a:r>
              <a:t>Matmul 출력 P와 add 출력 A는 각각 [64,64] FP16, 8 KiB입니다. Bias[64]는 64개 행에 broadcast되어 같은 열끼리 더해집니다.</a:t>
            </a:r>
          </a:p>
          <a:p/>
          <a:p>
            <a:r>
              <a:t>관찰할 파일을 연결</a:t>
            </a:r>
          </a:p>
          <a:p>
            <a:r>
              <a:t>Authored Relax에서는 연산 연결을, semantic TIR에서는 수식을, scheduled TIR에서는 cache와 tile을 봅니다. 최종 program.json에서 실제 비용을 확인합니다.</a:t>
            </a:r>
          </a:p>
          <a:p/>
          <a:p>
            <a:r>
              <a:t>예제와 해석: 작은 예제의 K=128은 64개씩 두 번 누산합니다. Matmul→add→SiLU의 FP16 저장 경계는 fusion 뒤에도 유지합니다.</a:t>
            </a:r>
          </a:p>
          <a:p/>
          <a:p>
            <a:r>
              <a:t>근거 파일 (docs 기준):</a:t>
            </a:r>
          </a:p>
          <a:p>
            <a:r>
              <a:t>current/02_model_relax.md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Weight에만 의존하는 계산은 host로 옮깁니다</a:t>
            </a:r>
          </a:p>
          <a:p/>
          <a:p>
            <a:r>
              <a:t>Transpose가 host로 이동하는 것은 compiler가 이 자리에서 checkpoint 값을 읽어 변환했다는 뜻이 아닙니다. Compiler는 parameter transform 함수를 만들고 host VM이 실제 weight로 실행합니다. 입력 x에 의존하는 matmul은 device에 남습니다. 변환 후 parameter 순서가 바뀔 수 있으므로 runtime은 최종 signature와 tuple 구조에 맞춰 binding해야 합니다.</a:t>
            </a:r>
          </a:p>
          <a:p/>
          <a:p>
            <a:r>
              <a:t>슬라이드 본문:</a:t>
            </a:r>
          </a:p>
          <a:p>
            <a:r>
              <a:t>분리 기준은 parameter 의존성</a:t>
            </a:r>
          </a:p>
          <a:p>
            <a:r>
              <a:t>Transpose가 W에만 의존하면 실행 입력 x가 달라져도 결과는 같습니다. LiftTransformParams가 이 계산을 host 함수로 분리합니다.</a:t>
            </a:r>
          </a:p>
          <a:p/>
          <a:p>
            <a:r>
              <a:t>함수의 실제 입력은 ABI로 확인</a:t>
            </a:r>
          </a:p>
          <a:p>
            <a:r>
              <a:t>Device에는 x와 변환된 parameter가 들어갑니다. 작은 예제의 순서는 x, bias, lv(B)이며 원래 W·bias 순서를 그대로 가정하면 틀립니다.</a:t>
            </a:r>
          </a:p>
          <a:p/>
          <a:p>
            <a:r>
              <a:t>장치 메모리 배치와는 별개</a:t>
            </a:r>
          </a:p>
          <a:p>
            <a:r>
              <a:t>Host가 W.T 전체를 만들었다고 SRAM에 전체가 올라가는 것은 아닙니다. 준비된 B는 DRAM에 있고, schedule이 필요한 panel을 가져옵니다.</a:t>
            </a:r>
          </a:p>
          <a:p/>
          <a:p>
            <a:r>
              <a:t>예제와 해석: Llama LM head W는 약 751.5 MiB입니다. Parameter-only 변환을 token마다 반복하지 않는 것이 중요합니다.</a:t>
            </a:r>
          </a:p>
          <a:p/>
          <a:p>
            <a:r>
              <a:t>근거 파일 (docs 기준):</a:t>
            </a:r>
          </a:p>
          <a:p>
            <a:r>
              <a:t>current/03_graph_host.md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Attention을 세부 연산으로 드러내는 이유가 있습니다</a:t>
            </a:r>
          </a:p>
          <a:p/>
          <a:p>
            <a:r>
              <a:t>고수준 attention을 표준 LegalizeOps에 바로 넘기면 표준 attention legalizer가 자체 TE 계산을 만듭니다. 우리가 등록한 matmul과 softmax의 NPU legalizer를 그 내부에서 다시 호출한다고 가정할 수 없습니다. 그래서 먼저 Relax에서 QK, scale/mask, softmax, PV를 드러내고 수치 계약과 fusion을 적용합니다. Authoring한 Llama는 이미 세부 연산으로 표현되어 이 pass가 새로 할 일이 없을 수 있습니다. Graph prefix는 이어서 CanonicalizeBindings, EliminateCommonSubexpr, RewriteDataflowReshape, LiftTransformParams를 사용합니다. 이들은 binding 정리, 공통식 공유, reshape 정리, parameter 분리를 담당합니다.</a:t>
            </a:r>
          </a:p>
          <a:p/>
          <a:p>
            <a:r>
              <a:t>슬라이드 본문:</a:t>
            </a:r>
          </a:p>
          <a:p>
            <a:r>
              <a:t>고수준 attention 안을 드러낸다</a:t>
            </a:r>
          </a:p>
          <a:p>
            <a:r>
              <a:t>CanonicalizeAttention은 QK^T→scale/mask→softmax→PV를 Relax에 나타냅니다. Layout·bias·causal/window 의미를 보존하는 NPU용 변환입니다.</a:t>
            </a:r>
          </a:p>
          <a:p/>
          <a:p>
            <a:r>
              <a:t>NPU용 수치 정의를 적용한다</a:t>
            </a:r>
          </a:p>
          <a:p>
            <a:r>
              <a:t>표준 attention legalizer 내부 TE가 우리 matmul·softmax legalizer를 다시 호출한다고 보장할 수 없습니다. 먼저 연산을 드러내 각 정의를 적용합니다.</a:t>
            </a:r>
          </a:p>
          <a:p/>
          <a:p>
            <a:r>
              <a:t>분해 이후 다시 합칠 수 있다</a:t>
            </a:r>
          </a:p>
          <a:p>
            <a:r>
              <a:t>세부 연산을 보이게 만드는 단계와 하나의 kernel로 실행하는 선택은 다릅니다. Score 또는 full-attention fusion 후보가 뒤에서 만들어질 수 있습니다.</a:t>
            </a:r>
          </a:p>
          <a:p/>
          <a:p>
            <a:r>
              <a:t>예제와 해석: 현재 Llama authoring은 이미 세부 attention 연산을 사용합니다. 그 부분에서는 이 pass가 새로 분해할 것이 없을 수 있습니다.</a:t>
            </a:r>
          </a:p>
          <a:p/>
          <a:p>
            <a:r>
              <a:t>근거 파일 (docs 기준):</a:t>
            </a:r>
          </a:p>
          <a:p>
            <a:r>
              <a:t>current/03_graph_host.md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LegalizeOps 뒤에도 Relax는 남습니다</a:t>
            </a:r>
          </a:p>
          <a:p/>
          <a:p>
            <a:r>
              <a:t>LegalizeOps가 전체 모듈을 TIR만으로 교체한다고 생각하면 뒤의 FuseOps가 이해되지 않습니다. 변환 뒤 Relax 함수에는 call_tir가 있고, 같은 IRModule에 matmul/add/silu PrimFunc가 생깁니다. TE는 각 원소의 수식을 선언하는 도구이며 call_te가 그 정의에서 TIR와 호출을 만듭니다. TIR은 TVM Tensor IR입니다. 다른 compiler에서 같은 약자를 쓰더라도 같은 IR이라는 뜻은 아닙니다.</a:t>
            </a:r>
          </a:p>
          <a:p/>
          <a:p>
            <a:r>
              <a:t>슬라이드 본문:</a:t>
            </a:r>
          </a:p>
          <a:p>
            <a:r>
              <a:t>Relax는 호출 관계로 남는다</a:t>
            </a:r>
          </a:p>
          <a:p>
            <a:r>
              <a:t>LegalizeOps는 고수준 연산을 call_tir 호출로 바꾸고 계산을 TIR PrimFunc에 정의합니다. Relax 함수 전체가 사라지는 것이 아닙니다.</a:t>
            </a:r>
          </a:p>
          <a:p/>
          <a:p>
            <a:r>
              <a:t>TIR는 원소 계산을 표현한다</a:t>
            </a:r>
          </a:p>
          <a:p>
            <a:r>
              <a:t>Matmul의 i,j는 결과 위치이고 k는 합산 축입니다. T.init은 초기값, reads/writes는 접근 영역을 나타내어 후속 변환의 합법성 분석에 쓰입니다.</a:t>
            </a:r>
          </a:p>
          <a:p/>
          <a:p>
            <a:r>
              <a:t>TE는 이 정의를 만드는 도구</a:t>
            </a:r>
          </a:p>
          <a:p>
            <a:r>
              <a:t>placeholder·compute·reduce_axis로 수식을 적고 bb.call_te로 PrimFunc와 Relax 호출을 만듭니다. TE가 직접 ISA를 실행하는 것은 아닙니다.</a:t>
            </a:r>
          </a:p>
          <a:p/>
          <a:p>
            <a:r>
              <a:t>예제와 해석: 그래프를 묶는 FuseOps가 legalization 뒤에도 가능한 이유: 호출 연결은 Relax에, 각 호출의 loop는 TIR에 함께 남아 있습니다.</a:t>
            </a:r>
          </a:p>
          <a:p/>
          <a:p>
            <a:r>
              <a:t>근거 파일 (docs 기준):</a:t>
            </a:r>
          </a:p>
          <a:p>
            <a:r>
              <a:t>current/04_semantic_tir.md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FP32 누산은 전체 K가 끝날 때까지 이어집니다</a:t>
            </a:r>
          </a:p>
          <a:p/>
          <a:p>
            <a:r>
              <a:t>첫 64개 곱의 FP32 부분합으로 accumulator를 시작하고 다음 64개 부분합을 더합니다. 그 뒤 FP16 결과를 저장합니다. 중간 FP16 store/reload로 누산을 끊으면 반올림이 달라집니다. 현재 schedule은 이를 허용하지 않습니다. Fusion도 matmul/add/SiLU의 FP16 경계를 기본적으로 유지합니다. 더 높은 precision을 선택하는 것은 별도의 정밀도 정책이며 현재 자동 오차 예산 탐색은 없습니다. M_MUL activation bit는 현재 자동 경로에서 OFF입니다.</a:t>
            </a:r>
          </a:p>
          <a:p/>
          <a:p>
            <a:r>
              <a:t>슬라이드 본문:</a:t>
            </a:r>
          </a:p>
          <a:p>
            <a:r>
              <a:t>K 조각은 같은 출력에 더한다</a:t>
            </a:r>
          </a:p>
          <a:p>
            <a:r>
              <a:t>X[:,0:64]와 X[:,64:128]은 같은 64×64 출력 타일의 서로 다른 합산 항입니다. 두 결과를 같은 FP32 accumulator에 이어서 더합니다.</a:t>
            </a:r>
          </a:p>
          <a:p/>
          <a:p>
            <a:r>
              <a:t>SAVE는 그 타일의 K가 끝난 뒤</a:t>
            </a:r>
          </a:p>
          <a:p>
            <a:r>
              <a:t>첫 matrix 명령은 MAC=0, 이후 K 조각은 MAC=1입니다. 마지막 K를 마친 값만 FP16으로 SAVE하며 중간 FP16 저장은 수치 의미를 바꿉니다.</a:t>
            </a:r>
          </a:p>
          <a:p/>
          <a:p>
            <a:r>
              <a:t>Activation은 현재 자동 사용 안 함</a:t>
            </a:r>
          </a:p>
          <a:p>
            <a:r>
              <a:t>Activation을 붙인다면 해당 출력의 마지막 K 이후, bias 및 반올림 순서까지 맞아야 합니다. 현재 자동 matmul 경로는 activation OFF이고 SiLU는 vector 계산입니다.</a:t>
            </a:r>
          </a:p>
          <a:p/>
          <a:p>
            <a:r>
              <a:t>예제와 해석: 출력 타일이 바뀌면 새 누산을 시작합니다. 모든 하드웨어에서 K가 항상 최내측이어야 한다는 일반 법칙은 아닙니다.</a:t>
            </a:r>
          </a:p>
          <a:p/>
          <a:p>
            <a:r>
              <a:t>근거 파일 (docs 기준):</a:t>
            </a:r>
          </a:p>
          <a:p>
            <a:r>
              <a:t>current/04_semantic_tir.md</a:t>
            </a:r>
          </a:p>
          <a:p>
            <a:r>
              <a:t>current/06_matmul_schedule.md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커널 수가 줄어드는 것만으로 이득을 판단하지 않습니다</a:t>
            </a:r>
          </a:p>
          <a:p/>
          <a:p>
            <a:r>
              <a:t>세 구성은 개념적으로 가능한 조합입니다. 현재 탐색이 모든 부분 영역 조합을 반드시 생성한다는 뜻은 아닙니다. TVM은 연산 pattern과 의존 경로로 큰 fusion 영역을 만들고 NPU 쪽에서 지원과 비용을 검사합니다. FuseOps는 TIR 호출들을 Relax 함수로 묶고 FuseTIR는 그 안의 계산을 한 PrimFunc로 결합합니다. Fusion하면 생산과 소비를 같은 tile에 배치하기 쉽지만 SRAM 임시값이나 짧은 vector 명령이 늘 수 있습니다. 분리 경로의 SRAM 재사용까지 적용한 최종 DMA와 words를 비교해야 합니다.</a:t>
            </a:r>
          </a:p>
          <a:p/>
          <a:p>
            <a:r>
              <a:t>슬라이드 본문:</a:t>
            </a:r>
          </a:p>
          <a:p>
            <a:r>
              <a:t>Fusion은 함께 배치할 기회를 준다</a:t>
            </a:r>
          </a:p>
          <a:p>
            <a:r>
              <a:t>Matmul 뒤 add/SiLU를 같은 PrimFunc에 넣으면 방금 만든 타일 가까이 소비 계산을 배치할 수 있습니다. Buffer와 명령 설정도 줄어들 수 있습니다.</a:t>
            </a:r>
          </a:p>
          <a:p/>
          <a:p>
            <a:r>
              <a:t>분리 kernel도 SRAM으로 연결 가능</a:t>
            </a:r>
          </a:p>
          <a:p>
            <a:r>
              <a:t>Memory planning이 중간값 전체를 보관하면 분리된 kernel 사이 GSTORE/GLOAD도 제거됩니다. 커널 경계가 곧 DRAM 왕복이라는 뜻은 아닙니다.</a:t>
            </a:r>
          </a:p>
          <a:p/>
          <a:p>
            <a:r>
              <a:t>최종 비용으로 판단한다</a:t>
            </a:r>
          </a:p>
          <a:p>
            <a:r>
              <a:t>Fusion이 scratch를 늘리거나 짧은 vector 명령을 많이 만들면 불리할 수 있습니다. DMA가 같을 때 ISA words와 SRAM peak까지 확인합니다.</a:t>
            </a:r>
          </a:p>
          <a:p/>
          <a:p>
            <a:r>
              <a:t>예제와 해석: A/B/C는 가능한 개념 구성입니다. 현재 탐색이 모든 부분 fusion 조합을 빠짐없이 생성한다는 뜻은 아닙니다.</a:t>
            </a:r>
          </a:p>
          <a:p/>
          <a:p>
            <a:r>
              <a:t>근거 파일 (docs 기준):</a:t>
            </a:r>
          </a:p>
          <a:p>
            <a:r>
              <a:t>current/05_fusion.md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연산의 성격과 모든 연결 경로를 보고 묶습니다</a:t>
            </a:r>
          </a:p>
          <a:p/>
          <a:p>
            <a:r>
              <a:t>기본 분류는 계산의 성격 — Elemwise=0, broadcast=1, injective=2, reduce=3, out-elementwise-fusable=4, tuple=7, opaque=8입니다. 번호는 성능 점수도 연속된 등급도 아닙니다.</a:t>
            </a:r>
          </a:p>
          <a:p/>
          <a:p>
            <a:r>
              <a:t>분기에서는 중간 경로도 검사 — Matmul 결과가 여러 소비자로 갈라지면 한 경로만 보고 묶지 않습니다. 다시 만나는 지점과 관련 경로의 pattern, 외부 출력·사용을 함께 확인합니다.</a:t>
            </a:r>
          </a:p>
          <a:p/>
          <a:p>
            <a:r>
              <a:t>장치에서의 이득은 후속 판단 — NPU는 미지원 영역을 opaque로 보호할 수 있습니다. FuseOps가 만든 그룹을 FuseTIR로 결합한 뒤 실제 schedule과 비용으로 채택 여부를 정합니다.</a:t>
            </a:r>
          </a:p>
          <a:p/>
          <a:p>
            <a:r>
              <a:t>Attention pattern은 Relax 연산이 보일 때 먼저 묶을 수 있고, 주변의 일반 fusion과 같은 후보 안에서 함께 존재할 수 있습니다.</a:t>
            </a:r>
          </a:p>
          <a:p/>
          <a:p>
            <a:r>
              <a:t>슬라이드 본문:</a:t>
            </a:r>
          </a:p>
          <a:p>
            <a:r>
              <a:t>기본 분류는 계산의 성격</a:t>
            </a:r>
          </a:p>
          <a:p>
            <a:r>
              <a:t>Elemwise=0, broadcast=1, injective=2, reduce=3, out-elementwise-fusable=4, tuple=7, opaque=8입니다. 번호는 성능 점수도 연속된 등급도 아닙니다.</a:t>
            </a:r>
          </a:p>
          <a:p/>
          <a:p>
            <a:r>
              <a:t>분기에서는 중간 경로도 검사</a:t>
            </a:r>
          </a:p>
          <a:p>
            <a:r>
              <a:t>Matmul 결과가 여러 소비자로 갈라지면 한 경로만 보고 묶지 않습니다. 다시 만나는 지점과 관련 경로의 pattern, 외부 출력·사용을 함께 확인합니다.</a:t>
            </a:r>
          </a:p>
          <a:p/>
          <a:p>
            <a:r>
              <a:t>장치에서의 이득은 후속 판단</a:t>
            </a:r>
          </a:p>
          <a:p>
            <a:r>
              <a:t>NPU는 미지원 영역을 opaque로 보호할 수 있습니다. FuseOps가 만든 그룹을 FuseTIR로 결합한 뒤 실제 schedule과 비용으로 채택 여부를 정합니다.</a:t>
            </a:r>
          </a:p>
          <a:p/>
          <a:p>
            <a:r>
              <a:t>예제와 해석: Attention pattern은 Relax 연산이 보일 때 먼저 묶을 수 있고, 주변의 일반 fusion과 같은 후보 안에서 함께 존재할 수 있습니다.</a:t>
            </a:r>
          </a:p>
          <a:p/>
          <a:p>
            <a:r>
              <a:t>근거 파일 (docs 기준):</a:t>
            </a:r>
          </a:p>
          <a:p>
            <a:r>
              <a:t>current/05_fusion.md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영역 하나를 검사하고, 전체 프로그램에서 다시 확인합니다</a:t>
            </a:r>
          </a:p>
          <a:p/>
          <a:p>
            <a:r>
              <a:t>npu_fusion.select는 TVM이 만든 한 영역의 fused와 unfused를 실제 schedule/codegen까지 내려 비교합니다. npu_build.lower_and_select는 그 영역들을 포함한 전체 entry들의 주소, SRAM 보관, 명령 비용을 비교합니다. 부분 검사에서 버린 fusion을 모든 다른 영역 조합과 함께 재탐색하지는 않습니다. Prefill/decode를 함께 고를 때는 공유 ABI를 유지하면서 모든 entry가 나빠지지 않고 적어도 하나가 좋아져야 합니다.</a:t>
            </a:r>
          </a:p>
          <a:p/>
          <a:p>
            <a:r>
              <a:t>슬라이드 본문:</a:t>
            </a:r>
          </a:p>
          <a:p>
            <a:r>
              <a:t>영역 검사: 합칠 가치가 있는가</a:t>
            </a:r>
          </a:p>
          <a:p>
            <a:r>
              <a:t>npu_fusion.select는 TVM이 만든 영역 하나를 fused/unfused로 내려 비교합니다. 분리 기준에도 SRAM 전달을 적용하지만 주변 전체 수명은 아직 모릅니다.</a:t>
            </a:r>
          </a:p>
          <a:p/>
          <a:p>
            <a:r>
              <a:t>전체 비교: 주변까지 넣어도 좋은가</a:t>
            </a:r>
          </a:p>
          <a:p>
            <a:r>
              <a:t>lower_and_select는 entry 전체의 보관·주소·최종 명령을 비교합니다. Prefill/decode는 ABI가 맞는 하나의 모듈로 선택하며 entry마다 임의로 섞지 않습니다.</a:t>
            </a:r>
          </a:p>
          <a:p/>
          <a:p>
            <a:r>
              <a:t>중복은 줄이고 탐색은 제한한다</a:t>
            </a:r>
          </a:p>
          <a:p>
            <a:r>
              <a:t>영역·entry 비용 cache를 사용합니다. DMA→words→SRAM 순서로 비교하고, 모든 entry가 나빠지지 않는 개선을 채택합니다. 모든 조합의 전역 최적을 보장하지 않습니다.</a:t>
            </a:r>
          </a:p>
          <a:p/>
          <a:p>
            <a:r>
              <a:t>예제와 해석: 부분 검사에서 버린 fusion을 모든 다른 선택과 다시 조합해 검사하지는 않습니다. 현재 탐색 범위의 한계입니다.</a:t>
            </a:r>
          </a:p>
          <a:p/>
          <a:p>
            <a:r>
              <a:t>근거 파일 (docs 기준):</a:t>
            </a:r>
          </a:p>
          <a:p>
            <a:r>
              <a:t>current/05_fusion.md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연산 tile과 DMA panel은 크기가 다를 수 있습니다</a:t>
            </a:r>
          </a:p>
          <a:p/>
          <a:p>
            <a:r>
              <a:t>큰 W panel을 SRAM에 올린 뒤 여러 matrix 명령이 그 안의 다른 tile을 사용할 수 있습니다. X와 W의 cache stage를 어디에 배치하는지에 따라 실제 DMA 영역이 달라집니다. K chunk가 64라도 cache_read가 K loop 밖에 있으면 K 전체 panel을 올릴 수 있습니다. 입력 panel이 클수록 재사용 기회는 늘지만 출력과 임시값, 앞 커널 중간값의 보관 공간도 필요합니다.</a:t>
            </a:r>
          </a:p>
          <a:p/>
          <a:p>
            <a:r>
              <a:t>슬라이드 본문:</a:t>
            </a:r>
          </a:p>
          <a:p>
            <a:r>
              <a:t>Tile은 연산장치가 계산하는 단위</a:t>
            </a:r>
          </a:p>
          <a:p>
            <a:r>
              <a:t>Matrix 한 번은 64×64 크기의 계산 조각을 처리합니다. K=128이면 같은 출력 타일에 두 번의 K 계산이 필요합니다.</a:t>
            </a:r>
          </a:p>
          <a:p/>
          <a:p>
            <a:r>
              <a:t>Panel은 SRAM에서 재사용하는 범위</a:t>
            </a:r>
          </a:p>
          <a:p>
            <a:r>
              <a:t>X[64,128]과 B[128,64]를 각각 16 KiB씩 미리 가져올 수 있습니다. 두 matrix 명령은 같은 panel의 다른 절반을 LOAD합니다.</a:t>
            </a:r>
          </a:p>
          <a:p/>
          <a:p>
            <a:r>
              <a:t>복사 위치가 재읽기 횟수를 정한다</a:t>
            </a:r>
          </a:p>
          <a:p>
            <a:r>
              <a:t>K loop 바깥에서 panel을 올리면 K가 바뀔 때마다 DRAM에 가지 않습니다. k_chunk=64여도 cache 위치에 따라 K 전체가 SRAM에 있을 수 있습니다.</a:t>
            </a:r>
          </a:p>
          <a:p/>
          <a:p>
            <a:r>
              <a:t>예제와 해석: 실제 작은 예제: m_panel=n_panel=k_chunk=64, a_at=b_at=m_panel. K 반복 바깥에서 X와 B를 한 번 복사합니다.</a:t>
            </a:r>
          </a:p>
          <a:p/>
          <a:p>
            <a:r>
              <a:t>근거 파일 (docs 기준):</a:t>
            </a:r>
          </a:p>
          <a:p>
            <a:r>
              <a:t>current/06_matmul_schedule.md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compute_at은 필요한 계산을 사용 위치로 옮깁니다</a:t>
            </a:r>
          </a:p>
          <a:p/>
          <a:p>
            <a:r>
              <a:t>원래는 B 전체를 만든 다음 C 전체를 만듭니다. C의 행 loop를 2행씩 나누고 B를 그 loop 안으로 compute_at하면 필요한 B만 만들고 바로 C가 사용합니다. reverse_compute_at은 반대로 B를 만드는 loop에 소비자 C를 옮깁니다. 둘 다 IR 변환이므로 최종 TIR에 API 이름이 runtime 명령으로 남지 않습니다. 4×4 FP32 CPU 교육 예제이며 NPU tile이 2라는 뜻은 아닙니다.</a:t>
            </a:r>
          </a:p>
          <a:p/>
          <a:p>
            <a:r>
              <a:t>슬라이드 본문:</a:t>
            </a:r>
          </a:p>
          <a:p>
            <a:r>
              <a:t>문제: 중간값 전체를 먼저 만든다</a:t>
            </a:r>
          </a:p>
          <a:p>
            <a:r>
              <a:t>B=A+1, C=B×2에서 B 전체를 만든 뒤 C를 계산하면 B 전체가 한동안 필요합니다. 사용하는 행 묶음 가까이 B 계산을 옮길 수 있습니다.</a:t>
            </a:r>
          </a:p>
          <a:p/>
          <a:p>
            <a:r>
              <a:t>compute_at이 바꾸는 위치</a:t>
            </a:r>
          </a:p>
          <a:p>
            <a:r>
              <a:t>C의 행 loop를 나눈 후 B block을 그 loop 안으로 이동합니다. 매 반복에서 필요한 B의 두 행을 만들고 즉시 C 두 행을 계산합니다.</a:t>
            </a:r>
          </a:p>
          <a:p/>
          <a:p>
            <a:r>
              <a:t>결과에는 API 이름이 남지 않는다</a:t>
            </a:r>
          </a:p>
          <a:p>
            <a:r>
              <a:t>compute_at은 IR을 고치는 compiler API입니다. TIR 결과에는 이동한 loop와 block이 나타나고, 필요한 영역 축소는 후속 compaction이 반영합니다.</a:t>
            </a:r>
          </a:p>
          <a:p/>
          <a:p>
            <a:r>
              <a:t>예제와 해석: 여기서는 4×4 CPU 교육 예제의 2행 묶음을 사용합니다. 실제 NPU matrix tile이 2라는 뜻은 아닙니다.</a:t>
            </a:r>
          </a:p>
          <a:p/>
          <a:p>
            <a:r>
              <a:t>근거 파일 (docs 기준):</a:t>
            </a:r>
          </a:p>
          <a:p>
            <a:r>
              <a:t>current/06_matmul_schedule.md</a:t>
            </a:r>
          </a:p>
          <a:p>
            <a:r>
              <a:t>examples/schedule_api/02_compute_at.py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reverse_compute_at은 소비 계산을 생산 위치에 맞춥니다</a:t>
            </a:r>
          </a:p>
          <a:p/>
          <a:p>
            <a:r>
              <a:t>compute_at: 생산자를 옮긴다 — C가 사용하는 loop 안으로 B의 생산을 가져옵니다. 소비하는 범위에 맞춰 필요한 B를 만들며 중간값 전체의 보관을 줄일 수 있습니다.</a:t>
            </a:r>
          </a:p>
          <a:p/>
          <a:p>
            <a:r>
              <a:t>reverse_compute_at: 소비자를 옮긴다 — B를 만드는 loop 안으로 C의 소비를 가져옵니다. 생산 타일이 끝난 직후 add/SiLU나 출력 복사 같은 다음 계산을 배치할 때 사용합니다.</a:t>
            </a:r>
          </a:p>
          <a:p/>
          <a:p>
            <a:r>
              <a:t>아무 위치로 이동할 수는 없다 — 데이터 의존성·block 범위·소비 관계가 변환을 허용해야 합니다. Matmul의 뒤 연산도 해당 출력 타일의 K 누산이 끝난 뒤 실행되어야 합니다.</a:t>
            </a:r>
          </a:p>
          <a:p/>
          <a:p>
            <a:r>
              <a:t>역방향이라는 이름은 데이터를 거꾸로 계산한다는 뜻이 아닙니다. 어느 계산의 loop에 다른 계산을 맞추는지의 차이입니다.</a:t>
            </a:r>
          </a:p>
          <a:p/>
          <a:p>
            <a:r>
              <a:t>슬라이드 본문:</a:t>
            </a:r>
          </a:p>
          <a:p>
            <a:r>
              <a:t>compute_at: 생산자를 옮긴다</a:t>
            </a:r>
          </a:p>
          <a:p>
            <a:r>
              <a:t>C가 사용하는 loop 안으로 B의 생산을 가져옵니다. 소비하는 범위에 맞춰 필요한 B를 만들며 중간값 전체의 보관을 줄일 수 있습니다.</a:t>
            </a:r>
          </a:p>
          <a:p/>
          <a:p>
            <a:r>
              <a:t>reverse_compute_at: 소비자를 옮긴다</a:t>
            </a:r>
          </a:p>
          <a:p>
            <a:r>
              <a:t>B를 만드는 loop 안으로 C의 소비를 가져옵니다. 생산 타일이 끝난 직후 add/SiLU나 출력 복사 같은 다음 계산을 배치할 때 사용합니다.</a:t>
            </a:r>
          </a:p>
          <a:p/>
          <a:p>
            <a:r>
              <a:t>아무 위치로 이동할 수는 없다</a:t>
            </a:r>
          </a:p>
          <a:p>
            <a:r>
              <a:t>데이터 의존성·block 범위·소비 관계가 변환을 허용해야 합니다. Matmul의 뒤 연산도 해당 출력 타일의 K 누산이 끝난 뒤 실행되어야 합니다.</a:t>
            </a:r>
          </a:p>
          <a:p/>
          <a:p>
            <a:r>
              <a:t>예제와 해석: 역방향이라는 이름은 데이터를 거꾸로 계산한다는 뜻이 아닙니다. 어느 계산의 loop에 다른 계산을 맞추는지의 차이입니다.</a:t>
            </a:r>
          </a:p>
          <a:p/>
          <a:p>
            <a:r>
              <a:t>근거 파일 (docs 기준):</a:t>
            </a:r>
          </a:p>
          <a:p>
            <a:r>
              <a:t>current/06_matmul_schedule.md</a:t>
            </a:r>
          </a:p>
          <a:p>
            <a:r>
              <a:t>examples/schedule_api/03_reverse_compute_at.py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복사 stage, 실행 위치, buffer 크기는 별개의 결정입니다</a:t>
            </a:r>
          </a:p>
          <a:p/>
          <a:p>
            <a:r>
              <a:t>cache_read는 복사를 추가 — 기존 입력을 cache buffer에 복사하고 소비자가 cache를 읽도록 바꿉니다. 어느 반복에 복사할지는 compute_at으로 별도 지정합니다.</a:t>
            </a:r>
          </a:p>
          <a:p/>
          <a:p>
            <a:r>
              <a:t>Compaction은 필요한 범위로 축소 — 4×4 교육 예제에서 매번 두 행만 접근하면 cache allocation을 2×4로 줄일 수 있습니다. API 호출 직후 보이는 논리 shape와 최종 allocation은 다를 수 있습니다.</a:t>
            </a:r>
          </a:p>
          <a:p/>
          <a:p>
            <a:r>
              <a:t>set_scope와 cache_write도 다르다 — set_scope는 기존 buffer의 저장 scope를 바꿉니다. cache_write는 계산이 cache에 쓰고 원래 출력으로 복사하는 stage를 만듭니다. 둘을 같은 API로 읽지 않습니다.</a:t>
            </a:r>
          </a:p>
          <a:p/>
          <a:p>
            <a:r>
              <a:t>FP32 accumulator는 unit 내부 상태로 내릴 수 있습니다. Scope 변경만 보고 전체 FP32 행렬을 SRAM에 저장한다고 판단하지 않습니다.</a:t>
            </a:r>
          </a:p>
          <a:p/>
          <a:p>
            <a:r>
              <a:t>슬라이드 본문:</a:t>
            </a:r>
          </a:p>
          <a:p>
            <a:r>
              <a:t>cache_read는 복사를 추가</a:t>
            </a:r>
          </a:p>
          <a:p>
            <a:r>
              <a:t>기존 입력을 cache buffer에 복사하고 소비자가 cache를 읽도록 바꿉니다. 어느 반복에 복사할지는 compute_at으로 별도 지정합니다.</a:t>
            </a:r>
          </a:p>
          <a:p/>
          <a:p>
            <a:r>
              <a:t>Compaction은 필요한 범위로 축소</a:t>
            </a:r>
          </a:p>
          <a:p>
            <a:r>
              <a:t>4×4 교육 예제에서 매번 두 행만 접근하면 cache allocation을 2×4로 줄일 수 있습니다. API 호출 직후 보이는 논리 shape와 최종 allocation은 다를 수 있습니다.</a:t>
            </a:r>
          </a:p>
          <a:p/>
          <a:p>
            <a:r>
              <a:t>set_scope와 cache_write도 다르다</a:t>
            </a:r>
          </a:p>
          <a:p>
            <a:r>
              <a:t>set_scope는 기존 buffer의 저장 scope를 바꿉니다. cache_write는 계산이 cache에 쓰고 원래 출력으로 복사하는 stage를 만듭니다. 둘을 같은 API로 읽지 않습니다.</a:t>
            </a:r>
          </a:p>
          <a:p/>
          <a:p>
            <a:r>
              <a:t>예제와 해석: FP32 accumulator는 unit 내부 상태로 내릴 수 있습니다. Scope 변경만 보고 전체 FP32 행렬을 SRAM에 저장한다고 판단하지 않습니다.</a:t>
            </a:r>
          </a:p>
          <a:p/>
          <a:p>
            <a:r>
              <a:t>근거 파일 (docs 기준):</a:t>
            </a:r>
          </a:p>
          <a:p>
            <a:r>
              <a:t>current/06_matmul_schedule.md</a:t>
            </a:r>
          </a:p>
          <a:p>
            <a:r>
              <a:t>examples/schedule_api/08_cache_read_compacted.py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schedule은 여러 선택 축을 조합합니다</a:t>
            </a:r>
          </a:p>
          <a:p/>
          <a:p>
            <a:r>
              <a:t>M/N panel, K chunk, M/N 순서, X/W 복사 위치를 조합합니다. Unit loop와 같은 축의 연속 loop는 실제 tile 순회와 복사 주기가 같을 때 합칩니다. 정렬된 rank-2 FP16 직접 입력은 동시 operand cache만으로 SRAM 초과를 증명하면 사전에 제외합니다. Padding·computed producer에는 이 제거 규칙을 적용하지 않습니다. 남은 후보는 실제 schedule·compaction·SRAM·codegen으로 검증합니다. 기본 성공 목표 8개·시도 64회이며 words 한도는 max(설정값, 기준 words×성공 목표)입니다. MetaSchedule ReplayFunc 탐색과 JSONDatabase trace 재사용은 선택형입니다. DB reuse는 trace를 검증해 적용하고 tune은 기존 승자보다 개선될 때만 기록을 추가합니다.</a:t>
            </a:r>
          </a:p>
          <a:p/>
          <a:p>
            <a:r>
              <a:t>슬라이드 본문:</a:t>
            </a:r>
          </a:p>
          <a:p>
            <a:r>
              <a:t>서로 독립적인 선택 축을 조합</a:t>
            </a:r>
          </a:p>
          <a:p>
            <a:r>
              <a:t>M/N panel, K chunk, 바깥·안쪽 M/N 순서와 X/W cache 위치를 조합합니다. Factor는 padding한 축 길이의 64배수 약수에서 만듭니다.</a:t>
            </a:r>
          </a:p>
          <a:p/>
          <a:p>
            <a:r>
              <a:t>중복과 확실한 SRAM 초과 제거</a:t>
            </a:r>
          </a:p>
          <a:p>
            <a:r>
              <a:t>실제 tile 순회·복사 주기가 같은 후보를 합칩니다. 정렬된 직접 입력은 두 operand cache만으로 용량 초과를 증명할 때 제외합니다. 나머지는 실제 SRAM 배치와 명령으로 검사합니다.</a:t>
            </a:r>
          </a:p>
          <a:p/>
          <a:p>
            <a:r>
              <a:t>탐색 예산과 기록 재사용</a:t>
            </a:r>
          </a:p>
          <a:p>
            <a:r>
              <a:t>기본 성공 목표 8개·시도 64회이며 words 한도는 커널 크기에 맞춰 늘립니다. 선택형 MetaSchedule은 ReplayFunc 탐색과 trace 저장·재생을 지원합니다.</a:t>
            </a:r>
          </a:p>
          <a:p/>
          <a:p>
            <a:r>
              <a:t>예제와 해석: 기존 기준 schedule도 비교용으로 유지합니다. 네 가지 고정 규칙만 고르는 구조도, 모든 가능한 조합을 끝까지 검사하는 구조도 아닙니다.</a:t>
            </a:r>
          </a:p>
          <a:p/>
          <a:p>
            <a:r>
              <a:t>근거 파일 (docs 기준):</a:t>
            </a:r>
          </a:p>
          <a:p>
            <a:r>
              <a:t>current/06_matmul_schedule.md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 MiB weight를 SRAM에 한 번에 넣지 않습니다</a:t>
            </a:r>
          </a:p>
          <a:p/>
          <a:p>
            <a:r>
              <a:t>실제 폭 MLP의 보존된 compile 기록에서 gate/up은 X 64×3072를 유지하고 W 3072×64를 교체했습니다. X는 384 KiB, W panel도 384 KiB입니다. 출력 열 tile은 128개이며 각 tile은 K 방향 48개 matrix 명령을 사용하므로 총 6144개입니다. Down은 W 8192×256, 즉 4 MiB panel을 사용하고 입력 H는 앞 커널에서 보관한 값을 사용합니다. 이 기록은 정적 compile이며 전체 모델 실행 결과와 구분합니다.</a:t>
            </a:r>
          </a:p>
          <a:p/>
          <a:p>
            <a:r>
              <a:t>슬라이드 본문:</a:t>
            </a:r>
          </a:p>
          <a:p>
            <a:r>
              <a:t>Gate/up은 작은 X를 오래 쓴다</a:t>
            </a:r>
          </a:p>
          <a:p>
            <a:r>
              <a:t>M=64에서 X[64,3072]는 384 KiB입니다. 이를 유지하고 W[3072,64] 384 KiB panel을 출력 열마다 바꾸는 선택이 기록되어 있습니다.</a:t>
            </a:r>
          </a:p>
          <a:p/>
          <a:p>
            <a:r>
              <a:t>한 출력 타일은 48번 누산</a:t>
            </a:r>
          </a:p>
          <a:p>
            <a:r>
              <a:t>K=3072이므로 3072/64=48개의 matrix 명령을 수행합니다. N=8192의 출력 열 타일 128개를 계산해 gate 전체에 6144개가 필요합니다.</a:t>
            </a:r>
          </a:p>
          <a:p/>
          <a:p>
            <a:r>
              <a:t>Down은 다른 panel을 사용한다</a:t>
            </a:r>
          </a:p>
          <a:p>
            <a:r>
              <a:t>기록된 down은 W[8192,256] 4 MiB를 유지하며 출력 64열 타일 네 개를 만듭니다. H 입력은 앞 kernel에서 SRAM에 남겨 전달합니다.</a:t>
            </a:r>
          </a:p>
          <a:p/>
          <a:p>
            <a:r>
              <a:t>예제와 해석: 이 수치는 실제 폭 MLP의 정적 compile 기록입니다. 선택 순서는 gate→SiLU→up→multiply→down이며 전체 checkpoint 실행 검증과 구분합니다.</a:t>
            </a:r>
          </a:p>
          <a:p/>
          <a:p>
            <a:r>
              <a:t>근거 파일 (docs 기준):</a:t>
            </a:r>
          </a:p>
          <a:p>
            <a:r>
              <a:t>current/06_matmul_schedule.md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SiLU 하나도 여러 vector 계산으로 펼쳐집니다</a:t>
            </a:r>
          </a:p>
          <a:p/>
          <a:p>
            <a:r>
              <a:t>SiLU는 x에 sigmoid(x)를 곱하는 계산입니다. 부호 반전, exp, 1 더하기, 역수, 마지막 곱으로 펼쳐지며 중간값을 SRAM에 저장합니다. Fusion했다고 activation bit 한 개로 바뀌는 것은 아닙니다. Softmax는 max, subtract, exp, sum, divide이고 sum 내부는 FP32, 저장 경계는 FP16입니다. RMSNorm은 큰 값의 제곱 overflow를 피하려고 absmax로 scale을 줄이는 NPU 정의를 사용합니다. Vector의 논리 길이와 물리 폭 256은 구분하며 실제 장치의 긴 VLEN 계약은 후속 확인 사항입니다.</a:t>
            </a:r>
          </a:p>
          <a:p/>
          <a:p>
            <a:r>
              <a:t>슬라이드 본문:</a:t>
            </a:r>
          </a:p>
          <a:p>
            <a:r>
              <a:t>SiLU는 다섯 단계의 수식</a:t>
            </a:r>
          </a:p>
          <a:p>
            <a:r>
              <a:t>-x, exp, 1 더하기, 역수, x와 곱하기로 펼쳐집니다. SiLU 하나를 ISA 명령 하나로 세거나 matmul activation bit 사용으로 이해하면 안 됩니다.</a:t>
            </a:r>
          </a:p>
          <a:p/>
          <a:p>
            <a:r>
              <a:t>중간값도 공간과 이동이 필요</a:t>
            </a:r>
          </a:p>
          <a:p>
            <a:r>
              <a:t>기본 FP16 vector 경로는 중간 결과를 SRAM scratch에 저장합니다. 같은 입력 x가 처음과 마지막에 필요하므로 그 수명과 cache 재사용을 함께 봅니다.</a:t>
            </a:r>
          </a:p>
          <a:p/>
          <a:p>
            <a:r>
              <a:t>연속 원소를 길게 처리한다</a:t>
            </a:r>
          </a:p>
          <a:p>
            <a:r>
              <a:t>가능한 pointwise 축을 fuse/split하여 짧은 vector 명령을 줄입니다. 비연속 stride·broadcast·겹치는 입출력은 검사하며 reduction 축을 임의로 합치지는 않습니다.</a:t>
            </a:r>
          </a:p>
          <a:p/>
          <a:p>
            <a:r>
              <a:t>예제와 해석: SRAM에 있는 입력은 LOAD→vector 연산→SAVE로 처리합니다. 이 이동은 DRAM DMA와 다른 비용입니다.</a:t>
            </a:r>
          </a:p>
          <a:p/>
          <a:p>
            <a:r>
              <a:t>근거 파일 (docs 기준):</a:t>
            </a:r>
          </a:p>
          <a:p>
            <a:r>
              <a:t>current/07_operators.md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256 lanes와 명령이 지정하는 VLEN을 구분합니다</a:t>
            </a:r>
          </a:p>
          <a:p/>
          <a:p>
            <a:r>
              <a:t>VLEN은 이번 논리 처리 길이 — 예를 들어 길이 1000의 원소별 연산을 지정할 수 있습니다. 물리 폭이 256이면 내부적으로 256+256+256+232로 처리한다는 계약을 전제로 합니다.</a:t>
            </a:r>
          </a:p>
          <a:p/>
          <a:p>
            <a:r>
              <a:t>항상 1024로 padding하지 않는다 — 유효 길이를 처리할 수 있다면 tail 232개만 계산하면 됩니다. 하지만 C-model이 배열로 길이 전체를 처리하는 사실은 실제 256-lane 하드웨어 구현의 증거가 아닙니다.</a:t>
            </a:r>
          </a:p>
          <a:p/>
          <a:p>
            <a:r>
              <a:t>성능과 reduction은 별도 문제 — VLEN=1024 한 명령과 VLEN=256 한 명령의 cycle이 같지는 않습니다. 행별 reduction을 단순히 256개씩 나누려면 부분 max/sum을 이어가는 설계도 필요합니다.</a:t>
            </a:r>
          </a:p>
          <a:p/>
          <a:p>
            <a:r>
              <a:t>긴 VLEN의 RTL LOAD/연산/SAVE·tail 계약은 후속 확인 사항입니다. 현재 ISA words만으로 lane 활용률이나 latency를 주장하지 않습니다.</a:t>
            </a:r>
          </a:p>
          <a:p/>
          <a:p>
            <a:r>
              <a:t>슬라이드 본문:</a:t>
            </a:r>
          </a:p>
          <a:p>
            <a:r>
              <a:t>VLEN은 이번 논리 처리 길이</a:t>
            </a:r>
          </a:p>
          <a:p>
            <a:r>
              <a:t>예를 들어 길이 1000의 원소별 연산을 지정할 수 있습니다. 물리 폭이 256이면 내부적으로 256+256+256+232로 처리한다는 계약을 전제로 합니다.</a:t>
            </a:r>
          </a:p>
          <a:p/>
          <a:p>
            <a:r>
              <a:t>항상 1024로 padding하지 않는다</a:t>
            </a:r>
          </a:p>
          <a:p>
            <a:r>
              <a:t>유효 길이를 처리할 수 있다면 tail 232개만 계산하면 됩니다. 하지만 C-model이 배열로 길이 전체를 처리하는 사실은 실제 256-lane 하드웨어 구현의 증거가 아닙니다.</a:t>
            </a:r>
          </a:p>
          <a:p/>
          <a:p>
            <a:r>
              <a:t>성능과 reduction은 별도 문제</a:t>
            </a:r>
          </a:p>
          <a:p>
            <a:r>
              <a:t>VLEN=1024 한 명령과 VLEN=256 한 명령의 cycle이 같지는 않습니다. 행별 reduction을 단순히 256개씩 나누려면 부분 max/sum을 이어가는 설계도 필요합니다.</a:t>
            </a:r>
          </a:p>
          <a:p/>
          <a:p>
            <a:r>
              <a:t>예제와 해석: 긴 VLEN의 RTL LOAD/연산/SAVE·tail 계약은 후속 확인 사항입니다. 현재 ISA words만으로 lane 활용률이나 latency를 주장하지 않습니다.</a:t>
            </a:r>
          </a:p>
          <a:p/>
          <a:p>
            <a:r>
              <a:t>근거 파일 (docs 기준):</a:t>
            </a:r>
          </a:p>
          <a:p>
            <a:r>
              <a:t>current/07_operators.md</a:t>
            </a:r>
          </a:p>
          <a:p>
            <a:r>
              <a:t>current/12_operations_limits.md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Softmax는 행 전체의 max와 sum을 사용하는 계산입니다</a:t>
            </a:r>
          </a:p>
          <a:p/>
          <a:p>
            <a:r>
              <a:t>Max를 빼서 exp를 안정화 — [2,1,0]에서 max=2를 빼 [0,-1,-2]를 만듭니다. Exp 결과는 [1,0.3679,0.1353]으로 큰 양수의 지수 overflow를 피합니다.</a:t>
            </a:r>
          </a:p>
          <a:p/>
          <a:p>
            <a:r>
              <a:t>FP32 누산과 FP16 저장을 구분 — Exp의 합은 내부에서 FP32로 누산하지만 저장된 합계와 다른 중간값은 FP16입니다. Softmax 전체를 FP32로 수행한다는 뜻이 아닙니다.</a:t>
            </a:r>
          </a:p>
          <a:p/>
          <a:p>
            <a:r>
              <a:t>지원 길이는 수치 계약에 포함 — 유한 logits에서 exp(x-max)≤1이므로 마지막 축 길이 1..65504를 허용합니다. 더 긴 행을 자동 online reduction으로 바꾸는 경로는 현재 없습니다.</a:t>
            </a:r>
          </a:p>
          <a:p/>
          <a:p>
            <a:r>
              <a:t>약 1.5032로 나누면 [0.6652,0.2447,0.0900]입니다. 그림의 십진수는 수식 설명용이며 bit-exact FP16 dump가 아닙니다.</a:t>
            </a:r>
          </a:p>
          <a:p/>
          <a:p>
            <a:r>
              <a:t>슬라이드 본문:</a:t>
            </a:r>
          </a:p>
          <a:p>
            <a:r>
              <a:t>Max를 빼서 exp를 안정화</a:t>
            </a:r>
          </a:p>
          <a:p>
            <a:r>
              <a:t>[2,1,0]에서 max=2를 빼 [0,-1,-2]를 만듭니다. Exp 결과는 [1,0.3679,0.1353]으로 큰 양수의 지수 overflow를 피합니다.</a:t>
            </a:r>
          </a:p>
          <a:p/>
          <a:p>
            <a:r>
              <a:t>FP32 누산과 FP16 저장을 구분</a:t>
            </a:r>
          </a:p>
          <a:p>
            <a:r>
              <a:t>Exp의 합은 내부에서 FP32로 누산하지만 저장된 합계와 다른 중간값은 FP16입니다. Softmax 전체를 FP32로 수행한다는 뜻이 아닙니다.</a:t>
            </a:r>
          </a:p>
          <a:p/>
          <a:p>
            <a:r>
              <a:t>지원 길이는 수치 계약에 포함</a:t>
            </a:r>
          </a:p>
          <a:p>
            <a:r>
              <a:t>유한 logits에서 exp(x-max)≤1이므로 마지막 축 길이 1..65504를 허용합니다. 더 긴 행을 자동 online reduction으로 바꾸는 경로는 현재 없습니다.</a:t>
            </a:r>
          </a:p>
          <a:p/>
          <a:p>
            <a:r>
              <a:t>예제와 해석: 약 1.5032로 나누면 [0.6652,0.2447,0.0900]입니다. 그림의 십진수는 수식 설명용이며 bit-exact FP16 dump가 아닙니다.</a:t>
            </a:r>
          </a:p>
          <a:p/>
          <a:p>
            <a:r>
              <a:t>근거 파일 (docs 기준):</a:t>
            </a:r>
          </a:p>
          <a:p>
            <a:r>
              <a:t>current/07_operators.md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RMSNorm은 제곱 전에 입력을 줄여 overflow를 피합니다</a:t>
            </a:r>
          </a:p>
          <a:p/>
          <a:p>
            <a:r>
              <a:t>FP32 합산만으로는 부족하다 — x=1000이면 x²=1000000이므로 FP16 저장 범위를 넘습니다. 이미 overflow한 제곱값을 나중에 FP32로 더해도 원래 값을 되살릴 수 없습니다.</a:t>
            </a:r>
          </a:p>
          <a:p/>
          <a:p>
            <a:r>
              <a:t>Legalize 단계에서 수식을 정의 — a=max(absmax(x),sqrt(eps))로 나누고 z=(x/a)/sqrt(width)를 제곱·합산합니다. 줄어든 epsilon도 반영하여 원래 수식의 scale을 복원합니다.</a:t>
            </a:r>
          </a:p>
          <a:p/>
          <a:p>
            <a:r>
              <a:t>수학적 등가와 FP16 결과는 다르다 — 실수 수학에서는 같은 식이지만 중간 FP16 반올림 때문에 target 근사입니다. Schedule이 임의로 정밀도를 개선하는 변환이 아니며 모델 기준과 별도로 검증합니다.</a:t>
            </a:r>
          </a:p>
          <a:p/>
          <a:p>
            <a:r>
              <a:t>u=x/a, s=sum((u/sqrt(width))²), y=u / sqrt(s+(sqrt(eps)/a)²) × weight. 합산 내부는 FP32입니다.</a:t>
            </a:r>
          </a:p>
          <a:p/>
          <a:p>
            <a:r>
              <a:t>슬라이드 본문:</a:t>
            </a:r>
          </a:p>
          <a:p>
            <a:r>
              <a:t>FP32 합산만으로는 부족하다</a:t>
            </a:r>
          </a:p>
          <a:p>
            <a:r>
              <a:t>x=1000이면 x²=1000000이므로 FP16 저장 범위를 넘습니다. 이미 overflow한 제곱값을 나중에 FP32로 더해도 원래 값을 되살릴 수 없습니다.</a:t>
            </a:r>
          </a:p>
          <a:p/>
          <a:p>
            <a:r>
              <a:t>Legalize 단계에서 수식을 정의</a:t>
            </a:r>
          </a:p>
          <a:p>
            <a:r>
              <a:t>a=max(absmax(x),sqrt(eps))로 나누고 z=(x/a)/sqrt(width)를 제곱·합산합니다. 줄어든 epsilon도 반영하여 원래 수식의 scale을 복원합니다.</a:t>
            </a:r>
          </a:p>
          <a:p/>
          <a:p>
            <a:r>
              <a:t>수학적 등가와 FP16 결과는 다르다</a:t>
            </a:r>
          </a:p>
          <a:p>
            <a:r>
              <a:t>실수 수학에서는 같은 식이지만 중간 FP16 반올림 때문에 target 근사입니다. Schedule이 임의로 정밀도를 개선하는 변환이 아니며 모델 기준과 별도로 검증합니다.</a:t>
            </a:r>
          </a:p>
          <a:p/>
          <a:p>
            <a:r>
              <a:t>예제와 해석: u=x/a, s=sum((u/sqrt(width))²), y=u / sqrt(s+(sqrt(eps)/a)²) × weight. 합산 내부는 FP32입니다.</a:t>
            </a:r>
          </a:p>
          <a:p/>
          <a:p>
            <a:r>
              <a:t>근거 파일 (docs 기준):</a:t>
            </a:r>
          </a:p>
          <a:p>
            <a:r>
              <a:t>current/07_operators.md</a:t>
            </a:r>
          </a:p>
          <a:p>
            <a:r>
              <a:t>current/04_semantic_tir.md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RoPE는 Q/K를 회전하고 GQA는 KV head를 공유합니다</a:t>
            </a:r>
          </a:p>
          <a:p/>
          <a:p>
            <a:r>
              <a:t>같은 head의 두 절반을 짝짓는다 — Head dimension 128을 a와 b의 64개 원소씩 나눕니다. 새 a=a·cos-b·sin, 새 b=b·cos+a·sin으로 회전하고 V에는 적용하지 않습니다.</a:t>
            </a:r>
          </a:p>
          <a:p/>
          <a:p>
            <a:r>
              <a:t>Position별 cos/sin은 host 준비 — 모델의 RoPE 설정과 현재 position을 사용합니다. 지원하는 default/linear/llama3 설정을 확인하며 알 수 없는 필드를 조용히 근사하지 않습니다.</a:t>
            </a:r>
          </a:p>
          <a:p/>
          <a:p>
            <a:r>
              <a:t>24 Q heads가 8 KV heads 공유 — KV head 하나를 세 Q heads가 사용합니다. Persistent cache 자체를 Q head 수만큼 복제할 필요는 없으며 repeat→broadcast matmul 변환도 후보로 검토합니다.</a:t>
            </a:r>
          </a:p>
          <a:p/>
          <a:p>
            <a:r>
              <a:t>Reshape가 view인 경우가 있어도 transpose·concat·repeat가 모두 복사 없는 연산인 것은 아닙니다. 실제 IR와 선택 결과를 확인합니다.</a:t>
            </a:r>
          </a:p>
          <a:p/>
          <a:p>
            <a:r>
              <a:t>슬라이드 본문:</a:t>
            </a:r>
          </a:p>
          <a:p>
            <a:r>
              <a:t>같은 head의 두 절반을 짝짓는다</a:t>
            </a:r>
          </a:p>
          <a:p>
            <a:r>
              <a:t>Head dimension 128을 a와 b의 64개 원소씩 나눕니다. 새 a=a·cos-b·sin, 새 b=b·cos+a·sin으로 회전하고 V에는 적용하지 않습니다.</a:t>
            </a:r>
          </a:p>
          <a:p/>
          <a:p>
            <a:r>
              <a:t>Position별 cos/sin은 host 준비</a:t>
            </a:r>
          </a:p>
          <a:p>
            <a:r>
              <a:t>모델의 RoPE 설정과 현재 position을 사용합니다. 지원하는 default/linear/llama3 설정을 확인하며 알 수 없는 필드를 조용히 근사하지 않습니다.</a:t>
            </a:r>
          </a:p>
          <a:p/>
          <a:p>
            <a:r>
              <a:t>24 Q heads가 8 KV heads 공유</a:t>
            </a:r>
          </a:p>
          <a:p>
            <a:r>
              <a:t>KV head 하나를 세 Q heads가 사용합니다. Persistent cache 자체를 Q head 수만큼 복제할 필요는 없으며 repeat→broadcast matmul 변환도 후보로 검토합니다.</a:t>
            </a:r>
          </a:p>
          <a:p/>
          <a:p>
            <a:r>
              <a:t>예제와 해석: Reshape가 view인 경우가 있어도 transpose·concat·repeat가 모두 복사 없는 연산인 것은 아닙니다. 실제 IR와 선택 결과를 확인합니다.</a:t>
            </a:r>
          </a:p>
          <a:p/>
          <a:p>
            <a:r>
              <a:t>근거 파일 (docs 기준):</a:t>
            </a:r>
          </a:p>
          <a:p>
            <a:r>
              <a:t>current/07_operators.md</a:t>
            </a:r>
          </a:p>
          <a:p>
            <a:r>
              <a:t>current/02_model_relax.md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attention fusion은 query 행을 나눕니다</a:t>
            </a:r>
          </a:p>
          <a:p/>
          <a:p>
            <a:r>
              <a:t>현재 full-attention schedule은 query 일부 행과 모든 key context의 scores를 만듭니다. S=3072, Q head 24개의 score 전체는 FP16 432 MiB입니다. Head 하나의 query 64행 score는 384 KiB로 줄지만 K/V와 mask, probabilities, output, scratch도 필요합니다. Key까지 나누어 최대값과 합계를 보정하는 online softmax는 구현되어 있지 않습니다. 정적 rank-3와 64배수 등의 조건이 있어 decode query 길이 1은 그대로 full pattern을 만족하지 않습니다. 후보가 존재하는 것과 실제 전체 Llama에서 선택되는 것은 다릅니다.</a:t>
            </a:r>
          </a:p>
          <a:p/>
          <a:p>
            <a:r>
              <a:t>슬라이드 본문:</a:t>
            </a:r>
          </a:p>
          <a:p>
            <a:r>
              <a:t>전체 score를 만들면 매우 크다</a:t>
            </a:r>
          </a:p>
          <a:p>
            <a:r>
              <a:t>S=3072, 24 heads에서 FP16 score 전체는 432 MiB입니다. Full-attention 후보는 query 일부 행의 score를 만들어 softmax와 PV에서 바로 소비합니다.</a:t>
            </a:r>
          </a:p>
          <a:p/>
          <a:p>
            <a:r>
              <a:t>한 행의 key 방향은 유지한다</a:t>
            </a:r>
          </a:p>
          <a:p>
            <a:r>
              <a:t>Head 하나의 query 64행 score는 64×3072×2=384 KiB입니다. 이외 K/V·mask·확률·출력·scratch도 SRAM에 필요합니다.</a:t>
            </a:r>
          </a:p>
          <a:p/>
          <a:p>
            <a:r>
              <a:t>FlashAttention과 다른 범위</a:t>
            </a:r>
          </a:p>
          <a:p>
            <a:r>
              <a:t>현재는 query 묶음을 줄여 공간에 맞춥니다. Key를 나누면서 max/sum/output을 보정하는 online softmax는 없고, decode query=1은 full-pattern 조건을 그대로 만족하지 않습니다.</a:t>
            </a:r>
          </a:p>
          <a:p/>
          <a:p>
            <a:r>
              <a:t>예제와 해석: 384 KiB는 score 조각 하나의 크기입니다. 전체 kernel의 SRAM 요구량이나 모든 shape에서 full fusion이 선택된다는 뜻이 아닙니다.</a:t>
            </a:r>
          </a:p>
          <a:p/>
          <a:p>
            <a:r>
              <a:t>근거 파일 (docs 기준):</a:t>
            </a:r>
          </a:p>
          <a:p>
            <a:r>
              <a:t>current/07_operators.md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메모리 계획이 서로 다른 범위를 봅니다</a:t>
            </a:r>
          </a:p>
          <a:p/>
          <a:p>
            <a:r>
              <a:t>기본 DRAM plan은 Relax의 allocation과 수명을 TVM StaticPlanBlockMemory로 정리한 결과에 flat 주소를 부여합니다. 커널 내부 SRAM은 scheduled TIR의 allocation 충돌을 USMP로 분석하여 주소를 공유합니다. 커널 사이 보관은 NPU가 전체 호출의 값 버전과 마지막 소비를 보고 고릅니다. 하나의 분석이 세 범위를 모두 대신하는 것은 아닙니다. USMP는 Unified Static Memory Planning이며 runtime GC나 KV cache eviction 정책을 의미하지 않습니다.</a:t>
            </a:r>
          </a:p>
          <a:p/>
          <a:p>
            <a:r>
              <a:t>슬라이드 본문:</a:t>
            </a:r>
          </a:p>
          <a:p>
            <a:r>
              <a:t>Relax에서 기본 DRAM 재사용</a:t>
            </a:r>
          </a:p>
          <a:p>
            <a:r>
              <a:t>CallTIRRewrite로 allocation과 호출을 드러낸 뒤 StaticPlanBlockMemory가 수명이 겹치지 않는 tensor에 storage pool을 공유시킵니다.</a:t>
            </a:r>
          </a:p>
          <a:p/>
          <a:p>
            <a:r>
              <a:t>TIR에서 kernel 내부 SRAM 배치</a:t>
            </a:r>
          </a:p>
          <a:p>
            <a:r>
              <a:t>USMP는 임시 buffer가 동시에 사용되는지 분석합니다. Backend는 그 결과와 정렬·상수·장치 상태의 보호 조건을 반영해 byte offset을 정합니다.</a:t>
            </a:r>
          </a:p>
          <a:p/>
          <a:p>
            <a:r>
              <a:t>호출 사이에서는 보관을 선택</a:t>
            </a:r>
          </a:p>
          <a:p>
            <a:r>
              <a:t>NPU memory search가 중간 tensor를 마지막 소비까지 SRAM에 남길지 비교합니다. 보관 공간을 예약한 나머지 용량으로 각 kernel을 schedule합니다.</a:t>
            </a:r>
          </a:p>
          <a:p/>
          <a:p>
            <a:r>
              <a:t>예제와 해석: USMP는 정적 allocation 분석·배치 도구입니다. Runtime GC나 persistent KV 관리, 전체 그래프의 SRAM 보관 정책을 자동으로 만들지는 않습니다.</a:t>
            </a:r>
          </a:p>
          <a:p/>
          <a:p>
            <a:r>
              <a:t>근거 파일 (docs 기준):</a:t>
            </a:r>
          </a:p>
          <a:p>
            <a:r>
              <a:t>current/08_memory.md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마지막으로 쓰인 뒤에 공간을 재사용합니다</a:t>
            </a:r>
          </a:p>
          <a:p/>
          <a:p>
            <a:r>
              <a:t>표에서 색칠된 구간은 값이 생성되거나 사용되는 계산 단계입니다. G는 SiLU 뒤 죽고 S는 multiply까지 필요합니다. U도 multiply까지, H는 down까지 필요합니다. G를 U로 변환하는 것이 아니라 필요 없어진 G의 공간에 새 U를 쓸 수 있다는 뜻입니다. 실제 물리 배치는 크기, 정렬, 입력 X, weight panel, scratch, pinned accumulator까지 확인합니다. 그림은 주요 중간값의 수명 설명이며 실제 allocator가 이 막대의 모든 주소를 그대로 공유한다는 보장은 아닙니다.</a:t>
            </a:r>
          </a:p>
          <a:p/>
          <a:p>
            <a:r>
              <a:t>슬라이드 본문:</a:t>
            </a:r>
          </a:p>
          <a:p>
            <a:r>
              <a:t>수명의 끝은 마지막 읽기</a:t>
            </a:r>
          </a:p>
          <a:p>
            <a:r>
              <a:t>G는 SiLU가 끝나면 필요 없지만 S는 up을 계산하는 동안에도 살아 있어야 합니다. H는 down이 소비할 때까지 유지합니다.</a:t>
            </a:r>
          </a:p>
          <a:p/>
          <a:p>
            <a:r>
              <a:t>공간 재사용은 값의 변환이 아니다</a:t>
            </a:r>
          </a:p>
          <a:p>
            <a:r>
              <a:t>G가 죽은 공간에 U를 써도 되는 것은 G의 옛 비트가 더 이상 필요 없기 때문입니다. 크기와 정렬이 맞는지 확인하고 살아 있는 값끼리는 겹치지 않습니다.</a:t>
            </a:r>
          </a:p>
          <a:p/>
          <a:p>
            <a:r>
              <a:t>단순 크기 합보다 peak가 커질 수 있다</a:t>
            </a:r>
          </a:p>
          <a:p>
            <a:r>
              <a:t>Weight panel·임시값·정렬·빈 공간도 필요합니다. 현재 호출 순서를 바꾸거나 tensor 일부만 남기는 정책은 없으며 큰 값은 DRAM 경로를 선택할 수 있습니다.</a:t>
            </a:r>
          </a:p>
          <a:p/>
          <a:p>
            <a:r>
              <a:t>예제와 해석: M=64 Llama MLP에서 G/S/U/H는 각각 1 MiB입니다. Residual도 마지막 add까지의 실제 수명과 작업 공간을 함께 평가합니다.</a:t>
            </a:r>
          </a:p>
          <a:p/>
          <a:p>
            <a:r>
              <a:t>근거 파일 (docs 기준):</a:t>
            </a:r>
          </a:p>
          <a:p>
            <a:r>
              <a:t>current/08_memory.md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커널을 나누어도 H를 SRAM에 계속 둘 수 있습니다</a:t>
            </a:r>
          </a:p>
          <a:p/>
          <a:p>
            <a:r>
              <a:t>이것은 문서의 실제 77-word 프로그램 배치입니다. 첫 커널은 X와 W1을 사용해 H를 직접 보관 영역에 씁니다. 두 번째 커널은 H를 같은 주소에서 읽고 W1 공간에 W2를 올립니다. X 공간도 더 이상 필요 없으므로 Y 작업 공간에 재사용합니다. H의 DRAM 저장과 재읽기가 없습니다. SRAM peak는 42508 bytes, capacity는 45056 bytes이며 낮은 주소에 constants와 scratch가 있습니다.</a:t>
            </a:r>
          </a:p>
          <a:p/>
          <a:p>
            <a:r>
              <a:t>슬라이드 본문:</a:t>
            </a:r>
          </a:p>
          <a:p>
            <a:r>
              <a:t>두 kernel이 같은 H 주소를 공유</a:t>
            </a:r>
          </a:p>
          <a:p>
            <a:r>
              <a:t>첫 matmul이 H[64,128]을 SRAM에 만들고, 두 번째가 그 주소를 입력으로 읽습니다. H를 위한 DRAM 저장과 재읽기가 모두 사라집니다.</a:t>
            </a:r>
          </a:p>
          <a:p/>
          <a:p>
            <a:r>
              <a:t>작업 공간은 kernel마다 바뀐다</a:t>
            </a:r>
          </a:p>
          <a:p>
            <a:r>
              <a:t>X가 죽은 공간은 두 번째 kernel의 Y 작업 공간으로, W1 공간은 W2로 재사용합니다. H 영역은 두 kernel 사이에서 계속 유효하게 유지합니다.</a:t>
            </a:r>
          </a:p>
          <a:p/>
          <a:p>
            <a:r>
              <a:t>보관은 남은 용량으로 검증</a:t>
            </a:r>
          </a:p>
          <a:p>
            <a:r>
              <a:t>44 KiB 예제의 실제 peak는 42508 bytes입니다. H 16 KiB 외에 상수·scratch·현재 입력과 weight가 함께 들어가는지 확인한 뒤 선택합니다.</a:t>
            </a:r>
          </a:p>
          <a:p/>
          <a:p>
            <a:r>
              <a:t>예제와 해석: 주소 단위는 bytes입니다: X=1548, W1=9740, H=26124. 상수와 scratch 때문에 tensor가 SRAM 주소 0에서 시작하지 않습니다.</a:t>
            </a:r>
          </a:p>
          <a:p/>
          <a:p>
            <a:r>
              <a:t>근거 파일 (docs 기준):</a:t>
            </a:r>
          </a:p>
          <a:p>
            <a:r>
              <a:t>current/08_memory.md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H에 직접 쓰고, 쓰지 않는 DRAM 예약을 없앱니다</a:t>
            </a:r>
          </a:p>
          <a:p/>
          <a:p>
            <a:r>
              <a:t>기존에는 64×64 임시 출력 tile에 SAVE하고 H로 다시 복사했습니다. 지금은 H의 부분 영역을 가리켜 직접 SAVE할 수 있습니다. H[64,128]의 오른쪽 64열은 base+128 bytes이고 row stride는 256 bytes입니다. K 중간 부분합을 H에 쓰는 것이 아니라 완성된 FP16 출력을 저장합니다. SRAM-only 전달 뒤 완전히 쓰지 않는 DRAM pool은 제거하고 주소와 metadata를 함께 수정합니다. 다른 값이 같은 pool을 사용하는 경우에는 남기며 pool 내부를 새 allocator로 재분할하는 기능은 아닙니다.</a:t>
            </a:r>
          </a:p>
          <a:p/>
          <a:p>
            <a:r>
              <a:t>슬라이드 본문:</a:t>
            </a:r>
          </a:p>
          <a:p>
            <a:r>
              <a:t>SAVE 대상을 H의 부분 영역으로</a:t>
            </a:r>
          </a:p>
          <a:p>
            <a:r>
              <a:t>별도 64×64 출력 tile에 저장한 뒤 복사하는 대신 H의 왼쪽/오른쪽 64열에 직접 SAVE합니다. 전체 K 누산을 마친 값의 저장 위치만 바꿉니다.</a:t>
            </a:r>
          </a:p>
          <a:p/>
          <a:p>
            <a:r>
              <a:t>열 tile은 행 stride를 유지</a:t>
            </a:r>
          </a:p>
          <a:p>
            <a:r>
              <a:t>H[64,128] FP16의 한 행은 256 bytes입니다. 오른쪽 tile 시작은 H+128 bytes이며 H+8192가 아닙니다. Tile 전체가 연속한 덩어리라고 가정하면 틀립니다.</a:t>
            </a:r>
          </a:p>
          <a:p/>
          <a:p>
            <a:r>
              <a:t>완전히 안 쓰는 DRAM pool 제거</a:t>
            </a:r>
          </a:p>
          <a:p>
            <a:r>
              <a:t>SRAM-only 전달이 확정된 뒤 어디에서도 쓰지 않는 pool을 없앱니다. 남은 DMA·I/O·상수·cache 주소 기준도 함께 갱신합니다. 일부가 쓰이는 pool은 유지합니다.</a:t>
            </a:r>
          </a:p>
          <a:p/>
          <a:p>
            <a:r>
              <a:t>예제와 해석: 보존된 두 matmul 비교: words 85→77, image 65548→49164 bytes. DMA와 SRAM peak는 같고 출력은 bit-exact입니다.</a:t>
            </a:r>
          </a:p>
          <a:p/>
          <a:p>
            <a:r>
              <a:t>근거 파일 (docs 기준):</a:t>
            </a:r>
          </a:p>
          <a:p>
            <a:r>
              <a:t>current/08_memory.md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TIR의 계산과 복사를 실제 명령으로 펼칩니다</a:t>
            </a:r>
          </a:p>
          <a:p/>
          <a:p>
            <a:r>
              <a:t>Codegen은 BufferLoad/Store를 실제 주소로 바꾸고 tensorized matmul을 descriptor와 LOAD, M_MUL, SAVE로 펼칩니다. Python walker와 C++ native walker가 같은 계약을 따릅니다. 주소 단위를 확인해야 합니다. 기본 plan 주소는 2-byte 단위, DMA global은 4-byte cell, SRAM은 nibble 주소입니다. 실제 77-word 예제는 DMA 5개가 4 words씩, 나머지 57개가 1 word씩이라 62개 명령입니다.</a:t>
            </a:r>
          </a:p>
          <a:p/>
          <a:p>
            <a:r>
              <a:t>슬라이드 본문:</a:t>
            </a:r>
          </a:p>
          <a:p>
            <a:r>
              <a:t>Tensorize는 intrinsic 호출을 만든다</a:t>
            </a:r>
          </a:p>
          <a:p>
            <a:r>
              <a:t>수식·dtype·scope가 맞는 64×64 block을 npu_gemm_acc 같은 호출로 바꿉니다. 이 호출 자체는 아직 최종 opcode나 program word가 아닙니다.</a:t>
            </a:r>
          </a:p>
          <a:p/>
          <a:p>
            <a:r>
              <a:t>Codegen은 descriptor와 명령을 만든다</a:t>
            </a:r>
          </a:p>
          <a:p>
            <a:r>
              <a:t>MAIN/PARTIAL descriptor에 shape·stride·접근 영역을 설정하고 LOAD, MAC bit를 가진 M_MUL, SAVE로 펼칩니다. 복사 block은 DMA나 SRAM 이동이 됩니다.</a:t>
            </a:r>
          </a:p>
          <a:p/>
          <a:p>
            <a:r>
              <a:t>Linker는 실제 상태를 보며 정리</a:t>
            </a:r>
          </a:p>
          <a:p>
            <a:r>
              <a:t>Kernel을 호출 순서로 연결하고 주소의 읽기·쓰기 효과를 추적합니다. 같은 명령이 반복되어도 중간 값이 덮어써졌으면 무조건 지울 수 없습니다.</a:t>
            </a:r>
          </a:p>
          <a:p/>
          <a:p>
            <a:r>
              <a:t>예제와 해석: 77 words 예제는 62개 명령입니다. DMA 한 개가 4 words이므로 저장 word 수와 실행 instruction 수가 다릅니다.</a:t>
            </a:r>
          </a:p>
          <a:p/>
          <a:p>
            <a:r>
              <a:t>근거 파일 (docs 기준):</a:t>
            </a:r>
          </a:p>
          <a:p>
            <a:r>
              <a:t>current/09_isa.md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주소 숫자도 필드마다 단위가 다릅니다</a:t>
            </a:r>
          </a:p>
          <a:p/>
          <a:p>
            <a:r>
              <a:t>SRAM 필드는 nibble 단위 — 첫 word의 SRAM 필드는 0xC18=3096입니다. Nibble은 반 byte이므로 byte 주소는 3096÷2=1548로, 실제 X의 배치와 일치합니다.</a:t>
            </a:r>
          </a:p>
          <a:p/>
          <a:p>
            <a:r>
              <a:t>DMA global 쪽은 32-bit cell — 이 packet의 global 시작은 0 cell, 전송량은 0x800=2048 cells입니다. 2048×4=8192 bytes를 DRAM에서 SRAM으로 가져옵니다.</a:t>
            </a:r>
          </a:p>
          <a:p/>
          <a:p>
            <a:r>
              <a:t>Plan과 shape도 따로 해석 — 기본 plan.address는 2-byte unit, shape/row stride는 element 단위입니다. FP16 stride 128은 256 bytes이며 단위를 섞으면 2배·4배 주소 오류가 납니다.</a:t>
            </a:r>
          </a:p>
          <a:p/>
          <a:p>
            <a:r>
              <a:t>Packet @ word offset 8: 000c18a0 00000000 00000800 00010800. 이 예의 opcode A0는 GLOAD입니다.</a:t>
            </a:r>
          </a:p>
          <a:p/>
          <a:p>
            <a:r>
              <a:t>슬라이드 본문:</a:t>
            </a:r>
          </a:p>
          <a:p>
            <a:r>
              <a:t>SRAM 필드는 nibble 단위</a:t>
            </a:r>
          </a:p>
          <a:p>
            <a:r>
              <a:t>첫 word의 SRAM 필드는 0xC18=3096입니다. Nibble은 반 byte이므로 byte 주소는 3096÷2=1548로, 실제 X의 배치와 일치합니다.</a:t>
            </a:r>
          </a:p>
          <a:p/>
          <a:p>
            <a:r>
              <a:t>DMA global 쪽은 32-bit cell</a:t>
            </a:r>
          </a:p>
          <a:p>
            <a:r>
              <a:t>이 packet의 global 시작은 0 cell, 전송량은 0x800=2048 cells입니다. 2048×4=8192 bytes를 DRAM에서 SRAM으로 가져옵니다.</a:t>
            </a:r>
          </a:p>
          <a:p/>
          <a:p>
            <a:r>
              <a:t>Plan과 shape도 따로 해석</a:t>
            </a:r>
          </a:p>
          <a:p>
            <a:r>
              <a:t>기본 plan.address는 2-byte unit, shape/row stride는 element 단위입니다. FP16 stride 128은 256 bytes이며 단위를 섞으면 2배·4배 주소 오류가 납니다.</a:t>
            </a:r>
          </a:p>
          <a:p/>
          <a:p>
            <a:r>
              <a:t>예제와 해석: Packet @ word offset 8: 000c18a0 00000000 00000800 00010800. 이 예의 opcode A0는 GLOAD입니다.</a:t>
            </a:r>
          </a:p>
          <a:p/>
          <a:p>
            <a:r>
              <a:t>근거 파일 (docs 기준):</a:t>
            </a:r>
          </a:p>
          <a:p>
            <a:r>
              <a:t>current/09_isa.md</a:t>
            </a:r>
          </a:p>
          <a:p>
            <a:r>
              <a:t>examples/two_matmuls_recorded/program.json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명령과 메모리 계약을 함께 내보냅니다</a:t>
            </a:r>
          </a:p>
          <a:p/>
          <a:p>
            <a:r>
              <a:t>program_memory.bin에는 명령, program.json에는 주소/통계/선택/출력 ABI/provenance가 있습니다. lowered.py와 scheduled TIR는 계산과 선택된 배치를 설명합니다. values를 지정하면 초기 DRAM image도 저장합니다. Binary만으로는 weight와 입력 위치를 알 수 없으므로 plan이 함께 필요합니다. 현재 export_bundle의 scheduled dump는 joint-memory 경로이며 단일 fused 예제는 실제 cached recipe에서 별도로 꺼냈습니다. Hardware cycle 추정치를 이 bundle이 제공하는 것은 아닙니다.</a:t>
            </a:r>
          </a:p>
          <a:p/>
          <a:p>
            <a:r>
              <a:t>슬라이드 본문:</a:t>
            </a:r>
          </a:p>
          <a:p>
            <a:r>
              <a:t>명령과 값은 별도 파일</a:t>
            </a:r>
          </a:p>
          <a:p>
            <a:r>
              <a:t>program_memory.bin은 명령 stream이고 global_memory.bin은 입력·weight를 넣은 초기 DRAM image입니다. Binary만으로 결과를 재현할 수는 없습니다.</a:t>
            </a:r>
          </a:p>
          <a:p/>
          <a:p>
            <a:r>
              <a:t>Plan은 서로의 연결 계약</a:t>
            </a:r>
          </a:p>
          <a:p>
            <a:r>
              <a:t>program.json은 주소·통계·선택 진단과 출력 tree의 shape/dtype/offset을 담습니다. Runtime은 이 정보를 따라 값을 넣고 결과를 읽습니다.</a:t>
            </a:r>
          </a:p>
          <a:p/>
          <a:p>
            <a:r>
              <a:t>IR dump로 선택 이유를 추적</a:t>
            </a:r>
          </a:p>
          <a:p>
            <a:r>
              <a:t>lowered.py는 선택된 계산, scheduled 파일은 실제 호출의 배치를 설명합니다. 작은 fused 예제는 실제 cache recipe에서 dump하여 선택 결과와 연결했습니다.</a:t>
            </a:r>
          </a:p>
          <a:p/>
          <a:p>
            <a:r>
              <a:t>예제와 해석: 재현에 필요한 묶음: 같은 명령 + 같은 plan + signature에 맞는 입력/weight + 같은 실행 계약. Words는 cycle 추정값이 아닙니다.</a:t>
            </a:r>
          </a:p>
          <a:p/>
          <a:p>
            <a:r>
              <a:t>근거 파일 (docs 기준):</a:t>
            </a:r>
          </a:p>
          <a:p>
            <a:r>
              <a:t>current/09_isa.md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Prefill 이후에는 새 token 하나씩 처리합니다</a:t>
            </a:r>
          </a:p>
          <a:p/>
          <a:p>
            <a:r>
              <a:t>Prefill은 prompt 전체를 처리해 첫 생성 token을 예측합니다. 그 token의 embedding을 decode 입력으로 넣으면 다음 token을 예측합니다. Greedy argmax는 host에서 수행합니다. 마지막으로 예측한 token은 아직 NPU 입력으로 처리하지 않았으므로 그 token의 KV가 cache에 없을 수 있습니다. 예제의 prompt는 7 tokens이고 총 3개를 생성하기 위해 prefill 한 번, decode 두 번을 실행했습니다.</a:t>
            </a:r>
          </a:p>
          <a:p/>
          <a:p>
            <a:r>
              <a:t>슬라이드 본문:</a:t>
            </a:r>
          </a:p>
          <a:p>
            <a:r>
              <a:t>Prefill이 첫 token을 예측</a:t>
            </a:r>
          </a:p>
          <a:p>
            <a:r>
              <a:t>Host가 prompt의 embedding·cos/sin·mask를 준비하면 NPU가 28 layers와 LM head를 계산합니다. Logits의 greedy argmax는 host가 고릅니다.</a:t>
            </a:r>
          </a:p>
          <a:p/>
          <a:p>
            <a:r>
              <a:t>Decode 입력은 방금 예측한 token</a:t>
            </a:r>
          </a:p>
          <a:p>
            <a:r>
              <a:t>첫 예측 358을 position 7에 넣어 다음 token 2846을 얻습니다. 다시 2846을 position 8에 넣어 4560을 얻습니다.</a:t>
            </a:r>
          </a:p>
          <a:p/>
          <a:p>
            <a:r>
              <a:t>예측과 cache 반영 시점이 다르다</a:t>
            </a:r>
          </a:p>
          <a:p>
            <a:r>
              <a:t>마지막 4560은 아직 NPU 입력으로 처리하지 않았으므로 그 token의 K/V는 없습니다. 생성 3개에 필요한 호출은 prefill 1회와 decode 2회입니다.</a:t>
            </a:r>
          </a:p>
          <a:p/>
          <a:p>
            <a:r>
              <a:t>예제와 해석: 보존된 prompt “Hello, NPU compiler!”는 7 tokens이며, 생성 문자열은 “ I'm trying”입니다.</a:t>
            </a:r>
          </a:p>
          <a:p/>
          <a:p>
            <a:r>
              <a:t>근거 파일 (docs 기준):</a:t>
            </a:r>
          </a:p>
          <a:p>
            <a:r>
              <a:t>current/10_runtime_llama.md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 capacity와 현재 유효 길이는 다릅니다</a:t>
            </a:r>
          </a:p>
          <a:p/>
          <a:p>
            <a:r>
              <a:t>Decode 계산은 기존 capacity C개 슬롯과 현재 token 하나를 연결해 C+1 길이로 수행합니다. 과거 0~6은 유효하고 7,8은 빈 슬롯이며 현재 token은 attention 입력의 임시 위치 9에 있습니다. Mask가 빈 슬롯을 제외합니다. 현재 K/V를 persistent cache에 기록할 때의 위치는 C가 아니라 L=7입니다. 다음 step에서는 L=8입니다. 고정 shape를 재사용해도 빈 슬롯의 연산이 자동으로 생략되는 것은 아닙니다.</a:t>
            </a:r>
          </a:p>
          <a:p/>
          <a:p>
            <a:r>
              <a:t>슬라이드 본문:</a:t>
            </a:r>
          </a:p>
          <a:p>
            <a:r>
              <a:t>C는 고정 shape, L은 현재 길이</a:t>
            </a:r>
          </a:p>
          <a:p>
            <a:r>
              <a:t>Decode attention은 기존 C개 cache 슬롯과 현재 token 하나를 논리적으로 연결한 C+1 길이입니다. Step마다 L만 늘어도 계산 shape는 같습니다.</a:t>
            </a:r>
          </a:p>
          <a:p/>
          <a:p>
            <a:r>
              <a:t>빈 슬롯은 mask로 기여를 막는다</a:t>
            </a:r>
          </a:p>
          <a:p>
            <a:r>
              <a:t>C=9, L=7이면 0..6과 현재 위치 9는 유효하고 7,8은 제외합니다. Mask는 기여를 막지만 해당 위치의 모든 계산을 동적으로 생략하지는 않습니다.</a:t>
            </a:r>
          </a:p>
          <a:p/>
          <a:p>
            <a:r>
              <a:t>저장할 위치는 첫 빈 슬롯 L</a:t>
            </a:r>
          </a:p>
          <a:p>
            <a:r>
              <a:t>현재 token은 이번 attention의 임시 위치 C에 있지만 persistent cache에는 L=7에 기록합니다. 다음 step은 L=8에 쓰며 같은 base 프로그램을 재사용합니다.</a:t>
            </a:r>
          </a:p>
          <a:p/>
          <a:p>
            <a:r>
              <a:t>예제와 해석: C를 늘리면 재컴파일 없이 처리할 길이가 늘지만 빈 슬롯 계산도 늘 수 있습니다. 여러 capacity bucket은 이 교환 관계를 조절합니다.</a:t>
            </a:r>
          </a:p>
          <a:p/>
          <a:p>
            <a:r>
              <a:t>근거 파일 (docs 기준):</a:t>
            </a:r>
          </a:p>
          <a:p>
            <a:r>
              <a:t>current/10_runtime_llama.md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K/V의 실제 이동은 NPU DMA가 수행합니다</a:t>
            </a:r>
          </a:p>
          <a:p/>
          <a:p>
            <a:r>
              <a:t>Prefill에서 decode capacity 배열을 초기화할 때는 host가 K/V를 복사합니다. 각 decode step에서는 NPU가 새 K/V를 별도 DRAM 출력에 만들고 append tail이 persistent cache의 L 위치로 이동시킵니다. Host가 position에 맞는 주소를 patch하지만 실제 데이터 전송은 NPU 명령입니다. 최종 cache 슬롯에 바로 저장하는 경로는 아직 없습니다. 현재 C-model은 호출마다 전체 image를 파일로 읽고 쓰기 때문에 작은 host patch bytes와 NPU DMA, simulator I/O를 섞어 계산하면 안 됩니다.</a:t>
            </a:r>
          </a:p>
          <a:p/>
          <a:p>
            <a:r>
              <a:t>슬라이드 본문:</a:t>
            </a:r>
          </a:p>
          <a:p>
            <a:r>
              <a:t>새 K/V는 별도 출력으로 생긴다</a:t>
            </a:r>
          </a:p>
          <a:p>
            <a:r>
              <a:t>기본 DecodeSession에서 NPU 계산은 새 K/V를 별도 DRAM output에 씁니다. 처음부터 persistent cache의 최종 슬롯에 직접 쓰는 경로는 아직 없습니다.</a:t>
            </a:r>
          </a:p>
          <a:p/>
          <a:p>
            <a:r>
              <a:t>Host가 주소를 정하고 NPU가 이동</a:t>
            </a:r>
          </a:p>
          <a:p>
            <a:r>
              <a:t>Host는 position에 맞춰 append tail의 주소를 patch합니다. 실제 데이터 전송은 program 끝에 붙인 NPU DMA가 수행합니다. 매 step CPU 복사로만 처리하는 방식은 아닙니다.</a:t>
            </a:r>
          </a:p>
          <a:p/>
          <a:p>
            <a:r>
              <a:t>전송량의 층을 분리해서 본다</a:t>
            </a:r>
          </a:p>
          <a:p>
            <a:r>
              <a:t>기록의 입력 patch는 6676 B, 새 K/V는 114688 B, append DMA는 458752 B입니다. C-model은 호출마다 전체 image 파일을 읽고 쓰므로 그 I/O도 별도입니다.</a:t>
            </a:r>
          </a:p>
          <a:p/>
          <a:p>
            <a:r>
              <a:t>예제와 해석: Prefill→capacity cache 초기화는 host 복사입니다. 이후 decode의 persistent DRAM 상태와 호출 간 SRAM 유지 여부는 다른 계약입니다.</a:t>
            </a:r>
          </a:p>
          <a:p/>
          <a:p>
            <a:r>
              <a:t>근거 파일 (docs 기준):</a:t>
            </a:r>
          </a:p>
          <a:p>
            <a:r>
              <a:t>current/10_runtime_llama.md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반복 layer의 판단을 재사용해 compile 작업을 줄입니다</a:t>
            </a:r>
          </a:p>
          <a:p/>
          <a:p>
            <a:r>
              <a:t>같은 IR은 structural hash와 equality로 확인하며 profile과 메모리 조건도 cache key에 반영합니다. Shape만 같다고 다른 계산을 같은 것으로 취급하지 않습니다. Layer마다 다른 weight 주소와 수명은 실제 명령에 반영됩니다. 기본 graph_search_seconds=120은 첫 합법 모듈을 만든 뒤 추가 최적화 시간입니다. 기준 프로그램 생성이나 runtime까지 120초로 제한하는 것은 아니며 긴 TVM 작업 하나만큼 초과할 수 있습니다. graph_search_seconds=None으로 시간 제한을 해제할 수 있습니다. Schedule 성공·시도 예산은 별도이며 이번 256-token prefill 실험은 전체 28개 layer를 실제 컴파일합니다.</a:t>
            </a:r>
          </a:p>
          <a:p/>
          <a:p>
            <a:r>
              <a:t>슬라이드 본문:</a:t>
            </a:r>
          </a:p>
          <a:p>
            <a:r>
              <a:t>같은 구조의 결정은 다시 쓰기</a:t>
            </a:r>
          </a:p>
          <a:p>
            <a:r>
              <a:t>IR 구조와 profile·메모리 조건이 같을 때 schedule·영역·entry 비용을 cache합니다. Shape만 같다고 서로 다른 계산을 하나로 취급하지 않습니다.</a:t>
            </a:r>
          </a:p>
          <a:p/>
          <a:p>
            <a:r>
              <a:t>주소와 실행은 layer마다 필요</a:t>
            </a:r>
          </a:p>
          <a:p>
            <a:r>
              <a:t>28개 layer의 weight와 값 수명은 다릅니다. 최종 entry stream에는 모든 layer의 필요한 계산이 포함되며 compile 판단을 재사용해 실행을 생략하는 것은 아닙니다.</a:t>
            </a:r>
          </a:p>
          <a:p/>
          <a:p>
            <a:r>
              <a:t>120초는 추가 탐색의 예산</a:t>
            </a:r>
          </a:p>
          <a:p>
            <a:r>
              <a:t>120초는 첫 합법 모듈 이후의 기본 추가 탐색 시간입니다. None이면 해제됩니다. Schedule 후보 수는 별도 한도이며 이번 256-token 실험은 16개 성공 목표·128회 시도입니다.</a:t>
            </a:r>
          </a:p>
          <a:p/>
          <a:p>
            <a:r>
              <a:t>예제와 해석: 실패 후보의 중복 검사를 피하고 시도 한도를 둡니다. 작업 경계에서 시간을 확인하므로 긴 TVM 작업 하나만큼 예산을 넘길 수 있습니다.</a:t>
            </a:r>
          </a:p>
          <a:p/>
          <a:p>
            <a:r>
              <a:t>근거 파일 (docs 기준):</a:t>
            </a:r>
          </a:p>
          <a:p>
            <a:r>
              <a:t>current/05_fusion.md</a:t>
            </a:r>
          </a:p>
          <a:p>
            <a:r>
              <a:t>current/10_runtime_llama.md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 결과와 비용을 서로 다른 근거로 확인합니다</a:t>
            </a:r>
          </a:p>
          <a:p/>
          <a:p>
            <a:r>
              <a:t>기능 검증은 출력이 유한하고 기준 결과와 맞는지 봅니다. Compile 시간은 compiler 작업의 wall time입니다. Program 비용은 DMA bytes, ISA words, SRAM peak, DRAM image로 나눕니다. 문서에는 작성 당시 새로 재현한 작은 예제, 보존한 full-model 실행, 정적 compile 분석과 과거 단일 시간 관측이 있습니다. 기존 최종 회귀 검증 기록은 17개 검사 묶음이 실패나 skip 없이 통과했습니다. 이번 발표 제작에서는 이 기록을 재사용했습니다. Hardware latency는 측정하지 않았습니다.</a:t>
            </a:r>
          </a:p>
          <a:p/>
          <a:p>
            <a:r>
              <a:t>슬라이드 본문:</a:t>
            </a:r>
          </a:p>
          <a:p>
            <a:r>
              <a:t>정확성: 무엇과 비교했는가</a:t>
            </a:r>
          </a:p>
          <a:p>
            <a:r>
              <a:t>작은 kernel은 bit equality·LLVM 기준을, 전체 Llama는 HF argmax·logits cosine을 확인합니다. 같은 출력의 근거와 단순 compile 성공을 구분합니다.</a:t>
            </a:r>
          </a:p>
          <a:p/>
          <a:p>
            <a:r>
              <a:t>비용: 어떤 자원을 세었는가</a:t>
            </a:r>
          </a:p>
          <a:p>
            <a:r>
              <a:t>DMA는 전송 bytes, words는 명령 저장 크기, SRAM peak는 최고 필요 공간, image는 DRAM 예약 크기입니다. 서로 같거나 비례한다고 가정하지 않습니다.</a:t>
            </a:r>
          </a:p>
          <a:p/>
          <a:p>
            <a:r>
              <a:t>근거: 언제 무엇을 실행했는가</a:t>
            </a:r>
          </a:p>
          <a:p>
            <a:r>
              <a:t>문서의 작은 예제 실행, 보존된 전체 모델 실행, 정적 MLP compile, 과거 단일 시간 관측을 표시합니다. 이번 발표 업데이트로 새 compiler benchmark를 만들지 않았습니다.</a:t>
            </a:r>
          </a:p>
          <a:p/>
          <a:p>
            <a:r>
              <a:t>예제와 해석: 실장치 latency·긴 문맥 품질·양자화 generation은 이 자료의 검증 결과가 아닙니다. 각 실험의 조건을 숫자와 함께 읽습니다.</a:t>
            </a:r>
          </a:p>
          <a:p/>
          <a:p>
            <a:r>
              <a:t>근거 파일 (docs 기준):</a:t>
            </a:r>
          </a:p>
          <a:p>
            <a:r>
              <a:t>current/11_experiments.md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Fusion은 DMA가 같아도 명령을 줄일 수 있습니다</a:t>
            </a:r>
          </a:p>
          <a:p/>
          <a:p>
            <a:r>
              <a:t>문서 작성 때 같은 입력으로 fusion off와 auto를 실제 실행했습니다. Off는 3 kernels, auto는 1 kernel입니다. DMA는 둘 다 41100 bytes이고 ISA words는 2812에서 1577로 줄었습니다. SRAM peak는 50700에서 42508 bytes입니다. 두 출력은 FP16 bit-exact이며 해당 입력에서 LLVM reference와 최대 절대차가 0입니다. 이 수치를 모든 fusion의 일반적인 이득으로 확대하지 않습니다.</a:t>
            </a:r>
          </a:p>
          <a:p/>
          <a:p>
            <a:r>
              <a:t>슬라이드 본문:</a:t>
            </a:r>
          </a:p>
          <a:p>
            <a:r>
              <a:t>동일한 입력으로 두 구성 실행</a:t>
            </a:r>
          </a:p>
          <a:p>
            <a:r>
              <a:t>X[64,128]·W[64,128]·bias[64], seed 914를 사용한 작은 예제입니다. Off 3 kernels와 auto 1 kernel 모두 SRAM 전달을 사용합니다.</a:t>
            </a:r>
          </a:p>
          <a:p/>
          <a:p>
            <a:r>
              <a:t>DMA보다 명령과 공간이 줄었다</a:t>
            </a:r>
          </a:p>
          <a:p>
            <a:r>
              <a:t>전송량은 둘 다 41100 B입니다. Words는 2812→1577, SRAM peak는 50700→42508 B로 줄었습니다. Fusion의 효과가 항상 DRAM 감소로만 나타나지는 않습니다.</a:t>
            </a:r>
          </a:p>
          <a:p/>
          <a:p>
            <a:r>
              <a:t>출력과 counter도 확인</a:t>
            </a:r>
          </a:p>
          <a:p>
            <a:r>
              <a:t>두 출력은 FP16 bit-exact이고 이 입력의 LLVM 기준 최대 절대차는 0입니다. C-model의 DMA counter도 정적 명령 분석과 일치했습니다.</a:t>
            </a:r>
          </a:p>
          <a:p/>
          <a:p>
            <a:r>
              <a:t>예제와 해석: 한 작은 예제의 결과입니다. 모든 fusion이 유리하거나 words 감소율만큼 실제 장치가 빨라진다고 확대하지 않습니다.</a:t>
            </a:r>
          </a:p>
          <a:p/>
          <a:p>
            <a:r>
              <a:t>근거 파일 (docs 기준):</a:t>
            </a:r>
          </a:p>
          <a:p>
            <a:r>
              <a:t>current/11_experiments.md</a:t>
            </a:r>
          </a:p>
          <a:p>
            <a:r>
              <a:t>examples/pipeline/stage_summary.json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 KiB부터 H의 DRAM 왕복이 사라졌습니다</a:t>
            </a:r>
          </a:p>
          <a:p/>
          <a:p>
            <a:r>
              <a:t>32 KiB에서는 joint-memory를 켜도 H 전체를 보관하는 선택이 유리하게 성립하지 않아 DMA가 같습니다. 44 KiB에서 H 16 KiB의 저장과 재읽기 32768 bytes가 제거되어 81932에서 49164 bytes로 줄었습니다. 64 KiB로 늘려도 이 예제의 추가 이득은 없습니다. Joint-memory off에도 후단 residency와 peephole은 남아 있으므로 모든 메모리 최적화를 껐다고 설명하면 안 됩니다. C-model counter와 명령 분석이 일치했습니다.</a:t>
            </a:r>
          </a:p>
          <a:p/>
          <a:p>
            <a:r>
              <a:t>슬라이드 본문:</a:t>
            </a:r>
          </a:p>
          <a:p>
            <a:r>
              <a:t>용량과 보관 옵션만 바꾼다</a:t>
            </a:r>
          </a:p>
          <a:p>
            <a:r>
              <a:t>X[64,64]→H[64,128]→Y[64,64]인 두 matmul, fusion off 조건입니다. 32/44/64 KiB와 whole-tensor 보관 탐색을 비교했습니다.</a:t>
            </a:r>
          </a:p>
          <a:p/>
          <a:p>
            <a:r>
              <a:t>44 KiB에서 보관이 성립한다</a:t>
            </a:r>
          </a:p>
          <a:p>
            <a:r>
              <a:t>H 16 KiB를 저장하고 다시 읽는 32768 B가 사라져 DMA가 81932→49164 B로 줄었습니다. 32 KiB는 옵션을 켜도 같은 결과였고 64 KiB는 추가 이득이 없었습니다.</a:t>
            </a:r>
          </a:p>
          <a:p/>
          <a:p>
            <a:r>
              <a:t>비교에서 유지된 기능도 있다</a:t>
            </a:r>
          </a:p>
          <a:p>
            <a:r>
              <a:t>Joint-memory off여도 기존 residency·peephole은 사용합니다. 모든 메모리 최적화의 on/off 비교가 아닙니다. 다섯 구성의 출력과 DMA counters를 검증했습니다.</a:t>
            </a:r>
          </a:p>
          <a:p/>
          <a:p>
            <a:r>
              <a:t>예제와 해석: 용량을 늘리는 자체보다 살아 있는 H와 작업 공간이 함께 들어가는지가 중요합니다. 이 예제의 임계점을 전체 모델에 일반화하지 않습니다.</a:t>
            </a:r>
          </a:p>
          <a:p/>
          <a:p>
            <a:r>
              <a:t>근거 파일 (docs 기준):</a:t>
            </a:r>
          </a:p>
          <a:p>
            <a:r>
              <a:t>current/11_experiments.md</a:t>
            </a:r>
          </a:p>
          <a:p>
            <a:r>
              <a:t>examples/memory/measurements.json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DRAM 예약 제거는 전송량과 별개로 image를 줄입니다</a:t>
            </a:r>
          </a:p>
          <a:p/>
          <a:p>
            <a:r>
              <a:t>이 비교는 이미 SRAM 보관을 사용한 상태에서 pointwise 결합, 출력 직접 저장, DRAM pool 제거를 비활성화/활성화한 기록입니다. 작은 두 matmul은 85에서 77 words, image는 65548에서 49164 bytes이고 DMA와 SRAM peak는 같습니다. 두 출력은 bit-exact입니다. 실제 폭 MLP는 143404에서 140594 words, image는 154927116에서 151781388 bytes로 3 MiB 줄었습니다. MLP는 executed=false인 정적 compile 기록이며 전체 checkpoint 출력 검증과 다릅니다.</a:t>
            </a:r>
          </a:p>
          <a:p/>
          <a:p>
            <a:r>
              <a:t>슬라이드 본문:</a:t>
            </a:r>
          </a:p>
          <a:p>
            <a:r>
              <a:t>E3: 작은 예제의 실행 결과</a:t>
            </a:r>
          </a:p>
          <a:p>
            <a:r>
              <a:t>이미 SRAM 보관을 사용하는 상태에서 pointwise 정리·직접 출력·pool 제거를 비교했습니다. Words 85→77, DRAM image 16 KiB 감소, 출력은 bit-exact입니다.</a:t>
            </a:r>
          </a:p>
          <a:p/>
          <a:p>
            <a:r>
              <a:t>E4: 실제 폭 MLP의 정적 결과</a:t>
            </a:r>
          </a:p>
          <a:p>
            <a:r>
              <a:t>M=64·hidden 3072·MLP 8192에서 5 kernels를 유지합니다. Words 143404→140594, image 3 MiB 감소이며 이 MLP 측정은 executed=false입니다.</a:t>
            </a:r>
          </a:p>
          <a:p/>
          <a:p>
            <a:r>
              <a:t>공간과 전송은 별개의 지표</a:t>
            </a:r>
          </a:p>
          <a:p>
            <a:r>
              <a:t>이미 SRAM에서 전달되던 값의 미사용 DRAM 예약을 지워도 DMA는 더 줄지 않을 수 있습니다. 같은 pool을 여러 중간값이 재사용하므로 제거량은 tensor 크기의 단순 합도 아닙니다.</a:t>
            </a:r>
          </a:p>
          <a:p/>
          <a:p>
            <a:r>
              <a:t>예제와 해석: E2는 보관 옵션 비교(87→77), E3는 보관 이후 개선 비교(85→77)입니다. 서로 다른 기준을 하나의 전후 수치로 섞지 않습니다.</a:t>
            </a:r>
          </a:p>
          <a:p/>
          <a:p>
            <a:r>
              <a:t>근거 파일 (docs 기준):</a:t>
            </a:r>
          </a:p>
          <a:p>
            <a:r>
              <a:t>current/11_experiments.md</a:t>
            </a:r>
          </a:p>
          <a:p>
            <a:r>
              <a:t>evidence/current/refinement.json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프로그램을 얻는 compile 작업이 줄었습니다</a:t>
            </a:r>
          </a:p>
          <a:p/>
          <a:p>
            <a:r>
              <a:t>M=7은 84.163초에서 22.073초, TIR trial 347에서 112로 줄었고 program hash는 같습니다. M=64는 21.791초에서 21.958초로 차이가 작으며 두 경우 모두 47 trials입니다. 실패 후보 중복 검사 제거와 cache, 예산 제한의 효과가 입력마다 다릅니다. 측정 당시 다른 검증이 동시에 실행된 경우가 있으므로 일정 배율 향상이나 일반적인 benchmark 결과로 주장하지 않습니다. 전체 3B의 cold compile 시간은 이 표로 알 수 없습니다.</a:t>
            </a:r>
          </a:p>
          <a:p/>
          <a:p>
            <a:r>
              <a:t>슬라이드 본문:</a:t>
            </a:r>
          </a:p>
          <a:p>
            <a:r>
              <a:t>M=7에서는 불필요한 검사가 감소</a:t>
            </a:r>
          </a:p>
          <a:p>
            <a:r>
              <a:t>기록된 compile 시간은 84.163→22.073초이고 TIR trial은 347→112회입니다. 최종 143883-word binary의 hash는 동일합니다.</a:t>
            </a:r>
          </a:p>
          <a:p/>
          <a:p>
            <a:r>
              <a:t>M=64에서는 제한이 걸리지 않음</a:t>
            </a:r>
          </a:p>
          <a:p>
            <a:r>
              <a:t>무제한과 64회 제한이 모두 47 trial을 사용했습니다. 시간은 21.791→21.958초로 비슷하고 140594-word binary도 같습니다.</a:t>
            </a:r>
          </a:p>
          <a:p/>
          <a:p>
            <a:r>
              <a:t>반복 benchmark로 읽지 않는다</a:t>
            </a:r>
          </a:p>
          <a:p>
            <a:r>
              <a:t>기존 단일 wall-clock 관측이며 일부는 다른 검증과 동시에 실행됐습니다. 모든 shape에서 일정 배율 개선이나 전체 모델 cold compile 시간을 보여주는 표가 아닙니다.</a:t>
            </a:r>
          </a:p>
          <a:p/>
          <a:p>
            <a:r>
              <a:t>예제와 해석: 개선의 목적은 같은 합법 프로그램을 얻기 위해 반복하던 판단을 줄이는 것입니다. 탐색 한도가 실제로 작동했는지도 함께 봅니다.</a:t>
            </a:r>
          </a:p>
          <a:p/>
          <a:p>
            <a:r>
              <a:t>근거 파일 (docs 기준):</a:t>
            </a:r>
          </a:p>
          <a:p>
            <a:r>
              <a:t>current/11_experiments.md</a:t>
            </a:r>
          </a:p>
          <a:p>
            <a:r>
              <a:t>evidence/current/compile_comparison.json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과거 7-token 전체 모델에서 HF와 같은 token을 생성했습니다</a:t>
            </a:r>
          </a:p>
          <a:p/>
          <a:p>
            <a:r>
              <a:t>Prompt는 Hello, NPU compiler!이고 생성 token은 358,2846,4560으로 문자열은 I'm trying입니다. Prefill과 position7,8 decode의 HF argmax가 일치했습니다. Cosine은 각각 0.9999977148, 0.9999958473, 0.9999929546이고 최대 절대차는 0.03515625,0.0234375,0.0390625입니다. 통과 기준은 유한한 logits, token 일치, cosine&gt;=0.999이며 최대 절대차는 기록만 했습니다. 한 prompt의 짧은 생성 결과로 장문 품질, 모든 prompt, 양자화 generation을 검증한 것은 아닙니다.</a:t>
            </a:r>
          </a:p>
          <a:p/>
          <a:p>
            <a:r>
              <a:t>슬라이드 본문:</a:t>
            </a:r>
          </a:p>
          <a:p>
            <a:r>
              <a:t>28 layers를 실제 실행한 기록</a:t>
            </a:r>
          </a:p>
          <a:p>
            <a:r>
              <a:t>Llama 3.2 3B FP16, prompt 7 tokens, capacity 9, greedy 3 tokens 조건입니다. Prefill과 position 7/8 decode 모두 HF argmax와 일치했습니다.</a:t>
            </a:r>
          </a:p>
          <a:p/>
          <a:p>
            <a:r>
              <a:t>통과 기준과 기록값을 구분</a:t>
            </a:r>
          </a:p>
          <a:p>
            <a:r>
              <a:t>유한한 logits, token 일치, cosine≥0.999가 기준입니다. 최대 절대차는 기록했지만 별도의 통과 threshold로 사용하지 않았습니다.</a:t>
            </a:r>
          </a:p>
          <a:p/>
          <a:p>
            <a:r>
              <a:t>이 결과의 검증 범위</a:t>
            </a:r>
          </a:p>
          <a:p>
            <a:r>
              <a:t>짧은 한 prompt의 생성 기록입니다. 장문·다양한 prompt·양자화 품질은 별도이며 전체 graph 탐색도 예산 종료로 unfused 기준을 선택했습니다.</a:t>
            </a:r>
          </a:p>
          <a:p/>
          <a:p>
            <a:r>
              <a:t>예제와 해석: 이번 발표 갱신에서 전체 모델을 다시 컴파일하지 않았습니다. 보존된 실행 로그·JSON·source hash로 결과를 추적합니다.</a:t>
            </a:r>
          </a:p>
          <a:p/>
          <a:p>
            <a:r>
              <a:t>근거 파일 (docs 기준):</a:t>
            </a:r>
          </a:p>
          <a:p>
            <a:r>
              <a:t>current/11_experiments.md</a:t>
            </a:r>
          </a:p>
          <a:p>
            <a:r>
              <a:t>evidence/current/llama_validation.json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탐색 순서와 결과 재사용에 TVM 기능을 연결했습니다</a:t>
            </a:r>
          </a:p>
          <a:p/>
          <a:p>
            <a:r>
              <a:t>기본은 space입니다. 선택형 meta_schedule은 TuneContext, ScheduleFn, sample_categorical, ReplayFunc로 같은 후보 공간을 검사합니다. DLight나 학습형 비용 모델을 사용했다는 뜻은 아닙니다. JSONDatabase에는 Workload와 trace를 기록합니다. reuse는 호환된 trace를 재생·검증하고 새 후보를 만들지 않으며 tune은 저장된 결과와 새 후보를 비교합니다. 반복 layer는 build 안의 cache로도 재사용합니다.</a:t>
            </a:r>
          </a:p>
          <a:p/>
          <a:p>
            <a:r>
              <a:t>슬라이드 본문:</a:t>
            </a:r>
          </a:p>
          <a:p>
            <a:r>
              <a:t>중복과 확실한 실패 줄이기</a:t>
            </a:r>
          </a:p>
          <a:p>
            <a:r>
              <a:t>같은 순회·복사 주기가 되는 후보를 정규화합니다. 직접 FP16 입력의 cache만으로 SRAM을 초과한다는 증명이 가능한 경우에만 후보를 미리 제외합니다.</a:t>
            </a:r>
          </a:p>
          <a:p/>
          <a:p>
            <a:r>
              <a:t>검사는 실제 NPU 명령으로</a:t>
            </a:r>
          </a:p>
          <a:p>
            <a:r>
              <a:t>후보마다 TVM Schedule API, SRAM 배치, 명령 생성을 수행합니다. Words 예산은 기준 프로그램 크기를 반영하며 작은 설정 하나로 큰 커널의 탐색을 바로 막지 않습니다.</a:t>
            </a:r>
          </a:p>
          <a:p/>
          <a:p>
            <a:r>
              <a:t>TVM 기록은 선택해서 사용</a:t>
            </a:r>
          </a:p>
          <a:p>
            <a:r>
              <a:t>reuse는 trace 재생과 검증, tune은 추가 탐색입니다. 장치·수치·메모리 조건이 맞아야 재사용합니다. ReplayFunc는 현재 후보 풀의 검사 순서를 바꾸는 선택지입니다.</a:t>
            </a:r>
          </a:p>
          <a:p/>
          <a:p>
            <a:r>
              <a:t>예제와 해석: 같은 shape만으로 재사용하지 않습니다. 계산 구조와 SRAM·입출력 조건을 확인하고, layer별 최종 주소는 다시 연결합니다.</a:t>
            </a:r>
          </a:p>
          <a:p/>
          <a:p>
            <a:r>
              <a:t>근거 파일 (docs 기준):</a:t>
            </a:r>
          </a:p>
          <a:p>
            <a:r>
              <a:t>current/06_matmul_schedule.md</a:t>
            </a:r>
          </a:p>
          <a:p>
            <a:r>
              <a:t>reference/tvm_api.md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512-token down에서는 탐색을 늘려도 같은 명령이 선택됐습니다</a:t>
            </a:r>
          </a:p>
          <a:p/>
          <a:p>
            <a:r>
              <a:t>E8에서 큰 커널은 words 예산 때문에 추가 후보가 충분하지 않았습니다. E9는 중복 정규화, 보수적인 SRAM 초과 제거, 적응형 words 예산을 적용해 양쪽 탐색에서 추가 합법 후보 4개씩을 검사했습니다. 최종 프로그램은 같은 binary였습니다. C-model 비교 최대 절대차 0.000030517578125와 DMA counters가 통과했습니다. DB replay는 약 4초였고 관련 회귀 검사 34개가 통과했습니다. 이 수치를 실제 장치 latency로 해석하지 않습니다.</a:t>
            </a:r>
          </a:p>
          <a:p/>
          <a:p>
            <a:r>
              <a:t>슬라이드 본문:</a:t>
            </a:r>
          </a:p>
          <a:p>
            <a:r>
              <a:t>탐색이 실제로 진행된 결과</a:t>
            </a:r>
          </a:p>
          <a:p>
            <a:r>
              <a:t>Space와 ReplayFunc 모두 추가 합법 후보 4개를 평가했습니다. 그 범위에서는 기존 schedule보다 정적 비용이 좋은 후보를 얻지 못했습니다.</a:t>
            </a:r>
          </a:p>
          <a:p/>
          <a:p>
            <a:r>
              <a:t>개선된 것은 compile 작업</a:t>
            </a:r>
          </a:p>
          <a:p>
            <a:r>
              <a:t>중복·확실한 용량 초과 검사와 재사용을 보완했습니다. 최종 명령이 같으므로 이 사례에서 실행 성능이 좋아졌다고 주장하지 않습니다.</a:t>
            </a:r>
          </a:p>
          <a:p/>
          <a:p>
            <a:r>
              <a:t>전체 모델과 범위를 구분</a:t>
            </a:r>
          </a:p>
          <a:p>
            <a:r>
              <a:t>실제 checkpoint weight, 합성 activation을 사용했습니다. 전체 28-layer의 256-token 실험은 다음 페이지의 별도 E10입니다.</a:t>
            </a:r>
          </a:p>
          <a:p/>
          <a:p>
            <a:r>
              <a:t>예제와 해석: 실험 시간은 단일 관측입니다. ReplayFunc가 더 좋은 결과를 보장하지 않으며, 측정한 후보 전체를 넘어 최적이라고 주장하지 않습니다.</a:t>
            </a:r>
          </a:p>
          <a:p/>
          <a:p>
            <a:r>
              <a:t>근거 파일 (docs 기준):</a:t>
            </a:r>
          </a:p>
          <a:p>
            <a:r>
              <a:t>current/11_experiments.md</a:t>
            </a:r>
          </a:p>
          <a:p>
            <a:r>
              <a:t>evidence/current/llama_schedule_refinement.json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256-token 전체 prefill은 9개 graph 구성을 비교합니다</a:t>
            </a:r>
          </a:p>
          <a:p/>
          <a:p>
            <a:r>
              <a:t>이번 실행은 prefill_cache 하나이며 decode는 컴파일하지 않습니다. Attention off/score/full과 generic off/vectors/matmul 조합입니다. 이 입력에서 GQA·producer 변환은 같은 IR이 되어 source 중복 제거 뒤 9개 구성입니다. 표는 일반 fusion 영역 함수의 종류 수이며 attention pattern 자체 또는 28개 layer의 모든 호출 수가 아닙니다. 영역 비용 검사 뒤 일부 fusion은 풀리고 전체 후보끼리도 중복이 생길 수 있습니다. Graph 시간 제한은 None, matmul 합법 목표 16, 최대 시도128, words 예산10억, joint memory beam4입니다. 무제한 schedule 탐색은 아닙니다. HF reference는 준비됐으며 최종 NPU 비용·출력 검증은 아직 대기입니다. 09-29 후속 상태: 기준 구성은 약2776초·55952912 words, 두 번째 구성의 K-cache fusion에서 RSS91.65 GiB까지 증가해 실행을 중단했습니다. compute_at의 불필요한 생산자 반복을 TVM 범위 분석으로 거절하고, 직사각형 경계와 맞는 stripe만 사용하도록 수정했습니다. 길이1 DMA native 처리도 수정했습니다. 실제 크기 독립 거절검사17개 배치·3.05초·167 MiB, 새 검사4개와 기존54개 및 native 비교가 통과했습니다. 이 수치를 전체 모델 속도·메모리 개선으로 환산하지 않습니다. 전체256-token NPU 출력은 미검증입니다.</a:t>
            </a:r>
          </a:p>
          <a:p/>
          <a:p>
            <a:r>
              <a:t>슬라이드 본문:</a:t>
            </a:r>
          </a:p>
          <a:p>
            <a:r>
              <a:t>비교 조건을 동일하게</a:t>
            </a:r>
          </a:p>
          <a:p>
            <a:r>
              <a:t>분리된 커널도 SRAM 보관과 직접 출력을 사용합니다. Fusion이 이보다 DMA·명령·SRAM 비용을 줄이는지 전체 prefill 기준으로 확인합니다.</a:t>
            </a:r>
          </a:p>
          <a:p/>
          <a:p>
            <a:r>
              <a:t>반복 layer는 판단을 재사용</a:t>
            </a:r>
          </a:p>
          <a:p>
            <a:r>
              <a:t>계산·메모리 조건이 같은 recipe는 재사용합니다. 서로 다른 보관 선택으로 가용 SRAM이 달라지면 추가 검사하고, 실제 주소와 전체 수명은 모델 전체에 반영합니다.</a:t>
            </a:r>
          </a:p>
          <a:p/>
          <a:p>
            <a:r>
              <a:t>병목 수정과 전체 검증을 구분</a:t>
            </a:r>
          </a:p>
          <a:p>
            <a:r>
              <a:t>생산자 반복 배치를 거절하고 행 분할의 출력 덮어쓰기 오류를 수정했습니다. 독립·회귀 검사는 통과했지만 전체 256-token 모델은 다시 실행하지 않았습니다.</a:t>
            </a:r>
          </a:p>
          <a:p/>
          <a:p>
            <a:r>
              <a:t>예제와 해석: 9개 중 기준 구성 1개 완료 후 중단했습니다. 병목 독립 검사 통과와 전체 모델 출력 검증을 구분합니다.</a:t>
            </a:r>
          </a:p>
          <a:p/>
          <a:p>
            <a:r>
              <a:t>근거 파일 (docs 기준):</a:t>
            </a:r>
          </a:p>
          <a:p>
            <a:r>
              <a:t>current/11_experiments.md</a:t>
            </a:r>
          </a:p>
          <a:p>
            <a:r>
              <a:t>evidence/current/llama_prefill256_full_search_progress.json</a:t>
            </a:r>
          </a:p>
          <a:p>
            <a:r>
              <a:t>evidence/current/codegen_bottleneck_0929.json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효과가 큰 항목부터 근거를 확인하며 확장합니다</a:t>
            </a:r>
          </a:p>
          <a:p/>
          <a:p>
            <a:r>
              <a:t>Vector 256과 긴 VLEN의 실제 장치 계약을 먼저 확인해야 합니다. Attention은 key online softmax가 없고 decode는 capacity 전체를 계산합니다. 메모리는 whole tensor 보관과 고정 호출 순서를 사용하며 부분 tile streaming이나 eviction은 없습니다. 수치 정책은 고정이며 자동 mixed precision 탐색이 없습니다. Cycle 모델, 실장치 runtime, quantized generation도 별도입니다. 작은 이득 때문에 많은 custom 복잡도를 추가하지 않도록 대표 모델과 측정 기준을 먼저 정하는 것이 현재 후속 검토 방향입니다.</a:t>
            </a:r>
          </a:p>
          <a:p/>
          <a:p>
            <a:r>
              <a:t>슬라이드 본문:</a:t>
            </a:r>
          </a:p>
          <a:p>
            <a:r>
              <a:t>먼저 장치 계약을 확인할 부분</a:t>
            </a:r>
          </a:p>
          <a:p>
            <a:r>
              <a:t>Vector 256과 긴 VLEN의 LOAD/연산/SAVE 동작을 RTL에서 확인해야 합니다. Cycle 자료가 없으므로 현재 DMA→words→SRAM 비용 모델의 한계도 분명합니다.</a:t>
            </a:r>
          </a:p>
          <a:p/>
          <a:p>
            <a:r>
              <a:t>이득을 측정한 뒤 설계할 부분</a:t>
            </a:r>
          </a:p>
          <a:p>
            <a:r>
              <a:t>작은 fusion 영역, KV 최종 슬롯 직접 저장, capacity bucket은 대표 입력에서 이득을 먼저 봅니다. 표준 API로 공통 처리할 수 있는지도 함께 검토합니다.</a:t>
            </a:r>
          </a:p>
          <a:p/>
          <a:p>
            <a:r>
              <a:t>큰 변경은 별도 범위로 다룬다</a:t>
            </a:r>
          </a:p>
          <a:p>
            <a:r>
              <a:t>Key online softmax, graph tile streaming, eviction·호출 순서 탐색, 자동 정밀도 선택은 구현 규모와 검증 비용이 큽니다. 현재 기능에 포함된 것으로 설명하지 않습니다.</a:t>
            </a:r>
          </a:p>
          <a:p/>
          <a:p>
            <a:r>
              <a:t>예제와 해석: 사용자 기준: 실제 이득이 작으면 유지하고, custom 복잡도를 늘리는 큰 변경은 필요성과 설계부터 검토합니다.</a:t>
            </a:r>
          </a:p>
          <a:p/>
          <a:p>
            <a:r>
              <a:t>근거 파일 (docs 기준):</a:t>
            </a:r>
          </a:p>
          <a:p>
            <a:r>
              <a:t>current/12_operations_limits.md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계산이 주소와 명령으로 구체화됩니다</a:t>
            </a:r>
          </a:p>
          <a:p/>
          <a:p>
            <a:r>
              <a:t>Relax는 어떤 계산들이 연결되는지, semantic TIR는 각 원소를 어떻게 정의하는지 설명합니다. Schedule과 memory plan은 조각, 실행 순서, 수명과 주소를 정합니다. ISA와 runtime은 실제 장치 실행을 만들고 기록된 검증이 의미와 비용을 확인합니다. 다시 자세히 볼 때는 문서의 같은 번호 장과 IR/JSON을 따라가면 됩니다. 부록에는 TVM API, 간략한 IR, 구 main 비교, 양자화, 긴 prefill 예를 두었습니다.</a:t>
            </a:r>
          </a:p>
          <a:p/>
          <a:p>
            <a:r>
              <a:t>슬라이드 본문:</a:t>
            </a:r>
          </a:p>
          <a:p>
            <a:r>
              <a:t>IR에서 실행까지 같은 값을 추적</a:t>
            </a:r>
          </a:p>
          <a:p>
            <a:r>
              <a:t>모델의 중간값 P가 call_tir 결과가 되고, TIR의 buffer가 되며, SRAM 주소와 SAVE/LOAD 명령으로 구체화됩니다. 단계가 바뀌어도 값의 의미는 연결됩니다.</a:t>
            </a:r>
          </a:p>
          <a:p/>
          <a:p>
            <a:r>
              <a:t>결정과 증거를 함께 읽는다</a:t>
            </a:r>
          </a:p>
          <a:p>
            <a:r>
              <a:t>왜 해당 fusion·schedule·보관을 골랐는지는 선택 진단으로, 실제 동작은 IR·명령·실행 결과로 확인합니다. 최적화 옵션이 켜졌다는 사실만으로 효과를 단정하지 않습니다.</a:t>
            </a:r>
          </a:p>
          <a:p/>
          <a:p>
            <a:r>
              <a:t>질문에서 관련 단계로 돌아간다</a:t>
            </a:r>
          </a:p>
          <a:p>
            <a:r>
              <a:t>반올림은 수치 정의, 반복 전송은 schedule, 중간값 보관은 memory, decode slot은 runtime 계약을 봅니다. 문서와 실험 파일이 같은 주제로 연결됩니다.</a:t>
            </a:r>
          </a:p>
          <a:p/>
          <a:p>
            <a:r>
              <a:t>예제와 해석: 다음 부록은 TVM API, IR, 기존 main, 양자화, 긴 prefill, 자료 추적을 정리합니다.</a:t>
            </a:r>
          </a:p>
          <a:p/>
          <a:p>
            <a:r>
              <a:t>근거 파일 (docs 기준):</a:t>
            </a:r>
          </a:p>
          <a:p>
            <a:r>
              <a:t>current/01_overview.md</a:t>
            </a:r>
          </a:p>
          <a:p>
            <a:r>
              <a:t>current/12_operations_limits.md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 API가 맡는 역할을 구분합니다</a:t>
            </a:r>
          </a:p>
          <a:p/>
          <a:p>
            <a:r>
              <a:t>LegalizeOps는 정의를 낮추고 FuseOps는 graph 그룹을, FuseTIR는 TIR 결합을 담당합니다. Schedule API는 loop와 cache 위치를 바꾸며 tensorize는 등록된 intrinsic으로 치환합니다. StaticPlanBlockMemory는 Relax storage, USMP는 여기서 kernel 내부 충돌 분석에 사용됩니다. DLight는 호출하지 않습니다. MetaSchedule은 JSONDatabase/TuningRecord를 이용한 선택형 trace 재사용과 TuneContext/ScheduleFn/ReplayFunc를 이용한 탐색에 사용합니다. EvolutionarySearch나 학습형 CostModel은 아닙니다. 도입 자체가 NPU의 수치 계약, SRAM 보관과 올바른 비용 모델을 자동으로 만들어 주는 것은 아닙니다.</a:t>
            </a:r>
          </a:p>
          <a:p/>
          <a:p>
            <a:r>
              <a:t>슬라이드 본문:</a:t>
            </a:r>
          </a:p>
          <a:p>
            <a:r>
              <a:t>TVM은 구조 변환의 기반</a:t>
            </a:r>
          </a:p>
          <a:p>
            <a:r>
              <a:t>LegalizeOps와 TE는 계산 정의, FuseOps/FuseTIR는 graph grouping과 TIR 결합, Schedule API는 loop와 cache 변환을 제공합니다.</a:t>
            </a:r>
          </a:p>
          <a:p/>
          <a:p>
            <a:r>
              <a:t>장치 정책은 그 위에 놓인다</a:t>
            </a:r>
          </a:p>
          <a:p>
            <a:r>
              <a:t>NPU용 dtype·intrinsic·SRAM 용량·후보 비용은 backend가 정합니다. 표준 API를 사용한다는 것과 target별 판단이 필요 없다는 것은 다른 이야기입니다.</a:t>
            </a:r>
          </a:p>
          <a:p/>
          <a:p>
            <a:r>
              <a:t>MetaSchedule은 선택형으로 연결</a:t>
            </a:r>
          </a:p>
          <a:p>
            <a:r>
              <a:t>JSONDatabase는 선택된 trace를 저장·재생하고 ReplayFunc는 NPU schedule 설정을 추첨합니다. DLight·학습형 CostModel은 사용하지 않습니다. DMA를 latency로 기록하지 않습니다.</a:t>
            </a:r>
          </a:p>
          <a:p/>
          <a:p>
            <a:r>
              <a:t>예제와 해석: StaticPlanBlockMemory와 USMP의 분석 범위도 다릅니다. 표준 pass의 이름보다 입력·출력·보장하는 내용을 먼저 확인합니다.</a:t>
            </a:r>
          </a:p>
          <a:p/>
          <a:p>
            <a:r>
              <a:t>근거 파일 (docs 기준):</a:t>
            </a:r>
          </a:p>
          <a:p>
            <a:r>
              <a:t>reference/tvm_api.md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matmul을 세 수준에서 읽습니다</a:t>
            </a:r>
          </a:p>
          <a:p/>
          <a:p>
            <a:r>
              <a:t>실제 IR는 shape, dtype, buffer binding 때문에 더 길지만 핵심은 세 가지입니다. Relax의 call_tir는 graph 호출입니다. Semantic TIR의 i/j는 spatial, k는 reduction이며 T.init은 초기값입니다. Scheduled TIR는 cache copy와 tiled loop, match_buffer, npu_gemm_acc를 포함합니다. npu_gemm_acc 자체가 최종 ISA word는 아니며 codegen이 descriptor와 matrix 명령으로 바꿉니다.</a:t>
            </a:r>
          </a:p>
          <a:p/>
          <a:p>
            <a:r>
              <a:t>슬라이드 본문:</a:t>
            </a:r>
          </a:p>
          <a:p>
            <a:r>
              <a:t>Relax에서 읽을 것</a:t>
            </a:r>
          </a:p>
          <a:p>
            <a:r>
              <a:t>call_tir는 어떤 함수를 어떤 값에 적용하고 어떤 tensor를 받는지 표현합니다. 여전히 graph의 의존성과 함수 입출력이 보입니다.</a:t>
            </a:r>
          </a:p>
          <a:p/>
          <a:p>
            <a:r>
              <a:t>Semantic TIR에서 읽을 것</a:t>
            </a:r>
          </a:p>
          <a:p>
            <a:r>
              <a:t>Spatial/reduction 축, T.init, cast 위치를 봅니다. FP32 논리 buffer가 반드시 같은 크기의 SRAM 배열로 materialize되는 것은 아닙니다.</a:t>
            </a:r>
          </a:p>
          <a:p/>
          <a:p>
            <a:r>
              <a:t>Scheduled TIR에서 읽을 것</a:t>
            </a:r>
          </a:p>
          <a:p>
            <a:r>
              <a:t>Cache copy가 어느 loop 안에 있는지, match_buffer가 어떤 영역을 가리키는지, npu_gemm_acc가 어디에 있는지 봅니다. 최종 ISA는 다음 codegen 결과입니다.</a:t>
            </a:r>
          </a:p>
          <a:p/>
          <a:p>
            <a:r>
              <a:t>예제와 해석: 그림은 읽는 요점을 줄인 의사 표현입니다. 전체 실제 dump는 슬라이드 근거 링크의 .py 파일에 보존했습니다.</a:t>
            </a:r>
          </a:p>
          <a:p/>
          <a:p>
            <a:r>
              <a:t>근거 파일 (docs 기준):</a:t>
            </a:r>
          </a:p>
          <a:p>
            <a:r>
              <a:t>current/04_semantic_tir.md</a:t>
            </a:r>
          </a:p>
          <a:p>
            <a:r>
              <a:t>examples/pipeline/03_unfused_semantic_tir.py</a:t>
            </a:r>
          </a:p>
          <a:p>
            <a:r>
              <a:t>examples/pipeline/07_scheduled_fused_matmul_add_silu.py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main과 최신 v09는 실행 경계가 다릅니다</a:t>
            </a:r>
          </a:p>
          <a:p/>
          <a:p>
            <a:r>
              <a:t>기존 main은 direct Relax emitter와 flat G-buffer, host layer loop를 사용합니다. 같은 layer 프로그램에 layer별 weight를 넣고 반복합니다. Context 길이별로 decode 프로그램을 만들어 cache하며 host가 KV를 이어 붙입니다. 최신 v09는 TIR schedule과 DRAM/SRAM 계층을 가지고 전체 entry stream을 실행하며 capacity와 mask로 decode를 재사용합니다. 컴파일 단위와 메모리 경계가 달라 words만 보고 backend의 성능 배율을 비교할 수 없습니다.</a:t>
            </a:r>
          </a:p>
          <a:p/>
          <a:p>
            <a:r>
              <a:t>슬라이드 본문:</a:t>
            </a:r>
          </a:p>
          <a:p>
            <a:r>
              <a:t>Main은 별도 최종 backend</a:t>
            </a:r>
          </a:p>
          <a:p>
            <a:r>
              <a:t>Commit 1143abb의 ver.08은 Relax 직접 emitter와 flat G-buffer를 사용합니다. Host가 layer 프로그램을 반복하고 context별 decode를 준비합니다.</a:t>
            </a:r>
          </a:p>
          <a:p/>
          <a:p>
            <a:r>
              <a:t>현재 v09는 계층과 TIR를 사용</a:t>
            </a:r>
          </a:p>
          <a:p>
            <a:r>
              <a:t>TIR schedule을 거쳐 DRAM↔SRAM↔unit 명령을 만들고 전체 entry stream을 실행합니다. Decode는 capacity/mask와 append tail을 사용합니다.</a:t>
            </a:r>
          </a:p>
          <a:p/>
          <a:p>
            <a:r>
              <a:t>숫자를 바로 배율로 비교하지 않음</a:t>
            </a:r>
          </a:p>
          <a:p>
            <a:r>
              <a:t>컴파일 단위와 메모리 경계가 달라 같은 words 수가 같은 작업량을 뜻하지 않습니다. 기존 결과를 보존하되 현재 검증과 섞지 않습니다.</a:t>
            </a:r>
          </a:p>
          <a:p/>
          <a:p>
            <a:r>
              <a:t>예제와 해석: 두 backend를 혼합해 설명하지 않습니다. 기존 main의 동작과 실험은 docs/main 아래 별도 문서를 기준으로 합니다.</a:t>
            </a:r>
          </a:p>
          <a:p/>
          <a:p>
            <a:r>
              <a:t>근거 파일 (docs 기준):</a:t>
            </a:r>
          </a:p>
          <a:p>
            <a:r>
              <a:t>main/README.md</a:t>
            </a:r>
          </a:p>
          <a:p>
            <a:r>
              <a:t>main/pipeline.md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 dtype과 실제 연산 dtype을 구분해야 합니다</a:t>
            </a:r>
          </a:p>
          <a:p/>
          <a:p>
            <a:r>
              <a:t>W8A16은 INT8 weight와 scale로 저장한 뒤 SRAM에서 FP16 weight를 복원해 FP16 GEMM을 합니다. W8A8은 FP16 입력을 행별로 양자화하고 INT8 dot64의 INT32 부분합에 FP32 scale을 적용하여 FP32로 누산한 뒤 FP16 결과를 저장합니다. Weight-only quantization은 host lifting 앞에 적용됩니다. QK/PV처럼 runtime operand의 matmul과 KV cache까지 전부 INT8로 바뀌는 것은 아닙니다. 작은 kernel 검증은 있으나 현재 generate 경로의 양자화 선택 연결과 전체 연속 생성 검증은 완료되지 않았습니다.</a:t>
            </a:r>
          </a:p>
          <a:p/>
          <a:p>
            <a:r>
              <a:t>슬라이드 본문:</a:t>
            </a:r>
          </a:p>
          <a:p>
            <a:r>
              <a:t>W8A16: 저장을 줄이고 복원</a:t>
            </a:r>
          </a:p>
          <a:p>
            <a:r>
              <a:t>Weight를 INT8와 output-channel scale로 저장합니다. SRAM에서 FP16으로 복원한 뒤 FP16 GEMM과 FP32 누산을 수행하므로 모든 연산이 INT8인 것은 아닙니다.</a:t>
            </a:r>
          </a:p>
          <a:p/>
          <a:p>
            <a:r>
              <a:t>W8A8: 입력도 동적으로 양자화</a:t>
            </a:r>
          </a:p>
          <a:p>
            <a:r>
              <a:t>현재 FP16 X를 행별 scale로 INT8화합니다. INT8 dot64의 INT32 부분합에 scale을 적용하고 FP32로 누산하여 FP16 결과를 만듭니다.</a:t>
            </a:r>
          </a:p>
          <a:p/>
          <a:p>
            <a:r>
              <a:t>완료된 범위를 분리</a:t>
            </a:r>
          </a:p>
          <a:p>
            <a:r>
              <a:t>작은 양자화 kernel 검증은 있으나 공개 generate 경로 연결과 전체 연속 생성 검증은 남아 있습니다. QK/PV·KV cache까지 전부 INT8이 된다고 해석하지 않습니다.</a:t>
            </a:r>
          </a:p>
          <a:p/>
          <a:p>
            <a:r>
              <a:t>예제와 해석: Weight-only 준비는 host lifting 전에 rewrite하여 host로 옮깁니다. 본문의 28-layer 출력 검증은 FP16 경로입니다.</a:t>
            </a:r>
          </a:p>
          <a:p/>
          <a:p>
            <a:r>
              <a:t>근거 파일 (docs 기준):</a:t>
            </a:r>
          </a:p>
          <a:p>
            <a:r>
              <a:t>current/13_quantization.md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X와 W가 모두 커지면 양쪽을 나누어 올립니다</a:t>
            </a:r>
          </a:p>
          <a:p/>
          <a:p>
            <a:r>
              <a:t>X[3072,3072]는 FP16 18 MiB, W[3072,8192]는 48 MiB입니다. X 64행 panel은 384 KiB, W 256열 panel은 1.5 MiB입니다. X panel을 바깥에 유지하면 W 전체를 48번 읽을 수 있고 W panel을 바깥에 유지하면 X 전체를 32번 읽을 수 있습니다. 이 단순 예는 왜 원래 tensor 크기가 같아도 DMA가 달라지는지 설명합니다. 실제 탐색은 더 큰 panel과 SRAM resident 입력도 검토하며 출력과 scratch 공간, 누산 합법성을 함께 확인합니다. 전체 그래프의 tile streaming이 구현된 것은 아닙니다.</a:t>
            </a:r>
          </a:p>
          <a:p/>
          <a:p>
            <a:r>
              <a:t>슬라이드 본문:</a:t>
            </a:r>
          </a:p>
          <a:p>
            <a:r>
              <a:t>두 입력 모두 8 MiB보다 크다</a:t>
            </a:r>
          </a:p>
          <a:p>
            <a:r>
              <a:t>S=3072일 때 X[3072,3072]는 18 MiB, gate W[3072,8192]는 48 MiB입니다. X 64행은 384 KiB, W 256열은 1.5 MiB로 나눌 수 있습니다.</a:t>
            </a:r>
          </a:p>
          <a:p/>
          <a:p>
            <a:r>
              <a:t>바깥에 두는 쪽이 재사용을 정한다</a:t>
            </a:r>
          </a:p>
          <a:p>
            <a:r>
              <a:t>X panel을 유지하며 W를 돌면 W 전체를 48번 읽고, W panel을 유지하며 X를 돌면 X 전체를 32번 읽습니다. 원래 tensor 크기가 같아도 DMA는 달라집니다.</a:t>
            </a:r>
          </a:p>
          <a:p/>
          <a:p>
            <a:r>
              <a:t>설명용 산술과 실제 선택은 다르다</a:t>
            </a:r>
          </a:p>
          <a:p>
            <a:r>
              <a:t>실제 탐색은 더 큰 panel과 다른 cache 위치, resident 입력을 검토하며 출력·scratch·누산 합법성도 검사합니다. 이 그림은 장문 전체 모델의 새 compile 결과가 아닙니다.</a:t>
            </a:r>
          </a:p>
          <a:p/>
          <a:p>
            <a:r>
              <a:t>예제와 해석: 입력 전송의 단순 산술: X 유지 2322 MiB, W 유지 624 MiB. 출력·scratch·정렬 비용을 뺀 비교이며 전역 최적을 뜻하지 않습니다.</a:t>
            </a:r>
          </a:p>
          <a:p/>
          <a:p>
            <a:r>
              <a:t>근거 파일 (docs 기준):</a:t>
            </a:r>
          </a:p>
          <a:p>
            <a:r>
              <a:t>current/06_matmul_schedule.md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발표의 그림과 숫자를 문서에서 다시 확인할 수 있습니다</a:t>
            </a:r>
          </a:p>
          <a:p/>
          <a:p>
            <a:r>
              <a:t>docs/README.md에서 13개 장을 순서대로 읽습니다. Examples에는 작은 pipeline, memory 비교, Schedule API 교육 예제, actual-width Llama 한 layer IR가 있습니다. Evidence는 전체 Llama 검증과 17개 gate, compile 비교의 보존된 기록입니다. 발표자료를 만들면서 compiler나 model은 실행하지 않았습니다. PPTX는 편집 가능한 도형과 텍스트, 실험 그림을 포함하고 PDF는 같은 좌표와 내용으로 별도 렌더링한 보기용 파일입니다. PowerPoint의 실제 렌더링 결과와 동일성까지 검증한 것은 아닙니다.</a:t>
            </a:r>
          </a:p>
          <a:p/>
          <a:p>
            <a:r>
              <a:t>슬라이드 본문:</a:t>
            </a:r>
          </a:p>
          <a:p>
            <a:r>
              <a:t>발표→문서→실제 결과</a:t>
            </a:r>
          </a:p>
          <a:p>
            <a:r>
              <a:t>각 슬라이드의 sources는 docs의 같은 주제 장과 IR·JSON으로 연결됩니다. 노트에는 설명 흐름과 조건을 남겼고 본문에도 핵심 이유와 예시를 담았습니다.</a:t>
            </a:r>
          </a:p>
          <a:p/>
          <a:p>
            <a:r>
              <a:t>재생성 가능한 그림과 표</a:t>
            </a:r>
          </a:p>
          <a:p>
            <a:r>
              <a:t>도형은 PPTX에서 편집할 수 있고, 수치 그림은 보존된 JSON을 기준으로 만듭니다. PDF는 같은 좌표에서 별도로 렌더링한 보기용 파일입니다.</a:t>
            </a:r>
          </a:p>
          <a:p/>
          <a:p>
            <a:r>
              <a:t>근거 갱신을 혼동하지 않는다</a:t>
            </a:r>
          </a:p>
          <a:p>
            <a:r>
              <a:t>발표자료를 다시 만들었다고 compiler나 전체 모델을 재실행한 것은 아닙니다. sources.json과 validation.json에서 원본 hash와 제작 검사 범위를 확인합니다.</a:t>
            </a:r>
          </a:p>
          <a:p/>
          <a:p>
            <a:r>
              <a:t>예제와 해석: 더 읽기: docs/README.md의 13개 장 → examples의 IR·명령 → evidence의 실행·선택·회귀 기록.</a:t>
            </a:r>
          </a:p>
          <a:p/>
          <a:p>
            <a:r>
              <a:t>근거 파일 (docs 기준):</a:t>
            </a:r>
          </a:p>
          <a:p>
            <a:r>
              <a:t>README.md</a:t>
            </a:r>
          </a:p>
          <a:p>
            <a:r>
              <a:t>examples/README.md</a:t>
            </a:r>
          </a:p>
          <a:p>
            <a:r>
              <a:t>evidence/README.md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OVERVIEW</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TVM 기반 LLM NPU compiler</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계산의 의미, 실행 배치, 메모리와 검증을 실제 예제로 연결합니다.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설명의 출발점</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모델이 정의한 계산을 NPU에서 실행하려면 수식,</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실행 순서, 메모리 주소를 모두 정해야 합니다. 이</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발표는 같은 예제를 이 세 관점으로 이어서</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설명합니다.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두 가지 예제를 함께 사용</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작은 Linear·두 matmul 예제로 IR과 주소를 읽고,</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Llama의 실제 hidden 3072·MLP 8192 크기로</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확장합니다. 작은 그림이 실제 모델의 어떤 부분인지</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연결합니다.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현재 기준</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메모리 계층이 적용된 v09 FP16 backend가</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본문입니다. 양자화와 기존 main은 부록으로</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구분하며, 실험 수치는 문서에 남아 있는 검증 기록을</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사용합니다.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읽는 순서: 모델 → Relax/TIR → fusion → schedule → 메모리 → ISA → runtime → 검증</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01_overview.md</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01 / 54</a:t>
            </a:r>
          </a:p>
        </p:txBody>
      </p:sp>
      <p:sp>
        <p:nvSpPr>
          <p:cNvPr id="37" name="TextBox 36"/>
          <p:cNvSpPr txBox="1"/>
          <p:nvPr/>
        </p:nvSpPr>
        <p:spPr>
          <a:xfrm>
            <a:off x="977900" y="2781300"/>
            <a:ext cx="9906000" cy="455675"/>
          </a:xfrm>
          <a:prstGeom prst="rect">
            <a:avLst/>
          </a:prstGeom>
          <a:noFill/>
        </p:spPr>
        <p:txBody>
          <a:bodyPr wrap="none" tIns="0" bIns="0" lIns="0" rIns="0" anchor="t">
            <a:spAutoFit/>
          </a:bodyPr>
          <a:lstStyle/>
          <a:p>
            <a:pPr algn="l">
              <a:lnSpc>
                <a:spcPts val="3587"/>
              </a:lnSpc>
              <a:spcBef>
                <a:spcPts val="0"/>
              </a:spcBef>
              <a:spcAft>
                <a:spcPts val="0"/>
              </a:spcAft>
            </a:pPr>
            <a:r>
              <a:rPr sz="2600" b="1">
                <a:solidFill>
                  <a:srgbClr val="172942"/>
                </a:solidFill>
                <a:latin typeface="NanumGothic"/>
                <a:ea typeface="NanumGothic"/>
                <a:cs typeface="NanumGothic"/>
              </a:rPr>
              <a:t>한 모델이 실행되는 세 가지 관점</a:t>
            </a:r>
          </a:p>
        </p:txBody>
      </p:sp>
      <p:sp>
        <p:nvSpPr>
          <p:cNvPr id="38" name="Rounded Rectangle 37"/>
          <p:cNvSpPr/>
          <p:nvPr/>
        </p:nvSpPr>
        <p:spPr>
          <a:xfrm>
            <a:off x="889000" y="3594100"/>
            <a:ext cx="3136900" cy="1651000"/>
          </a:xfrm>
          <a:prstGeom prst="roundRect">
            <a:avLst>
              <a:gd name="adj" fmla="val 6153"/>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6800" y="37719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모델의 계산</a:t>
            </a:r>
          </a:p>
        </p:txBody>
      </p:sp>
      <p:sp>
        <p:nvSpPr>
          <p:cNvPr id="40" name="TextBox 39"/>
          <p:cNvSpPr txBox="1"/>
          <p:nvPr/>
        </p:nvSpPr>
        <p:spPr>
          <a:xfrm>
            <a:off x="1066800" y="41986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X → attention → MLP</a:t>
            </a:r>
          </a:p>
        </p:txBody>
      </p:sp>
      <p:sp>
        <p:nvSpPr>
          <p:cNvPr id="41" name="TextBox 40"/>
          <p:cNvSpPr txBox="1"/>
          <p:nvPr/>
        </p:nvSpPr>
        <p:spPr>
          <a:xfrm>
            <a:off x="1066800" y="44615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28 layers → logits</a:t>
            </a:r>
          </a:p>
        </p:txBody>
      </p:sp>
      <p:sp>
        <p:nvSpPr>
          <p:cNvPr id="42" name="Rounded Rectangle 41"/>
          <p:cNvSpPr/>
          <p:nvPr/>
        </p:nvSpPr>
        <p:spPr>
          <a:xfrm>
            <a:off x="4559300" y="3594100"/>
            <a:ext cx="3136900" cy="1651000"/>
          </a:xfrm>
          <a:prstGeom prst="roundRect">
            <a:avLst>
              <a:gd name="adj" fmla="val 615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7100" y="37719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실행 배치</a:t>
            </a:r>
          </a:p>
        </p:txBody>
      </p:sp>
      <p:sp>
        <p:nvSpPr>
          <p:cNvPr id="44" name="TextBox 43"/>
          <p:cNvSpPr txBox="1"/>
          <p:nvPr/>
        </p:nvSpPr>
        <p:spPr>
          <a:xfrm>
            <a:off x="4737100" y="41986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64×64 tile + panel</a:t>
            </a:r>
          </a:p>
        </p:txBody>
      </p:sp>
      <p:sp>
        <p:nvSpPr>
          <p:cNvPr id="45" name="TextBox 44"/>
          <p:cNvSpPr txBox="1"/>
          <p:nvPr/>
        </p:nvSpPr>
        <p:spPr>
          <a:xfrm>
            <a:off x="4737100" y="44615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FP32 누산 → FP16 저장</a:t>
            </a:r>
          </a:p>
        </p:txBody>
      </p:sp>
      <p:cxnSp>
        <p:nvCxnSpPr>
          <p:cNvPr id="46" name="Connector 45"/>
          <p:cNvCxnSpPr/>
          <p:nvPr/>
        </p:nvCxnSpPr>
        <p:spPr>
          <a:xfrm>
            <a:off x="4076700" y="441960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4368800" y="4368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229600" y="3594100"/>
            <a:ext cx="3136900" cy="1651000"/>
          </a:xfrm>
          <a:prstGeom prst="roundRect">
            <a:avLst>
              <a:gd name="adj" fmla="val 615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7400" y="37719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값의 보관</a:t>
            </a:r>
          </a:p>
        </p:txBody>
      </p:sp>
      <p:sp>
        <p:nvSpPr>
          <p:cNvPr id="50" name="TextBox 49"/>
          <p:cNvSpPr txBox="1"/>
          <p:nvPr/>
        </p:nvSpPr>
        <p:spPr>
          <a:xfrm>
            <a:off x="8407400" y="41986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SRAM 재사용 / DRAM</a:t>
            </a:r>
          </a:p>
        </p:txBody>
      </p:sp>
      <p:sp>
        <p:nvSpPr>
          <p:cNvPr id="51" name="TextBox 50"/>
          <p:cNvSpPr txBox="1"/>
          <p:nvPr/>
        </p:nvSpPr>
        <p:spPr>
          <a:xfrm>
            <a:off x="8407400" y="44615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KV cache와 주소 계약</a:t>
            </a:r>
          </a:p>
        </p:txBody>
      </p:sp>
      <p:cxnSp>
        <p:nvCxnSpPr>
          <p:cNvPr id="52" name="Connector 51"/>
          <p:cNvCxnSpPr/>
          <p:nvPr/>
        </p:nvCxnSpPr>
        <p:spPr>
          <a:xfrm>
            <a:off x="7747000" y="441960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8039100" y="4368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2463800" y="5245100"/>
            <a:ext cx="0" cy="4826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63800" y="5727700"/>
            <a:ext cx="73406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804400" y="5727700"/>
            <a:ext cx="0" cy="3937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57" name="Freeform 56"/>
          <p:cNvSpPr/>
          <p:nvPr/>
        </p:nvSpPr>
        <p:spPr>
          <a:xfrm>
            <a:off x="9753600" y="60198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89000" y="6121400"/>
            <a:ext cx="10426700" cy="1600200"/>
          </a:xfrm>
          <a:prstGeom prst="roundRect">
            <a:avLst>
              <a:gd name="adj" fmla="val 6349"/>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66800" y="6299200"/>
            <a:ext cx="100711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IR와 명령, 실험 결과로 선택을 확인</a:t>
            </a:r>
          </a:p>
        </p:txBody>
      </p:sp>
      <p:sp>
        <p:nvSpPr>
          <p:cNvPr id="60" name="TextBox 59"/>
          <p:cNvSpPr txBox="1"/>
          <p:nvPr/>
        </p:nvSpPr>
        <p:spPr>
          <a:xfrm>
            <a:off x="1066800" y="6778498"/>
            <a:ext cx="10071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작은 예제: 실제 shape·수명·주소를 읽기</a:t>
            </a:r>
          </a:p>
        </p:txBody>
      </p:sp>
      <p:sp>
        <p:nvSpPr>
          <p:cNvPr id="61" name="TextBox 60"/>
          <p:cNvSpPr txBox="1"/>
          <p:nvPr/>
        </p:nvSpPr>
        <p:spPr>
          <a:xfrm>
            <a:off x="1066800" y="7041388"/>
            <a:ext cx="10071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Llama: hidden 3072 / MLP 8192 / Q 24 heads / KV 8 heads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01 / 전체 구조</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세 가지 질문으로 compiler를 이해합니다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같은 계산이라도 실행 순서와 저장 위치에 따라 비용이 달라집니다.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계산: 값의 의미를 정한다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Relax는 matmul·add·SiLU의 연결을 표현합니다.</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Semantic TIR는 각 원소의 수식, reduction 축,</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FP16/FP32 변환 위치를 정의합니다.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배치: 같은 계산을 나누어 실행한다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Schedule은 loop를 64 단위로 나누고 입력 panel을</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어느 반복 밖에서 올릴지 정합니다. 같은 tensor도</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재읽는 횟수에 따라 DMA가 달라집니다.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보관: 다음 계산까지 이어준다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Memory planning은 값의 마지막 사용과 작업</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공간을 함께 봅니다. 두 커널을 합치지 않아도 같은</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SRAM 영역으로 중간값을 넘길 수 있습니다.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관통 예제: Y = SiLU(X[64,128] × B[128,64] + bias[64]). 세 단계는 모두 이 계산을 구체화합니다.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01_overview.md</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02 / 54</a:t>
            </a:r>
          </a:p>
        </p:txBody>
      </p:sp>
      <p:sp>
        <p:nvSpPr>
          <p:cNvPr id="34" name="Rectangle 33"/>
          <p:cNvSpPr/>
          <p:nvPr/>
        </p:nvSpPr>
        <p:spPr>
          <a:xfrm>
            <a:off x="850900" y="27432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7900" y="2857500"/>
            <a:ext cx="1625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단계</a:t>
            </a:r>
          </a:p>
        </p:txBody>
      </p:sp>
      <p:sp>
        <p:nvSpPr>
          <p:cNvPr id="36" name="TextBox 35"/>
          <p:cNvSpPr txBox="1"/>
          <p:nvPr/>
        </p:nvSpPr>
        <p:spPr>
          <a:xfrm>
            <a:off x="2857500" y="2857500"/>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같은 예제가 어떻게 보이는가</a:t>
            </a:r>
          </a:p>
        </p:txBody>
      </p:sp>
      <p:sp>
        <p:nvSpPr>
          <p:cNvPr id="37" name="TextBox 36"/>
          <p:cNvSpPr txBox="1"/>
          <p:nvPr/>
        </p:nvSpPr>
        <p:spPr>
          <a:xfrm>
            <a:off x="7391400" y="2857500"/>
            <a:ext cx="38227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이번 단계에서 정하는 것</a:t>
            </a:r>
          </a:p>
        </p:txBody>
      </p:sp>
      <p:sp>
        <p:nvSpPr>
          <p:cNvPr id="38" name="Rectangle 37"/>
          <p:cNvSpPr/>
          <p:nvPr/>
        </p:nvSpPr>
        <p:spPr>
          <a:xfrm>
            <a:off x="850900" y="3200400"/>
            <a:ext cx="10490200" cy="977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7900" y="3314700"/>
            <a:ext cx="1625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계산 의미</a:t>
            </a:r>
          </a:p>
        </p:txBody>
      </p:sp>
      <p:sp>
        <p:nvSpPr>
          <p:cNvPr id="40" name="TextBox 39"/>
          <p:cNvSpPr txBox="1"/>
          <p:nvPr/>
        </p:nvSpPr>
        <p:spPr>
          <a:xfrm>
            <a:off x="2857500" y="33147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Y = SiLU(X × B + bias)</a:t>
            </a:r>
          </a:p>
        </p:txBody>
      </p:sp>
      <p:sp>
        <p:nvSpPr>
          <p:cNvPr id="41" name="TextBox 40"/>
          <p:cNvSpPr txBox="1"/>
          <p:nvPr/>
        </p:nvSpPr>
        <p:spPr>
          <a:xfrm>
            <a:off x="7391400" y="3314700"/>
            <a:ext cx="3822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연산 연결 · reduction · cast</a:t>
            </a:r>
          </a:p>
        </p:txBody>
      </p:sp>
      <p:sp>
        <p:nvSpPr>
          <p:cNvPr id="42" name="Rectangle 41"/>
          <p:cNvSpPr/>
          <p:nvPr/>
        </p:nvSpPr>
        <p:spPr>
          <a:xfrm>
            <a:off x="850900" y="4178300"/>
            <a:ext cx="10490200" cy="9779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7900" y="4292600"/>
            <a:ext cx="1625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실행 배치</a:t>
            </a:r>
          </a:p>
        </p:txBody>
      </p:sp>
      <p:sp>
        <p:nvSpPr>
          <p:cNvPr id="44" name="TextBox 43"/>
          <p:cNvSpPr txBox="1"/>
          <p:nvPr/>
        </p:nvSpPr>
        <p:spPr>
          <a:xfrm>
            <a:off x="2857500" y="42926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출력 64×64 / K를 64씩 2번</a:t>
            </a:r>
          </a:p>
        </p:txBody>
      </p:sp>
      <p:sp>
        <p:nvSpPr>
          <p:cNvPr id="45" name="TextBox 44"/>
          <p:cNvSpPr txBox="1"/>
          <p:nvPr/>
        </p:nvSpPr>
        <p:spPr>
          <a:xfrm>
            <a:off x="7391400" y="4292600"/>
            <a:ext cx="3822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Loop 순서 · cache 위치</a:t>
            </a:r>
          </a:p>
        </p:txBody>
      </p:sp>
      <p:sp>
        <p:nvSpPr>
          <p:cNvPr id="46" name="Rectangle 45"/>
          <p:cNvSpPr/>
          <p:nvPr/>
        </p:nvSpPr>
        <p:spPr>
          <a:xfrm>
            <a:off x="850900" y="5156200"/>
            <a:ext cx="10490200" cy="977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5270500"/>
            <a:ext cx="1625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저장과 주소</a:t>
            </a:r>
          </a:p>
        </p:txBody>
      </p:sp>
      <p:sp>
        <p:nvSpPr>
          <p:cNvPr id="48" name="TextBox 47"/>
          <p:cNvSpPr txBox="1"/>
          <p:nvPr/>
        </p:nvSpPr>
        <p:spPr>
          <a:xfrm>
            <a:off x="2857500" y="52705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입력 X/B 각 16 KiB를 SRAM에</a:t>
            </a:r>
          </a:p>
        </p:txBody>
      </p:sp>
      <p:sp>
        <p:nvSpPr>
          <p:cNvPr id="49" name="TextBox 48"/>
          <p:cNvSpPr txBox="1"/>
          <p:nvPr/>
        </p:nvSpPr>
        <p:spPr>
          <a:xfrm>
            <a:off x="7391400" y="5270500"/>
            <a:ext cx="3822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수명 · 재사용 · 실제 offset</a:t>
            </a:r>
          </a:p>
        </p:txBody>
      </p:sp>
      <p:sp>
        <p:nvSpPr>
          <p:cNvPr id="50" name="Rectangle 49"/>
          <p:cNvSpPr/>
          <p:nvPr/>
        </p:nvSpPr>
        <p:spPr>
          <a:xfrm>
            <a:off x="850900" y="6134100"/>
            <a:ext cx="10490200" cy="9779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6248400"/>
            <a:ext cx="1625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실행과 검증</a:t>
            </a:r>
          </a:p>
        </p:txBody>
      </p:sp>
      <p:sp>
        <p:nvSpPr>
          <p:cNvPr id="52" name="TextBox 51"/>
          <p:cNvSpPr txBox="1"/>
          <p:nvPr/>
        </p:nvSpPr>
        <p:spPr>
          <a:xfrm>
            <a:off x="2857500" y="62484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M_MUL + vector + DMA stream</a:t>
            </a:r>
          </a:p>
        </p:txBody>
      </p:sp>
      <p:sp>
        <p:nvSpPr>
          <p:cNvPr id="53" name="TextBox 52"/>
          <p:cNvSpPr txBox="1"/>
          <p:nvPr/>
        </p:nvSpPr>
        <p:spPr>
          <a:xfrm>
            <a:off x="7391400" y="6248400"/>
            <a:ext cx="3822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ABI · 출력 비교 · 비용</a:t>
            </a:r>
          </a:p>
        </p:txBody>
      </p:sp>
      <p:sp>
        <p:nvSpPr>
          <p:cNvPr id="54" name="Rounded Rectangle 53"/>
          <p:cNvSpPr/>
          <p:nvPr/>
        </p:nvSpPr>
        <p:spPr>
          <a:xfrm>
            <a:off x="952500" y="7378700"/>
            <a:ext cx="45720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6800" y="7454900"/>
            <a:ext cx="43434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같은 계산을 단계별로 구체화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01 / 전체 구조</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Compile, 준비, 실행은 서로 다른 작업입니다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프로그램을 만드는 시점과 weight를 실제로 읽는 시점을 구분합니다.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Compile: 정적 구조를 결정</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Shape·dtype·장치 조건을 받아 계산 프로그램과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주소 계획을 만듭니다. 값이 parameter라면 실제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weight 내용은 준비 단계에 넣을 수 있습니다.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Prepare: 실제 배열을 배치</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Host transform을 실행하여 W.T 등을 만들고,</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변환된 signature 순서대로 DRAM image를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채웁니다. 이 준비 비용과 NPU 실행 비용을</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구분합니다.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Run: 바뀐 입력을 넣어 실행</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Decode는 token·position·mask와 KV 상태를</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갱신하며 기본 계산 프로그램을 재사용합니다.</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Constant로 접힌 weight까지 임의로 바꿀 수 있다는</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뜻은 아닙니다.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예: transpose 함수는 compile 때 만들어지지만, 실제 weight 배열의 transpose는 host 준비 때 실행합니다.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01_overview.md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03 / 54</a:t>
            </a:r>
          </a:p>
        </p:txBody>
      </p:sp>
      <p:sp>
        <p:nvSpPr>
          <p:cNvPr id="36" name="Rounded Rectangle 35"/>
          <p:cNvSpPr/>
          <p:nvPr/>
        </p:nvSpPr>
        <p:spPr>
          <a:xfrm>
            <a:off x="889000" y="2933700"/>
            <a:ext cx="3136900" cy="1778000"/>
          </a:xfrm>
          <a:prstGeom prst="roundRect">
            <a:avLst>
              <a:gd name="adj" fmla="val 5714"/>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1115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COMPILE</a:t>
            </a:r>
          </a:p>
        </p:txBody>
      </p:sp>
      <p:sp>
        <p:nvSpPr>
          <p:cNvPr id="38" name="TextBox 37"/>
          <p:cNvSpPr txBox="1"/>
          <p:nvPr/>
        </p:nvSpPr>
        <p:spPr>
          <a:xfrm>
            <a:off x="1066800" y="35382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정적 shape / dtype</a:t>
            </a:r>
          </a:p>
        </p:txBody>
      </p:sp>
      <p:sp>
        <p:nvSpPr>
          <p:cNvPr id="39" name="TextBox 38"/>
          <p:cNvSpPr txBox="1"/>
          <p:nvPr/>
        </p:nvSpPr>
        <p:spPr>
          <a:xfrm>
            <a:off x="1066800" y="38011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장치 용량과 수치 계약</a:t>
            </a:r>
          </a:p>
        </p:txBody>
      </p:sp>
      <p:sp>
        <p:nvSpPr>
          <p:cNvPr id="40" name="Rounded Rectangle 39"/>
          <p:cNvSpPr/>
          <p:nvPr/>
        </p:nvSpPr>
        <p:spPr>
          <a:xfrm>
            <a:off x="4559300" y="2933700"/>
            <a:ext cx="3136900" cy="1778000"/>
          </a:xfrm>
          <a:prstGeom prst="roundRect">
            <a:avLst>
              <a:gd name="adj" fmla="val 5714"/>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37100" y="31115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PREPARE</a:t>
            </a:r>
          </a:p>
        </p:txBody>
      </p:sp>
      <p:sp>
        <p:nvSpPr>
          <p:cNvPr id="42" name="TextBox 41"/>
          <p:cNvSpPr txBox="1"/>
          <p:nvPr/>
        </p:nvSpPr>
        <p:spPr>
          <a:xfrm>
            <a:off x="4737100" y="35382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Checkpoint 배열</a:t>
            </a:r>
          </a:p>
        </p:txBody>
      </p:sp>
      <p:sp>
        <p:nvSpPr>
          <p:cNvPr id="43" name="TextBox 42"/>
          <p:cNvSpPr txBox="1"/>
          <p:nvPr/>
        </p:nvSpPr>
        <p:spPr>
          <a:xfrm>
            <a:off x="4737100" y="38011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Host transform 실행</a:t>
            </a:r>
          </a:p>
        </p:txBody>
      </p:sp>
      <p:cxnSp>
        <p:nvCxnSpPr>
          <p:cNvPr id="44" name="Connector 43"/>
          <p:cNvCxnSpPr/>
          <p:nvPr/>
        </p:nvCxnSpPr>
        <p:spPr>
          <a:xfrm>
            <a:off x="4076700" y="382270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4368800" y="37719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29600" y="2933700"/>
            <a:ext cx="3136900" cy="1778000"/>
          </a:xfrm>
          <a:prstGeom prst="roundRect">
            <a:avLst>
              <a:gd name="adj" fmla="val 5714"/>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7400" y="31115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RUN</a:t>
            </a:r>
          </a:p>
        </p:txBody>
      </p:sp>
      <p:sp>
        <p:nvSpPr>
          <p:cNvPr id="48" name="TextBox 47"/>
          <p:cNvSpPr txBox="1"/>
          <p:nvPr/>
        </p:nvSpPr>
        <p:spPr>
          <a:xfrm>
            <a:off x="8407400" y="35382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입력 patch / 실행</a:t>
            </a:r>
          </a:p>
        </p:txBody>
      </p:sp>
      <p:sp>
        <p:nvSpPr>
          <p:cNvPr id="49" name="TextBox 48"/>
          <p:cNvSpPr txBox="1"/>
          <p:nvPr/>
        </p:nvSpPr>
        <p:spPr>
          <a:xfrm>
            <a:off x="8407400" y="38011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Logits 읽기 / argmax</a:t>
            </a:r>
          </a:p>
        </p:txBody>
      </p:sp>
      <p:cxnSp>
        <p:nvCxnSpPr>
          <p:cNvPr id="50" name="Connector 49"/>
          <p:cNvCxnSpPr/>
          <p:nvPr/>
        </p:nvCxnSpPr>
        <p:spPr>
          <a:xfrm>
            <a:off x="7747000" y="382270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8039100" y="37719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2451100" y="4711700"/>
            <a:ext cx="0" cy="5461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2400300" y="51562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89000" y="5257800"/>
            <a:ext cx="3136900" cy="1320800"/>
          </a:xfrm>
          <a:prstGeom prst="roundRect">
            <a:avLst>
              <a:gd name="adj" fmla="val 7692"/>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6800" y="5435600"/>
            <a:ext cx="27813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Program + plan</a:t>
            </a:r>
          </a:p>
        </p:txBody>
      </p:sp>
      <p:sp>
        <p:nvSpPr>
          <p:cNvPr id="56" name="TextBox 55"/>
          <p:cNvSpPr txBox="1"/>
          <p:nvPr/>
        </p:nvSpPr>
        <p:spPr>
          <a:xfrm>
            <a:off x="1066800" y="5844794"/>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명령과 주소의 연결</a:t>
            </a:r>
          </a:p>
        </p:txBody>
      </p:sp>
      <p:cxnSp>
        <p:nvCxnSpPr>
          <p:cNvPr id="57" name="Connector 56"/>
          <p:cNvCxnSpPr/>
          <p:nvPr/>
        </p:nvCxnSpPr>
        <p:spPr>
          <a:xfrm>
            <a:off x="6121400" y="4711700"/>
            <a:ext cx="0" cy="5461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8" name="Freeform 57"/>
          <p:cNvSpPr/>
          <p:nvPr/>
        </p:nvSpPr>
        <p:spPr>
          <a:xfrm>
            <a:off x="6070600" y="51562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559300" y="5257800"/>
            <a:ext cx="3136900" cy="1320800"/>
          </a:xfrm>
          <a:prstGeom prst="roundRect">
            <a:avLst>
              <a:gd name="adj" fmla="val 7692"/>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37100" y="5435600"/>
            <a:ext cx="27813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DRAM image</a:t>
            </a:r>
          </a:p>
        </p:txBody>
      </p:sp>
      <p:sp>
        <p:nvSpPr>
          <p:cNvPr id="61" name="TextBox 60"/>
          <p:cNvSpPr txBox="1"/>
          <p:nvPr/>
        </p:nvSpPr>
        <p:spPr>
          <a:xfrm>
            <a:off x="4737100" y="5844794"/>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변환된 W + 입력 + 상수</a:t>
            </a:r>
          </a:p>
        </p:txBody>
      </p:sp>
      <p:cxnSp>
        <p:nvCxnSpPr>
          <p:cNvPr id="62" name="Connector 61"/>
          <p:cNvCxnSpPr/>
          <p:nvPr/>
        </p:nvCxnSpPr>
        <p:spPr>
          <a:xfrm>
            <a:off x="9791700" y="4711700"/>
            <a:ext cx="0" cy="5461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9740900" y="51562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229600" y="5257800"/>
            <a:ext cx="3136900" cy="1320800"/>
          </a:xfrm>
          <a:prstGeom prst="roundRect">
            <a:avLst>
              <a:gd name="adj" fmla="val 7692"/>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07400" y="5435600"/>
            <a:ext cx="27813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다음 호출의 상태</a:t>
            </a:r>
          </a:p>
        </p:txBody>
      </p:sp>
      <p:sp>
        <p:nvSpPr>
          <p:cNvPr id="66" name="TextBox 65"/>
          <p:cNvSpPr txBox="1"/>
          <p:nvPr/>
        </p:nvSpPr>
        <p:spPr>
          <a:xfrm>
            <a:off x="8407400" y="5844794"/>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선택 token + 갱신된 KV</a:t>
            </a:r>
          </a:p>
        </p:txBody>
      </p:sp>
      <p:cxnSp>
        <p:nvCxnSpPr>
          <p:cNvPr id="67" name="Connector 66"/>
          <p:cNvCxnSpPr/>
          <p:nvPr/>
        </p:nvCxnSpPr>
        <p:spPr>
          <a:xfrm>
            <a:off x="9842500" y="6578600"/>
            <a:ext cx="0" cy="7874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8382000" y="7366000"/>
            <a:ext cx="14605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382000" y="6731000"/>
            <a:ext cx="0" cy="6350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70" name="Freeform 69"/>
          <p:cNvSpPr/>
          <p:nvPr/>
        </p:nvSpPr>
        <p:spPr>
          <a:xfrm>
            <a:off x="8331200" y="6731000"/>
            <a:ext cx="101600" cy="101600"/>
          </a:xfrm>
          <a:custGeom>
            <a:avLst/>
            <a:gdLst/>
            <a:ahLst/>
            <a:cxnLst/>
            <a:rect l="l" t="t" r="r" b="b"/>
            <a:pathLst>
              <a:path w="8" h="8">
                <a:moveTo>
                  <a:pt x="4" y="0"/>
                </a:moveTo>
                <a:lnTo>
                  <a:pt x="8" y="8"/>
                </a:lnTo>
                <a:lnTo>
                  <a:pt x="0" y="8"/>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92200" y="7353300"/>
            <a:ext cx="69850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008A82"/>
                </a:solidFill>
                <a:latin typeface="NanumGothic"/>
                <a:ea typeface="NanumGothic"/>
                <a:cs typeface="NanumGothic"/>
              </a:rPr>
              <a:t>Decode의 기본 계산 명령은 step마다 재생성하지 않음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01 / 전체 구조</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장치는 세 층의 메모리를 사용합니다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GLOAD/GSTORE와 LOAD/SAVE는 서로 다른 경계를 이동합니다.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DRAM: 모델과 호출 간 상태</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Weight 전체, 외부 입력·출력, persistent KV</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cache가 놓입니다. 기본 SRAM 8 MiB보다 큰</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tensor는 계산에 필요한 부분만 가져옵니다.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SRAM: 계산할 조각과 보관할 값</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입력 panel, vector scratch, 다음 커널이 쓸</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중간값이 공간을 나눠 씁니다. 보관을 늘리면 현재</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커널에 줄 수 있는 작업 공간은 줄어듭니다.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Unit: 실제 계산과 누산 상태</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Matrix unit의 FP32 accumulator는 SRAM</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buffer와 다릅니다. SRAM에 값이 있어도 연산장치</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입력으로 LOAD하고, 완료된 결과를 SAVE하는</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단계는 필요합니다.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GLOAD/GSTORE는 DRAM↔SRAM, LOAD/SAVE는 SRAM↔연산장치 이동입니다. 이 둘을 섞어 세지 않습니다.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01_overview.md, 09_isa.md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04 / 54</a:t>
            </a:r>
          </a:p>
        </p:txBody>
      </p:sp>
      <p:sp>
        <p:nvSpPr>
          <p:cNvPr id="35" name="Rounded Rectangle 34"/>
          <p:cNvSpPr/>
          <p:nvPr/>
        </p:nvSpPr>
        <p:spPr>
          <a:xfrm>
            <a:off x="901700" y="2743200"/>
            <a:ext cx="7112000" cy="1333500"/>
          </a:xfrm>
          <a:prstGeom prst="roundRect">
            <a:avLst>
              <a:gd name="adj" fmla="val 7619"/>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9500" y="2921000"/>
            <a:ext cx="67564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DRAM: 큰 tensor와 persistent 상태</a:t>
            </a:r>
          </a:p>
        </p:txBody>
      </p:sp>
      <p:sp>
        <p:nvSpPr>
          <p:cNvPr id="37" name="TextBox 36"/>
          <p:cNvSpPr txBox="1"/>
          <p:nvPr/>
        </p:nvSpPr>
        <p:spPr>
          <a:xfrm>
            <a:off x="1079500" y="3400298"/>
            <a:ext cx="6756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W 전체 48 MiB · 외부 입출력 · KV cache</a:t>
            </a:r>
          </a:p>
        </p:txBody>
      </p:sp>
      <p:sp>
        <p:nvSpPr>
          <p:cNvPr id="38" name="Rounded Rectangle 37"/>
          <p:cNvSpPr/>
          <p:nvPr/>
        </p:nvSpPr>
        <p:spPr>
          <a:xfrm>
            <a:off x="901700" y="4648200"/>
            <a:ext cx="7112000" cy="1346200"/>
          </a:xfrm>
          <a:prstGeom prst="roundRect">
            <a:avLst>
              <a:gd name="adj" fmla="val 7547"/>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9500" y="4826000"/>
            <a:ext cx="67564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SRAM: 기본 8 MiB</a:t>
            </a:r>
          </a:p>
        </p:txBody>
      </p:sp>
      <p:sp>
        <p:nvSpPr>
          <p:cNvPr id="40" name="TextBox 39"/>
          <p:cNvSpPr txBox="1"/>
          <p:nvPr/>
        </p:nvSpPr>
        <p:spPr>
          <a:xfrm>
            <a:off x="1079500" y="5305298"/>
            <a:ext cx="6756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입력 panel | 다음 kernel에 남길 값 | scratch</a:t>
            </a:r>
          </a:p>
        </p:txBody>
      </p:sp>
      <p:sp>
        <p:nvSpPr>
          <p:cNvPr id="41" name="Rounded Rectangle 40"/>
          <p:cNvSpPr/>
          <p:nvPr/>
        </p:nvSpPr>
        <p:spPr>
          <a:xfrm>
            <a:off x="901700" y="6565900"/>
            <a:ext cx="3390900" cy="1333500"/>
          </a:xfrm>
          <a:prstGeom prst="roundRect">
            <a:avLst>
              <a:gd name="adj" fmla="val 761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9500" y="6743700"/>
            <a:ext cx="30353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Matrix unit</a:t>
            </a:r>
          </a:p>
        </p:txBody>
      </p:sp>
      <p:sp>
        <p:nvSpPr>
          <p:cNvPr id="43" name="TextBox 42"/>
          <p:cNvSpPr txBox="1"/>
          <p:nvPr/>
        </p:nvSpPr>
        <p:spPr>
          <a:xfrm>
            <a:off x="1079500" y="7205472"/>
            <a:ext cx="3035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64×64 / FP32 accumulator</a:t>
            </a:r>
          </a:p>
        </p:txBody>
      </p:sp>
      <p:sp>
        <p:nvSpPr>
          <p:cNvPr id="44" name="Rounded Rectangle 43"/>
          <p:cNvSpPr/>
          <p:nvPr/>
        </p:nvSpPr>
        <p:spPr>
          <a:xfrm>
            <a:off x="4572000" y="6565900"/>
            <a:ext cx="3441700" cy="1333500"/>
          </a:xfrm>
          <a:prstGeom prst="roundRect">
            <a:avLst>
              <a:gd name="adj" fmla="val 761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49800" y="6743700"/>
            <a:ext cx="30861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Vector unit</a:t>
            </a:r>
          </a:p>
        </p:txBody>
      </p:sp>
      <p:sp>
        <p:nvSpPr>
          <p:cNvPr id="46" name="TextBox 45"/>
          <p:cNvSpPr txBox="1"/>
          <p:nvPr/>
        </p:nvSpPr>
        <p:spPr>
          <a:xfrm>
            <a:off x="4749800" y="7205472"/>
            <a:ext cx="3086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Pointwise + reduction</a:t>
            </a:r>
          </a:p>
        </p:txBody>
      </p:sp>
      <p:cxnSp>
        <p:nvCxnSpPr>
          <p:cNvPr id="47" name="Connector 46"/>
          <p:cNvCxnSpPr/>
          <p:nvPr/>
        </p:nvCxnSpPr>
        <p:spPr>
          <a:xfrm>
            <a:off x="3111500" y="4076700"/>
            <a:ext cx="0" cy="571500"/>
          </a:xfrm>
          <a:prstGeom prst="line">
            <a:avLst/>
          </a:prstGeom>
          <a:ln w="25400">
            <a:solidFill>
              <a:srgbClr val="B46E10"/>
            </a:solidFill>
          </a:ln>
        </p:spPr>
        <p:style>
          <a:lnRef idx="2">
            <a:schemeClr val="accent1"/>
          </a:lnRef>
          <a:fillRef idx="0">
            <a:schemeClr val="accent1"/>
          </a:fillRef>
          <a:effectRef idx="1">
            <a:schemeClr val="accent1"/>
          </a:effectRef>
          <a:fontRef idx="minor">
            <a:schemeClr val="tx1"/>
          </a:fontRef>
        </p:style>
      </p:cxnSp>
      <p:sp>
        <p:nvSpPr>
          <p:cNvPr id="48" name="Freeform 47"/>
          <p:cNvSpPr/>
          <p:nvPr/>
        </p:nvSpPr>
        <p:spPr>
          <a:xfrm>
            <a:off x="3060700" y="4546600"/>
            <a:ext cx="101600" cy="101600"/>
          </a:xfrm>
          <a:custGeom>
            <a:avLst/>
            <a:gdLst/>
            <a:ahLst/>
            <a:cxnLst/>
            <a:rect l="l" t="t" r="r" b="b"/>
            <a:pathLst>
              <a:path w="8" h="8">
                <a:moveTo>
                  <a:pt x="4" y="8"/>
                </a:moveTo>
                <a:lnTo>
                  <a:pt x="0" y="0"/>
                </a:lnTo>
                <a:lnTo>
                  <a:pt x="8" y="0"/>
                </a:lnTo>
                <a:close/>
              </a:path>
            </a:pathLst>
          </a:custGeom>
          <a:solidFill>
            <a:srgbClr val="B46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V="1">
            <a:off x="5524500" y="4076700"/>
            <a:ext cx="0" cy="571500"/>
          </a:xfrm>
          <a:prstGeom prst="line">
            <a:avLst/>
          </a:prstGeom>
          <a:ln w="25400">
            <a:solidFill>
              <a:srgbClr val="B46E10"/>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5473700" y="4076700"/>
            <a:ext cx="101600" cy="101600"/>
          </a:xfrm>
          <a:custGeom>
            <a:avLst/>
            <a:gdLst/>
            <a:ahLst/>
            <a:cxnLst/>
            <a:rect l="l" t="t" r="r" b="b"/>
            <a:pathLst>
              <a:path w="8" h="8">
                <a:moveTo>
                  <a:pt x="4" y="0"/>
                </a:moveTo>
                <a:lnTo>
                  <a:pt x="8" y="8"/>
                </a:lnTo>
                <a:lnTo>
                  <a:pt x="0" y="8"/>
                </a:lnTo>
                <a:close/>
              </a:path>
            </a:pathLst>
          </a:custGeom>
          <a:solidFill>
            <a:srgbClr val="B46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80400" y="4102100"/>
            <a:ext cx="29845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B46E10"/>
                </a:solidFill>
                <a:latin typeface="NanumGothic"/>
                <a:ea typeface="NanumGothic"/>
                <a:cs typeface="NanumGothic"/>
              </a:rPr>
              <a:t>GLOAD / GSTORE</a:t>
            </a:r>
          </a:p>
        </p:txBody>
      </p:sp>
      <p:cxnSp>
        <p:nvCxnSpPr>
          <p:cNvPr id="52" name="Connector 51"/>
          <p:cNvCxnSpPr/>
          <p:nvPr/>
        </p:nvCxnSpPr>
        <p:spPr>
          <a:xfrm>
            <a:off x="2476500" y="5994400"/>
            <a:ext cx="0" cy="571500"/>
          </a:xfrm>
          <a:prstGeom prst="line">
            <a:avLst/>
          </a:prstGeom>
          <a:ln w="25400">
            <a:solidFill>
              <a:srgbClr val="7655B7"/>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2425700" y="6464300"/>
            <a:ext cx="101600" cy="101600"/>
          </a:xfrm>
          <a:custGeom>
            <a:avLst/>
            <a:gdLst/>
            <a:ahLst/>
            <a:cxnLst/>
            <a:rect l="l" t="t" r="r" b="b"/>
            <a:pathLst>
              <a:path w="8" h="8">
                <a:moveTo>
                  <a:pt x="4" y="8"/>
                </a:moveTo>
                <a:lnTo>
                  <a:pt x="0" y="0"/>
                </a:lnTo>
                <a:lnTo>
                  <a:pt x="8" y="0"/>
                </a:lnTo>
                <a:close/>
              </a:path>
            </a:pathLst>
          </a:cu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flipV="1">
            <a:off x="6223000" y="5994400"/>
            <a:ext cx="0" cy="571500"/>
          </a:xfrm>
          <a:prstGeom prst="line">
            <a:avLst/>
          </a:prstGeom>
          <a:ln w="25400">
            <a:solidFill>
              <a:srgbClr val="7655B7"/>
            </a:solidFill>
          </a:ln>
        </p:spPr>
        <p:style>
          <a:lnRef idx="2">
            <a:schemeClr val="accent1"/>
          </a:lnRef>
          <a:fillRef idx="0">
            <a:schemeClr val="accent1"/>
          </a:fillRef>
          <a:effectRef idx="1">
            <a:schemeClr val="accent1"/>
          </a:effectRef>
          <a:fontRef idx="minor">
            <a:schemeClr val="tx1"/>
          </a:fontRef>
        </p:style>
      </p:cxnSp>
      <p:sp>
        <p:nvSpPr>
          <p:cNvPr id="55" name="Freeform 54"/>
          <p:cNvSpPr/>
          <p:nvPr/>
        </p:nvSpPr>
        <p:spPr>
          <a:xfrm>
            <a:off x="6172200" y="5994400"/>
            <a:ext cx="101600" cy="101600"/>
          </a:xfrm>
          <a:custGeom>
            <a:avLst/>
            <a:gdLst/>
            <a:ahLst/>
            <a:cxnLst/>
            <a:rect l="l" t="t" r="r" b="b"/>
            <a:pathLst>
              <a:path w="8" h="8">
                <a:moveTo>
                  <a:pt x="4" y="0"/>
                </a:moveTo>
                <a:lnTo>
                  <a:pt x="8" y="8"/>
                </a:lnTo>
                <a:lnTo>
                  <a:pt x="0" y="8"/>
                </a:lnTo>
                <a:close/>
              </a:path>
            </a:pathLst>
          </a:cu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80400" y="6096000"/>
            <a:ext cx="29845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7655B7"/>
                </a:solidFill>
                <a:latin typeface="NanumGothic"/>
                <a:ea typeface="NanumGothic"/>
                <a:cs typeface="NanumGothic"/>
              </a:rPr>
              <a:t>LOAD / SAVE</a:t>
            </a:r>
          </a:p>
        </p:txBody>
      </p:sp>
      <p:sp>
        <p:nvSpPr>
          <p:cNvPr id="57" name="TextBox 56"/>
          <p:cNvSpPr txBox="1"/>
          <p:nvPr/>
        </p:nvSpPr>
        <p:spPr>
          <a:xfrm>
            <a:off x="8293100" y="6819900"/>
            <a:ext cx="2781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SRAM 재사용은 DRAM</a:t>
            </a:r>
          </a:p>
        </p:txBody>
      </p:sp>
      <p:sp>
        <p:nvSpPr>
          <p:cNvPr id="58" name="TextBox 57"/>
          <p:cNvSpPr txBox="1"/>
          <p:nvPr/>
        </p:nvSpPr>
        <p:spPr>
          <a:xfrm>
            <a:off x="8293100" y="7135368"/>
            <a:ext cx="2781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이동을 줄임. Unit LOAD는</a:t>
            </a:r>
          </a:p>
        </p:txBody>
      </p:sp>
      <p:sp>
        <p:nvSpPr>
          <p:cNvPr id="59" name="TextBox 58"/>
          <p:cNvSpPr txBox="1"/>
          <p:nvPr/>
        </p:nvSpPr>
        <p:spPr>
          <a:xfrm>
            <a:off x="8293100" y="7450835"/>
            <a:ext cx="2781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여전히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02 / Llama 예제</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Llama 한 layer의 계산을 끝까지 따라갑니다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Llama 3.2 3B: hidden 3072 · MLP 8192 · Q 24 heads / KV 8 heads</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Attention의 입력과 출력</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X[S,3072]를 정규화하고 Q/K/V를 만듭니다. Q는</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24 heads, K/V는 8 heads, 각 head 폭은 128이며</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Q/K에 RoPE를 적용합니다.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MLP는 두 갈래 계산</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Gate와 up은 각각 3072→8192 projection입니다.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SiLU(gate)와 up을 원소별로 곱한 뒤 down으로</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8192→3072를 계산합니다.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Residual은 수명을 늘린다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입력 X는 attention이 끝난 뒤 add할 때까지</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필요합니다. 첫 residual 결과 R도 MLP 뒤에 다시</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쓰므로, 바로 다음 연산만 보고 공간을 해제하면 안</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S=64이면 hidden activation은 384 KiB, gate/up 출력은 각각 1 MiB입니다. 전체 모델은 이 layer를 28번 사용합니다.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02_model_relax.md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05 / 54</a:t>
            </a:r>
          </a:p>
        </p:txBody>
      </p:sp>
      <p:sp>
        <p:nvSpPr>
          <p:cNvPr id="35" name="Rounded Rectangle 34"/>
          <p:cNvSpPr/>
          <p:nvPr/>
        </p:nvSpPr>
        <p:spPr>
          <a:xfrm>
            <a:off x="889000" y="2641600"/>
            <a:ext cx="26797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3300" y="2717800"/>
            <a:ext cx="24511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입력 X [S,3072]</a:t>
            </a:r>
          </a:p>
        </p:txBody>
      </p:sp>
      <p:sp>
        <p:nvSpPr>
          <p:cNvPr id="37" name="Rounded Rectangle 36"/>
          <p:cNvSpPr/>
          <p:nvPr/>
        </p:nvSpPr>
        <p:spPr>
          <a:xfrm>
            <a:off x="914400" y="3378200"/>
            <a:ext cx="1816100" cy="1117600"/>
          </a:xfrm>
          <a:prstGeom prst="roundRect">
            <a:avLst>
              <a:gd name="adj" fmla="val 909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2200" y="3556000"/>
            <a:ext cx="14605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RMSNorm</a:t>
            </a:r>
          </a:p>
        </p:txBody>
      </p:sp>
      <p:sp>
        <p:nvSpPr>
          <p:cNvPr id="39" name="TextBox 38"/>
          <p:cNvSpPr txBox="1"/>
          <p:nvPr/>
        </p:nvSpPr>
        <p:spPr>
          <a:xfrm>
            <a:off x="1092200" y="3965194"/>
            <a:ext cx="1460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마지막 축 정규화</a:t>
            </a:r>
          </a:p>
        </p:txBody>
      </p:sp>
      <p:sp>
        <p:nvSpPr>
          <p:cNvPr id="40" name="Rounded Rectangle 39"/>
          <p:cNvSpPr/>
          <p:nvPr/>
        </p:nvSpPr>
        <p:spPr>
          <a:xfrm>
            <a:off x="3175000" y="3378200"/>
            <a:ext cx="3060700" cy="1117600"/>
          </a:xfrm>
          <a:prstGeom prst="roundRect">
            <a:avLst>
              <a:gd name="adj" fmla="val 909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52800" y="3556000"/>
            <a:ext cx="27051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Q / K / V projection</a:t>
            </a:r>
          </a:p>
        </p:txBody>
      </p:sp>
      <p:sp>
        <p:nvSpPr>
          <p:cNvPr id="42" name="TextBox 41"/>
          <p:cNvSpPr txBox="1"/>
          <p:nvPr/>
        </p:nvSpPr>
        <p:spPr>
          <a:xfrm>
            <a:off x="3352800" y="3947667"/>
            <a:ext cx="2705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Q:[S,24,128] KV:[S,8,128]</a:t>
            </a:r>
          </a:p>
        </p:txBody>
      </p:sp>
      <p:sp>
        <p:nvSpPr>
          <p:cNvPr id="43" name="Rounded Rectangle 42"/>
          <p:cNvSpPr/>
          <p:nvPr/>
        </p:nvSpPr>
        <p:spPr>
          <a:xfrm>
            <a:off x="6692900" y="3378200"/>
            <a:ext cx="2120900" cy="1117600"/>
          </a:xfrm>
          <a:prstGeom prst="roundRect">
            <a:avLst>
              <a:gd name="adj" fmla="val 909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70700" y="3556000"/>
            <a:ext cx="17653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Attention</a:t>
            </a:r>
          </a:p>
        </p:txBody>
      </p:sp>
      <p:sp>
        <p:nvSpPr>
          <p:cNvPr id="45" name="TextBox 44"/>
          <p:cNvSpPr txBox="1"/>
          <p:nvPr/>
        </p:nvSpPr>
        <p:spPr>
          <a:xfrm>
            <a:off x="6870700" y="3912616"/>
            <a:ext cx="1765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RoPE / QK / PV</a:t>
            </a:r>
          </a:p>
        </p:txBody>
      </p:sp>
      <p:sp>
        <p:nvSpPr>
          <p:cNvPr id="46" name="Rounded Rectangle 45"/>
          <p:cNvSpPr/>
          <p:nvPr/>
        </p:nvSpPr>
        <p:spPr>
          <a:xfrm>
            <a:off x="9258300" y="3378200"/>
            <a:ext cx="1968500" cy="1117600"/>
          </a:xfrm>
          <a:prstGeom prst="roundRect">
            <a:avLst>
              <a:gd name="adj" fmla="val 909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36100" y="3556000"/>
            <a:ext cx="1612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O projection</a:t>
            </a:r>
          </a:p>
        </p:txBody>
      </p:sp>
      <p:sp>
        <p:nvSpPr>
          <p:cNvPr id="48" name="TextBox 47"/>
          <p:cNvSpPr txBox="1"/>
          <p:nvPr/>
        </p:nvSpPr>
        <p:spPr>
          <a:xfrm>
            <a:off x="9436100" y="3965194"/>
            <a:ext cx="1612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[S,3072]</a:t>
            </a:r>
          </a:p>
        </p:txBody>
      </p:sp>
      <p:cxnSp>
        <p:nvCxnSpPr>
          <p:cNvPr id="49" name="Connector 48"/>
          <p:cNvCxnSpPr/>
          <p:nvPr/>
        </p:nvCxnSpPr>
        <p:spPr>
          <a:xfrm>
            <a:off x="2730500" y="3937000"/>
            <a:ext cx="4445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3073400" y="3886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6235700" y="3937000"/>
            <a:ext cx="4572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6591300" y="3886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8813800" y="3937000"/>
            <a:ext cx="4445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4" name="Freeform 53"/>
          <p:cNvSpPr/>
          <p:nvPr/>
        </p:nvSpPr>
        <p:spPr>
          <a:xfrm>
            <a:off x="9156700" y="3886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382000" y="4953000"/>
            <a:ext cx="2844800" cy="914400"/>
          </a:xfrm>
          <a:prstGeom prst="roundRect">
            <a:avLst>
              <a:gd name="adj" fmla="val 11111"/>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59800" y="5130800"/>
            <a:ext cx="24892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R = X + attention</a:t>
            </a:r>
          </a:p>
        </p:txBody>
      </p:sp>
      <p:cxnSp>
        <p:nvCxnSpPr>
          <p:cNvPr id="57" name="Connector 56"/>
          <p:cNvCxnSpPr/>
          <p:nvPr/>
        </p:nvCxnSpPr>
        <p:spPr>
          <a:xfrm>
            <a:off x="10223500" y="4495800"/>
            <a:ext cx="0" cy="4572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8" name="Freeform 57"/>
          <p:cNvSpPr/>
          <p:nvPr/>
        </p:nvSpPr>
        <p:spPr>
          <a:xfrm>
            <a:off x="10172700" y="48514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2108200" y="3022600"/>
            <a:ext cx="0" cy="1397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36600" y="3162300"/>
            <a:ext cx="13716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36600" y="3162300"/>
            <a:ext cx="0" cy="22479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36600" y="5410200"/>
            <a:ext cx="76454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8280400" y="5359400"/>
            <a:ext cx="101600" cy="101600"/>
          </a:xfrm>
          <a:custGeom>
            <a:avLst/>
            <a:gdLst/>
            <a:ahLst/>
            <a:cxnLst/>
            <a:rect l="l" t="t" r="r" b="b"/>
            <a:pathLst>
              <a:path w="8" h="8">
                <a:moveTo>
                  <a:pt x="8" y="4"/>
                </a:moveTo>
                <a:lnTo>
                  <a:pt x="0" y="8"/>
                </a:lnTo>
                <a:lnTo>
                  <a:pt x="0"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2108200" y="3162300"/>
            <a:ext cx="0" cy="2159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5" name="Freeform 64"/>
          <p:cNvSpPr/>
          <p:nvPr/>
        </p:nvSpPr>
        <p:spPr>
          <a:xfrm>
            <a:off x="2057400" y="32766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168400" y="4826000"/>
            <a:ext cx="60960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008A82"/>
                </a:solidFill>
                <a:latin typeface="NanumGothic"/>
                <a:ea typeface="NanumGothic"/>
                <a:cs typeface="NanumGothic"/>
              </a:rPr>
              <a:t>Residual X를 add까지 유지</a:t>
            </a:r>
          </a:p>
        </p:txBody>
      </p:sp>
      <p:sp>
        <p:nvSpPr>
          <p:cNvPr id="67" name="Rounded Rectangle 66"/>
          <p:cNvSpPr/>
          <p:nvPr/>
        </p:nvSpPr>
        <p:spPr>
          <a:xfrm>
            <a:off x="889000" y="6375400"/>
            <a:ext cx="1993900" cy="1092200"/>
          </a:xfrm>
          <a:prstGeom prst="roundRect">
            <a:avLst>
              <a:gd name="adj" fmla="val 9302"/>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66800" y="6553200"/>
            <a:ext cx="16383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RMSNorm(R)</a:t>
            </a:r>
          </a:p>
        </p:txBody>
      </p:sp>
      <p:sp>
        <p:nvSpPr>
          <p:cNvPr id="69" name="TextBox 68"/>
          <p:cNvSpPr txBox="1"/>
          <p:nvPr/>
        </p:nvSpPr>
        <p:spPr>
          <a:xfrm>
            <a:off x="1066800" y="6944868"/>
            <a:ext cx="1638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[S,3072]</a:t>
            </a:r>
          </a:p>
        </p:txBody>
      </p:sp>
      <p:sp>
        <p:nvSpPr>
          <p:cNvPr id="70" name="Rounded Rectangle 69"/>
          <p:cNvSpPr/>
          <p:nvPr/>
        </p:nvSpPr>
        <p:spPr>
          <a:xfrm>
            <a:off x="3467100" y="6134100"/>
            <a:ext cx="3302000" cy="774700"/>
          </a:xfrm>
          <a:prstGeom prst="roundRect">
            <a:avLst>
              <a:gd name="adj" fmla="val 12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644900" y="6311900"/>
            <a:ext cx="29464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Gate → SiLU [S,8192]</a:t>
            </a:r>
          </a:p>
        </p:txBody>
      </p:sp>
      <p:sp>
        <p:nvSpPr>
          <p:cNvPr id="72" name="Rounded Rectangle 71"/>
          <p:cNvSpPr/>
          <p:nvPr/>
        </p:nvSpPr>
        <p:spPr>
          <a:xfrm>
            <a:off x="3467100" y="7099300"/>
            <a:ext cx="3302000" cy="7747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644900" y="7277100"/>
            <a:ext cx="29464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Up [S,8192]</a:t>
            </a:r>
          </a:p>
        </p:txBody>
      </p:sp>
      <p:cxnSp>
        <p:nvCxnSpPr>
          <p:cNvPr id="74" name="Connector 73"/>
          <p:cNvCxnSpPr/>
          <p:nvPr/>
        </p:nvCxnSpPr>
        <p:spPr>
          <a:xfrm flipH="1">
            <a:off x="7505700" y="5461000"/>
            <a:ext cx="8763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505700" y="5461000"/>
            <a:ext cx="0" cy="5461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892300" y="6007100"/>
            <a:ext cx="56134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892300" y="6007100"/>
            <a:ext cx="0" cy="3683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78" name="Freeform 77"/>
          <p:cNvSpPr/>
          <p:nvPr/>
        </p:nvSpPr>
        <p:spPr>
          <a:xfrm>
            <a:off x="1841500" y="62738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2882900" y="6921500"/>
            <a:ext cx="2794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162300" y="6515100"/>
            <a:ext cx="0" cy="4064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3162300" y="6515100"/>
            <a:ext cx="304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3365500" y="64643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3162300" y="6921500"/>
            <a:ext cx="0" cy="5588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3162300" y="7480300"/>
            <a:ext cx="304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85" name="Freeform 84"/>
          <p:cNvSpPr/>
          <p:nvPr/>
        </p:nvSpPr>
        <p:spPr>
          <a:xfrm>
            <a:off x="3365500" y="74295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7315200" y="6616700"/>
            <a:ext cx="1752600" cy="800100"/>
          </a:xfrm>
          <a:prstGeom prst="roundRect">
            <a:avLst>
              <a:gd name="adj" fmla="val 12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493000" y="6794500"/>
            <a:ext cx="1397000" cy="297941"/>
          </a:xfrm>
          <a:prstGeom prst="rect">
            <a:avLst/>
          </a:prstGeom>
          <a:noFill/>
        </p:spPr>
        <p:txBody>
          <a:bodyPr wrap="none" tIns="0" bIns="0" lIns="0" rIns="0" anchor="t">
            <a:spAutoFit/>
          </a:bodyPr>
          <a:lstStyle/>
          <a:p>
            <a:pPr algn="l">
              <a:lnSpc>
                <a:spcPts val="2345"/>
              </a:lnSpc>
              <a:spcBef>
                <a:spcPts val="0"/>
              </a:spcBef>
              <a:spcAft>
                <a:spcPts val="0"/>
              </a:spcAft>
            </a:pPr>
            <a:r>
              <a:rPr sz="1700" b="1">
                <a:solidFill>
                  <a:srgbClr val="172942"/>
                </a:solidFill>
                <a:latin typeface="NanumGothic"/>
                <a:ea typeface="NanumGothic"/>
                <a:cs typeface="NanumGothic"/>
              </a:rPr>
              <a:t>× → Down</a:t>
            </a:r>
          </a:p>
        </p:txBody>
      </p:sp>
      <p:cxnSp>
        <p:nvCxnSpPr>
          <p:cNvPr id="88" name="Connector 87"/>
          <p:cNvCxnSpPr/>
          <p:nvPr/>
        </p:nvCxnSpPr>
        <p:spPr>
          <a:xfrm>
            <a:off x="6769100" y="6515100"/>
            <a:ext cx="2794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048500" y="6515100"/>
            <a:ext cx="0" cy="4699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048500" y="6985000"/>
            <a:ext cx="266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91" name="Freeform 90"/>
          <p:cNvSpPr/>
          <p:nvPr/>
        </p:nvSpPr>
        <p:spPr>
          <a:xfrm>
            <a:off x="7213600" y="6934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6769100" y="7480300"/>
            <a:ext cx="2794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7048500" y="7010400"/>
            <a:ext cx="0" cy="4699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048500" y="7010400"/>
            <a:ext cx="266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95" name="Freeform 94"/>
          <p:cNvSpPr/>
          <p:nvPr/>
        </p:nvSpPr>
        <p:spPr>
          <a:xfrm>
            <a:off x="7213600" y="69596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9588500" y="6616700"/>
            <a:ext cx="1638300" cy="8001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766300" y="6794500"/>
            <a:ext cx="12827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Y = R + MLP</a:t>
            </a:r>
          </a:p>
        </p:txBody>
      </p:sp>
      <p:cxnSp>
        <p:nvCxnSpPr>
          <p:cNvPr id="98" name="Connector 97"/>
          <p:cNvCxnSpPr/>
          <p:nvPr/>
        </p:nvCxnSpPr>
        <p:spPr>
          <a:xfrm>
            <a:off x="9067800" y="7010400"/>
            <a:ext cx="520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99" name="Freeform 98"/>
          <p:cNvSpPr/>
          <p:nvPr/>
        </p:nvSpPr>
        <p:spPr>
          <a:xfrm>
            <a:off x="9486900" y="69596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0" name="Connector 99"/>
          <p:cNvCxnSpPr/>
          <p:nvPr/>
        </p:nvCxnSpPr>
        <p:spPr>
          <a:xfrm>
            <a:off x="11226800" y="5410200"/>
            <a:ext cx="1651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1391900" y="5410200"/>
            <a:ext cx="0" cy="15875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1226800" y="6997700"/>
            <a:ext cx="1651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103" name="Freeform 102"/>
          <p:cNvSpPr/>
          <p:nvPr/>
        </p:nvSpPr>
        <p:spPr>
          <a:xfrm>
            <a:off x="11226800" y="6946900"/>
            <a:ext cx="101600" cy="101600"/>
          </a:xfrm>
          <a:custGeom>
            <a:avLst/>
            <a:gdLst/>
            <a:ahLst/>
            <a:cxnLst/>
            <a:rect l="l" t="t" r="r" b="b"/>
            <a:pathLst>
              <a:path w="8" h="8">
                <a:moveTo>
                  <a:pt x="0" y="4"/>
                </a:moveTo>
                <a:lnTo>
                  <a:pt x="8" y="0"/>
                </a:lnTo>
                <a:lnTo>
                  <a:pt x="8" y="8"/>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02 / Pipeline</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TVM의 표준 변환 위에 NPU의 결정을 얹습니다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TVM은 IR·변환·분석을 제공하고 backend는 장치 계약과 선택 기준을 제공합니다.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표준 TVM이 제공하는 도구</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LegalizeOps·FuseOps/FuseTIR가 계산을 변환하고,</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Schedule API가 loop와 cache를 바꿉니다.</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StaticPlanBlockMemory·USMP는 메모리 분석에</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사용합니다.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NPU backend가 정하는 정책</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FP32 누산·FP16 저장 계약, 64×64 intrinsic, 후보</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탐색, SRAM 보관, ISA 인코딩은 장치 특성에 맞게</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구현합니다. 표준 pass 호출만으로 정해지지</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않습니다.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선택은 후단 결과까지 본다</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후보를 schedule·메모리 배치·명령 생성까지 내려</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DMA와 words를 비교합니다. 따라서 파이프라인은</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변환의 순서와 후보를 되돌아보는 선택 과정을 함께</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가집니다.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DLight를 직접 호출하지 않지만 TVM Schedule API를 사용합니다. API와 그 위의 선택 정책을 구분해서 읽습니다.</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01_overview.md</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06 / 54</a:t>
            </a:r>
          </a:p>
        </p:txBody>
      </p:sp>
      <p:sp>
        <p:nvSpPr>
          <p:cNvPr id="37" name="Rectangle 36"/>
          <p:cNvSpPr/>
          <p:nvPr/>
        </p:nvSpPr>
        <p:spPr>
          <a:xfrm>
            <a:off x="850900" y="26797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900" y="2794000"/>
            <a:ext cx="14224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단계</a:t>
            </a:r>
          </a:p>
        </p:txBody>
      </p:sp>
      <p:sp>
        <p:nvSpPr>
          <p:cNvPr id="39" name="TextBox 38"/>
          <p:cNvSpPr txBox="1"/>
          <p:nvPr/>
        </p:nvSpPr>
        <p:spPr>
          <a:xfrm>
            <a:off x="2654300" y="2794000"/>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TVM 표준 기반</a:t>
            </a:r>
          </a:p>
        </p:txBody>
      </p:sp>
      <p:sp>
        <p:nvSpPr>
          <p:cNvPr id="40" name="TextBox 39"/>
          <p:cNvSpPr txBox="1"/>
          <p:nvPr/>
        </p:nvSpPr>
        <p:spPr>
          <a:xfrm>
            <a:off x="7188200" y="2794000"/>
            <a:ext cx="40259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NPU가 추가하는 결정</a:t>
            </a:r>
          </a:p>
        </p:txBody>
      </p:sp>
      <p:sp>
        <p:nvSpPr>
          <p:cNvPr id="41" name="Rectangle 40"/>
          <p:cNvSpPr/>
          <p:nvPr/>
        </p:nvSpPr>
        <p:spPr>
          <a:xfrm>
            <a:off x="850900" y="3136900"/>
            <a:ext cx="10490200" cy="749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900" y="3251200"/>
            <a:ext cx="14224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그래프</a:t>
            </a:r>
          </a:p>
        </p:txBody>
      </p:sp>
      <p:sp>
        <p:nvSpPr>
          <p:cNvPr id="43" name="TextBox 42"/>
          <p:cNvSpPr txBox="1"/>
          <p:nvPr/>
        </p:nvSpPr>
        <p:spPr>
          <a:xfrm>
            <a:off x="2654300" y="3251200"/>
            <a:ext cx="4279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Bindings / CSE / LiftTransformParams</a:t>
            </a:r>
          </a:p>
        </p:txBody>
      </p:sp>
      <p:sp>
        <p:nvSpPr>
          <p:cNvPr id="44" name="TextBox 43"/>
          <p:cNvSpPr txBox="1"/>
          <p:nvPr/>
        </p:nvSpPr>
        <p:spPr>
          <a:xfrm>
            <a:off x="7188200" y="3251200"/>
            <a:ext cx="4025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Attention 의미·지원 layout</a:t>
            </a:r>
          </a:p>
        </p:txBody>
      </p:sp>
      <p:sp>
        <p:nvSpPr>
          <p:cNvPr id="45" name="Rectangle 44"/>
          <p:cNvSpPr/>
          <p:nvPr/>
        </p:nvSpPr>
        <p:spPr>
          <a:xfrm>
            <a:off x="850900" y="3886200"/>
            <a:ext cx="10490200" cy="7493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7900" y="4000500"/>
            <a:ext cx="14224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계산 정의</a:t>
            </a:r>
          </a:p>
        </p:txBody>
      </p:sp>
      <p:sp>
        <p:nvSpPr>
          <p:cNvPr id="47" name="TextBox 46"/>
          <p:cNvSpPr txBox="1"/>
          <p:nvPr/>
        </p:nvSpPr>
        <p:spPr>
          <a:xfrm>
            <a:off x="2654300" y="4000500"/>
            <a:ext cx="4279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LegalizeOps / TE</a:t>
            </a:r>
          </a:p>
        </p:txBody>
      </p:sp>
      <p:sp>
        <p:nvSpPr>
          <p:cNvPr id="48" name="TextBox 47"/>
          <p:cNvSpPr txBox="1"/>
          <p:nvPr/>
        </p:nvSpPr>
        <p:spPr>
          <a:xfrm>
            <a:off x="7188200" y="4000500"/>
            <a:ext cx="4025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FP32 누산과 FP16 저장</a:t>
            </a:r>
          </a:p>
        </p:txBody>
      </p:sp>
      <p:sp>
        <p:nvSpPr>
          <p:cNvPr id="49" name="Rectangle 48"/>
          <p:cNvSpPr/>
          <p:nvPr/>
        </p:nvSpPr>
        <p:spPr>
          <a:xfrm>
            <a:off x="850900" y="4635500"/>
            <a:ext cx="10490200" cy="749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7900" y="4749800"/>
            <a:ext cx="14224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Fusion</a:t>
            </a:r>
          </a:p>
        </p:txBody>
      </p:sp>
      <p:sp>
        <p:nvSpPr>
          <p:cNvPr id="51" name="TextBox 50"/>
          <p:cNvSpPr txBox="1"/>
          <p:nvPr/>
        </p:nvSpPr>
        <p:spPr>
          <a:xfrm>
            <a:off x="2654300" y="4749800"/>
            <a:ext cx="4279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Annotate / FuseOps / FuseTIR</a:t>
            </a:r>
          </a:p>
        </p:txBody>
      </p:sp>
      <p:sp>
        <p:nvSpPr>
          <p:cNvPr id="52" name="TextBox 51"/>
          <p:cNvSpPr txBox="1"/>
          <p:nvPr/>
        </p:nvSpPr>
        <p:spPr>
          <a:xfrm>
            <a:off x="7188200" y="4749800"/>
            <a:ext cx="4025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지원 영역 / 부분·전체 비용</a:t>
            </a:r>
          </a:p>
        </p:txBody>
      </p:sp>
      <p:sp>
        <p:nvSpPr>
          <p:cNvPr id="53" name="Rectangle 52"/>
          <p:cNvSpPr/>
          <p:nvPr/>
        </p:nvSpPr>
        <p:spPr>
          <a:xfrm>
            <a:off x="850900" y="5384800"/>
            <a:ext cx="10490200" cy="7493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7900" y="5499100"/>
            <a:ext cx="14224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Schedule</a:t>
            </a:r>
          </a:p>
        </p:txBody>
      </p:sp>
      <p:sp>
        <p:nvSpPr>
          <p:cNvPr id="55" name="TextBox 54"/>
          <p:cNvSpPr txBox="1"/>
          <p:nvPr/>
        </p:nvSpPr>
        <p:spPr>
          <a:xfrm>
            <a:off x="2654300" y="5499100"/>
            <a:ext cx="4279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split / reorder / cache / tensorize</a:t>
            </a:r>
          </a:p>
        </p:txBody>
      </p:sp>
      <p:sp>
        <p:nvSpPr>
          <p:cNvPr id="56" name="TextBox 55"/>
          <p:cNvSpPr txBox="1"/>
          <p:nvPr/>
        </p:nvSpPr>
        <p:spPr>
          <a:xfrm>
            <a:off x="7188200" y="5499100"/>
            <a:ext cx="4025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Panel·복사 위치·장치 intrinsic</a:t>
            </a:r>
          </a:p>
        </p:txBody>
      </p:sp>
      <p:sp>
        <p:nvSpPr>
          <p:cNvPr id="57" name="Rectangle 56"/>
          <p:cNvSpPr/>
          <p:nvPr/>
        </p:nvSpPr>
        <p:spPr>
          <a:xfrm>
            <a:off x="850900" y="6134100"/>
            <a:ext cx="10490200" cy="749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900" y="6248400"/>
            <a:ext cx="14224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Memory</a:t>
            </a:r>
          </a:p>
        </p:txBody>
      </p:sp>
      <p:sp>
        <p:nvSpPr>
          <p:cNvPr id="59" name="TextBox 58"/>
          <p:cNvSpPr txBox="1"/>
          <p:nvPr/>
        </p:nvSpPr>
        <p:spPr>
          <a:xfrm>
            <a:off x="2654300" y="6248400"/>
            <a:ext cx="4279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StaticPlanBlockMemory / USMP</a:t>
            </a:r>
          </a:p>
        </p:txBody>
      </p:sp>
      <p:sp>
        <p:nvSpPr>
          <p:cNvPr id="60" name="TextBox 59"/>
          <p:cNvSpPr txBox="1"/>
          <p:nvPr/>
        </p:nvSpPr>
        <p:spPr>
          <a:xfrm>
            <a:off x="7188200" y="6248400"/>
            <a:ext cx="4025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호출 간 보관 + schedule 재선택</a:t>
            </a:r>
          </a:p>
        </p:txBody>
      </p:sp>
      <p:sp>
        <p:nvSpPr>
          <p:cNvPr id="61" name="Rectangle 60"/>
          <p:cNvSpPr/>
          <p:nvPr/>
        </p:nvSpPr>
        <p:spPr>
          <a:xfrm>
            <a:off x="850900" y="6883400"/>
            <a:ext cx="10490200" cy="7493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7900" y="6997700"/>
            <a:ext cx="14224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실행</a:t>
            </a:r>
          </a:p>
        </p:txBody>
      </p:sp>
      <p:sp>
        <p:nvSpPr>
          <p:cNvPr id="63" name="TextBox 62"/>
          <p:cNvSpPr txBox="1"/>
          <p:nvPr/>
        </p:nvSpPr>
        <p:spPr>
          <a:xfrm>
            <a:off x="2654300" y="6997700"/>
            <a:ext cx="4279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IR 분석 기반 codegen 연결</a:t>
            </a:r>
          </a:p>
        </p:txBody>
      </p:sp>
      <p:sp>
        <p:nvSpPr>
          <p:cNvPr id="64" name="TextBox 63"/>
          <p:cNvSpPr txBox="1"/>
          <p:nvPr/>
        </p:nvSpPr>
        <p:spPr>
          <a:xfrm>
            <a:off x="7188200" y="6997700"/>
            <a:ext cx="4025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ISA / linker / runtime ABI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03 / Graph</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작은 예제 하나로 중간 결과를 연결합니다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실제 Llama에는 없는 bias를 추가해 broadcast와 fusion까지 살펴봅니다.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모델 입력의 의미</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X는 64개 위치의 128차원 입력이고 W는 출력 채널</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64개에 대한 weight입니다. Host에서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B=W.T[128,64]를 준비합니다.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중간 tensor의 의미</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Matmul 출력 P와 add 출력 A는 각각 [64,64]</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FP16, 8 KiB입니다. Bias[64]는 64개 행에</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broadcast되어 같은 열끼리 더해집니다.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관찰할 파일을 연결</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Authored Relax에서는 연산 연결을, semantic</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TIR에서는 수식을, scheduled TIR에서는 cache와</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tile을 봅니다. 최종 program.json에서 실제 비용을</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확인합니다.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작은 예제의 K=128은 64개씩 두 번 누산합니다. Matmul→add→SiLU의 FP16 저장 경계는 fusion 뒤에도 유지합니다.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02_model_relax.md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07 / 54</a:t>
            </a:r>
          </a:p>
        </p:txBody>
      </p:sp>
      <p:sp>
        <p:nvSpPr>
          <p:cNvPr id="35" name="TextBox 34"/>
          <p:cNvSpPr txBox="1"/>
          <p:nvPr/>
        </p:nvSpPr>
        <p:spPr>
          <a:xfrm>
            <a:off x="990600" y="2959100"/>
            <a:ext cx="32385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X [64,128]</a:t>
            </a:r>
          </a:p>
        </p:txBody>
      </p:sp>
      <p:sp>
        <p:nvSpPr>
          <p:cNvPr id="36" name="Rectangle 35"/>
          <p:cNvSpPr/>
          <p:nvPr/>
        </p:nvSpPr>
        <p:spPr>
          <a:xfrm>
            <a:off x="990600" y="33020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82725" y="33020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74850" y="33020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466975" y="33020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90600" y="40005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482725" y="40005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74850" y="40005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466975" y="4000500"/>
            <a:ext cx="492125" cy="698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990600" y="3302000"/>
            <a:ext cx="1968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959100" y="3302000"/>
            <a:ext cx="0" cy="1397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90600" y="4699000"/>
            <a:ext cx="1968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990600" y="3302000"/>
            <a:ext cx="0" cy="1397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162300" y="3848100"/>
            <a:ext cx="444500" cy="490728"/>
          </a:xfrm>
          <a:prstGeom prst="rect">
            <a:avLst/>
          </a:prstGeom>
          <a:noFill/>
        </p:spPr>
        <p:txBody>
          <a:bodyPr wrap="none" tIns="0" bIns="0" lIns="0" rIns="0" anchor="t">
            <a:spAutoFit/>
          </a:bodyPr>
          <a:lstStyle/>
          <a:p>
            <a:pPr algn="l">
              <a:lnSpc>
                <a:spcPts val="3864"/>
              </a:lnSpc>
              <a:spcBef>
                <a:spcPts val="0"/>
              </a:spcBef>
              <a:spcAft>
                <a:spcPts val="0"/>
              </a:spcAft>
            </a:pPr>
            <a:r>
              <a:rPr sz="2800" b="0">
                <a:solidFill>
                  <a:srgbClr val="172942"/>
                </a:solidFill>
                <a:latin typeface="NanumGothic"/>
                <a:ea typeface="NanumGothic"/>
                <a:cs typeface="NanumGothic"/>
              </a:rPr>
              <a:t>×</a:t>
            </a:r>
          </a:p>
        </p:txBody>
      </p:sp>
      <p:sp>
        <p:nvSpPr>
          <p:cNvPr id="49" name="TextBox 48"/>
          <p:cNvSpPr txBox="1"/>
          <p:nvPr/>
        </p:nvSpPr>
        <p:spPr>
          <a:xfrm>
            <a:off x="3797300" y="2959100"/>
            <a:ext cx="27305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B [128,64]</a:t>
            </a:r>
          </a:p>
        </p:txBody>
      </p:sp>
      <p:sp>
        <p:nvSpPr>
          <p:cNvPr id="50" name="Rectangle 49"/>
          <p:cNvSpPr/>
          <p:nvPr/>
        </p:nvSpPr>
        <p:spPr>
          <a:xfrm>
            <a:off x="3797300" y="3302000"/>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27550" y="3302000"/>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97300" y="3794125"/>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27550" y="3794125"/>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797300" y="4286250"/>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27550" y="4286250"/>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797300" y="4778375"/>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27550" y="4778375"/>
            <a:ext cx="730250" cy="492125"/>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3797300" y="3302000"/>
            <a:ext cx="1460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257800" y="3302000"/>
            <a:ext cx="0" cy="19685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3797300" y="5270500"/>
            <a:ext cx="1460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797300" y="3302000"/>
            <a:ext cx="0" cy="19685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448300" y="3987800"/>
            <a:ext cx="469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5816600" y="39370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46800" y="2959100"/>
            <a:ext cx="30099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P [64,64]</a:t>
            </a:r>
          </a:p>
        </p:txBody>
      </p:sp>
      <p:sp>
        <p:nvSpPr>
          <p:cNvPr id="65" name="Rectangle 64"/>
          <p:cNvSpPr/>
          <p:nvPr/>
        </p:nvSpPr>
        <p:spPr>
          <a:xfrm>
            <a:off x="6146800" y="3302000"/>
            <a:ext cx="869950" cy="698500"/>
          </a:xfrm>
          <a:prstGeom prst="rect">
            <a:avLst/>
          </a:prstGeom>
          <a:solidFill>
            <a:srgbClr val="EBE6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016750" y="3302000"/>
            <a:ext cx="869950" cy="698500"/>
          </a:xfrm>
          <a:prstGeom prst="rect">
            <a:avLst/>
          </a:prstGeom>
          <a:solidFill>
            <a:srgbClr val="EBE6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46800" y="4000500"/>
            <a:ext cx="869950" cy="698500"/>
          </a:xfrm>
          <a:prstGeom prst="rect">
            <a:avLst/>
          </a:prstGeom>
          <a:solidFill>
            <a:srgbClr val="EBE6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16750" y="4000500"/>
            <a:ext cx="869950" cy="698500"/>
          </a:xfrm>
          <a:prstGeom prst="rect">
            <a:avLst/>
          </a:prstGeom>
          <a:solidFill>
            <a:srgbClr val="EBE6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6146800" y="3302000"/>
            <a:ext cx="17399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886700" y="3302000"/>
            <a:ext cx="0" cy="1397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6146800" y="4699000"/>
            <a:ext cx="17399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146800" y="3302000"/>
            <a:ext cx="0" cy="1397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8191500" y="3822700"/>
            <a:ext cx="444500" cy="490728"/>
          </a:xfrm>
          <a:prstGeom prst="rect">
            <a:avLst/>
          </a:prstGeom>
          <a:noFill/>
        </p:spPr>
        <p:txBody>
          <a:bodyPr wrap="none" tIns="0" bIns="0" lIns="0" rIns="0" anchor="t">
            <a:spAutoFit/>
          </a:bodyPr>
          <a:lstStyle/>
          <a:p>
            <a:pPr algn="l">
              <a:lnSpc>
                <a:spcPts val="3864"/>
              </a:lnSpc>
              <a:spcBef>
                <a:spcPts val="0"/>
              </a:spcBef>
              <a:spcAft>
                <a:spcPts val="0"/>
              </a:spcAft>
            </a:pPr>
            <a:r>
              <a:rPr sz="2800" b="0">
                <a:solidFill>
                  <a:srgbClr val="172942"/>
                </a:solidFill>
                <a:latin typeface="NanumGothic"/>
                <a:ea typeface="NanumGothic"/>
                <a:cs typeface="NanumGothic"/>
              </a:rPr>
              <a:t>+</a:t>
            </a:r>
          </a:p>
        </p:txBody>
      </p:sp>
      <p:sp>
        <p:nvSpPr>
          <p:cNvPr id="74" name="TextBox 73"/>
          <p:cNvSpPr txBox="1"/>
          <p:nvPr/>
        </p:nvSpPr>
        <p:spPr>
          <a:xfrm>
            <a:off x="8953500" y="3390900"/>
            <a:ext cx="33782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bias [64]</a:t>
            </a:r>
          </a:p>
        </p:txBody>
      </p:sp>
      <p:sp>
        <p:nvSpPr>
          <p:cNvPr id="75" name="Rectangle 74"/>
          <p:cNvSpPr/>
          <p:nvPr/>
        </p:nvSpPr>
        <p:spPr>
          <a:xfrm>
            <a:off x="8953500" y="3733800"/>
            <a:ext cx="527050" cy="495300"/>
          </a:xfrm>
          <a:prstGeom prst="rect">
            <a:avLst/>
          </a:prstGeom>
          <a:solidFill>
            <a:srgbClr val="FFF0D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480550" y="3733800"/>
            <a:ext cx="527050" cy="495300"/>
          </a:xfrm>
          <a:prstGeom prst="rect">
            <a:avLst/>
          </a:prstGeom>
          <a:solidFill>
            <a:srgbClr val="FFF0D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007600" y="3733800"/>
            <a:ext cx="527050" cy="495300"/>
          </a:xfrm>
          <a:prstGeom prst="rect">
            <a:avLst/>
          </a:prstGeom>
          <a:solidFill>
            <a:srgbClr val="FFF0D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534650" y="3733800"/>
            <a:ext cx="527050" cy="495300"/>
          </a:xfrm>
          <a:prstGeom prst="rect">
            <a:avLst/>
          </a:prstGeom>
          <a:solidFill>
            <a:srgbClr val="FFF0D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8953500" y="3733800"/>
            <a:ext cx="21082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1061700" y="3733800"/>
            <a:ext cx="0" cy="4953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8953500" y="4229100"/>
            <a:ext cx="21082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953500" y="3733800"/>
            <a:ext cx="0" cy="4953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804400" y="4445000"/>
            <a:ext cx="0" cy="11049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6565900" y="5549900"/>
            <a:ext cx="32385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565900" y="5549900"/>
            <a:ext cx="0" cy="3556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86" name="Freeform 85"/>
          <p:cNvSpPr/>
          <p:nvPr/>
        </p:nvSpPr>
        <p:spPr>
          <a:xfrm>
            <a:off x="6515100" y="58039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7035800" y="4699000"/>
            <a:ext cx="0" cy="8509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6565900" y="5549900"/>
            <a:ext cx="469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565900" y="5549900"/>
            <a:ext cx="0" cy="3556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90" name="Freeform 89"/>
          <p:cNvSpPr/>
          <p:nvPr/>
        </p:nvSpPr>
        <p:spPr>
          <a:xfrm>
            <a:off x="6515100" y="58039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4940300" y="5918200"/>
            <a:ext cx="2971800" cy="1270000"/>
          </a:xfrm>
          <a:prstGeom prst="roundRect">
            <a:avLst>
              <a:gd name="adj" fmla="val 8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118100" y="6096000"/>
            <a:ext cx="2616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A = P + bias</a:t>
            </a:r>
          </a:p>
        </p:txBody>
      </p:sp>
      <p:sp>
        <p:nvSpPr>
          <p:cNvPr id="93" name="TextBox 92"/>
          <p:cNvSpPr txBox="1"/>
          <p:nvPr/>
        </p:nvSpPr>
        <p:spPr>
          <a:xfrm>
            <a:off x="5118100" y="6522720"/>
            <a:ext cx="2616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[64,64] FP16 / 8 KiB</a:t>
            </a:r>
          </a:p>
        </p:txBody>
      </p:sp>
      <p:sp>
        <p:nvSpPr>
          <p:cNvPr id="94" name="Rounded Rectangle 93"/>
          <p:cNvSpPr/>
          <p:nvPr/>
        </p:nvSpPr>
        <p:spPr>
          <a:xfrm>
            <a:off x="8369300" y="5918200"/>
            <a:ext cx="2971800" cy="1270000"/>
          </a:xfrm>
          <a:prstGeom prst="roundRect">
            <a:avLst>
              <a:gd name="adj" fmla="val 8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547100" y="6096000"/>
            <a:ext cx="2616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Y = SiLU(A)</a:t>
            </a:r>
          </a:p>
        </p:txBody>
      </p:sp>
      <p:sp>
        <p:nvSpPr>
          <p:cNvPr id="96" name="TextBox 95"/>
          <p:cNvSpPr txBox="1"/>
          <p:nvPr/>
        </p:nvSpPr>
        <p:spPr>
          <a:xfrm>
            <a:off x="8547100" y="6522720"/>
            <a:ext cx="2616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[64,64] FP16 / 8 KiB</a:t>
            </a:r>
          </a:p>
        </p:txBody>
      </p:sp>
      <p:cxnSp>
        <p:nvCxnSpPr>
          <p:cNvPr id="97" name="Connector 96"/>
          <p:cNvCxnSpPr/>
          <p:nvPr/>
        </p:nvCxnSpPr>
        <p:spPr>
          <a:xfrm>
            <a:off x="7962900" y="6553200"/>
            <a:ext cx="3175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98" name="Freeform 97"/>
          <p:cNvSpPr/>
          <p:nvPr/>
        </p:nvSpPr>
        <p:spPr>
          <a:xfrm>
            <a:off x="8178800" y="6502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977900" y="5892800"/>
            <a:ext cx="3429000" cy="1714500"/>
          </a:xfrm>
          <a:prstGeom prst="roundRect">
            <a:avLst>
              <a:gd name="adj" fmla="val 5925"/>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155700" y="6070600"/>
            <a:ext cx="30734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B = W.T</a:t>
            </a:r>
          </a:p>
        </p:txBody>
      </p:sp>
      <p:sp>
        <p:nvSpPr>
          <p:cNvPr id="101" name="TextBox 100"/>
          <p:cNvSpPr txBox="1"/>
          <p:nvPr/>
        </p:nvSpPr>
        <p:spPr>
          <a:xfrm>
            <a:off x="1155700" y="6497320"/>
            <a:ext cx="3073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W:[64,128] → B:[128,64]</a:t>
            </a:r>
          </a:p>
        </p:txBody>
      </p:sp>
      <p:sp>
        <p:nvSpPr>
          <p:cNvPr id="102" name="TextBox 101"/>
          <p:cNvSpPr txBox="1"/>
          <p:nvPr/>
        </p:nvSpPr>
        <p:spPr>
          <a:xfrm>
            <a:off x="1155700" y="6760210"/>
            <a:ext cx="3073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Parameter-only host 처리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03 / Graph</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Weight에만 의존하는 계산은 host로 옮깁니다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LiftTransformParams는 함수를 분리하고 runtime 준비 단계가 실제 배열을 변환합니다.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분리 기준은 parameter 의존성</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Transpose가 W에만 의존하면 실행 입력 x가</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달라져도 결과는 같습니다. LiftTransformParams가</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 계산을 host 함수로 분리합니다.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함수의 실제 입력은 ABI로 확인</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Device에는 x와 변환된 parameter가 들어갑니다.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작은 예제의 순서는 x, bias, lv(B)이며 원래 W·bias</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순서를 그대로 가정하면 틀립니다.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장치 메모리 배치와는 별개</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Host가 W.T 전체를 만들었다고 SRAM에 전체가</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올라가는 것은 아닙니다. 준비된 B는 DRAM에 있고,</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schedule이 필요한 panel을 가져옵니다.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Llama LM head W는 약 751.5 MiB입니다. Parameter-only 변환을 token마다 반복하지 않는 것이 중요합니다.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03_graph_host.md</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08 / 54</a:t>
            </a:r>
          </a:p>
        </p:txBody>
      </p:sp>
      <p:sp>
        <p:nvSpPr>
          <p:cNvPr id="34" name="Rounded Rectangle 33"/>
          <p:cNvSpPr/>
          <p:nvPr/>
        </p:nvSpPr>
        <p:spPr>
          <a:xfrm>
            <a:off x="914400" y="2844800"/>
            <a:ext cx="4673600" cy="2108200"/>
          </a:xfrm>
          <a:prstGeom prst="roundRect">
            <a:avLst>
              <a:gd name="adj" fmla="val 4819"/>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30300" y="3009900"/>
            <a:ext cx="42418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변환 전: 매 호출 graph</a:t>
            </a:r>
          </a:p>
        </p:txBody>
      </p:sp>
      <p:sp>
        <p:nvSpPr>
          <p:cNvPr id="36" name="TextBox 35"/>
          <p:cNvSpPr txBox="1"/>
          <p:nvPr/>
        </p:nvSpPr>
        <p:spPr>
          <a:xfrm>
            <a:off x="1130300" y="3467100"/>
            <a:ext cx="4241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device(x, W, bias)</a:t>
            </a:r>
          </a:p>
        </p:txBody>
      </p:sp>
      <p:sp>
        <p:nvSpPr>
          <p:cNvPr id="37" name="TextBox 36"/>
          <p:cNvSpPr txBox="1"/>
          <p:nvPr/>
        </p:nvSpPr>
        <p:spPr>
          <a:xfrm>
            <a:off x="1130300" y="3782567"/>
            <a:ext cx="4241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B = transpose(W)</a:t>
            </a:r>
          </a:p>
        </p:txBody>
      </p:sp>
      <p:sp>
        <p:nvSpPr>
          <p:cNvPr id="38" name="TextBox 37"/>
          <p:cNvSpPr txBox="1"/>
          <p:nvPr/>
        </p:nvSpPr>
        <p:spPr>
          <a:xfrm>
            <a:off x="1130300" y="4098036"/>
            <a:ext cx="4241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y = SiLU(x @ B + bias)</a:t>
            </a:r>
          </a:p>
        </p:txBody>
      </p:sp>
      <p:cxnSp>
        <p:nvCxnSpPr>
          <p:cNvPr id="39" name="Connector 38"/>
          <p:cNvCxnSpPr/>
          <p:nvPr/>
        </p:nvCxnSpPr>
        <p:spPr>
          <a:xfrm>
            <a:off x="5753100" y="3860800"/>
            <a:ext cx="5334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6184900" y="3810000"/>
            <a:ext cx="101600" cy="101600"/>
          </a:xfrm>
          <a:custGeom>
            <a:avLst/>
            <a:gdLst/>
            <a:ahLst/>
            <a:cxnLst/>
            <a:rect l="l" t="t" r="r" b="b"/>
            <a:pathLst>
              <a:path w="8" h="8">
                <a:moveTo>
                  <a:pt x="8" y="4"/>
                </a:moveTo>
                <a:lnTo>
                  <a:pt x="0" y="8"/>
                </a:lnTo>
                <a:lnTo>
                  <a:pt x="0"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502400" y="2832100"/>
            <a:ext cx="4711700" cy="2108200"/>
          </a:xfrm>
          <a:prstGeom prst="roundRect">
            <a:avLst>
              <a:gd name="adj" fmla="val 4819"/>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18300" y="29972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LiftTransformParams 이후</a:t>
            </a:r>
          </a:p>
        </p:txBody>
      </p:sp>
      <p:sp>
        <p:nvSpPr>
          <p:cNvPr id="43" name="TextBox 42"/>
          <p:cNvSpPr txBox="1"/>
          <p:nvPr/>
        </p:nvSpPr>
        <p:spPr>
          <a:xfrm>
            <a:off x="6718300" y="34544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host_transform(W, bias)</a:t>
            </a:r>
          </a:p>
        </p:txBody>
      </p:sp>
      <p:sp>
        <p:nvSpPr>
          <p:cNvPr id="44" name="TextBox 43"/>
          <p:cNvSpPr txBox="1"/>
          <p:nvPr/>
        </p:nvSpPr>
        <p:spPr>
          <a:xfrm>
            <a:off x="6718300" y="3769867"/>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return (bias, transpose(W))</a:t>
            </a:r>
          </a:p>
        </p:txBody>
      </p:sp>
      <p:sp>
        <p:nvSpPr>
          <p:cNvPr id="45" name="Rounded Rectangle 44"/>
          <p:cNvSpPr/>
          <p:nvPr/>
        </p:nvSpPr>
        <p:spPr>
          <a:xfrm>
            <a:off x="6502400" y="5334000"/>
            <a:ext cx="4711700" cy="1993900"/>
          </a:xfrm>
          <a:prstGeom prst="roundRect">
            <a:avLst>
              <a:gd name="adj" fmla="val 5095"/>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18300" y="54991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Device 입력 signature</a:t>
            </a:r>
          </a:p>
        </p:txBody>
      </p:sp>
      <p:sp>
        <p:nvSpPr>
          <p:cNvPr id="47" name="TextBox 46"/>
          <p:cNvSpPr txBox="1"/>
          <p:nvPr/>
        </p:nvSpPr>
        <p:spPr>
          <a:xfrm>
            <a:off x="6718300" y="5956300"/>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device(x, bias, B)</a:t>
            </a:r>
          </a:p>
        </p:txBody>
      </p:sp>
      <p:sp>
        <p:nvSpPr>
          <p:cNvPr id="48" name="TextBox 47"/>
          <p:cNvSpPr txBox="1"/>
          <p:nvPr/>
        </p:nvSpPr>
        <p:spPr>
          <a:xfrm>
            <a:off x="6718300" y="6271768"/>
            <a:ext cx="4279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y = SiLU(x @ B + bias)</a:t>
            </a:r>
          </a:p>
        </p:txBody>
      </p:sp>
      <p:cxnSp>
        <p:nvCxnSpPr>
          <p:cNvPr id="49" name="Connector 48"/>
          <p:cNvCxnSpPr/>
          <p:nvPr/>
        </p:nvCxnSpPr>
        <p:spPr>
          <a:xfrm>
            <a:off x="8851900" y="4940300"/>
            <a:ext cx="0" cy="3937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8801100" y="52324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27100" y="5372100"/>
            <a:ext cx="4673600" cy="1930400"/>
          </a:xfrm>
          <a:prstGeom prst="roundRect">
            <a:avLst>
              <a:gd name="adj" fmla="val 526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04900" y="5549900"/>
            <a:ext cx="4318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실제 예제에서 달라진 순서</a:t>
            </a:r>
          </a:p>
        </p:txBody>
      </p:sp>
      <p:sp>
        <p:nvSpPr>
          <p:cNvPr id="53" name="TextBox 52"/>
          <p:cNvSpPr txBox="1"/>
          <p:nvPr/>
        </p:nvSpPr>
        <p:spPr>
          <a:xfrm>
            <a:off x="1104900" y="5976620"/>
            <a:ext cx="4318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원래: x / W / bias</a:t>
            </a:r>
          </a:p>
        </p:txBody>
      </p:sp>
      <p:sp>
        <p:nvSpPr>
          <p:cNvPr id="54" name="TextBox 53"/>
          <p:cNvSpPr txBox="1"/>
          <p:nvPr/>
        </p:nvSpPr>
        <p:spPr>
          <a:xfrm>
            <a:off x="1104900" y="6239510"/>
            <a:ext cx="4318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변환 후: x / bias / lv (= B)</a:t>
            </a:r>
          </a:p>
        </p:txBody>
      </p:sp>
      <p:sp>
        <p:nvSpPr>
          <p:cNvPr id="55" name="TextBox 54"/>
          <p:cNvSpPr txBox="1"/>
          <p:nvPr/>
        </p:nvSpPr>
        <p:spPr>
          <a:xfrm>
            <a:off x="1104900" y="6502400"/>
            <a:ext cx="4318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Runtime이 새 signature에 맞춰 연결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03 / Graph 정리</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Attention을 세부 연산으로 드러내는 이유가 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CanonicalizeAttention은 지원되는 attention 의미를 Relax의 계산 연결로 바꿉니다.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고수준 attention 안을 드러낸다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CanonicalizeAttention은</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QK^T→scale/mask→softmax→PV를 Relax에</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나타냅니다. Layout·bias·causal/window 의미를</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보존하는 NPU용 변환입니다.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NPU용 수치 정의를 적용한다</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표준 attention legalizer 내부 TE가 우리</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matmul·softmax legalizer를 다시 호출한다고</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보장할 수 없습니다. 먼저 연산을 드러내 각 정의를</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적용합니다.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분해 이후 다시 합칠 수 있다</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세부 연산을 보이게 만드는 단계와 하나의 kernel로</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실행하는 선택은 다릅니다. Score 또는</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full-attention fusion 후보가 뒤에서 만들어질 수</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있습니다.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현재 Llama authoring은 이미 세부 attention 연산을 사용합니다. 그 부분에서는 이 pass가 새로 분해할 것이 없을 수 있습니다.</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03_graph_host.md</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09 / 54</a:t>
            </a:r>
          </a:p>
        </p:txBody>
      </p:sp>
      <p:sp>
        <p:nvSpPr>
          <p:cNvPr id="37" name="Rounded Rectangle 36"/>
          <p:cNvSpPr/>
          <p:nvPr/>
        </p:nvSpPr>
        <p:spPr>
          <a:xfrm>
            <a:off x="927100" y="2806700"/>
            <a:ext cx="10287000" cy="1054100"/>
          </a:xfrm>
          <a:prstGeom prst="roundRect">
            <a:avLst>
              <a:gd name="adj" fmla="val 9638"/>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04900" y="2984500"/>
            <a:ext cx="99314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Relax attention(Q,K,V, bias, scale, mask)</a:t>
            </a:r>
          </a:p>
        </p:txBody>
      </p:sp>
      <p:sp>
        <p:nvSpPr>
          <p:cNvPr id="39" name="TextBox 38"/>
          <p:cNvSpPr txBox="1"/>
          <p:nvPr/>
        </p:nvSpPr>
        <p:spPr>
          <a:xfrm>
            <a:off x="1104900" y="3446272"/>
            <a:ext cx="9931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Layout과 causal/window 의미를 보존하여 세부 연산으로 변환</a:t>
            </a:r>
          </a:p>
        </p:txBody>
      </p:sp>
      <p:cxnSp>
        <p:nvCxnSpPr>
          <p:cNvPr id="40" name="Connector 39"/>
          <p:cNvCxnSpPr/>
          <p:nvPr/>
        </p:nvCxnSpPr>
        <p:spPr>
          <a:xfrm>
            <a:off x="5994400" y="3873500"/>
            <a:ext cx="0" cy="5207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5943600" y="42926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27100" y="4406900"/>
            <a:ext cx="1879600" cy="1244600"/>
          </a:xfrm>
          <a:prstGeom prst="roundRect">
            <a:avLst>
              <a:gd name="adj" fmla="val 816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04900" y="4584700"/>
            <a:ext cx="1524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QK^T</a:t>
            </a:r>
          </a:p>
        </p:txBody>
      </p:sp>
      <p:sp>
        <p:nvSpPr>
          <p:cNvPr id="44" name="TextBox 43"/>
          <p:cNvSpPr txBox="1"/>
          <p:nvPr/>
        </p:nvSpPr>
        <p:spPr>
          <a:xfrm>
            <a:off x="1104900" y="5011420"/>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scores</a:t>
            </a:r>
          </a:p>
        </p:txBody>
      </p:sp>
      <p:sp>
        <p:nvSpPr>
          <p:cNvPr id="45" name="Rounded Rectangle 44"/>
          <p:cNvSpPr/>
          <p:nvPr/>
        </p:nvSpPr>
        <p:spPr>
          <a:xfrm>
            <a:off x="3022600" y="4406900"/>
            <a:ext cx="1879600" cy="1244600"/>
          </a:xfrm>
          <a:prstGeom prst="roundRect">
            <a:avLst>
              <a:gd name="adj" fmla="val 8163"/>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00400" y="4584700"/>
            <a:ext cx="1524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Scale</a:t>
            </a:r>
          </a:p>
        </p:txBody>
      </p:sp>
      <p:sp>
        <p:nvSpPr>
          <p:cNvPr id="47" name="TextBox 46"/>
          <p:cNvSpPr txBox="1"/>
          <p:nvPr/>
        </p:nvSpPr>
        <p:spPr>
          <a:xfrm>
            <a:off x="3200400" y="5011420"/>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1 / sqrt(d)</a:t>
            </a:r>
          </a:p>
        </p:txBody>
      </p:sp>
      <p:cxnSp>
        <p:nvCxnSpPr>
          <p:cNvPr id="48" name="Connector 47"/>
          <p:cNvCxnSpPr/>
          <p:nvPr/>
        </p:nvCxnSpPr>
        <p:spPr>
          <a:xfrm>
            <a:off x="2806700" y="5029200"/>
            <a:ext cx="177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2882900" y="4978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5118100" y="4406900"/>
            <a:ext cx="1879600" cy="1244600"/>
          </a:xfrm>
          <a:prstGeom prst="roundRect">
            <a:avLst>
              <a:gd name="adj" fmla="val 8163"/>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95900" y="4584700"/>
            <a:ext cx="1524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Mask</a:t>
            </a:r>
          </a:p>
        </p:txBody>
      </p:sp>
      <p:sp>
        <p:nvSpPr>
          <p:cNvPr id="52" name="TextBox 51"/>
          <p:cNvSpPr txBox="1"/>
          <p:nvPr/>
        </p:nvSpPr>
        <p:spPr>
          <a:xfrm>
            <a:off x="5295900" y="5011420"/>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bias / causal</a:t>
            </a:r>
          </a:p>
        </p:txBody>
      </p:sp>
      <p:cxnSp>
        <p:nvCxnSpPr>
          <p:cNvPr id="53" name="Connector 52"/>
          <p:cNvCxnSpPr/>
          <p:nvPr/>
        </p:nvCxnSpPr>
        <p:spPr>
          <a:xfrm>
            <a:off x="4902200" y="5029200"/>
            <a:ext cx="177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4" name="Freeform 53"/>
          <p:cNvSpPr/>
          <p:nvPr/>
        </p:nvSpPr>
        <p:spPr>
          <a:xfrm>
            <a:off x="4978400" y="4978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213600" y="4406900"/>
            <a:ext cx="1879600" cy="1244600"/>
          </a:xfrm>
          <a:prstGeom prst="roundRect">
            <a:avLst>
              <a:gd name="adj" fmla="val 816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91400" y="4584700"/>
            <a:ext cx="1524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Softmax</a:t>
            </a:r>
          </a:p>
        </p:txBody>
      </p:sp>
      <p:sp>
        <p:nvSpPr>
          <p:cNvPr id="57" name="TextBox 56"/>
          <p:cNvSpPr txBox="1"/>
          <p:nvPr/>
        </p:nvSpPr>
        <p:spPr>
          <a:xfrm>
            <a:off x="7391400" y="5011420"/>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행별 확률</a:t>
            </a:r>
          </a:p>
        </p:txBody>
      </p:sp>
      <p:cxnSp>
        <p:nvCxnSpPr>
          <p:cNvPr id="58" name="Connector 57"/>
          <p:cNvCxnSpPr/>
          <p:nvPr/>
        </p:nvCxnSpPr>
        <p:spPr>
          <a:xfrm>
            <a:off x="6997700" y="5029200"/>
            <a:ext cx="177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7073900" y="4978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309100" y="4406900"/>
            <a:ext cx="1879600" cy="1244600"/>
          </a:xfrm>
          <a:prstGeom prst="roundRect">
            <a:avLst>
              <a:gd name="adj" fmla="val 816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486900" y="4584700"/>
            <a:ext cx="1524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PV</a:t>
            </a:r>
          </a:p>
        </p:txBody>
      </p:sp>
      <p:sp>
        <p:nvSpPr>
          <p:cNvPr id="62" name="TextBox 61"/>
          <p:cNvSpPr txBox="1"/>
          <p:nvPr/>
        </p:nvSpPr>
        <p:spPr>
          <a:xfrm>
            <a:off x="9486900" y="5011420"/>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head 출력</a:t>
            </a:r>
          </a:p>
        </p:txBody>
      </p:sp>
      <p:cxnSp>
        <p:nvCxnSpPr>
          <p:cNvPr id="63" name="Connector 62"/>
          <p:cNvCxnSpPr/>
          <p:nvPr/>
        </p:nvCxnSpPr>
        <p:spPr>
          <a:xfrm>
            <a:off x="9093200" y="5029200"/>
            <a:ext cx="177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9169400" y="4978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2806700" y="4241800"/>
            <a:ext cx="6121400" cy="0"/>
          </a:xfrm>
          <a:prstGeom prst="line">
            <a:avLst/>
          </a:prstGeom>
          <a:ln w="19050">
            <a:solidFill>
              <a:srgbClr val="2869C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28100" y="4241800"/>
            <a:ext cx="0" cy="1612900"/>
          </a:xfrm>
          <a:prstGeom prst="line">
            <a:avLst/>
          </a:prstGeom>
          <a:ln w="19050">
            <a:solidFill>
              <a:srgbClr val="2869C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2806700" y="5854700"/>
            <a:ext cx="6121400" cy="0"/>
          </a:xfrm>
          <a:prstGeom prst="line">
            <a:avLst/>
          </a:prstGeom>
          <a:ln w="19050">
            <a:solidFill>
              <a:srgbClr val="2869C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2806700" y="4241800"/>
            <a:ext cx="0" cy="1612900"/>
          </a:xfrm>
          <a:prstGeom prst="line">
            <a:avLst/>
          </a:prstGeom>
          <a:ln w="19050">
            <a:solidFill>
              <a:srgbClr val="2869C6"/>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302000" y="6019800"/>
            <a:ext cx="73660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2869C6"/>
                </a:solidFill>
                <a:latin typeface="NanumGothic"/>
                <a:ea typeface="NanumGothic"/>
                <a:cs typeface="NanumGothic"/>
              </a:rPr>
              <a:t>Score fusion 후보: scale + mask + softmax</a:t>
            </a:r>
          </a:p>
        </p:txBody>
      </p:sp>
      <p:cxnSp>
        <p:nvCxnSpPr>
          <p:cNvPr id="70" name="Connector 69"/>
          <p:cNvCxnSpPr/>
          <p:nvPr/>
        </p:nvCxnSpPr>
        <p:spPr>
          <a:xfrm>
            <a:off x="977900" y="6553200"/>
            <a:ext cx="10185400" cy="0"/>
          </a:xfrm>
          <a:prstGeom prst="line">
            <a:avLst/>
          </a:prstGeom>
          <a:ln w="38100">
            <a:solidFill>
              <a:srgbClr val="008A82"/>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730500" y="6743700"/>
            <a:ext cx="8255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008A82"/>
                </a:solidFill>
                <a:latin typeface="NanumGothic"/>
                <a:ea typeface="NanumGothic"/>
                <a:cs typeface="NanumGothic"/>
              </a:rPr>
              <a:t>Full 후보: QK^T부터 PV까지 함께 schedule</a:t>
            </a:r>
          </a:p>
        </p:txBody>
      </p:sp>
      <p:sp>
        <p:nvSpPr>
          <p:cNvPr id="72" name="TextBox 71"/>
          <p:cNvSpPr txBox="1"/>
          <p:nvPr/>
        </p:nvSpPr>
        <p:spPr>
          <a:xfrm>
            <a:off x="1143000" y="7531100"/>
            <a:ext cx="9982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분해 = 수식 공개    /    Fusion = 함께 실행할 영역 선택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04 / TIR</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LegalizeOps 뒤에도 Relax는 남습니다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Relax는 호출 관계를 유지하고 TIR는 각 호출의 원소 계산을 정의합니다.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Relax는 호출 관계로 남는다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LegalizeOps는 고수준 연산을 call_tir 호출로 바꾸고</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계산을 TIR PrimFunc에 정의합니다. Relax 함수</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전체가 사라지는 것이 아닙니다.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TIR는 원소 계산을 표현한다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Matmul의 i,j는 결과 위치이고 k는 합산 축입니다.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T.init은 초기값, reads/writes는 접근 영역을</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나타내어 후속 변환의 합법성 분석에 쓰입니다.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TE는 이 정의를 만드는 도구</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placeholder·compute·reduce_axis로 수식을 적고</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bb.call_te로 PrimFunc와 Relax 호출을 만듭니다.</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TE가 직접 ISA를 실행하는 것은 아닙니다.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그래프를 묶는 FuseOps가 legalization 뒤에도 가능한 이유: 호출 연결은 Relax에, 각 호출의 loop는 TIR에 함께 남아 있습니다.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04_semantic_tir.md</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10 / 54</a:t>
            </a:r>
          </a:p>
        </p:txBody>
      </p:sp>
      <p:sp>
        <p:nvSpPr>
          <p:cNvPr id="34" name="Rounded Rectangle 33"/>
          <p:cNvSpPr/>
          <p:nvPr/>
        </p:nvSpPr>
        <p:spPr>
          <a:xfrm>
            <a:off x="927100" y="2806700"/>
            <a:ext cx="10299700" cy="1968500"/>
          </a:xfrm>
          <a:prstGeom prst="roundRect">
            <a:avLst>
              <a:gd name="adj" fmla="val 5161"/>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3000" y="2971800"/>
            <a:ext cx="98679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하나의 IRModule 안에 함께 존재하는 Relax 함수</a:t>
            </a:r>
          </a:p>
        </p:txBody>
      </p:sp>
      <p:sp>
        <p:nvSpPr>
          <p:cNvPr id="36" name="TextBox 35"/>
          <p:cNvSpPr txBox="1"/>
          <p:nvPr/>
        </p:nvSpPr>
        <p:spPr>
          <a:xfrm>
            <a:off x="1143000" y="3429000"/>
            <a:ext cx="9867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p = R.call_tir(matmul, (x, B), out_sinfo=...)</a:t>
            </a:r>
          </a:p>
        </p:txBody>
      </p:sp>
      <p:sp>
        <p:nvSpPr>
          <p:cNvPr id="37" name="TextBox 36"/>
          <p:cNvSpPr txBox="1"/>
          <p:nvPr/>
        </p:nvSpPr>
        <p:spPr>
          <a:xfrm>
            <a:off x="1143000" y="3744467"/>
            <a:ext cx="9867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a = R.call_tir(add, (p, bias), out_sinfo=...)</a:t>
            </a:r>
          </a:p>
        </p:txBody>
      </p:sp>
      <p:sp>
        <p:nvSpPr>
          <p:cNvPr id="38" name="TextBox 37"/>
          <p:cNvSpPr txBox="1"/>
          <p:nvPr/>
        </p:nvSpPr>
        <p:spPr>
          <a:xfrm>
            <a:off x="1143000" y="4059936"/>
            <a:ext cx="98679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y = R.call_tir(silu, (a,), out_sinfo=...)</a:t>
            </a:r>
          </a:p>
        </p:txBody>
      </p:sp>
      <p:cxnSp>
        <p:nvCxnSpPr>
          <p:cNvPr id="39" name="Connector 38"/>
          <p:cNvCxnSpPr/>
          <p:nvPr/>
        </p:nvCxnSpPr>
        <p:spPr>
          <a:xfrm>
            <a:off x="2527300" y="4775200"/>
            <a:ext cx="0" cy="5080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2476500" y="51816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27100" y="5283200"/>
            <a:ext cx="3225800" cy="2273300"/>
          </a:xfrm>
          <a:prstGeom prst="roundRect">
            <a:avLst>
              <a:gd name="adj" fmla="val 446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04900" y="5461000"/>
            <a:ext cx="2870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matmul PrimFunc</a:t>
            </a:r>
          </a:p>
        </p:txBody>
      </p:sp>
      <p:sp>
        <p:nvSpPr>
          <p:cNvPr id="43" name="TextBox 42"/>
          <p:cNvSpPr txBox="1"/>
          <p:nvPr/>
        </p:nvSpPr>
        <p:spPr>
          <a:xfrm>
            <a:off x="1104900" y="590524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i,j: 출력 위치</a:t>
            </a:r>
          </a:p>
        </p:txBody>
      </p:sp>
      <p:sp>
        <p:nvSpPr>
          <p:cNvPr id="44" name="TextBox 43"/>
          <p:cNvSpPr txBox="1"/>
          <p:nvPr/>
        </p:nvSpPr>
        <p:spPr>
          <a:xfrm>
            <a:off x="1104900" y="616813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k: reduction 축</a:t>
            </a:r>
          </a:p>
        </p:txBody>
      </p:sp>
      <p:sp>
        <p:nvSpPr>
          <p:cNvPr id="45" name="TextBox 44"/>
          <p:cNvSpPr txBox="1"/>
          <p:nvPr/>
        </p:nvSpPr>
        <p:spPr>
          <a:xfrm>
            <a:off x="1104900" y="643102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FP32 누산 → FP16 cast</a:t>
            </a:r>
          </a:p>
        </p:txBody>
      </p:sp>
      <p:cxnSp>
        <p:nvCxnSpPr>
          <p:cNvPr id="46" name="Connector 45"/>
          <p:cNvCxnSpPr/>
          <p:nvPr/>
        </p:nvCxnSpPr>
        <p:spPr>
          <a:xfrm>
            <a:off x="6057900" y="4775200"/>
            <a:ext cx="0" cy="5080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6007100" y="51816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457700" y="5283200"/>
            <a:ext cx="3225800" cy="2273300"/>
          </a:xfrm>
          <a:prstGeom prst="roundRect">
            <a:avLst>
              <a:gd name="adj" fmla="val 446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35500" y="5461000"/>
            <a:ext cx="2870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add PrimFunc</a:t>
            </a:r>
          </a:p>
        </p:txBody>
      </p:sp>
      <p:sp>
        <p:nvSpPr>
          <p:cNvPr id="50" name="TextBox 49"/>
          <p:cNvSpPr txBox="1"/>
          <p:nvPr/>
        </p:nvSpPr>
        <p:spPr>
          <a:xfrm>
            <a:off x="4635500" y="590524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각 i,j의 p를 읽음</a:t>
            </a:r>
          </a:p>
        </p:txBody>
      </p:sp>
      <p:sp>
        <p:nvSpPr>
          <p:cNvPr id="51" name="TextBox 50"/>
          <p:cNvSpPr txBox="1"/>
          <p:nvPr/>
        </p:nvSpPr>
        <p:spPr>
          <a:xfrm>
            <a:off x="4635500" y="616813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bias[j] broadcast</a:t>
            </a:r>
          </a:p>
        </p:txBody>
      </p:sp>
      <p:sp>
        <p:nvSpPr>
          <p:cNvPr id="52" name="TextBox 51"/>
          <p:cNvSpPr txBox="1"/>
          <p:nvPr/>
        </p:nvSpPr>
        <p:spPr>
          <a:xfrm>
            <a:off x="4635500" y="643102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FP16 결과 저장</a:t>
            </a:r>
          </a:p>
        </p:txBody>
      </p:sp>
      <p:cxnSp>
        <p:nvCxnSpPr>
          <p:cNvPr id="53" name="Connector 52"/>
          <p:cNvCxnSpPr/>
          <p:nvPr/>
        </p:nvCxnSpPr>
        <p:spPr>
          <a:xfrm>
            <a:off x="9588500" y="4775200"/>
            <a:ext cx="0" cy="5080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4" name="Freeform 53"/>
          <p:cNvSpPr/>
          <p:nvPr/>
        </p:nvSpPr>
        <p:spPr>
          <a:xfrm>
            <a:off x="9537700" y="51816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988300" y="5283200"/>
            <a:ext cx="3225800" cy="2273300"/>
          </a:xfrm>
          <a:prstGeom prst="roundRect">
            <a:avLst>
              <a:gd name="adj" fmla="val 446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66100" y="5461000"/>
            <a:ext cx="2870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silu PrimFunc</a:t>
            </a:r>
          </a:p>
        </p:txBody>
      </p:sp>
      <p:sp>
        <p:nvSpPr>
          <p:cNvPr id="57" name="TextBox 56"/>
          <p:cNvSpPr txBox="1"/>
          <p:nvPr/>
        </p:nvSpPr>
        <p:spPr>
          <a:xfrm>
            <a:off x="8166100" y="590524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각 원소에 수식 적용</a:t>
            </a:r>
          </a:p>
        </p:txBody>
      </p:sp>
      <p:sp>
        <p:nvSpPr>
          <p:cNvPr id="58" name="TextBox 57"/>
          <p:cNvSpPr txBox="1"/>
          <p:nvPr/>
        </p:nvSpPr>
        <p:spPr>
          <a:xfrm>
            <a:off x="8166100" y="616813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x / (1 + exp(-x))</a:t>
            </a:r>
          </a:p>
        </p:txBody>
      </p:sp>
      <p:sp>
        <p:nvSpPr>
          <p:cNvPr id="59" name="TextBox 58"/>
          <p:cNvSpPr txBox="1"/>
          <p:nvPr/>
        </p:nvSpPr>
        <p:spPr>
          <a:xfrm>
            <a:off x="8166100" y="6431026"/>
            <a:ext cx="2870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FP16 중간값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04 / 수치 계약</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FP32 누산은 전체 K가 끝날 때까지 이어집니다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X[64,128] @ B[128,64]: 출력 tile 하나에 K tile 두 개를 사용합니다.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K 조각은 같은 출력에 더한다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X[:,0:64]와 X[:,64:128]은 같은 64×64 출력 타일의</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서로 다른 합산 항입니다. 두 결과를 같은 FP32</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accumulator에 이어서 더합니다.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SAVE는 그 타일의 K가 끝난 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첫 matrix 명령은 MAC=0, 이후 K 조각은</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MAC=1입니다. 마지막 K를 마친 값만 FP16으로</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SAVE하며 중간 FP16 저장은 수치 의미를 바꿉니다.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Activation은 현재 자동 사용 안 함</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Activation을 붙인다면 해당 출력의 마지막 K 이후,</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bias 및 반올림 순서까지 맞아야 합니다. 현재 자동</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matmul 경로는 activation OFF이고 SiLU는 vector</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계산입니다.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출력 타일이 바뀌면 새 누산을 시작합니다. 모든 하드웨어에서 K가 항상 최내측이어야 한다는 일반 법칙은 아닙니다.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04_semantic_tir.md, 06_matmul_schedule.md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11 / 54</a:t>
            </a:r>
          </a:p>
        </p:txBody>
      </p:sp>
      <p:sp>
        <p:nvSpPr>
          <p:cNvPr id="35" name="TextBox 34"/>
          <p:cNvSpPr txBox="1"/>
          <p:nvPr/>
        </p:nvSpPr>
        <p:spPr>
          <a:xfrm>
            <a:off x="977900" y="2921000"/>
            <a:ext cx="39751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X: K=128</a:t>
            </a:r>
          </a:p>
        </p:txBody>
      </p:sp>
      <p:sp>
        <p:nvSpPr>
          <p:cNvPr id="36" name="Rectangle 35"/>
          <p:cNvSpPr/>
          <p:nvPr/>
        </p:nvSpPr>
        <p:spPr>
          <a:xfrm>
            <a:off x="977900" y="3263900"/>
            <a:ext cx="676275" cy="654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654175" y="3263900"/>
            <a:ext cx="676275" cy="654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330450" y="3263900"/>
            <a:ext cx="676275" cy="6540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006725" y="3263900"/>
            <a:ext cx="676275" cy="6540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7900" y="3917950"/>
            <a:ext cx="676275" cy="654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654175" y="3917950"/>
            <a:ext cx="676275" cy="654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30450" y="3917950"/>
            <a:ext cx="676275" cy="6540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006725" y="3917950"/>
            <a:ext cx="676275" cy="6540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977900" y="3263900"/>
            <a:ext cx="27051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683000" y="3263900"/>
            <a:ext cx="0" cy="13081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77900" y="4572000"/>
            <a:ext cx="27051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977900" y="3263900"/>
            <a:ext cx="0" cy="13081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406900" y="2921000"/>
            <a:ext cx="25781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B: K=128</a:t>
            </a:r>
          </a:p>
        </p:txBody>
      </p:sp>
      <p:sp>
        <p:nvSpPr>
          <p:cNvPr id="49" name="Rectangle 48"/>
          <p:cNvSpPr/>
          <p:nvPr/>
        </p:nvSpPr>
        <p:spPr>
          <a:xfrm>
            <a:off x="4406900" y="3263900"/>
            <a:ext cx="654050" cy="5143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60950" y="3263900"/>
            <a:ext cx="654050" cy="5143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406900" y="3778250"/>
            <a:ext cx="654050" cy="5143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060950" y="3778250"/>
            <a:ext cx="654050" cy="5143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06900" y="4292600"/>
            <a:ext cx="654050" cy="5143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60950" y="4292600"/>
            <a:ext cx="654050" cy="5143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406900" y="4806950"/>
            <a:ext cx="654050" cy="5143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060950" y="4806950"/>
            <a:ext cx="654050" cy="5143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4406900" y="3263900"/>
            <a:ext cx="13081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715000" y="3263900"/>
            <a:ext cx="0" cy="2057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4406900" y="5321300"/>
            <a:ext cx="13081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406900" y="3263900"/>
            <a:ext cx="0" cy="2057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206500" y="4787900"/>
            <a:ext cx="30480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K 0..63 | 64..127</a:t>
            </a:r>
          </a:p>
        </p:txBody>
      </p:sp>
      <p:sp>
        <p:nvSpPr>
          <p:cNvPr id="62" name="Rounded Rectangle 61"/>
          <p:cNvSpPr/>
          <p:nvPr/>
        </p:nvSpPr>
        <p:spPr>
          <a:xfrm>
            <a:off x="6388100" y="2781300"/>
            <a:ext cx="4800600" cy="1155700"/>
          </a:xfrm>
          <a:prstGeom prst="roundRect">
            <a:avLst>
              <a:gd name="adj" fmla="val 8791"/>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65900" y="2959100"/>
            <a:ext cx="44450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1. 첫 64개: MAC=0</a:t>
            </a:r>
          </a:p>
        </p:txBody>
      </p:sp>
      <p:sp>
        <p:nvSpPr>
          <p:cNvPr id="64" name="TextBox 63"/>
          <p:cNvSpPr txBox="1"/>
          <p:nvPr/>
        </p:nvSpPr>
        <p:spPr>
          <a:xfrm>
            <a:off x="6565900" y="3403346"/>
            <a:ext cx="4445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FP32 accumulator를 새로 시작</a:t>
            </a:r>
          </a:p>
        </p:txBody>
      </p:sp>
      <p:sp>
        <p:nvSpPr>
          <p:cNvPr id="65" name="Rounded Rectangle 64"/>
          <p:cNvSpPr/>
          <p:nvPr/>
        </p:nvSpPr>
        <p:spPr>
          <a:xfrm>
            <a:off x="6388100" y="4254500"/>
            <a:ext cx="4800600" cy="1155700"/>
          </a:xfrm>
          <a:prstGeom prst="roundRect">
            <a:avLst>
              <a:gd name="adj" fmla="val 8791"/>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65900" y="4432300"/>
            <a:ext cx="44450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2. 다음 64개: MAC=1</a:t>
            </a:r>
          </a:p>
        </p:txBody>
      </p:sp>
      <p:sp>
        <p:nvSpPr>
          <p:cNvPr id="67" name="TextBox 66"/>
          <p:cNvSpPr txBox="1"/>
          <p:nvPr/>
        </p:nvSpPr>
        <p:spPr>
          <a:xfrm>
            <a:off x="6565900" y="4876546"/>
            <a:ext cx="4445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같은 출력에 FP32 부분합 추가</a:t>
            </a:r>
          </a:p>
        </p:txBody>
      </p:sp>
      <p:sp>
        <p:nvSpPr>
          <p:cNvPr id="68" name="Rounded Rectangle 67"/>
          <p:cNvSpPr/>
          <p:nvPr/>
        </p:nvSpPr>
        <p:spPr>
          <a:xfrm>
            <a:off x="6388100" y="5740400"/>
            <a:ext cx="4800600" cy="1206500"/>
          </a:xfrm>
          <a:prstGeom prst="roundRect">
            <a:avLst>
              <a:gd name="adj" fmla="val 8421"/>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565900" y="5918200"/>
            <a:ext cx="44450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3. K 완료: FP16 SAVE</a:t>
            </a:r>
          </a:p>
        </p:txBody>
      </p:sp>
      <p:sp>
        <p:nvSpPr>
          <p:cNvPr id="70" name="TextBox 69"/>
          <p:cNvSpPr txBox="1"/>
          <p:nvPr/>
        </p:nvSpPr>
        <p:spPr>
          <a:xfrm>
            <a:off x="6565900" y="6362446"/>
            <a:ext cx="4445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새 출력 tile이면 다음 명령은 MAC=0</a:t>
            </a:r>
          </a:p>
        </p:txBody>
      </p:sp>
      <p:cxnSp>
        <p:nvCxnSpPr>
          <p:cNvPr id="71" name="Connector 70"/>
          <p:cNvCxnSpPr/>
          <p:nvPr/>
        </p:nvCxnSpPr>
        <p:spPr>
          <a:xfrm>
            <a:off x="8775700" y="3937000"/>
            <a:ext cx="0" cy="3175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72" name="Freeform 71"/>
          <p:cNvSpPr/>
          <p:nvPr/>
        </p:nvSpPr>
        <p:spPr>
          <a:xfrm>
            <a:off x="8724900" y="41529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8775700" y="5410200"/>
            <a:ext cx="0" cy="3302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74" name="Freeform 73"/>
          <p:cNvSpPr/>
          <p:nvPr/>
        </p:nvSpPr>
        <p:spPr>
          <a:xfrm>
            <a:off x="8724900" y="56388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003300" y="6337300"/>
            <a:ext cx="4864100" cy="381000"/>
          </a:xfrm>
          <a:prstGeom prst="roundRect">
            <a:avLst>
              <a:gd name="adj" fmla="val 12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117600" y="6413500"/>
            <a:ext cx="46355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K 중간 FP16 SAVE는 하지 않음</a:t>
            </a:r>
          </a:p>
        </p:txBody>
      </p:sp>
      <p:sp>
        <p:nvSpPr>
          <p:cNvPr id="77" name="TextBox 76"/>
          <p:cNvSpPr txBox="1"/>
          <p:nvPr/>
        </p:nvSpPr>
        <p:spPr>
          <a:xfrm>
            <a:off x="1054100" y="7366000"/>
            <a:ext cx="101727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7655B7"/>
                </a:solidFill>
                <a:latin typeface="NanumGothic"/>
                <a:ea typeface="NanumGothic"/>
                <a:cs typeface="NanumGothic"/>
              </a:rPr>
              <a:t>현재 자동 matmul: activation OFF / 뒤의 SiLU는 vector 경로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05 / Fusion</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커널 수가 줄어드는 것만으로 이득을 판단하지 않습니다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분리된 커널도 SRAM에서 중간값을 전달할 수 있습니다.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Fusion은 함께 배치할 기회를 준다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Matmul 뒤 add/SiLU를 같은 PrimFunc에 넣으면</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방금 만든 타일 가까이 소비 계산을 배치할 수</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있습니다. Buffer와 명령 설정도 줄어들 수 있습니다.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분리 kernel도 SRAM으로 연결 가능</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Memory planning이 중간값 전체를 보관하면</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분리된 kernel 사이 GSTORE/GLOAD도 제거됩니다.</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커널 경계가 곧 DRAM 왕복이라는 뜻은 아닙니다.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최종 비용으로 판단한다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Fusion이 scratch를 늘리거나 짧은 vector 명령을</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많이 만들면 불리할 수 있습니다. DMA가 같을 때</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ISA words와 SRAM peak까지 확인합니다.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A/B/C는 가능한 개념 구성입니다. 현재 탐색이 모든 부분 fusion 조합을 빠짐없이 생성한다는 뜻은 아닙니다.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05_fusion.md</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12 / 54</a:t>
            </a:r>
          </a:p>
        </p:txBody>
      </p:sp>
      <p:sp>
        <p:nvSpPr>
          <p:cNvPr id="34" name="TextBox 33"/>
          <p:cNvSpPr txBox="1"/>
          <p:nvPr/>
        </p:nvSpPr>
        <p:spPr>
          <a:xfrm>
            <a:off x="927100" y="2806700"/>
            <a:ext cx="3048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A · 세 kernel</a:t>
            </a:r>
          </a:p>
        </p:txBody>
      </p:sp>
      <p:sp>
        <p:nvSpPr>
          <p:cNvPr id="35" name="Rounded Rectangle 34"/>
          <p:cNvSpPr/>
          <p:nvPr/>
        </p:nvSpPr>
        <p:spPr>
          <a:xfrm>
            <a:off x="3924300" y="2717800"/>
            <a:ext cx="2235200" cy="1054100"/>
          </a:xfrm>
          <a:prstGeom prst="roundRect">
            <a:avLst>
              <a:gd name="adj" fmla="val 9638"/>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50000" y="2717800"/>
            <a:ext cx="2235200" cy="1054100"/>
          </a:xfrm>
          <a:prstGeom prst="roundRect">
            <a:avLst>
              <a:gd name="adj" fmla="val 9638"/>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775700" y="2717800"/>
            <a:ext cx="2235200" cy="1054100"/>
          </a:xfrm>
          <a:prstGeom prst="roundRect">
            <a:avLst>
              <a:gd name="adj" fmla="val 9638"/>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52900" y="30480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matmul</a:t>
            </a:r>
          </a:p>
        </p:txBody>
      </p:sp>
      <p:cxnSp>
        <p:nvCxnSpPr>
          <p:cNvPr id="39" name="Connector 38"/>
          <p:cNvCxnSpPr/>
          <p:nvPr/>
        </p:nvCxnSpPr>
        <p:spPr>
          <a:xfrm>
            <a:off x="6045200" y="3263900"/>
            <a:ext cx="215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6159500" y="32131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78600" y="30480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add</a:t>
            </a:r>
          </a:p>
        </p:txBody>
      </p:sp>
      <p:cxnSp>
        <p:nvCxnSpPr>
          <p:cNvPr id="42" name="Connector 41"/>
          <p:cNvCxnSpPr/>
          <p:nvPr/>
        </p:nvCxnSpPr>
        <p:spPr>
          <a:xfrm>
            <a:off x="8470900" y="3263900"/>
            <a:ext cx="215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8585200" y="32131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04300" y="30480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SiLU</a:t>
            </a:r>
          </a:p>
        </p:txBody>
      </p:sp>
      <p:sp>
        <p:nvSpPr>
          <p:cNvPr id="45" name="TextBox 44"/>
          <p:cNvSpPr txBox="1"/>
          <p:nvPr/>
        </p:nvSpPr>
        <p:spPr>
          <a:xfrm>
            <a:off x="927100" y="4381500"/>
            <a:ext cx="3048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B · 두 kernel</a:t>
            </a:r>
          </a:p>
        </p:txBody>
      </p:sp>
      <p:sp>
        <p:nvSpPr>
          <p:cNvPr id="46" name="Rounded Rectangle 45"/>
          <p:cNvSpPr/>
          <p:nvPr/>
        </p:nvSpPr>
        <p:spPr>
          <a:xfrm>
            <a:off x="3924300" y="4292600"/>
            <a:ext cx="2235200" cy="1054100"/>
          </a:xfrm>
          <a:prstGeom prst="roundRect">
            <a:avLst>
              <a:gd name="adj" fmla="val 9638"/>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350000" y="4292600"/>
            <a:ext cx="4660900" cy="1054100"/>
          </a:xfrm>
          <a:prstGeom prst="roundRect">
            <a:avLst>
              <a:gd name="adj" fmla="val 9638"/>
            </a:avLst>
          </a:prstGeom>
          <a:solidFill>
            <a:srgbClr val="DEF3EE"/>
          </a:solidFill>
          <a:ln w="12700">
            <a:solidFill>
              <a:srgbClr val="008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52900" y="46228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matmul</a:t>
            </a:r>
          </a:p>
        </p:txBody>
      </p:sp>
      <p:cxnSp>
        <p:nvCxnSpPr>
          <p:cNvPr id="49" name="Connector 48"/>
          <p:cNvCxnSpPr/>
          <p:nvPr/>
        </p:nvCxnSpPr>
        <p:spPr>
          <a:xfrm>
            <a:off x="6045200" y="4838700"/>
            <a:ext cx="215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6159500" y="47879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78600" y="46228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add</a:t>
            </a:r>
          </a:p>
        </p:txBody>
      </p:sp>
      <p:cxnSp>
        <p:nvCxnSpPr>
          <p:cNvPr id="52" name="Connector 51"/>
          <p:cNvCxnSpPr/>
          <p:nvPr/>
        </p:nvCxnSpPr>
        <p:spPr>
          <a:xfrm>
            <a:off x="8470900" y="4838700"/>
            <a:ext cx="215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8585200" y="47879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04300" y="46228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SiLU</a:t>
            </a:r>
          </a:p>
        </p:txBody>
      </p:sp>
      <p:sp>
        <p:nvSpPr>
          <p:cNvPr id="55" name="TextBox 54"/>
          <p:cNvSpPr txBox="1"/>
          <p:nvPr/>
        </p:nvSpPr>
        <p:spPr>
          <a:xfrm>
            <a:off x="927100" y="5956300"/>
            <a:ext cx="3048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C · 한 kernel</a:t>
            </a:r>
          </a:p>
        </p:txBody>
      </p:sp>
      <p:sp>
        <p:nvSpPr>
          <p:cNvPr id="56" name="Rounded Rectangle 55"/>
          <p:cNvSpPr/>
          <p:nvPr/>
        </p:nvSpPr>
        <p:spPr>
          <a:xfrm>
            <a:off x="3924300" y="5867400"/>
            <a:ext cx="7086600" cy="1054100"/>
          </a:xfrm>
          <a:prstGeom prst="roundRect">
            <a:avLst>
              <a:gd name="adj" fmla="val 9638"/>
            </a:avLst>
          </a:prstGeom>
          <a:solidFill>
            <a:srgbClr val="DEF3EE"/>
          </a:solidFill>
          <a:ln w="12700">
            <a:solidFill>
              <a:srgbClr val="008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52900" y="61976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matmul</a:t>
            </a:r>
          </a:p>
        </p:txBody>
      </p:sp>
      <p:cxnSp>
        <p:nvCxnSpPr>
          <p:cNvPr id="58" name="Connector 57"/>
          <p:cNvCxnSpPr/>
          <p:nvPr/>
        </p:nvCxnSpPr>
        <p:spPr>
          <a:xfrm>
            <a:off x="6045200" y="6413500"/>
            <a:ext cx="215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6159500" y="63627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78600" y="61976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add</a:t>
            </a:r>
          </a:p>
        </p:txBody>
      </p:sp>
      <p:cxnSp>
        <p:nvCxnSpPr>
          <p:cNvPr id="61" name="Connector 60"/>
          <p:cNvCxnSpPr/>
          <p:nvPr/>
        </p:nvCxnSpPr>
        <p:spPr>
          <a:xfrm>
            <a:off x="8470900" y="6413500"/>
            <a:ext cx="2159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62" name="Freeform 61"/>
          <p:cNvSpPr/>
          <p:nvPr/>
        </p:nvSpPr>
        <p:spPr>
          <a:xfrm>
            <a:off x="8585200" y="63627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04300" y="6197600"/>
            <a:ext cx="1905000" cy="385572"/>
          </a:xfrm>
          <a:prstGeom prst="rect">
            <a:avLst/>
          </a:prstGeom>
          <a:noFill/>
        </p:spPr>
        <p:txBody>
          <a:bodyPr wrap="none" tIns="0" bIns="0" lIns="0" rIns="0" anchor="t">
            <a:spAutoFit/>
          </a:bodyPr>
          <a:lstStyle/>
          <a:p>
            <a:pPr algn="ctr">
              <a:lnSpc>
                <a:spcPts val="3036"/>
              </a:lnSpc>
              <a:spcBef>
                <a:spcPts val="0"/>
              </a:spcBef>
              <a:spcAft>
                <a:spcPts val="0"/>
              </a:spcAft>
            </a:pPr>
            <a:r>
              <a:rPr sz="2200" b="1">
                <a:solidFill>
                  <a:srgbClr val="172942"/>
                </a:solidFill>
                <a:latin typeface="NanumGothic"/>
                <a:ea typeface="NanumGothic"/>
                <a:cs typeface="NanumGothic"/>
              </a:rPr>
              <a:t>SiLU</a:t>
            </a:r>
          </a:p>
        </p:txBody>
      </p:sp>
      <p:sp>
        <p:nvSpPr>
          <p:cNvPr id="64" name="Rounded Rectangle 63"/>
          <p:cNvSpPr/>
          <p:nvPr/>
        </p:nvSpPr>
        <p:spPr>
          <a:xfrm>
            <a:off x="1028700" y="7416800"/>
            <a:ext cx="45212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43000" y="7493000"/>
            <a:ext cx="42926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A/B도 SRAM 중간 전달 가능</a:t>
            </a:r>
          </a:p>
        </p:txBody>
      </p:sp>
      <p:sp>
        <p:nvSpPr>
          <p:cNvPr id="66" name="Rounded Rectangle 65"/>
          <p:cNvSpPr/>
          <p:nvPr/>
        </p:nvSpPr>
        <p:spPr>
          <a:xfrm>
            <a:off x="5867400" y="7416800"/>
            <a:ext cx="5016500" cy="381000"/>
          </a:xfrm>
          <a:prstGeom prst="roundRect">
            <a:avLst>
              <a:gd name="adj" fmla="val 12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81700" y="7493000"/>
            <a:ext cx="47879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많이 합침 ≠ 항상 낮은 비용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05 / TVM fusion 규칙</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연산의 성격과 모든 연결 경로를 보고 묶습니다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Pattern 번호가 같아서 합치는 것이 아니라 graph의 의존성과 외부 사용을 검사합니다.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기본 분류는 계산의 성격</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Elemwise=0, broadcast=1, injective=2,</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reduce=3, out-elementwise-fusable=4, tuple=7,</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opaque=8입니다. 번호는 성능 점수도 연속된</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등급도 아닙니다.</a:t>
            </a:r>
          </a:p>
        </p:txBody>
      </p:sp>
      <p:sp>
        <p:nvSpPr>
          <p:cNvPr id="17" name="Rounded Rectangle 16"/>
          <p:cNvSpPr/>
          <p:nvPr/>
        </p:nvSpPr>
        <p:spPr>
          <a:xfrm>
            <a:off x="11988800" y="4106672"/>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분기에서는 중간 경로도 검사</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Matmul 결과가 여러 소비자로 갈라지면 한 경로만</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보고 묶지 않습니다. 다시 만나는 지점과 관련 경로의</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pattern, 외부 출력·사용을 함께 확인합니다.</a:t>
            </a:r>
          </a:p>
        </p:txBody>
      </p:sp>
      <p:sp>
        <p:nvSpPr>
          <p:cNvPr id="23" name="Rounded Rectangle 22"/>
          <p:cNvSpPr/>
          <p:nvPr/>
        </p:nvSpPr>
        <p:spPr>
          <a:xfrm>
            <a:off x="11988800" y="5802376"/>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장치에서의 이득은 후속 판단</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NPU는 미지원 영역을 opaque로 보호할 수</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있습니다. FuseOps가 만든 그룹을 FuseTIR로 결합한</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뒤 실제 schedule과 비용으로 채택 여부를 정합니다.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Attention pattern은 Relax 연산이 보일 때 먼저 묶을 수 있고, 주변의 일반 fusion과 같은 후보 안에서 함께 존재할 수 있습니다.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05_fusion.md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13 / 54</a:t>
            </a:r>
          </a:p>
        </p:txBody>
      </p:sp>
      <p:sp>
        <p:nvSpPr>
          <p:cNvPr id="35" name="Rounded Rectangle 34"/>
          <p:cNvSpPr/>
          <p:nvPr/>
        </p:nvSpPr>
        <p:spPr>
          <a:xfrm>
            <a:off x="927100" y="2743200"/>
            <a:ext cx="2794000" cy="1066800"/>
          </a:xfrm>
          <a:prstGeom prst="roundRect">
            <a:avLst>
              <a:gd name="adj" fmla="val 952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4900" y="2921000"/>
            <a:ext cx="24384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Matmul</a:t>
            </a:r>
          </a:p>
        </p:txBody>
      </p:sp>
      <p:sp>
        <p:nvSpPr>
          <p:cNvPr id="37" name="TextBox 36"/>
          <p:cNvSpPr txBox="1"/>
          <p:nvPr/>
        </p:nvSpPr>
        <p:spPr>
          <a:xfrm>
            <a:off x="1104900" y="3365246"/>
            <a:ext cx="2438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pattern 4</a:t>
            </a:r>
          </a:p>
        </p:txBody>
      </p:sp>
      <p:sp>
        <p:nvSpPr>
          <p:cNvPr id="38" name="Rounded Rectangle 37"/>
          <p:cNvSpPr/>
          <p:nvPr/>
        </p:nvSpPr>
        <p:spPr>
          <a:xfrm>
            <a:off x="4673600" y="2743200"/>
            <a:ext cx="2679700" cy="1066800"/>
          </a:xfrm>
          <a:prstGeom prst="roundRect">
            <a:avLst>
              <a:gd name="adj" fmla="val 9523"/>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51400" y="2921000"/>
            <a:ext cx="23241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Add / SiLU</a:t>
            </a:r>
          </a:p>
        </p:txBody>
      </p:sp>
      <p:sp>
        <p:nvSpPr>
          <p:cNvPr id="40" name="TextBox 39"/>
          <p:cNvSpPr txBox="1"/>
          <p:nvPr/>
        </p:nvSpPr>
        <p:spPr>
          <a:xfrm>
            <a:off x="4851400" y="3365246"/>
            <a:ext cx="2324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pattern 1 / 0</a:t>
            </a:r>
          </a:p>
        </p:txBody>
      </p:sp>
      <p:sp>
        <p:nvSpPr>
          <p:cNvPr id="41" name="Rounded Rectangle 40"/>
          <p:cNvSpPr/>
          <p:nvPr/>
        </p:nvSpPr>
        <p:spPr>
          <a:xfrm>
            <a:off x="8382000" y="2743200"/>
            <a:ext cx="2819400" cy="1066800"/>
          </a:xfrm>
          <a:prstGeom prst="roundRect">
            <a:avLst>
              <a:gd name="adj" fmla="val 952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59800" y="2921000"/>
            <a:ext cx="24638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후속 소비</a:t>
            </a:r>
          </a:p>
        </p:txBody>
      </p:sp>
      <p:sp>
        <p:nvSpPr>
          <p:cNvPr id="43" name="TextBox 42"/>
          <p:cNvSpPr txBox="1"/>
          <p:nvPr/>
        </p:nvSpPr>
        <p:spPr>
          <a:xfrm>
            <a:off x="8559800" y="3365246"/>
            <a:ext cx="2463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의존 관계 검사</a:t>
            </a:r>
          </a:p>
        </p:txBody>
      </p:sp>
      <p:cxnSp>
        <p:nvCxnSpPr>
          <p:cNvPr id="44" name="Connector 43"/>
          <p:cNvCxnSpPr/>
          <p:nvPr/>
        </p:nvCxnSpPr>
        <p:spPr>
          <a:xfrm>
            <a:off x="3721100" y="3276600"/>
            <a:ext cx="9525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4572000" y="3225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7353300" y="3276600"/>
            <a:ext cx="1028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8280400" y="3225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076700" y="3276600"/>
            <a:ext cx="0" cy="1079500"/>
          </a:xfrm>
          <a:prstGeom prst="line">
            <a:avLst/>
          </a:prstGeom>
          <a:ln w="25400">
            <a:solidFill>
              <a:srgbClr val="B46E1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076700" y="4356100"/>
            <a:ext cx="1968500" cy="0"/>
          </a:xfrm>
          <a:prstGeom prst="line">
            <a:avLst/>
          </a:prstGeom>
          <a:ln w="25400">
            <a:solidFill>
              <a:srgbClr val="B46E10"/>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5943600" y="4305300"/>
            <a:ext cx="101600" cy="101600"/>
          </a:xfrm>
          <a:custGeom>
            <a:avLst/>
            <a:gdLst/>
            <a:ahLst/>
            <a:cxnLst/>
            <a:rect l="l" t="t" r="r" b="b"/>
            <a:pathLst>
              <a:path w="8" h="8">
                <a:moveTo>
                  <a:pt x="8" y="4"/>
                </a:moveTo>
                <a:lnTo>
                  <a:pt x="0" y="8"/>
                </a:lnTo>
                <a:lnTo>
                  <a:pt x="0" y="0"/>
                </a:lnTo>
                <a:close/>
              </a:path>
            </a:pathLst>
          </a:custGeom>
          <a:solidFill>
            <a:srgbClr val="B46E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070600" y="4025900"/>
            <a:ext cx="5130800" cy="1066800"/>
          </a:xfrm>
          <a:prstGeom prst="roundRect">
            <a:avLst>
              <a:gd name="adj" fmla="val 9523"/>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8400" y="4203700"/>
            <a:ext cx="4775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외부 출력 또는 다른 사용자</a:t>
            </a:r>
          </a:p>
        </p:txBody>
      </p:sp>
      <p:sp>
        <p:nvSpPr>
          <p:cNvPr id="53" name="TextBox 52"/>
          <p:cNvSpPr txBox="1"/>
          <p:nvPr/>
        </p:nvSpPr>
        <p:spPr>
          <a:xfrm>
            <a:off x="6248400" y="4630420"/>
            <a:ext cx="4775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값을 밖에서도 관찰하면 그 사용을 보존</a:t>
            </a:r>
          </a:p>
        </p:txBody>
      </p:sp>
      <p:sp>
        <p:nvSpPr>
          <p:cNvPr id="54" name="Rectangle 53"/>
          <p:cNvSpPr/>
          <p:nvPr/>
        </p:nvSpPr>
        <p:spPr>
          <a:xfrm>
            <a:off x="850900" y="55499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5664200"/>
            <a:ext cx="1765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분류</a:t>
            </a:r>
          </a:p>
        </p:txBody>
      </p:sp>
      <p:sp>
        <p:nvSpPr>
          <p:cNvPr id="56" name="TextBox 55"/>
          <p:cNvSpPr txBox="1"/>
          <p:nvPr/>
        </p:nvSpPr>
        <p:spPr>
          <a:xfrm>
            <a:off x="2997200" y="5664200"/>
            <a:ext cx="3048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예</a:t>
            </a:r>
          </a:p>
        </p:txBody>
      </p:sp>
      <p:sp>
        <p:nvSpPr>
          <p:cNvPr id="57" name="TextBox 56"/>
          <p:cNvSpPr txBox="1"/>
          <p:nvPr/>
        </p:nvSpPr>
        <p:spPr>
          <a:xfrm>
            <a:off x="6299200" y="5664200"/>
            <a:ext cx="49149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Fusion에서 확인할 것</a:t>
            </a:r>
          </a:p>
        </p:txBody>
      </p:sp>
      <p:sp>
        <p:nvSpPr>
          <p:cNvPr id="58" name="Rectangle 57"/>
          <p:cNvSpPr/>
          <p:nvPr/>
        </p:nvSpPr>
        <p:spPr>
          <a:xfrm>
            <a:off x="850900" y="6007100"/>
            <a:ext cx="10490200" cy="622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7900" y="6121400"/>
            <a:ext cx="17653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0 / 1 / 2</a:t>
            </a:r>
          </a:p>
        </p:txBody>
      </p:sp>
      <p:sp>
        <p:nvSpPr>
          <p:cNvPr id="60" name="TextBox 59"/>
          <p:cNvSpPr txBox="1"/>
          <p:nvPr/>
        </p:nvSpPr>
        <p:spPr>
          <a:xfrm>
            <a:off x="2997200" y="6121400"/>
            <a:ext cx="3048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원소별 / broadcast / injective</a:t>
            </a:r>
          </a:p>
        </p:txBody>
      </p:sp>
      <p:sp>
        <p:nvSpPr>
          <p:cNvPr id="61" name="TextBox 60"/>
          <p:cNvSpPr txBox="1"/>
          <p:nvPr/>
        </p:nvSpPr>
        <p:spPr>
          <a:xfrm>
            <a:off x="6299200" y="6121400"/>
            <a:ext cx="491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연결 경로와 같은 group의 제약</a:t>
            </a:r>
          </a:p>
        </p:txBody>
      </p:sp>
      <p:sp>
        <p:nvSpPr>
          <p:cNvPr id="62" name="Rectangle 61"/>
          <p:cNvSpPr/>
          <p:nvPr/>
        </p:nvSpPr>
        <p:spPr>
          <a:xfrm>
            <a:off x="850900" y="6629400"/>
            <a:ext cx="10490200" cy="6223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7900" y="6743700"/>
            <a:ext cx="17653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3 / 4</a:t>
            </a:r>
          </a:p>
        </p:txBody>
      </p:sp>
      <p:sp>
        <p:nvSpPr>
          <p:cNvPr id="64" name="TextBox 63"/>
          <p:cNvSpPr txBox="1"/>
          <p:nvPr/>
        </p:nvSpPr>
        <p:spPr>
          <a:xfrm>
            <a:off x="2997200" y="6743700"/>
            <a:ext cx="3048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Reduction / matmul 계열</a:t>
            </a:r>
          </a:p>
        </p:txBody>
      </p:sp>
      <p:sp>
        <p:nvSpPr>
          <p:cNvPr id="65" name="TextBox 64"/>
          <p:cNvSpPr txBox="1"/>
          <p:nvPr/>
        </p:nvSpPr>
        <p:spPr>
          <a:xfrm>
            <a:off x="6299200" y="6743700"/>
            <a:ext cx="491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임의의 복합 연산끼리 합치지 않음</a:t>
            </a:r>
          </a:p>
        </p:txBody>
      </p:sp>
      <p:sp>
        <p:nvSpPr>
          <p:cNvPr id="66" name="Rectangle 65"/>
          <p:cNvSpPr/>
          <p:nvPr/>
        </p:nvSpPr>
        <p:spPr>
          <a:xfrm>
            <a:off x="850900" y="7251700"/>
            <a:ext cx="10490200" cy="622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77900" y="7366000"/>
            <a:ext cx="17653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7 / 8</a:t>
            </a:r>
          </a:p>
        </p:txBody>
      </p:sp>
      <p:sp>
        <p:nvSpPr>
          <p:cNvPr id="68" name="TextBox 67"/>
          <p:cNvSpPr txBox="1"/>
          <p:nvPr/>
        </p:nvSpPr>
        <p:spPr>
          <a:xfrm>
            <a:off x="2997200" y="7366000"/>
            <a:ext cx="3048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Tuple / opaque</a:t>
            </a:r>
          </a:p>
        </p:txBody>
      </p:sp>
      <p:sp>
        <p:nvSpPr>
          <p:cNvPr id="69" name="TextBox 68"/>
          <p:cNvSpPr txBox="1"/>
          <p:nvPr/>
        </p:nvSpPr>
        <p:spPr>
          <a:xfrm>
            <a:off x="6299200" y="7366000"/>
            <a:ext cx="491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Tuple 관계 / 일반 fusion 경계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05 / 후보 선택</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영역 하나를 검사하고, 전체 프로그램에서 다시 확인합니다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부분 검사와 전체 검사는 서로 다른 질문에 답합니다.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영역 검사: 합칠 가치가 있는가</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npu_fusion.select는 TVM이 만든 영역 하나를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fused/unfused로 내려 비교합니다. 분리 기준에도</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SRAM 전달을 적용하지만 주변 전체 수명은 아직</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모릅니다.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전체 비교: 주변까지 넣어도 좋은가</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lower_and_select는 entry 전체의 보관·주소·최종</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명령을 비교합니다. Prefill/decode는 ABI가 맞는</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하나의 모듈로 선택하며 entry마다 임의로 섞지</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않습니다.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중복은 줄이고 탐색은 제한한다</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영역·entry 비용 cache를 사용합니다.</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DMA→words→SRAM 순서로 비교하고, 모든</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entry가 나빠지지 않는 개선을 채택합니다. 모든</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조합의 전역 최적을 보장하지 않습니다.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부분 검사에서 버린 fusion을 모든 다른 선택과 다시 조합해 검사하지는 않습니다. 현재 탐색 범위의 한계입니다.</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05_fusion.md</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14 / 54</a:t>
            </a:r>
          </a:p>
        </p:txBody>
      </p:sp>
      <p:sp>
        <p:nvSpPr>
          <p:cNvPr id="37" name="Rounded Rectangle 36"/>
          <p:cNvSpPr/>
          <p:nvPr/>
        </p:nvSpPr>
        <p:spPr>
          <a:xfrm>
            <a:off x="889000" y="2870200"/>
            <a:ext cx="3136900" cy="1790700"/>
          </a:xfrm>
          <a:prstGeom prst="roundRect">
            <a:avLst>
              <a:gd name="adj" fmla="val 5673"/>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66800" y="30480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영역 하나 검사</a:t>
            </a:r>
          </a:p>
        </p:txBody>
      </p:sp>
      <p:sp>
        <p:nvSpPr>
          <p:cNvPr id="39" name="TextBox 38"/>
          <p:cNvSpPr txBox="1"/>
          <p:nvPr/>
        </p:nvSpPr>
        <p:spPr>
          <a:xfrm>
            <a:off x="1066800" y="34747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TVM이 만든 작은 범위</a:t>
            </a:r>
          </a:p>
        </p:txBody>
      </p:sp>
      <p:sp>
        <p:nvSpPr>
          <p:cNvPr id="40" name="TextBox 39"/>
          <p:cNvSpPr txBox="1"/>
          <p:nvPr/>
        </p:nvSpPr>
        <p:spPr>
          <a:xfrm>
            <a:off x="1066800" y="37376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fused ↔ unfused 비교</a:t>
            </a:r>
          </a:p>
        </p:txBody>
      </p:sp>
      <p:sp>
        <p:nvSpPr>
          <p:cNvPr id="41" name="Rounded Rectangle 40"/>
          <p:cNvSpPr/>
          <p:nvPr/>
        </p:nvSpPr>
        <p:spPr>
          <a:xfrm>
            <a:off x="4559300" y="2870200"/>
            <a:ext cx="3136900" cy="1790700"/>
          </a:xfrm>
          <a:prstGeom prst="roundRect">
            <a:avLst>
              <a:gd name="adj" fmla="val 5673"/>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37100" y="30480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전체 후보 조립</a:t>
            </a:r>
          </a:p>
        </p:txBody>
      </p:sp>
      <p:sp>
        <p:nvSpPr>
          <p:cNvPr id="43" name="TextBox 42"/>
          <p:cNvSpPr txBox="1"/>
          <p:nvPr/>
        </p:nvSpPr>
        <p:spPr>
          <a:xfrm>
            <a:off x="4737100" y="34747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살아남은 영역 + 주변 graph</a:t>
            </a:r>
          </a:p>
        </p:txBody>
      </p:sp>
      <p:sp>
        <p:nvSpPr>
          <p:cNvPr id="44" name="TextBox 43"/>
          <p:cNvSpPr txBox="1"/>
          <p:nvPr/>
        </p:nvSpPr>
        <p:spPr>
          <a:xfrm>
            <a:off x="4737100" y="37376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prefill / decode entry</a:t>
            </a:r>
          </a:p>
        </p:txBody>
      </p:sp>
      <p:cxnSp>
        <p:nvCxnSpPr>
          <p:cNvPr id="45" name="Connector 44"/>
          <p:cNvCxnSpPr/>
          <p:nvPr/>
        </p:nvCxnSpPr>
        <p:spPr>
          <a:xfrm>
            <a:off x="4076700" y="37655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4368800" y="3708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229600" y="2870200"/>
            <a:ext cx="3136900" cy="1790700"/>
          </a:xfrm>
          <a:prstGeom prst="roundRect">
            <a:avLst>
              <a:gd name="adj" fmla="val 567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7400" y="30480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전체 module 선택</a:t>
            </a:r>
          </a:p>
        </p:txBody>
      </p:sp>
      <p:sp>
        <p:nvSpPr>
          <p:cNvPr id="49" name="TextBox 48"/>
          <p:cNvSpPr txBox="1"/>
          <p:nvPr/>
        </p:nvSpPr>
        <p:spPr>
          <a:xfrm>
            <a:off x="8407400" y="34747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보관 + 실제 주소 + 최종 명령</a:t>
            </a:r>
          </a:p>
        </p:txBody>
      </p:sp>
      <p:sp>
        <p:nvSpPr>
          <p:cNvPr id="50" name="TextBox 49"/>
          <p:cNvSpPr txBox="1"/>
          <p:nvPr/>
        </p:nvSpPr>
        <p:spPr>
          <a:xfrm>
            <a:off x="8407400" y="37376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모든 entry 비용 확인</a:t>
            </a:r>
          </a:p>
        </p:txBody>
      </p:sp>
      <p:cxnSp>
        <p:nvCxnSpPr>
          <p:cNvPr id="51" name="Connector 50"/>
          <p:cNvCxnSpPr/>
          <p:nvPr/>
        </p:nvCxnSpPr>
        <p:spPr>
          <a:xfrm>
            <a:off x="7747000" y="37655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8039100" y="3708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14400" y="4953000"/>
            <a:ext cx="3022600" cy="381000"/>
          </a:xfrm>
          <a:prstGeom prst="roundRect">
            <a:avLst>
              <a:gd name="adj" fmla="val 12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28700" y="5029200"/>
            <a:ext cx="2794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부분 검사도 codegen까지</a:t>
            </a:r>
          </a:p>
        </p:txBody>
      </p:sp>
      <p:sp>
        <p:nvSpPr>
          <p:cNvPr id="55" name="Rounded Rectangle 54"/>
          <p:cNvSpPr/>
          <p:nvPr/>
        </p:nvSpPr>
        <p:spPr>
          <a:xfrm>
            <a:off x="8255000" y="4953000"/>
            <a:ext cx="3022600" cy="381000"/>
          </a:xfrm>
          <a:prstGeom prst="roundRect">
            <a:avLst>
              <a:gd name="adj" fmla="val 12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69300" y="5029200"/>
            <a:ext cx="2794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전체 수명과 ABI까지</a:t>
            </a:r>
          </a:p>
        </p:txBody>
      </p:sp>
      <p:sp>
        <p:nvSpPr>
          <p:cNvPr id="57" name="Rounded Rectangle 56"/>
          <p:cNvSpPr/>
          <p:nvPr/>
        </p:nvSpPr>
        <p:spPr>
          <a:xfrm>
            <a:off x="939800" y="5651500"/>
            <a:ext cx="10248900" cy="2006600"/>
          </a:xfrm>
          <a:prstGeom prst="roundRect">
            <a:avLst>
              <a:gd name="adj" fmla="val 506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17600" y="5829300"/>
            <a:ext cx="98933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비용 비교의 우선순위</a:t>
            </a:r>
          </a:p>
        </p:txBody>
      </p:sp>
      <p:sp>
        <p:nvSpPr>
          <p:cNvPr id="59" name="TextBox 58"/>
          <p:cNvSpPr txBox="1"/>
          <p:nvPr/>
        </p:nvSpPr>
        <p:spPr>
          <a:xfrm>
            <a:off x="1117600" y="6273546"/>
            <a:ext cx="9893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1. DMA bytes가 작으면 우선</a:t>
            </a:r>
          </a:p>
        </p:txBody>
      </p:sp>
      <p:sp>
        <p:nvSpPr>
          <p:cNvPr id="60" name="TextBox 59"/>
          <p:cNvSpPr txBox="1"/>
          <p:nvPr/>
        </p:nvSpPr>
        <p:spPr>
          <a:xfrm>
            <a:off x="1117600" y="6536436"/>
            <a:ext cx="9893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2. DMA가 같으면 ISA words, 다시 같으면 SRAM peak</a:t>
            </a:r>
          </a:p>
        </p:txBody>
      </p:sp>
      <p:sp>
        <p:nvSpPr>
          <p:cNvPr id="61" name="TextBox 60"/>
          <p:cNvSpPr txBox="1"/>
          <p:nvPr/>
        </p:nvSpPr>
        <p:spPr>
          <a:xfrm>
            <a:off x="1117600" y="6799326"/>
            <a:ext cx="9893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Prefill/decode 중 어떤 entry도 나빠지지 않는 개선을 채택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06 / Scheduling</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연산 tile과 DMA panel은 크기가 다를 수 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64×64는 matrix 명령의 단위이며, 한 번 가져올 weight 크기를 뜻하지 않습니다.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Tile은 연산장치가 계산하는 단위</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Matrix 한 번은 64×64 크기의 계산 조각을</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처리합니다. K=128이면 같은 출력 타일에 두 번의 K</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계산이 필요합니다.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Panel은 SRAM에서 재사용하는 범위</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X[64,128]과 B[128,64]를 각각 16 KiB씩 미리</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가져올 수 있습니다. 두 matrix 명령은 같은 panel의</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다른 절반을 LOAD합니다.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복사 위치가 재읽기 횟수를 정한다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 loop 바깥에서 panel을 올리면 K가 바뀔 때마다</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DRAM에 가지 않습니다. k_chunk=64여도 cache</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위치에 따라 K 전체가 SRAM에 있을 수 있습니다.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실제 작은 예제: m_panel=n_panel=k_chunk=64, a_at=b_at=m_panel. K 반복 바깥에서 X와 B를 한 번 복사합니다.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15 / 54</a:t>
            </a:r>
          </a:p>
        </p:txBody>
      </p:sp>
      <p:sp>
        <p:nvSpPr>
          <p:cNvPr id="34" name="TextBox 33"/>
          <p:cNvSpPr txBox="1"/>
          <p:nvPr/>
        </p:nvSpPr>
        <p:spPr>
          <a:xfrm>
            <a:off x="1092200" y="2959100"/>
            <a:ext cx="50419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X panel [64,128] · 16 KiB</a:t>
            </a:r>
          </a:p>
        </p:txBody>
      </p:sp>
      <p:sp>
        <p:nvSpPr>
          <p:cNvPr id="35" name="Rectangle 34"/>
          <p:cNvSpPr/>
          <p:nvPr/>
        </p:nvSpPr>
        <p:spPr>
          <a:xfrm>
            <a:off x="1092200" y="3302000"/>
            <a:ext cx="942975" cy="996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35175" y="3302000"/>
            <a:ext cx="942975" cy="996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78150" y="3302000"/>
            <a:ext cx="942975" cy="9969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921125" y="3302000"/>
            <a:ext cx="942975" cy="9969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92200" y="4298950"/>
            <a:ext cx="942975" cy="996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35175" y="4298950"/>
            <a:ext cx="942975" cy="996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78150" y="4298950"/>
            <a:ext cx="942975" cy="9969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21125" y="4298950"/>
            <a:ext cx="942975" cy="9969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1092200" y="3302000"/>
            <a:ext cx="37719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864100" y="3302000"/>
            <a:ext cx="0" cy="19939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092200" y="5295900"/>
            <a:ext cx="37719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92200" y="3302000"/>
            <a:ext cx="0" cy="19939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273800" y="2959100"/>
            <a:ext cx="32639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B panel [128,64] · 16 KiB</a:t>
            </a:r>
          </a:p>
        </p:txBody>
      </p:sp>
      <p:sp>
        <p:nvSpPr>
          <p:cNvPr id="48" name="Rectangle 47"/>
          <p:cNvSpPr/>
          <p:nvPr/>
        </p:nvSpPr>
        <p:spPr>
          <a:xfrm>
            <a:off x="6273800" y="3302000"/>
            <a:ext cx="996950" cy="7302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70750" y="3302000"/>
            <a:ext cx="996950" cy="7302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273800" y="4032250"/>
            <a:ext cx="996950" cy="7302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270750" y="4032250"/>
            <a:ext cx="996950" cy="7302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73800" y="4762500"/>
            <a:ext cx="996950" cy="7302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270750" y="4762500"/>
            <a:ext cx="996950" cy="7302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273800" y="5492750"/>
            <a:ext cx="996950" cy="7302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270750" y="5492750"/>
            <a:ext cx="996950" cy="7302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6273800" y="3302000"/>
            <a:ext cx="19939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267700" y="3302000"/>
            <a:ext cx="0" cy="2921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6273800" y="6223000"/>
            <a:ext cx="19939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273800" y="3302000"/>
            <a:ext cx="0" cy="2921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207000" y="4038600"/>
            <a:ext cx="584200" cy="630935"/>
          </a:xfrm>
          <a:prstGeom prst="rect">
            <a:avLst/>
          </a:prstGeom>
          <a:noFill/>
        </p:spPr>
        <p:txBody>
          <a:bodyPr wrap="none" tIns="0" bIns="0" lIns="0" rIns="0" anchor="t">
            <a:spAutoFit/>
          </a:bodyPr>
          <a:lstStyle/>
          <a:p>
            <a:pPr algn="l">
              <a:lnSpc>
                <a:spcPts val="4967"/>
              </a:lnSpc>
              <a:spcBef>
                <a:spcPts val="0"/>
              </a:spcBef>
              <a:spcAft>
                <a:spcPts val="0"/>
              </a:spcAft>
            </a:pPr>
            <a:r>
              <a:rPr sz="3600" b="0">
                <a:solidFill>
                  <a:srgbClr val="172942"/>
                </a:solidFill>
                <a:latin typeface="NanumGothic"/>
                <a:ea typeface="NanumGothic"/>
                <a:cs typeface="NanumGothic"/>
              </a:rPr>
              <a:t>×</a:t>
            </a:r>
          </a:p>
        </p:txBody>
      </p:sp>
      <p:sp>
        <p:nvSpPr>
          <p:cNvPr id="61" name="Rounded Rectangle 60"/>
          <p:cNvSpPr/>
          <p:nvPr/>
        </p:nvSpPr>
        <p:spPr>
          <a:xfrm>
            <a:off x="8851900" y="3517900"/>
            <a:ext cx="2336800" cy="1905000"/>
          </a:xfrm>
          <a:prstGeom prst="roundRect">
            <a:avLst>
              <a:gd name="adj" fmla="val 533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29700" y="3695700"/>
            <a:ext cx="1981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Unit tile</a:t>
            </a:r>
          </a:p>
        </p:txBody>
      </p:sp>
      <p:sp>
        <p:nvSpPr>
          <p:cNvPr id="63" name="TextBox 62"/>
          <p:cNvSpPr txBox="1"/>
          <p:nvPr/>
        </p:nvSpPr>
        <p:spPr>
          <a:xfrm>
            <a:off x="9029700" y="4139946"/>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64×64</a:t>
            </a:r>
          </a:p>
        </p:txBody>
      </p:sp>
      <p:sp>
        <p:nvSpPr>
          <p:cNvPr id="64" name="TextBox 63"/>
          <p:cNvSpPr txBox="1"/>
          <p:nvPr/>
        </p:nvSpPr>
        <p:spPr>
          <a:xfrm>
            <a:off x="9029700" y="4402836"/>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K 64개씩</a:t>
            </a:r>
          </a:p>
        </p:txBody>
      </p:sp>
      <p:sp>
        <p:nvSpPr>
          <p:cNvPr id="65" name="TextBox 64"/>
          <p:cNvSpPr txBox="1"/>
          <p:nvPr/>
        </p:nvSpPr>
        <p:spPr>
          <a:xfrm>
            <a:off x="9029700" y="4665726"/>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두 번 누산</a:t>
            </a:r>
          </a:p>
        </p:txBody>
      </p:sp>
      <p:cxnSp>
        <p:nvCxnSpPr>
          <p:cNvPr id="66" name="Connector 65"/>
          <p:cNvCxnSpPr/>
          <p:nvPr/>
        </p:nvCxnSpPr>
        <p:spPr>
          <a:xfrm>
            <a:off x="8331200" y="4445000"/>
            <a:ext cx="431800" cy="0"/>
          </a:xfrm>
          <a:prstGeom prst="line">
            <a:avLst/>
          </a:prstGeom>
          <a:ln w="25400">
            <a:solidFill>
              <a:srgbClr val="7655B7"/>
            </a:solidFill>
          </a:ln>
        </p:spPr>
        <p:style>
          <a:lnRef idx="2">
            <a:schemeClr val="accent1"/>
          </a:lnRef>
          <a:fillRef idx="0">
            <a:schemeClr val="accent1"/>
          </a:fillRef>
          <a:effectRef idx="1">
            <a:schemeClr val="accent1"/>
          </a:effectRef>
          <a:fontRef idx="minor">
            <a:schemeClr val="tx1"/>
          </a:fontRef>
        </p:style>
      </p:cxnSp>
      <p:sp>
        <p:nvSpPr>
          <p:cNvPr id="67" name="Freeform 66"/>
          <p:cNvSpPr/>
          <p:nvPr/>
        </p:nvSpPr>
        <p:spPr>
          <a:xfrm>
            <a:off x="8661400" y="4394200"/>
            <a:ext cx="101600" cy="101600"/>
          </a:xfrm>
          <a:custGeom>
            <a:avLst/>
            <a:gdLst/>
            <a:ahLst/>
            <a:cxnLst/>
            <a:rect l="l" t="t" r="r" b="b"/>
            <a:pathLst>
              <a:path w="8" h="8">
                <a:moveTo>
                  <a:pt x="8" y="4"/>
                </a:moveTo>
                <a:lnTo>
                  <a:pt x="0" y="8"/>
                </a:lnTo>
                <a:lnTo>
                  <a:pt x="0" y="0"/>
                </a:lnTo>
                <a:close/>
              </a:path>
            </a:pathLst>
          </a:cu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016000" y="5791200"/>
            <a:ext cx="4229100" cy="381000"/>
          </a:xfrm>
          <a:prstGeom prst="roundRect">
            <a:avLst>
              <a:gd name="adj" fmla="val 12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30300" y="5867400"/>
            <a:ext cx="40005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GLOAD: 두 panel을 한 번씩</a:t>
            </a:r>
          </a:p>
        </p:txBody>
      </p:sp>
      <p:sp>
        <p:nvSpPr>
          <p:cNvPr id="70" name="Rounded Rectangle 69"/>
          <p:cNvSpPr/>
          <p:nvPr/>
        </p:nvSpPr>
        <p:spPr>
          <a:xfrm>
            <a:off x="965200" y="6756400"/>
            <a:ext cx="10287000" cy="977900"/>
          </a:xfrm>
          <a:prstGeom prst="roundRect">
            <a:avLst>
              <a:gd name="adj" fmla="val 10389"/>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3000" y="6934200"/>
            <a:ext cx="99314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K loop 안에서는 SRAM의 다른 부분을 LOAD</a:t>
            </a:r>
          </a:p>
        </p:txBody>
      </p:sp>
      <p:sp>
        <p:nvSpPr>
          <p:cNvPr id="72" name="TextBox 71"/>
          <p:cNvSpPr txBox="1"/>
          <p:nvPr/>
        </p:nvSpPr>
        <p:spPr>
          <a:xfrm>
            <a:off x="1143000" y="7360920"/>
            <a:ext cx="9931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DRAM panel 복사 위치와 연산 tile의 반복 위치를 구분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06 / TVM API</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compute_at은 필요한 계산을 사용 위치로 옮깁니다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 = A + 1, C = B × 2를 2행씩 처리하는 교육 예제입니다.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문제: 중간값 전체를 먼저 만든다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B=A+1, C=B×2에서 B 전체를 만든 뒤 C를 계산하면</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 전체가 한동안 필요합니다. 사용하는 행 묶음</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가까이 B 계산을 옮길 수 있습니다.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compute_at이 바꾸는 위치</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C의 행 loop를 나눈 후 B block을 그 loop 안으로</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이동합니다. 매 반복에서 필요한 B의 두 행을 만들고</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즉시 C 두 행을 계산합니다.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결과에는 API 이름이 남지 않는다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compute_at은 IR을 고치는 compiler API입니다.</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TIR 결과에는 이동한 loop와 block이 나타나고,</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필요한 영역 축소는 후속 compaction이 반영합니다.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여기서는 4×4 CPU 교육 예제의 2행 묶음을 사용합니다. 실제 NPU matrix tile이 2라는 뜻은 아닙니다.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 02_compute_at.py</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16 / 54</a:t>
            </a:r>
          </a:p>
        </p:txBody>
      </p:sp>
      <p:sp>
        <p:nvSpPr>
          <p:cNvPr id="34" name="Rounded Rectangle 33"/>
          <p:cNvSpPr/>
          <p:nvPr/>
        </p:nvSpPr>
        <p:spPr>
          <a:xfrm>
            <a:off x="914400" y="2857500"/>
            <a:ext cx="4699000" cy="2857500"/>
          </a:xfrm>
          <a:prstGeom prst="roundRect">
            <a:avLst>
              <a:gd name="adj" fmla="val 3555"/>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30300" y="3022600"/>
            <a:ext cx="42672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변환 전: B 전체를 먼저 생성</a:t>
            </a:r>
          </a:p>
        </p:txBody>
      </p:sp>
      <p:sp>
        <p:nvSpPr>
          <p:cNvPr id="36" name="TextBox 35"/>
          <p:cNvSpPr txBox="1"/>
          <p:nvPr/>
        </p:nvSpPr>
        <p:spPr>
          <a:xfrm>
            <a:off x="1130300" y="3479800"/>
            <a:ext cx="42672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for i in 0..3:</a:t>
            </a:r>
          </a:p>
        </p:txBody>
      </p:sp>
      <p:sp>
        <p:nvSpPr>
          <p:cNvPr id="37" name="TextBox 36"/>
          <p:cNvSpPr txBox="1"/>
          <p:nvPr/>
        </p:nvSpPr>
        <p:spPr>
          <a:xfrm>
            <a:off x="1130300" y="3812794"/>
            <a:ext cx="42672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  B[i,:] = A[i,:] + 1</a:t>
            </a:r>
          </a:p>
        </p:txBody>
      </p:sp>
      <p:sp>
        <p:nvSpPr>
          <p:cNvPr id="38" name="TextBox 37"/>
          <p:cNvSpPr txBox="1"/>
          <p:nvPr/>
        </p:nvSpPr>
        <p:spPr>
          <a:xfrm>
            <a:off x="1130300" y="4145788"/>
            <a:ext cx="42672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
            </a:r>
          </a:p>
        </p:txBody>
      </p:sp>
      <p:sp>
        <p:nvSpPr>
          <p:cNvPr id="39" name="TextBox 38"/>
          <p:cNvSpPr txBox="1"/>
          <p:nvPr/>
        </p:nvSpPr>
        <p:spPr>
          <a:xfrm>
            <a:off x="1130300" y="4478782"/>
            <a:ext cx="42672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for i in 0..3:</a:t>
            </a:r>
          </a:p>
        </p:txBody>
      </p:sp>
      <p:sp>
        <p:nvSpPr>
          <p:cNvPr id="40" name="TextBox 39"/>
          <p:cNvSpPr txBox="1"/>
          <p:nvPr/>
        </p:nvSpPr>
        <p:spPr>
          <a:xfrm>
            <a:off x="1130300" y="4811776"/>
            <a:ext cx="42672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  C[i,:] = B[i,:] * 2</a:t>
            </a:r>
          </a:p>
        </p:txBody>
      </p:sp>
      <p:sp>
        <p:nvSpPr>
          <p:cNvPr id="41" name="Rounded Rectangle 40"/>
          <p:cNvSpPr/>
          <p:nvPr/>
        </p:nvSpPr>
        <p:spPr>
          <a:xfrm>
            <a:off x="6451600" y="2857500"/>
            <a:ext cx="4775200" cy="2857500"/>
          </a:xfrm>
          <a:prstGeom prst="roundRect">
            <a:avLst>
              <a:gd name="adj" fmla="val 3555"/>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67500" y="3022600"/>
            <a:ext cx="43434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compute_at 뒤: 필요한 두 행</a:t>
            </a:r>
          </a:p>
        </p:txBody>
      </p:sp>
      <p:sp>
        <p:nvSpPr>
          <p:cNvPr id="43" name="TextBox 42"/>
          <p:cNvSpPr txBox="1"/>
          <p:nvPr/>
        </p:nvSpPr>
        <p:spPr>
          <a:xfrm>
            <a:off x="6667500" y="3479800"/>
            <a:ext cx="4343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for io in [0, 2]:</a:t>
            </a:r>
          </a:p>
        </p:txBody>
      </p:sp>
      <p:sp>
        <p:nvSpPr>
          <p:cNvPr id="44" name="TextBox 43"/>
          <p:cNvSpPr txBox="1"/>
          <p:nvPr/>
        </p:nvSpPr>
        <p:spPr>
          <a:xfrm>
            <a:off x="6667500" y="3795267"/>
            <a:ext cx="4343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B[io:io+2,:] = A[...] + 1</a:t>
            </a:r>
          </a:p>
        </p:txBody>
      </p:sp>
      <p:sp>
        <p:nvSpPr>
          <p:cNvPr id="45" name="TextBox 44"/>
          <p:cNvSpPr txBox="1"/>
          <p:nvPr/>
        </p:nvSpPr>
        <p:spPr>
          <a:xfrm>
            <a:off x="6667500" y="4110736"/>
            <a:ext cx="4343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C[io:io+2,:] = B[...] * 2</a:t>
            </a:r>
          </a:p>
        </p:txBody>
      </p:sp>
      <p:cxnSp>
        <p:nvCxnSpPr>
          <p:cNvPr id="46" name="Connector 45"/>
          <p:cNvCxnSpPr/>
          <p:nvPr/>
        </p:nvCxnSpPr>
        <p:spPr>
          <a:xfrm>
            <a:off x="5727700" y="4229100"/>
            <a:ext cx="6096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6235700" y="4178300"/>
            <a:ext cx="101600" cy="101600"/>
          </a:xfrm>
          <a:custGeom>
            <a:avLst/>
            <a:gdLst/>
            <a:ahLst/>
            <a:cxnLst/>
            <a:rect l="l" t="t" r="r" b="b"/>
            <a:pathLst>
              <a:path w="8" h="8">
                <a:moveTo>
                  <a:pt x="8" y="4"/>
                </a:moveTo>
                <a:lnTo>
                  <a:pt x="0" y="8"/>
                </a:lnTo>
                <a:lnTo>
                  <a:pt x="0"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93800" y="6337300"/>
            <a:ext cx="45593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B가 필요한 범위</a:t>
            </a:r>
          </a:p>
        </p:txBody>
      </p:sp>
      <p:sp>
        <p:nvSpPr>
          <p:cNvPr id="49" name="Rectangle 48"/>
          <p:cNvSpPr/>
          <p:nvPr/>
        </p:nvSpPr>
        <p:spPr>
          <a:xfrm>
            <a:off x="1193800"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16125"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838450"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660775"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93800"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016125"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838450"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660775"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193800" y="71501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16125" y="71501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838450" y="71501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60775" y="71501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193800" y="73850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016125" y="73850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838450" y="73850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660775" y="73850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1193800" y="6680200"/>
            <a:ext cx="32893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483100" y="6680200"/>
            <a:ext cx="0" cy="939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193800" y="7620000"/>
            <a:ext cx="32893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193800" y="6680200"/>
            <a:ext cx="0" cy="939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6718300" y="6337300"/>
            <a:ext cx="45593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B가 필요한 범위</a:t>
            </a:r>
          </a:p>
        </p:txBody>
      </p:sp>
      <p:sp>
        <p:nvSpPr>
          <p:cNvPr id="70" name="Rectangle 69"/>
          <p:cNvSpPr/>
          <p:nvPr/>
        </p:nvSpPr>
        <p:spPr>
          <a:xfrm>
            <a:off x="6718300"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540625"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362950"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185275" y="668020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718300"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540625"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362950"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185275" y="6915150"/>
            <a:ext cx="822325" cy="2349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718300" y="715010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540625" y="715010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362950" y="715010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185275" y="715010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718300" y="738505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540625" y="738505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362950" y="738505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185275" y="7385050"/>
            <a:ext cx="822325" cy="2349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6718300" y="6680200"/>
            <a:ext cx="32893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007600" y="6680200"/>
            <a:ext cx="0" cy="939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6718300" y="7620000"/>
            <a:ext cx="32893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718300" y="6680200"/>
            <a:ext cx="0" cy="939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0325100" y="6819900"/>
            <a:ext cx="876300" cy="297941"/>
          </a:xfrm>
          <a:prstGeom prst="rect">
            <a:avLst/>
          </a:prstGeom>
          <a:noFill/>
        </p:spPr>
        <p:txBody>
          <a:bodyPr wrap="none" tIns="0" bIns="0" lIns="0" rIns="0" anchor="t">
            <a:spAutoFit/>
          </a:bodyPr>
          <a:lstStyle/>
          <a:p>
            <a:pPr algn="l">
              <a:lnSpc>
                <a:spcPts val="2345"/>
              </a:lnSpc>
              <a:spcBef>
                <a:spcPts val="0"/>
              </a:spcBef>
              <a:spcAft>
                <a:spcPts val="0"/>
              </a:spcAft>
            </a:pPr>
            <a:r>
              <a:rPr sz="1700" b="1">
                <a:solidFill>
                  <a:srgbClr val="008A82"/>
                </a:solidFill>
                <a:latin typeface="NanumGothic"/>
                <a:ea typeface="NanumGothic"/>
                <a:cs typeface="NanumGothic"/>
              </a:rPr>
              <a:t>2행씩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06 / Schedule API</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reverse_compute_at은 소비 계산을 생산 위치에 맞춥니다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두 API 모두 loop 배치를 바꾸지만, 기준으로 삼는 쪽이 다릅니다.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compute_at: 생산자를 옮긴다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C가 사용하는 loop 안으로 B의 생산을 가져옵니다.</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소비하는 범위에 맞춰 필요한 B를 만들며 중간값</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전체의 보관을 줄일 수 있습니다.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reverse_compute_at: 소비자를 옮긴다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B를 만드는 loop 안으로 C의 소비를 가져옵니다.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생산 타일이 끝난 직후 add/SiLU나 출력 복사 같은</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다음 계산을 배치할 때 사용합니다.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아무 위치로 이동할 수는 없다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데이터 의존성·block 범위·소비 관계가 변환을</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허용해야 합니다. Matmul의 뒤 연산도 해당 출력</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타일의 K 누산이 끝난 뒤 실행되어야 합니다.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역방향이라는 이름은 데이터를 거꾸로 계산한다는 뜻이 아닙니다. 어느 계산의 loop에 다른 계산을 맞추는지의 차이입니다.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 03_reverse_compute_at.py</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17 / 54</a:t>
            </a:r>
          </a:p>
        </p:txBody>
      </p:sp>
      <p:sp>
        <p:nvSpPr>
          <p:cNvPr id="34" name="TextBox 33"/>
          <p:cNvSpPr txBox="1"/>
          <p:nvPr/>
        </p:nvSpPr>
        <p:spPr>
          <a:xfrm>
            <a:off x="977900" y="2832100"/>
            <a:ext cx="10160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008A82"/>
                </a:solidFill>
                <a:latin typeface="NanumGothic"/>
                <a:ea typeface="NanumGothic"/>
                <a:cs typeface="NanumGothic"/>
              </a:rPr>
              <a:t>compute_at(B, C의 loop)</a:t>
            </a:r>
          </a:p>
        </p:txBody>
      </p:sp>
      <p:sp>
        <p:nvSpPr>
          <p:cNvPr id="35" name="Rounded Rectangle 34"/>
          <p:cNvSpPr/>
          <p:nvPr/>
        </p:nvSpPr>
        <p:spPr>
          <a:xfrm>
            <a:off x="990600" y="3454400"/>
            <a:ext cx="3746500" cy="1562100"/>
          </a:xfrm>
          <a:prstGeom prst="roundRect">
            <a:avLst>
              <a:gd name="adj" fmla="val 6504"/>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8400" y="3632200"/>
            <a:ext cx="33909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C의 소비 loop가 기준</a:t>
            </a:r>
          </a:p>
        </p:txBody>
      </p:sp>
      <p:sp>
        <p:nvSpPr>
          <p:cNvPr id="37" name="TextBox 36"/>
          <p:cNvSpPr txBox="1"/>
          <p:nvPr/>
        </p:nvSpPr>
        <p:spPr>
          <a:xfrm>
            <a:off x="1168400" y="4058920"/>
            <a:ext cx="3390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필요한 행/타일의 범위</a:t>
            </a:r>
          </a:p>
        </p:txBody>
      </p:sp>
      <p:sp>
        <p:nvSpPr>
          <p:cNvPr id="38" name="TextBox 37"/>
          <p:cNvSpPr txBox="1"/>
          <p:nvPr/>
        </p:nvSpPr>
        <p:spPr>
          <a:xfrm>
            <a:off x="1168400" y="4321810"/>
            <a:ext cx="3390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의존성을 유지하며 배치</a:t>
            </a:r>
          </a:p>
        </p:txBody>
      </p:sp>
      <p:cxnSp>
        <p:nvCxnSpPr>
          <p:cNvPr id="39" name="Connector 38"/>
          <p:cNvCxnSpPr/>
          <p:nvPr/>
        </p:nvCxnSpPr>
        <p:spPr>
          <a:xfrm>
            <a:off x="4940300" y="4229100"/>
            <a:ext cx="685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5524500" y="41783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867400" y="3454400"/>
            <a:ext cx="5283200" cy="1562100"/>
          </a:xfrm>
          <a:prstGeom prst="roundRect">
            <a:avLst>
              <a:gd name="adj" fmla="val 6504"/>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45200" y="3632200"/>
            <a:ext cx="49276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B 생산을 loop 안으로</a:t>
            </a:r>
          </a:p>
        </p:txBody>
      </p:sp>
      <p:sp>
        <p:nvSpPr>
          <p:cNvPr id="43" name="TextBox 42"/>
          <p:cNvSpPr txBox="1"/>
          <p:nvPr/>
        </p:nvSpPr>
        <p:spPr>
          <a:xfrm>
            <a:off x="6045200" y="4058920"/>
            <a:ext cx="4927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for tile:</a:t>
            </a:r>
          </a:p>
        </p:txBody>
      </p:sp>
      <p:sp>
        <p:nvSpPr>
          <p:cNvPr id="44" name="TextBox 43"/>
          <p:cNvSpPr txBox="1"/>
          <p:nvPr/>
        </p:nvSpPr>
        <p:spPr>
          <a:xfrm>
            <a:off x="6045200" y="4321810"/>
            <a:ext cx="4927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B tile 생성 → C tile 소비</a:t>
            </a:r>
          </a:p>
        </p:txBody>
      </p:sp>
      <p:sp>
        <p:nvSpPr>
          <p:cNvPr id="45" name="TextBox 44"/>
          <p:cNvSpPr txBox="1"/>
          <p:nvPr/>
        </p:nvSpPr>
        <p:spPr>
          <a:xfrm>
            <a:off x="977900" y="5473700"/>
            <a:ext cx="10160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008A82"/>
                </a:solidFill>
                <a:latin typeface="NanumGothic"/>
                <a:ea typeface="NanumGothic"/>
                <a:cs typeface="NanumGothic"/>
              </a:rPr>
              <a:t>reverse_compute_at(C, B의 loop)</a:t>
            </a:r>
          </a:p>
        </p:txBody>
      </p:sp>
      <p:sp>
        <p:nvSpPr>
          <p:cNvPr id="46" name="Rounded Rectangle 45"/>
          <p:cNvSpPr/>
          <p:nvPr/>
        </p:nvSpPr>
        <p:spPr>
          <a:xfrm>
            <a:off x="990600" y="6096000"/>
            <a:ext cx="3746500" cy="1562100"/>
          </a:xfrm>
          <a:prstGeom prst="roundRect">
            <a:avLst>
              <a:gd name="adj" fmla="val 6504"/>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68400" y="6273800"/>
            <a:ext cx="33909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B의 생산 loop가 기준</a:t>
            </a:r>
          </a:p>
        </p:txBody>
      </p:sp>
      <p:sp>
        <p:nvSpPr>
          <p:cNvPr id="48" name="TextBox 47"/>
          <p:cNvSpPr txBox="1"/>
          <p:nvPr/>
        </p:nvSpPr>
        <p:spPr>
          <a:xfrm>
            <a:off x="1168400" y="6700520"/>
            <a:ext cx="3390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필요한 행/타일의 범위</a:t>
            </a:r>
          </a:p>
        </p:txBody>
      </p:sp>
      <p:sp>
        <p:nvSpPr>
          <p:cNvPr id="49" name="TextBox 48"/>
          <p:cNvSpPr txBox="1"/>
          <p:nvPr/>
        </p:nvSpPr>
        <p:spPr>
          <a:xfrm>
            <a:off x="1168400" y="6963410"/>
            <a:ext cx="3390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의존성을 유지하며 배치</a:t>
            </a:r>
          </a:p>
        </p:txBody>
      </p:sp>
      <p:cxnSp>
        <p:nvCxnSpPr>
          <p:cNvPr id="50" name="Connector 49"/>
          <p:cNvCxnSpPr/>
          <p:nvPr/>
        </p:nvCxnSpPr>
        <p:spPr>
          <a:xfrm>
            <a:off x="4940300" y="6870700"/>
            <a:ext cx="685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5524500" y="68199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867400" y="6096000"/>
            <a:ext cx="5283200" cy="1562100"/>
          </a:xfrm>
          <a:prstGeom prst="roundRect">
            <a:avLst>
              <a:gd name="adj" fmla="val 6504"/>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45200" y="6273800"/>
            <a:ext cx="49276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C 소비를 loop 안으로</a:t>
            </a:r>
          </a:p>
        </p:txBody>
      </p:sp>
      <p:sp>
        <p:nvSpPr>
          <p:cNvPr id="54" name="TextBox 53"/>
          <p:cNvSpPr txBox="1"/>
          <p:nvPr/>
        </p:nvSpPr>
        <p:spPr>
          <a:xfrm>
            <a:off x="6045200" y="6700520"/>
            <a:ext cx="4927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for tile:</a:t>
            </a:r>
          </a:p>
        </p:txBody>
      </p:sp>
      <p:sp>
        <p:nvSpPr>
          <p:cNvPr id="55" name="TextBox 54"/>
          <p:cNvSpPr txBox="1"/>
          <p:nvPr/>
        </p:nvSpPr>
        <p:spPr>
          <a:xfrm>
            <a:off x="6045200" y="6963410"/>
            <a:ext cx="4927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B tile 생성 → C tile 소비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06 / Cache와 scope</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복사 stage, 실행 위치, buffer 크기는 별개의 결정입니다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cache_read → compute_at → CompactBufferAllocation을 구분해서 읽습니다.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cache_read는 복사를 추가</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기존 입력을 cache buffer에 복사하고 소비자가</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cache를 읽도록 바꿉니다. 어느 반복에 복사할지는</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compute_at으로 별도 지정합니다.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Compaction은 필요한 범위로 축소</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4×4 교육 예제에서 매번 두 행만 접근하면 cache</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allocation을 2×4로 줄일 수 있습니다. API 호출 직후</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보이는 논리 shape와 최종 allocation은 다를 수</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있습니다.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set_scope와 cache_write도 다르다</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set_scope는 기존 buffer의 저장 scope를 바꿉니다.</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cache_write는 계산이 cache에 쓰고 원래 출력으로</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복사하는 stage를 만듭니다. 둘을 같은 API로 읽지</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FP32 accumulator는 unit 내부 상태로 내릴 수 있습니다. Scope 변경만 보고 전체 FP32 행렬을 SRAM에 저장한다고 판단하지 않습니다.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 08_cache_read_compacted.py</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18 / 54</a:t>
            </a:r>
          </a:p>
        </p:txBody>
      </p:sp>
      <p:sp>
        <p:nvSpPr>
          <p:cNvPr id="36" name="Rounded Rectangle 35"/>
          <p:cNvSpPr/>
          <p:nvPr/>
        </p:nvSpPr>
        <p:spPr>
          <a:xfrm>
            <a:off x="889000" y="2819400"/>
            <a:ext cx="3136900" cy="1790700"/>
          </a:xfrm>
          <a:prstGeom prst="roundRect">
            <a:avLst>
              <a:gd name="adj" fmla="val 5673"/>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29972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cache_read</a:t>
            </a:r>
          </a:p>
        </p:txBody>
      </p:sp>
      <p:sp>
        <p:nvSpPr>
          <p:cNvPr id="38" name="TextBox 37"/>
          <p:cNvSpPr txBox="1"/>
          <p:nvPr/>
        </p:nvSpPr>
        <p:spPr>
          <a:xfrm>
            <a:off x="1066800" y="34239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입력 → 새 cache buffer</a:t>
            </a:r>
          </a:p>
        </p:txBody>
      </p:sp>
      <p:sp>
        <p:nvSpPr>
          <p:cNvPr id="39" name="TextBox 38"/>
          <p:cNvSpPr txBox="1"/>
          <p:nvPr/>
        </p:nvSpPr>
        <p:spPr>
          <a:xfrm>
            <a:off x="1066800" y="36868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소비자는 cache를 읽음</a:t>
            </a:r>
          </a:p>
        </p:txBody>
      </p:sp>
      <p:sp>
        <p:nvSpPr>
          <p:cNvPr id="40" name="Rounded Rectangle 39"/>
          <p:cNvSpPr/>
          <p:nvPr/>
        </p:nvSpPr>
        <p:spPr>
          <a:xfrm>
            <a:off x="4559300" y="2819400"/>
            <a:ext cx="3136900" cy="1790700"/>
          </a:xfrm>
          <a:prstGeom prst="roundRect">
            <a:avLst>
              <a:gd name="adj" fmla="val 567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37100" y="29972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compute_at</a:t>
            </a:r>
          </a:p>
        </p:txBody>
      </p:sp>
      <p:sp>
        <p:nvSpPr>
          <p:cNvPr id="42" name="TextBox 41"/>
          <p:cNvSpPr txBox="1"/>
          <p:nvPr/>
        </p:nvSpPr>
        <p:spPr>
          <a:xfrm>
            <a:off x="4737100" y="34239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복사를 행 묶음 안으로</a:t>
            </a:r>
          </a:p>
        </p:txBody>
      </p:sp>
      <p:sp>
        <p:nvSpPr>
          <p:cNvPr id="43" name="TextBox 42"/>
          <p:cNvSpPr txBox="1"/>
          <p:nvPr/>
        </p:nvSpPr>
        <p:spPr>
          <a:xfrm>
            <a:off x="4737100" y="36868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매번 필요한 범위만 접근</a:t>
            </a:r>
          </a:p>
        </p:txBody>
      </p:sp>
      <p:cxnSp>
        <p:nvCxnSpPr>
          <p:cNvPr id="44" name="Connector 43"/>
          <p:cNvCxnSpPr/>
          <p:nvPr/>
        </p:nvCxnSpPr>
        <p:spPr>
          <a:xfrm>
            <a:off x="4076700" y="37147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4368800" y="36576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29600" y="2819400"/>
            <a:ext cx="3136900" cy="1790700"/>
          </a:xfrm>
          <a:prstGeom prst="roundRect">
            <a:avLst>
              <a:gd name="adj" fmla="val 567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7400" y="29972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Compaction</a:t>
            </a:r>
          </a:p>
        </p:txBody>
      </p:sp>
      <p:sp>
        <p:nvSpPr>
          <p:cNvPr id="48" name="TextBox 47"/>
          <p:cNvSpPr txBox="1"/>
          <p:nvPr/>
        </p:nvSpPr>
        <p:spPr>
          <a:xfrm>
            <a:off x="8407400" y="34239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실제 allocation 축소</a:t>
            </a:r>
          </a:p>
        </p:txBody>
      </p:sp>
      <p:sp>
        <p:nvSpPr>
          <p:cNvPr id="49" name="TextBox 48"/>
          <p:cNvSpPr txBox="1"/>
          <p:nvPr/>
        </p:nvSpPr>
        <p:spPr>
          <a:xfrm>
            <a:off x="8407400" y="36868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4×4 → 2×4 예제</a:t>
            </a:r>
          </a:p>
        </p:txBody>
      </p:sp>
      <p:cxnSp>
        <p:nvCxnSpPr>
          <p:cNvPr id="50" name="Connector 49"/>
          <p:cNvCxnSpPr/>
          <p:nvPr/>
        </p:nvCxnSpPr>
        <p:spPr>
          <a:xfrm>
            <a:off x="7747000" y="37147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8039100" y="36576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55700" y="5143500"/>
            <a:ext cx="33655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처음 cache</a:t>
            </a:r>
          </a:p>
        </p:txBody>
      </p:sp>
      <p:sp>
        <p:nvSpPr>
          <p:cNvPr id="53" name="Rectangle 52"/>
          <p:cNvSpPr/>
          <p:nvPr/>
        </p:nvSpPr>
        <p:spPr>
          <a:xfrm>
            <a:off x="1155700" y="54864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679575" y="54864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203450" y="54864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727325" y="54864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155700" y="57785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679575" y="57785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203450" y="57785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727325" y="57785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155700" y="60706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679575" y="60706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203450" y="60706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727325" y="60706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55700" y="63627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679575" y="63627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203450" y="63627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2727325" y="6362700"/>
            <a:ext cx="523875" cy="2921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1155700" y="5486400"/>
            <a:ext cx="2095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251200" y="5486400"/>
            <a:ext cx="0" cy="1168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155700" y="6654800"/>
            <a:ext cx="2095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155700" y="5486400"/>
            <a:ext cx="0" cy="1168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568700" y="5994400"/>
            <a:ext cx="11049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74" name="Freeform 73"/>
          <p:cNvSpPr/>
          <p:nvPr/>
        </p:nvSpPr>
        <p:spPr>
          <a:xfrm>
            <a:off x="4572000" y="5943600"/>
            <a:ext cx="101600" cy="101600"/>
          </a:xfrm>
          <a:custGeom>
            <a:avLst/>
            <a:gdLst/>
            <a:ahLst/>
            <a:cxnLst/>
            <a:rect l="l" t="t" r="r" b="b"/>
            <a:pathLst>
              <a:path w="8" h="8">
                <a:moveTo>
                  <a:pt x="8" y="4"/>
                </a:moveTo>
                <a:lnTo>
                  <a:pt x="0" y="8"/>
                </a:lnTo>
                <a:lnTo>
                  <a:pt x="0"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105400" y="5143500"/>
            <a:ext cx="33655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접근 범위</a:t>
            </a:r>
          </a:p>
        </p:txBody>
      </p:sp>
      <p:sp>
        <p:nvSpPr>
          <p:cNvPr id="76" name="Rectangle 75"/>
          <p:cNvSpPr/>
          <p:nvPr/>
        </p:nvSpPr>
        <p:spPr>
          <a:xfrm>
            <a:off x="5105400"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629275"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153150"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677025"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105400"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629275"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153150"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677025"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105400" y="60706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629275" y="60706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153150" y="60706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677025" y="60706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105400" y="63627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629275" y="63627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153150" y="63627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677025" y="6362700"/>
            <a:ext cx="523875" cy="2921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5105400" y="5486400"/>
            <a:ext cx="2095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7200900" y="5486400"/>
            <a:ext cx="0" cy="1168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5105400" y="6654800"/>
            <a:ext cx="2095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105400" y="5486400"/>
            <a:ext cx="0" cy="1168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518400" y="5994400"/>
            <a:ext cx="11049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97" name="Freeform 96"/>
          <p:cNvSpPr/>
          <p:nvPr/>
        </p:nvSpPr>
        <p:spPr>
          <a:xfrm>
            <a:off x="8521700" y="5943600"/>
            <a:ext cx="101600" cy="101600"/>
          </a:xfrm>
          <a:custGeom>
            <a:avLst/>
            <a:gdLst/>
            <a:ahLst/>
            <a:cxnLst/>
            <a:rect l="l" t="t" r="r" b="b"/>
            <a:pathLst>
              <a:path w="8" h="8">
                <a:moveTo>
                  <a:pt x="8" y="4"/>
                </a:moveTo>
                <a:lnTo>
                  <a:pt x="0" y="8"/>
                </a:lnTo>
                <a:lnTo>
                  <a:pt x="0"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9080500" y="5143500"/>
            <a:ext cx="33655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축소 뒤</a:t>
            </a:r>
          </a:p>
        </p:txBody>
      </p:sp>
      <p:sp>
        <p:nvSpPr>
          <p:cNvPr id="99" name="Rectangle 98"/>
          <p:cNvSpPr/>
          <p:nvPr/>
        </p:nvSpPr>
        <p:spPr>
          <a:xfrm>
            <a:off x="9080500"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604375"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128250"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0652125" y="54864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9080500"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604375"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128250"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652125" y="5778500"/>
            <a:ext cx="523875" cy="2921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a:off x="9080500" y="5486400"/>
            <a:ext cx="2095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176000" y="5486400"/>
            <a:ext cx="0" cy="5842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a:off x="9080500" y="6070600"/>
            <a:ext cx="20955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9080500" y="5486400"/>
            <a:ext cx="0" cy="5842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990600" y="7315200"/>
            <a:ext cx="4953000" cy="381000"/>
          </a:xfrm>
          <a:prstGeom prst="roundRect">
            <a:avLst>
              <a:gd name="adj" fmla="val 12000"/>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104900" y="7391400"/>
            <a:ext cx="47244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set_scope = 기존 buffer의 scope</a:t>
            </a:r>
          </a:p>
        </p:txBody>
      </p:sp>
      <p:sp>
        <p:nvSpPr>
          <p:cNvPr id="113" name="Rounded Rectangle 112"/>
          <p:cNvSpPr/>
          <p:nvPr/>
        </p:nvSpPr>
        <p:spPr>
          <a:xfrm>
            <a:off x="6210300" y="7315200"/>
            <a:ext cx="4965700" cy="381000"/>
          </a:xfrm>
          <a:prstGeom prst="roundRect">
            <a:avLst>
              <a:gd name="adj" fmla="val 12000"/>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324600" y="7391400"/>
            <a:ext cx="47371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cache_write = 출력 cache + 복사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06 / 탐색 공간</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현재 schedule은 여러 선택 축을 조합합니다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기준 schedule도 남아 있지만 네 가지 고정 규칙만 고르는 구조는 아닙니다.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서로 독립적인 선택 축을 조합</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M/N panel, K chunk, 바깥·안쪽 M/N 순서와 X/W</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 위치를 조합합니다. Factor는 padding한 축</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길이의 64배수 약수에서 만듭니다.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중복과 확실한 SRAM 초과 제거</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실제 tile 순회·복사 주기가 같은 후보를 합칩니다.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정렬된 직접 입력은 두 operand cache만으로 용량</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초과를 증명할 때 제외합니다. 나머지는 실제 SRAM</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배치와 명령으로 검사합니다.</a:t>
            </a:r>
          </a:p>
        </p:txBody>
      </p:sp>
      <p:sp>
        <p:nvSpPr>
          <p:cNvPr id="23" name="Rounded Rectangle 22"/>
          <p:cNvSpPr/>
          <p:nvPr/>
        </p:nvSpPr>
        <p:spPr>
          <a:xfrm>
            <a:off x="11988800" y="5802376"/>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탐색 예산과 기록 재사용</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기본 성공 목표 8개·시도 64회이며 words 한도는</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커널 크기에 맞춰 늘립니다. 선택형 MetaSchedule은</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ReplayFunc 탐색과 trace 저장·재생을 지원합니다.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기존 기준 schedule도 비교용으로 유지합니다. 네 가지 고정 규칙만 고르는 구조도, 모든 가능한 조합을 끝까지 검사하는 구조도 아닙니다.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19 / 54</a:t>
            </a:r>
          </a:p>
        </p:txBody>
      </p:sp>
      <p:sp>
        <p:nvSpPr>
          <p:cNvPr id="35" name="Rectangle 34"/>
          <p:cNvSpPr/>
          <p:nvPr/>
        </p:nvSpPr>
        <p:spPr>
          <a:xfrm>
            <a:off x="850900" y="27432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7900" y="285750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선택 축</a:t>
            </a:r>
          </a:p>
        </p:txBody>
      </p:sp>
      <p:sp>
        <p:nvSpPr>
          <p:cNvPr id="37" name="TextBox 36"/>
          <p:cNvSpPr txBox="1"/>
          <p:nvPr/>
        </p:nvSpPr>
        <p:spPr>
          <a:xfrm>
            <a:off x="4013200" y="2857500"/>
            <a:ext cx="72009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후보의 예 / 뜻</a:t>
            </a:r>
          </a:p>
        </p:txBody>
      </p:sp>
      <p:sp>
        <p:nvSpPr>
          <p:cNvPr id="38" name="Rectangle 37"/>
          <p:cNvSpPr/>
          <p:nvPr/>
        </p:nvSpPr>
        <p:spPr>
          <a:xfrm>
            <a:off x="850900" y="3200400"/>
            <a:ext cx="10490200" cy="6731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7900" y="3314700"/>
            <a:ext cx="2781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m_panel / n_panel</a:t>
            </a:r>
          </a:p>
        </p:txBody>
      </p:sp>
      <p:sp>
        <p:nvSpPr>
          <p:cNvPr id="40" name="TextBox 39"/>
          <p:cNvSpPr txBox="1"/>
          <p:nvPr/>
        </p:nvSpPr>
        <p:spPr>
          <a:xfrm>
            <a:off x="4013200" y="3314700"/>
            <a:ext cx="7200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출력 행·열 묶음: N=256이면 64 / 128 / 256</a:t>
            </a:r>
          </a:p>
        </p:txBody>
      </p:sp>
      <p:sp>
        <p:nvSpPr>
          <p:cNvPr id="41" name="Rectangle 40"/>
          <p:cNvSpPr/>
          <p:nvPr/>
        </p:nvSpPr>
        <p:spPr>
          <a:xfrm>
            <a:off x="850900" y="3873500"/>
            <a:ext cx="10490200" cy="6731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900" y="3987800"/>
            <a:ext cx="2781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k_chunk</a:t>
            </a:r>
          </a:p>
        </p:txBody>
      </p:sp>
      <p:sp>
        <p:nvSpPr>
          <p:cNvPr id="43" name="TextBox 42"/>
          <p:cNvSpPr txBox="1"/>
          <p:nvPr/>
        </p:nvSpPr>
        <p:spPr>
          <a:xfrm>
            <a:off x="4013200" y="3987800"/>
            <a:ext cx="7200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K를 묶는 단위; 안에서는 64개씩 matrix 실행</a:t>
            </a:r>
          </a:p>
        </p:txBody>
      </p:sp>
      <p:sp>
        <p:nvSpPr>
          <p:cNvPr id="44" name="Rectangle 43"/>
          <p:cNvSpPr/>
          <p:nvPr/>
        </p:nvSpPr>
        <p:spPr>
          <a:xfrm>
            <a:off x="850900" y="4546600"/>
            <a:ext cx="10490200" cy="6731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4660900"/>
            <a:ext cx="2781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outer / inner order</a:t>
            </a:r>
          </a:p>
        </p:txBody>
      </p:sp>
      <p:sp>
        <p:nvSpPr>
          <p:cNvPr id="46" name="TextBox 45"/>
          <p:cNvSpPr txBox="1"/>
          <p:nvPr/>
        </p:nvSpPr>
        <p:spPr>
          <a:xfrm>
            <a:off x="4013200" y="4660900"/>
            <a:ext cx="7200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M/N panel 순서와 panel 안 M/N tile 순서</a:t>
            </a:r>
          </a:p>
        </p:txBody>
      </p:sp>
      <p:sp>
        <p:nvSpPr>
          <p:cNvPr id="47" name="Rectangle 46"/>
          <p:cNvSpPr/>
          <p:nvPr/>
        </p:nvSpPr>
        <p:spPr>
          <a:xfrm>
            <a:off x="850900" y="5219700"/>
            <a:ext cx="10490200" cy="6731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7900" y="5334000"/>
            <a:ext cx="2781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a_at / b_at</a:t>
            </a:r>
          </a:p>
        </p:txBody>
      </p:sp>
      <p:sp>
        <p:nvSpPr>
          <p:cNvPr id="49" name="TextBox 48"/>
          <p:cNvSpPr txBox="1"/>
          <p:nvPr/>
        </p:nvSpPr>
        <p:spPr>
          <a:xfrm>
            <a:off x="4013200" y="5334000"/>
            <a:ext cx="7200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X/W 복사를 둘 loop 위치를 각각 선택</a:t>
            </a:r>
          </a:p>
        </p:txBody>
      </p:sp>
      <p:sp>
        <p:nvSpPr>
          <p:cNvPr id="50" name="Rounded Rectangle 49"/>
          <p:cNvSpPr/>
          <p:nvPr/>
        </p:nvSpPr>
        <p:spPr>
          <a:xfrm>
            <a:off x="927100" y="6273800"/>
            <a:ext cx="2413000" cy="8255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04900" y="6451600"/>
            <a:ext cx="20574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추정 DMA 순위</a:t>
            </a:r>
          </a:p>
        </p:txBody>
      </p:sp>
      <p:sp>
        <p:nvSpPr>
          <p:cNvPr id="52" name="Rounded Rectangle 51"/>
          <p:cNvSpPr/>
          <p:nvPr/>
        </p:nvSpPr>
        <p:spPr>
          <a:xfrm>
            <a:off x="3556000" y="6273800"/>
            <a:ext cx="2413000" cy="825500"/>
          </a:xfrm>
          <a:prstGeom prst="roundRect">
            <a:avLst>
              <a:gd name="adj" fmla="val 12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33800" y="6451600"/>
            <a:ext cx="20574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Schedule 생성</a:t>
            </a:r>
          </a:p>
        </p:txBody>
      </p:sp>
      <p:cxnSp>
        <p:nvCxnSpPr>
          <p:cNvPr id="54" name="Connector 53"/>
          <p:cNvCxnSpPr/>
          <p:nvPr/>
        </p:nvCxnSpPr>
        <p:spPr>
          <a:xfrm>
            <a:off x="3340100" y="6680200"/>
            <a:ext cx="177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5" name="Freeform 54"/>
          <p:cNvSpPr/>
          <p:nvPr/>
        </p:nvSpPr>
        <p:spPr>
          <a:xfrm>
            <a:off x="3416300" y="6629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184900" y="6273800"/>
            <a:ext cx="2413000" cy="825500"/>
          </a:xfrm>
          <a:prstGeom prst="roundRect">
            <a:avLst>
              <a:gd name="adj" fmla="val 12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62700" y="6451600"/>
            <a:ext cx="20574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공간·누산 검사</a:t>
            </a:r>
          </a:p>
        </p:txBody>
      </p:sp>
      <p:cxnSp>
        <p:nvCxnSpPr>
          <p:cNvPr id="58" name="Connector 57"/>
          <p:cNvCxnSpPr/>
          <p:nvPr/>
        </p:nvCxnSpPr>
        <p:spPr>
          <a:xfrm>
            <a:off x="5969000" y="6680200"/>
            <a:ext cx="177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6045200" y="6629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8813800" y="6273800"/>
            <a:ext cx="2413000" cy="8255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991600" y="6451600"/>
            <a:ext cx="20574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최종 비용 비교</a:t>
            </a:r>
          </a:p>
        </p:txBody>
      </p:sp>
      <p:cxnSp>
        <p:nvCxnSpPr>
          <p:cNvPr id="62" name="Connector 61"/>
          <p:cNvCxnSpPr/>
          <p:nvPr/>
        </p:nvCxnSpPr>
        <p:spPr>
          <a:xfrm>
            <a:off x="8597900" y="6680200"/>
            <a:ext cx="177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8674100" y="6629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3300" y="7480300"/>
            <a:ext cx="100457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008A82"/>
                </a:solidFill>
                <a:latin typeface="NanumGothic"/>
                <a:ea typeface="NanumGothic"/>
                <a:cs typeface="NanumGothic"/>
              </a:rPr>
              <a:t>보관값이 차지한 공간을 제외 → 남은 SRAM으로 다시 후보 평가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06 / Llama 연결</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48 MiB weight를 SRAM에 한 번에 넣지 않습니다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64-token gate projection: X[64,3072] @ W[3072,8192]</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Gate/up은 작은 X를 오래 쓴다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M=64에서 X[64,3072]는 384 KiB입니다. 이를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유지하고 W[3072,64] 384 KiB panel을 출력</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열마다 바꾸는 선택이 기록되어 있습니다.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한 출력 타일은 48번 누산</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K=3072이므로 3072/64=48개의 matrix 명령을</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수행합니다. N=8192의 출력 열 타일 128개를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계산해 gate 전체에 6144개가 필요합니다.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Down은 다른 panel을 사용한다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기록된 down은 W[8192,256] 4 MiB를 유지하며</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출력 64열 타일 네 개를 만듭니다. H 입력은 앞</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kernel에서 SRAM에 남겨 전달합니다.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이 수치는 실제 폭 MLP의 정적 compile 기록입니다. 선택 순서는 gate→SiLU→up→multiply→down이며 전체 checkpoint 실행 검증과</a:t>
            </a:r>
          </a:p>
        </p:txBody>
      </p:sp>
      <p:sp>
        <p:nvSpPr>
          <p:cNvPr id="31" name="TextBox 30"/>
          <p:cNvSpPr txBox="1"/>
          <p:nvPr/>
        </p:nvSpPr>
        <p:spPr>
          <a:xfrm>
            <a:off x="2527300" y="9070594"/>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구분합니다.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20 / 54</a:t>
            </a:r>
          </a:p>
        </p:txBody>
      </p:sp>
      <p:sp>
        <p:nvSpPr>
          <p:cNvPr id="35" name="TextBox 34"/>
          <p:cNvSpPr txBox="1"/>
          <p:nvPr/>
        </p:nvSpPr>
        <p:spPr>
          <a:xfrm>
            <a:off x="1016000" y="2997200"/>
            <a:ext cx="39116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X [64,3072] 384 KiB</a:t>
            </a:r>
          </a:p>
        </p:txBody>
      </p:sp>
      <p:sp>
        <p:nvSpPr>
          <p:cNvPr id="36" name="Rectangle 35"/>
          <p:cNvSpPr/>
          <p:nvPr/>
        </p:nvSpPr>
        <p:spPr>
          <a:xfrm>
            <a:off x="1016000" y="33401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56266" y="33401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896533" y="33401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336800" y="33401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77066" y="33401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17333" y="33401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 y="42926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456266" y="42926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896533" y="42926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336800" y="42926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777066" y="42926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17333" y="4292600"/>
            <a:ext cx="440266" cy="952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1016000" y="3340100"/>
            <a:ext cx="26416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657600" y="3340100"/>
            <a:ext cx="0" cy="1905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016000" y="5245100"/>
            <a:ext cx="26416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016000" y="3340100"/>
            <a:ext cx="0" cy="1905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699000" y="2997200"/>
            <a:ext cx="76708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W [3072,8192] 전체 48 MiB</a:t>
            </a:r>
          </a:p>
        </p:txBody>
      </p:sp>
      <p:sp>
        <p:nvSpPr>
          <p:cNvPr id="53" name="Rectangle 52"/>
          <p:cNvSpPr/>
          <p:nvPr/>
        </p:nvSpPr>
        <p:spPr>
          <a:xfrm>
            <a:off x="4699000" y="3340100"/>
            <a:ext cx="800100" cy="6350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499100" y="334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99200" y="334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099300" y="334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899400" y="334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699500" y="334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499600" y="334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299700" y="334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699000" y="3975100"/>
            <a:ext cx="800100" cy="6350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499100" y="3975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99200" y="3975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099300" y="3975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899400" y="3975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699500" y="3975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499600" y="3975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299700" y="3975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699000" y="4610100"/>
            <a:ext cx="800100" cy="6350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499100" y="461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299200" y="461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099300" y="461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899400" y="461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699500" y="461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499600" y="461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299700" y="4610100"/>
            <a:ext cx="800100" cy="6350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4699000" y="3340100"/>
            <a:ext cx="6400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1099800" y="3340100"/>
            <a:ext cx="0" cy="1905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4699000" y="5245100"/>
            <a:ext cx="6400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699000" y="3340100"/>
            <a:ext cx="0" cy="19050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1028700" y="5537200"/>
            <a:ext cx="3048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008A82"/>
                </a:solidFill>
                <a:latin typeface="NanumGothic"/>
                <a:ea typeface="NanumGothic"/>
                <a:cs typeface="NanumGothic"/>
              </a:rPr>
              <a:t>X 유지</a:t>
            </a:r>
          </a:p>
        </p:txBody>
      </p:sp>
      <p:sp>
        <p:nvSpPr>
          <p:cNvPr id="82" name="TextBox 81"/>
          <p:cNvSpPr txBox="1"/>
          <p:nvPr/>
        </p:nvSpPr>
        <p:spPr>
          <a:xfrm>
            <a:off x="4737100" y="5537200"/>
            <a:ext cx="64008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008A82"/>
                </a:solidFill>
                <a:latin typeface="NanumGothic"/>
                <a:ea typeface="NanumGothic"/>
                <a:cs typeface="NanumGothic"/>
              </a:rPr>
              <a:t>64열 panel 384 KiB씩 교체 × 128회</a:t>
            </a:r>
          </a:p>
        </p:txBody>
      </p:sp>
      <p:sp>
        <p:nvSpPr>
          <p:cNvPr id="83" name="Rounded Rectangle 82"/>
          <p:cNvSpPr/>
          <p:nvPr/>
        </p:nvSpPr>
        <p:spPr>
          <a:xfrm>
            <a:off x="965200" y="6273800"/>
            <a:ext cx="4978400" cy="1485900"/>
          </a:xfrm>
          <a:prstGeom prst="roundRect">
            <a:avLst>
              <a:gd name="adj" fmla="val 6837"/>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43000" y="6451600"/>
            <a:ext cx="46228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Gate / up의 matrix 명령</a:t>
            </a:r>
          </a:p>
        </p:txBody>
      </p:sp>
      <p:sp>
        <p:nvSpPr>
          <p:cNvPr id="85" name="TextBox 84"/>
          <p:cNvSpPr txBox="1"/>
          <p:nvPr/>
        </p:nvSpPr>
        <p:spPr>
          <a:xfrm>
            <a:off x="1143000" y="6895846"/>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출력 tile 128개 × K tile 48개</a:t>
            </a:r>
          </a:p>
        </p:txBody>
      </p:sp>
      <p:sp>
        <p:nvSpPr>
          <p:cNvPr id="86" name="TextBox 85"/>
          <p:cNvSpPr txBox="1"/>
          <p:nvPr/>
        </p:nvSpPr>
        <p:spPr>
          <a:xfrm>
            <a:off x="1143000" y="7158736"/>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 6144개 M_MUL</a:t>
            </a:r>
          </a:p>
        </p:txBody>
      </p:sp>
      <p:sp>
        <p:nvSpPr>
          <p:cNvPr id="87" name="Rounded Rectangle 86"/>
          <p:cNvSpPr/>
          <p:nvPr/>
        </p:nvSpPr>
        <p:spPr>
          <a:xfrm>
            <a:off x="6235700" y="6273800"/>
            <a:ext cx="4978400" cy="1485900"/>
          </a:xfrm>
          <a:prstGeom prst="roundRect">
            <a:avLst>
              <a:gd name="adj" fmla="val 6837"/>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413500" y="6451600"/>
            <a:ext cx="46228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Down의 기록된 선택</a:t>
            </a:r>
          </a:p>
        </p:txBody>
      </p:sp>
      <p:sp>
        <p:nvSpPr>
          <p:cNvPr id="89" name="TextBox 88"/>
          <p:cNvSpPr txBox="1"/>
          <p:nvPr/>
        </p:nvSpPr>
        <p:spPr>
          <a:xfrm>
            <a:off x="6413500" y="6895846"/>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W 4 MiB panel에 출력 tile 4개</a:t>
            </a:r>
          </a:p>
        </p:txBody>
      </p:sp>
      <p:sp>
        <p:nvSpPr>
          <p:cNvPr id="90" name="TextBox 89"/>
          <p:cNvSpPr txBox="1"/>
          <p:nvPr/>
        </p:nvSpPr>
        <p:spPr>
          <a:xfrm>
            <a:off x="6413500" y="7158736"/>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12 panels × 4 × 128 = 6144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07 / Vector 연산</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SiLU 하나도 여러 vector 계산으로 펼쳐집니다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 경로는 중간 FP16 값과 SRAM 작업 공간을 사용합니다.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SiLU는 다섯 단계의 수식</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 exp, 1 더하기, 역수, x와 곱하기로 펼쳐집니다.</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SiLU 하나를 ISA 명령 하나로 세거나 matmul</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activation bit 사용으로 이해하면 안 됩니다.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중간값도 공간과 이동이 필요</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기본 FP16 vector 경로는 중간 결과를 SRAM</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scratch에 저장합니다. 같은 입력 x가 처음과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마지막에 필요하므로 그 수명과 cache 재사용을 함께</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봅니다.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연속 원소를 길게 처리한다</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가능한 pointwise 축을 fuse/split하여 짧은 vector</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명령을 줄입니다. 비연속 stride·broadcast·겹치는</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입출력은 검사하며 reduction 축을 임의로 합치지는</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SRAM에 있는 입력은 LOAD→vector 연산→SAVE로 처리합니다. 이 이동은 DRAM DMA와 다른 비용입니다.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07_operators.md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21 / 54</a:t>
            </a:r>
          </a:p>
        </p:txBody>
      </p:sp>
      <p:sp>
        <p:nvSpPr>
          <p:cNvPr id="36" name="Rounded Rectangle 35"/>
          <p:cNvSpPr/>
          <p:nvPr/>
        </p:nvSpPr>
        <p:spPr>
          <a:xfrm>
            <a:off x="927100" y="2781300"/>
            <a:ext cx="2057400" cy="863600"/>
          </a:xfrm>
          <a:prstGeom prst="roundRect">
            <a:avLst>
              <a:gd name="adj" fmla="val 11764"/>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4900" y="2959100"/>
            <a:ext cx="17018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입력 x</a:t>
            </a:r>
          </a:p>
        </p:txBody>
      </p:sp>
      <p:sp>
        <p:nvSpPr>
          <p:cNvPr id="38" name="Rounded Rectangle 37"/>
          <p:cNvSpPr/>
          <p:nvPr/>
        </p:nvSpPr>
        <p:spPr>
          <a:xfrm>
            <a:off x="927100" y="4419600"/>
            <a:ext cx="1879600" cy="1333500"/>
          </a:xfrm>
          <a:prstGeom prst="roundRect">
            <a:avLst>
              <a:gd name="adj" fmla="val 7619"/>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04900" y="4597400"/>
            <a:ext cx="1524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-x</a:t>
            </a:r>
          </a:p>
        </p:txBody>
      </p:sp>
      <p:sp>
        <p:nvSpPr>
          <p:cNvPr id="40" name="TextBox 39"/>
          <p:cNvSpPr txBox="1"/>
          <p:nvPr/>
        </p:nvSpPr>
        <p:spPr>
          <a:xfrm>
            <a:off x="1104900" y="5059172"/>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부호 반전</a:t>
            </a:r>
          </a:p>
        </p:txBody>
      </p:sp>
      <p:sp>
        <p:nvSpPr>
          <p:cNvPr id="41" name="Rounded Rectangle 40"/>
          <p:cNvSpPr/>
          <p:nvPr/>
        </p:nvSpPr>
        <p:spPr>
          <a:xfrm>
            <a:off x="3022600" y="4419600"/>
            <a:ext cx="1879600" cy="1333500"/>
          </a:xfrm>
          <a:prstGeom prst="roundRect">
            <a:avLst>
              <a:gd name="adj" fmla="val 761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0" y="4597400"/>
            <a:ext cx="1524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exp</a:t>
            </a:r>
          </a:p>
        </p:txBody>
      </p:sp>
      <p:sp>
        <p:nvSpPr>
          <p:cNvPr id="43" name="TextBox 42"/>
          <p:cNvSpPr txBox="1"/>
          <p:nvPr/>
        </p:nvSpPr>
        <p:spPr>
          <a:xfrm>
            <a:off x="3200400" y="5059172"/>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지수</a:t>
            </a:r>
          </a:p>
        </p:txBody>
      </p:sp>
      <p:cxnSp>
        <p:nvCxnSpPr>
          <p:cNvPr id="44" name="Connector 43"/>
          <p:cNvCxnSpPr/>
          <p:nvPr/>
        </p:nvCxnSpPr>
        <p:spPr>
          <a:xfrm>
            <a:off x="2806700" y="5080000"/>
            <a:ext cx="1651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2870200" y="5029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118100" y="4419600"/>
            <a:ext cx="1879600" cy="1333500"/>
          </a:xfrm>
          <a:prstGeom prst="roundRect">
            <a:avLst>
              <a:gd name="adj" fmla="val 7619"/>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95900" y="4597400"/>
            <a:ext cx="1524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1 + t</a:t>
            </a:r>
          </a:p>
        </p:txBody>
      </p:sp>
      <p:sp>
        <p:nvSpPr>
          <p:cNvPr id="48" name="TextBox 47"/>
          <p:cNvSpPr txBox="1"/>
          <p:nvPr/>
        </p:nvSpPr>
        <p:spPr>
          <a:xfrm>
            <a:off x="5295900" y="5059172"/>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분모</a:t>
            </a:r>
          </a:p>
        </p:txBody>
      </p:sp>
      <p:cxnSp>
        <p:nvCxnSpPr>
          <p:cNvPr id="49" name="Connector 48"/>
          <p:cNvCxnSpPr/>
          <p:nvPr/>
        </p:nvCxnSpPr>
        <p:spPr>
          <a:xfrm>
            <a:off x="4902200" y="5080000"/>
            <a:ext cx="1651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0" name="Freeform 49"/>
          <p:cNvSpPr/>
          <p:nvPr/>
        </p:nvSpPr>
        <p:spPr>
          <a:xfrm>
            <a:off x="4965700" y="5029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213600" y="4419600"/>
            <a:ext cx="1879600" cy="1333500"/>
          </a:xfrm>
          <a:prstGeom prst="roundRect">
            <a:avLst>
              <a:gd name="adj" fmla="val 761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91400" y="4597400"/>
            <a:ext cx="1524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1 / t</a:t>
            </a:r>
          </a:p>
        </p:txBody>
      </p:sp>
      <p:sp>
        <p:nvSpPr>
          <p:cNvPr id="53" name="TextBox 52"/>
          <p:cNvSpPr txBox="1"/>
          <p:nvPr/>
        </p:nvSpPr>
        <p:spPr>
          <a:xfrm>
            <a:off x="7391400" y="5059172"/>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역수</a:t>
            </a:r>
          </a:p>
        </p:txBody>
      </p:sp>
      <p:cxnSp>
        <p:nvCxnSpPr>
          <p:cNvPr id="54" name="Connector 53"/>
          <p:cNvCxnSpPr/>
          <p:nvPr/>
        </p:nvCxnSpPr>
        <p:spPr>
          <a:xfrm>
            <a:off x="6997700" y="5080000"/>
            <a:ext cx="1651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5" name="Freeform 54"/>
          <p:cNvSpPr/>
          <p:nvPr/>
        </p:nvSpPr>
        <p:spPr>
          <a:xfrm>
            <a:off x="7061200" y="5029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9309100" y="4419600"/>
            <a:ext cx="1879600" cy="1333500"/>
          </a:xfrm>
          <a:prstGeom prst="roundRect">
            <a:avLst>
              <a:gd name="adj" fmla="val 7619"/>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86900" y="4597400"/>
            <a:ext cx="1524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x × t</a:t>
            </a:r>
          </a:p>
        </p:txBody>
      </p:sp>
      <p:sp>
        <p:nvSpPr>
          <p:cNvPr id="58" name="TextBox 57"/>
          <p:cNvSpPr txBox="1"/>
          <p:nvPr/>
        </p:nvSpPr>
        <p:spPr>
          <a:xfrm>
            <a:off x="9486900" y="5059172"/>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SiLU 출력</a:t>
            </a:r>
          </a:p>
        </p:txBody>
      </p:sp>
      <p:cxnSp>
        <p:nvCxnSpPr>
          <p:cNvPr id="59" name="Connector 58"/>
          <p:cNvCxnSpPr/>
          <p:nvPr/>
        </p:nvCxnSpPr>
        <p:spPr>
          <a:xfrm>
            <a:off x="9093200" y="5080000"/>
            <a:ext cx="1651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9156700" y="5029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1905000" y="3644900"/>
            <a:ext cx="0" cy="7747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2" name="Freeform 61"/>
          <p:cNvSpPr/>
          <p:nvPr/>
        </p:nvSpPr>
        <p:spPr>
          <a:xfrm>
            <a:off x="1854200" y="43180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2984500" y="3213100"/>
            <a:ext cx="72517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236200" y="3213100"/>
            <a:ext cx="0" cy="12065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5" name="Freeform 64"/>
          <p:cNvSpPr/>
          <p:nvPr/>
        </p:nvSpPr>
        <p:spPr>
          <a:xfrm>
            <a:off x="10185400" y="43180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054600" y="3517900"/>
            <a:ext cx="54483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008A82"/>
                </a:solidFill>
                <a:latin typeface="NanumGothic"/>
                <a:ea typeface="NanumGothic"/>
                <a:cs typeface="NanumGothic"/>
              </a:rPr>
              <a:t>마지막 곱셈까지 x가 필요</a:t>
            </a:r>
          </a:p>
        </p:txBody>
      </p:sp>
      <p:sp>
        <p:nvSpPr>
          <p:cNvPr id="67" name="Rounded Rectangle 66"/>
          <p:cNvSpPr/>
          <p:nvPr/>
        </p:nvSpPr>
        <p:spPr>
          <a:xfrm>
            <a:off x="965200" y="6502400"/>
            <a:ext cx="10223500" cy="1257300"/>
          </a:xfrm>
          <a:prstGeom prst="roundRect">
            <a:avLst>
              <a:gd name="adj" fmla="val 808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143000" y="6680200"/>
            <a:ext cx="98679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각 단계: SRAM에서 LOAD → vector 계산 → SRAM에 SAVE</a:t>
            </a:r>
          </a:p>
        </p:txBody>
      </p:sp>
      <p:sp>
        <p:nvSpPr>
          <p:cNvPr id="69" name="TextBox 68"/>
          <p:cNvSpPr txBox="1"/>
          <p:nvPr/>
        </p:nvSpPr>
        <p:spPr>
          <a:xfrm>
            <a:off x="1143000" y="7124446"/>
            <a:ext cx="9867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임시값 수명·길이에 맞춰 scratch를 재사용하고 연속 축은 길게 처리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07 / Vector 길이</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256 lanes와 명령이 지정하는 VLEN을 구분합니다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 compiler/C-model 계약과 실제 RTL에서 확인할 항목을 함께 표시합니다.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VLEN은 이번 논리 처리 길이</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예를 들어 길이 1000의 원소별 연산을 지정할 수</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있습니다. 물리 폭이 256이면 내부적으로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256+256+256+232로 처리한다는 계약을 전제로</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합니다.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항상 1024로 padding하지 않는다</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유효 길이를 처리할 수 있다면 tail 232개만 계산하면</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됩니다. 하지만 C-model이 배열로 길이 전체를</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처리하는 사실은 실제 256-lane 하드웨어 구현의</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증거가 아닙니다.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성능과 reduction은 별도 문제</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VLEN=1024 한 명령과 VLEN=256 한 명령의</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cycle이 같지는 않습니다. 행별 reduction을 단순히</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256개씩 나누려면 부분 max/sum을 이어가는</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설계도 필요합니다.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긴 VLEN의 RTL LOAD/연산/SAVE·tail 계약은 후속 확인 사항입니다. 현재 ISA words만으로 lane 활용률이나 latency를 주장하지 않습니다.</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07_operators.md, 12_operations_limits.md</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22 / 54</a:t>
            </a:r>
          </a:p>
        </p:txBody>
      </p:sp>
      <p:sp>
        <p:nvSpPr>
          <p:cNvPr id="37" name="TextBox 36"/>
          <p:cNvSpPr txBox="1"/>
          <p:nvPr/>
        </p:nvSpPr>
        <p:spPr>
          <a:xfrm>
            <a:off x="990600" y="2794000"/>
            <a:ext cx="101600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172942"/>
                </a:solidFill>
                <a:latin typeface="NanumGothic"/>
                <a:ea typeface="NanumGothic"/>
                <a:cs typeface="NanumGothic"/>
              </a:rPr>
              <a:t>논리 VLEN = 1000개 원소</a:t>
            </a:r>
          </a:p>
        </p:txBody>
      </p:sp>
      <p:sp>
        <p:nvSpPr>
          <p:cNvPr id="38" name="Rounded Rectangle 37"/>
          <p:cNvSpPr/>
          <p:nvPr/>
        </p:nvSpPr>
        <p:spPr>
          <a:xfrm>
            <a:off x="965200" y="3581400"/>
            <a:ext cx="2616200" cy="1231900"/>
          </a:xfrm>
          <a:prstGeom prst="roundRect">
            <a:avLst>
              <a:gd name="adj" fmla="val 8247"/>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3000" y="3759200"/>
            <a:ext cx="22606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172942"/>
                </a:solidFill>
                <a:latin typeface="NanumGothic"/>
                <a:ea typeface="NanumGothic"/>
                <a:cs typeface="NanumGothic"/>
              </a:rPr>
              <a:t>256개</a:t>
            </a:r>
          </a:p>
        </p:txBody>
      </p:sp>
      <p:sp>
        <p:nvSpPr>
          <p:cNvPr id="40" name="TextBox 39"/>
          <p:cNvSpPr txBox="1"/>
          <p:nvPr/>
        </p:nvSpPr>
        <p:spPr>
          <a:xfrm>
            <a:off x="1143000" y="4273550"/>
            <a:ext cx="2260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물리 폭 단위</a:t>
            </a:r>
          </a:p>
        </p:txBody>
      </p:sp>
      <p:sp>
        <p:nvSpPr>
          <p:cNvPr id="41" name="Rounded Rectangle 40"/>
          <p:cNvSpPr/>
          <p:nvPr/>
        </p:nvSpPr>
        <p:spPr>
          <a:xfrm>
            <a:off x="3683000" y="3581400"/>
            <a:ext cx="2616200" cy="1231900"/>
          </a:xfrm>
          <a:prstGeom prst="roundRect">
            <a:avLst>
              <a:gd name="adj" fmla="val 8247"/>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60800" y="3759200"/>
            <a:ext cx="22606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172942"/>
                </a:solidFill>
                <a:latin typeface="NanumGothic"/>
                <a:ea typeface="NanumGothic"/>
                <a:cs typeface="NanumGothic"/>
              </a:rPr>
              <a:t>256개</a:t>
            </a:r>
          </a:p>
        </p:txBody>
      </p:sp>
      <p:sp>
        <p:nvSpPr>
          <p:cNvPr id="43" name="TextBox 42"/>
          <p:cNvSpPr txBox="1"/>
          <p:nvPr/>
        </p:nvSpPr>
        <p:spPr>
          <a:xfrm>
            <a:off x="3860800" y="4273550"/>
            <a:ext cx="2260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물리 폭 단위</a:t>
            </a:r>
          </a:p>
        </p:txBody>
      </p:sp>
      <p:sp>
        <p:nvSpPr>
          <p:cNvPr id="44" name="Rounded Rectangle 43"/>
          <p:cNvSpPr/>
          <p:nvPr/>
        </p:nvSpPr>
        <p:spPr>
          <a:xfrm>
            <a:off x="6400800" y="3581400"/>
            <a:ext cx="2616200" cy="1231900"/>
          </a:xfrm>
          <a:prstGeom prst="roundRect">
            <a:avLst>
              <a:gd name="adj" fmla="val 8247"/>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78600" y="3759200"/>
            <a:ext cx="22606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172942"/>
                </a:solidFill>
                <a:latin typeface="NanumGothic"/>
                <a:ea typeface="NanumGothic"/>
                <a:cs typeface="NanumGothic"/>
              </a:rPr>
              <a:t>256개</a:t>
            </a:r>
          </a:p>
        </p:txBody>
      </p:sp>
      <p:sp>
        <p:nvSpPr>
          <p:cNvPr id="46" name="TextBox 45"/>
          <p:cNvSpPr txBox="1"/>
          <p:nvPr/>
        </p:nvSpPr>
        <p:spPr>
          <a:xfrm>
            <a:off x="6578600" y="4273550"/>
            <a:ext cx="2260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물리 폭 단위</a:t>
            </a:r>
          </a:p>
        </p:txBody>
      </p:sp>
      <p:sp>
        <p:nvSpPr>
          <p:cNvPr id="47" name="Rounded Rectangle 46"/>
          <p:cNvSpPr/>
          <p:nvPr/>
        </p:nvSpPr>
        <p:spPr>
          <a:xfrm>
            <a:off x="9118600" y="3581400"/>
            <a:ext cx="2362200" cy="1231900"/>
          </a:xfrm>
          <a:prstGeom prst="roundRect">
            <a:avLst>
              <a:gd name="adj" fmla="val 8247"/>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96400" y="3759200"/>
            <a:ext cx="20066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172942"/>
                </a:solidFill>
                <a:latin typeface="NanumGothic"/>
                <a:ea typeface="NanumGothic"/>
                <a:cs typeface="NanumGothic"/>
              </a:rPr>
              <a:t>232개</a:t>
            </a:r>
          </a:p>
        </p:txBody>
      </p:sp>
      <p:sp>
        <p:nvSpPr>
          <p:cNvPr id="49" name="TextBox 48"/>
          <p:cNvSpPr txBox="1"/>
          <p:nvPr/>
        </p:nvSpPr>
        <p:spPr>
          <a:xfrm>
            <a:off x="9296400" y="4273550"/>
            <a:ext cx="2006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유효 tail</a:t>
            </a:r>
          </a:p>
        </p:txBody>
      </p:sp>
      <p:sp>
        <p:nvSpPr>
          <p:cNvPr id="50" name="TextBox 49"/>
          <p:cNvSpPr txBox="1"/>
          <p:nvPr/>
        </p:nvSpPr>
        <p:spPr>
          <a:xfrm>
            <a:off x="1130300" y="5105400"/>
            <a:ext cx="24130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0..255</a:t>
            </a:r>
          </a:p>
        </p:txBody>
      </p:sp>
      <p:sp>
        <p:nvSpPr>
          <p:cNvPr id="51" name="TextBox 50"/>
          <p:cNvSpPr txBox="1"/>
          <p:nvPr/>
        </p:nvSpPr>
        <p:spPr>
          <a:xfrm>
            <a:off x="3822700" y="5105400"/>
            <a:ext cx="2476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256..511</a:t>
            </a:r>
          </a:p>
        </p:txBody>
      </p:sp>
      <p:sp>
        <p:nvSpPr>
          <p:cNvPr id="52" name="TextBox 51"/>
          <p:cNvSpPr txBox="1"/>
          <p:nvPr/>
        </p:nvSpPr>
        <p:spPr>
          <a:xfrm>
            <a:off x="6540500" y="5105400"/>
            <a:ext cx="2476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512..767</a:t>
            </a:r>
          </a:p>
        </p:txBody>
      </p:sp>
      <p:sp>
        <p:nvSpPr>
          <p:cNvPr id="53" name="TextBox 52"/>
          <p:cNvSpPr txBox="1"/>
          <p:nvPr/>
        </p:nvSpPr>
        <p:spPr>
          <a:xfrm>
            <a:off x="9258300" y="5105400"/>
            <a:ext cx="2146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768..999</a:t>
            </a:r>
          </a:p>
        </p:txBody>
      </p:sp>
      <p:sp>
        <p:nvSpPr>
          <p:cNvPr id="54" name="Rounded Rectangle 53"/>
          <p:cNvSpPr/>
          <p:nvPr/>
        </p:nvSpPr>
        <p:spPr>
          <a:xfrm>
            <a:off x="977900" y="5918200"/>
            <a:ext cx="10198100" cy="1841500"/>
          </a:xfrm>
          <a:prstGeom prst="roundRect">
            <a:avLst>
              <a:gd name="adj" fmla="val 5517"/>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55700" y="6096000"/>
            <a:ext cx="98425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현재 계약의 전제와 아직 확인할 것</a:t>
            </a:r>
          </a:p>
        </p:txBody>
      </p:sp>
      <p:sp>
        <p:nvSpPr>
          <p:cNvPr id="56" name="TextBox 55"/>
          <p:cNvSpPr txBox="1"/>
          <p:nvPr/>
        </p:nvSpPr>
        <p:spPr>
          <a:xfrm>
            <a:off x="1155700" y="6540246"/>
            <a:ext cx="9842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Compiler/C-model: 긴 논리 길이 명령을 표현</a:t>
            </a:r>
          </a:p>
        </p:txBody>
      </p:sp>
      <p:sp>
        <p:nvSpPr>
          <p:cNvPr id="57" name="TextBox 56"/>
          <p:cNvSpPr txBox="1"/>
          <p:nvPr/>
        </p:nvSpPr>
        <p:spPr>
          <a:xfrm>
            <a:off x="1155700" y="6803136"/>
            <a:ext cx="9842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RTL 확인 필요: 256-lane 내부 반복, tail, LOAD/SAVE와 reduction 누적</a:t>
            </a:r>
          </a:p>
        </p:txBody>
      </p:sp>
      <p:sp>
        <p:nvSpPr>
          <p:cNvPr id="58" name="TextBox 57"/>
          <p:cNvSpPr txBox="1"/>
          <p:nvPr/>
        </p:nvSpPr>
        <p:spPr>
          <a:xfrm>
            <a:off x="1155700" y="7066026"/>
            <a:ext cx="9842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명령 1개라도 처리 길이에 따라 실제 실행 cycle은 달라질 수 있음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07 / Softmax</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Softmax는 행 전체의 max와 sum을 사용하는 계산입니다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행을 나누어 처리하는 것과 한 행의 reduction 축을 나누는 것은 다릅니다.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Max를 빼서 exp를 안정화</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[2,1,0]에서 max=2를 빼 [0,-1,-2]를 만듭니다. Exp</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결과는 [1,0.3679,0.1353]으로 큰 양수의 지수</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overflow를 피합니다.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FP32 누산과 FP16 저장을 구분</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Exp의 합은 내부에서 FP32로 누산하지만 저장된</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합계와 다른 중간값은 FP16입니다. Softmax 전체를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FP32로 수행한다는 뜻이 아닙니다.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지원 길이는 수치 계약에 포함</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유한 logits에서 exp(x-max)≤1이므로 마지막 축</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길이 1..65504를 허용합니다. 더 긴 행을 자동</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online reduction으로 바꾸는 경로는 현재 없습니다.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약 1.5032로 나누면 [0.6652,0.2447,0.0900]입니다. 그림의 십진수는 수식 설명용이며 bit-exact FP16 dump가 아닙니다.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07_operators.md</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23 / 54</a:t>
            </a:r>
          </a:p>
        </p:txBody>
      </p:sp>
      <p:sp>
        <p:nvSpPr>
          <p:cNvPr id="34" name="Rectangle 33"/>
          <p:cNvSpPr/>
          <p:nvPr/>
        </p:nvSpPr>
        <p:spPr>
          <a:xfrm>
            <a:off x="850900" y="28194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7900" y="2933700"/>
            <a:ext cx="18288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계산 단계</a:t>
            </a:r>
          </a:p>
        </p:txBody>
      </p:sp>
      <p:sp>
        <p:nvSpPr>
          <p:cNvPr id="36" name="TextBox 35"/>
          <p:cNvSpPr txBox="1"/>
          <p:nvPr/>
        </p:nvSpPr>
        <p:spPr>
          <a:xfrm>
            <a:off x="3060700" y="2933700"/>
            <a:ext cx="4419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설명용 값</a:t>
            </a:r>
          </a:p>
        </p:txBody>
      </p:sp>
      <p:sp>
        <p:nvSpPr>
          <p:cNvPr id="37" name="TextBox 36"/>
          <p:cNvSpPr txBox="1"/>
          <p:nvPr/>
        </p:nvSpPr>
        <p:spPr>
          <a:xfrm>
            <a:off x="7734300" y="2933700"/>
            <a:ext cx="34798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연산 / 정밀도</a:t>
            </a:r>
          </a:p>
        </p:txBody>
      </p:sp>
      <p:sp>
        <p:nvSpPr>
          <p:cNvPr id="38" name="Rectangle 37"/>
          <p:cNvSpPr/>
          <p:nvPr/>
        </p:nvSpPr>
        <p:spPr>
          <a:xfrm>
            <a:off x="850900" y="3276600"/>
            <a:ext cx="10490200" cy="850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7900" y="3390900"/>
            <a:ext cx="182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입력</a:t>
            </a:r>
          </a:p>
        </p:txBody>
      </p:sp>
      <p:sp>
        <p:nvSpPr>
          <p:cNvPr id="40" name="TextBox 39"/>
          <p:cNvSpPr txBox="1"/>
          <p:nvPr/>
        </p:nvSpPr>
        <p:spPr>
          <a:xfrm>
            <a:off x="3060700" y="3390900"/>
            <a:ext cx="4419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[2, 1, 0]</a:t>
            </a:r>
          </a:p>
        </p:txBody>
      </p:sp>
      <p:sp>
        <p:nvSpPr>
          <p:cNvPr id="41" name="TextBox 40"/>
          <p:cNvSpPr txBox="1"/>
          <p:nvPr/>
        </p:nvSpPr>
        <p:spPr>
          <a:xfrm>
            <a:off x="7734300" y="33909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FP16</a:t>
            </a:r>
          </a:p>
        </p:txBody>
      </p:sp>
      <p:sp>
        <p:nvSpPr>
          <p:cNvPr id="42" name="Rectangle 41"/>
          <p:cNvSpPr/>
          <p:nvPr/>
        </p:nvSpPr>
        <p:spPr>
          <a:xfrm>
            <a:off x="850900" y="4127500"/>
            <a:ext cx="10490200" cy="8509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7900" y="4241800"/>
            <a:ext cx="182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Max와 빼기</a:t>
            </a:r>
          </a:p>
        </p:txBody>
      </p:sp>
      <p:sp>
        <p:nvSpPr>
          <p:cNvPr id="44" name="TextBox 43"/>
          <p:cNvSpPr txBox="1"/>
          <p:nvPr/>
        </p:nvSpPr>
        <p:spPr>
          <a:xfrm>
            <a:off x="3060700" y="4241800"/>
            <a:ext cx="4419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max=2 → [0, -1, -2]</a:t>
            </a:r>
          </a:p>
        </p:txBody>
      </p:sp>
      <p:sp>
        <p:nvSpPr>
          <p:cNvPr id="45" name="TextBox 44"/>
          <p:cNvSpPr txBox="1"/>
          <p:nvPr/>
        </p:nvSpPr>
        <p:spPr>
          <a:xfrm>
            <a:off x="7734300" y="42418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행별 reduction + broadcast</a:t>
            </a:r>
          </a:p>
        </p:txBody>
      </p:sp>
      <p:sp>
        <p:nvSpPr>
          <p:cNvPr id="46" name="Rectangle 45"/>
          <p:cNvSpPr/>
          <p:nvPr/>
        </p:nvSpPr>
        <p:spPr>
          <a:xfrm>
            <a:off x="850900" y="4978400"/>
            <a:ext cx="10490200" cy="850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5092700"/>
            <a:ext cx="182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Exp</a:t>
            </a:r>
          </a:p>
        </p:txBody>
      </p:sp>
      <p:sp>
        <p:nvSpPr>
          <p:cNvPr id="48" name="TextBox 47"/>
          <p:cNvSpPr txBox="1"/>
          <p:nvPr/>
        </p:nvSpPr>
        <p:spPr>
          <a:xfrm>
            <a:off x="3060700" y="5092700"/>
            <a:ext cx="4419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[1, 0.3679, 0.1353]</a:t>
            </a:r>
          </a:p>
        </p:txBody>
      </p:sp>
      <p:sp>
        <p:nvSpPr>
          <p:cNvPr id="49" name="TextBox 48"/>
          <p:cNvSpPr txBox="1"/>
          <p:nvPr/>
        </p:nvSpPr>
        <p:spPr>
          <a:xfrm>
            <a:off x="7734300" y="50927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FP16 vector 결과</a:t>
            </a:r>
          </a:p>
        </p:txBody>
      </p:sp>
      <p:sp>
        <p:nvSpPr>
          <p:cNvPr id="50" name="Rectangle 49"/>
          <p:cNvSpPr/>
          <p:nvPr/>
        </p:nvSpPr>
        <p:spPr>
          <a:xfrm>
            <a:off x="850900" y="5829300"/>
            <a:ext cx="10490200" cy="8509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5943600"/>
            <a:ext cx="182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Sum</a:t>
            </a:r>
          </a:p>
        </p:txBody>
      </p:sp>
      <p:sp>
        <p:nvSpPr>
          <p:cNvPr id="52" name="TextBox 51"/>
          <p:cNvSpPr txBox="1"/>
          <p:nvPr/>
        </p:nvSpPr>
        <p:spPr>
          <a:xfrm>
            <a:off x="3060700" y="5943600"/>
            <a:ext cx="4419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약 1.5032</a:t>
            </a:r>
          </a:p>
        </p:txBody>
      </p:sp>
      <p:sp>
        <p:nvSpPr>
          <p:cNvPr id="53" name="TextBox 52"/>
          <p:cNvSpPr txBox="1"/>
          <p:nvPr/>
        </p:nvSpPr>
        <p:spPr>
          <a:xfrm>
            <a:off x="7734300" y="59436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FP32 합산 → FP16 저장</a:t>
            </a:r>
          </a:p>
        </p:txBody>
      </p:sp>
      <p:sp>
        <p:nvSpPr>
          <p:cNvPr id="54" name="Rectangle 53"/>
          <p:cNvSpPr/>
          <p:nvPr/>
        </p:nvSpPr>
        <p:spPr>
          <a:xfrm>
            <a:off x="850900" y="6680200"/>
            <a:ext cx="10490200" cy="850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6794500"/>
            <a:ext cx="182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Normalize</a:t>
            </a:r>
          </a:p>
        </p:txBody>
      </p:sp>
      <p:sp>
        <p:nvSpPr>
          <p:cNvPr id="56" name="TextBox 55"/>
          <p:cNvSpPr txBox="1"/>
          <p:nvPr/>
        </p:nvSpPr>
        <p:spPr>
          <a:xfrm>
            <a:off x="3060700" y="6794500"/>
            <a:ext cx="4419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[0.6652, 0.2447, 0.0900]</a:t>
            </a:r>
          </a:p>
        </p:txBody>
      </p:sp>
      <p:sp>
        <p:nvSpPr>
          <p:cNvPr id="57" name="TextBox 56"/>
          <p:cNvSpPr txBox="1"/>
          <p:nvPr/>
        </p:nvSpPr>
        <p:spPr>
          <a:xfrm>
            <a:off x="7734300" y="67945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각 exp / 합계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07 / RMSNorm</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RMSNorm은 제곱 전에 입력을 줄여 overflow를 피합니다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원래 수식 y = x / sqrt(mean(x²)+eps) × weight에서 FP16 중간값의 범위를 고려합니다.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FP32 합산만으로는 부족하다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x=1000이면 x²=1000000이므로 FP16 저장 범위를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넘습니다. 이미 overflow한 제곱값을 나중에 FP32로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더해도 원래 값을 되살릴 수 없습니다.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Legalize 단계에서 수식을 정의</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a=max(absmax(x),sqrt(eps))로 나누고</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z=(x/a)/sqrt(width)를 제곱·합산합니다. 줄어든</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epsilon도 반영하여 원래 수식의 scale을 복원합니다.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수학적 등가와 FP16 결과는 다르다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실수 수학에서는 같은 식이지만 중간 FP16 반올림</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때문에 target 근사입니다. Schedule이 임의로</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정밀도를 개선하는 변환이 아니며 모델 기준과 별도로</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검증합니다.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u=x/a, s=sum((u/sqrt(width))²), y=u / sqrt(s+(sqrt(eps)/a)²) × weight. 합산 내부는 FP32입니다.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07_operators.md, 04_semantic_tir.md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24 / 54</a:t>
            </a:r>
          </a:p>
        </p:txBody>
      </p:sp>
      <p:sp>
        <p:nvSpPr>
          <p:cNvPr id="35" name="Rounded Rectangle 34"/>
          <p:cNvSpPr/>
          <p:nvPr/>
        </p:nvSpPr>
        <p:spPr>
          <a:xfrm>
            <a:off x="965200" y="2781300"/>
            <a:ext cx="10198100" cy="1003300"/>
          </a:xfrm>
          <a:prstGeom prst="roundRect">
            <a:avLst>
              <a:gd name="adj" fmla="val 10126"/>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43000" y="2959100"/>
            <a:ext cx="98425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문제: 1000² = 1,000,000 → FP16 저장 범위를 초과</a:t>
            </a:r>
          </a:p>
        </p:txBody>
      </p:sp>
      <p:sp>
        <p:nvSpPr>
          <p:cNvPr id="37" name="TextBox 36"/>
          <p:cNvSpPr txBox="1"/>
          <p:nvPr/>
        </p:nvSpPr>
        <p:spPr>
          <a:xfrm>
            <a:off x="1143000" y="3403346"/>
            <a:ext cx="9842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제곱을 FP16으로 만든 뒤 FP32로 더하는 것만으로는 해결되지 않음</a:t>
            </a:r>
          </a:p>
        </p:txBody>
      </p:sp>
      <p:sp>
        <p:nvSpPr>
          <p:cNvPr id="38" name="Rounded Rectangle 37"/>
          <p:cNvSpPr/>
          <p:nvPr/>
        </p:nvSpPr>
        <p:spPr>
          <a:xfrm>
            <a:off x="889000" y="4406900"/>
            <a:ext cx="3136900" cy="1714500"/>
          </a:xfrm>
          <a:prstGeom prst="roundRect">
            <a:avLst>
              <a:gd name="adj" fmla="val 5925"/>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6800" y="45847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1. 크기 축소</a:t>
            </a:r>
          </a:p>
        </p:txBody>
      </p:sp>
      <p:sp>
        <p:nvSpPr>
          <p:cNvPr id="40" name="TextBox 39"/>
          <p:cNvSpPr txBox="1"/>
          <p:nvPr/>
        </p:nvSpPr>
        <p:spPr>
          <a:xfrm>
            <a:off x="1066800" y="50114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a = max(absmax(x), √eps)</a:t>
            </a:r>
          </a:p>
        </p:txBody>
      </p:sp>
      <p:sp>
        <p:nvSpPr>
          <p:cNvPr id="41" name="TextBox 40"/>
          <p:cNvSpPr txBox="1"/>
          <p:nvPr/>
        </p:nvSpPr>
        <p:spPr>
          <a:xfrm>
            <a:off x="1066800" y="52743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u = x / a → |u| ≤ 1</a:t>
            </a:r>
          </a:p>
        </p:txBody>
      </p:sp>
      <p:sp>
        <p:nvSpPr>
          <p:cNvPr id="42" name="Rounded Rectangle 41"/>
          <p:cNvSpPr/>
          <p:nvPr/>
        </p:nvSpPr>
        <p:spPr>
          <a:xfrm>
            <a:off x="4559300" y="4406900"/>
            <a:ext cx="3136900" cy="1714500"/>
          </a:xfrm>
          <a:prstGeom prst="roundRect">
            <a:avLst>
              <a:gd name="adj" fmla="val 5925"/>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7100" y="45847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2. 안전한 제곱·합</a:t>
            </a:r>
          </a:p>
        </p:txBody>
      </p:sp>
      <p:sp>
        <p:nvSpPr>
          <p:cNvPr id="44" name="TextBox 43"/>
          <p:cNvSpPr txBox="1"/>
          <p:nvPr/>
        </p:nvSpPr>
        <p:spPr>
          <a:xfrm>
            <a:off x="4737100" y="50114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z = u / √width</a:t>
            </a:r>
          </a:p>
        </p:txBody>
      </p:sp>
      <p:sp>
        <p:nvSpPr>
          <p:cNvPr id="45" name="TextBox 44"/>
          <p:cNvSpPr txBox="1"/>
          <p:nvPr/>
        </p:nvSpPr>
        <p:spPr>
          <a:xfrm>
            <a:off x="4737100" y="52743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 = sum(z × z)</a:t>
            </a:r>
          </a:p>
        </p:txBody>
      </p:sp>
      <p:cxnSp>
        <p:nvCxnSpPr>
          <p:cNvPr id="46" name="Connector 45"/>
          <p:cNvCxnSpPr/>
          <p:nvPr/>
        </p:nvCxnSpPr>
        <p:spPr>
          <a:xfrm>
            <a:off x="4076700" y="52641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4368800" y="52070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229600" y="4406900"/>
            <a:ext cx="3136900" cy="1714500"/>
          </a:xfrm>
          <a:prstGeom prst="roundRect">
            <a:avLst>
              <a:gd name="adj" fmla="val 5925"/>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07400" y="45847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3. 보정하여 출력</a:t>
            </a:r>
          </a:p>
        </p:txBody>
      </p:sp>
      <p:sp>
        <p:nvSpPr>
          <p:cNvPr id="50" name="TextBox 49"/>
          <p:cNvSpPr txBox="1"/>
          <p:nvPr/>
        </p:nvSpPr>
        <p:spPr>
          <a:xfrm>
            <a:off x="8407400" y="50114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inv = 1/√(s+(√eps/a)²)</a:t>
            </a:r>
          </a:p>
        </p:txBody>
      </p:sp>
      <p:sp>
        <p:nvSpPr>
          <p:cNvPr id="51" name="TextBox 50"/>
          <p:cNvSpPr txBox="1"/>
          <p:nvPr/>
        </p:nvSpPr>
        <p:spPr>
          <a:xfrm>
            <a:off x="8407400" y="52743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y = u × inv × weight</a:t>
            </a:r>
          </a:p>
        </p:txBody>
      </p:sp>
      <p:cxnSp>
        <p:nvCxnSpPr>
          <p:cNvPr id="52" name="Connector 51"/>
          <p:cNvCxnSpPr/>
          <p:nvPr/>
        </p:nvCxnSpPr>
        <p:spPr>
          <a:xfrm>
            <a:off x="7747000" y="52641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8039100" y="52070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65200" y="6794500"/>
            <a:ext cx="10198100" cy="990600"/>
          </a:xfrm>
          <a:prstGeom prst="roundRect">
            <a:avLst>
              <a:gd name="adj" fmla="val 10256"/>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43000" y="6972300"/>
            <a:ext cx="98425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수식은 실수에서 등가, 실제 FP16 계산은 target 근사</a:t>
            </a:r>
          </a:p>
        </p:txBody>
      </p:sp>
      <p:sp>
        <p:nvSpPr>
          <p:cNvPr id="56" name="TextBox 55"/>
          <p:cNvSpPr txBox="1"/>
          <p:nvPr/>
        </p:nvSpPr>
        <p:spPr>
          <a:xfrm>
            <a:off x="1143000" y="7416546"/>
            <a:ext cx="9842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LegalizeOps에서 정의한 수치 정책이며 자동 정밀도 탐색은 아님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07 / RoPE와 GQA</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RoPE는 Q/K를 회전하고 GQA는 KV head를 공유합니다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위치 정보와 head 공유는 계산 의미이고, 복사·view·broadcast 여부는 후속 lowering의 결정입니다.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같은 head의 두 절반을 짝짓는다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Head dimension 128을 a와 b의 64개 원소씩</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나눕니다. 새 a=a·cos-b·sin, 새 b=b·cos+a·sin으로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회전하고 V에는 적용하지 않습니다.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Position별 cos/sin은 host 준비</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모델의 RoPE 설정과 현재 position을 사용합니다.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지원하는 default/linear/llama3 설정을 확인하며 알</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수 없는 필드를 조용히 근사하지 않습니다.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24 Q heads가 8 KV heads 공유</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KV head 하나를 세 Q heads가 사용합니다.</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Persistent cache 자체를 Q head 수만큼 복제할</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필요는 없으며 repeat→broadcast matmul 변환도</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후보로 검토합니다.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Reshape가 view인 경우가 있어도 transpose·concat·repeat가 모두 복사 없는 연산인 것은 아닙니다. 실제 IR와 선택 결과를 확인합니다.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07_operators.md, 02_model_relax.md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25 / 54</a:t>
            </a:r>
          </a:p>
        </p:txBody>
      </p:sp>
      <p:sp>
        <p:nvSpPr>
          <p:cNvPr id="35" name="Rounded Rectangle 34"/>
          <p:cNvSpPr/>
          <p:nvPr/>
        </p:nvSpPr>
        <p:spPr>
          <a:xfrm>
            <a:off x="977900" y="2844800"/>
            <a:ext cx="4711700" cy="1816100"/>
          </a:xfrm>
          <a:prstGeom prst="roundRect">
            <a:avLst>
              <a:gd name="adj" fmla="val 5594"/>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55700" y="3022600"/>
            <a:ext cx="43561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RoPE: head의 앞/뒤 절반</a:t>
            </a:r>
          </a:p>
        </p:txBody>
      </p:sp>
      <p:sp>
        <p:nvSpPr>
          <p:cNvPr id="37" name="TextBox 36"/>
          <p:cNvSpPr txBox="1"/>
          <p:nvPr/>
        </p:nvSpPr>
        <p:spPr>
          <a:xfrm>
            <a:off x="1155700" y="3466846"/>
            <a:ext cx="4356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a = Q 또는 K의 앞 64개</a:t>
            </a:r>
          </a:p>
        </p:txBody>
      </p:sp>
      <p:sp>
        <p:nvSpPr>
          <p:cNvPr id="38" name="TextBox 37"/>
          <p:cNvSpPr txBox="1"/>
          <p:nvPr/>
        </p:nvSpPr>
        <p:spPr>
          <a:xfrm>
            <a:off x="1155700" y="3729736"/>
            <a:ext cx="4356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b = 뒤 64개</a:t>
            </a:r>
          </a:p>
        </p:txBody>
      </p:sp>
      <p:sp>
        <p:nvSpPr>
          <p:cNvPr id="39" name="TextBox 38"/>
          <p:cNvSpPr txBox="1"/>
          <p:nvPr/>
        </p:nvSpPr>
        <p:spPr>
          <a:xfrm>
            <a:off x="1155700" y="3992626"/>
            <a:ext cx="4356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V는 회전하지 않음</a:t>
            </a:r>
          </a:p>
        </p:txBody>
      </p:sp>
      <p:sp>
        <p:nvSpPr>
          <p:cNvPr id="40" name="Rounded Rectangle 39"/>
          <p:cNvSpPr/>
          <p:nvPr/>
        </p:nvSpPr>
        <p:spPr>
          <a:xfrm>
            <a:off x="6197600" y="2844800"/>
            <a:ext cx="4978400" cy="1816100"/>
          </a:xfrm>
          <a:prstGeom prst="roundRect">
            <a:avLst>
              <a:gd name="adj" fmla="val 5594"/>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5400" y="3022600"/>
            <a:ext cx="46228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같은 position의 cos / sin</a:t>
            </a:r>
          </a:p>
        </p:txBody>
      </p:sp>
      <p:sp>
        <p:nvSpPr>
          <p:cNvPr id="42" name="TextBox 41"/>
          <p:cNvSpPr txBox="1"/>
          <p:nvPr/>
        </p:nvSpPr>
        <p:spPr>
          <a:xfrm>
            <a:off x="6375400" y="3466846"/>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a′ = a × cos - b × sin</a:t>
            </a:r>
          </a:p>
        </p:txBody>
      </p:sp>
      <p:sp>
        <p:nvSpPr>
          <p:cNvPr id="43" name="TextBox 42"/>
          <p:cNvSpPr txBox="1"/>
          <p:nvPr/>
        </p:nvSpPr>
        <p:spPr>
          <a:xfrm>
            <a:off x="6375400" y="3729736"/>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b′ = b × cos + a × sin</a:t>
            </a:r>
          </a:p>
        </p:txBody>
      </p:sp>
      <p:sp>
        <p:nvSpPr>
          <p:cNvPr id="44" name="TextBox 43"/>
          <p:cNvSpPr txBox="1"/>
          <p:nvPr/>
        </p:nvSpPr>
        <p:spPr>
          <a:xfrm>
            <a:off x="6375400" y="3992626"/>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Host가 위치별 cos/sin 준비</a:t>
            </a:r>
          </a:p>
        </p:txBody>
      </p:sp>
      <p:cxnSp>
        <p:nvCxnSpPr>
          <p:cNvPr id="45" name="Connector 44"/>
          <p:cNvCxnSpPr/>
          <p:nvPr/>
        </p:nvCxnSpPr>
        <p:spPr>
          <a:xfrm>
            <a:off x="5727700" y="3733800"/>
            <a:ext cx="4318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6057900" y="36830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3300" y="5270500"/>
            <a:ext cx="101600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GQA: KV head 하나를 Q heads 세 개가 공유</a:t>
            </a:r>
          </a:p>
        </p:txBody>
      </p:sp>
      <p:sp>
        <p:nvSpPr>
          <p:cNvPr id="48" name="Rounded Rectangle 47"/>
          <p:cNvSpPr/>
          <p:nvPr/>
        </p:nvSpPr>
        <p:spPr>
          <a:xfrm>
            <a:off x="1003300" y="5969000"/>
            <a:ext cx="1397000" cy="8001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81100" y="6146800"/>
            <a:ext cx="10414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Q 0</a:t>
            </a:r>
          </a:p>
        </p:txBody>
      </p:sp>
      <p:sp>
        <p:nvSpPr>
          <p:cNvPr id="50" name="Rounded Rectangle 49"/>
          <p:cNvSpPr/>
          <p:nvPr/>
        </p:nvSpPr>
        <p:spPr>
          <a:xfrm>
            <a:off x="2654300" y="5969000"/>
            <a:ext cx="1397000" cy="8001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32100" y="6146800"/>
            <a:ext cx="10414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Q 1</a:t>
            </a:r>
          </a:p>
        </p:txBody>
      </p:sp>
      <p:sp>
        <p:nvSpPr>
          <p:cNvPr id="52" name="Rounded Rectangle 51"/>
          <p:cNvSpPr/>
          <p:nvPr/>
        </p:nvSpPr>
        <p:spPr>
          <a:xfrm>
            <a:off x="4305300" y="5969000"/>
            <a:ext cx="1397000" cy="8001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83100" y="6146800"/>
            <a:ext cx="10414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Q 2</a:t>
            </a:r>
          </a:p>
        </p:txBody>
      </p:sp>
      <p:sp>
        <p:nvSpPr>
          <p:cNvPr id="54" name="Rounded Rectangle 53"/>
          <p:cNvSpPr/>
          <p:nvPr/>
        </p:nvSpPr>
        <p:spPr>
          <a:xfrm>
            <a:off x="7239000" y="5943600"/>
            <a:ext cx="3810000" cy="977900"/>
          </a:xfrm>
          <a:prstGeom prst="roundRect">
            <a:avLst>
              <a:gd name="adj" fmla="val 10389"/>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16800" y="6121400"/>
            <a:ext cx="34544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KV head 0</a:t>
            </a:r>
          </a:p>
        </p:txBody>
      </p:sp>
      <p:sp>
        <p:nvSpPr>
          <p:cNvPr id="56" name="TextBox 55"/>
          <p:cNvSpPr txBox="1"/>
          <p:nvPr/>
        </p:nvSpPr>
        <p:spPr>
          <a:xfrm>
            <a:off x="7416800" y="6548120"/>
            <a:ext cx="3454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24 Q / 8 KV = 3개씩 공유</a:t>
            </a:r>
          </a:p>
        </p:txBody>
      </p:sp>
      <p:cxnSp>
        <p:nvCxnSpPr>
          <p:cNvPr id="57" name="Connector 56"/>
          <p:cNvCxnSpPr/>
          <p:nvPr/>
        </p:nvCxnSpPr>
        <p:spPr>
          <a:xfrm>
            <a:off x="1676400" y="6794500"/>
            <a:ext cx="0" cy="5715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676400" y="7366000"/>
            <a:ext cx="74676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9144000" y="6921500"/>
            <a:ext cx="0" cy="4445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9093200" y="6921500"/>
            <a:ext cx="101600" cy="101600"/>
          </a:xfrm>
          <a:custGeom>
            <a:avLst/>
            <a:gdLst/>
            <a:ahLst/>
            <a:cxnLst/>
            <a:rect l="l" t="t" r="r" b="b"/>
            <a:pathLst>
              <a:path w="8" h="8">
                <a:moveTo>
                  <a:pt x="4" y="0"/>
                </a:moveTo>
                <a:lnTo>
                  <a:pt x="8" y="8"/>
                </a:lnTo>
                <a:lnTo>
                  <a:pt x="0" y="8"/>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3327400" y="6794500"/>
            <a:ext cx="0" cy="749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27400" y="7543800"/>
            <a:ext cx="58166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144000" y="6921500"/>
            <a:ext cx="0" cy="622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9093200" y="6921500"/>
            <a:ext cx="101600" cy="101600"/>
          </a:xfrm>
          <a:custGeom>
            <a:avLst/>
            <a:gdLst/>
            <a:ahLst/>
            <a:cxnLst/>
            <a:rect l="l" t="t" r="r" b="b"/>
            <a:pathLst>
              <a:path w="8" h="8">
                <a:moveTo>
                  <a:pt x="4" y="0"/>
                </a:moveTo>
                <a:lnTo>
                  <a:pt x="8" y="8"/>
                </a:lnTo>
                <a:lnTo>
                  <a:pt x="0" y="8"/>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4978400" y="6794500"/>
            <a:ext cx="0" cy="9271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978400" y="7721600"/>
            <a:ext cx="41656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144000" y="6921500"/>
            <a:ext cx="0" cy="8001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8" name="Freeform 67"/>
          <p:cNvSpPr/>
          <p:nvPr/>
        </p:nvSpPr>
        <p:spPr>
          <a:xfrm>
            <a:off x="9093200" y="6921500"/>
            <a:ext cx="101600" cy="101600"/>
          </a:xfrm>
          <a:custGeom>
            <a:avLst/>
            <a:gdLst/>
            <a:ahLst/>
            <a:cxnLst/>
            <a:rect l="l" t="t" r="r" b="b"/>
            <a:pathLst>
              <a:path w="8" h="8">
                <a:moveTo>
                  <a:pt x="4" y="0"/>
                </a:moveTo>
                <a:lnTo>
                  <a:pt x="8" y="8"/>
                </a:lnTo>
                <a:lnTo>
                  <a:pt x="0" y="8"/>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07 / Attention</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현재 attention fusion은 query 행을 나눕니다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QK.T → scale / mask → softmax → PV의 중간 score를 SRAM에서 소비합니다.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전체 score를 만들면 매우 크다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S=3072, 24 heads에서 FP16 score 전체는 432</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MiB입니다. Full-attention 후보는 query 일부 행의</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score를 만들어 softmax와 PV에서 바로 소비합니다.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한 행의 key 방향은 유지한다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Head 하나의 query 64행 score는</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64×3072×2=384 KiB입니다. 이외</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K/V·mask·확률·출력·scratch도 SRAM에</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필요합니다.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FlashAttention과 다른 범위</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현재는 query 묶음을 줄여 공간에 맞춥니다. Key를</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나누면서 max/sum/output을 보정하는 online</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softmax는 없고, decode query=1은 full-pattern</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조건을 그대로 만족하지 않습니다.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384 KiB는 score 조각 하나의 크기입니다. 전체 kernel의 SRAM 요구량이나 모든 shape에서 full fusion이 선택된다는 뜻이 아닙니다.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07_operators.md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26 / 54</a:t>
            </a:r>
          </a:p>
        </p:txBody>
      </p:sp>
      <p:sp>
        <p:nvSpPr>
          <p:cNvPr id="36" name="TextBox 35"/>
          <p:cNvSpPr txBox="1"/>
          <p:nvPr/>
        </p:nvSpPr>
        <p:spPr>
          <a:xfrm>
            <a:off x="1041400" y="2908300"/>
            <a:ext cx="55880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Score [S,S] · head 하나</a:t>
            </a:r>
          </a:p>
        </p:txBody>
      </p:sp>
      <p:sp>
        <p:nvSpPr>
          <p:cNvPr id="37" name="Rectangle 36"/>
          <p:cNvSpPr/>
          <p:nvPr/>
        </p:nvSpPr>
        <p:spPr>
          <a:xfrm>
            <a:off x="10414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4732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050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3368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686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04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322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0640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4958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27600" y="32512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414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4732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050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368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686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6322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0640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4958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927600" y="36512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14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4732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9050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3368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7686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2004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322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0640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4958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927600" y="4051300"/>
            <a:ext cx="431800" cy="4000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414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4732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9050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3368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7686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2004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6322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0640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4958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927600" y="44513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414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4732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9050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3368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7686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32004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6322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0640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958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927600" y="48514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0414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4732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9050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23368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7686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2004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6322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0640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4958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927600" y="52514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414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4732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9050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3368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7686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2004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6322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0640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4958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4927600" y="565150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0414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4732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9050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23368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27686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32004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36322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40640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4958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927600" y="6051550"/>
            <a:ext cx="431800" cy="40005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7" name="Connector 116"/>
          <p:cNvCxnSpPr/>
          <p:nvPr/>
        </p:nvCxnSpPr>
        <p:spPr>
          <a:xfrm>
            <a:off x="1041400" y="3251200"/>
            <a:ext cx="43180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359400" y="3251200"/>
            <a:ext cx="0" cy="3200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1041400" y="6451600"/>
            <a:ext cx="43180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1041400" y="3251200"/>
            <a:ext cx="0" cy="32004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1270000" y="6769100"/>
            <a:ext cx="43307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열 방향: 모든 key 길이 S</a:t>
            </a:r>
          </a:p>
        </p:txBody>
      </p:sp>
      <p:sp>
        <p:nvSpPr>
          <p:cNvPr id="122" name="TextBox 121"/>
          <p:cNvSpPr txBox="1"/>
          <p:nvPr/>
        </p:nvSpPr>
        <p:spPr>
          <a:xfrm>
            <a:off x="1130300" y="7289800"/>
            <a:ext cx="51816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선택한 query 64행만 SRAM에 생성</a:t>
            </a:r>
          </a:p>
        </p:txBody>
      </p:sp>
      <p:cxnSp>
        <p:nvCxnSpPr>
          <p:cNvPr id="123" name="Connector 122"/>
          <p:cNvCxnSpPr/>
          <p:nvPr/>
        </p:nvCxnSpPr>
        <p:spPr>
          <a:xfrm>
            <a:off x="5410200" y="4254500"/>
            <a:ext cx="6604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124" name="Freeform 123"/>
          <p:cNvSpPr/>
          <p:nvPr/>
        </p:nvSpPr>
        <p:spPr>
          <a:xfrm>
            <a:off x="5969000" y="4203700"/>
            <a:ext cx="101600" cy="101600"/>
          </a:xfrm>
          <a:custGeom>
            <a:avLst/>
            <a:gdLst/>
            <a:ahLst/>
            <a:cxnLst/>
            <a:rect l="l" t="t" r="r" b="b"/>
            <a:pathLst>
              <a:path w="8" h="8">
                <a:moveTo>
                  <a:pt x="8" y="4"/>
                </a:moveTo>
                <a:lnTo>
                  <a:pt x="0" y="8"/>
                </a:lnTo>
                <a:lnTo>
                  <a:pt x="0"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6261100" y="2806700"/>
            <a:ext cx="4889500" cy="1295400"/>
          </a:xfrm>
          <a:prstGeom prst="roundRect">
            <a:avLst>
              <a:gd name="adj" fmla="val 784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438900" y="2984500"/>
            <a:ext cx="45339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Q 조각 × K^T → score 조각</a:t>
            </a:r>
          </a:p>
        </p:txBody>
      </p:sp>
      <p:sp>
        <p:nvSpPr>
          <p:cNvPr id="127" name="TextBox 126"/>
          <p:cNvSpPr txBox="1"/>
          <p:nvPr/>
        </p:nvSpPr>
        <p:spPr>
          <a:xfrm>
            <a:off x="6438900" y="3428746"/>
            <a:ext cx="4533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S=3072: 64×3072×2 = 384 KiB</a:t>
            </a:r>
          </a:p>
        </p:txBody>
      </p:sp>
      <p:sp>
        <p:nvSpPr>
          <p:cNvPr id="128" name="Rounded Rectangle 127"/>
          <p:cNvSpPr/>
          <p:nvPr/>
        </p:nvSpPr>
        <p:spPr>
          <a:xfrm>
            <a:off x="6261100" y="4470400"/>
            <a:ext cx="4889500" cy="1244600"/>
          </a:xfrm>
          <a:prstGeom prst="roundRect">
            <a:avLst>
              <a:gd name="adj" fmla="val 8163"/>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438900" y="4648200"/>
            <a:ext cx="45339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Scale / mask / softmax</a:t>
            </a:r>
          </a:p>
        </p:txBody>
      </p:sp>
      <p:sp>
        <p:nvSpPr>
          <p:cNvPr id="130" name="TextBox 129"/>
          <p:cNvSpPr txBox="1"/>
          <p:nvPr/>
        </p:nvSpPr>
        <p:spPr>
          <a:xfrm>
            <a:off x="6438900" y="5092446"/>
            <a:ext cx="4533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한 query 행의 key 전체를 처리</a:t>
            </a:r>
          </a:p>
        </p:txBody>
      </p:sp>
      <p:sp>
        <p:nvSpPr>
          <p:cNvPr id="131" name="Rounded Rectangle 130"/>
          <p:cNvSpPr/>
          <p:nvPr/>
        </p:nvSpPr>
        <p:spPr>
          <a:xfrm>
            <a:off x="6261100" y="6083300"/>
            <a:ext cx="4889500" cy="1257300"/>
          </a:xfrm>
          <a:prstGeom prst="roundRect">
            <a:avLst>
              <a:gd name="adj" fmla="val 808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438900" y="6261100"/>
            <a:ext cx="45339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P 조각 × V → 출력 조각</a:t>
            </a:r>
          </a:p>
        </p:txBody>
      </p:sp>
      <p:sp>
        <p:nvSpPr>
          <p:cNvPr id="133" name="TextBox 132"/>
          <p:cNvSpPr txBox="1"/>
          <p:nvPr/>
        </p:nvSpPr>
        <p:spPr>
          <a:xfrm>
            <a:off x="6438900" y="6705346"/>
            <a:ext cx="4533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다음 query 묶음으로 이동</a:t>
            </a:r>
          </a:p>
        </p:txBody>
      </p:sp>
      <p:cxnSp>
        <p:nvCxnSpPr>
          <p:cNvPr id="134" name="Connector 133"/>
          <p:cNvCxnSpPr/>
          <p:nvPr/>
        </p:nvCxnSpPr>
        <p:spPr>
          <a:xfrm>
            <a:off x="8724900" y="4102100"/>
            <a:ext cx="0" cy="3683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135" name="Freeform 134"/>
          <p:cNvSpPr/>
          <p:nvPr/>
        </p:nvSpPr>
        <p:spPr>
          <a:xfrm>
            <a:off x="8674100" y="43688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a:off x="8724900" y="5715000"/>
            <a:ext cx="0" cy="3683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137" name="Freeform 136"/>
          <p:cNvSpPr/>
          <p:nvPr/>
        </p:nvSpPr>
        <p:spPr>
          <a:xfrm>
            <a:off x="8674100" y="59817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6515100" y="7632700"/>
            <a:ext cx="46482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BE5146"/>
                </a:solidFill>
                <a:latin typeface="NanumGothic"/>
                <a:ea typeface="NanumGothic"/>
                <a:cs typeface="NanumGothic"/>
              </a:rPr>
              <a:t>Key online softmax는 현재 없음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08 / Memory planning</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세 가지 메모리 계획이 서로 다른 범위를 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TVM의 lifetime 분석과 NPU의 커널 사이 SRAM 보관을 구분합니다.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Relax에서 기본 DRAM 재사용</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CallTIRRewrite로 allocation과 호출을 드러낸 뒤</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StaticPlanBlockMemory가 수명이 겹치지 않는</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tensor에 storage pool을 공유시킵니다.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TIR에서 kernel 내부 SRAM 배치</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USMP는 임시 buffer가 동시에 사용되는지</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분석합니다. Backend는 그 결과와 정렬·상수·장치</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상태의 보호 조건을 반영해 byte offset을 정합니다.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호출 사이에서는 보관을 선택</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NPU memory search가 중간 tensor를 마지막</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소비까지 SRAM에 남길지 비교합니다. 보관 공간을</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예약한 나머지 용량으로 각 kernel을</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schedule합니다.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USMP는 정적 allocation 분석·배치 도구입니다. Runtime GC나 persistent KV 관리, 전체 그래프의 SRAM 보관 정책을 자동으로 만들지는</a:t>
            </a:r>
          </a:p>
        </p:txBody>
      </p:sp>
      <p:sp>
        <p:nvSpPr>
          <p:cNvPr id="32" name="TextBox 31"/>
          <p:cNvSpPr txBox="1"/>
          <p:nvPr/>
        </p:nvSpPr>
        <p:spPr>
          <a:xfrm>
            <a:off x="2527300" y="9070594"/>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않습니다.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08_memory.md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27 / 54</a:t>
            </a:r>
          </a:p>
        </p:txBody>
      </p:sp>
      <p:sp>
        <p:nvSpPr>
          <p:cNvPr id="36" name="Rectangle 35"/>
          <p:cNvSpPr/>
          <p:nvPr/>
        </p:nvSpPr>
        <p:spPr>
          <a:xfrm>
            <a:off x="850900" y="27940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900" y="2908300"/>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범위</a:t>
            </a:r>
          </a:p>
        </p:txBody>
      </p:sp>
      <p:sp>
        <p:nvSpPr>
          <p:cNvPr id="38" name="TextBox 37"/>
          <p:cNvSpPr txBox="1"/>
          <p:nvPr/>
        </p:nvSpPr>
        <p:spPr>
          <a:xfrm>
            <a:off x="3213100" y="2908300"/>
            <a:ext cx="34798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분석과 출력</a:t>
            </a:r>
          </a:p>
        </p:txBody>
      </p:sp>
      <p:sp>
        <p:nvSpPr>
          <p:cNvPr id="39" name="TextBox 38"/>
          <p:cNvSpPr txBox="1"/>
          <p:nvPr/>
        </p:nvSpPr>
        <p:spPr>
          <a:xfrm>
            <a:off x="6946900" y="2908300"/>
            <a:ext cx="4267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어떤 문제를 푸는가</a:t>
            </a:r>
          </a:p>
        </p:txBody>
      </p:sp>
      <p:sp>
        <p:nvSpPr>
          <p:cNvPr id="40" name="Rectangle 39"/>
          <p:cNvSpPr/>
          <p:nvPr/>
        </p:nvSpPr>
        <p:spPr>
          <a:xfrm>
            <a:off x="850900" y="3251200"/>
            <a:ext cx="10490200" cy="13081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3365500"/>
            <a:ext cx="1981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Relax 전체 함수</a:t>
            </a:r>
          </a:p>
        </p:txBody>
      </p:sp>
      <p:sp>
        <p:nvSpPr>
          <p:cNvPr id="42" name="TextBox 41"/>
          <p:cNvSpPr txBox="1"/>
          <p:nvPr/>
        </p:nvSpPr>
        <p:spPr>
          <a:xfrm>
            <a:off x="3213100" y="33655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StaticPlanBlockMemory</a:t>
            </a:r>
          </a:p>
        </p:txBody>
      </p:sp>
      <p:sp>
        <p:nvSpPr>
          <p:cNvPr id="43" name="TextBox 42"/>
          <p:cNvSpPr txBox="1"/>
          <p:nvPr/>
        </p:nvSpPr>
        <p:spPr>
          <a:xfrm>
            <a:off x="3213100" y="3680967"/>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storage pool</a:t>
            </a:r>
          </a:p>
        </p:txBody>
      </p:sp>
      <p:sp>
        <p:nvSpPr>
          <p:cNvPr id="44" name="TextBox 43"/>
          <p:cNvSpPr txBox="1"/>
          <p:nvPr/>
        </p:nvSpPr>
        <p:spPr>
          <a:xfrm>
            <a:off x="6946900" y="3365500"/>
            <a:ext cx="426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수명이 겹치지 않는 tensor의</a:t>
            </a:r>
          </a:p>
        </p:txBody>
      </p:sp>
      <p:sp>
        <p:nvSpPr>
          <p:cNvPr id="45" name="TextBox 44"/>
          <p:cNvSpPr txBox="1"/>
          <p:nvPr/>
        </p:nvSpPr>
        <p:spPr>
          <a:xfrm>
            <a:off x="6946900" y="3680967"/>
            <a:ext cx="426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기본 DRAM 공간 재사용</a:t>
            </a:r>
          </a:p>
        </p:txBody>
      </p:sp>
      <p:sp>
        <p:nvSpPr>
          <p:cNvPr id="46" name="Rectangle 45"/>
          <p:cNvSpPr/>
          <p:nvPr/>
        </p:nvSpPr>
        <p:spPr>
          <a:xfrm>
            <a:off x="850900" y="4559300"/>
            <a:ext cx="10490200" cy="13081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4673600"/>
            <a:ext cx="1981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Scheduled TIR</a:t>
            </a:r>
          </a:p>
        </p:txBody>
      </p:sp>
      <p:sp>
        <p:nvSpPr>
          <p:cNvPr id="48" name="TextBox 47"/>
          <p:cNvSpPr txBox="1"/>
          <p:nvPr/>
        </p:nvSpPr>
        <p:spPr>
          <a:xfrm>
            <a:off x="977900" y="4989068"/>
            <a:ext cx="1981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한 kernel 안</a:t>
            </a:r>
          </a:p>
        </p:txBody>
      </p:sp>
      <p:sp>
        <p:nvSpPr>
          <p:cNvPr id="49" name="TextBox 48"/>
          <p:cNvSpPr txBox="1"/>
          <p:nvPr/>
        </p:nvSpPr>
        <p:spPr>
          <a:xfrm>
            <a:off x="3213100" y="46736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USMP: allocation 충돌</a:t>
            </a:r>
          </a:p>
        </p:txBody>
      </p:sp>
      <p:sp>
        <p:nvSpPr>
          <p:cNvPr id="50" name="TextBox 49"/>
          <p:cNvSpPr txBox="1"/>
          <p:nvPr/>
        </p:nvSpPr>
        <p:spPr>
          <a:xfrm>
            <a:off x="3213100" y="4989068"/>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byte offset 배치</a:t>
            </a:r>
          </a:p>
        </p:txBody>
      </p:sp>
      <p:sp>
        <p:nvSpPr>
          <p:cNvPr id="51" name="TextBox 50"/>
          <p:cNvSpPr txBox="1"/>
          <p:nvPr/>
        </p:nvSpPr>
        <p:spPr>
          <a:xfrm>
            <a:off x="6946900" y="4673600"/>
            <a:ext cx="426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임시 buffer끼리 공간 공유</a:t>
            </a:r>
          </a:p>
        </p:txBody>
      </p:sp>
      <p:sp>
        <p:nvSpPr>
          <p:cNvPr id="52" name="TextBox 51"/>
          <p:cNvSpPr txBox="1"/>
          <p:nvPr/>
        </p:nvSpPr>
        <p:spPr>
          <a:xfrm>
            <a:off x="6946900" y="4989068"/>
            <a:ext cx="426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장치 상태는 보수적으로 보호</a:t>
            </a:r>
          </a:p>
        </p:txBody>
      </p:sp>
      <p:sp>
        <p:nvSpPr>
          <p:cNvPr id="53" name="Rectangle 52"/>
          <p:cNvSpPr/>
          <p:nvPr/>
        </p:nvSpPr>
        <p:spPr>
          <a:xfrm>
            <a:off x="850900" y="5867400"/>
            <a:ext cx="10490200" cy="13081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7900" y="5981700"/>
            <a:ext cx="1981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Kernel 사이</a:t>
            </a:r>
          </a:p>
        </p:txBody>
      </p:sp>
      <p:sp>
        <p:nvSpPr>
          <p:cNvPr id="55" name="TextBox 54"/>
          <p:cNvSpPr txBox="1"/>
          <p:nvPr/>
        </p:nvSpPr>
        <p:spPr>
          <a:xfrm>
            <a:off x="977900" y="6297168"/>
            <a:ext cx="1981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호출 순서</a:t>
            </a:r>
          </a:p>
        </p:txBody>
      </p:sp>
      <p:sp>
        <p:nvSpPr>
          <p:cNvPr id="56" name="TextBox 55"/>
          <p:cNvSpPr txBox="1"/>
          <p:nvPr/>
        </p:nvSpPr>
        <p:spPr>
          <a:xfrm>
            <a:off x="3213100" y="5981700"/>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NPU memory search</a:t>
            </a:r>
          </a:p>
        </p:txBody>
      </p:sp>
      <p:sp>
        <p:nvSpPr>
          <p:cNvPr id="57" name="TextBox 56"/>
          <p:cNvSpPr txBox="1"/>
          <p:nvPr/>
        </p:nvSpPr>
        <p:spPr>
          <a:xfrm>
            <a:off x="3213100" y="6297168"/>
            <a:ext cx="3479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 보관 / DRAM 선택</a:t>
            </a:r>
          </a:p>
        </p:txBody>
      </p:sp>
      <p:sp>
        <p:nvSpPr>
          <p:cNvPr id="58" name="TextBox 57"/>
          <p:cNvSpPr txBox="1"/>
          <p:nvPr/>
        </p:nvSpPr>
        <p:spPr>
          <a:xfrm>
            <a:off x="6946900" y="5981700"/>
            <a:ext cx="426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중간값을 마지막 소비까지 보관</a:t>
            </a:r>
          </a:p>
        </p:txBody>
      </p:sp>
      <p:sp>
        <p:nvSpPr>
          <p:cNvPr id="59" name="TextBox 58"/>
          <p:cNvSpPr txBox="1"/>
          <p:nvPr/>
        </p:nvSpPr>
        <p:spPr>
          <a:xfrm>
            <a:off x="6946900" y="6297168"/>
            <a:ext cx="426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남은 용량으로 schedule 재선택</a:t>
            </a:r>
          </a:p>
        </p:txBody>
      </p:sp>
      <p:sp>
        <p:nvSpPr>
          <p:cNvPr id="60" name="Rounded Rectangle 59"/>
          <p:cNvSpPr/>
          <p:nvPr/>
        </p:nvSpPr>
        <p:spPr>
          <a:xfrm>
            <a:off x="1003300" y="7518400"/>
            <a:ext cx="100457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7600" y="7594600"/>
            <a:ext cx="98171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서로 다른 범위의 세 결정이 합쳐져 최종 주소가 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08 / Lifetime</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값이 마지막으로 쓰인 뒤에 공간을 재사용합니다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Llama MLP의 gate → SiLU → up → multiply → down 순서를 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수명의 끝은 마지막 읽기</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G는 SiLU가 끝나면 필요 없지만 S는 up을 계산하는</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동안에도 살아 있어야 합니다. H는 down이 소비할</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때까지 유지합니다.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공간 재사용은 값의 변환이 아니다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G가 죽은 공간에 U를 써도 되는 것은 G의 옛 비트가</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더 이상 필요 없기 때문입니다. 크기와 정렬이 맞는지</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확인하고 살아 있는 값끼리는 겹치지 않습니다.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단순 크기 합보다 peak가 커질 수 있다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Weight panel·임시값·정렬·빈 공간도 필요합니다.</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 호출 순서를 바꾸거나 tensor 일부만 남기는</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정책은 없으며 큰 값은 DRAM 경로를 선택할 수</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있습니다.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M=64 Llama MLP에서 G/S/U/H는 각각 1 MiB입니다. Residual도 마지막 add까지의 실제 수명과 작업 공간을 함께 평가합니다.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08_memory.md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28 / 54</a:t>
            </a:r>
          </a:p>
        </p:txBody>
      </p:sp>
      <p:sp>
        <p:nvSpPr>
          <p:cNvPr id="35" name="TextBox 34"/>
          <p:cNvSpPr txBox="1"/>
          <p:nvPr/>
        </p:nvSpPr>
        <p:spPr>
          <a:xfrm>
            <a:off x="3200400" y="2755900"/>
            <a:ext cx="1485900" cy="297941"/>
          </a:xfrm>
          <a:prstGeom prst="rect">
            <a:avLst/>
          </a:prstGeom>
          <a:noFill/>
        </p:spPr>
        <p:txBody>
          <a:bodyPr wrap="none" tIns="0" bIns="0" lIns="0" rIns="0" anchor="t">
            <a:spAutoFit/>
          </a:bodyPr>
          <a:lstStyle/>
          <a:p>
            <a:pPr algn="ctr">
              <a:lnSpc>
                <a:spcPts val="2345"/>
              </a:lnSpc>
              <a:spcBef>
                <a:spcPts val="0"/>
              </a:spcBef>
              <a:spcAft>
                <a:spcPts val="0"/>
              </a:spcAft>
            </a:pPr>
            <a:r>
              <a:rPr sz="1700" b="1">
                <a:solidFill>
                  <a:srgbClr val="172942"/>
                </a:solidFill>
                <a:latin typeface="NanumGothic"/>
                <a:ea typeface="NanumGothic"/>
                <a:cs typeface="NanumGothic"/>
              </a:rPr>
              <a:t>gate</a:t>
            </a:r>
          </a:p>
        </p:txBody>
      </p:sp>
      <p:cxnSp>
        <p:nvCxnSpPr>
          <p:cNvPr id="36" name="Connector 35"/>
          <p:cNvCxnSpPr/>
          <p:nvPr/>
        </p:nvCxnSpPr>
        <p:spPr>
          <a:xfrm>
            <a:off x="3200400" y="3225800"/>
            <a:ext cx="0" cy="3987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762500" y="2755900"/>
            <a:ext cx="1485900" cy="297941"/>
          </a:xfrm>
          <a:prstGeom prst="rect">
            <a:avLst/>
          </a:prstGeom>
          <a:noFill/>
        </p:spPr>
        <p:txBody>
          <a:bodyPr wrap="none" tIns="0" bIns="0" lIns="0" rIns="0" anchor="t">
            <a:spAutoFit/>
          </a:bodyPr>
          <a:lstStyle/>
          <a:p>
            <a:pPr algn="ctr">
              <a:lnSpc>
                <a:spcPts val="2345"/>
              </a:lnSpc>
              <a:spcBef>
                <a:spcPts val="0"/>
              </a:spcBef>
              <a:spcAft>
                <a:spcPts val="0"/>
              </a:spcAft>
            </a:pPr>
            <a:r>
              <a:rPr sz="1700" b="1">
                <a:solidFill>
                  <a:srgbClr val="172942"/>
                </a:solidFill>
                <a:latin typeface="NanumGothic"/>
                <a:ea typeface="NanumGothic"/>
                <a:cs typeface="NanumGothic"/>
              </a:rPr>
              <a:t>SiLU</a:t>
            </a:r>
          </a:p>
        </p:txBody>
      </p:sp>
      <p:cxnSp>
        <p:nvCxnSpPr>
          <p:cNvPr id="38" name="Connector 37"/>
          <p:cNvCxnSpPr/>
          <p:nvPr/>
        </p:nvCxnSpPr>
        <p:spPr>
          <a:xfrm>
            <a:off x="4762500" y="3225800"/>
            <a:ext cx="0" cy="3987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324600" y="2755900"/>
            <a:ext cx="1485900" cy="297941"/>
          </a:xfrm>
          <a:prstGeom prst="rect">
            <a:avLst/>
          </a:prstGeom>
          <a:noFill/>
        </p:spPr>
        <p:txBody>
          <a:bodyPr wrap="none" tIns="0" bIns="0" lIns="0" rIns="0" anchor="t">
            <a:spAutoFit/>
          </a:bodyPr>
          <a:lstStyle/>
          <a:p>
            <a:pPr algn="ctr">
              <a:lnSpc>
                <a:spcPts val="2345"/>
              </a:lnSpc>
              <a:spcBef>
                <a:spcPts val="0"/>
              </a:spcBef>
              <a:spcAft>
                <a:spcPts val="0"/>
              </a:spcAft>
            </a:pPr>
            <a:r>
              <a:rPr sz="1700" b="1">
                <a:solidFill>
                  <a:srgbClr val="172942"/>
                </a:solidFill>
                <a:latin typeface="NanumGothic"/>
                <a:ea typeface="NanumGothic"/>
                <a:cs typeface="NanumGothic"/>
              </a:rPr>
              <a:t>up</a:t>
            </a:r>
          </a:p>
        </p:txBody>
      </p:sp>
      <p:cxnSp>
        <p:nvCxnSpPr>
          <p:cNvPr id="40" name="Connector 39"/>
          <p:cNvCxnSpPr/>
          <p:nvPr/>
        </p:nvCxnSpPr>
        <p:spPr>
          <a:xfrm>
            <a:off x="6324600" y="3225800"/>
            <a:ext cx="0" cy="3987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886700" y="2755900"/>
            <a:ext cx="1485900" cy="297941"/>
          </a:xfrm>
          <a:prstGeom prst="rect">
            <a:avLst/>
          </a:prstGeom>
          <a:noFill/>
        </p:spPr>
        <p:txBody>
          <a:bodyPr wrap="none" tIns="0" bIns="0" lIns="0" rIns="0" anchor="t">
            <a:spAutoFit/>
          </a:bodyPr>
          <a:lstStyle/>
          <a:p>
            <a:pPr algn="ctr">
              <a:lnSpc>
                <a:spcPts val="2345"/>
              </a:lnSpc>
              <a:spcBef>
                <a:spcPts val="0"/>
              </a:spcBef>
              <a:spcAft>
                <a:spcPts val="0"/>
              </a:spcAft>
            </a:pPr>
            <a:r>
              <a:rPr sz="1700" b="1">
                <a:solidFill>
                  <a:srgbClr val="172942"/>
                </a:solidFill>
                <a:latin typeface="NanumGothic"/>
                <a:ea typeface="NanumGothic"/>
                <a:cs typeface="NanumGothic"/>
              </a:rPr>
              <a:t>multiply</a:t>
            </a:r>
          </a:p>
        </p:txBody>
      </p:sp>
      <p:cxnSp>
        <p:nvCxnSpPr>
          <p:cNvPr id="42" name="Connector 41"/>
          <p:cNvCxnSpPr/>
          <p:nvPr/>
        </p:nvCxnSpPr>
        <p:spPr>
          <a:xfrm>
            <a:off x="7886700" y="3225800"/>
            <a:ext cx="0" cy="3987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448800" y="2755900"/>
            <a:ext cx="1485900" cy="297941"/>
          </a:xfrm>
          <a:prstGeom prst="rect">
            <a:avLst/>
          </a:prstGeom>
          <a:noFill/>
        </p:spPr>
        <p:txBody>
          <a:bodyPr wrap="none" tIns="0" bIns="0" lIns="0" rIns="0" anchor="t">
            <a:spAutoFit/>
          </a:bodyPr>
          <a:lstStyle/>
          <a:p>
            <a:pPr algn="ctr">
              <a:lnSpc>
                <a:spcPts val="2345"/>
              </a:lnSpc>
              <a:spcBef>
                <a:spcPts val="0"/>
              </a:spcBef>
              <a:spcAft>
                <a:spcPts val="0"/>
              </a:spcAft>
            </a:pPr>
            <a:r>
              <a:rPr sz="1700" b="1">
                <a:solidFill>
                  <a:srgbClr val="172942"/>
                </a:solidFill>
                <a:latin typeface="NanumGothic"/>
                <a:ea typeface="NanumGothic"/>
                <a:cs typeface="NanumGothic"/>
              </a:rPr>
              <a:t>down</a:t>
            </a:r>
          </a:p>
        </p:txBody>
      </p:sp>
      <p:cxnSp>
        <p:nvCxnSpPr>
          <p:cNvPr id="44" name="Connector 43"/>
          <p:cNvCxnSpPr/>
          <p:nvPr/>
        </p:nvCxnSpPr>
        <p:spPr>
          <a:xfrm>
            <a:off x="9448800" y="3225800"/>
            <a:ext cx="0" cy="39878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03300" y="3657600"/>
            <a:ext cx="1981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G · 1 MiB</a:t>
            </a:r>
          </a:p>
        </p:txBody>
      </p:sp>
      <p:sp>
        <p:nvSpPr>
          <p:cNvPr id="46" name="Rounded Rectangle 45"/>
          <p:cNvSpPr/>
          <p:nvPr/>
        </p:nvSpPr>
        <p:spPr>
          <a:xfrm>
            <a:off x="3276600" y="3543300"/>
            <a:ext cx="2895600" cy="5588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90900" y="3708400"/>
            <a:ext cx="2641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172942"/>
                </a:solidFill>
                <a:latin typeface="NanumGothic"/>
                <a:ea typeface="NanumGothic"/>
                <a:cs typeface="NanumGothic"/>
              </a:rPr>
              <a:t>생성 → 마지막 소비</a:t>
            </a:r>
          </a:p>
        </p:txBody>
      </p:sp>
      <p:sp>
        <p:nvSpPr>
          <p:cNvPr id="48" name="TextBox 47"/>
          <p:cNvSpPr txBox="1"/>
          <p:nvPr/>
        </p:nvSpPr>
        <p:spPr>
          <a:xfrm>
            <a:off x="1003300" y="4521200"/>
            <a:ext cx="1981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S · 1 MiB</a:t>
            </a:r>
          </a:p>
        </p:txBody>
      </p:sp>
      <p:sp>
        <p:nvSpPr>
          <p:cNvPr id="49" name="Rounded Rectangle 48"/>
          <p:cNvSpPr/>
          <p:nvPr/>
        </p:nvSpPr>
        <p:spPr>
          <a:xfrm>
            <a:off x="4838700" y="4406900"/>
            <a:ext cx="4457700" cy="5588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53000" y="4572000"/>
            <a:ext cx="4203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172942"/>
                </a:solidFill>
                <a:latin typeface="NanumGothic"/>
                <a:ea typeface="NanumGothic"/>
                <a:cs typeface="NanumGothic"/>
              </a:rPr>
              <a:t>생성 → 마지막 소비</a:t>
            </a:r>
          </a:p>
        </p:txBody>
      </p:sp>
      <p:sp>
        <p:nvSpPr>
          <p:cNvPr id="51" name="TextBox 50"/>
          <p:cNvSpPr txBox="1"/>
          <p:nvPr/>
        </p:nvSpPr>
        <p:spPr>
          <a:xfrm>
            <a:off x="1003300" y="5384800"/>
            <a:ext cx="1981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U · 1 MiB</a:t>
            </a:r>
          </a:p>
        </p:txBody>
      </p:sp>
      <p:sp>
        <p:nvSpPr>
          <p:cNvPr id="52" name="Rounded Rectangle 51"/>
          <p:cNvSpPr/>
          <p:nvPr/>
        </p:nvSpPr>
        <p:spPr>
          <a:xfrm>
            <a:off x="6400800" y="5270500"/>
            <a:ext cx="2895600" cy="558800"/>
          </a:xfrm>
          <a:prstGeom prst="roundRect">
            <a:avLst>
              <a:gd name="adj" fmla="val 12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15100" y="5435600"/>
            <a:ext cx="2641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172942"/>
                </a:solidFill>
                <a:latin typeface="NanumGothic"/>
                <a:ea typeface="NanumGothic"/>
                <a:cs typeface="NanumGothic"/>
              </a:rPr>
              <a:t>생성 → 마지막 소비</a:t>
            </a:r>
          </a:p>
        </p:txBody>
      </p:sp>
      <p:sp>
        <p:nvSpPr>
          <p:cNvPr id="54" name="TextBox 53"/>
          <p:cNvSpPr txBox="1"/>
          <p:nvPr/>
        </p:nvSpPr>
        <p:spPr>
          <a:xfrm>
            <a:off x="1003300" y="6248400"/>
            <a:ext cx="19812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H · 1 MiB</a:t>
            </a:r>
          </a:p>
        </p:txBody>
      </p:sp>
      <p:sp>
        <p:nvSpPr>
          <p:cNvPr id="55" name="Rounded Rectangle 54"/>
          <p:cNvSpPr/>
          <p:nvPr/>
        </p:nvSpPr>
        <p:spPr>
          <a:xfrm>
            <a:off x="7962900" y="6134100"/>
            <a:ext cx="2895600" cy="558800"/>
          </a:xfrm>
          <a:prstGeom prst="roundRect">
            <a:avLst>
              <a:gd name="adj" fmla="val 12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77200" y="6299200"/>
            <a:ext cx="26416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172942"/>
                </a:solidFill>
                <a:latin typeface="NanumGothic"/>
                <a:ea typeface="NanumGothic"/>
                <a:cs typeface="NanumGothic"/>
              </a:rPr>
              <a:t>생성 → 마지막 소비</a:t>
            </a:r>
          </a:p>
        </p:txBody>
      </p:sp>
      <p:sp>
        <p:nvSpPr>
          <p:cNvPr id="57" name="TextBox 56"/>
          <p:cNvSpPr txBox="1"/>
          <p:nvPr/>
        </p:nvSpPr>
        <p:spPr>
          <a:xfrm>
            <a:off x="3327400" y="7607300"/>
            <a:ext cx="44577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시간 / 실행 순서 →</a:t>
            </a:r>
          </a:p>
        </p:txBody>
      </p:sp>
      <p:sp>
        <p:nvSpPr>
          <p:cNvPr id="58" name="Rounded Rectangle 57"/>
          <p:cNvSpPr/>
          <p:nvPr/>
        </p:nvSpPr>
        <p:spPr>
          <a:xfrm>
            <a:off x="8128000" y="7505700"/>
            <a:ext cx="3060700" cy="381000"/>
          </a:xfrm>
          <a:prstGeom prst="roundRect">
            <a:avLst>
              <a:gd name="adj" fmla="val 12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42300" y="7581900"/>
            <a:ext cx="28321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겹친 수명은 같은 주소 불가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08 / SRAM 전달</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커널을 나누어도 H를 SRAM에 계속 둘 수 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44 KiB 예제: X[64,64] @ W1[64,128] → H → H @ W2[128,64]</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두 kernel이 같은 H 주소를 공유</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첫 matmul이 H[64,128]을 SRAM에 만들고, 두</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번째가 그 주소를 입력으로 읽습니다. H를 위한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DRAM 저장과 재읽기가 모두 사라집니다.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작업 공간은 kernel마다 바뀐다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X가 죽은 공간은 두 번째 kernel의 Y 작업 공간으로,</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W1 공간은 W2로 재사용합니다. H 영역은 두 kernel</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사이에서 계속 유효하게 유지합니다.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보관은 남은 용량으로 검증</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44 KiB 예제의 실제 peak는 42508 bytes입니다. H</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16 KiB 외에 상수·scratch·현재 입력과 weight가</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함께 들어가는지 확인한 뒤 선택합니다.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주소 단위는 bytes입니다: X=1548, W1=9740, H=26124. 상수와 scratch 때문에 tensor가 SRAM 주소 0에서 시작하지 않습니다.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08_memory.md</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29 / 54</a:t>
            </a:r>
          </a:p>
        </p:txBody>
      </p:sp>
      <p:sp>
        <p:nvSpPr>
          <p:cNvPr id="34" name="TextBox 33"/>
          <p:cNvSpPr txBox="1"/>
          <p:nvPr/>
        </p:nvSpPr>
        <p:spPr>
          <a:xfrm>
            <a:off x="1016000" y="2667000"/>
            <a:ext cx="100203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Kernel 1: X × W1 → H</a:t>
            </a:r>
          </a:p>
        </p:txBody>
      </p:sp>
      <p:sp>
        <p:nvSpPr>
          <p:cNvPr id="35" name="Rectangle 34"/>
          <p:cNvSpPr/>
          <p:nvPr/>
        </p:nvSpPr>
        <p:spPr>
          <a:xfrm>
            <a:off x="1003300" y="3213100"/>
            <a:ext cx="1016000" cy="13335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6800" y="3467100"/>
            <a:ext cx="88900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상수 등</a:t>
            </a:r>
          </a:p>
        </p:txBody>
      </p:sp>
      <p:sp>
        <p:nvSpPr>
          <p:cNvPr id="37" name="TextBox 36"/>
          <p:cNvSpPr txBox="1"/>
          <p:nvPr/>
        </p:nvSpPr>
        <p:spPr>
          <a:xfrm>
            <a:off x="1066800" y="3924300"/>
            <a:ext cx="88900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1548 B</a:t>
            </a:r>
          </a:p>
        </p:txBody>
      </p:sp>
      <p:sp>
        <p:nvSpPr>
          <p:cNvPr id="38" name="Rectangle 37"/>
          <p:cNvSpPr/>
          <p:nvPr/>
        </p:nvSpPr>
        <p:spPr>
          <a:xfrm>
            <a:off x="2019300" y="3213100"/>
            <a:ext cx="1823720" cy="13335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82800" y="3467100"/>
            <a:ext cx="169672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X</a:t>
            </a:r>
          </a:p>
        </p:txBody>
      </p:sp>
      <p:sp>
        <p:nvSpPr>
          <p:cNvPr id="40" name="TextBox 39"/>
          <p:cNvSpPr txBox="1"/>
          <p:nvPr/>
        </p:nvSpPr>
        <p:spPr>
          <a:xfrm>
            <a:off x="2082800" y="3924300"/>
            <a:ext cx="169672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8192 B</a:t>
            </a:r>
          </a:p>
        </p:txBody>
      </p:sp>
      <p:sp>
        <p:nvSpPr>
          <p:cNvPr id="41" name="Rectangle 40"/>
          <p:cNvSpPr/>
          <p:nvPr/>
        </p:nvSpPr>
        <p:spPr>
          <a:xfrm>
            <a:off x="3843020" y="3213100"/>
            <a:ext cx="3647440" cy="1333500"/>
          </a:xfrm>
          <a:prstGeom prst="rect">
            <a:avLst/>
          </a:prstGeom>
          <a:solidFill>
            <a:srgbClr val="EBE6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06520" y="3467100"/>
            <a:ext cx="352044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W1</a:t>
            </a:r>
          </a:p>
        </p:txBody>
      </p:sp>
      <p:sp>
        <p:nvSpPr>
          <p:cNvPr id="43" name="TextBox 42"/>
          <p:cNvSpPr txBox="1"/>
          <p:nvPr/>
        </p:nvSpPr>
        <p:spPr>
          <a:xfrm>
            <a:off x="3906520" y="3924300"/>
            <a:ext cx="352044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16384 B</a:t>
            </a:r>
          </a:p>
        </p:txBody>
      </p:sp>
      <p:sp>
        <p:nvSpPr>
          <p:cNvPr id="44" name="Rectangle 43"/>
          <p:cNvSpPr/>
          <p:nvPr/>
        </p:nvSpPr>
        <p:spPr>
          <a:xfrm>
            <a:off x="7490459" y="3213100"/>
            <a:ext cx="3647440" cy="1333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53959" y="3467100"/>
            <a:ext cx="352044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H</a:t>
            </a:r>
          </a:p>
        </p:txBody>
      </p:sp>
      <p:sp>
        <p:nvSpPr>
          <p:cNvPr id="46" name="TextBox 45"/>
          <p:cNvSpPr txBox="1"/>
          <p:nvPr/>
        </p:nvSpPr>
        <p:spPr>
          <a:xfrm>
            <a:off x="7553959" y="3924300"/>
            <a:ext cx="352044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16384 B</a:t>
            </a:r>
          </a:p>
        </p:txBody>
      </p:sp>
      <p:sp>
        <p:nvSpPr>
          <p:cNvPr id="47" name="TextBox 46"/>
          <p:cNvSpPr txBox="1"/>
          <p:nvPr/>
        </p:nvSpPr>
        <p:spPr>
          <a:xfrm>
            <a:off x="1016000" y="5384800"/>
            <a:ext cx="100203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Kernel 2: H × W2 → Y</a:t>
            </a:r>
          </a:p>
        </p:txBody>
      </p:sp>
      <p:sp>
        <p:nvSpPr>
          <p:cNvPr id="48" name="Rectangle 47"/>
          <p:cNvSpPr/>
          <p:nvPr/>
        </p:nvSpPr>
        <p:spPr>
          <a:xfrm>
            <a:off x="1003300" y="5930900"/>
            <a:ext cx="1016000" cy="1333500"/>
          </a:xfrm>
          <a:prstGeom prst="rect">
            <a:avLst/>
          </a:prstGeom>
          <a:solidFill>
            <a:srgbClr val="EBEF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6800" y="6184900"/>
            <a:ext cx="88900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상수 등</a:t>
            </a:r>
          </a:p>
        </p:txBody>
      </p:sp>
      <p:sp>
        <p:nvSpPr>
          <p:cNvPr id="50" name="TextBox 49"/>
          <p:cNvSpPr txBox="1"/>
          <p:nvPr/>
        </p:nvSpPr>
        <p:spPr>
          <a:xfrm>
            <a:off x="1066800" y="6642100"/>
            <a:ext cx="88900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1548 B</a:t>
            </a:r>
          </a:p>
        </p:txBody>
      </p:sp>
      <p:sp>
        <p:nvSpPr>
          <p:cNvPr id="51" name="Rectangle 50"/>
          <p:cNvSpPr/>
          <p:nvPr/>
        </p:nvSpPr>
        <p:spPr>
          <a:xfrm>
            <a:off x="2019300" y="5930900"/>
            <a:ext cx="1823720" cy="133350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82800" y="6184900"/>
            <a:ext cx="169672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Y 작업</a:t>
            </a:r>
          </a:p>
        </p:txBody>
      </p:sp>
      <p:sp>
        <p:nvSpPr>
          <p:cNvPr id="53" name="TextBox 52"/>
          <p:cNvSpPr txBox="1"/>
          <p:nvPr/>
        </p:nvSpPr>
        <p:spPr>
          <a:xfrm>
            <a:off x="2082800" y="6642100"/>
            <a:ext cx="169672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8192 B</a:t>
            </a:r>
          </a:p>
        </p:txBody>
      </p:sp>
      <p:sp>
        <p:nvSpPr>
          <p:cNvPr id="54" name="Rectangle 53"/>
          <p:cNvSpPr/>
          <p:nvPr/>
        </p:nvSpPr>
        <p:spPr>
          <a:xfrm>
            <a:off x="3843020" y="5930900"/>
            <a:ext cx="3647440" cy="1333500"/>
          </a:xfrm>
          <a:prstGeom prst="rect">
            <a:avLst/>
          </a:prstGeom>
          <a:solidFill>
            <a:srgbClr val="EBE6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06520" y="6184900"/>
            <a:ext cx="352044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W2</a:t>
            </a:r>
          </a:p>
        </p:txBody>
      </p:sp>
      <p:sp>
        <p:nvSpPr>
          <p:cNvPr id="56" name="TextBox 55"/>
          <p:cNvSpPr txBox="1"/>
          <p:nvPr/>
        </p:nvSpPr>
        <p:spPr>
          <a:xfrm>
            <a:off x="3906520" y="6642100"/>
            <a:ext cx="352044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16384 B</a:t>
            </a:r>
          </a:p>
        </p:txBody>
      </p:sp>
      <p:sp>
        <p:nvSpPr>
          <p:cNvPr id="57" name="Rectangle 56"/>
          <p:cNvSpPr/>
          <p:nvPr/>
        </p:nvSpPr>
        <p:spPr>
          <a:xfrm>
            <a:off x="7490459" y="5930900"/>
            <a:ext cx="3647440" cy="133350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53959" y="6184900"/>
            <a:ext cx="3520440" cy="280416"/>
          </a:xfrm>
          <a:prstGeom prst="rect">
            <a:avLst/>
          </a:prstGeom>
          <a:noFill/>
        </p:spPr>
        <p:txBody>
          <a:bodyPr wrap="none" tIns="0" bIns="0" lIns="0" rIns="0" anchor="t">
            <a:spAutoFit/>
          </a:bodyPr>
          <a:lstStyle/>
          <a:p>
            <a:pPr algn="ctr">
              <a:lnSpc>
                <a:spcPts val="2208"/>
              </a:lnSpc>
              <a:spcBef>
                <a:spcPts val="0"/>
              </a:spcBef>
              <a:spcAft>
                <a:spcPts val="0"/>
              </a:spcAft>
            </a:pPr>
            <a:r>
              <a:rPr sz="1600" b="1">
                <a:solidFill>
                  <a:srgbClr val="172942"/>
                </a:solidFill>
                <a:latin typeface="NanumGothic"/>
                <a:ea typeface="NanumGothic"/>
                <a:cs typeface="NanumGothic"/>
              </a:rPr>
              <a:t>같은 H</a:t>
            </a:r>
          </a:p>
        </p:txBody>
      </p:sp>
      <p:sp>
        <p:nvSpPr>
          <p:cNvPr id="59" name="TextBox 58"/>
          <p:cNvSpPr txBox="1"/>
          <p:nvPr/>
        </p:nvSpPr>
        <p:spPr>
          <a:xfrm>
            <a:off x="7553959" y="6642100"/>
            <a:ext cx="3520440" cy="245364"/>
          </a:xfrm>
          <a:prstGeom prst="rect">
            <a:avLst/>
          </a:prstGeom>
          <a:noFill/>
        </p:spPr>
        <p:txBody>
          <a:bodyPr wrap="none" tIns="0" bIns="0" lIns="0" rIns="0" anchor="t">
            <a:spAutoFit/>
          </a:bodyPr>
          <a:lstStyle/>
          <a:p>
            <a:pPr algn="ctr">
              <a:lnSpc>
                <a:spcPts val="1932"/>
              </a:lnSpc>
              <a:spcBef>
                <a:spcPts val="0"/>
              </a:spcBef>
              <a:spcAft>
                <a:spcPts val="0"/>
              </a:spcAft>
            </a:pPr>
            <a:r>
              <a:rPr sz="1400" b="0">
                <a:solidFill>
                  <a:srgbClr val="172942"/>
                </a:solidFill>
                <a:latin typeface="NanumGothic"/>
                <a:ea typeface="NanumGothic"/>
                <a:cs typeface="NanumGothic"/>
              </a:rPr>
              <a:t>16384 B</a:t>
            </a:r>
          </a:p>
        </p:txBody>
      </p:sp>
      <p:sp>
        <p:nvSpPr>
          <p:cNvPr id="60" name="TextBox 59"/>
          <p:cNvSpPr txBox="1"/>
          <p:nvPr/>
        </p:nvSpPr>
        <p:spPr>
          <a:xfrm>
            <a:off x="901700" y="4775200"/>
            <a:ext cx="990600" cy="245364"/>
          </a:xfrm>
          <a:prstGeom prst="rect">
            <a:avLst/>
          </a:prstGeom>
          <a:noFill/>
        </p:spPr>
        <p:txBody>
          <a:bodyPr wrap="none" tIns="0" bIns="0" lIns="0" rIns="0" anchor="t">
            <a:spAutoFit/>
          </a:bodyPr>
          <a:lstStyle/>
          <a:p>
            <a:pPr algn="l">
              <a:lnSpc>
                <a:spcPts val="1932"/>
              </a:lnSpc>
              <a:spcBef>
                <a:spcPts val="0"/>
              </a:spcBef>
              <a:spcAft>
                <a:spcPts val="0"/>
              </a:spcAft>
            </a:pPr>
            <a:r>
              <a:rPr sz="1400" b="0">
                <a:solidFill>
                  <a:srgbClr val="576980"/>
                </a:solidFill>
                <a:latin typeface="NanumGothic"/>
                <a:ea typeface="NanumGothic"/>
                <a:cs typeface="NanumGothic"/>
              </a:rPr>
              <a:t>0</a:t>
            </a:r>
          </a:p>
        </p:txBody>
      </p:sp>
      <p:sp>
        <p:nvSpPr>
          <p:cNvPr id="61" name="TextBox 60"/>
          <p:cNvSpPr txBox="1"/>
          <p:nvPr/>
        </p:nvSpPr>
        <p:spPr>
          <a:xfrm>
            <a:off x="1917700" y="4775200"/>
            <a:ext cx="990600" cy="245364"/>
          </a:xfrm>
          <a:prstGeom prst="rect">
            <a:avLst/>
          </a:prstGeom>
          <a:noFill/>
        </p:spPr>
        <p:txBody>
          <a:bodyPr wrap="none" tIns="0" bIns="0" lIns="0" rIns="0" anchor="t">
            <a:spAutoFit/>
          </a:bodyPr>
          <a:lstStyle/>
          <a:p>
            <a:pPr algn="l">
              <a:lnSpc>
                <a:spcPts val="1932"/>
              </a:lnSpc>
              <a:spcBef>
                <a:spcPts val="0"/>
              </a:spcBef>
              <a:spcAft>
                <a:spcPts val="0"/>
              </a:spcAft>
            </a:pPr>
            <a:r>
              <a:rPr sz="1400" b="0">
                <a:solidFill>
                  <a:srgbClr val="576980"/>
                </a:solidFill>
                <a:latin typeface="NanumGothic"/>
                <a:ea typeface="NanumGothic"/>
                <a:cs typeface="NanumGothic"/>
              </a:rPr>
              <a:t>1548</a:t>
            </a:r>
          </a:p>
        </p:txBody>
      </p:sp>
      <p:sp>
        <p:nvSpPr>
          <p:cNvPr id="62" name="TextBox 61"/>
          <p:cNvSpPr txBox="1"/>
          <p:nvPr/>
        </p:nvSpPr>
        <p:spPr>
          <a:xfrm>
            <a:off x="3741420" y="4775200"/>
            <a:ext cx="990600" cy="245364"/>
          </a:xfrm>
          <a:prstGeom prst="rect">
            <a:avLst/>
          </a:prstGeom>
          <a:noFill/>
        </p:spPr>
        <p:txBody>
          <a:bodyPr wrap="none" tIns="0" bIns="0" lIns="0" rIns="0" anchor="t">
            <a:spAutoFit/>
          </a:bodyPr>
          <a:lstStyle/>
          <a:p>
            <a:pPr algn="l">
              <a:lnSpc>
                <a:spcPts val="1932"/>
              </a:lnSpc>
              <a:spcBef>
                <a:spcPts val="0"/>
              </a:spcBef>
              <a:spcAft>
                <a:spcPts val="0"/>
              </a:spcAft>
            </a:pPr>
            <a:r>
              <a:rPr sz="1400" b="0">
                <a:solidFill>
                  <a:srgbClr val="576980"/>
                </a:solidFill>
                <a:latin typeface="NanumGothic"/>
                <a:ea typeface="NanumGothic"/>
                <a:cs typeface="NanumGothic"/>
              </a:rPr>
              <a:t>9740</a:t>
            </a:r>
          </a:p>
        </p:txBody>
      </p:sp>
      <p:sp>
        <p:nvSpPr>
          <p:cNvPr id="63" name="TextBox 62"/>
          <p:cNvSpPr txBox="1"/>
          <p:nvPr/>
        </p:nvSpPr>
        <p:spPr>
          <a:xfrm>
            <a:off x="7388859" y="4775200"/>
            <a:ext cx="990600" cy="245364"/>
          </a:xfrm>
          <a:prstGeom prst="rect">
            <a:avLst/>
          </a:prstGeom>
          <a:noFill/>
        </p:spPr>
        <p:txBody>
          <a:bodyPr wrap="none" tIns="0" bIns="0" lIns="0" rIns="0" anchor="t">
            <a:spAutoFit/>
          </a:bodyPr>
          <a:lstStyle/>
          <a:p>
            <a:pPr algn="l">
              <a:lnSpc>
                <a:spcPts val="1932"/>
              </a:lnSpc>
              <a:spcBef>
                <a:spcPts val="0"/>
              </a:spcBef>
              <a:spcAft>
                <a:spcPts val="0"/>
              </a:spcAft>
            </a:pPr>
            <a:r>
              <a:rPr sz="1400" b="0">
                <a:solidFill>
                  <a:srgbClr val="576980"/>
                </a:solidFill>
                <a:latin typeface="NanumGothic"/>
                <a:ea typeface="NanumGothic"/>
                <a:cs typeface="NanumGothic"/>
              </a:rPr>
              <a:t>26124</a:t>
            </a:r>
          </a:p>
        </p:txBody>
      </p:sp>
      <p:sp>
        <p:nvSpPr>
          <p:cNvPr id="64" name="TextBox 63"/>
          <p:cNvSpPr txBox="1"/>
          <p:nvPr/>
        </p:nvSpPr>
        <p:spPr>
          <a:xfrm>
            <a:off x="11036300" y="4775200"/>
            <a:ext cx="990600" cy="245364"/>
          </a:xfrm>
          <a:prstGeom prst="rect">
            <a:avLst/>
          </a:prstGeom>
          <a:noFill/>
        </p:spPr>
        <p:txBody>
          <a:bodyPr wrap="none" tIns="0" bIns="0" lIns="0" rIns="0" anchor="t">
            <a:spAutoFit/>
          </a:bodyPr>
          <a:lstStyle/>
          <a:p>
            <a:pPr algn="l">
              <a:lnSpc>
                <a:spcPts val="1932"/>
              </a:lnSpc>
              <a:spcBef>
                <a:spcPts val="0"/>
              </a:spcBef>
              <a:spcAft>
                <a:spcPts val="0"/>
              </a:spcAft>
            </a:pPr>
            <a:r>
              <a:rPr sz="1400" b="0">
                <a:solidFill>
                  <a:srgbClr val="576980"/>
                </a:solidFill>
                <a:latin typeface="NanumGothic"/>
                <a:ea typeface="NanumGothic"/>
                <a:cs typeface="NanumGothic"/>
              </a:rPr>
              <a:t>42508</a:t>
            </a:r>
          </a:p>
        </p:txBody>
      </p:sp>
      <p:cxnSp>
        <p:nvCxnSpPr>
          <p:cNvPr id="65" name="Connector 64"/>
          <p:cNvCxnSpPr/>
          <p:nvPr/>
        </p:nvCxnSpPr>
        <p:spPr>
          <a:xfrm>
            <a:off x="11099800" y="4559300"/>
            <a:ext cx="0" cy="1333500"/>
          </a:xfrm>
          <a:prstGeom prst="line">
            <a:avLst/>
          </a:prstGeom>
          <a:ln w="50800">
            <a:solidFill>
              <a:srgbClr val="008A82"/>
            </a:solidFill>
          </a:ln>
        </p:spPr>
        <p:style>
          <a:lnRef idx="2">
            <a:schemeClr val="accent1"/>
          </a:lnRef>
          <a:fillRef idx="0">
            <a:schemeClr val="accent1"/>
          </a:fillRef>
          <a:effectRef idx="1">
            <a:schemeClr val="accent1"/>
          </a:effectRef>
          <a:fontRef idx="minor">
            <a:schemeClr val="tx1"/>
          </a:fontRef>
        </p:style>
      </p:cxnSp>
      <p:sp>
        <p:nvSpPr>
          <p:cNvPr id="66" name="Freeform 65"/>
          <p:cNvSpPr/>
          <p:nvPr/>
        </p:nvSpPr>
        <p:spPr>
          <a:xfrm>
            <a:off x="11049000" y="57912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089400" y="5219700"/>
            <a:ext cx="25781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7655B7"/>
                </a:solidFill>
                <a:latin typeface="NanumGothic"/>
                <a:ea typeface="NanumGothic"/>
                <a:cs typeface="NanumGothic"/>
              </a:rPr>
              <a:t>공간 재사용</a:t>
            </a:r>
          </a:p>
        </p:txBody>
      </p:sp>
      <p:sp>
        <p:nvSpPr>
          <p:cNvPr id="68" name="TextBox 67"/>
          <p:cNvSpPr txBox="1"/>
          <p:nvPr/>
        </p:nvSpPr>
        <p:spPr>
          <a:xfrm>
            <a:off x="7696200" y="5232400"/>
            <a:ext cx="33909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H 보관 / DRAM 왕복 없음</a:t>
            </a:r>
          </a:p>
        </p:txBody>
      </p:sp>
      <p:sp>
        <p:nvSpPr>
          <p:cNvPr id="69" name="TextBox 68"/>
          <p:cNvSpPr txBox="1"/>
          <p:nvPr/>
        </p:nvSpPr>
        <p:spPr>
          <a:xfrm>
            <a:off x="1066800" y="7670800"/>
            <a:ext cx="100838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576980"/>
                </a:solidFill>
                <a:latin typeface="NanumGothic"/>
                <a:ea typeface="NanumGothic"/>
                <a:cs typeface="NanumGothic"/>
              </a:rPr>
              <a:t>상수 영역은 식별을 위해 확대 표시 / 모든 주소·크기는 bytes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08 / 출력·주소 정리</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최종 H에 직접 쓰고, 쓰지 않는 DRAM 예약을 없앱니다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별도 출력 tile을 거치는 복사와 불필요한 image 공간을 구분해 줄입니다.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SAVE 대상을 H의 부분 영역으로</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별도 64×64 출력 tile에 저장한 뒤 복사하는 대신 H의</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왼쪽/오른쪽 64열에 직접 SAVE합니다. 전체 K</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누산을 마친 값의 저장 위치만 바꿉니다.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열 tile은 행 stride를 유지</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H[64,128] FP16의 한 행은 256 bytes입니다.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오른쪽 tile 시작은 H+128 bytes이며 H+8192가</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아닙니다. Tile 전체가 연속한 덩어리라고 가정하면</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틀립니다.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완전히 안 쓰는 DRAM pool 제거</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SRAM-only 전달이 확정된 뒤 어디에서도 쓰지 않는</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pool을 없앱니다. 남은 DMA·I/O·상수·cache 주소</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기준도 함께 갱신합니다. 일부가 쓰이는 pool은</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유지합니다.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보존된 두 matmul 비교: words 85→77, image 65548→49164 bytes. DMA와 SRAM peak는 같고 출력은 bit-exact입니다.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08_memory.md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30 / 54</a:t>
            </a:r>
          </a:p>
        </p:txBody>
      </p:sp>
      <p:sp>
        <p:nvSpPr>
          <p:cNvPr id="36" name="TextBox 35"/>
          <p:cNvSpPr txBox="1"/>
          <p:nvPr/>
        </p:nvSpPr>
        <p:spPr>
          <a:xfrm>
            <a:off x="1016000" y="2794000"/>
            <a:ext cx="100457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H [64,128] FP16: 한 행 = 256 bytes</a:t>
            </a:r>
          </a:p>
        </p:txBody>
      </p:sp>
      <p:sp>
        <p:nvSpPr>
          <p:cNvPr id="37" name="TextBox 36"/>
          <p:cNvSpPr txBox="1"/>
          <p:nvPr/>
        </p:nvSpPr>
        <p:spPr>
          <a:xfrm>
            <a:off x="1028700" y="3213100"/>
            <a:ext cx="62230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172942"/>
                </a:solidFill>
                <a:latin typeface="NanumGothic"/>
                <a:ea typeface="NanumGothic"/>
                <a:cs typeface="NanumGothic"/>
              </a:rPr>
              <a:t/>
            </a:r>
          </a:p>
        </p:txBody>
      </p:sp>
      <p:sp>
        <p:nvSpPr>
          <p:cNvPr id="38" name="Rectangle 37"/>
          <p:cNvSpPr/>
          <p:nvPr/>
        </p:nvSpPr>
        <p:spPr>
          <a:xfrm>
            <a:off x="1028700" y="3556000"/>
            <a:ext cx="2476500" cy="5905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505200" y="3556000"/>
            <a:ext cx="2476500" cy="5905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28700" y="4146550"/>
            <a:ext cx="2476500" cy="5905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505200" y="4146550"/>
            <a:ext cx="2476500" cy="5905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8700" y="4737100"/>
            <a:ext cx="2476500" cy="5905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505200" y="4737100"/>
            <a:ext cx="2476500" cy="5905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8700" y="5327650"/>
            <a:ext cx="2476500" cy="590550"/>
          </a:xfrm>
          <a:prstGeom prst="rect">
            <a:avLst/>
          </a:prstGeom>
          <a:solidFill>
            <a:srgbClr val="DEF3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505200" y="5327650"/>
            <a:ext cx="2476500" cy="590550"/>
          </a:xfrm>
          <a:prstGeom prst="rect">
            <a:avLst/>
          </a:prstGeom>
          <a:solidFill>
            <a:srgbClr val="E5EEF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1028700" y="3556000"/>
            <a:ext cx="49530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81700" y="3556000"/>
            <a:ext cx="0" cy="23622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28700" y="5918200"/>
            <a:ext cx="49530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28700" y="3556000"/>
            <a:ext cx="0" cy="236220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320800" y="6096000"/>
            <a:ext cx="21336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008A82"/>
                </a:solidFill>
                <a:latin typeface="NanumGothic"/>
                <a:ea typeface="NanumGothic"/>
                <a:cs typeface="NanumGothic"/>
              </a:rPr>
              <a:t>왼쪽 64열</a:t>
            </a:r>
          </a:p>
        </p:txBody>
      </p:sp>
      <p:sp>
        <p:nvSpPr>
          <p:cNvPr id="51" name="TextBox 50"/>
          <p:cNvSpPr txBox="1"/>
          <p:nvPr/>
        </p:nvSpPr>
        <p:spPr>
          <a:xfrm>
            <a:off x="3797300" y="6096000"/>
            <a:ext cx="2527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2869C6"/>
                </a:solidFill>
                <a:latin typeface="NanumGothic"/>
                <a:ea typeface="NanumGothic"/>
                <a:cs typeface="NanumGothic"/>
              </a:rPr>
              <a:t>오른쪽 64열</a:t>
            </a:r>
          </a:p>
        </p:txBody>
      </p:sp>
      <p:sp>
        <p:nvSpPr>
          <p:cNvPr id="52" name="TextBox 51"/>
          <p:cNvSpPr txBox="1"/>
          <p:nvPr/>
        </p:nvSpPr>
        <p:spPr>
          <a:xfrm>
            <a:off x="1155700" y="6667500"/>
            <a:ext cx="2286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시작: H</a:t>
            </a:r>
          </a:p>
        </p:txBody>
      </p:sp>
      <p:sp>
        <p:nvSpPr>
          <p:cNvPr id="53" name="TextBox 52"/>
          <p:cNvSpPr txBox="1"/>
          <p:nvPr/>
        </p:nvSpPr>
        <p:spPr>
          <a:xfrm>
            <a:off x="3657600" y="6667500"/>
            <a:ext cx="2844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시작: H + 128 B</a:t>
            </a:r>
          </a:p>
        </p:txBody>
      </p:sp>
      <p:sp>
        <p:nvSpPr>
          <p:cNvPr id="54" name="Rounded Rectangle 53"/>
          <p:cNvSpPr/>
          <p:nvPr/>
        </p:nvSpPr>
        <p:spPr>
          <a:xfrm>
            <a:off x="6578600" y="3454400"/>
            <a:ext cx="4546600" cy="1346200"/>
          </a:xfrm>
          <a:prstGeom prst="roundRect">
            <a:avLst>
              <a:gd name="adj" fmla="val 7547"/>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56400" y="3632200"/>
            <a:ext cx="41910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완료된 accumulator를 직접 SAVE</a:t>
            </a:r>
          </a:p>
        </p:txBody>
      </p:sp>
      <p:sp>
        <p:nvSpPr>
          <p:cNvPr id="56" name="TextBox 55"/>
          <p:cNvSpPr txBox="1"/>
          <p:nvPr/>
        </p:nvSpPr>
        <p:spPr>
          <a:xfrm>
            <a:off x="6756400" y="4041394"/>
            <a:ext cx="4191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부분 영역 view가 전체 H의</a:t>
            </a:r>
          </a:p>
        </p:txBody>
      </p:sp>
      <p:sp>
        <p:nvSpPr>
          <p:cNvPr id="57" name="TextBox 56"/>
          <p:cNvSpPr txBox="1"/>
          <p:nvPr/>
        </p:nvSpPr>
        <p:spPr>
          <a:xfrm>
            <a:off x="6756400" y="4304284"/>
            <a:ext cx="4191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row stride 256 B를 유지</a:t>
            </a:r>
          </a:p>
        </p:txBody>
      </p:sp>
      <p:sp>
        <p:nvSpPr>
          <p:cNvPr id="58" name="Rounded Rectangle 57"/>
          <p:cNvSpPr/>
          <p:nvPr/>
        </p:nvSpPr>
        <p:spPr>
          <a:xfrm>
            <a:off x="6578600" y="5219700"/>
            <a:ext cx="4546600" cy="1879600"/>
          </a:xfrm>
          <a:prstGeom prst="roundRect">
            <a:avLst>
              <a:gd name="adj" fmla="val 5405"/>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56400" y="5397500"/>
            <a:ext cx="41910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DRAM 예약 정리</a:t>
            </a:r>
          </a:p>
        </p:txBody>
      </p:sp>
      <p:sp>
        <p:nvSpPr>
          <p:cNvPr id="60" name="TextBox 59"/>
          <p:cNvSpPr txBox="1"/>
          <p:nvPr/>
        </p:nvSpPr>
        <p:spPr>
          <a:xfrm>
            <a:off x="6756400" y="5824220"/>
            <a:ext cx="4191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초기: H용 DRAM pool 존재</a:t>
            </a:r>
          </a:p>
        </p:txBody>
      </p:sp>
      <p:sp>
        <p:nvSpPr>
          <p:cNvPr id="61" name="TextBox 60"/>
          <p:cNvSpPr txBox="1"/>
          <p:nvPr/>
        </p:nvSpPr>
        <p:spPr>
          <a:xfrm>
            <a:off x="6756400" y="6087110"/>
            <a:ext cx="4191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선택: H를 SRAM-only로 전달</a:t>
            </a:r>
          </a:p>
        </p:txBody>
      </p:sp>
      <p:sp>
        <p:nvSpPr>
          <p:cNvPr id="62" name="TextBox 61"/>
          <p:cNvSpPr txBox="1"/>
          <p:nvPr/>
        </p:nvSpPr>
        <p:spPr>
          <a:xfrm>
            <a:off x="6756400" y="6350000"/>
            <a:ext cx="4191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후처리: 완전히 미사용인 pool 제거</a:t>
            </a:r>
          </a:p>
        </p:txBody>
      </p:sp>
      <p:sp>
        <p:nvSpPr>
          <p:cNvPr id="63" name="Rounded Rectangle 62"/>
          <p:cNvSpPr/>
          <p:nvPr/>
        </p:nvSpPr>
        <p:spPr>
          <a:xfrm>
            <a:off x="1130300" y="7416800"/>
            <a:ext cx="98425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44600" y="7493000"/>
            <a:ext cx="96139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Tile 8 KiB를 단순 연속 배치한 주소와 다름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09 / ISA</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TIR의 계산과 복사를 실제 명령으로 펼칩니다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프로그램은 정적으로 전개된 명령 stream입니다. TIR loop가 ISA loop로 남지는 않습니다.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Tensorize는 intrinsic 호출을 만든다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수식·dtype·scope가 맞는 64×64 block을</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npu_gemm_acc 같은 호출로 바꿉니다. 이 호출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자체는 아직 최종 opcode나 program word가</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아닙니다.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Codegen은 descriptor와 명령을 만든다</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MAIN/PARTIAL descriptor에 shape·stride·접근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영역을 설정하고 LOAD, MAC bit를 가진 M_MUL,</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SAVE로 펼칩니다. 복사 block은 DMA나 SRAM</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이동이 됩니다.</a:t>
            </a:r>
          </a:p>
        </p:txBody>
      </p:sp>
      <p:sp>
        <p:nvSpPr>
          <p:cNvPr id="24" name="Rounded Rectangle 23"/>
          <p:cNvSpPr/>
          <p:nvPr/>
        </p:nvSpPr>
        <p:spPr>
          <a:xfrm>
            <a:off x="11988800" y="611784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Linker는 실제 상태를 보며 정리</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Kernel을 호출 순서로 연결하고 주소의 읽기·쓰기</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효과를 추적합니다. 같은 명령이 반복되어도 중간</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값이 덮어써졌으면 무조건 지울 수 없습니다.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77 words 예제는 62개 명령입니다. DMA 한 개가 4 words이므로 저장 word 수와 실행 instruction 수가 다릅니다.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09_isa.md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31 / 54</a:t>
            </a:r>
          </a:p>
        </p:txBody>
      </p:sp>
      <p:sp>
        <p:nvSpPr>
          <p:cNvPr id="36" name="Rounded Rectangle 35"/>
          <p:cNvSpPr/>
          <p:nvPr/>
        </p:nvSpPr>
        <p:spPr>
          <a:xfrm>
            <a:off x="889000" y="2908300"/>
            <a:ext cx="3136900" cy="1739900"/>
          </a:xfrm>
          <a:prstGeom prst="roundRect">
            <a:avLst>
              <a:gd name="adj" fmla="val 5839"/>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0861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Semantic TIR</a:t>
            </a:r>
          </a:p>
        </p:txBody>
      </p:sp>
      <p:sp>
        <p:nvSpPr>
          <p:cNvPr id="38" name="TextBox 37"/>
          <p:cNvSpPr txBox="1"/>
          <p:nvPr/>
        </p:nvSpPr>
        <p:spPr>
          <a:xfrm>
            <a:off x="1066800" y="35128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C32 += fp32(X) × fp32(B)</a:t>
            </a:r>
          </a:p>
        </p:txBody>
      </p:sp>
      <p:sp>
        <p:nvSpPr>
          <p:cNvPr id="39" name="TextBox 38"/>
          <p:cNvSpPr txBox="1"/>
          <p:nvPr/>
        </p:nvSpPr>
        <p:spPr>
          <a:xfrm>
            <a:off x="1066800" y="37757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Y = fp16(C32)</a:t>
            </a:r>
          </a:p>
        </p:txBody>
      </p:sp>
      <p:sp>
        <p:nvSpPr>
          <p:cNvPr id="40" name="Rounded Rectangle 39"/>
          <p:cNvSpPr/>
          <p:nvPr/>
        </p:nvSpPr>
        <p:spPr>
          <a:xfrm>
            <a:off x="4559300" y="2908300"/>
            <a:ext cx="3136900" cy="1739900"/>
          </a:xfrm>
          <a:prstGeom prst="roundRect">
            <a:avLst>
              <a:gd name="adj" fmla="val 5839"/>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37100" y="30861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Scheduled TIR</a:t>
            </a:r>
          </a:p>
        </p:txBody>
      </p:sp>
      <p:sp>
        <p:nvSpPr>
          <p:cNvPr id="42" name="TextBox 41"/>
          <p:cNvSpPr txBox="1"/>
          <p:nvPr/>
        </p:nvSpPr>
        <p:spPr>
          <a:xfrm>
            <a:off x="4737100" y="35128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64×64 block tensorize</a:t>
            </a:r>
          </a:p>
        </p:txBody>
      </p:sp>
      <p:sp>
        <p:nvSpPr>
          <p:cNvPr id="43" name="TextBox 42"/>
          <p:cNvSpPr txBox="1"/>
          <p:nvPr/>
        </p:nvSpPr>
        <p:spPr>
          <a:xfrm>
            <a:off x="4737100" y="37757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npu_gemm_acc(...)</a:t>
            </a:r>
          </a:p>
        </p:txBody>
      </p:sp>
      <p:cxnSp>
        <p:nvCxnSpPr>
          <p:cNvPr id="44" name="Connector 43"/>
          <p:cNvCxnSpPr/>
          <p:nvPr/>
        </p:nvCxnSpPr>
        <p:spPr>
          <a:xfrm>
            <a:off x="4076700" y="37782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4368800" y="3733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29600" y="2908300"/>
            <a:ext cx="3136900" cy="1739900"/>
          </a:xfrm>
          <a:prstGeom prst="roundRect">
            <a:avLst>
              <a:gd name="adj" fmla="val 583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7400" y="30861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ISA stream</a:t>
            </a:r>
          </a:p>
        </p:txBody>
      </p:sp>
      <p:sp>
        <p:nvSpPr>
          <p:cNvPr id="48" name="TextBox 47"/>
          <p:cNvSpPr txBox="1"/>
          <p:nvPr/>
        </p:nvSpPr>
        <p:spPr>
          <a:xfrm>
            <a:off x="8407400" y="35128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Descriptor / LOAD</a:t>
            </a:r>
          </a:p>
        </p:txBody>
      </p:sp>
      <p:sp>
        <p:nvSpPr>
          <p:cNvPr id="49" name="TextBox 48"/>
          <p:cNvSpPr txBox="1"/>
          <p:nvPr/>
        </p:nvSpPr>
        <p:spPr>
          <a:xfrm>
            <a:off x="8407400" y="37757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M_MUL / SAVE</a:t>
            </a:r>
          </a:p>
        </p:txBody>
      </p:sp>
      <p:cxnSp>
        <p:nvCxnSpPr>
          <p:cNvPr id="50" name="Connector 49"/>
          <p:cNvCxnSpPr/>
          <p:nvPr/>
        </p:nvCxnSpPr>
        <p:spPr>
          <a:xfrm>
            <a:off x="7747000" y="37782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8039100" y="3733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50900" y="52832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5397500"/>
            <a:ext cx="19939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실제 word offset</a:t>
            </a:r>
          </a:p>
        </p:txBody>
      </p:sp>
      <p:sp>
        <p:nvSpPr>
          <p:cNvPr id="54" name="TextBox 53"/>
          <p:cNvSpPr txBox="1"/>
          <p:nvPr/>
        </p:nvSpPr>
        <p:spPr>
          <a:xfrm>
            <a:off x="3225800" y="5397500"/>
            <a:ext cx="45847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명령의 의미</a:t>
            </a:r>
          </a:p>
        </p:txBody>
      </p:sp>
      <p:sp>
        <p:nvSpPr>
          <p:cNvPr id="55" name="TextBox 54"/>
          <p:cNvSpPr txBox="1"/>
          <p:nvPr/>
        </p:nvSpPr>
        <p:spPr>
          <a:xfrm>
            <a:off x="8064500" y="5397500"/>
            <a:ext cx="3149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누산 관계</a:t>
            </a:r>
          </a:p>
        </p:txBody>
      </p:sp>
      <p:sp>
        <p:nvSpPr>
          <p:cNvPr id="56" name="Rectangle 55"/>
          <p:cNvSpPr/>
          <p:nvPr/>
        </p:nvSpPr>
        <p:spPr>
          <a:xfrm>
            <a:off x="850900" y="5740400"/>
            <a:ext cx="10490200" cy="723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7900" y="5854700"/>
            <a:ext cx="1993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30 / 44</a:t>
            </a:r>
          </a:p>
        </p:txBody>
      </p:sp>
      <p:sp>
        <p:nvSpPr>
          <p:cNvPr id="58" name="TextBox 57"/>
          <p:cNvSpPr txBox="1"/>
          <p:nvPr/>
        </p:nvSpPr>
        <p:spPr>
          <a:xfrm>
            <a:off x="3225800" y="5854700"/>
            <a:ext cx="45847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첫 matmul의 H 왼쪽 / 오른쪽 tile</a:t>
            </a:r>
          </a:p>
        </p:txBody>
      </p:sp>
      <p:sp>
        <p:nvSpPr>
          <p:cNvPr id="59" name="TextBox 58"/>
          <p:cNvSpPr txBox="1"/>
          <p:nvPr/>
        </p:nvSpPr>
        <p:spPr>
          <a:xfrm>
            <a:off x="8064500" y="5854700"/>
            <a:ext cx="31496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둘 다 MAC=0: 다른 출력</a:t>
            </a:r>
          </a:p>
        </p:txBody>
      </p:sp>
      <p:sp>
        <p:nvSpPr>
          <p:cNvPr id="60" name="Rectangle 59"/>
          <p:cNvSpPr/>
          <p:nvPr/>
        </p:nvSpPr>
        <p:spPr>
          <a:xfrm>
            <a:off x="850900" y="6464300"/>
            <a:ext cx="10490200" cy="7239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7900" y="6578600"/>
            <a:ext cx="1993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60 / 67</a:t>
            </a:r>
          </a:p>
        </p:txBody>
      </p:sp>
      <p:sp>
        <p:nvSpPr>
          <p:cNvPr id="62" name="TextBox 61"/>
          <p:cNvSpPr txBox="1"/>
          <p:nvPr/>
        </p:nvSpPr>
        <p:spPr>
          <a:xfrm>
            <a:off x="3225800" y="6578600"/>
            <a:ext cx="45847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두 번째 matmul의 K tile 두 개</a:t>
            </a:r>
          </a:p>
        </p:txBody>
      </p:sp>
      <p:sp>
        <p:nvSpPr>
          <p:cNvPr id="63" name="TextBox 62"/>
          <p:cNvSpPr txBox="1"/>
          <p:nvPr/>
        </p:nvSpPr>
        <p:spPr>
          <a:xfrm>
            <a:off x="8064500" y="6578600"/>
            <a:ext cx="31496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MAC=0 다음 MAC=1</a:t>
            </a:r>
          </a:p>
        </p:txBody>
      </p:sp>
      <p:sp>
        <p:nvSpPr>
          <p:cNvPr id="64" name="Rectangle 63"/>
          <p:cNvSpPr/>
          <p:nvPr/>
        </p:nvSpPr>
        <p:spPr>
          <a:xfrm>
            <a:off x="850900" y="7188200"/>
            <a:ext cx="10490200" cy="723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7900" y="7302500"/>
            <a:ext cx="19939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71 / 72 / 76</a:t>
            </a:r>
          </a:p>
        </p:txBody>
      </p:sp>
      <p:sp>
        <p:nvSpPr>
          <p:cNvPr id="66" name="TextBox 65"/>
          <p:cNvSpPr txBox="1"/>
          <p:nvPr/>
        </p:nvSpPr>
        <p:spPr>
          <a:xfrm>
            <a:off x="3225800" y="7302500"/>
            <a:ext cx="45847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Y SAVE / GSTORE / HALT</a:t>
            </a:r>
          </a:p>
        </p:txBody>
      </p:sp>
      <p:sp>
        <p:nvSpPr>
          <p:cNvPr id="67" name="TextBox 66"/>
          <p:cNvSpPr txBox="1"/>
          <p:nvPr/>
        </p:nvSpPr>
        <p:spPr>
          <a:xfrm>
            <a:off x="8064500" y="7302500"/>
            <a:ext cx="31496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K 완료 뒤 외부 출력 저장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09 / 주소와 명령 해독</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같은 주소 숫자도 필드마다 단위가 다릅니다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실제 두 matmul의 X GLOAD packet을 byte 주소로 읽어 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SRAM 필드는 nibble 단위</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첫 word의 SRAM 필드는 0xC18=3096입니다.</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Nibble은 반 byte이므로 byte 주소는</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3096÷2=1548로, 실제 X의 배치와 일치합니다.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DMA global 쪽은 32-bit cell</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 packet의 global 시작은 0 cell, 전송량은</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0x800=2048 cells입니다. 2048×4=8192 bytes를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DRAM에서 SRAM으로 가져옵니다.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Plan과 shape도 따로 해석</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기본 plan.address는 2-byte unit, shape/row</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stride는 element 단위입니다. FP16 stride 128은</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256 bytes이며 단위를 섞으면 2배·4배 주소 오류가</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Packet @ word offset 8: 000c18a0 00000000 00000800 00010800. 이 예의 opcode A0는 GLOAD입니다.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09_isa.md, program.json</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32 / 54</a:t>
            </a:r>
          </a:p>
        </p:txBody>
      </p:sp>
      <p:sp>
        <p:nvSpPr>
          <p:cNvPr id="35" name="TextBox 34"/>
          <p:cNvSpPr txBox="1"/>
          <p:nvPr/>
        </p:nvSpPr>
        <p:spPr>
          <a:xfrm>
            <a:off x="1016000" y="2806700"/>
            <a:ext cx="102489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X GLOAD · word offset 8 · 4-word packet</a:t>
            </a:r>
          </a:p>
        </p:txBody>
      </p:sp>
      <p:sp>
        <p:nvSpPr>
          <p:cNvPr id="36" name="Rounded Rectangle 35"/>
          <p:cNvSpPr/>
          <p:nvPr/>
        </p:nvSpPr>
        <p:spPr>
          <a:xfrm>
            <a:off x="977900" y="3479800"/>
            <a:ext cx="2413000" cy="8001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55700" y="3657600"/>
            <a:ext cx="20574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000c18a0</a:t>
            </a:r>
          </a:p>
        </p:txBody>
      </p:sp>
      <p:sp>
        <p:nvSpPr>
          <p:cNvPr id="38" name="Rounded Rectangle 37"/>
          <p:cNvSpPr/>
          <p:nvPr/>
        </p:nvSpPr>
        <p:spPr>
          <a:xfrm>
            <a:off x="3581400" y="3479800"/>
            <a:ext cx="2413000" cy="8001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59200" y="3657600"/>
            <a:ext cx="20574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00000000</a:t>
            </a:r>
          </a:p>
        </p:txBody>
      </p:sp>
      <p:sp>
        <p:nvSpPr>
          <p:cNvPr id="40" name="Rounded Rectangle 39"/>
          <p:cNvSpPr/>
          <p:nvPr/>
        </p:nvSpPr>
        <p:spPr>
          <a:xfrm>
            <a:off x="6184900" y="3479800"/>
            <a:ext cx="2413000" cy="8001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62700" y="3657600"/>
            <a:ext cx="20574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00000800</a:t>
            </a:r>
          </a:p>
        </p:txBody>
      </p:sp>
      <p:sp>
        <p:nvSpPr>
          <p:cNvPr id="42" name="Rounded Rectangle 41"/>
          <p:cNvSpPr/>
          <p:nvPr/>
        </p:nvSpPr>
        <p:spPr>
          <a:xfrm>
            <a:off x="8788400" y="3479800"/>
            <a:ext cx="2413000" cy="800100"/>
          </a:xfrm>
          <a:prstGeom prst="roundRect">
            <a:avLst>
              <a:gd name="adj" fmla="val 1200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6200" y="3657600"/>
            <a:ext cx="20574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00010800</a:t>
            </a:r>
          </a:p>
        </p:txBody>
      </p:sp>
      <p:sp>
        <p:nvSpPr>
          <p:cNvPr id="44" name="Rectangle 43"/>
          <p:cNvSpPr/>
          <p:nvPr/>
        </p:nvSpPr>
        <p:spPr>
          <a:xfrm>
            <a:off x="850900" y="47879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4902200"/>
            <a:ext cx="24511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필드 / 위치</a:t>
            </a:r>
          </a:p>
        </p:txBody>
      </p:sp>
      <p:sp>
        <p:nvSpPr>
          <p:cNvPr id="46" name="TextBox 45"/>
          <p:cNvSpPr txBox="1"/>
          <p:nvPr/>
        </p:nvSpPr>
        <p:spPr>
          <a:xfrm>
            <a:off x="3683000" y="4902200"/>
            <a:ext cx="3543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원래 값과 단위</a:t>
            </a:r>
          </a:p>
        </p:txBody>
      </p:sp>
      <p:sp>
        <p:nvSpPr>
          <p:cNvPr id="47" name="TextBox 46"/>
          <p:cNvSpPr txBox="1"/>
          <p:nvPr/>
        </p:nvSpPr>
        <p:spPr>
          <a:xfrm>
            <a:off x="7480300" y="4902200"/>
            <a:ext cx="37338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Byte로 읽기</a:t>
            </a:r>
          </a:p>
        </p:txBody>
      </p:sp>
      <p:sp>
        <p:nvSpPr>
          <p:cNvPr id="48" name="Rectangle 47"/>
          <p:cNvSpPr/>
          <p:nvPr/>
        </p:nvSpPr>
        <p:spPr>
          <a:xfrm>
            <a:off x="850900" y="5245100"/>
            <a:ext cx="10490200" cy="6604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7900" y="5359400"/>
            <a:ext cx="24511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SRAM 주소</a:t>
            </a:r>
          </a:p>
        </p:txBody>
      </p:sp>
      <p:sp>
        <p:nvSpPr>
          <p:cNvPr id="50" name="TextBox 49"/>
          <p:cNvSpPr txBox="1"/>
          <p:nvPr/>
        </p:nvSpPr>
        <p:spPr>
          <a:xfrm>
            <a:off x="3683000" y="5359400"/>
            <a:ext cx="3543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0xC18 = 3096 nibbles</a:t>
            </a:r>
          </a:p>
        </p:txBody>
      </p:sp>
      <p:sp>
        <p:nvSpPr>
          <p:cNvPr id="51" name="TextBox 50"/>
          <p:cNvSpPr txBox="1"/>
          <p:nvPr/>
        </p:nvSpPr>
        <p:spPr>
          <a:xfrm>
            <a:off x="7480300" y="5359400"/>
            <a:ext cx="37338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3096 ÷ 2 = 1548 B</a:t>
            </a:r>
          </a:p>
        </p:txBody>
      </p:sp>
      <p:sp>
        <p:nvSpPr>
          <p:cNvPr id="52" name="Rectangle 51"/>
          <p:cNvSpPr/>
          <p:nvPr/>
        </p:nvSpPr>
        <p:spPr>
          <a:xfrm>
            <a:off x="850900" y="5905500"/>
            <a:ext cx="10490200" cy="6604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6019800"/>
            <a:ext cx="24511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DRAM 시작</a:t>
            </a:r>
          </a:p>
        </p:txBody>
      </p:sp>
      <p:sp>
        <p:nvSpPr>
          <p:cNvPr id="54" name="TextBox 53"/>
          <p:cNvSpPr txBox="1"/>
          <p:nvPr/>
        </p:nvSpPr>
        <p:spPr>
          <a:xfrm>
            <a:off x="3683000" y="6019800"/>
            <a:ext cx="3543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0 cells</a:t>
            </a:r>
          </a:p>
        </p:txBody>
      </p:sp>
      <p:sp>
        <p:nvSpPr>
          <p:cNvPr id="55" name="TextBox 54"/>
          <p:cNvSpPr txBox="1"/>
          <p:nvPr/>
        </p:nvSpPr>
        <p:spPr>
          <a:xfrm>
            <a:off x="7480300" y="6019800"/>
            <a:ext cx="37338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0 × 4 = 0 B</a:t>
            </a:r>
          </a:p>
        </p:txBody>
      </p:sp>
      <p:sp>
        <p:nvSpPr>
          <p:cNvPr id="56" name="Rectangle 55"/>
          <p:cNvSpPr/>
          <p:nvPr/>
        </p:nvSpPr>
        <p:spPr>
          <a:xfrm>
            <a:off x="850900" y="6565900"/>
            <a:ext cx="10490200" cy="6604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7900" y="6680200"/>
            <a:ext cx="24511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전송량</a:t>
            </a:r>
          </a:p>
        </p:txBody>
      </p:sp>
      <p:sp>
        <p:nvSpPr>
          <p:cNvPr id="58" name="TextBox 57"/>
          <p:cNvSpPr txBox="1"/>
          <p:nvPr/>
        </p:nvSpPr>
        <p:spPr>
          <a:xfrm>
            <a:off x="3683000" y="6680200"/>
            <a:ext cx="3543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0x800 = 2048 cells</a:t>
            </a:r>
          </a:p>
        </p:txBody>
      </p:sp>
      <p:sp>
        <p:nvSpPr>
          <p:cNvPr id="59" name="TextBox 58"/>
          <p:cNvSpPr txBox="1"/>
          <p:nvPr/>
        </p:nvSpPr>
        <p:spPr>
          <a:xfrm>
            <a:off x="7480300" y="6680200"/>
            <a:ext cx="37338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2048 × 4 = 8192 B</a:t>
            </a:r>
          </a:p>
        </p:txBody>
      </p:sp>
      <p:sp>
        <p:nvSpPr>
          <p:cNvPr id="60" name="Rectangle 59"/>
          <p:cNvSpPr/>
          <p:nvPr/>
        </p:nvSpPr>
        <p:spPr>
          <a:xfrm>
            <a:off x="850900" y="7226300"/>
            <a:ext cx="10490200" cy="6604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7900" y="7340600"/>
            <a:ext cx="24511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다른 필드 주의</a:t>
            </a:r>
          </a:p>
        </p:txBody>
      </p:sp>
      <p:sp>
        <p:nvSpPr>
          <p:cNvPr id="62" name="TextBox 61"/>
          <p:cNvSpPr txBox="1"/>
          <p:nvPr/>
        </p:nvSpPr>
        <p:spPr>
          <a:xfrm>
            <a:off x="3683000" y="7340600"/>
            <a:ext cx="3543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Plan은 기본 2 B / stride는 원소</a:t>
            </a:r>
          </a:p>
        </p:txBody>
      </p:sp>
      <p:sp>
        <p:nvSpPr>
          <p:cNvPr id="63" name="TextBox 62"/>
          <p:cNvSpPr txBox="1"/>
          <p:nvPr/>
        </p:nvSpPr>
        <p:spPr>
          <a:xfrm>
            <a:off x="7480300" y="7340600"/>
            <a:ext cx="37338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FP16 stride 128 = 256 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09 / 결과물</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명령과 메모리 계약을 함께 내보냅니다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NpuExecutable = words + plan + 선택된 IR + 입력 signature</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명령과 값은 별도 파일</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program_memory.bin은 명령 stream이고</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global_memory.bin은 입력·weight를 넣은 초기</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DRAM image입니다. Binary만으로 결과를 재현할</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수는 없습니다.</a:t>
            </a:r>
          </a:p>
        </p:txBody>
      </p:sp>
      <p:sp>
        <p:nvSpPr>
          <p:cNvPr id="17" name="Rounded Rectangle 16"/>
          <p:cNvSpPr/>
          <p:nvPr/>
        </p:nvSpPr>
        <p:spPr>
          <a:xfrm>
            <a:off x="11988800" y="4106672"/>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Plan은 서로의 연결 계약</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program.json은 주소·통계·선택 진단과 출력 tree의</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shape/dtype/offset을 담습니다. Runtime은 이</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정보를 따라 값을 넣고 결과를 읽습니다.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IR dump로 선택 이유를 추적</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lowered.py는 선택된 계산, scheduled 파일은 실제</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호출의 배치를 설명합니다. 작은 fused 예제는 실제</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 recipe에서 dump하여 선택 결과와</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연결했습니다.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재현에 필요한 묶음: 같은 명령 + 같은 plan + signature에 맞는 입력/weight + 같은 실행 계약. Words는 cycle 추정값이 아닙니다.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09_isa.md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33 / 54</a:t>
            </a:r>
          </a:p>
        </p:txBody>
      </p:sp>
      <p:sp>
        <p:nvSpPr>
          <p:cNvPr id="36" name="Rounded Rectangle 35"/>
          <p:cNvSpPr/>
          <p:nvPr/>
        </p:nvSpPr>
        <p:spPr>
          <a:xfrm>
            <a:off x="977900" y="2908300"/>
            <a:ext cx="4635500" cy="1549400"/>
          </a:xfrm>
          <a:prstGeom prst="roundRect">
            <a:avLst>
              <a:gd name="adj" fmla="val 6557"/>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55700" y="3086100"/>
            <a:ext cx="42799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program_memory.bin</a:t>
            </a:r>
          </a:p>
        </p:txBody>
      </p:sp>
      <p:sp>
        <p:nvSpPr>
          <p:cNvPr id="38" name="TextBox 37"/>
          <p:cNvSpPr txBox="1"/>
          <p:nvPr/>
        </p:nvSpPr>
        <p:spPr>
          <a:xfrm>
            <a:off x="1155700" y="356539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계산 순서와 주소가 인코딩된</a:t>
            </a:r>
          </a:p>
        </p:txBody>
      </p:sp>
      <p:sp>
        <p:nvSpPr>
          <p:cNvPr id="39" name="TextBox 38"/>
          <p:cNvSpPr txBox="1"/>
          <p:nvPr/>
        </p:nvSpPr>
        <p:spPr>
          <a:xfrm>
            <a:off x="1155700" y="382828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little-endian uint32 명령 stream</a:t>
            </a:r>
          </a:p>
        </p:txBody>
      </p:sp>
      <p:sp>
        <p:nvSpPr>
          <p:cNvPr id="40" name="Rounded Rectangle 39"/>
          <p:cNvSpPr/>
          <p:nvPr/>
        </p:nvSpPr>
        <p:spPr>
          <a:xfrm>
            <a:off x="6527800" y="2908300"/>
            <a:ext cx="4635500" cy="1549400"/>
          </a:xfrm>
          <a:prstGeom prst="roundRect">
            <a:avLst>
              <a:gd name="adj" fmla="val 6557"/>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05600" y="3086100"/>
            <a:ext cx="42799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global_memory.bin</a:t>
            </a:r>
          </a:p>
        </p:txBody>
      </p:sp>
      <p:sp>
        <p:nvSpPr>
          <p:cNvPr id="42" name="TextBox 41"/>
          <p:cNvSpPr txBox="1"/>
          <p:nvPr/>
        </p:nvSpPr>
        <p:spPr>
          <a:xfrm>
            <a:off x="6705600" y="356539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Plan에 맞춰 입력·parameter·상수를</a:t>
            </a:r>
          </a:p>
        </p:txBody>
      </p:sp>
      <p:sp>
        <p:nvSpPr>
          <p:cNvPr id="43" name="TextBox 42"/>
          <p:cNvSpPr txBox="1"/>
          <p:nvPr/>
        </p:nvSpPr>
        <p:spPr>
          <a:xfrm>
            <a:off x="6705600" y="382828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넣은 초기 DRAM image</a:t>
            </a:r>
          </a:p>
        </p:txBody>
      </p:sp>
      <p:sp>
        <p:nvSpPr>
          <p:cNvPr id="44" name="Rounded Rectangle 43"/>
          <p:cNvSpPr/>
          <p:nvPr/>
        </p:nvSpPr>
        <p:spPr>
          <a:xfrm>
            <a:off x="977900" y="5461000"/>
            <a:ext cx="4635500" cy="1943100"/>
          </a:xfrm>
          <a:prstGeom prst="roundRect">
            <a:avLst>
              <a:gd name="adj" fmla="val 5228"/>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55700" y="5638800"/>
            <a:ext cx="42799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IR dump</a:t>
            </a:r>
          </a:p>
        </p:txBody>
      </p:sp>
      <p:sp>
        <p:nvSpPr>
          <p:cNvPr id="46" name="TextBox 45"/>
          <p:cNvSpPr txBox="1"/>
          <p:nvPr/>
        </p:nvSpPr>
        <p:spPr>
          <a:xfrm>
            <a:off x="1155700" y="611809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lowered.py: 선택된 계산</a:t>
            </a:r>
          </a:p>
        </p:txBody>
      </p:sp>
      <p:sp>
        <p:nvSpPr>
          <p:cNvPr id="47" name="TextBox 46"/>
          <p:cNvSpPr txBox="1"/>
          <p:nvPr/>
        </p:nvSpPr>
        <p:spPr>
          <a:xfrm>
            <a:off x="1155700" y="638098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scheduled_*.py: 실제 tile/cache 배치</a:t>
            </a:r>
          </a:p>
        </p:txBody>
      </p:sp>
      <p:sp>
        <p:nvSpPr>
          <p:cNvPr id="48" name="TextBox 47"/>
          <p:cNvSpPr txBox="1"/>
          <p:nvPr/>
        </p:nvSpPr>
        <p:spPr>
          <a:xfrm>
            <a:off x="1155700" y="664387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결정이 코드에 어떻게 반영됐는지 확인</a:t>
            </a:r>
          </a:p>
        </p:txBody>
      </p:sp>
      <p:sp>
        <p:nvSpPr>
          <p:cNvPr id="49" name="Rounded Rectangle 48"/>
          <p:cNvSpPr/>
          <p:nvPr/>
        </p:nvSpPr>
        <p:spPr>
          <a:xfrm>
            <a:off x="6527800" y="5461000"/>
            <a:ext cx="4635500" cy="1943100"/>
          </a:xfrm>
          <a:prstGeom prst="roundRect">
            <a:avLst>
              <a:gd name="adj" fmla="val 522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05600" y="5638800"/>
            <a:ext cx="42799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program.json</a:t>
            </a:r>
          </a:p>
        </p:txBody>
      </p:sp>
      <p:sp>
        <p:nvSpPr>
          <p:cNvPr id="51" name="TextBox 50"/>
          <p:cNvSpPr txBox="1"/>
          <p:nvPr/>
        </p:nvSpPr>
        <p:spPr>
          <a:xfrm>
            <a:off x="6705600" y="611809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I/O 이름·shape·dtype·offset</a:t>
            </a:r>
          </a:p>
        </p:txBody>
      </p:sp>
      <p:sp>
        <p:nvSpPr>
          <p:cNvPr id="52" name="TextBox 51"/>
          <p:cNvSpPr txBox="1"/>
          <p:nvPr/>
        </p:nvSpPr>
        <p:spPr>
          <a:xfrm>
            <a:off x="6705600" y="638098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비용 / 선택 사유 / source hash</a:t>
            </a:r>
          </a:p>
        </p:txBody>
      </p:sp>
      <p:sp>
        <p:nvSpPr>
          <p:cNvPr id="53" name="TextBox 52"/>
          <p:cNvSpPr txBox="1"/>
          <p:nvPr/>
        </p:nvSpPr>
        <p:spPr>
          <a:xfrm>
            <a:off x="6705600" y="6643878"/>
            <a:ext cx="4279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Runtime이 결과를 읽는 계약</a:t>
            </a:r>
          </a:p>
        </p:txBody>
      </p:sp>
      <p:cxnSp>
        <p:nvCxnSpPr>
          <p:cNvPr id="54" name="Connector 53"/>
          <p:cNvCxnSpPr/>
          <p:nvPr/>
        </p:nvCxnSpPr>
        <p:spPr>
          <a:xfrm>
            <a:off x="3289300" y="4457700"/>
            <a:ext cx="0" cy="495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289300" y="4953000"/>
            <a:ext cx="55626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851900" y="4953000"/>
            <a:ext cx="0" cy="5080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57" name="Freeform 56"/>
          <p:cNvSpPr/>
          <p:nvPr/>
        </p:nvSpPr>
        <p:spPr>
          <a:xfrm>
            <a:off x="8801100" y="53594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8851900" y="4457700"/>
            <a:ext cx="0" cy="1003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8801100" y="53594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10 / Runtime</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Prefill 이후에는 새 token 하나씩 처리합니다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Host는 embedding·위치·mask를 준비하고 NPU가 28-layer 계산을 수행합니다.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Prefill이 첫 token을 예측</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Host가 prompt의 embedding·cos/sin·mask를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준비하면 NPU가 28 layers와 LM head를</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계산합니다. Logits의 greedy argmax는 host가</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고릅니다.</a:t>
            </a:r>
          </a:p>
        </p:txBody>
      </p:sp>
      <p:sp>
        <p:nvSpPr>
          <p:cNvPr id="17" name="Rounded Rectangle 16"/>
          <p:cNvSpPr/>
          <p:nvPr/>
        </p:nvSpPr>
        <p:spPr>
          <a:xfrm>
            <a:off x="11988800" y="4106672"/>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Decode 입력은 방금 예측한 token</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첫 예측 358을 position 7에 넣어 다음 token</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2846을 얻습니다. 다시 2846을 position 8에 넣어</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4560을 얻습니다.</a:t>
            </a:r>
          </a:p>
        </p:txBody>
      </p:sp>
      <p:sp>
        <p:nvSpPr>
          <p:cNvPr id="23" name="Rounded Rectangle 22"/>
          <p:cNvSpPr/>
          <p:nvPr/>
        </p:nvSpPr>
        <p:spPr>
          <a:xfrm>
            <a:off x="11988800" y="5802376"/>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예측과 cache 반영 시점이 다르다</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마지막 4560은 아직 NPU 입력으로 처리하지</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않았으므로 그 token의 K/V는 없습니다. 생성 3개에</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필요한 호출은 prefill 1회와 decode 2회입니다.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보존된 prompt “Hello, NPU compiler!”는 7 tokens이며, 생성 문자열은 “ I'm trying”입니다.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10_runtime_llama.md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34 / 54</a:t>
            </a:r>
          </a:p>
        </p:txBody>
      </p:sp>
      <p:sp>
        <p:nvSpPr>
          <p:cNvPr id="35" name="Rectangle 34"/>
          <p:cNvSpPr/>
          <p:nvPr/>
        </p:nvSpPr>
        <p:spPr>
          <a:xfrm>
            <a:off x="850900" y="28321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7900" y="2946400"/>
            <a:ext cx="1511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호출</a:t>
            </a:r>
          </a:p>
        </p:txBody>
      </p:sp>
      <p:sp>
        <p:nvSpPr>
          <p:cNvPr id="37" name="TextBox 36"/>
          <p:cNvSpPr txBox="1"/>
          <p:nvPr/>
        </p:nvSpPr>
        <p:spPr>
          <a:xfrm>
            <a:off x="2743200" y="2946400"/>
            <a:ext cx="3886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NPU에 넣은 token / position</a:t>
            </a:r>
          </a:p>
        </p:txBody>
      </p:sp>
      <p:sp>
        <p:nvSpPr>
          <p:cNvPr id="38" name="TextBox 37"/>
          <p:cNvSpPr txBox="1"/>
          <p:nvPr/>
        </p:nvSpPr>
        <p:spPr>
          <a:xfrm>
            <a:off x="6883400" y="2946400"/>
            <a:ext cx="18034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Cache 유효 길이</a:t>
            </a:r>
          </a:p>
        </p:txBody>
      </p:sp>
      <p:sp>
        <p:nvSpPr>
          <p:cNvPr id="39" name="TextBox 38"/>
          <p:cNvSpPr txBox="1"/>
          <p:nvPr/>
        </p:nvSpPr>
        <p:spPr>
          <a:xfrm>
            <a:off x="8940800" y="2946400"/>
            <a:ext cx="2273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예측 token</a:t>
            </a:r>
          </a:p>
        </p:txBody>
      </p:sp>
      <p:sp>
        <p:nvSpPr>
          <p:cNvPr id="40" name="Rectangle 39"/>
          <p:cNvSpPr/>
          <p:nvPr/>
        </p:nvSpPr>
        <p:spPr>
          <a:xfrm>
            <a:off x="850900" y="3289300"/>
            <a:ext cx="10490200" cy="9652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3403600"/>
            <a:ext cx="1511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Prefill</a:t>
            </a:r>
          </a:p>
        </p:txBody>
      </p:sp>
      <p:sp>
        <p:nvSpPr>
          <p:cNvPr id="42" name="TextBox 41"/>
          <p:cNvSpPr txBox="1"/>
          <p:nvPr/>
        </p:nvSpPr>
        <p:spPr>
          <a:xfrm>
            <a:off x="2743200" y="3403600"/>
            <a:ext cx="3886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Prompt 7 tokens</a:t>
            </a:r>
          </a:p>
        </p:txBody>
      </p:sp>
      <p:sp>
        <p:nvSpPr>
          <p:cNvPr id="43" name="TextBox 42"/>
          <p:cNvSpPr txBox="1"/>
          <p:nvPr/>
        </p:nvSpPr>
        <p:spPr>
          <a:xfrm>
            <a:off x="6883400" y="3403600"/>
            <a:ext cx="1803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7</a:t>
            </a:r>
          </a:p>
        </p:txBody>
      </p:sp>
      <p:sp>
        <p:nvSpPr>
          <p:cNvPr id="44" name="TextBox 43"/>
          <p:cNvSpPr txBox="1"/>
          <p:nvPr/>
        </p:nvSpPr>
        <p:spPr>
          <a:xfrm>
            <a:off x="8940800" y="3403600"/>
            <a:ext cx="2273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358 · “ I”</a:t>
            </a:r>
          </a:p>
        </p:txBody>
      </p:sp>
      <p:sp>
        <p:nvSpPr>
          <p:cNvPr id="45" name="Rectangle 44"/>
          <p:cNvSpPr/>
          <p:nvPr/>
        </p:nvSpPr>
        <p:spPr>
          <a:xfrm>
            <a:off x="850900" y="4254500"/>
            <a:ext cx="10490200" cy="9652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7900" y="4368800"/>
            <a:ext cx="1511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Decode 1</a:t>
            </a:r>
          </a:p>
        </p:txBody>
      </p:sp>
      <p:sp>
        <p:nvSpPr>
          <p:cNvPr id="47" name="TextBox 46"/>
          <p:cNvSpPr txBox="1"/>
          <p:nvPr/>
        </p:nvSpPr>
        <p:spPr>
          <a:xfrm>
            <a:off x="2743200" y="4368800"/>
            <a:ext cx="3886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358 / position 7</a:t>
            </a:r>
          </a:p>
        </p:txBody>
      </p:sp>
      <p:sp>
        <p:nvSpPr>
          <p:cNvPr id="48" name="TextBox 47"/>
          <p:cNvSpPr txBox="1"/>
          <p:nvPr/>
        </p:nvSpPr>
        <p:spPr>
          <a:xfrm>
            <a:off x="6883400" y="4368800"/>
            <a:ext cx="1803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8</a:t>
            </a:r>
          </a:p>
        </p:txBody>
      </p:sp>
      <p:sp>
        <p:nvSpPr>
          <p:cNvPr id="49" name="TextBox 48"/>
          <p:cNvSpPr txBox="1"/>
          <p:nvPr/>
        </p:nvSpPr>
        <p:spPr>
          <a:xfrm>
            <a:off x="8940800" y="4368800"/>
            <a:ext cx="2273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2846 · “'m”</a:t>
            </a:r>
          </a:p>
        </p:txBody>
      </p:sp>
      <p:sp>
        <p:nvSpPr>
          <p:cNvPr id="50" name="Rectangle 49"/>
          <p:cNvSpPr/>
          <p:nvPr/>
        </p:nvSpPr>
        <p:spPr>
          <a:xfrm>
            <a:off x="850900" y="5219700"/>
            <a:ext cx="10490200" cy="9652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5334000"/>
            <a:ext cx="1511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Decode 2</a:t>
            </a:r>
          </a:p>
        </p:txBody>
      </p:sp>
      <p:sp>
        <p:nvSpPr>
          <p:cNvPr id="52" name="TextBox 51"/>
          <p:cNvSpPr txBox="1"/>
          <p:nvPr/>
        </p:nvSpPr>
        <p:spPr>
          <a:xfrm>
            <a:off x="2743200" y="5334000"/>
            <a:ext cx="3886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2846 / position 8</a:t>
            </a:r>
          </a:p>
        </p:txBody>
      </p:sp>
      <p:sp>
        <p:nvSpPr>
          <p:cNvPr id="53" name="TextBox 52"/>
          <p:cNvSpPr txBox="1"/>
          <p:nvPr/>
        </p:nvSpPr>
        <p:spPr>
          <a:xfrm>
            <a:off x="6883400" y="5334000"/>
            <a:ext cx="1803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9</a:t>
            </a:r>
          </a:p>
        </p:txBody>
      </p:sp>
      <p:sp>
        <p:nvSpPr>
          <p:cNvPr id="54" name="TextBox 53"/>
          <p:cNvSpPr txBox="1"/>
          <p:nvPr/>
        </p:nvSpPr>
        <p:spPr>
          <a:xfrm>
            <a:off x="8940800" y="5334000"/>
            <a:ext cx="2273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4560 · “ trying”</a:t>
            </a:r>
          </a:p>
        </p:txBody>
      </p:sp>
      <p:sp>
        <p:nvSpPr>
          <p:cNvPr id="55" name="Rounded Rectangle 54"/>
          <p:cNvSpPr/>
          <p:nvPr/>
        </p:nvSpPr>
        <p:spPr>
          <a:xfrm>
            <a:off x="1016000" y="6578600"/>
            <a:ext cx="10160000" cy="1181100"/>
          </a:xfrm>
          <a:prstGeom prst="roundRect">
            <a:avLst>
              <a:gd name="adj" fmla="val 8602"/>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93800" y="6756400"/>
            <a:ext cx="98044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Host 준비 → NPU 28 layers → host argmax → 다음 입력</a:t>
            </a:r>
          </a:p>
        </p:txBody>
      </p:sp>
      <p:sp>
        <p:nvSpPr>
          <p:cNvPr id="57" name="TextBox 56"/>
          <p:cNvSpPr txBox="1"/>
          <p:nvPr/>
        </p:nvSpPr>
        <p:spPr>
          <a:xfrm>
            <a:off x="1193800" y="7200646"/>
            <a:ext cx="9804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마지막 예측 token 4560은 아직 입력으로 처리되지 않았으므로 그 K/V도 아직 없음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10 / 고정 shape</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Cache capacity와 현재 유효 길이는 다릅니다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예: capacity C=9, 기존 유효 token 수 L=7, 현재 decode token 1개</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C는 고정 shape, L은 현재 길이</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Decode attention은 기존 C개 cache 슬롯과 현재</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token 하나를 논리적으로 연결한 C+1 길이입니다.</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Step마다 L만 늘어도 계산 shape는 같습니다.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빈 슬롯은 mask로 기여를 막는다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C=9, L=7이면 0..6과 현재 위치 9는 유효하고 7,8은</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제외합니다. Mask는 기여를 막지만 해당 위치의 모든</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계산을 동적으로 생략하지는 않습니다.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저장할 위치는 첫 빈 슬롯 L</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 token은 이번 attention의 임시 위치 C에</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있지만 persistent cache에는 L=7에 기록합니다.</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다음 step은 L=8에 쓰며 같은 base 프로그램을</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재사용합니다.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C를 늘리면 재컴파일 없이 처리할 길이가 늘지만 빈 슬롯 계산도 늘 수 있습니다. 여러 capacity bucket은 이 교환 관계를 조절합니다.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10_runtime_llama.md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35 / 54</a:t>
            </a:r>
          </a:p>
        </p:txBody>
      </p:sp>
      <p:sp>
        <p:nvSpPr>
          <p:cNvPr id="35" name="TextBox 34"/>
          <p:cNvSpPr txBox="1"/>
          <p:nvPr/>
        </p:nvSpPr>
        <p:spPr>
          <a:xfrm>
            <a:off x="990600" y="2768600"/>
            <a:ext cx="102997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이번 attention의 입력: capacity 9 + 현재 token 1</a:t>
            </a:r>
          </a:p>
        </p:txBody>
      </p:sp>
      <p:sp>
        <p:nvSpPr>
          <p:cNvPr id="36" name="Rounded Rectangle 35"/>
          <p:cNvSpPr/>
          <p:nvPr/>
        </p:nvSpPr>
        <p:spPr>
          <a:xfrm>
            <a:off x="990600" y="3568700"/>
            <a:ext cx="927100" cy="1130300"/>
          </a:xfrm>
          <a:prstGeom prst="roundRect">
            <a:avLst>
              <a:gd name="adj" fmla="val 1095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684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0</a:t>
            </a:r>
          </a:p>
        </p:txBody>
      </p:sp>
      <p:sp>
        <p:nvSpPr>
          <p:cNvPr id="38" name="TextBox 37"/>
          <p:cNvSpPr txBox="1"/>
          <p:nvPr/>
        </p:nvSpPr>
        <p:spPr>
          <a:xfrm>
            <a:off x="11684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과거</a:t>
            </a:r>
          </a:p>
        </p:txBody>
      </p:sp>
      <p:sp>
        <p:nvSpPr>
          <p:cNvPr id="39" name="TextBox 38"/>
          <p:cNvSpPr txBox="1"/>
          <p:nvPr/>
        </p:nvSpPr>
        <p:spPr>
          <a:xfrm>
            <a:off x="10922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40" name="Rounded Rectangle 39"/>
          <p:cNvSpPr/>
          <p:nvPr/>
        </p:nvSpPr>
        <p:spPr>
          <a:xfrm>
            <a:off x="2019300" y="3568700"/>
            <a:ext cx="927100" cy="1130300"/>
          </a:xfrm>
          <a:prstGeom prst="roundRect">
            <a:avLst>
              <a:gd name="adj" fmla="val 1095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71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1</a:t>
            </a:r>
          </a:p>
        </p:txBody>
      </p:sp>
      <p:sp>
        <p:nvSpPr>
          <p:cNvPr id="42" name="TextBox 41"/>
          <p:cNvSpPr txBox="1"/>
          <p:nvPr/>
        </p:nvSpPr>
        <p:spPr>
          <a:xfrm>
            <a:off x="21971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과거</a:t>
            </a:r>
          </a:p>
        </p:txBody>
      </p:sp>
      <p:sp>
        <p:nvSpPr>
          <p:cNvPr id="43" name="TextBox 42"/>
          <p:cNvSpPr txBox="1"/>
          <p:nvPr/>
        </p:nvSpPr>
        <p:spPr>
          <a:xfrm>
            <a:off x="21209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44" name="Rounded Rectangle 43"/>
          <p:cNvSpPr/>
          <p:nvPr/>
        </p:nvSpPr>
        <p:spPr>
          <a:xfrm>
            <a:off x="3048000" y="3568700"/>
            <a:ext cx="927100" cy="1130300"/>
          </a:xfrm>
          <a:prstGeom prst="roundRect">
            <a:avLst>
              <a:gd name="adj" fmla="val 1095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8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2</a:t>
            </a:r>
          </a:p>
        </p:txBody>
      </p:sp>
      <p:sp>
        <p:nvSpPr>
          <p:cNvPr id="46" name="TextBox 45"/>
          <p:cNvSpPr txBox="1"/>
          <p:nvPr/>
        </p:nvSpPr>
        <p:spPr>
          <a:xfrm>
            <a:off x="32258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과거</a:t>
            </a:r>
          </a:p>
        </p:txBody>
      </p:sp>
      <p:sp>
        <p:nvSpPr>
          <p:cNvPr id="47" name="TextBox 46"/>
          <p:cNvSpPr txBox="1"/>
          <p:nvPr/>
        </p:nvSpPr>
        <p:spPr>
          <a:xfrm>
            <a:off x="31496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48" name="Rounded Rectangle 47"/>
          <p:cNvSpPr/>
          <p:nvPr/>
        </p:nvSpPr>
        <p:spPr>
          <a:xfrm>
            <a:off x="4076700" y="3568700"/>
            <a:ext cx="927100" cy="1130300"/>
          </a:xfrm>
          <a:prstGeom prst="roundRect">
            <a:avLst>
              <a:gd name="adj" fmla="val 1095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545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3</a:t>
            </a:r>
          </a:p>
        </p:txBody>
      </p:sp>
      <p:sp>
        <p:nvSpPr>
          <p:cNvPr id="50" name="TextBox 49"/>
          <p:cNvSpPr txBox="1"/>
          <p:nvPr/>
        </p:nvSpPr>
        <p:spPr>
          <a:xfrm>
            <a:off x="42545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과거</a:t>
            </a:r>
          </a:p>
        </p:txBody>
      </p:sp>
      <p:sp>
        <p:nvSpPr>
          <p:cNvPr id="51" name="TextBox 50"/>
          <p:cNvSpPr txBox="1"/>
          <p:nvPr/>
        </p:nvSpPr>
        <p:spPr>
          <a:xfrm>
            <a:off x="41783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52" name="Rounded Rectangle 51"/>
          <p:cNvSpPr/>
          <p:nvPr/>
        </p:nvSpPr>
        <p:spPr>
          <a:xfrm>
            <a:off x="5105400" y="3568700"/>
            <a:ext cx="927100" cy="1130300"/>
          </a:xfrm>
          <a:prstGeom prst="roundRect">
            <a:avLst>
              <a:gd name="adj" fmla="val 1095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2832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4</a:t>
            </a:r>
          </a:p>
        </p:txBody>
      </p:sp>
      <p:sp>
        <p:nvSpPr>
          <p:cNvPr id="54" name="TextBox 53"/>
          <p:cNvSpPr txBox="1"/>
          <p:nvPr/>
        </p:nvSpPr>
        <p:spPr>
          <a:xfrm>
            <a:off x="52832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과거</a:t>
            </a:r>
          </a:p>
        </p:txBody>
      </p:sp>
      <p:sp>
        <p:nvSpPr>
          <p:cNvPr id="55" name="TextBox 54"/>
          <p:cNvSpPr txBox="1"/>
          <p:nvPr/>
        </p:nvSpPr>
        <p:spPr>
          <a:xfrm>
            <a:off x="52070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56" name="Rounded Rectangle 55"/>
          <p:cNvSpPr/>
          <p:nvPr/>
        </p:nvSpPr>
        <p:spPr>
          <a:xfrm>
            <a:off x="6134100" y="3568700"/>
            <a:ext cx="927100" cy="1130300"/>
          </a:xfrm>
          <a:prstGeom prst="roundRect">
            <a:avLst>
              <a:gd name="adj" fmla="val 1095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119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5</a:t>
            </a:r>
          </a:p>
        </p:txBody>
      </p:sp>
      <p:sp>
        <p:nvSpPr>
          <p:cNvPr id="58" name="TextBox 57"/>
          <p:cNvSpPr txBox="1"/>
          <p:nvPr/>
        </p:nvSpPr>
        <p:spPr>
          <a:xfrm>
            <a:off x="63119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과거</a:t>
            </a:r>
          </a:p>
        </p:txBody>
      </p:sp>
      <p:sp>
        <p:nvSpPr>
          <p:cNvPr id="59" name="TextBox 58"/>
          <p:cNvSpPr txBox="1"/>
          <p:nvPr/>
        </p:nvSpPr>
        <p:spPr>
          <a:xfrm>
            <a:off x="62357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60" name="Rounded Rectangle 59"/>
          <p:cNvSpPr/>
          <p:nvPr/>
        </p:nvSpPr>
        <p:spPr>
          <a:xfrm>
            <a:off x="7162800" y="3568700"/>
            <a:ext cx="927100" cy="1130300"/>
          </a:xfrm>
          <a:prstGeom prst="roundRect">
            <a:avLst>
              <a:gd name="adj" fmla="val 1095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406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6</a:t>
            </a:r>
          </a:p>
        </p:txBody>
      </p:sp>
      <p:sp>
        <p:nvSpPr>
          <p:cNvPr id="62" name="TextBox 61"/>
          <p:cNvSpPr txBox="1"/>
          <p:nvPr/>
        </p:nvSpPr>
        <p:spPr>
          <a:xfrm>
            <a:off x="73406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과거</a:t>
            </a:r>
          </a:p>
        </p:txBody>
      </p:sp>
      <p:sp>
        <p:nvSpPr>
          <p:cNvPr id="63" name="TextBox 62"/>
          <p:cNvSpPr txBox="1"/>
          <p:nvPr/>
        </p:nvSpPr>
        <p:spPr>
          <a:xfrm>
            <a:off x="72644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64" name="Rounded Rectangle 63"/>
          <p:cNvSpPr/>
          <p:nvPr/>
        </p:nvSpPr>
        <p:spPr>
          <a:xfrm>
            <a:off x="8191500" y="3568700"/>
            <a:ext cx="927100" cy="1130300"/>
          </a:xfrm>
          <a:prstGeom prst="roundRect">
            <a:avLst>
              <a:gd name="adj" fmla="val 1095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693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7</a:t>
            </a:r>
          </a:p>
        </p:txBody>
      </p:sp>
      <p:sp>
        <p:nvSpPr>
          <p:cNvPr id="66" name="TextBox 65"/>
          <p:cNvSpPr txBox="1"/>
          <p:nvPr/>
        </p:nvSpPr>
        <p:spPr>
          <a:xfrm>
            <a:off x="83693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빈칸</a:t>
            </a:r>
          </a:p>
        </p:txBody>
      </p:sp>
      <p:sp>
        <p:nvSpPr>
          <p:cNvPr id="67" name="TextBox 66"/>
          <p:cNvSpPr txBox="1"/>
          <p:nvPr/>
        </p:nvSpPr>
        <p:spPr>
          <a:xfrm>
            <a:off x="82931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BE5146"/>
                </a:solidFill>
                <a:latin typeface="NanumGothic"/>
                <a:ea typeface="NanumGothic"/>
                <a:cs typeface="NanumGothic"/>
              </a:rPr>
              <a:t>제외</a:t>
            </a:r>
          </a:p>
        </p:txBody>
      </p:sp>
      <p:sp>
        <p:nvSpPr>
          <p:cNvPr id="68" name="Rounded Rectangle 67"/>
          <p:cNvSpPr/>
          <p:nvPr/>
        </p:nvSpPr>
        <p:spPr>
          <a:xfrm>
            <a:off x="9220200" y="3568700"/>
            <a:ext cx="927100" cy="1130300"/>
          </a:xfrm>
          <a:prstGeom prst="roundRect">
            <a:avLst>
              <a:gd name="adj" fmla="val 1095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980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8</a:t>
            </a:r>
          </a:p>
        </p:txBody>
      </p:sp>
      <p:sp>
        <p:nvSpPr>
          <p:cNvPr id="70" name="TextBox 69"/>
          <p:cNvSpPr txBox="1"/>
          <p:nvPr/>
        </p:nvSpPr>
        <p:spPr>
          <a:xfrm>
            <a:off x="93980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빈칸</a:t>
            </a:r>
          </a:p>
        </p:txBody>
      </p:sp>
      <p:sp>
        <p:nvSpPr>
          <p:cNvPr id="71" name="TextBox 70"/>
          <p:cNvSpPr txBox="1"/>
          <p:nvPr/>
        </p:nvSpPr>
        <p:spPr>
          <a:xfrm>
            <a:off x="93218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BE5146"/>
                </a:solidFill>
                <a:latin typeface="NanumGothic"/>
                <a:ea typeface="NanumGothic"/>
                <a:cs typeface="NanumGothic"/>
              </a:rPr>
              <a:t>제외</a:t>
            </a:r>
          </a:p>
        </p:txBody>
      </p:sp>
      <p:sp>
        <p:nvSpPr>
          <p:cNvPr id="72" name="Rounded Rectangle 71"/>
          <p:cNvSpPr/>
          <p:nvPr/>
        </p:nvSpPr>
        <p:spPr>
          <a:xfrm>
            <a:off x="10248900" y="3568700"/>
            <a:ext cx="927100" cy="1130300"/>
          </a:xfrm>
          <a:prstGeom prst="roundRect">
            <a:avLst>
              <a:gd name="adj" fmla="val 10958"/>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426700" y="3746500"/>
            <a:ext cx="5715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9</a:t>
            </a:r>
          </a:p>
        </p:txBody>
      </p:sp>
      <p:sp>
        <p:nvSpPr>
          <p:cNvPr id="74" name="TextBox 73"/>
          <p:cNvSpPr txBox="1"/>
          <p:nvPr/>
        </p:nvSpPr>
        <p:spPr>
          <a:xfrm>
            <a:off x="10426700" y="4225798"/>
            <a:ext cx="571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현재</a:t>
            </a:r>
          </a:p>
        </p:txBody>
      </p:sp>
      <p:sp>
        <p:nvSpPr>
          <p:cNvPr id="75" name="TextBox 74"/>
          <p:cNvSpPr txBox="1"/>
          <p:nvPr/>
        </p:nvSpPr>
        <p:spPr>
          <a:xfrm>
            <a:off x="10350500" y="4991100"/>
            <a:ext cx="7747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008A82"/>
                </a:solidFill>
                <a:latin typeface="NanumGothic"/>
                <a:ea typeface="NanumGothic"/>
                <a:cs typeface="NanumGothic"/>
              </a:rPr>
              <a:t>유효</a:t>
            </a:r>
          </a:p>
        </p:txBody>
      </p:sp>
      <p:sp>
        <p:nvSpPr>
          <p:cNvPr id="76" name="Rounded Rectangle 75"/>
          <p:cNvSpPr/>
          <p:nvPr/>
        </p:nvSpPr>
        <p:spPr>
          <a:xfrm>
            <a:off x="990600" y="6184900"/>
            <a:ext cx="10160000" cy="1257300"/>
          </a:xfrm>
          <a:prstGeom prst="roundRect">
            <a:avLst>
              <a:gd name="adj" fmla="val 808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68400" y="6362700"/>
            <a:ext cx="98044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Persistent cache에 기록: 첫 빈 슬롯 L=7</a:t>
            </a:r>
          </a:p>
        </p:txBody>
      </p:sp>
      <p:sp>
        <p:nvSpPr>
          <p:cNvPr id="78" name="TextBox 77"/>
          <p:cNvSpPr txBox="1"/>
          <p:nvPr/>
        </p:nvSpPr>
        <p:spPr>
          <a:xfrm>
            <a:off x="1168400" y="6806946"/>
            <a:ext cx="98044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Attention에서 현재 token의 임시 위치는 C=9, 보존할 최종 위치는 L=7</a:t>
            </a:r>
          </a:p>
        </p:txBody>
      </p:sp>
      <p:cxnSp>
        <p:nvCxnSpPr>
          <p:cNvPr id="79" name="Connector 78"/>
          <p:cNvCxnSpPr/>
          <p:nvPr/>
        </p:nvCxnSpPr>
        <p:spPr>
          <a:xfrm>
            <a:off x="10731500" y="4749800"/>
            <a:ext cx="0" cy="914400"/>
          </a:xfrm>
          <a:prstGeom prst="line">
            <a:avLst/>
          </a:prstGeom>
          <a:ln w="25400">
            <a:solidFill>
              <a:srgbClr val="7655B7"/>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8712200" y="5664200"/>
            <a:ext cx="2019300" cy="0"/>
          </a:xfrm>
          <a:prstGeom prst="line">
            <a:avLst/>
          </a:prstGeom>
          <a:ln w="25400">
            <a:solidFill>
              <a:srgbClr val="7655B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712200" y="5664200"/>
            <a:ext cx="0" cy="520700"/>
          </a:xfrm>
          <a:prstGeom prst="line">
            <a:avLst/>
          </a:prstGeom>
          <a:ln w="25400">
            <a:solidFill>
              <a:srgbClr val="7655B7"/>
            </a:solidFill>
          </a:ln>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8661400" y="6083300"/>
            <a:ext cx="101600" cy="101600"/>
          </a:xfrm>
          <a:custGeom>
            <a:avLst/>
            <a:gdLst/>
            <a:ahLst/>
            <a:cxnLst/>
            <a:rect l="l" t="t" r="r" b="b"/>
            <a:pathLst>
              <a:path w="8" h="8">
                <a:moveTo>
                  <a:pt x="4" y="8"/>
                </a:moveTo>
                <a:lnTo>
                  <a:pt x="0" y="0"/>
                </a:lnTo>
                <a:lnTo>
                  <a:pt x="8" y="0"/>
                </a:lnTo>
                <a:close/>
              </a:path>
            </a:pathLst>
          </a:cu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03300" y="7708900"/>
            <a:ext cx="10274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576980"/>
                </a:solidFill>
                <a:latin typeface="NanumGothic"/>
                <a:ea typeface="NanumGothic"/>
                <a:cs typeface="NanumGothic"/>
              </a:rPr>
              <a:t>Mask는 7,8번의 기여를 막음 / 고정 shape의 연산량이 자동으로 줄지는 않음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10 / KV append</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새 K/V의 실제 이동은 NPU DMA가 수행합니다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기본 decode session은 별도 DRAM 출력 뒤에 append 명령을 붙입니다.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새 K/V는 별도 출력으로 생긴다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기본 DecodeSession에서 NPU 계산은 새 K/V를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별도 DRAM output에 씁니다. 처음부터 persistent</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cache의 최종 슬롯에 직접 쓰는 경로는 아직</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없습니다.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Host가 주소를 정하고 NPU가 이동</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Host는 position에 맞춰 append tail의 주소를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patch합니다. 실제 데이터 전송은 program 끝에</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붙인 NPU DMA가 수행합니다. 매 step CPU</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복사로만 처리하는 방식은 아닙니다.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전송량의 층을 분리해서 본다</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기록의 입력 patch는 6676 B, 새 K/V는 114688 B,</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append DMA는 458752 B입니다. C-model은</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호출마다 전체 image 파일을 읽고 쓰므로 그 I/O도</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별도입니다.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Prefill→capacity cache 초기화는 host 복사입니다. 이후 decode의 persistent DRAM 상태와 호출 간 SRAM 유지 여부는 다른 계약입니다.</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10_runtime_llama.md</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36 / 54</a:t>
            </a:r>
          </a:p>
        </p:txBody>
      </p:sp>
      <p:sp>
        <p:nvSpPr>
          <p:cNvPr id="37" name="Rounded Rectangle 36"/>
          <p:cNvSpPr/>
          <p:nvPr/>
        </p:nvSpPr>
        <p:spPr>
          <a:xfrm>
            <a:off x="889000" y="2921000"/>
            <a:ext cx="3136900" cy="1943100"/>
          </a:xfrm>
          <a:prstGeom prst="roundRect">
            <a:avLst>
              <a:gd name="adj" fmla="val 5228"/>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66800" y="30988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새 K/V 계산 결과</a:t>
            </a:r>
          </a:p>
        </p:txBody>
      </p:sp>
      <p:sp>
        <p:nvSpPr>
          <p:cNvPr id="39" name="TextBox 38"/>
          <p:cNvSpPr txBox="1"/>
          <p:nvPr/>
        </p:nvSpPr>
        <p:spPr>
          <a:xfrm>
            <a:off x="1066800" y="35255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별도 DRAM 출력</a:t>
            </a:r>
          </a:p>
        </p:txBody>
      </p:sp>
      <p:sp>
        <p:nvSpPr>
          <p:cNvPr id="40" name="TextBox 39"/>
          <p:cNvSpPr txBox="1"/>
          <p:nvPr/>
        </p:nvSpPr>
        <p:spPr>
          <a:xfrm>
            <a:off x="1066800" y="37884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K/V 합계 114688 B</a:t>
            </a:r>
          </a:p>
        </p:txBody>
      </p:sp>
      <p:sp>
        <p:nvSpPr>
          <p:cNvPr id="41" name="Rounded Rectangle 40"/>
          <p:cNvSpPr/>
          <p:nvPr/>
        </p:nvSpPr>
        <p:spPr>
          <a:xfrm>
            <a:off x="4559300" y="2921000"/>
            <a:ext cx="3136900" cy="1943100"/>
          </a:xfrm>
          <a:prstGeom prst="roundRect">
            <a:avLst>
              <a:gd name="adj" fmla="val 5228"/>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37100" y="30988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NPU DMA append</a:t>
            </a:r>
          </a:p>
        </p:txBody>
      </p:sp>
      <p:sp>
        <p:nvSpPr>
          <p:cNvPr id="43" name="TextBox 42"/>
          <p:cNvSpPr txBox="1"/>
          <p:nvPr/>
        </p:nvSpPr>
        <p:spPr>
          <a:xfrm>
            <a:off x="4737100" y="35255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Host가 position 주소 patch</a:t>
            </a:r>
          </a:p>
        </p:txBody>
      </p:sp>
      <p:sp>
        <p:nvSpPr>
          <p:cNvPr id="44" name="TextBox 43"/>
          <p:cNvSpPr txBox="1"/>
          <p:nvPr/>
        </p:nvSpPr>
        <p:spPr>
          <a:xfrm>
            <a:off x="4737100" y="37884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기록된 DMA 458752 B</a:t>
            </a:r>
          </a:p>
        </p:txBody>
      </p:sp>
      <p:cxnSp>
        <p:nvCxnSpPr>
          <p:cNvPr id="45" name="Connector 44"/>
          <p:cNvCxnSpPr/>
          <p:nvPr/>
        </p:nvCxnSpPr>
        <p:spPr>
          <a:xfrm>
            <a:off x="4076700" y="38925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4368800" y="3835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229600" y="2921000"/>
            <a:ext cx="3136900" cy="1943100"/>
          </a:xfrm>
          <a:prstGeom prst="roundRect">
            <a:avLst>
              <a:gd name="adj" fmla="val 5228"/>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7400" y="30988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Persistent cache</a:t>
            </a:r>
          </a:p>
        </p:txBody>
      </p:sp>
      <p:sp>
        <p:nvSpPr>
          <p:cNvPr id="49" name="TextBox 48"/>
          <p:cNvSpPr txBox="1"/>
          <p:nvPr/>
        </p:nvSpPr>
        <p:spPr>
          <a:xfrm>
            <a:off x="8407400" y="35255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Layer·head별 슬롯 L</a:t>
            </a:r>
          </a:p>
        </p:txBody>
      </p:sp>
      <p:sp>
        <p:nvSpPr>
          <p:cNvPr id="50" name="TextBox 49"/>
          <p:cNvSpPr txBox="1"/>
          <p:nvPr/>
        </p:nvSpPr>
        <p:spPr>
          <a:xfrm>
            <a:off x="8407400" y="37884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다음 decode 호출에 사용</a:t>
            </a:r>
          </a:p>
        </p:txBody>
      </p:sp>
      <p:cxnSp>
        <p:nvCxnSpPr>
          <p:cNvPr id="51" name="Connector 50"/>
          <p:cNvCxnSpPr/>
          <p:nvPr/>
        </p:nvCxnSpPr>
        <p:spPr>
          <a:xfrm>
            <a:off x="7747000" y="38925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8039100" y="38354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0900" y="55245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7900" y="5638800"/>
            <a:ext cx="15875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층</a:t>
            </a:r>
          </a:p>
        </p:txBody>
      </p:sp>
      <p:sp>
        <p:nvSpPr>
          <p:cNvPr id="55" name="TextBox 54"/>
          <p:cNvSpPr txBox="1"/>
          <p:nvPr/>
        </p:nvSpPr>
        <p:spPr>
          <a:xfrm>
            <a:off x="2819400" y="5638800"/>
            <a:ext cx="42545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기록된 동작</a:t>
            </a:r>
          </a:p>
        </p:txBody>
      </p:sp>
      <p:sp>
        <p:nvSpPr>
          <p:cNvPr id="56" name="TextBox 55"/>
          <p:cNvSpPr txBox="1"/>
          <p:nvPr/>
        </p:nvSpPr>
        <p:spPr>
          <a:xfrm>
            <a:off x="7327900" y="5638800"/>
            <a:ext cx="3886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섞어 세면 안 되는 이유</a:t>
            </a:r>
          </a:p>
        </p:txBody>
      </p:sp>
      <p:sp>
        <p:nvSpPr>
          <p:cNvPr id="57" name="Rectangle 56"/>
          <p:cNvSpPr/>
          <p:nvPr/>
        </p:nvSpPr>
        <p:spPr>
          <a:xfrm>
            <a:off x="850900" y="5981700"/>
            <a:ext cx="10490200" cy="698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900" y="6096000"/>
            <a:ext cx="1587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Host patch</a:t>
            </a:r>
          </a:p>
        </p:txBody>
      </p:sp>
      <p:sp>
        <p:nvSpPr>
          <p:cNvPr id="59" name="TextBox 58"/>
          <p:cNvSpPr txBox="1"/>
          <p:nvPr/>
        </p:nvSpPr>
        <p:spPr>
          <a:xfrm>
            <a:off x="2819400" y="6096000"/>
            <a:ext cx="4254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작은 입력 6676 B / suffix 갱신</a:t>
            </a:r>
          </a:p>
        </p:txBody>
      </p:sp>
      <p:sp>
        <p:nvSpPr>
          <p:cNvPr id="60" name="TextBox 59"/>
          <p:cNvSpPr txBox="1"/>
          <p:nvPr/>
        </p:nvSpPr>
        <p:spPr>
          <a:xfrm>
            <a:off x="7327900" y="6096000"/>
            <a:ext cx="38862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Weight rewrite 절감과 관련</a:t>
            </a:r>
          </a:p>
        </p:txBody>
      </p:sp>
      <p:sp>
        <p:nvSpPr>
          <p:cNvPr id="61" name="Rectangle 60"/>
          <p:cNvSpPr/>
          <p:nvPr/>
        </p:nvSpPr>
        <p:spPr>
          <a:xfrm>
            <a:off x="850900" y="6680200"/>
            <a:ext cx="10490200" cy="6985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7900" y="6794500"/>
            <a:ext cx="1587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NPU DMA</a:t>
            </a:r>
          </a:p>
        </p:txBody>
      </p:sp>
      <p:sp>
        <p:nvSpPr>
          <p:cNvPr id="63" name="TextBox 62"/>
          <p:cNvSpPr txBox="1"/>
          <p:nvPr/>
        </p:nvSpPr>
        <p:spPr>
          <a:xfrm>
            <a:off x="2819400" y="6794500"/>
            <a:ext cx="4254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위치·layout에 따른 cache 이동</a:t>
            </a:r>
          </a:p>
        </p:txBody>
      </p:sp>
      <p:sp>
        <p:nvSpPr>
          <p:cNvPr id="64" name="TextBox 63"/>
          <p:cNvSpPr txBox="1"/>
          <p:nvPr/>
        </p:nvSpPr>
        <p:spPr>
          <a:xfrm>
            <a:off x="7327900" y="6794500"/>
            <a:ext cx="38862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실제 명령의 DRAM 전송</a:t>
            </a:r>
          </a:p>
        </p:txBody>
      </p:sp>
      <p:sp>
        <p:nvSpPr>
          <p:cNvPr id="65" name="Rectangle 64"/>
          <p:cNvSpPr/>
          <p:nvPr/>
        </p:nvSpPr>
        <p:spPr>
          <a:xfrm>
            <a:off x="850900" y="7378700"/>
            <a:ext cx="10490200" cy="698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7900" y="7493000"/>
            <a:ext cx="1587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Simulator I/O</a:t>
            </a:r>
          </a:p>
        </p:txBody>
      </p:sp>
      <p:sp>
        <p:nvSpPr>
          <p:cNvPr id="67" name="TextBox 66"/>
          <p:cNvSpPr txBox="1"/>
          <p:nvPr/>
        </p:nvSpPr>
        <p:spPr>
          <a:xfrm>
            <a:off x="2819400" y="7493000"/>
            <a:ext cx="42545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매 호출 전체 image 파일 read/write</a:t>
            </a:r>
          </a:p>
        </p:txBody>
      </p:sp>
      <p:sp>
        <p:nvSpPr>
          <p:cNvPr id="68" name="TextBox 67"/>
          <p:cNvSpPr txBox="1"/>
          <p:nvPr/>
        </p:nvSpPr>
        <p:spPr>
          <a:xfrm>
            <a:off x="7327900" y="7493000"/>
            <a:ext cx="38862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C-model transport 비용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10 / 재사용과 예산</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반복 layer의 판단을 재사용해 compile 작업을 줄입니다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실행에는 28개 layer가 모두 포함됩니다. 같은 판단을 반복하지 않도록 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같은 구조의 결정은 다시 쓰기</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IR 구조와 profile·메모리 조건이 같을 때</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schedule·영역·entry 비용을 cache합니다. Shape만</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같다고 서로 다른 계산을 하나로 취급하지 않습니다.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주소와 실행은 layer마다 필요</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28개 layer의 weight와 값 수명은 다릅니다. 최종</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entry stream에는 모든 layer의 필요한 계산이</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포함되며 compile 판단을 재사용해 실행을 생략하는</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것은 아닙니다.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120초는 추가 탐색의 예산</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120초는 첫 합법 모듈 이후의 기본 추가 탐색</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시간입니다. None이면 해제됩니다. Schedule 후보</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수는 별도 한도이며 이번 256-token 실험은 16개</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성공 목표·128회 시도입니다.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실패 후보의 중복 검사를 피하고 시도 한도를 둡니다. 작업 경계에서 시간을 확인하므로 긴 TVM 작업 하나만큼 예산을 넘길 수 있습니다.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05_fusion.md, 10_runtime_llama.md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37 / 54</a:t>
            </a:r>
          </a:p>
        </p:txBody>
      </p:sp>
      <p:sp>
        <p:nvSpPr>
          <p:cNvPr id="36" name="Rounded Rectangle 35"/>
          <p:cNvSpPr/>
          <p:nvPr/>
        </p:nvSpPr>
        <p:spPr>
          <a:xfrm>
            <a:off x="939800" y="2781300"/>
            <a:ext cx="10223500" cy="1333500"/>
          </a:xfrm>
          <a:prstGeom prst="roundRect">
            <a:avLst>
              <a:gd name="adj" fmla="val 7619"/>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17600" y="2959100"/>
            <a:ext cx="98679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구조·profile·메모리 조건이 같은가?</a:t>
            </a:r>
          </a:p>
        </p:txBody>
      </p:sp>
      <p:sp>
        <p:nvSpPr>
          <p:cNvPr id="38" name="TextBox 37"/>
          <p:cNvSpPr txBox="1"/>
          <p:nvPr/>
        </p:nvSpPr>
        <p:spPr>
          <a:xfrm>
            <a:off x="1117600" y="3420872"/>
            <a:ext cx="98679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Structural hash + equality + 조건 확인 → schedule / 영역 / entry 비용 cache</a:t>
            </a:r>
          </a:p>
        </p:txBody>
      </p:sp>
      <p:sp>
        <p:nvSpPr>
          <p:cNvPr id="39" name="Rounded Rectangle 38"/>
          <p:cNvSpPr/>
          <p:nvPr/>
        </p:nvSpPr>
        <p:spPr>
          <a:xfrm>
            <a:off x="965200" y="4826000"/>
            <a:ext cx="2336800" cy="1270000"/>
          </a:xfrm>
          <a:prstGeom prst="roundRect">
            <a:avLst>
              <a:gd name="adj" fmla="val 8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5003800"/>
            <a:ext cx="19812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Layer 1</a:t>
            </a:r>
          </a:p>
        </p:txBody>
      </p:sp>
      <p:sp>
        <p:nvSpPr>
          <p:cNvPr id="41" name="TextBox 40"/>
          <p:cNvSpPr txBox="1"/>
          <p:nvPr/>
        </p:nvSpPr>
        <p:spPr>
          <a:xfrm>
            <a:off x="1143000" y="546557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다른 weight 주소</a:t>
            </a:r>
          </a:p>
        </p:txBody>
      </p:sp>
      <p:sp>
        <p:nvSpPr>
          <p:cNvPr id="42" name="TextBox 41"/>
          <p:cNvSpPr txBox="1"/>
          <p:nvPr/>
        </p:nvSpPr>
        <p:spPr>
          <a:xfrm>
            <a:off x="1143000" y="572846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모든 계산 실행</a:t>
            </a:r>
          </a:p>
        </p:txBody>
      </p:sp>
      <p:sp>
        <p:nvSpPr>
          <p:cNvPr id="43" name="Rounded Rectangle 42"/>
          <p:cNvSpPr/>
          <p:nvPr/>
        </p:nvSpPr>
        <p:spPr>
          <a:xfrm>
            <a:off x="3568700" y="4826000"/>
            <a:ext cx="2336800" cy="1270000"/>
          </a:xfrm>
          <a:prstGeom prst="roundRect">
            <a:avLst>
              <a:gd name="adj" fmla="val 8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746500" y="5003800"/>
            <a:ext cx="19812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Layer 2</a:t>
            </a:r>
          </a:p>
        </p:txBody>
      </p:sp>
      <p:sp>
        <p:nvSpPr>
          <p:cNvPr id="45" name="TextBox 44"/>
          <p:cNvSpPr txBox="1"/>
          <p:nvPr/>
        </p:nvSpPr>
        <p:spPr>
          <a:xfrm>
            <a:off x="3746500" y="546557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다른 weight 주소</a:t>
            </a:r>
          </a:p>
        </p:txBody>
      </p:sp>
      <p:sp>
        <p:nvSpPr>
          <p:cNvPr id="46" name="TextBox 45"/>
          <p:cNvSpPr txBox="1"/>
          <p:nvPr/>
        </p:nvSpPr>
        <p:spPr>
          <a:xfrm>
            <a:off x="3746500" y="572846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모든 계산 실행</a:t>
            </a:r>
          </a:p>
        </p:txBody>
      </p:sp>
      <p:sp>
        <p:nvSpPr>
          <p:cNvPr id="47" name="Rounded Rectangle 46"/>
          <p:cNvSpPr/>
          <p:nvPr/>
        </p:nvSpPr>
        <p:spPr>
          <a:xfrm>
            <a:off x="6172200" y="4826000"/>
            <a:ext cx="2336800" cy="1270000"/>
          </a:xfrm>
          <a:prstGeom prst="roundRect">
            <a:avLst>
              <a:gd name="adj" fmla="val 8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50000" y="5003800"/>
            <a:ext cx="19812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Layer 3</a:t>
            </a:r>
          </a:p>
        </p:txBody>
      </p:sp>
      <p:sp>
        <p:nvSpPr>
          <p:cNvPr id="49" name="TextBox 48"/>
          <p:cNvSpPr txBox="1"/>
          <p:nvPr/>
        </p:nvSpPr>
        <p:spPr>
          <a:xfrm>
            <a:off x="6350000" y="546557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다른 weight 주소</a:t>
            </a:r>
          </a:p>
        </p:txBody>
      </p:sp>
      <p:sp>
        <p:nvSpPr>
          <p:cNvPr id="50" name="TextBox 49"/>
          <p:cNvSpPr txBox="1"/>
          <p:nvPr/>
        </p:nvSpPr>
        <p:spPr>
          <a:xfrm>
            <a:off x="6350000" y="572846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모든 계산 실행</a:t>
            </a:r>
          </a:p>
        </p:txBody>
      </p:sp>
      <p:sp>
        <p:nvSpPr>
          <p:cNvPr id="51" name="Rounded Rectangle 50"/>
          <p:cNvSpPr/>
          <p:nvPr/>
        </p:nvSpPr>
        <p:spPr>
          <a:xfrm>
            <a:off x="8775700" y="4826000"/>
            <a:ext cx="2336800" cy="1270000"/>
          </a:xfrm>
          <a:prstGeom prst="roundRect">
            <a:avLst>
              <a:gd name="adj" fmla="val 8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53500" y="5003800"/>
            <a:ext cx="19812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 Layer 28</a:t>
            </a:r>
          </a:p>
        </p:txBody>
      </p:sp>
      <p:sp>
        <p:nvSpPr>
          <p:cNvPr id="53" name="TextBox 52"/>
          <p:cNvSpPr txBox="1"/>
          <p:nvPr/>
        </p:nvSpPr>
        <p:spPr>
          <a:xfrm>
            <a:off x="8953500" y="546557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다른 weight 주소</a:t>
            </a:r>
          </a:p>
        </p:txBody>
      </p:sp>
      <p:sp>
        <p:nvSpPr>
          <p:cNvPr id="54" name="TextBox 53"/>
          <p:cNvSpPr txBox="1"/>
          <p:nvPr/>
        </p:nvSpPr>
        <p:spPr>
          <a:xfrm>
            <a:off x="8953500" y="5728462"/>
            <a:ext cx="1981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모든 계산 실행</a:t>
            </a:r>
          </a:p>
        </p:txBody>
      </p:sp>
      <p:cxnSp>
        <p:nvCxnSpPr>
          <p:cNvPr id="55" name="Connector 54"/>
          <p:cNvCxnSpPr/>
          <p:nvPr/>
        </p:nvCxnSpPr>
        <p:spPr>
          <a:xfrm>
            <a:off x="2222500" y="4330700"/>
            <a:ext cx="7810500" cy="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133600" y="4330700"/>
            <a:ext cx="0" cy="495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57" name="Freeform 56"/>
          <p:cNvSpPr/>
          <p:nvPr/>
        </p:nvSpPr>
        <p:spPr>
          <a:xfrm>
            <a:off x="2082800" y="47244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4749800" y="4330700"/>
            <a:ext cx="0" cy="495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4699000" y="47244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7353300" y="4330700"/>
            <a:ext cx="0" cy="495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7302500" y="47244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0033000" y="4330700"/>
            <a:ext cx="0" cy="495300"/>
          </a:xfrm>
          <a:prstGeom prst="line">
            <a:avLst/>
          </a:prstGeom>
          <a:ln w="25400">
            <a:solidFill>
              <a:srgbClr val="008A82"/>
            </a:solidFill>
          </a:ln>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9982200" y="4724400"/>
            <a:ext cx="101600" cy="101600"/>
          </a:xfrm>
          <a:custGeom>
            <a:avLst/>
            <a:gdLst/>
            <a:ahLst/>
            <a:cxnLst/>
            <a:rect l="l" t="t" r="r" b="b"/>
            <a:pathLst>
              <a:path w="8" h="8">
                <a:moveTo>
                  <a:pt x="4" y="8"/>
                </a:moveTo>
                <a:lnTo>
                  <a:pt x="0" y="0"/>
                </a:lnTo>
                <a:lnTo>
                  <a:pt x="8" y="0"/>
                </a:lnTo>
                <a:close/>
              </a:path>
            </a:pathLst>
          </a:cu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28700" y="6896100"/>
            <a:ext cx="9969500" cy="381000"/>
          </a:xfrm>
          <a:prstGeom prst="roundRect">
            <a:avLst>
              <a:gd name="adj" fmla="val 12000"/>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43000" y="6972300"/>
            <a:ext cx="97409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같은 판단 재사용 ≠ 실행 layer 생략</a:t>
            </a:r>
          </a:p>
        </p:txBody>
      </p:sp>
      <p:sp>
        <p:nvSpPr>
          <p:cNvPr id="66" name="TextBox 65"/>
          <p:cNvSpPr txBox="1"/>
          <p:nvPr/>
        </p:nvSpPr>
        <p:spPr>
          <a:xfrm>
            <a:off x="1104900" y="7581900"/>
            <a:ext cx="101346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2869C6"/>
                </a:solidFill>
                <a:latin typeface="NanumGothic"/>
                <a:ea typeface="NanumGothic"/>
                <a:cs typeface="NanumGothic"/>
              </a:rPr>
              <a:t>첫 합법 모듈 완성 → 기본 120초 동안 추가 graph 후보 탐색</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실험</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수치 결과와 비용을 서로 다른 근거로 확인합니다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모든 숫자를 하나의 성능 점수로 합치지 않습니다.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정확성: 무엇과 비교했는가</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작은 kernel은 bit equality·LLVM 기준을, 전체</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Llama는 HF argmax·logits cosine을 확인합니다.</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같은 출력의 근거와 단순 compile 성공을</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구분합니다.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비용: 어떤 자원을 세었는가</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DMA는 전송 bytes, words는 명령 저장 크기,</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SRAM peak는 최고 필요 공간, image는 DRAM</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예약 크기입니다. 서로 같거나 비례한다고 가정하지</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않습니다.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근거: 언제 무엇을 실행했는가</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문서의 작은 예제 실행, 보존된 전체 모델 실행, 정적</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MLP compile, 과거 단일 시간 관측을 표시합니다.</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이번 발표 업데이트로 새 compiler benchmark를</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만들지 않았습니다.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실장치 latency·긴 문맥 품질·양자화 generation은 이 자료의 검증 결과가 아닙니다. 각 실험의 조건을 숫자와 함께 읽습니다.</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38 / 54</a:t>
            </a:r>
          </a:p>
        </p:txBody>
      </p:sp>
      <p:sp>
        <p:nvSpPr>
          <p:cNvPr id="37" name="Rectangle 36"/>
          <p:cNvSpPr/>
          <p:nvPr/>
        </p:nvSpPr>
        <p:spPr>
          <a:xfrm>
            <a:off x="850900" y="28575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900" y="2971800"/>
            <a:ext cx="2540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검증 / 지표</a:t>
            </a:r>
          </a:p>
        </p:txBody>
      </p:sp>
      <p:sp>
        <p:nvSpPr>
          <p:cNvPr id="39" name="TextBox 38"/>
          <p:cNvSpPr txBox="1"/>
          <p:nvPr/>
        </p:nvSpPr>
        <p:spPr>
          <a:xfrm>
            <a:off x="3771900" y="2971800"/>
            <a:ext cx="3048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확인하는 것</a:t>
            </a:r>
          </a:p>
        </p:txBody>
      </p:sp>
      <p:sp>
        <p:nvSpPr>
          <p:cNvPr id="40" name="TextBox 39"/>
          <p:cNvSpPr txBox="1"/>
          <p:nvPr/>
        </p:nvSpPr>
        <p:spPr>
          <a:xfrm>
            <a:off x="7073900" y="2971800"/>
            <a:ext cx="4140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해석의 한계</a:t>
            </a:r>
          </a:p>
        </p:txBody>
      </p:sp>
      <p:sp>
        <p:nvSpPr>
          <p:cNvPr id="41" name="Rectangle 40"/>
          <p:cNvSpPr/>
          <p:nvPr/>
        </p:nvSpPr>
        <p:spPr>
          <a:xfrm>
            <a:off x="850900" y="3314700"/>
            <a:ext cx="10490200" cy="825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900" y="3429000"/>
            <a:ext cx="2540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Bit equality / cosine</a:t>
            </a:r>
          </a:p>
        </p:txBody>
      </p:sp>
      <p:sp>
        <p:nvSpPr>
          <p:cNvPr id="43" name="TextBox 42"/>
          <p:cNvSpPr txBox="1"/>
          <p:nvPr/>
        </p:nvSpPr>
        <p:spPr>
          <a:xfrm>
            <a:off x="3771900" y="3429000"/>
            <a:ext cx="3048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수치 의미 / 모델 결과</a:t>
            </a:r>
          </a:p>
        </p:txBody>
      </p:sp>
      <p:sp>
        <p:nvSpPr>
          <p:cNvPr id="44" name="TextBox 43"/>
          <p:cNvSpPr txBox="1"/>
          <p:nvPr/>
        </p:nvSpPr>
        <p:spPr>
          <a:xfrm>
            <a:off x="7073900" y="3429000"/>
            <a:ext cx="4140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짧은 입력이 모든 품질을 대표하지 않음</a:t>
            </a:r>
          </a:p>
        </p:txBody>
      </p:sp>
      <p:sp>
        <p:nvSpPr>
          <p:cNvPr id="45" name="Rectangle 44"/>
          <p:cNvSpPr/>
          <p:nvPr/>
        </p:nvSpPr>
        <p:spPr>
          <a:xfrm>
            <a:off x="850900" y="4140200"/>
            <a:ext cx="10490200" cy="8255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7900" y="4254500"/>
            <a:ext cx="2540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DMA bytes</a:t>
            </a:r>
          </a:p>
        </p:txBody>
      </p:sp>
      <p:sp>
        <p:nvSpPr>
          <p:cNvPr id="47" name="TextBox 46"/>
          <p:cNvSpPr txBox="1"/>
          <p:nvPr/>
        </p:nvSpPr>
        <p:spPr>
          <a:xfrm>
            <a:off x="3771900" y="4254500"/>
            <a:ext cx="3048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명령이 요청한 DRAM 이동</a:t>
            </a:r>
          </a:p>
        </p:txBody>
      </p:sp>
      <p:sp>
        <p:nvSpPr>
          <p:cNvPr id="48" name="TextBox 47"/>
          <p:cNvSpPr txBox="1"/>
          <p:nvPr/>
        </p:nvSpPr>
        <p:spPr>
          <a:xfrm>
            <a:off x="7073900" y="4254500"/>
            <a:ext cx="4140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Host patch / 파일 I/O와 다름</a:t>
            </a:r>
          </a:p>
        </p:txBody>
      </p:sp>
      <p:sp>
        <p:nvSpPr>
          <p:cNvPr id="49" name="Rectangle 48"/>
          <p:cNvSpPr/>
          <p:nvPr/>
        </p:nvSpPr>
        <p:spPr>
          <a:xfrm>
            <a:off x="850900" y="4965700"/>
            <a:ext cx="10490200" cy="825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7900" y="5080000"/>
            <a:ext cx="2540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ISA words</a:t>
            </a:r>
          </a:p>
        </p:txBody>
      </p:sp>
      <p:sp>
        <p:nvSpPr>
          <p:cNvPr id="51" name="TextBox 50"/>
          <p:cNvSpPr txBox="1"/>
          <p:nvPr/>
        </p:nvSpPr>
        <p:spPr>
          <a:xfrm>
            <a:off x="3771900" y="5080000"/>
            <a:ext cx="3048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명령 저장 공간</a:t>
            </a:r>
          </a:p>
        </p:txBody>
      </p:sp>
      <p:sp>
        <p:nvSpPr>
          <p:cNvPr id="52" name="TextBox 51"/>
          <p:cNvSpPr txBox="1"/>
          <p:nvPr/>
        </p:nvSpPr>
        <p:spPr>
          <a:xfrm>
            <a:off x="7073900" y="5080000"/>
            <a:ext cx="4140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Hardware latency와 다름</a:t>
            </a:r>
          </a:p>
        </p:txBody>
      </p:sp>
      <p:sp>
        <p:nvSpPr>
          <p:cNvPr id="53" name="Rectangle 52"/>
          <p:cNvSpPr/>
          <p:nvPr/>
        </p:nvSpPr>
        <p:spPr>
          <a:xfrm>
            <a:off x="850900" y="5791200"/>
            <a:ext cx="10490200" cy="8255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7900" y="5905500"/>
            <a:ext cx="2540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SRAM peak / image</a:t>
            </a:r>
          </a:p>
        </p:txBody>
      </p:sp>
      <p:sp>
        <p:nvSpPr>
          <p:cNvPr id="55" name="TextBox 54"/>
          <p:cNvSpPr txBox="1"/>
          <p:nvPr/>
        </p:nvSpPr>
        <p:spPr>
          <a:xfrm>
            <a:off x="3771900" y="5905500"/>
            <a:ext cx="3048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최고 SRAM / DRAM 예약 크기</a:t>
            </a:r>
          </a:p>
        </p:txBody>
      </p:sp>
      <p:sp>
        <p:nvSpPr>
          <p:cNvPr id="56" name="TextBox 55"/>
          <p:cNvSpPr txBox="1"/>
          <p:nvPr/>
        </p:nvSpPr>
        <p:spPr>
          <a:xfrm>
            <a:off x="7073900" y="5905500"/>
            <a:ext cx="4140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전송량과 다름</a:t>
            </a:r>
          </a:p>
        </p:txBody>
      </p:sp>
      <p:sp>
        <p:nvSpPr>
          <p:cNvPr id="57" name="Rectangle 56"/>
          <p:cNvSpPr/>
          <p:nvPr/>
        </p:nvSpPr>
        <p:spPr>
          <a:xfrm>
            <a:off x="850900" y="6616700"/>
            <a:ext cx="10490200" cy="825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900" y="6731000"/>
            <a:ext cx="2540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Compile seconds</a:t>
            </a:r>
          </a:p>
        </p:txBody>
      </p:sp>
      <p:sp>
        <p:nvSpPr>
          <p:cNvPr id="59" name="TextBox 58"/>
          <p:cNvSpPr txBox="1"/>
          <p:nvPr/>
        </p:nvSpPr>
        <p:spPr>
          <a:xfrm>
            <a:off x="3771900" y="6731000"/>
            <a:ext cx="3048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Compiler의 wall-clock 비용</a:t>
            </a:r>
          </a:p>
        </p:txBody>
      </p:sp>
      <p:sp>
        <p:nvSpPr>
          <p:cNvPr id="60" name="TextBox 59"/>
          <p:cNvSpPr txBox="1"/>
          <p:nvPr/>
        </p:nvSpPr>
        <p:spPr>
          <a:xfrm>
            <a:off x="7073900" y="6731000"/>
            <a:ext cx="4140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Inference 속도와 다름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E1 · 작은 예제 실행</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Fusion은 DMA가 같아도 명령을 줄일 수 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Linear + bias + SiLU · [64,128] → [64,64] · 두 구성 모두 SRAM 전달 사용</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동일한 입력으로 두 구성 실행</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X[64,128]·W[64,128]·bias[64], seed 914를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사용한 작은 예제입니다. Off 3 kernels와 auto 1</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kernel 모두 SRAM 전달을 사용합니다.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DMA보다 명령과 공간이 줄었다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전송량은 둘 다 41100 B입니다. Words는</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2812→1577, SRAM peak는 50700→42508 B로</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줄었습니다. Fusion의 효과가 항상 DRAM 감소로만</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나타나지는 않습니다.</a:t>
            </a:r>
          </a:p>
        </p:txBody>
      </p:sp>
      <p:sp>
        <p:nvSpPr>
          <p:cNvPr id="23" name="Rounded Rectangle 22"/>
          <p:cNvSpPr/>
          <p:nvPr/>
        </p:nvSpPr>
        <p:spPr>
          <a:xfrm>
            <a:off x="11988800" y="5802376"/>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출력과 counter도 확인</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두 출력은 FP16 bit-exact이고 이 입력의 LLVM 기준</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최대 절대차는 0입니다. C-model의 DMA</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counter도 정적 명령 분석과 일치했습니다.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한 작은 예제의 결과입니다. 모든 fusion이 유리하거나 words 감소율만큼 실제 장치가 빨라진다고 확대하지 않습니다.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 stage_summary.json</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39 / 54</a:t>
            </a:r>
          </a:p>
        </p:txBody>
      </p:sp>
      <p:sp>
        <p:nvSpPr>
          <p:cNvPr id="35" name="TextBox 34"/>
          <p:cNvSpPr txBox="1"/>
          <p:nvPr/>
        </p:nvSpPr>
        <p:spPr>
          <a:xfrm>
            <a:off x="1016000" y="2794000"/>
            <a:ext cx="10160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ISA words · 명령 저장 크기</a:t>
            </a:r>
          </a:p>
        </p:txBody>
      </p:sp>
      <p:sp>
        <p:nvSpPr>
          <p:cNvPr id="36" name="TextBox 35"/>
          <p:cNvSpPr txBox="1"/>
          <p:nvPr/>
        </p:nvSpPr>
        <p:spPr>
          <a:xfrm>
            <a:off x="1016000" y="34036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Fusion off / 3 kernels</a:t>
            </a:r>
          </a:p>
        </p:txBody>
      </p:sp>
      <p:sp>
        <p:nvSpPr>
          <p:cNvPr id="37" name="Rounded Rectangle 36"/>
          <p:cNvSpPr/>
          <p:nvPr/>
        </p:nvSpPr>
        <p:spPr>
          <a:xfrm>
            <a:off x="3200400" y="3403600"/>
            <a:ext cx="4826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200400" y="3403600"/>
            <a:ext cx="4523570" cy="330200"/>
          </a:xfrm>
          <a:prstGeom prst="roundRect">
            <a:avLst>
              <a:gd name="adj" fmla="val 11538"/>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28000" y="34290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2,812</a:t>
            </a:r>
          </a:p>
        </p:txBody>
      </p:sp>
      <p:sp>
        <p:nvSpPr>
          <p:cNvPr id="40" name="TextBox 39"/>
          <p:cNvSpPr txBox="1"/>
          <p:nvPr/>
        </p:nvSpPr>
        <p:spPr>
          <a:xfrm>
            <a:off x="1016000" y="39624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Fusion auto / 1 kernel</a:t>
            </a:r>
          </a:p>
        </p:txBody>
      </p:sp>
      <p:sp>
        <p:nvSpPr>
          <p:cNvPr id="41" name="Rounded Rectangle 40"/>
          <p:cNvSpPr/>
          <p:nvPr/>
        </p:nvSpPr>
        <p:spPr>
          <a:xfrm>
            <a:off x="3200400" y="3962400"/>
            <a:ext cx="4826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200400" y="3962400"/>
            <a:ext cx="2536867" cy="330200"/>
          </a:xfrm>
          <a:prstGeom prst="roundRect">
            <a:avLst>
              <a:gd name="adj" fmla="val 11538"/>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28000" y="39878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1,577</a:t>
            </a:r>
          </a:p>
        </p:txBody>
      </p:sp>
      <p:sp>
        <p:nvSpPr>
          <p:cNvPr id="44" name="Rectangle 43"/>
          <p:cNvSpPr/>
          <p:nvPr/>
        </p:nvSpPr>
        <p:spPr>
          <a:xfrm>
            <a:off x="850900" y="49403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5054600"/>
            <a:ext cx="2362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지표</a:t>
            </a:r>
          </a:p>
        </p:txBody>
      </p:sp>
      <p:sp>
        <p:nvSpPr>
          <p:cNvPr id="46" name="TextBox 45"/>
          <p:cNvSpPr txBox="1"/>
          <p:nvPr/>
        </p:nvSpPr>
        <p:spPr>
          <a:xfrm>
            <a:off x="3594100" y="5054600"/>
            <a:ext cx="1727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Off</a:t>
            </a:r>
          </a:p>
        </p:txBody>
      </p:sp>
      <p:sp>
        <p:nvSpPr>
          <p:cNvPr id="47" name="TextBox 46"/>
          <p:cNvSpPr txBox="1"/>
          <p:nvPr/>
        </p:nvSpPr>
        <p:spPr>
          <a:xfrm>
            <a:off x="5575300" y="5054600"/>
            <a:ext cx="1727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Auto</a:t>
            </a:r>
          </a:p>
        </p:txBody>
      </p:sp>
      <p:sp>
        <p:nvSpPr>
          <p:cNvPr id="48" name="TextBox 47"/>
          <p:cNvSpPr txBox="1"/>
          <p:nvPr/>
        </p:nvSpPr>
        <p:spPr>
          <a:xfrm>
            <a:off x="7556500" y="5054600"/>
            <a:ext cx="3657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결과</a:t>
            </a:r>
          </a:p>
        </p:txBody>
      </p:sp>
      <p:sp>
        <p:nvSpPr>
          <p:cNvPr id="49" name="Rectangle 48"/>
          <p:cNvSpPr/>
          <p:nvPr/>
        </p:nvSpPr>
        <p:spPr>
          <a:xfrm>
            <a:off x="850900" y="5397500"/>
            <a:ext cx="10490200" cy="749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7900" y="5511800"/>
            <a:ext cx="2362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DMA bytes</a:t>
            </a:r>
          </a:p>
        </p:txBody>
      </p:sp>
      <p:sp>
        <p:nvSpPr>
          <p:cNvPr id="51" name="TextBox 50"/>
          <p:cNvSpPr txBox="1"/>
          <p:nvPr/>
        </p:nvSpPr>
        <p:spPr>
          <a:xfrm>
            <a:off x="3594100" y="5511800"/>
            <a:ext cx="172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41100</a:t>
            </a:r>
          </a:p>
        </p:txBody>
      </p:sp>
      <p:sp>
        <p:nvSpPr>
          <p:cNvPr id="52" name="TextBox 51"/>
          <p:cNvSpPr txBox="1"/>
          <p:nvPr/>
        </p:nvSpPr>
        <p:spPr>
          <a:xfrm>
            <a:off x="5575300" y="5511800"/>
            <a:ext cx="172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41100</a:t>
            </a:r>
          </a:p>
        </p:txBody>
      </p:sp>
      <p:sp>
        <p:nvSpPr>
          <p:cNvPr id="53" name="TextBox 52"/>
          <p:cNvSpPr txBox="1"/>
          <p:nvPr/>
        </p:nvSpPr>
        <p:spPr>
          <a:xfrm>
            <a:off x="7556500" y="5511800"/>
            <a:ext cx="3657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같음</a:t>
            </a:r>
          </a:p>
        </p:txBody>
      </p:sp>
      <p:sp>
        <p:nvSpPr>
          <p:cNvPr id="54" name="Rectangle 53"/>
          <p:cNvSpPr/>
          <p:nvPr/>
        </p:nvSpPr>
        <p:spPr>
          <a:xfrm>
            <a:off x="850900" y="6146800"/>
            <a:ext cx="10490200" cy="7493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6261100"/>
            <a:ext cx="2362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SRAM peak</a:t>
            </a:r>
          </a:p>
        </p:txBody>
      </p:sp>
      <p:sp>
        <p:nvSpPr>
          <p:cNvPr id="56" name="TextBox 55"/>
          <p:cNvSpPr txBox="1"/>
          <p:nvPr/>
        </p:nvSpPr>
        <p:spPr>
          <a:xfrm>
            <a:off x="3594100" y="6261100"/>
            <a:ext cx="172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50700</a:t>
            </a:r>
          </a:p>
        </p:txBody>
      </p:sp>
      <p:sp>
        <p:nvSpPr>
          <p:cNvPr id="57" name="TextBox 56"/>
          <p:cNvSpPr txBox="1"/>
          <p:nvPr/>
        </p:nvSpPr>
        <p:spPr>
          <a:xfrm>
            <a:off x="5575300" y="6261100"/>
            <a:ext cx="172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42508</a:t>
            </a:r>
          </a:p>
        </p:txBody>
      </p:sp>
      <p:sp>
        <p:nvSpPr>
          <p:cNvPr id="58" name="TextBox 57"/>
          <p:cNvSpPr txBox="1"/>
          <p:nvPr/>
        </p:nvSpPr>
        <p:spPr>
          <a:xfrm>
            <a:off x="7556500" y="6261100"/>
            <a:ext cx="3657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8192 B 감소</a:t>
            </a:r>
          </a:p>
        </p:txBody>
      </p:sp>
      <p:sp>
        <p:nvSpPr>
          <p:cNvPr id="59" name="Rectangle 58"/>
          <p:cNvSpPr/>
          <p:nvPr/>
        </p:nvSpPr>
        <p:spPr>
          <a:xfrm>
            <a:off x="850900" y="6896100"/>
            <a:ext cx="10490200" cy="749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77900" y="7010400"/>
            <a:ext cx="2362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출력</a:t>
            </a:r>
          </a:p>
        </p:txBody>
      </p:sp>
      <p:sp>
        <p:nvSpPr>
          <p:cNvPr id="61" name="TextBox 60"/>
          <p:cNvSpPr txBox="1"/>
          <p:nvPr/>
        </p:nvSpPr>
        <p:spPr>
          <a:xfrm>
            <a:off x="3594100" y="7010400"/>
            <a:ext cx="172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FP16</a:t>
            </a:r>
          </a:p>
        </p:txBody>
      </p:sp>
      <p:sp>
        <p:nvSpPr>
          <p:cNvPr id="62" name="TextBox 61"/>
          <p:cNvSpPr txBox="1"/>
          <p:nvPr/>
        </p:nvSpPr>
        <p:spPr>
          <a:xfrm>
            <a:off x="5575300" y="7010400"/>
            <a:ext cx="1727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FP16</a:t>
            </a:r>
          </a:p>
        </p:txBody>
      </p:sp>
      <p:sp>
        <p:nvSpPr>
          <p:cNvPr id="63" name="TextBox 62"/>
          <p:cNvSpPr txBox="1"/>
          <p:nvPr/>
        </p:nvSpPr>
        <p:spPr>
          <a:xfrm>
            <a:off x="7556500" y="7010400"/>
            <a:ext cx="3657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Bit-exact / LLVM max diff 0</a:t>
            </a:r>
          </a:p>
        </p:txBody>
      </p:sp>
      <p:sp>
        <p:nvSpPr>
          <p:cNvPr id="64" name="Rounded Rectangle 63"/>
          <p:cNvSpPr/>
          <p:nvPr/>
        </p:nvSpPr>
        <p:spPr>
          <a:xfrm>
            <a:off x="1028700" y="7645400"/>
            <a:ext cx="100584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43000" y="7721600"/>
            <a:ext cx="98298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같은 전송량에서도 명령과 작업 공간은 줄어들 수 있음</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E2 · 작은 예제 실행</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44 KiB부터 H의 DRAM 왕복이 사라졌습니다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두 matmul · fusion off · SRAM 보관 탐색과 용량만 변경 · 출력은 모두 동일</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용량과 보관 옵션만 바꾼다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X[64,64]→H[64,128]→Y[64,64]인 두 matmul,</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fusion off 조건입니다. 32/44/64 KiB와</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whole-tensor 보관 탐색을 비교했습니다.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44 KiB에서 보관이 성립한다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H 16 KiB를 저장하고 다시 읽는 32768 B가 사라져</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DMA가 81932→49164 B로 줄었습니다. 32 KiB는</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옵션을 켜도 같은 결과였고 64 KiB는 추가 이득이</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없었습니다.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비교에서 유지된 기능도 있다</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Joint-memory off여도 기존 residency·peephole은</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사용합니다. 모든 메모리 최적화의 on/off 비교가</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아닙니다. 다섯 구성의 출력과 DMA counters를</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검증했습니다.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용량을 늘리는 자체보다 살아 있는 H와 작업 공간이 함께 들어가는지가 중요합니다. 이 예제의 임계점을 전체 모델에 일반화하지 않습니다.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 measurements.json</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40 / 54</a:t>
            </a:r>
          </a:p>
        </p:txBody>
      </p:sp>
      <p:sp>
        <p:nvSpPr>
          <p:cNvPr id="36" name="TextBox 35"/>
          <p:cNvSpPr txBox="1"/>
          <p:nvPr/>
        </p:nvSpPr>
        <p:spPr>
          <a:xfrm>
            <a:off x="990600" y="2819400"/>
            <a:ext cx="102997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DMA bytes · 두 matmul / fusion off</a:t>
            </a:r>
          </a:p>
        </p:txBody>
      </p:sp>
      <p:sp>
        <p:nvSpPr>
          <p:cNvPr id="37" name="TextBox 36"/>
          <p:cNvSpPr txBox="1"/>
          <p:nvPr/>
        </p:nvSpPr>
        <p:spPr>
          <a:xfrm>
            <a:off x="1016000" y="34925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32 KiB / 보관 off</a:t>
            </a:r>
          </a:p>
        </p:txBody>
      </p:sp>
      <p:sp>
        <p:nvSpPr>
          <p:cNvPr id="38" name="Rounded Rectangle 37"/>
          <p:cNvSpPr/>
          <p:nvPr/>
        </p:nvSpPr>
        <p:spPr>
          <a:xfrm>
            <a:off x="3200400" y="3492500"/>
            <a:ext cx="5207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200400" y="3492500"/>
            <a:ext cx="4740221" cy="330200"/>
          </a:xfrm>
          <a:prstGeom prst="roundRect">
            <a:avLst>
              <a:gd name="adj" fmla="val 11538"/>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09000" y="35179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81,932</a:t>
            </a:r>
          </a:p>
        </p:txBody>
      </p:sp>
      <p:sp>
        <p:nvSpPr>
          <p:cNvPr id="41" name="TextBox 40"/>
          <p:cNvSpPr txBox="1"/>
          <p:nvPr/>
        </p:nvSpPr>
        <p:spPr>
          <a:xfrm>
            <a:off x="1016000" y="42291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32 KiB / 보관 on</a:t>
            </a:r>
          </a:p>
        </p:txBody>
      </p:sp>
      <p:sp>
        <p:nvSpPr>
          <p:cNvPr id="42" name="Rounded Rectangle 41"/>
          <p:cNvSpPr/>
          <p:nvPr/>
        </p:nvSpPr>
        <p:spPr>
          <a:xfrm>
            <a:off x="3200400" y="4229100"/>
            <a:ext cx="5207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200400" y="4229100"/>
            <a:ext cx="4740221" cy="330200"/>
          </a:xfrm>
          <a:prstGeom prst="roundRect">
            <a:avLst>
              <a:gd name="adj" fmla="val 11538"/>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09000" y="42545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81,932</a:t>
            </a:r>
          </a:p>
        </p:txBody>
      </p:sp>
      <p:sp>
        <p:nvSpPr>
          <p:cNvPr id="45" name="TextBox 44"/>
          <p:cNvSpPr txBox="1"/>
          <p:nvPr/>
        </p:nvSpPr>
        <p:spPr>
          <a:xfrm>
            <a:off x="1016000" y="49657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44 KiB / 보관 off</a:t>
            </a:r>
          </a:p>
        </p:txBody>
      </p:sp>
      <p:sp>
        <p:nvSpPr>
          <p:cNvPr id="46" name="Rounded Rectangle 45"/>
          <p:cNvSpPr/>
          <p:nvPr/>
        </p:nvSpPr>
        <p:spPr>
          <a:xfrm>
            <a:off x="3200400" y="4965700"/>
            <a:ext cx="5207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200400" y="4965700"/>
            <a:ext cx="4740221" cy="330200"/>
          </a:xfrm>
          <a:prstGeom prst="roundRect">
            <a:avLst>
              <a:gd name="adj" fmla="val 11538"/>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09000" y="49911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81,932</a:t>
            </a:r>
          </a:p>
        </p:txBody>
      </p:sp>
      <p:sp>
        <p:nvSpPr>
          <p:cNvPr id="49" name="TextBox 48"/>
          <p:cNvSpPr txBox="1"/>
          <p:nvPr/>
        </p:nvSpPr>
        <p:spPr>
          <a:xfrm>
            <a:off x="1016000" y="57023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44 KiB / 보관 on</a:t>
            </a:r>
          </a:p>
        </p:txBody>
      </p:sp>
      <p:sp>
        <p:nvSpPr>
          <p:cNvPr id="50" name="Rounded Rectangle 49"/>
          <p:cNvSpPr/>
          <p:nvPr/>
        </p:nvSpPr>
        <p:spPr>
          <a:xfrm>
            <a:off x="3200400" y="5702300"/>
            <a:ext cx="5207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200400" y="5702300"/>
            <a:ext cx="2844410" cy="330200"/>
          </a:xfrm>
          <a:prstGeom prst="roundRect">
            <a:avLst>
              <a:gd name="adj" fmla="val 11538"/>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09000" y="57277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49,164</a:t>
            </a:r>
          </a:p>
        </p:txBody>
      </p:sp>
      <p:sp>
        <p:nvSpPr>
          <p:cNvPr id="53" name="TextBox 52"/>
          <p:cNvSpPr txBox="1"/>
          <p:nvPr/>
        </p:nvSpPr>
        <p:spPr>
          <a:xfrm>
            <a:off x="1016000" y="64389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64 KiB / 보관 on</a:t>
            </a:r>
          </a:p>
        </p:txBody>
      </p:sp>
      <p:sp>
        <p:nvSpPr>
          <p:cNvPr id="54" name="Rounded Rectangle 53"/>
          <p:cNvSpPr/>
          <p:nvPr/>
        </p:nvSpPr>
        <p:spPr>
          <a:xfrm>
            <a:off x="3200400" y="6438900"/>
            <a:ext cx="5207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200400" y="6438900"/>
            <a:ext cx="2844410" cy="330200"/>
          </a:xfrm>
          <a:prstGeom prst="roundRect">
            <a:avLst>
              <a:gd name="adj" fmla="val 11538"/>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09000" y="64643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49,164</a:t>
            </a:r>
          </a:p>
        </p:txBody>
      </p:sp>
      <p:sp>
        <p:nvSpPr>
          <p:cNvPr id="57" name="Rounded Rectangle 56"/>
          <p:cNvSpPr/>
          <p:nvPr/>
        </p:nvSpPr>
        <p:spPr>
          <a:xfrm>
            <a:off x="1054100" y="7531100"/>
            <a:ext cx="100076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68400" y="7607300"/>
            <a:ext cx="9779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H 16 KiB의 저장 + 재읽기 = 32768 B 제거</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E3·E4 · 보존된 개선 기록</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DRAM 예약 제거는 전송량과 별개로 image를 줄입니다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개선 전후의 조건과 검증 수준을 구분합니다.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E3: 작은 예제의 실행 결과</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이미 SRAM 보관을 사용하는 상태에서 pointwise</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정리·직접 출력·pool 제거를 비교했습니다. Words</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85→77, DRAM image 16 KiB 감소, 출력은</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bit-exact입니다.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E4: 실제 폭 MLP의 정적 결과</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M=64·hidden 3072·MLP 8192에서 5 kernels를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유지합니다. Words 143404→140594, image 3</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MiB 감소이며 이 MLP 측정은</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executed=false입니다.</a:t>
            </a:r>
          </a:p>
        </p:txBody>
      </p:sp>
      <p:sp>
        <p:nvSpPr>
          <p:cNvPr id="24" name="Rounded Rectangle 23"/>
          <p:cNvSpPr/>
          <p:nvPr/>
        </p:nvSpPr>
        <p:spPr>
          <a:xfrm>
            <a:off x="11988800" y="611784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공간과 전송은 별개의 지표</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이미 SRAM에서 전달되던 값의 미사용 DRAM</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예약을 지워도 DMA는 더 줄지 않을 수 있습니다.</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같은 pool을 여러 중간값이 재사용하므로 제거량은</a:t>
            </a:r>
          </a:p>
        </p:txBody>
      </p:sp>
      <p:sp>
        <p:nvSpPr>
          <p:cNvPr id="30" name="TextBox 29"/>
          <p:cNvSpPr txBox="1"/>
          <p:nvPr/>
        </p:nvSpPr>
        <p:spPr>
          <a:xfrm>
            <a:off x="12255500" y="761034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tensor 크기의 단순 합도 아닙니다.</a:t>
            </a:r>
          </a:p>
        </p:txBody>
      </p:sp>
      <p:sp>
        <p:nvSpPr>
          <p:cNvPr id="31" name="Rounded Rectangle 30"/>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3" name="TextBox 32"/>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E2는 보관 옵션 비교(87→77), E3는 보관 이후 개선 비교(85→77)입니다. 서로 다른 기준을 하나의 전후 수치로 섞지 않습니다.</a:t>
            </a:r>
          </a:p>
        </p:txBody>
      </p:sp>
      <p:sp>
        <p:nvSpPr>
          <p:cNvPr id="34" name="TextBox 33"/>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5" name="TextBox 34"/>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 refinement.json</a:t>
            </a:r>
          </a:p>
        </p:txBody>
      </p:sp>
      <p:sp>
        <p:nvSpPr>
          <p:cNvPr id="36" name="TextBox 35"/>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41 / 54</a:t>
            </a:r>
          </a:p>
        </p:txBody>
      </p:sp>
      <p:sp>
        <p:nvSpPr>
          <p:cNvPr id="37" name="Rectangle 36"/>
          <p:cNvSpPr/>
          <p:nvPr/>
        </p:nvSpPr>
        <p:spPr>
          <a:xfrm>
            <a:off x="850900" y="28956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900" y="3009900"/>
            <a:ext cx="2768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기록 / 범위</a:t>
            </a:r>
          </a:p>
        </p:txBody>
      </p:sp>
      <p:sp>
        <p:nvSpPr>
          <p:cNvPr id="39" name="TextBox 38"/>
          <p:cNvSpPr txBox="1"/>
          <p:nvPr/>
        </p:nvSpPr>
        <p:spPr>
          <a:xfrm>
            <a:off x="4000500" y="3009900"/>
            <a:ext cx="28575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Words 전 → 후</a:t>
            </a:r>
          </a:p>
        </p:txBody>
      </p:sp>
      <p:sp>
        <p:nvSpPr>
          <p:cNvPr id="40" name="TextBox 39"/>
          <p:cNvSpPr txBox="1"/>
          <p:nvPr/>
        </p:nvSpPr>
        <p:spPr>
          <a:xfrm>
            <a:off x="7112000" y="3009900"/>
            <a:ext cx="41021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DRAM image 전 → 후</a:t>
            </a:r>
          </a:p>
        </p:txBody>
      </p:sp>
      <p:sp>
        <p:nvSpPr>
          <p:cNvPr id="41" name="Rectangle 40"/>
          <p:cNvSpPr/>
          <p:nvPr/>
        </p:nvSpPr>
        <p:spPr>
          <a:xfrm>
            <a:off x="850900" y="3352800"/>
            <a:ext cx="10490200" cy="13716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900" y="3467100"/>
            <a:ext cx="27686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E3 · 두 matmul</a:t>
            </a:r>
          </a:p>
        </p:txBody>
      </p:sp>
      <p:sp>
        <p:nvSpPr>
          <p:cNvPr id="43" name="TextBox 42"/>
          <p:cNvSpPr txBox="1"/>
          <p:nvPr/>
        </p:nvSpPr>
        <p:spPr>
          <a:xfrm>
            <a:off x="977900" y="3800094"/>
            <a:ext cx="27686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실행 / bit-exact</a:t>
            </a:r>
          </a:p>
        </p:txBody>
      </p:sp>
      <p:sp>
        <p:nvSpPr>
          <p:cNvPr id="44" name="TextBox 43"/>
          <p:cNvSpPr txBox="1"/>
          <p:nvPr/>
        </p:nvSpPr>
        <p:spPr>
          <a:xfrm>
            <a:off x="4000500" y="3467100"/>
            <a:ext cx="28575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85 → 77</a:t>
            </a:r>
          </a:p>
        </p:txBody>
      </p:sp>
      <p:sp>
        <p:nvSpPr>
          <p:cNvPr id="45" name="TextBox 44"/>
          <p:cNvSpPr txBox="1"/>
          <p:nvPr/>
        </p:nvSpPr>
        <p:spPr>
          <a:xfrm>
            <a:off x="7112000" y="3467100"/>
            <a:ext cx="41021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65548 → 49164 B</a:t>
            </a:r>
          </a:p>
        </p:txBody>
      </p:sp>
      <p:sp>
        <p:nvSpPr>
          <p:cNvPr id="46" name="TextBox 45"/>
          <p:cNvSpPr txBox="1"/>
          <p:nvPr/>
        </p:nvSpPr>
        <p:spPr>
          <a:xfrm>
            <a:off x="7112000" y="3800094"/>
            <a:ext cx="41021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16 KiB 예약 제거</a:t>
            </a:r>
          </a:p>
        </p:txBody>
      </p:sp>
      <p:sp>
        <p:nvSpPr>
          <p:cNvPr id="47" name="Rectangle 46"/>
          <p:cNvSpPr/>
          <p:nvPr/>
        </p:nvSpPr>
        <p:spPr>
          <a:xfrm>
            <a:off x="850900" y="4724400"/>
            <a:ext cx="10490200" cy="13716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7900" y="4838700"/>
            <a:ext cx="27686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E4 · 실제 폭 MLP</a:t>
            </a:r>
          </a:p>
        </p:txBody>
      </p:sp>
      <p:sp>
        <p:nvSpPr>
          <p:cNvPr id="49" name="TextBox 48"/>
          <p:cNvSpPr txBox="1"/>
          <p:nvPr/>
        </p:nvSpPr>
        <p:spPr>
          <a:xfrm>
            <a:off x="977900" y="5171694"/>
            <a:ext cx="27686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정적 compile</a:t>
            </a:r>
          </a:p>
        </p:txBody>
      </p:sp>
      <p:sp>
        <p:nvSpPr>
          <p:cNvPr id="50" name="TextBox 49"/>
          <p:cNvSpPr txBox="1"/>
          <p:nvPr/>
        </p:nvSpPr>
        <p:spPr>
          <a:xfrm>
            <a:off x="4000500" y="4838700"/>
            <a:ext cx="28575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143404 → 140594</a:t>
            </a:r>
          </a:p>
        </p:txBody>
      </p:sp>
      <p:sp>
        <p:nvSpPr>
          <p:cNvPr id="51" name="TextBox 50"/>
          <p:cNvSpPr txBox="1"/>
          <p:nvPr/>
        </p:nvSpPr>
        <p:spPr>
          <a:xfrm>
            <a:off x="7112000" y="4838700"/>
            <a:ext cx="41021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154927116 → 151781388 B</a:t>
            </a:r>
          </a:p>
        </p:txBody>
      </p:sp>
      <p:sp>
        <p:nvSpPr>
          <p:cNvPr id="52" name="TextBox 51"/>
          <p:cNvSpPr txBox="1"/>
          <p:nvPr/>
        </p:nvSpPr>
        <p:spPr>
          <a:xfrm>
            <a:off x="7112000" y="5171694"/>
            <a:ext cx="41021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3 MiB 예약 제거</a:t>
            </a:r>
          </a:p>
        </p:txBody>
      </p:sp>
      <p:sp>
        <p:nvSpPr>
          <p:cNvPr id="53" name="Rounded Rectangle 52"/>
          <p:cNvSpPr/>
          <p:nvPr/>
        </p:nvSpPr>
        <p:spPr>
          <a:xfrm>
            <a:off x="977900" y="6616700"/>
            <a:ext cx="10198100" cy="1193800"/>
          </a:xfrm>
          <a:prstGeom prst="roundRect">
            <a:avLst>
              <a:gd name="adj" fmla="val 851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55700" y="6794500"/>
            <a:ext cx="9842500" cy="368045"/>
          </a:xfrm>
          <a:prstGeom prst="rect">
            <a:avLst/>
          </a:prstGeom>
          <a:noFill/>
        </p:spPr>
        <p:txBody>
          <a:bodyPr wrap="none" tIns="0" bIns="0" lIns="0" rIns="0" anchor="t">
            <a:spAutoFit/>
          </a:bodyPr>
          <a:lstStyle/>
          <a:p>
            <a:pPr algn="l">
              <a:lnSpc>
                <a:spcPts val="2897"/>
              </a:lnSpc>
              <a:spcBef>
                <a:spcPts val="0"/>
              </a:spcBef>
              <a:spcAft>
                <a:spcPts val="0"/>
              </a:spcAft>
            </a:pPr>
            <a:r>
              <a:rPr sz="2100" b="1">
                <a:solidFill>
                  <a:srgbClr val="172942"/>
                </a:solidFill>
                <a:latin typeface="NanumGothic"/>
                <a:ea typeface="NanumGothic"/>
                <a:cs typeface="NanumGothic"/>
              </a:rPr>
              <a:t>두 비교 모두 DMA와 SRAM peak는 그대로</a:t>
            </a:r>
          </a:p>
        </p:txBody>
      </p:sp>
      <p:sp>
        <p:nvSpPr>
          <p:cNvPr id="55" name="TextBox 54"/>
          <p:cNvSpPr txBox="1"/>
          <p:nvPr/>
        </p:nvSpPr>
        <p:spPr>
          <a:xfrm>
            <a:off x="1155700" y="7238746"/>
            <a:ext cx="98425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이미 SRAM으로 전달하던 중간값의 불필요한 명령·DRAM 예약을 정리한 결과</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E5 · 과거 단일 관측</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같은 프로그램을 얻는 compile 작업이 줄었습니다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실제 폭 Llama MLP · 동일 binary 확인 · 반복 평균이 아닌 wall-clock 관측</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M=7에서는 불필요한 검사가 감소</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기록된 compile 시간은 84.163→22.073초이고 TIR</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trial은 347→112회입니다. 최종 143883-word</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binary의 hash는 동일합니다.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M=64에서는 제한이 걸리지 않음</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무제한과 64회 제한이 모두 47 trial을 사용했습니다.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시간은 21.791→21.958초로 비슷하고</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140594-word binary도 같습니다.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반복 benchmark로 읽지 않는다</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기존 단일 wall-clock 관측이며 일부는 다른 검증과</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동시에 실행됐습니다. 모든 shape에서 일정 배율</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개선이나 전체 모델 cold compile 시간을 보여주는</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표가 아닙니다.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개선의 목적은 같은 합법 프로그램을 얻기 위해 반복하던 판단을 줄이는 것입니다. 탐색 한도가 실제로 작동했는지도 함께 봅니다.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 compile_comparison.json</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42 / 54</a:t>
            </a:r>
          </a:p>
        </p:txBody>
      </p:sp>
      <p:sp>
        <p:nvSpPr>
          <p:cNvPr id="35" name="TextBox 34"/>
          <p:cNvSpPr txBox="1"/>
          <p:nvPr/>
        </p:nvSpPr>
        <p:spPr>
          <a:xfrm>
            <a:off x="1016000" y="2832100"/>
            <a:ext cx="10160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M=7 · 실패 검사와 중복 시도 감소</a:t>
            </a:r>
          </a:p>
        </p:txBody>
      </p:sp>
      <p:sp>
        <p:nvSpPr>
          <p:cNvPr id="36" name="TextBox 35"/>
          <p:cNvSpPr txBox="1"/>
          <p:nvPr/>
        </p:nvSpPr>
        <p:spPr>
          <a:xfrm>
            <a:off x="1041400" y="34798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이전</a:t>
            </a:r>
          </a:p>
        </p:txBody>
      </p:sp>
      <p:sp>
        <p:nvSpPr>
          <p:cNvPr id="37" name="Rounded Rectangle 36"/>
          <p:cNvSpPr/>
          <p:nvPr/>
        </p:nvSpPr>
        <p:spPr>
          <a:xfrm>
            <a:off x="3225800" y="3479800"/>
            <a:ext cx="4953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225800" y="3479800"/>
            <a:ext cx="4631779" cy="330200"/>
          </a:xfrm>
          <a:prstGeom prst="roundRect">
            <a:avLst>
              <a:gd name="adj" fmla="val 11538"/>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80400" y="35052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84.163 s</a:t>
            </a:r>
          </a:p>
        </p:txBody>
      </p:sp>
      <p:sp>
        <p:nvSpPr>
          <p:cNvPr id="40" name="TextBox 39"/>
          <p:cNvSpPr txBox="1"/>
          <p:nvPr/>
        </p:nvSpPr>
        <p:spPr>
          <a:xfrm>
            <a:off x="1041400" y="40767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이후</a:t>
            </a:r>
          </a:p>
        </p:txBody>
      </p:sp>
      <p:sp>
        <p:nvSpPr>
          <p:cNvPr id="41" name="Rounded Rectangle 40"/>
          <p:cNvSpPr/>
          <p:nvPr/>
        </p:nvSpPr>
        <p:spPr>
          <a:xfrm>
            <a:off x="3225800" y="4076700"/>
            <a:ext cx="4953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225800" y="4076700"/>
            <a:ext cx="1214733" cy="330200"/>
          </a:xfrm>
          <a:prstGeom prst="roundRect">
            <a:avLst>
              <a:gd name="adj" fmla="val 11538"/>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80400" y="41021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22.073 s</a:t>
            </a:r>
          </a:p>
        </p:txBody>
      </p:sp>
      <p:sp>
        <p:nvSpPr>
          <p:cNvPr id="44" name="TextBox 43"/>
          <p:cNvSpPr txBox="1"/>
          <p:nvPr/>
        </p:nvSpPr>
        <p:spPr>
          <a:xfrm>
            <a:off x="1016000" y="5486400"/>
            <a:ext cx="101600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M=64 · 두 경우 모두 47 trials</a:t>
            </a:r>
          </a:p>
        </p:txBody>
      </p:sp>
      <p:sp>
        <p:nvSpPr>
          <p:cNvPr id="45" name="TextBox 44"/>
          <p:cNvSpPr txBox="1"/>
          <p:nvPr/>
        </p:nvSpPr>
        <p:spPr>
          <a:xfrm>
            <a:off x="1041400" y="61341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이전</a:t>
            </a:r>
          </a:p>
        </p:txBody>
      </p:sp>
      <p:sp>
        <p:nvSpPr>
          <p:cNvPr id="46" name="Rounded Rectangle 45"/>
          <p:cNvSpPr/>
          <p:nvPr/>
        </p:nvSpPr>
        <p:spPr>
          <a:xfrm>
            <a:off x="3225800" y="6134100"/>
            <a:ext cx="4953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225800" y="6134100"/>
            <a:ext cx="1199221" cy="330200"/>
          </a:xfrm>
          <a:prstGeom prst="roundRect">
            <a:avLst>
              <a:gd name="adj" fmla="val 11538"/>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80400" y="61595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21.791 s</a:t>
            </a:r>
          </a:p>
        </p:txBody>
      </p:sp>
      <p:sp>
        <p:nvSpPr>
          <p:cNvPr id="49" name="TextBox 48"/>
          <p:cNvSpPr txBox="1"/>
          <p:nvPr/>
        </p:nvSpPr>
        <p:spPr>
          <a:xfrm>
            <a:off x="1041400" y="6731000"/>
            <a:ext cx="21590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이후</a:t>
            </a:r>
          </a:p>
        </p:txBody>
      </p:sp>
      <p:sp>
        <p:nvSpPr>
          <p:cNvPr id="50" name="Rounded Rectangle 49"/>
          <p:cNvSpPr/>
          <p:nvPr/>
        </p:nvSpPr>
        <p:spPr>
          <a:xfrm>
            <a:off x="3225800" y="6731000"/>
            <a:ext cx="4953000" cy="330200"/>
          </a:xfrm>
          <a:prstGeom prst="roundRect">
            <a:avLst>
              <a:gd name="adj" fmla="val 11538"/>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225800" y="6731000"/>
            <a:ext cx="1208400" cy="330200"/>
          </a:xfrm>
          <a:prstGeom prst="roundRect">
            <a:avLst>
              <a:gd name="adj" fmla="val 11538"/>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80400" y="6756400"/>
            <a:ext cx="2222500" cy="280416"/>
          </a:xfrm>
          <a:prstGeom prst="rect">
            <a:avLst/>
          </a:prstGeom>
          <a:noFill/>
        </p:spPr>
        <p:txBody>
          <a:bodyPr wrap="none" tIns="0" bIns="0" lIns="0" rIns="0" anchor="t">
            <a:spAutoFit/>
          </a:bodyPr>
          <a:lstStyle/>
          <a:p>
            <a:pPr algn="l">
              <a:lnSpc>
                <a:spcPts val="2208"/>
              </a:lnSpc>
              <a:spcBef>
                <a:spcPts val="0"/>
              </a:spcBef>
              <a:spcAft>
                <a:spcPts val="0"/>
              </a:spcAft>
            </a:pPr>
            <a:r>
              <a:rPr sz="1600" b="1">
                <a:solidFill>
                  <a:srgbClr val="172942"/>
                </a:solidFill>
                <a:latin typeface="NanumGothic"/>
                <a:ea typeface="NanumGothic"/>
                <a:cs typeface="NanumGothic"/>
              </a:rPr>
              <a:t>21.958 s</a:t>
            </a:r>
          </a:p>
        </p:txBody>
      </p:sp>
      <p:sp>
        <p:nvSpPr>
          <p:cNvPr id="53" name="Rounded Rectangle 52"/>
          <p:cNvSpPr/>
          <p:nvPr/>
        </p:nvSpPr>
        <p:spPr>
          <a:xfrm>
            <a:off x="1016000" y="7620000"/>
            <a:ext cx="101473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30300" y="7696200"/>
            <a:ext cx="99187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두 비교 모두 최종 binary hash 동일 / 과거 단일 관측</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E6 · 전체 Llama 실행 기록</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과거 7-token 전체 모델에서 HF와 같은 token을 생성했습니다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E6 보존 기록입니다. 새 256-token prefill의 검증 결과와 구분합니다.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28 layers를 실제 실행한 기록</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Llama 3.2 3B FP16, prompt 7 tokens, capacity 9,</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greedy 3 tokens 조건입니다. Prefill과 position 7/8</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decode 모두 HF argmax와 일치했습니다.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통과 기준과 기록값을 구분</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유한한 logits, token 일치, cosine≥0.999가</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기준입니다. 최대 절대차는 기록했지만 별도의 통과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threshold로 사용하지 않았습니다.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이 결과의 검증 범위</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짧은 한 prompt의 생성 기록입니다. 장문·다양한</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prompt·양자화 품질은 별도이며 전체 graph 탐색도</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예산 종료로 unfused 기준을 선택했습니다.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이번 발표 갱신에서 전체 모델을 다시 컴파일하지 않았습니다. 보존된 실행 로그·JSON·source hash로 결과를 추적합니다.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 llama_validation.json</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43 / 54</a:t>
            </a:r>
          </a:p>
        </p:txBody>
      </p:sp>
      <p:sp>
        <p:nvSpPr>
          <p:cNvPr id="34" name="Rectangle 33"/>
          <p:cNvSpPr/>
          <p:nvPr/>
        </p:nvSpPr>
        <p:spPr>
          <a:xfrm>
            <a:off x="850900" y="29210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7900" y="3035300"/>
            <a:ext cx="2400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실행</a:t>
            </a:r>
          </a:p>
        </p:txBody>
      </p:sp>
      <p:sp>
        <p:nvSpPr>
          <p:cNvPr id="36" name="TextBox 35"/>
          <p:cNvSpPr txBox="1"/>
          <p:nvPr/>
        </p:nvSpPr>
        <p:spPr>
          <a:xfrm>
            <a:off x="3632200" y="3035300"/>
            <a:ext cx="22098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HF와 같은 token</a:t>
            </a:r>
          </a:p>
        </p:txBody>
      </p:sp>
      <p:sp>
        <p:nvSpPr>
          <p:cNvPr id="37" name="TextBox 36"/>
          <p:cNvSpPr txBox="1"/>
          <p:nvPr/>
        </p:nvSpPr>
        <p:spPr>
          <a:xfrm>
            <a:off x="6096000" y="3035300"/>
            <a:ext cx="2641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Cosine</a:t>
            </a:r>
          </a:p>
        </p:txBody>
      </p:sp>
      <p:sp>
        <p:nvSpPr>
          <p:cNvPr id="38" name="TextBox 37"/>
          <p:cNvSpPr txBox="1"/>
          <p:nvPr/>
        </p:nvSpPr>
        <p:spPr>
          <a:xfrm>
            <a:off x="8991600" y="3035300"/>
            <a:ext cx="22225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최대 절대차</a:t>
            </a:r>
          </a:p>
        </p:txBody>
      </p:sp>
      <p:sp>
        <p:nvSpPr>
          <p:cNvPr id="39" name="Rectangle 38"/>
          <p:cNvSpPr/>
          <p:nvPr/>
        </p:nvSpPr>
        <p:spPr>
          <a:xfrm>
            <a:off x="850900" y="3378200"/>
            <a:ext cx="10490200" cy="889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7900" y="3492500"/>
            <a:ext cx="2400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Prefill</a:t>
            </a:r>
          </a:p>
        </p:txBody>
      </p:sp>
      <p:sp>
        <p:nvSpPr>
          <p:cNvPr id="41" name="TextBox 40"/>
          <p:cNvSpPr txBox="1"/>
          <p:nvPr/>
        </p:nvSpPr>
        <p:spPr>
          <a:xfrm>
            <a:off x="3632200" y="3492500"/>
            <a:ext cx="22098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358</a:t>
            </a:r>
          </a:p>
        </p:txBody>
      </p:sp>
      <p:sp>
        <p:nvSpPr>
          <p:cNvPr id="42" name="TextBox 41"/>
          <p:cNvSpPr txBox="1"/>
          <p:nvPr/>
        </p:nvSpPr>
        <p:spPr>
          <a:xfrm>
            <a:off x="6096000" y="3492500"/>
            <a:ext cx="26416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0.9999977148</a:t>
            </a:r>
          </a:p>
        </p:txBody>
      </p:sp>
      <p:sp>
        <p:nvSpPr>
          <p:cNvPr id="43" name="TextBox 42"/>
          <p:cNvSpPr txBox="1"/>
          <p:nvPr/>
        </p:nvSpPr>
        <p:spPr>
          <a:xfrm>
            <a:off x="8991600" y="3492500"/>
            <a:ext cx="22225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0.03515625</a:t>
            </a:r>
          </a:p>
        </p:txBody>
      </p:sp>
      <p:sp>
        <p:nvSpPr>
          <p:cNvPr id="44" name="Rectangle 43"/>
          <p:cNvSpPr/>
          <p:nvPr/>
        </p:nvSpPr>
        <p:spPr>
          <a:xfrm>
            <a:off x="850900" y="4267200"/>
            <a:ext cx="10490200" cy="8890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4381500"/>
            <a:ext cx="2400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Decode pos 7</a:t>
            </a:r>
          </a:p>
        </p:txBody>
      </p:sp>
      <p:sp>
        <p:nvSpPr>
          <p:cNvPr id="46" name="TextBox 45"/>
          <p:cNvSpPr txBox="1"/>
          <p:nvPr/>
        </p:nvSpPr>
        <p:spPr>
          <a:xfrm>
            <a:off x="3632200" y="4381500"/>
            <a:ext cx="22098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2846</a:t>
            </a:r>
          </a:p>
        </p:txBody>
      </p:sp>
      <p:sp>
        <p:nvSpPr>
          <p:cNvPr id="47" name="TextBox 46"/>
          <p:cNvSpPr txBox="1"/>
          <p:nvPr/>
        </p:nvSpPr>
        <p:spPr>
          <a:xfrm>
            <a:off x="6096000" y="4381500"/>
            <a:ext cx="26416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0.9999958473</a:t>
            </a:r>
          </a:p>
        </p:txBody>
      </p:sp>
      <p:sp>
        <p:nvSpPr>
          <p:cNvPr id="48" name="TextBox 47"/>
          <p:cNvSpPr txBox="1"/>
          <p:nvPr/>
        </p:nvSpPr>
        <p:spPr>
          <a:xfrm>
            <a:off x="8991600" y="4381500"/>
            <a:ext cx="22225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0.02343750</a:t>
            </a:r>
          </a:p>
        </p:txBody>
      </p:sp>
      <p:sp>
        <p:nvSpPr>
          <p:cNvPr id="49" name="Rectangle 48"/>
          <p:cNvSpPr/>
          <p:nvPr/>
        </p:nvSpPr>
        <p:spPr>
          <a:xfrm>
            <a:off x="850900" y="5156200"/>
            <a:ext cx="10490200" cy="889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7900" y="5270500"/>
            <a:ext cx="2400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Decode pos 8</a:t>
            </a:r>
          </a:p>
        </p:txBody>
      </p:sp>
      <p:sp>
        <p:nvSpPr>
          <p:cNvPr id="51" name="TextBox 50"/>
          <p:cNvSpPr txBox="1"/>
          <p:nvPr/>
        </p:nvSpPr>
        <p:spPr>
          <a:xfrm>
            <a:off x="3632200" y="5270500"/>
            <a:ext cx="22098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4560</a:t>
            </a:r>
          </a:p>
        </p:txBody>
      </p:sp>
      <p:sp>
        <p:nvSpPr>
          <p:cNvPr id="52" name="TextBox 51"/>
          <p:cNvSpPr txBox="1"/>
          <p:nvPr/>
        </p:nvSpPr>
        <p:spPr>
          <a:xfrm>
            <a:off x="6096000" y="5270500"/>
            <a:ext cx="26416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0.9999929546</a:t>
            </a:r>
          </a:p>
        </p:txBody>
      </p:sp>
      <p:sp>
        <p:nvSpPr>
          <p:cNvPr id="53" name="TextBox 52"/>
          <p:cNvSpPr txBox="1"/>
          <p:nvPr/>
        </p:nvSpPr>
        <p:spPr>
          <a:xfrm>
            <a:off x="8991600" y="5270500"/>
            <a:ext cx="22225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0.03906250</a:t>
            </a:r>
          </a:p>
        </p:txBody>
      </p:sp>
      <p:sp>
        <p:nvSpPr>
          <p:cNvPr id="54" name="Rounded Rectangle 53"/>
          <p:cNvSpPr/>
          <p:nvPr/>
        </p:nvSpPr>
        <p:spPr>
          <a:xfrm>
            <a:off x="1016000" y="6743700"/>
            <a:ext cx="10121900" cy="1066800"/>
          </a:xfrm>
          <a:prstGeom prst="roundRect">
            <a:avLst>
              <a:gd name="adj" fmla="val 952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93800" y="6921500"/>
            <a:ext cx="97663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172942"/>
                </a:solidFill>
                <a:latin typeface="NanumGothic"/>
                <a:ea typeface="NanumGothic"/>
                <a:cs typeface="NanumGothic"/>
              </a:rPr>
              <a:t>생성: “ I'm trying”</a:t>
            </a:r>
          </a:p>
        </p:txBody>
      </p:sp>
      <p:sp>
        <p:nvSpPr>
          <p:cNvPr id="56" name="TextBox 55"/>
          <p:cNvSpPr txBox="1"/>
          <p:nvPr/>
        </p:nvSpPr>
        <p:spPr>
          <a:xfrm>
            <a:off x="1193800" y="7435850"/>
            <a:ext cx="9766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유한 logits + token 일치 + cosine ≥ 0.999 확인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탐색 개선과 전체 모델 재검증</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탐색 순서와 결과 재사용에 TVM 기능을 연결했습니다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후보 생성, 검사 순서, 실제 비용 측정은 서로 다른 역할입니다.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중복과 확실한 실패 줄이기</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같은 순회·복사 주기가 되는 후보를 정규화합니다.</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직접 FP16 입력의 cache만으로 SRAM을 초과한다는</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증명이 가능한 경우에만 후보를 미리 제외합니다.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검사는 실제 NPU 명령으로</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후보마다 TVM Schedule API, SRAM 배치, 명령</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생성을 수행합니다. Words 예산은 기준 프로그램</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크기를 반영하며 작은 설정 하나로 큰 커널의 탐색을</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바로 막지 않습니다.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TVM 기록은 선택해서 사용</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reuse는 trace 재생과 검증, tune은 추가 탐색입니다.</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장치·수치·메모리 조건이 맞아야 재사용합니다.</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ReplayFunc는 현재 후보 풀의 검사 순서를 바꾸는</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선택지입니다.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같은 shape만으로 재사용하지 않습니다. 계산 구조와 SRAM·입출력 조건을 확인하고, layer별 최종 주소는 다시 연결합니다.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 tvm_api.md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44 / 54</a:t>
            </a:r>
          </a:p>
        </p:txBody>
      </p:sp>
      <p:sp>
        <p:nvSpPr>
          <p:cNvPr id="36" name="Rounded Rectangle 35"/>
          <p:cNvSpPr/>
          <p:nvPr/>
        </p:nvSpPr>
        <p:spPr>
          <a:xfrm>
            <a:off x="889000" y="2832100"/>
            <a:ext cx="3136900" cy="1663700"/>
          </a:xfrm>
          <a:prstGeom prst="roundRect">
            <a:avLst>
              <a:gd name="adj" fmla="val 6106"/>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0099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후보를 만드는 규칙</a:t>
            </a:r>
          </a:p>
        </p:txBody>
      </p:sp>
      <p:sp>
        <p:nvSpPr>
          <p:cNvPr id="38" name="TextBox 37"/>
          <p:cNvSpPr txBox="1"/>
          <p:nvPr/>
        </p:nvSpPr>
        <p:spPr>
          <a:xfrm>
            <a:off x="1066800" y="34366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Panel · K chunk · loop 순서</a:t>
            </a:r>
          </a:p>
        </p:txBody>
      </p:sp>
      <p:sp>
        <p:nvSpPr>
          <p:cNvPr id="39" name="TextBox 38"/>
          <p:cNvSpPr txBox="1"/>
          <p:nvPr/>
        </p:nvSpPr>
        <p:spPr>
          <a:xfrm>
            <a:off x="1066800" y="36995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cache 위치를 조합</a:t>
            </a:r>
          </a:p>
        </p:txBody>
      </p:sp>
      <p:sp>
        <p:nvSpPr>
          <p:cNvPr id="40" name="Rounded Rectangle 39"/>
          <p:cNvSpPr/>
          <p:nvPr/>
        </p:nvSpPr>
        <p:spPr>
          <a:xfrm>
            <a:off x="4559300" y="2832100"/>
            <a:ext cx="3136900" cy="1663700"/>
          </a:xfrm>
          <a:prstGeom prst="roundRect">
            <a:avLst>
              <a:gd name="adj" fmla="val 6106"/>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37100" y="30099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검사 순서 선택</a:t>
            </a:r>
          </a:p>
        </p:txBody>
      </p:sp>
      <p:sp>
        <p:nvSpPr>
          <p:cNvPr id="42" name="TextBox 41"/>
          <p:cNvSpPr txBox="1"/>
          <p:nvPr/>
        </p:nvSpPr>
        <p:spPr>
          <a:xfrm>
            <a:off x="4737100" y="34366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기본 space / 선택형 ReplayFunc</a:t>
            </a:r>
          </a:p>
        </p:txBody>
      </p:sp>
      <p:sp>
        <p:nvSpPr>
          <p:cNvPr id="43" name="TextBox 42"/>
          <p:cNvSpPr txBox="1"/>
          <p:nvPr/>
        </p:nvSpPr>
        <p:spPr>
          <a:xfrm>
            <a:off x="4737100" y="36995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동일한 NPU 후보 공간 사용</a:t>
            </a:r>
          </a:p>
        </p:txBody>
      </p:sp>
      <p:cxnSp>
        <p:nvCxnSpPr>
          <p:cNvPr id="44" name="Connector 43"/>
          <p:cNvCxnSpPr/>
          <p:nvPr/>
        </p:nvCxnSpPr>
        <p:spPr>
          <a:xfrm>
            <a:off x="4076700" y="36639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4368800" y="3606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29600" y="2832100"/>
            <a:ext cx="3136900" cy="1663700"/>
          </a:xfrm>
          <a:prstGeom prst="roundRect">
            <a:avLst>
              <a:gd name="adj" fmla="val 6106"/>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7400" y="30099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실제 비용 확인</a:t>
            </a:r>
          </a:p>
        </p:txBody>
      </p:sp>
      <p:sp>
        <p:nvSpPr>
          <p:cNvPr id="48" name="TextBox 47"/>
          <p:cNvSpPr txBox="1"/>
          <p:nvPr/>
        </p:nvSpPr>
        <p:spPr>
          <a:xfrm>
            <a:off x="8407400" y="34366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SRAM 배치 + 명령 생성</a:t>
            </a:r>
          </a:p>
        </p:txBody>
      </p:sp>
      <p:sp>
        <p:nvSpPr>
          <p:cNvPr id="49" name="TextBox 48"/>
          <p:cNvSpPr txBox="1"/>
          <p:nvPr/>
        </p:nvSpPr>
        <p:spPr>
          <a:xfrm>
            <a:off x="8407400" y="36995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DMA → words → SRAM</a:t>
            </a:r>
          </a:p>
        </p:txBody>
      </p:sp>
      <p:cxnSp>
        <p:nvCxnSpPr>
          <p:cNvPr id="50" name="Connector 49"/>
          <p:cNvCxnSpPr/>
          <p:nvPr/>
        </p:nvCxnSpPr>
        <p:spPr>
          <a:xfrm>
            <a:off x="7747000" y="36639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8039100" y="36068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50900" y="50800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5194300"/>
            <a:ext cx="36195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TVM 기능</a:t>
            </a:r>
          </a:p>
        </p:txBody>
      </p:sp>
      <p:sp>
        <p:nvSpPr>
          <p:cNvPr id="54" name="TextBox 53"/>
          <p:cNvSpPr txBox="1"/>
          <p:nvPr/>
        </p:nvSpPr>
        <p:spPr>
          <a:xfrm>
            <a:off x="4851400" y="5194300"/>
            <a:ext cx="63627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현재 연결한 역할</a:t>
            </a:r>
          </a:p>
        </p:txBody>
      </p:sp>
      <p:sp>
        <p:nvSpPr>
          <p:cNvPr id="55" name="Rectangle 54"/>
          <p:cNvSpPr/>
          <p:nvPr/>
        </p:nvSpPr>
        <p:spPr>
          <a:xfrm>
            <a:off x="850900" y="5537200"/>
            <a:ext cx="10490200" cy="762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7900" y="5651500"/>
            <a:ext cx="3619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Workload / JSONDatabase</a:t>
            </a:r>
          </a:p>
        </p:txBody>
      </p:sp>
      <p:sp>
        <p:nvSpPr>
          <p:cNvPr id="57" name="TextBox 56"/>
          <p:cNvSpPr txBox="1"/>
          <p:nvPr/>
        </p:nvSpPr>
        <p:spPr>
          <a:xfrm>
            <a:off x="4851400" y="5651500"/>
            <a:ext cx="6362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계산 구조와 선택된 schedule trace 보관</a:t>
            </a:r>
          </a:p>
        </p:txBody>
      </p:sp>
      <p:sp>
        <p:nvSpPr>
          <p:cNvPr id="58" name="Rectangle 57"/>
          <p:cNvSpPr/>
          <p:nvPr/>
        </p:nvSpPr>
        <p:spPr>
          <a:xfrm>
            <a:off x="850900" y="6299200"/>
            <a:ext cx="10490200" cy="7620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7900" y="6413500"/>
            <a:ext cx="3619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reuse / tune</a:t>
            </a:r>
          </a:p>
        </p:txBody>
      </p:sp>
      <p:sp>
        <p:nvSpPr>
          <p:cNvPr id="60" name="TextBox 59"/>
          <p:cNvSpPr txBox="1"/>
          <p:nvPr/>
        </p:nvSpPr>
        <p:spPr>
          <a:xfrm>
            <a:off x="4851400" y="6413500"/>
            <a:ext cx="6362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기록 재생·검증 / 기존 winner와 새 후보 비교</a:t>
            </a:r>
          </a:p>
        </p:txBody>
      </p:sp>
      <p:sp>
        <p:nvSpPr>
          <p:cNvPr id="61" name="Rectangle 60"/>
          <p:cNvSpPr/>
          <p:nvPr/>
        </p:nvSpPr>
        <p:spPr>
          <a:xfrm>
            <a:off x="850900" y="7061200"/>
            <a:ext cx="10490200" cy="762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7900" y="7175500"/>
            <a:ext cx="3619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ReplayFunc</a:t>
            </a:r>
          </a:p>
        </p:txBody>
      </p:sp>
      <p:sp>
        <p:nvSpPr>
          <p:cNvPr id="63" name="TextBox 62"/>
          <p:cNvSpPr txBox="1"/>
          <p:nvPr/>
        </p:nvSpPr>
        <p:spPr>
          <a:xfrm>
            <a:off x="4851400" y="7175500"/>
            <a:ext cx="6362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후보 선택을 반복; 학습형 비용 모델은 아님</a:t>
            </a:r>
          </a:p>
        </p:txBody>
      </p:sp>
      <p:sp>
        <p:nvSpPr>
          <p:cNvPr id="64" name="Rounded Rectangle 63"/>
          <p:cNvSpPr/>
          <p:nvPr/>
        </p:nvSpPr>
        <p:spPr>
          <a:xfrm>
            <a:off x="1016000" y="8039100"/>
            <a:ext cx="101092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30300" y="8115300"/>
            <a:ext cx="98806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같은 계산도 SRAM 용량·입출력 배치가 다르면 다시 확인</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탐색 개선과 전체 모델 재검증</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512-token down에서는 탐색을 늘려도 같은 명령이 선택됐습니다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E9는 실제 Llama weight를 쓰는 한 projection의 비교입니다.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탐색이 실제로 진행된 결과</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Space와 ReplayFunc 모두 추가 합법 후보 4개를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평가했습니다. 그 범위에서는 기존 schedule보다</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정적 비용이 좋은 후보를 얻지 못했습니다.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개선된 것은 compile 작업</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중복·확실한 용량 초과 검사와 재사용을</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보완했습니다. 최종 명령이 같으므로 이 사례에서</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실행 성능이 좋아졌다고 주장하지 않습니다.</a:t>
            </a:r>
          </a:p>
        </p:txBody>
      </p:sp>
      <p:sp>
        <p:nvSpPr>
          <p:cNvPr id="22" name="Rounded Rectangle 21"/>
          <p:cNvSpPr/>
          <p:nvPr/>
        </p:nvSpPr>
        <p:spPr>
          <a:xfrm>
            <a:off x="11988800" y="5486908"/>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전체 모델과 범위를 구분</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실제 checkpoint weight, 합성 activation을</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사용했습니다. 전체 28-layer의 256-token 실험은</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다음 페이지의 별도 E10입니다.</a:t>
            </a:r>
          </a:p>
        </p:txBody>
      </p:sp>
      <p:sp>
        <p:nvSpPr>
          <p:cNvPr id="28" name="Rounded Rectangle 27"/>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0" name="TextBox 29"/>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실험 시간은 단일 관측입니다. ReplayFunc가 더 좋은 결과를 보장하지 않으며, 측정한 후보 전체를 넘어 최적이라고 주장하지 않습니다.</a:t>
            </a:r>
          </a:p>
        </p:txBody>
      </p:sp>
      <p:sp>
        <p:nvSpPr>
          <p:cNvPr id="31" name="TextBox 30"/>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2" name="TextBox 31"/>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 llama_schedule_refinement.json</a:t>
            </a:r>
          </a:p>
        </p:txBody>
      </p:sp>
      <p:sp>
        <p:nvSpPr>
          <p:cNvPr id="33" name="TextBox 32"/>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45 / 54</a:t>
            </a:r>
          </a:p>
        </p:txBody>
      </p:sp>
      <p:sp>
        <p:nvSpPr>
          <p:cNvPr id="34" name="Rectangle 33"/>
          <p:cNvSpPr/>
          <p:nvPr/>
        </p:nvSpPr>
        <p:spPr>
          <a:xfrm>
            <a:off x="850900" y="28194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7900" y="2933700"/>
            <a:ext cx="3556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512-token down / E9</a:t>
            </a:r>
          </a:p>
        </p:txBody>
      </p:sp>
      <p:sp>
        <p:nvSpPr>
          <p:cNvPr id="36" name="TextBox 35"/>
          <p:cNvSpPr txBox="1"/>
          <p:nvPr/>
        </p:nvSpPr>
        <p:spPr>
          <a:xfrm>
            <a:off x="4787900" y="2933700"/>
            <a:ext cx="30861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Space</a:t>
            </a:r>
          </a:p>
        </p:txBody>
      </p:sp>
      <p:sp>
        <p:nvSpPr>
          <p:cNvPr id="37" name="TextBox 36"/>
          <p:cNvSpPr txBox="1"/>
          <p:nvPr/>
        </p:nvSpPr>
        <p:spPr>
          <a:xfrm>
            <a:off x="8128000" y="2933700"/>
            <a:ext cx="30861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ReplayFunc</a:t>
            </a:r>
          </a:p>
        </p:txBody>
      </p:sp>
      <p:sp>
        <p:nvSpPr>
          <p:cNvPr id="38" name="Rectangle 37"/>
          <p:cNvSpPr/>
          <p:nvPr/>
        </p:nvSpPr>
        <p:spPr>
          <a:xfrm>
            <a:off x="850900" y="3276600"/>
            <a:ext cx="10490200" cy="698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7900" y="3390900"/>
            <a:ext cx="3556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추가 합법 후보</a:t>
            </a:r>
          </a:p>
        </p:txBody>
      </p:sp>
      <p:sp>
        <p:nvSpPr>
          <p:cNvPr id="40" name="TextBox 39"/>
          <p:cNvSpPr txBox="1"/>
          <p:nvPr/>
        </p:nvSpPr>
        <p:spPr>
          <a:xfrm>
            <a:off x="4787900" y="33909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4개</a:t>
            </a:r>
          </a:p>
        </p:txBody>
      </p:sp>
      <p:sp>
        <p:nvSpPr>
          <p:cNvPr id="41" name="TextBox 40"/>
          <p:cNvSpPr txBox="1"/>
          <p:nvPr/>
        </p:nvSpPr>
        <p:spPr>
          <a:xfrm>
            <a:off x="8128000" y="33909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4개</a:t>
            </a:r>
          </a:p>
        </p:txBody>
      </p:sp>
      <p:sp>
        <p:nvSpPr>
          <p:cNvPr id="42" name="Rectangle 41"/>
          <p:cNvSpPr/>
          <p:nvPr/>
        </p:nvSpPr>
        <p:spPr>
          <a:xfrm>
            <a:off x="850900" y="3975100"/>
            <a:ext cx="10490200" cy="6985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7900" y="4089400"/>
            <a:ext cx="3556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커널 탐색 시간</a:t>
            </a:r>
          </a:p>
        </p:txBody>
      </p:sp>
      <p:sp>
        <p:nvSpPr>
          <p:cNvPr id="44" name="TextBox 43"/>
          <p:cNvSpPr txBox="1"/>
          <p:nvPr/>
        </p:nvSpPr>
        <p:spPr>
          <a:xfrm>
            <a:off x="4787900" y="40894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10.586 s</a:t>
            </a:r>
          </a:p>
        </p:txBody>
      </p:sp>
      <p:sp>
        <p:nvSpPr>
          <p:cNvPr id="45" name="TextBox 44"/>
          <p:cNvSpPr txBox="1"/>
          <p:nvPr/>
        </p:nvSpPr>
        <p:spPr>
          <a:xfrm>
            <a:off x="8128000" y="40894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33.264 s</a:t>
            </a:r>
          </a:p>
        </p:txBody>
      </p:sp>
      <p:sp>
        <p:nvSpPr>
          <p:cNvPr id="46" name="Rectangle 45"/>
          <p:cNvSpPr/>
          <p:nvPr/>
        </p:nvSpPr>
        <p:spPr>
          <a:xfrm>
            <a:off x="850900" y="4673600"/>
            <a:ext cx="10490200" cy="698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4787900"/>
            <a:ext cx="3556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최종 DMA bytes</a:t>
            </a:r>
          </a:p>
        </p:txBody>
      </p:sp>
      <p:sp>
        <p:nvSpPr>
          <p:cNvPr id="48" name="TextBox 47"/>
          <p:cNvSpPr txBox="1"/>
          <p:nvPr/>
        </p:nvSpPr>
        <p:spPr>
          <a:xfrm>
            <a:off x="4787900" y="47879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112,197,644</a:t>
            </a:r>
          </a:p>
        </p:txBody>
      </p:sp>
      <p:sp>
        <p:nvSpPr>
          <p:cNvPr id="49" name="TextBox 48"/>
          <p:cNvSpPr txBox="1"/>
          <p:nvPr/>
        </p:nvSpPr>
        <p:spPr>
          <a:xfrm>
            <a:off x="8128000" y="47879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112,197,644</a:t>
            </a:r>
          </a:p>
        </p:txBody>
      </p:sp>
      <p:sp>
        <p:nvSpPr>
          <p:cNvPr id="50" name="Rectangle 49"/>
          <p:cNvSpPr/>
          <p:nvPr/>
        </p:nvSpPr>
        <p:spPr>
          <a:xfrm>
            <a:off x="850900" y="5372100"/>
            <a:ext cx="10490200" cy="6985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5486400"/>
            <a:ext cx="3556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최종 ISA words</a:t>
            </a:r>
          </a:p>
        </p:txBody>
      </p:sp>
      <p:sp>
        <p:nvSpPr>
          <p:cNvPr id="52" name="TextBox 51"/>
          <p:cNvSpPr txBox="1"/>
          <p:nvPr/>
        </p:nvSpPr>
        <p:spPr>
          <a:xfrm>
            <a:off x="4787900" y="54864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372,637</a:t>
            </a:r>
          </a:p>
        </p:txBody>
      </p:sp>
      <p:sp>
        <p:nvSpPr>
          <p:cNvPr id="53" name="TextBox 52"/>
          <p:cNvSpPr txBox="1"/>
          <p:nvPr/>
        </p:nvSpPr>
        <p:spPr>
          <a:xfrm>
            <a:off x="8128000" y="54864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372,637</a:t>
            </a:r>
          </a:p>
        </p:txBody>
      </p:sp>
      <p:sp>
        <p:nvSpPr>
          <p:cNvPr id="54" name="Rectangle 53"/>
          <p:cNvSpPr/>
          <p:nvPr/>
        </p:nvSpPr>
        <p:spPr>
          <a:xfrm>
            <a:off x="850900" y="6070600"/>
            <a:ext cx="10490200" cy="6985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7900" y="6184900"/>
            <a:ext cx="3556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최종 SRAM peak</a:t>
            </a:r>
          </a:p>
        </p:txBody>
      </p:sp>
      <p:sp>
        <p:nvSpPr>
          <p:cNvPr id="56" name="TextBox 55"/>
          <p:cNvSpPr txBox="1"/>
          <p:nvPr/>
        </p:nvSpPr>
        <p:spPr>
          <a:xfrm>
            <a:off x="4787900" y="61849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5,349,388 B</a:t>
            </a:r>
          </a:p>
        </p:txBody>
      </p:sp>
      <p:sp>
        <p:nvSpPr>
          <p:cNvPr id="57" name="TextBox 56"/>
          <p:cNvSpPr txBox="1"/>
          <p:nvPr/>
        </p:nvSpPr>
        <p:spPr>
          <a:xfrm>
            <a:off x="8128000" y="6184900"/>
            <a:ext cx="30861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5,349,388 B</a:t>
            </a:r>
          </a:p>
        </p:txBody>
      </p:sp>
      <p:sp>
        <p:nvSpPr>
          <p:cNvPr id="58" name="Rounded Rectangle 57"/>
          <p:cNvSpPr/>
          <p:nvPr/>
        </p:nvSpPr>
        <p:spPr>
          <a:xfrm>
            <a:off x="1016000" y="7048500"/>
            <a:ext cx="10134600" cy="1066800"/>
          </a:xfrm>
          <a:prstGeom prst="roundRect">
            <a:avLst>
              <a:gd name="adj" fmla="val 952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93800" y="7226300"/>
            <a:ext cx="9779000" cy="403098"/>
          </a:xfrm>
          <a:prstGeom prst="rect">
            <a:avLst/>
          </a:prstGeom>
          <a:noFill/>
        </p:spPr>
        <p:txBody>
          <a:bodyPr wrap="none" tIns="0" bIns="0" lIns="0" rIns="0" anchor="t">
            <a:spAutoFit/>
          </a:bodyPr>
          <a:lstStyle/>
          <a:p>
            <a:pPr algn="l">
              <a:lnSpc>
                <a:spcPts val="3174"/>
              </a:lnSpc>
              <a:spcBef>
                <a:spcPts val="0"/>
              </a:spcBef>
              <a:spcAft>
                <a:spcPts val="0"/>
              </a:spcAft>
            </a:pPr>
            <a:r>
              <a:rPr sz="2300" b="1">
                <a:solidFill>
                  <a:srgbClr val="172942"/>
                </a:solidFill>
                <a:latin typeface="NanumGothic"/>
                <a:ea typeface="NanumGothic"/>
                <a:cs typeface="NanumGothic"/>
              </a:rPr>
              <a:t>동일 binary · C-model 출력 검사 통과</a:t>
            </a:r>
          </a:p>
        </p:txBody>
      </p:sp>
      <p:sp>
        <p:nvSpPr>
          <p:cNvPr id="60" name="TextBox 59"/>
          <p:cNvSpPr txBox="1"/>
          <p:nvPr/>
        </p:nvSpPr>
        <p:spPr>
          <a:xfrm>
            <a:off x="1193800" y="7705598"/>
            <a:ext cx="9779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실제 layer-0 weight + 합성 activation / 전체 Llama 출력 검증은 아님</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11 / 탐색 개선과 전체 모델 재검증</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256-token 전체 prefill은 9개 graph 구성을 비교합니다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E10 중단: 큰 cache fusion의 명령 생성에서 메모리 증가. 병목 수정 후 전체 재검증은 남았습니다.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비교 조건을 동일하게</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분리된 커널도 SRAM 보관과 직접 출력을</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사용합니다. Fusion이 이보다 DMA·명령·SRAM</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비용을 줄이는지 전체 prefill 기준으로 확인합니다.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반복 layer는 판단을 재사용</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계산·메모리 조건이 같은 recipe는 재사용합니다.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서로 다른 보관 선택으로 가용 SRAM이 달라지면</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추가 검사하고, 실제 주소와 전체 수명은 모델 전체에</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반영합니다.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병목 수정과 전체 검증을 구분</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생산자 반복 배치를 거절하고 행 분할의 출력</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덮어쓰기 오류를 수정했습니다. 독립·회귀 검사는</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통과했지만 전체 256-token 모델은 다시 실행하지</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않았습니다.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9개 중 기준 구성 1개 완료 후 중단했습니다. 병목 독립 검사 통과와 전체 모델 출력 검증을 구분합니다.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11_experiments.md, llama_prefill256_full_search_progress.json, codegen_bottleneck_0929.json</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46 / 54</a:t>
            </a:r>
          </a:p>
        </p:txBody>
      </p:sp>
      <p:sp>
        <p:nvSpPr>
          <p:cNvPr id="36" name="Rectangle 35"/>
          <p:cNvSpPr/>
          <p:nvPr/>
        </p:nvSpPr>
        <p:spPr>
          <a:xfrm>
            <a:off x="850900" y="28448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900" y="2959100"/>
            <a:ext cx="2921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256-token prefill</a:t>
            </a:r>
          </a:p>
        </p:txBody>
      </p:sp>
      <p:sp>
        <p:nvSpPr>
          <p:cNvPr id="38" name="TextBox 37"/>
          <p:cNvSpPr txBox="1"/>
          <p:nvPr/>
        </p:nvSpPr>
        <p:spPr>
          <a:xfrm>
            <a:off x="4152900" y="2959100"/>
            <a:ext cx="2032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Generic off</a:t>
            </a:r>
          </a:p>
        </p:txBody>
      </p:sp>
      <p:sp>
        <p:nvSpPr>
          <p:cNvPr id="39" name="TextBox 38"/>
          <p:cNvSpPr txBox="1"/>
          <p:nvPr/>
        </p:nvSpPr>
        <p:spPr>
          <a:xfrm>
            <a:off x="6438900" y="2959100"/>
            <a:ext cx="2260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Vectors</a:t>
            </a:r>
          </a:p>
        </p:txBody>
      </p:sp>
      <p:sp>
        <p:nvSpPr>
          <p:cNvPr id="40" name="TextBox 39"/>
          <p:cNvSpPr txBox="1"/>
          <p:nvPr/>
        </p:nvSpPr>
        <p:spPr>
          <a:xfrm>
            <a:off x="8953500" y="2959100"/>
            <a:ext cx="22606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Matmul</a:t>
            </a:r>
          </a:p>
        </p:txBody>
      </p:sp>
      <p:sp>
        <p:nvSpPr>
          <p:cNvPr id="41" name="Rectangle 40"/>
          <p:cNvSpPr/>
          <p:nvPr/>
        </p:nvSpPr>
        <p:spPr>
          <a:xfrm>
            <a:off x="850900" y="3302000"/>
            <a:ext cx="10490200" cy="8128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900" y="3416300"/>
            <a:ext cx="292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Attention off</a:t>
            </a:r>
          </a:p>
        </p:txBody>
      </p:sp>
      <p:sp>
        <p:nvSpPr>
          <p:cNvPr id="43" name="TextBox 42"/>
          <p:cNvSpPr txBox="1"/>
          <p:nvPr/>
        </p:nvSpPr>
        <p:spPr>
          <a:xfrm>
            <a:off x="4152900" y="3416300"/>
            <a:ext cx="2032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기준 구성</a:t>
            </a:r>
          </a:p>
        </p:txBody>
      </p:sp>
      <p:sp>
        <p:nvSpPr>
          <p:cNvPr id="44" name="TextBox 43"/>
          <p:cNvSpPr txBox="1"/>
          <p:nvPr/>
        </p:nvSpPr>
        <p:spPr>
          <a:xfrm>
            <a:off x="6438900" y="3416300"/>
            <a:ext cx="2260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영역 10종</a:t>
            </a:r>
          </a:p>
        </p:txBody>
      </p:sp>
      <p:sp>
        <p:nvSpPr>
          <p:cNvPr id="45" name="TextBox 44"/>
          <p:cNvSpPr txBox="1"/>
          <p:nvPr/>
        </p:nvSpPr>
        <p:spPr>
          <a:xfrm>
            <a:off x="8953500" y="3416300"/>
            <a:ext cx="2260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영역 11종</a:t>
            </a:r>
          </a:p>
        </p:txBody>
      </p:sp>
      <p:sp>
        <p:nvSpPr>
          <p:cNvPr id="46" name="Rectangle 45"/>
          <p:cNvSpPr/>
          <p:nvPr/>
        </p:nvSpPr>
        <p:spPr>
          <a:xfrm>
            <a:off x="850900" y="4114800"/>
            <a:ext cx="10490200" cy="8128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4229100"/>
            <a:ext cx="292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Attention score</a:t>
            </a:r>
          </a:p>
        </p:txBody>
      </p:sp>
      <p:sp>
        <p:nvSpPr>
          <p:cNvPr id="48" name="TextBox 47"/>
          <p:cNvSpPr txBox="1"/>
          <p:nvPr/>
        </p:nvSpPr>
        <p:spPr>
          <a:xfrm>
            <a:off x="4152900" y="4229100"/>
            <a:ext cx="2032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1개 구성</a:t>
            </a:r>
          </a:p>
        </p:txBody>
      </p:sp>
      <p:sp>
        <p:nvSpPr>
          <p:cNvPr id="49" name="TextBox 48"/>
          <p:cNvSpPr txBox="1"/>
          <p:nvPr/>
        </p:nvSpPr>
        <p:spPr>
          <a:xfrm>
            <a:off x="6438900" y="4229100"/>
            <a:ext cx="2260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영역 9종</a:t>
            </a:r>
          </a:p>
        </p:txBody>
      </p:sp>
      <p:sp>
        <p:nvSpPr>
          <p:cNvPr id="50" name="TextBox 49"/>
          <p:cNvSpPr txBox="1"/>
          <p:nvPr/>
        </p:nvSpPr>
        <p:spPr>
          <a:xfrm>
            <a:off x="8953500" y="4229100"/>
            <a:ext cx="2260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영역 10종</a:t>
            </a:r>
          </a:p>
        </p:txBody>
      </p:sp>
      <p:sp>
        <p:nvSpPr>
          <p:cNvPr id="51" name="Rectangle 50"/>
          <p:cNvSpPr/>
          <p:nvPr/>
        </p:nvSpPr>
        <p:spPr>
          <a:xfrm>
            <a:off x="850900" y="4927600"/>
            <a:ext cx="10490200" cy="8128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7900" y="5041900"/>
            <a:ext cx="292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Attention full</a:t>
            </a:r>
          </a:p>
        </p:txBody>
      </p:sp>
      <p:sp>
        <p:nvSpPr>
          <p:cNvPr id="53" name="TextBox 52"/>
          <p:cNvSpPr txBox="1"/>
          <p:nvPr/>
        </p:nvSpPr>
        <p:spPr>
          <a:xfrm>
            <a:off x="4152900" y="5041900"/>
            <a:ext cx="2032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1개 구성</a:t>
            </a:r>
          </a:p>
        </p:txBody>
      </p:sp>
      <p:sp>
        <p:nvSpPr>
          <p:cNvPr id="54" name="TextBox 53"/>
          <p:cNvSpPr txBox="1"/>
          <p:nvPr/>
        </p:nvSpPr>
        <p:spPr>
          <a:xfrm>
            <a:off x="6438900" y="5041900"/>
            <a:ext cx="2260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영역 9종</a:t>
            </a:r>
          </a:p>
        </p:txBody>
      </p:sp>
      <p:sp>
        <p:nvSpPr>
          <p:cNvPr id="55" name="TextBox 54"/>
          <p:cNvSpPr txBox="1"/>
          <p:nvPr/>
        </p:nvSpPr>
        <p:spPr>
          <a:xfrm>
            <a:off x="8953500" y="5041900"/>
            <a:ext cx="22606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영역 10종</a:t>
            </a:r>
          </a:p>
        </p:txBody>
      </p:sp>
      <p:sp>
        <p:nvSpPr>
          <p:cNvPr id="56" name="Rounded Rectangle 55"/>
          <p:cNvSpPr/>
          <p:nvPr/>
        </p:nvSpPr>
        <p:spPr>
          <a:xfrm>
            <a:off x="1016000" y="6184900"/>
            <a:ext cx="4927600" cy="1371600"/>
          </a:xfrm>
          <a:prstGeom prst="roundRect">
            <a:avLst>
              <a:gd name="adj" fmla="val 7407"/>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93800" y="6362700"/>
            <a:ext cx="4572000" cy="420623"/>
          </a:xfrm>
          <a:prstGeom prst="rect">
            <a:avLst/>
          </a:prstGeom>
          <a:noFill/>
        </p:spPr>
        <p:txBody>
          <a:bodyPr wrap="none" tIns="0" bIns="0" lIns="0" rIns="0" anchor="t">
            <a:spAutoFit/>
          </a:bodyPr>
          <a:lstStyle/>
          <a:p>
            <a:pPr algn="l">
              <a:lnSpc>
                <a:spcPts val="3311"/>
              </a:lnSpc>
              <a:spcBef>
                <a:spcPts val="0"/>
              </a:spcBef>
              <a:spcAft>
                <a:spcPts val="0"/>
              </a:spcAft>
            </a:pPr>
            <a:r>
              <a:rPr sz="2400" b="1">
                <a:solidFill>
                  <a:srgbClr val="172942"/>
                </a:solidFill>
                <a:latin typeface="NanumGothic"/>
                <a:ea typeface="NanumGothic"/>
                <a:cs typeface="NanumGothic"/>
              </a:rPr>
              <a:t>전체 graph 구성 9개</a:t>
            </a:r>
          </a:p>
        </p:txBody>
      </p:sp>
      <p:sp>
        <p:nvSpPr>
          <p:cNvPr id="58" name="TextBox 57"/>
          <p:cNvSpPr txBox="1"/>
          <p:nvPr/>
        </p:nvSpPr>
        <p:spPr>
          <a:xfrm>
            <a:off x="1193800" y="6859524"/>
            <a:ext cx="4572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같은 IR의 GQA·producer 조합은 제거</a:t>
            </a:r>
          </a:p>
        </p:txBody>
      </p:sp>
      <p:sp>
        <p:nvSpPr>
          <p:cNvPr id="59" name="TextBox 58"/>
          <p:cNvSpPr txBox="1"/>
          <p:nvPr/>
        </p:nvSpPr>
        <p:spPr>
          <a:xfrm>
            <a:off x="1193800" y="7122414"/>
            <a:ext cx="4572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영역 수는 종류이며 최종 채택 수가 아님</a:t>
            </a:r>
          </a:p>
        </p:txBody>
      </p:sp>
      <p:sp>
        <p:nvSpPr>
          <p:cNvPr id="60" name="Rounded Rectangle 59"/>
          <p:cNvSpPr/>
          <p:nvPr/>
        </p:nvSpPr>
        <p:spPr>
          <a:xfrm>
            <a:off x="6184900" y="6184900"/>
            <a:ext cx="4965700" cy="1371600"/>
          </a:xfrm>
          <a:prstGeom prst="roundRect">
            <a:avLst>
              <a:gd name="adj" fmla="val 7407"/>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62700" y="6362700"/>
            <a:ext cx="4610100" cy="385572"/>
          </a:xfrm>
          <a:prstGeom prst="rect">
            <a:avLst/>
          </a:prstGeom>
          <a:noFill/>
        </p:spPr>
        <p:txBody>
          <a:bodyPr wrap="none" tIns="0" bIns="0" lIns="0" rIns="0" anchor="t">
            <a:spAutoFit/>
          </a:bodyPr>
          <a:lstStyle/>
          <a:p>
            <a:pPr algn="l">
              <a:lnSpc>
                <a:spcPts val="3036"/>
              </a:lnSpc>
              <a:spcBef>
                <a:spcPts val="0"/>
              </a:spcBef>
              <a:spcAft>
                <a:spcPts val="0"/>
              </a:spcAft>
            </a:pPr>
            <a:r>
              <a:rPr sz="2200" b="1">
                <a:solidFill>
                  <a:srgbClr val="172942"/>
                </a:solidFill>
                <a:latin typeface="NanumGothic"/>
                <a:ea typeface="NanumGothic"/>
                <a:cs typeface="NanumGothic"/>
              </a:rPr>
              <a:t>메모리 증가로 중단</a:t>
            </a:r>
          </a:p>
        </p:txBody>
      </p:sp>
      <p:sp>
        <p:nvSpPr>
          <p:cNvPr id="62" name="TextBox 61"/>
          <p:cNvSpPr txBox="1"/>
          <p:nvPr/>
        </p:nvSpPr>
        <p:spPr>
          <a:xfrm>
            <a:off x="6362700" y="6824472"/>
            <a:ext cx="4610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기준 1개 완료 / 두 번째 구성에서 중단</a:t>
            </a:r>
          </a:p>
        </p:txBody>
      </p:sp>
      <p:sp>
        <p:nvSpPr>
          <p:cNvPr id="63" name="TextBox 62"/>
          <p:cNvSpPr txBox="1"/>
          <p:nvPr/>
        </p:nvSpPr>
        <p:spPr>
          <a:xfrm>
            <a:off x="6362700" y="7087362"/>
            <a:ext cx="46101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병목 수정 · 전체 출력 재검증은 남음</a:t>
            </a:r>
          </a:p>
        </p:txBody>
      </p:sp>
      <p:sp>
        <p:nvSpPr>
          <p:cNvPr id="64" name="Rounded Rectangle 63"/>
          <p:cNvSpPr/>
          <p:nvPr/>
        </p:nvSpPr>
        <p:spPr>
          <a:xfrm>
            <a:off x="1016000" y="8026400"/>
            <a:ext cx="10109200" cy="381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30300" y="8102600"/>
            <a:ext cx="98806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28 layers 전체 · prefill만 · HF logits와 layer별 K/V 비교 예정</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12 / 현재 한계</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효과가 큰 항목부터 근거를 확인하며 확장합니다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 지원·검증 범위를 넘어서는 기능은 후속 검토로 남깁니다.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먼저 장치 계약을 확인할 부분</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Vector 256과 긴 VLEN의 LOAD/연산/SAVE 동작을</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RTL에서 확인해야 합니다. Cycle 자료가 없으므로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 DMA→words→SRAM 비용 모델의 한계도</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분명합니다.</a:t>
            </a:r>
          </a:p>
        </p:txBody>
      </p:sp>
      <p:sp>
        <p:nvSpPr>
          <p:cNvPr id="17" name="Rounded Rectangle 16"/>
          <p:cNvSpPr/>
          <p:nvPr/>
        </p:nvSpPr>
        <p:spPr>
          <a:xfrm>
            <a:off x="11988800" y="4106672"/>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이득을 측정한 뒤 설계할 부분</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작은 fusion 영역, KV 최종 슬롯 직접 저장, capacity</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bucket은 대표 입력에서 이득을 먼저 봅니다. 표준</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API로 공통 처리할 수 있는지도 함께 검토합니다.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큰 변경은 별도 범위로 다룬다</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Key online softmax, graph tile streaming,</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eviction·호출 순서 탐색, 자동 정밀도 선택은 구현</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규모와 검증 비용이 큽니다. 현재 기능에 포함된</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것으로 설명하지 않습니다.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사용자 기준: 실제 이득이 작으면 유지하고, custom 복잡도를 늘리는 큰 변경은 필요성과 설계부터 검토합니다.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12_operations_limits.md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47 / 54</a:t>
            </a:r>
          </a:p>
        </p:txBody>
      </p:sp>
      <p:sp>
        <p:nvSpPr>
          <p:cNvPr id="36" name="Rectangle 35"/>
          <p:cNvSpPr/>
          <p:nvPr/>
        </p:nvSpPr>
        <p:spPr>
          <a:xfrm>
            <a:off x="850900" y="28829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900" y="2997200"/>
            <a:ext cx="1892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검토 수준</a:t>
            </a:r>
          </a:p>
        </p:txBody>
      </p:sp>
      <p:sp>
        <p:nvSpPr>
          <p:cNvPr id="38" name="TextBox 37"/>
          <p:cNvSpPr txBox="1"/>
          <p:nvPr/>
        </p:nvSpPr>
        <p:spPr>
          <a:xfrm>
            <a:off x="3124200" y="2997200"/>
            <a:ext cx="40767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대표 항목</a:t>
            </a:r>
          </a:p>
        </p:txBody>
      </p:sp>
      <p:sp>
        <p:nvSpPr>
          <p:cNvPr id="39" name="TextBox 38"/>
          <p:cNvSpPr txBox="1"/>
          <p:nvPr/>
        </p:nvSpPr>
        <p:spPr>
          <a:xfrm>
            <a:off x="7454900" y="2997200"/>
            <a:ext cx="3759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먼저 확보할 근거</a:t>
            </a:r>
          </a:p>
        </p:txBody>
      </p:sp>
      <p:sp>
        <p:nvSpPr>
          <p:cNvPr id="40" name="Rectangle 39"/>
          <p:cNvSpPr/>
          <p:nvPr/>
        </p:nvSpPr>
        <p:spPr>
          <a:xfrm>
            <a:off x="850900" y="3340100"/>
            <a:ext cx="10490200" cy="13716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3454400"/>
            <a:ext cx="1892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장치 계약 확인</a:t>
            </a:r>
          </a:p>
        </p:txBody>
      </p:sp>
      <p:sp>
        <p:nvSpPr>
          <p:cNvPr id="42" name="TextBox 41"/>
          <p:cNvSpPr txBox="1"/>
          <p:nvPr/>
        </p:nvSpPr>
        <p:spPr>
          <a:xfrm>
            <a:off x="3124200" y="3454400"/>
            <a:ext cx="4076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Vector 256 / 긴 VLEN</a:t>
            </a:r>
          </a:p>
        </p:txBody>
      </p:sp>
      <p:sp>
        <p:nvSpPr>
          <p:cNvPr id="43" name="TextBox 42"/>
          <p:cNvSpPr txBox="1"/>
          <p:nvPr/>
        </p:nvSpPr>
        <p:spPr>
          <a:xfrm>
            <a:off x="3124200" y="3769867"/>
            <a:ext cx="4076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Cycle와 실제 실행기</a:t>
            </a:r>
          </a:p>
        </p:txBody>
      </p:sp>
      <p:sp>
        <p:nvSpPr>
          <p:cNvPr id="44" name="TextBox 43"/>
          <p:cNvSpPr txBox="1"/>
          <p:nvPr/>
        </p:nvSpPr>
        <p:spPr>
          <a:xfrm>
            <a:off x="7454900" y="3454400"/>
            <a:ext cx="3759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RTL 동작 / tail / buffer</a:t>
            </a:r>
          </a:p>
        </p:txBody>
      </p:sp>
      <p:sp>
        <p:nvSpPr>
          <p:cNvPr id="45" name="TextBox 44"/>
          <p:cNvSpPr txBox="1"/>
          <p:nvPr/>
        </p:nvSpPr>
        <p:spPr>
          <a:xfrm>
            <a:off x="7454900" y="3769867"/>
            <a:ext cx="3759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대표 연산 timing</a:t>
            </a:r>
          </a:p>
        </p:txBody>
      </p:sp>
      <p:sp>
        <p:nvSpPr>
          <p:cNvPr id="46" name="Rectangle 45"/>
          <p:cNvSpPr/>
          <p:nvPr/>
        </p:nvSpPr>
        <p:spPr>
          <a:xfrm>
            <a:off x="850900" y="4711700"/>
            <a:ext cx="10490200" cy="13716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4826000"/>
            <a:ext cx="1892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제한된 효과 비교</a:t>
            </a:r>
          </a:p>
        </p:txBody>
      </p:sp>
      <p:sp>
        <p:nvSpPr>
          <p:cNvPr id="48" name="TextBox 47"/>
          <p:cNvSpPr txBox="1"/>
          <p:nvPr/>
        </p:nvSpPr>
        <p:spPr>
          <a:xfrm>
            <a:off x="3124200" y="4826000"/>
            <a:ext cx="4076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작은 fusion / KV 직접 저장</a:t>
            </a:r>
          </a:p>
        </p:txBody>
      </p:sp>
      <p:sp>
        <p:nvSpPr>
          <p:cNvPr id="49" name="TextBox 48"/>
          <p:cNvSpPr txBox="1"/>
          <p:nvPr/>
        </p:nvSpPr>
        <p:spPr>
          <a:xfrm>
            <a:off x="3124200" y="5141468"/>
            <a:ext cx="4076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Capacity bucket</a:t>
            </a:r>
          </a:p>
        </p:txBody>
      </p:sp>
      <p:sp>
        <p:nvSpPr>
          <p:cNvPr id="50" name="TextBox 49"/>
          <p:cNvSpPr txBox="1"/>
          <p:nvPr/>
        </p:nvSpPr>
        <p:spPr>
          <a:xfrm>
            <a:off x="7454900" y="4826000"/>
            <a:ext cx="3759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최종 words·DMA·space</a:t>
            </a:r>
          </a:p>
        </p:txBody>
      </p:sp>
      <p:sp>
        <p:nvSpPr>
          <p:cNvPr id="51" name="TextBox 50"/>
          <p:cNvSpPr txBox="1"/>
          <p:nvPr/>
        </p:nvSpPr>
        <p:spPr>
          <a:xfrm>
            <a:off x="7454900" y="5141468"/>
            <a:ext cx="3759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구현과 ABI 변경 범위</a:t>
            </a:r>
          </a:p>
        </p:txBody>
      </p:sp>
      <p:sp>
        <p:nvSpPr>
          <p:cNvPr id="52" name="Rectangle 51"/>
          <p:cNvSpPr/>
          <p:nvPr/>
        </p:nvSpPr>
        <p:spPr>
          <a:xfrm>
            <a:off x="850900" y="6083300"/>
            <a:ext cx="10490200" cy="13716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6197600"/>
            <a:ext cx="1892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별도 큰 설계</a:t>
            </a:r>
          </a:p>
        </p:txBody>
      </p:sp>
      <p:sp>
        <p:nvSpPr>
          <p:cNvPr id="54" name="TextBox 53"/>
          <p:cNvSpPr txBox="1"/>
          <p:nvPr/>
        </p:nvSpPr>
        <p:spPr>
          <a:xfrm>
            <a:off x="3124200" y="6197600"/>
            <a:ext cx="4076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Online softmax / tile streaming</a:t>
            </a:r>
          </a:p>
        </p:txBody>
      </p:sp>
      <p:sp>
        <p:nvSpPr>
          <p:cNvPr id="55" name="TextBox 54"/>
          <p:cNvSpPr txBox="1"/>
          <p:nvPr/>
        </p:nvSpPr>
        <p:spPr>
          <a:xfrm>
            <a:off x="3124200" y="6513068"/>
            <a:ext cx="4076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Eviction / 정밀도 탐색</a:t>
            </a:r>
          </a:p>
        </p:txBody>
      </p:sp>
      <p:sp>
        <p:nvSpPr>
          <p:cNvPr id="56" name="TextBox 55"/>
          <p:cNvSpPr txBox="1"/>
          <p:nvPr/>
        </p:nvSpPr>
        <p:spPr>
          <a:xfrm>
            <a:off x="7454900" y="6197600"/>
            <a:ext cx="3759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실제 손실이 큰 workload</a:t>
            </a:r>
          </a:p>
        </p:txBody>
      </p:sp>
      <p:sp>
        <p:nvSpPr>
          <p:cNvPr id="57" name="TextBox 56"/>
          <p:cNvSpPr txBox="1"/>
          <p:nvPr/>
        </p:nvSpPr>
        <p:spPr>
          <a:xfrm>
            <a:off x="7454900" y="6513068"/>
            <a:ext cx="3759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장치 상태와 검증 기준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12 / 다시 전체 흐름으로</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모델의 계산이 주소와 명령으로 구체화됩니다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각 단계의 결과를 다음 단계의 입력으로 읽으면 전체 흐름이 이어집니다.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IR에서 실행까지 같은 값을 추적</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모델의 중간값 P가 call_tir 결과가 되고, TIR의</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buffer가 되며, SRAM 주소와 SAVE/LOAD 명령으로</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구체화됩니다. 단계가 바뀌어도 값의 의미는</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연결됩니다.</a:t>
            </a:r>
          </a:p>
        </p:txBody>
      </p:sp>
      <p:sp>
        <p:nvSpPr>
          <p:cNvPr id="17" name="Rounded Rectangle 16"/>
          <p:cNvSpPr/>
          <p:nvPr/>
        </p:nvSpPr>
        <p:spPr>
          <a:xfrm>
            <a:off x="11988800" y="4106672"/>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결정과 증거를 함께 읽는다</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왜 해당 fusion·schedule·보관을 골랐는지는 선택</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진단으로, 실제 동작은 IR·명령·실행 결과로</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확인합니다. 최적화 옵션이 켜졌다는 사실만으로</a:t>
            </a:r>
          </a:p>
        </p:txBody>
      </p:sp>
      <p:sp>
        <p:nvSpPr>
          <p:cNvPr id="23" name="TextBox 22"/>
          <p:cNvSpPr txBox="1"/>
          <p:nvPr/>
        </p:nvSpPr>
        <p:spPr>
          <a:xfrm>
            <a:off x="12255500" y="55991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효과를 단정하지 않습니다.</a:t>
            </a:r>
          </a:p>
        </p:txBody>
      </p:sp>
      <p:sp>
        <p:nvSpPr>
          <p:cNvPr id="24" name="Rounded Rectangle 23"/>
          <p:cNvSpPr/>
          <p:nvPr/>
        </p:nvSpPr>
        <p:spPr>
          <a:xfrm>
            <a:off x="11988800" y="611784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988800" y="6117844"/>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42800" y="633374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질문에서 관련 단계로 돌아간다</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반올림은 수치 정의, 반복 전송은 schedule, 중간값</a:t>
            </a:r>
          </a:p>
        </p:txBody>
      </p:sp>
      <p:sp>
        <p:nvSpPr>
          <p:cNvPr id="28" name="TextBox 27"/>
          <p:cNvSpPr txBox="1"/>
          <p:nvPr/>
        </p:nvSpPr>
        <p:spPr>
          <a:xfrm>
            <a:off x="12255500" y="697941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보관은 memory, decode slot은 runtime 계약을</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봅니다. 문서와 실험 파일이 같은 주제로 연결됩니다.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다음 부록은 TVM API, IR, 기존 main, 양자화, 긴 prefill, 자료 추적을 정리합니다.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01_overview.md, 12_operations_limits.md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48 / 54</a:t>
            </a:r>
          </a:p>
        </p:txBody>
      </p:sp>
      <p:sp>
        <p:nvSpPr>
          <p:cNvPr id="36" name="Rectangle 35"/>
          <p:cNvSpPr/>
          <p:nvPr/>
        </p:nvSpPr>
        <p:spPr>
          <a:xfrm>
            <a:off x="850900" y="28448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900" y="2959100"/>
            <a:ext cx="1854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단계</a:t>
            </a:r>
          </a:p>
        </p:txBody>
      </p:sp>
      <p:sp>
        <p:nvSpPr>
          <p:cNvPr id="38" name="TextBox 37"/>
          <p:cNvSpPr txBox="1"/>
          <p:nvPr/>
        </p:nvSpPr>
        <p:spPr>
          <a:xfrm>
            <a:off x="3086100" y="2959100"/>
            <a:ext cx="4191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P = X × B를 따라가기</a:t>
            </a:r>
          </a:p>
        </p:txBody>
      </p:sp>
      <p:sp>
        <p:nvSpPr>
          <p:cNvPr id="39" name="TextBox 38"/>
          <p:cNvSpPr txBox="1"/>
          <p:nvPr/>
        </p:nvSpPr>
        <p:spPr>
          <a:xfrm>
            <a:off x="7531100" y="2959100"/>
            <a:ext cx="3683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확인할 결과</a:t>
            </a:r>
          </a:p>
        </p:txBody>
      </p:sp>
      <p:sp>
        <p:nvSpPr>
          <p:cNvPr id="40" name="Rectangle 39"/>
          <p:cNvSpPr/>
          <p:nvPr/>
        </p:nvSpPr>
        <p:spPr>
          <a:xfrm>
            <a:off x="850900" y="3302000"/>
            <a:ext cx="10490200" cy="8382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3416300"/>
            <a:ext cx="1854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모델 / Relax</a:t>
            </a:r>
          </a:p>
        </p:txBody>
      </p:sp>
      <p:sp>
        <p:nvSpPr>
          <p:cNvPr id="42" name="TextBox 41"/>
          <p:cNvSpPr txBox="1"/>
          <p:nvPr/>
        </p:nvSpPr>
        <p:spPr>
          <a:xfrm>
            <a:off x="3086100" y="3416300"/>
            <a:ext cx="419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P를 만들고 add/SiLU가 소비</a:t>
            </a:r>
          </a:p>
        </p:txBody>
      </p:sp>
      <p:sp>
        <p:nvSpPr>
          <p:cNvPr id="43" name="TextBox 42"/>
          <p:cNvSpPr txBox="1"/>
          <p:nvPr/>
        </p:nvSpPr>
        <p:spPr>
          <a:xfrm>
            <a:off x="7531100" y="3416300"/>
            <a:ext cx="3683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Authored / graph prefix IR</a:t>
            </a:r>
          </a:p>
        </p:txBody>
      </p:sp>
      <p:sp>
        <p:nvSpPr>
          <p:cNvPr id="44" name="Rectangle 43"/>
          <p:cNvSpPr/>
          <p:nvPr/>
        </p:nvSpPr>
        <p:spPr>
          <a:xfrm>
            <a:off x="850900" y="4140200"/>
            <a:ext cx="10490200" cy="8382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4254500"/>
            <a:ext cx="1854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Semantic TIR</a:t>
            </a:r>
          </a:p>
        </p:txBody>
      </p:sp>
      <p:sp>
        <p:nvSpPr>
          <p:cNvPr id="46" name="TextBox 45"/>
          <p:cNvSpPr txBox="1"/>
          <p:nvPr/>
        </p:nvSpPr>
        <p:spPr>
          <a:xfrm>
            <a:off x="3086100" y="4254500"/>
            <a:ext cx="419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C32 누산 → P를 FP16로 저장</a:t>
            </a:r>
          </a:p>
        </p:txBody>
      </p:sp>
      <p:sp>
        <p:nvSpPr>
          <p:cNvPr id="47" name="TextBox 46"/>
          <p:cNvSpPr txBox="1"/>
          <p:nvPr/>
        </p:nvSpPr>
        <p:spPr>
          <a:xfrm>
            <a:off x="7531100" y="4254500"/>
            <a:ext cx="3683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Reduction과 cast 위치</a:t>
            </a:r>
          </a:p>
        </p:txBody>
      </p:sp>
      <p:sp>
        <p:nvSpPr>
          <p:cNvPr id="48" name="Rectangle 47"/>
          <p:cNvSpPr/>
          <p:nvPr/>
        </p:nvSpPr>
        <p:spPr>
          <a:xfrm>
            <a:off x="850900" y="4978400"/>
            <a:ext cx="10490200" cy="8382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7900" y="5092700"/>
            <a:ext cx="1854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Schedule</a:t>
            </a:r>
          </a:p>
        </p:txBody>
      </p:sp>
      <p:sp>
        <p:nvSpPr>
          <p:cNvPr id="50" name="TextBox 49"/>
          <p:cNvSpPr txBox="1"/>
          <p:nvPr/>
        </p:nvSpPr>
        <p:spPr>
          <a:xfrm>
            <a:off x="3086100" y="5092700"/>
            <a:ext cx="419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K 두 조각 / 입력 panel 재사용</a:t>
            </a:r>
          </a:p>
        </p:txBody>
      </p:sp>
      <p:sp>
        <p:nvSpPr>
          <p:cNvPr id="51" name="TextBox 50"/>
          <p:cNvSpPr txBox="1"/>
          <p:nvPr/>
        </p:nvSpPr>
        <p:spPr>
          <a:xfrm>
            <a:off x="7531100" y="5092700"/>
            <a:ext cx="3683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Cache 위치와 intrinsic</a:t>
            </a:r>
          </a:p>
        </p:txBody>
      </p:sp>
      <p:sp>
        <p:nvSpPr>
          <p:cNvPr id="52" name="Rectangle 51"/>
          <p:cNvSpPr/>
          <p:nvPr/>
        </p:nvSpPr>
        <p:spPr>
          <a:xfrm>
            <a:off x="850900" y="5816600"/>
            <a:ext cx="10490200" cy="8382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5930900"/>
            <a:ext cx="1854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Memory</a:t>
            </a:r>
          </a:p>
        </p:txBody>
      </p:sp>
      <p:sp>
        <p:nvSpPr>
          <p:cNvPr id="54" name="TextBox 53"/>
          <p:cNvSpPr txBox="1"/>
          <p:nvPr/>
        </p:nvSpPr>
        <p:spPr>
          <a:xfrm>
            <a:off x="3086100" y="5930900"/>
            <a:ext cx="419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P의 수명 / SRAM 보관 / 주소</a:t>
            </a:r>
          </a:p>
        </p:txBody>
      </p:sp>
      <p:sp>
        <p:nvSpPr>
          <p:cNvPr id="55" name="TextBox 54"/>
          <p:cNvSpPr txBox="1"/>
          <p:nvPr/>
        </p:nvSpPr>
        <p:spPr>
          <a:xfrm>
            <a:off x="7531100" y="5930900"/>
            <a:ext cx="3683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실제 선택과 byte offset</a:t>
            </a:r>
          </a:p>
        </p:txBody>
      </p:sp>
      <p:sp>
        <p:nvSpPr>
          <p:cNvPr id="56" name="Rectangle 55"/>
          <p:cNvSpPr/>
          <p:nvPr/>
        </p:nvSpPr>
        <p:spPr>
          <a:xfrm>
            <a:off x="850900" y="6654800"/>
            <a:ext cx="10490200" cy="8382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7900" y="6769100"/>
            <a:ext cx="18542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ISA / runtime</a:t>
            </a:r>
          </a:p>
        </p:txBody>
      </p:sp>
      <p:sp>
        <p:nvSpPr>
          <p:cNvPr id="58" name="TextBox 57"/>
          <p:cNvSpPr txBox="1"/>
          <p:nvPr/>
        </p:nvSpPr>
        <p:spPr>
          <a:xfrm>
            <a:off x="3086100" y="6769100"/>
            <a:ext cx="4191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LOAD·M_MUL·SAVE / 출력 해석</a:t>
            </a:r>
          </a:p>
        </p:txBody>
      </p:sp>
      <p:sp>
        <p:nvSpPr>
          <p:cNvPr id="59" name="TextBox 58"/>
          <p:cNvSpPr txBox="1"/>
          <p:nvPr/>
        </p:nvSpPr>
        <p:spPr>
          <a:xfrm>
            <a:off x="7531100" y="6769100"/>
            <a:ext cx="3683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Program / plan / 실행 검증</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부록 A / TVM API</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표준 API가 맡는 역할을 구분합니다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API 자체의 기능과 NPU가 추가로 결정하는 정책을 함께 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TVM은 구조 변환의 기반</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LegalizeOps와 TE는 계산 정의, FuseOps/FuseTIR는</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graph grouping과 TIR 결합, Schedule API는</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loop와 cache 변환을 제공합니다.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장치 정책은 그 위에 놓인다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NPU용 dtype·intrinsic·SRAM 용량·후보 비용은</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backend가 정합니다. 표준 API를 사용한다는 것과</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target별 판단이 필요 없다는 것은 다른</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이야기입니다.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MetaSchedule은 선택형으로 연결</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JSONDatabase는 선택된 trace를 저장·재생하고</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ReplayFunc는 NPU schedule 설정을 추첨합니다.</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DLight·학습형 CostModel은 사용하지 않습니다.</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DMA를 latency로 기록하지 않습니다.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StaticPlanBlockMemory와 USMP의 분석 범위도 다릅니다. 표준 pass의 이름보다 입력·출력·보장하는 내용을 먼저 확인합니다.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 · 부록</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tvm_api.md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49 / 54</a:t>
            </a:r>
          </a:p>
        </p:txBody>
      </p:sp>
      <p:sp>
        <p:nvSpPr>
          <p:cNvPr id="36" name="Rectangle 35"/>
          <p:cNvSpPr/>
          <p:nvPr/>
        </p:nvSpPr>
        <p:spPr>
          <a:xfrm>
            <a:off x="850900" y="28194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900" y="2933700"/>
            <a:ext cx="26162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표준 API</a:t>
            </a:r>
          </a:p>
        </p:txBody>
      </p:sp>
      <p:sp>
        <p:nvSpPr>
          <p:cNvPr id="38" name="TextBox 37"/>
          <p:cNvSpPr txBox="1"/>
          <p:nvPr/>
        </p:nvSpPr>
        <p:spPr>
          <a:xfrm>
            <a:off x="3848100" y="2933700"/>
            <a:ext cx="34671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입력 → 결과</a:t>
            </a:r>
          </a:p>
        </p:txBody>
      </p:sp>
      <p:sp>
        <p:nvSpPr>
          <p:cNvPr id="39" name="TextBox 38"/>
          <p:cNvSpPr txBox="1"/>
          <p:nvPr/>
        </p:nvSpPr>
        <p:spPr>
          <a:xfrm>
            <a:off x="7569200" y="2933700"/>
            <a:ext cx="36449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그 자체로 결정하지 않는 것</a:t>
            </a:r>
          </a:p>
        </p:txBody>
      </p:sp>
      <p:sp>
        <p:nvSpPr>
          <p:cNvPr id="40" name="Rectangle 39"/>
          <p:cNvSpPr/>
          <p:nvPr/>
        </p:nvSpPr>
        <p:spPr>
          <a:xfrm>
            <a:off x="850900" y="3276600"/>
            <a:ext cx="10490200" cy="7366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7900" y="3390900"/>
            <a:ext cx="26162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LegalizeOps / TE</a:t>
            </a:r>
          </a:p>
        </p:txBody>
      </p:sp>
      <p:sp>
        <p:nvSpPr>
          <p:cNvPr id="42" name="TextBox 41"/>
          <p:cNvSpPr txBox="1"/>
          <p:nvPr/>
        </p:nvSpPr>
        <p:spPr>
          <a:xfrm>
            <a:off x="3848100" y="3390900"/>
            <a:ext cx="34671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고수준 연산 → 원소 수식</a:t>
            </a:r>
          </a:p>
        </p:txBody>
      </p:sp>
      <p:sp>
        <p:nvSpPr>
          <p:cNvPr id="43" name="TextBox 42"/>
          <p:cNvSpPr txBox="1"/>
          <p:nvPr/>
        </p:nvSpPr>
        <p:spPr>
          <a:xfrm>
            <a:off x="7569200" y="3390900"/>
            <a:ext cx="364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NPU의 허용 오차 정책</a:t>
            </a:r>
          </a:p>
        </p:txBody>
      </p:sp>
      <p:sp>
        <p:nvSpPr>
          <p:cNvPr id="44" name="Rectangle 43"/>
          <p:cNvSpPr/>
          <p:nvPr/>
        </p:nvSpPr>
        <p:spPr>
          <a:xfrm>
            <a:off x="850900" y="4013200"/>
            <a:ext cx="10490200" cy="7366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7900" y="4127500"/>
            <a:ext cx="26162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FuseOps / FuseTIR</a:t>
            </a:r>
          </a:p>
        </p:txBody>
      </p:sp>
      <p:sp>
        <p:nvSpPr>
          <p:cNvPr id="46" name="TextBox 45"/>
          <p:cNvSpPr txBox="1"/>
          <p:nvPr/>
        </p:nvSpPr>
        <p:spPr>
          <a:xfrm>
            <a:off x="3848100" y="4127500"/>
            <a:ext cx="34671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Graph 그룹 → 하나의 PrimFunc</a:t>
            </a:r>
          </a:p>
        </p:txBody>
      </p:sp>
      <p:sp>
        <p:nvSpPr>
          <p:cNvPr id="47" name="TextBox 46"/>
          <p:cNvSpPr txBox="1"/>
          <p:nvPr/>
        </p:nvSpPr>
        <p:spPr>
          <a:xfrm>
            <a:off x="7569200" y="4127500"/>
            <a:ext cx="364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실제 장치에서의 이득</a:t>
            </a:r>
          </a:p>
        </p:txBody>
      </p:sp>
      <p:sp>
        <p:nvSpPr>
          <p:cNvPr id="48" name="Rectangle 47"/>
          <p:cNvSpPr/>
          <p:nvPr/>
        </p:nvSpPr>
        <p:spPr>
          <a:xfrm>
            <a:off x="850900" y="4749800"/>
            <a:ext cx="10490200" cy="7366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7900" y="4864100"/>
            <a:ext cx="26162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split / reorder</a:t>
            </a:r>
          </a:p>
        </p:txBody>
      </p:sp>
      <p:sp>
        <p:nvSpPr>
          <p:cNvPr id="50" name="TextBox 49"/>
          <p:cNvSpPr txBox="1"/>
          <p:nvPr/>
        </p:nvSpPr>
        <p:spPr>
          <a:xfrm>
            <a:off x="3848100" y="4864100"/>
            <a:ext cx="34671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Loop 분할 / 의존성 내 순서 변경</a:t>
            </a:r>
          </a:p>
        </p:txBody>
      </p:sp>
      <p:sp>
        <p:nvSpPr>
          <p:cNvPr id="51" name="TextBox 50"/>
          <p:cNvSpPr txBox="1"/>
          <p:nvPr/>
        </p:nvSpPr>
        <p:spPr>
          <a:xfrm>
            <a:off x="7569200" y="4864100"/>
            <a:ext cx="364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최소 DMA 후보</a:t>
            </a:r>
          </a:p>
        </p:txBody>
      </p:sp>
      <p:sp>
        <p:nvSpPr>
          <p:cNvPr id="52" name="Rectangle 51"/>
          <p:cNvSpPr/>
          <p:nvPr/>
        </p:nvSpPr>
        <p:spPr>
          <a:xfrm>
            <a:off x="850900" y="5486400"/>
            <a:ext cx="10490200" cy="7366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5600700"/>
            <a:ext cx="26162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cache / compute_at</a:t>
            </a:r>
          </a:p>
        </p:txBody>
      </p:sp>
      <p:sp>
        <p:nvSpPr>
          <p:cNvPr id="54" name="TextBox 53"/>
          <p:cNvSpPr txBox="1"/>
          <p:nvPr/>
        </p:nvSpPr>
        <p:spPr>
          <a:xfrm>
            <a:off x="3848100" y="5600700"/>
            <a:ext cx="34671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복사 stage / loop 위치 변경</a:t>
            </a:r>
          </a:p>
        </p:txBody>
      </p:sp>
      <p:sp>
        <p:nvSpPr>
          <p:cNvPr id="55" name="TextBox 54"/>
          <p:cNvSpPr txBox="1"/>
          <p:nvPr/>
        </p:nvSpPr>
        <p:spPr>
          <a:xfrm>
            <a:off x="7569200" y="5600700"/>
            <a:ext cx="364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공간에 맞는 탐색 정책</a:t>
            </a:r>
          </a:p>
        </p:txBody>
      </p:sp>
      <p:sp>
        <p:nvSpPr>
          <p:cNvPr id="56" name="Rectangle 55"/>
          <p:cNvSpPr/>
          <p:nvPr/>
        </p:nvSpPr>
        <p:spPr>
          <a:xfrm>
            <a:off x="850900" y="6223000"/>
            <a:ext cx="10490200" cy="7366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77900" y="6337300"/>
            <a:ext cx="26162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tensorize</a:t>
            </a:r>
          </a:p>
        </p:txBody>
      </p:sp>
      <p:sp>
        <p:nvSpPr>
          <p:cNvPr id="58" name="TextBox 57"/>
          <p:cNvSpPr txBox="1"/>
          <p:nvPr/>
        </p:nvSpPr>
        <p:spPr>
          <a:xfrm>
            <a:off x="3848100" y="6337300"/>
            <a:ext cx="34671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계산 조각 → 등록된 intrinsic</a:t>
            </a:r>
          </a:p>
        </p:txBody>
      </p:sp>
      <p:sp>
        <p:nvSpPr>
          <p:cNvPr id="59" name="TextBox 58"/>
          <p:cNvSpPr txBox="1"/>
          <p:nvPr/>
        </p:nvSpPr>
        <p:spPr>
          <a:xfrm>
            <a:off x="7569200" y="6337300"/>
            <a:ext cx="364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임의 연산의 ISA 구현</a:t>
            </a:r>
          </a:p>
        </p:txBody>
      </p:sp>
      <p:sp>
        <p:nvSpPr>
          <p:cNvPr id="60" name="Rectangle 59"/>
          <p:cNvSpPr/>
          <p:nvPr/>
        </p:nvSpPr>
        <p:spPr>
          <a:xfrm>
            <a:off x="850900" y="6959600"/>
            <a:ext cx="10490200" cy="7366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7900" y="7073900"/>
            <a:ext cx="26162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Memory passes</a:t>
            </a:r>
          </a:p>
        </p:txBody>
      </p:sp>
      <p:sp>
        <p:nvSpPr>
          <p:cNvPr id="62" name="TextBox 61"/>
          <p:cNvSpPr txBox="1"/>
          <p:nvPr/>
        </p:nvSpPr>
        <p:spPr>
          <a:xfrm>
            <a:off x="3848100" y="7073900"/>
            <a:ext cx="34671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수명·충돌 → storage 배치</a:t>
            </a:r>
          </a:p>
        </p:txBody>
      </p:sp>
      <p:sp>
        <p:nvSpPr>
          <p:cNvPr id="63" name="TextBox 62"/>
          <p:cNvSpPr txBox="1"/>
          <p:nvPr/>
        </p:nvSpPr>
        <p:spPr>
          <a:xfrm>
            <a:off x="7569200" y="7073900"/>
            <a:ext cx="36449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호출 간 보관과 persistent KV</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부록 B / IR 읽기</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같은 matmul을 세 수준에서 읽습니다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아래는 구조를 단순화한 표현입니다. 실제 dump 파일은 발표자 노트에 연결했습니다.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Relax에서 읽을 것</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call_tir는 어떤 함수를 어떤 값에 적용하고 어떤</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tensor를 받는지 표현합니다. 여전히 graph의</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의존성과 함수 입출력이 보입니다.</a:t>
            </a:r>
          </a:p>
        </p:txBody>
      </p:sp>
      <p:sp>
        <p:nvSpPr>
          <p:cNvPr id="16" name="Rounded Rectangle 15"/>
          <p:cNvSpPr/>
          <p:nvPr/>
        </p:nvSpPr>
        <p:spPr>
          <a:xfrm>
            <a:off x="11988800" y="3791204"/>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Semantic TIR에서 읽을 것</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Spatial/reduction 축, T.init, cast 위치를 봅니다.</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FP32 논리 buffer가 반드시 같은 크기의 SRAM</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배열로 materialize되는 것은 아닙니다.</a:t>
            </a:r>
          </a:p>
        </p:txBody>
      </p:sp>
      <p:sp>
        <p:nvSpPr>
          <p:cNvPr id="22" name="Rounded Rectangle 21"/>
          <p:cNvSpPr/>
          <p:nvPr/>
        </p:nvSpPr>
        <p:spPr>
          <a:xfrm>
            <a:off x="11988800" y="5486908"/>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988800" y="5486908"/>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42800" y="5702808"/>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Scheduled TIR에서 읽을 것</a:t>
            </a:r>
          </a:p>
        </p:txBody>
      </p:sp>
      <p:sp>
        <p:nvSpPr>
          <p:cNvPr id="25" name="TextBox 24"/>
          <p:cNvSpPr txBox="1"/>
          <p:nvPr/>
        </p:nvSpPr>
        <p:spPr>
          <a:xfrm>
            <a:off x="12255500" y="60330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Cache copy가 어느 loop 안에 있는지,</a:t>
            </a:r>
          </a:p>
        </p:txBody>
      </p:sp>
      <p:sp>
        <p:nvSpPr>
          <p:cNvPr id="26" name="TextBox 25"/>
          <p:cNvSpPr txBox="1"/>
          <p:nvPr/>
        </p:nvSpPr>
        <p:spPr>
          <a:xfrm>
            <a:off x="12255500" y="6348475"/>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match_buffer가 어떤 영역을 가리키는지,</a:t>
            </a:r>
          </a:p>
        </p:txBody>
      </p:sp>
      <p:sp>
        <p:nvSpPr>
          <p:cNvPr id="27" name="TextBox 26"/>
          <p:cNvSpPr txBox="1"/>
          <p:nvPr/>
        </p:nvSpPr>
        <p:spPr>
          <a:xfrm>
            <a:off x="12255500" y="6663943"/>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npu_gemm_acc가 어디에 있는지 봅니다. 최종</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ISA는 다음 codegen 결과입니다.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그림은 읽는 요점을 줄인 의사 표현입니다. 전체 실제 dump는 슬라이드 근거 링크의 .py 파일에 보존했습니다.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 · 부록</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04_semantic_tir.md, 03_unfused_semantic_tir.py, 07_scheduled_fused_matmul_add_silu.py</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50 / 54</a:t>
            </a:r>
          </a:p>
        </p:txBody>
      </p:sp>
      <p:sp>
        <p:nvSpPr>
          <p:cNvPr id="35" name="Rounded Rectangle 34"/>
          <p:cNvSpPr/>
          <p:nvPr/>
        </p:nvSpPr>
        <p:spPr>
          <a:xfrm>
            <a:off x="990600" y="2781300"/>
            <a:ext cx="10198100" cy="1257300"/>
          </a:xfrm>
          <a:prstGeom prst="roundRect">
            <a:avLst>
              <a:gd name="adj" fmla="val 8080"/>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06500" y="2946400"/>
            <a:ext cx="97663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Relax: 함수 호출과 결과 shape</a:t>
            </a:r>
          </a:p>
        </p:txBody>
      </p:sp>
      <p:sp>
        <p:nvSpPr>
          <p:cNvPr id="37" name="TextBox 36"/>
          <p:cNvSpPr txBox="1"/>
          <p:nvPr/>
        </p:nvSpPr>
        <p:spPr>
          <a:xfrm>
            <a:off x="1206500" y="3403600"/>
            <a:ext cx="9766300" cy="280416"/>
          </a:xfrm>
          <a:prstGeom prst="rect">
            <a:avLst/>
          </a:prstGeom>
          <a:noFill/>
        </p:spPr>
        <p:txBody>
          <a:bodyPr wrap="none" tIns="0" bIns="0" lIns="0" rIns="0" anchor="t">
            <a:spAutoFit/>
          </a:bodyPr>
          <a:lstStyle/>
          <a:p>
            <a:pPr algn="l">
              <a:lnSpc>
                <a:spcPts val="2208"/>
              </a:lnSpc>
              <a:spcBef>
                <a:spcPts val="0"/>
              </a:spcBef>
              <a:spcAft>
                <a:spcPts val="0"/>
              </a:spcAft>
            </a:pPr>
            <a:r>
              <a:rPr sz="1600" b="0">
                <a:solidFill>
                  <a:srgbClr val="172942"/>
                </a:solidFill>
                <a:latin typeface="NanumGothic"/>
                <a:ea typeface="NanumGothic"/>
                <a:cs typeface="NanumGothic"/>
              </a:rPr>
              <a:t>p = R.call_tir(matmul, (x, B), out_sinfo=R.Tensor((64,64), "float16"))</a:t>
            </a:r>
          </a:p>
        </p:txBody>
      </p:sp>
      <p:sp>
        <p:nvSpPr>
          <p:cNvPr id="38" name="Rounded Rectangle 37"/>
          <p:cNvSpPr/>
          <p:nvPr/>
        </p:nvSpPr>
        <p:spPr>
          <a:xfrm>
            <a:off x="990600" y="4470400"/>
            <a:ext cx="10198100" cy="1435100"/>
          </a:xfrm>
          <a:prstGeom prst="roundRect">
            <a:avLst>
              <a:gd name="adj" fmla="val 7079"/>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06500" y="4635500"/>
            <a:ext cx="97663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Semantic TIR: 원소의 정의</a:t>
            </a:r>
          </a:p>
        </p:txBody>
      </p:sp>
      <p:sp>
        <p:nvSpPr>
          <p:cNvPr id="40" name="TextBox 39"/>
          <p:cNvSpPr txBox="1"/>
          <p:nvPr/>
        </p:nvSpPr>
        <p:spPr>
          <a:xfrm>
            <a:off x="1206500" y="5092700"/>
            <a:ext cx="976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C32[i,j] += fp32(X[i,k]) * fp32(B[k,j])</a:t>
            </a:r>
          </a:p>
        </p:txBody>
      </p:sp>
      <p:sp>
        <p:nvSpPr>
          <p:cNvPr id="41" name="TextBox 40"/>
          <p:cNvSpPr txBox="1"/>
          <p:nvPr/>
        </p:nvSpPr>
        <p:spPr>
          <a:xfrm>
            <a:off x="1206500" y="5425694"/>
            <a:ext cx="976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P[i,j] = fp16(C32[i,j])</a:t>
            </a:r>
          </a:p>
        </p:txBody>
      </p:sp>
      <p:sp>
        <p:nvSpPr>
          <p:cNvPr id="42" name="Rounded Rectangle 41"/>
          <p:cNvSpPr/>
          <p:nvPr/>
        </p:nvSpPr>
        <p:spPr>
          <a:xfrm>
            <a:off x="990600" y="6324600"/>
            <a:ext cx="10198100" cy="1511300"/>
          </a:xfrm>
          <a:prstGeom prst="roundRect">
            <a:avLst>
              <a:gd name="adj" fmla="val 6722"/>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6500" y="6489700"/>
            <a:ext cx="9766300" cy="315467"/>
          </a:xfrm>
          <a:prstGeom prst="rect">
            <a:avLst/>
          </a:prstGeom>
          <a:noFill/>
        </p:spPr>
        <p:txBody>
          <a:bodyPr wrap="none" tIns="0" bIns="0" lIns="0" rIns="0" anchor="t">
            <a:spAutoFit/>
          </a:bodyPr>
          <a:lstStyle/>
          <a:p>
            <a:pPr algn="l">
              <a:lnSpc>
                <a:spcPts val="2483"/>
              </a:lnSpc>
              <a:spcBef>
                <a:spcPts val="0"/>
              </a:spcBef>
              <a:spcAft>
                <a:spcPts val="0"/>
              </a:spcAft>
            </a:pPr>
            <a:r>
              <a:rPr sz="1800" b="1">
                <a:solidFill>
                  <a:srgbClr val="008A82"/>
                </a:solidFill>
                <a:latin typeface="NanumGothic"/>
                <a:ea typeface="NanumGothic"/>
                <a:cs typeface="NanumGothic"/>
              </a:rPr>
              <a:t>Scheduled TIR: 복사와 tiled 실행 (간략한 의사 표현)</a:t>
            </a:r>
          </a:p>
        </p:txBody>
      </p:sp>
      <p:sp>
        <p:nvSpPr>
          <p:cNvPr id="44" name="TextBox 43"/>
          <p:cNvSpPr txBox="1"/>
          <p:nvPr/>
        </p:nvSpPr>
        <p:spPr>
          <a:xfrm>
            <a:off x="1206500" y="6946900"/>
            <a:ext cx="9766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copy X/B panel to SRAM → for k_tile in range(2): npu_gemm_acc(...)</a:t>
            </a:r>
          </a:p>
        </p:txBody>
      </p:sp>
      <p:sp>
        <p:nvSpPr>
          <p:cNvPr id="45" name="TextBox 44"/>
          <p:cNvSpPr txBox="1"/>
          <p:nvPr/>
        </p:nvSpPr>
        <p:spPr>
          <a:xfrm>
            <a:off x="1206500" y="7244842"/>
            <a:ext cx="9766300" cy="297941"/>
          </a:xfrm>
          <a:prstGeom prst="rect">
            <a:avLst/>
          </a:prstGeom>
          <a:noFill/>
        </p:spPr>
        <p:txBody>
          <a:bodyPr wrap="none" tIns="0" bIns="0" lIns="0" rIns="0" anchor="t">
            <a:spAutoFit/>
          </a:bodyPr>
          <a:lstStyle/>
          <a:p>
            <a:pPr algn="l">
              <a:lnSpc>
                <a:spcPts val="2345"/>
              </a:lnSpc>
              <a:spcBef>
                <a:spcPts val="0"/>
              </a:spcBef>
              <a:spcAft>
                <a:spcPts val="0"/>
              </a:spcAft>
            </a:pPr>
            <a:r>
              <a:rPr sz="1700" b="0">
                <a:solidFill>
                  <a:srgbClr val="172942"/>
                </a:solidFill>
                <a:latin typeface="NanumGothic"/>
                <a:ea typeface="NanumGothic"/>
                <a:cs typeface="NanumGothic"/>
              </a:rPr>
              <a:t>전체 K 완료 → FP16 SAVE → add / SiLU 소비</a:t>
            </a:r>
          </a:p>
        </p:txBody>
      </p:sp>
      <p:cxnSp>
        <p:nvCxnSpPr>
          <p:cNvPr id="46" name="Connector 45"/>
          <p:cNvCxnSpPr/>
          <p:nvPr/>
        </p:nvCxnSpPr>
        <p:spPr>
          <a:xfrm>
            <a:off x="6070600" y="4038600"/>
            <a:ext cx="0" cy="4318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6019800" y="43688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6070600" y="5905500"/>
            <a:ext cx="0" cy="41910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6019800" y="6223000"/>
            <a:ext cx="101600" cy="101600"/>
          </a:xfrm>
          <a:custGeom>
            <a:avLst/>
            <a:gdLst/>
            <a:ahLst/>
            <a:cxnLst/>
            <a:rect l="l" t="t" r="r" b="b"/>
            <a:pathLst>
              <a:path w="8" h="8">
                <a:moveTo>
                  <a:pt x="4" y="8"/>
                </a:moveTo>
                <a:lnTo>
                  <a:pt x="0" y="0"/>
                </a:lnTo>
                <a:lnTo>
                  <a:pt x="8"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부록 C / 기존 main</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기존 main과 최신 v09는 실행 경계가 다릅니다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Main ver.08/source-0818은 commit 1143abb로 고정한 별도 최종 backend입니다.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Main은 별도 최종 backend</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Commit 1143abb의 ver.08은 Relax 직접</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emitter와 flat G-buffer를 사용합니다. Host가 layer</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프로그램을 반복하고 context별 decode를</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준비합니다.</a:t>
            </a:r>
          </a:p>
        </p:txBody>
      </p:sp>
      <p:sp>
        <p:nvSpPr>
          <p:cNvPr id="17" name="Rounded Rectangle 16"/>
          <p:cNvSpPr/>
          <p:nvPr/>
        </p:nvSpPr>
        <p:spPr>
          <a:xfrm>
            <a:off x="11988800" y="4106672"/>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현재 v09는 계층과 TIR를 사용</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TIR schedule을 거쳐 DRAM↔SRAM↔unit 명령을</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만들고 전체 entry stream을 실행합니다. Decode는</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capacity/mask와 append tail을 사용합니다.</a:t>
            </a:r>
          </a:p>
        </p:txBody>
      </p:sp>
      <p:sp>
        <p:nvSpPr>
          <p:cNvPr id="23" name="Rounded Rectangle 22"/>
          <p:cNvSpPr/>
          <p:nvPr/>
        </p:nvSpPr>
        <p:spPr>
          <a:xfrm>
            <a:off x="11988800" y="5802376"/>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568704"/>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숫자를 바로 배율로 비교하지 않음</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컴파일 단위와 메모리 경계가 달라 같은 words 수가</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같은 작업량을 뜻하지 않습니다. 기존 결과를</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보존하되 현재 검증과 섞지 않습니다.</a:t>
            </a:r>
          </a:p>
        </p:txBody>
      </p:sp>
      <p:sp>
        <p:nvSpPr>
          <p:cNvPr id="29" name="Rounded Rectangle 28"/>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1" name="TextBox 30"/>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두 backend를 혼합해 설명하지 않습니다. 기존 main의 동작과 실험은 docs/main 아래 별도 문서를 기준으로 합니다.</a:t>
            </a:r>
          </a:p>
        </p:txBody>
      </p:sp>
      <p:sp>
        <p:nvSpPr>
          <p:cNvPr id="32" name="TextBox 31"/>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 · 부록</a:t>
            </a:r>
          </a:p>
        </p:txBody>
      </p:sp>
      <p:sp>
        <p:nvSpPr>
          <p:cNvPr id="33" name="TextBox 32"/>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README.md, pipeline.md</a:t>
            </a:r>
          </a:p>
        </p:txBody>
      </p:sp>
      <p:sp>
        <p:nvSpPr>
          <p:cNvPr id="34" name="TextBox 33"/>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51 / 54</a:t>
            </a:r>
          </a:p>
        </p:txBody>
      </p:sp>
      <p:sp>
        <p:nvSpPr>
          <p:cNvPr id="35" name="Rectangle 34"/>
          <p:cNvSpPr/>
          <p:nvPr/>
        </p:nvSpPr>
        <p:spPr>
          <a:xfrm>
            <a:off x="850900" y="28956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7900" y="3009900"/>
            <a:ext cx="15240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항목</a:t>
            </a:r>
          </a:p>
        </p:txBody>
      </p:sp>
      <p:sp>
        <p:nvSpPr>
          <p:cNvPr id="37" name="TextBox 36"/>
          <p:cNvSpPr txBox="1"/>
          <p:nvPr/>
        </p:nvSpPr>
        <p:spPr>
          <a:xfrm>
            <a:off x="2755900" y="3009900"/>
            <a:ext cx="35814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Main ver.08</a:t>
            </a:r>
          </a:p>
        </p:txBody>
      </p:sp>
      <p:sp>
        <p:nvSpPr>
          <p:cNvPr id="38" name="TextBox 37"/>
          <p:cNvSpPr txBox="1"/>
          <p:nvPr/>
        </p:nvSpPr>
        <p:spPr>
          <a:xfrm>
            <a:off x="6591300" y="3009900"/>
            <a:ext cx="46228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현재 v09</a:t>
            </a:r>
          </a:p>
        </p:txBody>
      </p:sp>
      <p:sp>
        <p:nvSpPr>
          <p:cNvPr id="39" name="Rectangle 38"/>
          <p:cNvSpPr/>
          <p:nvPr/>
        </p:nvSpPr>
        <p:spPr>
          <a:xfrm>
            <a:off x="850900" y="3352800"/>
            <a:ext cx="10490200" cy="850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7900" y="3467100"/>
            <a:ext cx="1524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Lowering</a:t>
            </a:r>
          </a:p>
        </p:txBody>
      </p:sp>
      <p:sp>
        <p:nvSpPr>
          <p:cNvPr id="41" name="TextBox 40"/>
          <p:cNvSpPr txBox="1"/>
          <p:nvPr/>
        </p:nvSpPr>
        <p:spPr>
          <a:xfrm>
            <a:off x="2755900" y="3467100"/>
            <a:ext cx="3581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Relax 직접 emitter</a:t>
            </a:r>
          </a:p>
        </p:txBody>
      </p:sp>
      <p:sp>
        <p:nvSpPr>
          <p:cNvPr id="42" name="TextBox 41"/>
          <p:cNvSpPr txBox="1"/>
          <p:nvPr/>
        </p:nvSpPr>
        <p:spPr>
          <a:xfrm>
            <a:off x="6591300" y="3467100"/>
            <a:ext cx="4622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TIR + Schedule + 공통 codegen</a:t>
            </a:r>
          </a:p>
        </p:txBody>
      </p:sp>
      <p:sp>
        <p:nvSpPr>
          <p:cNvPr id="43" name="Rectangle 42"/>
          <p:cNvSpPr/>
          <p:nvPr/>
        </p:nvSpPr>
        <p:spPr>
          <a:xfrm>
            <a:off x="850900" y="4203700"/>
            <a:ext cx="10490200" cy="8509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7900" y="4318000"/>
            <a:ext cx="1524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메모리</a:t>
            </a:r>
          </a:p>
        </p:txBody>
      </p:sp>
      <p:sp>
        <p:nvSpPr>
          <p:cNvPr id="45" name="TextBox 44"/>
          <p:cNvSpPr txBox="1"/>
          <p:nvPr/>
        </p:nvSpPr>
        <p:spPr>
          <a:xfrm>
            <a:off x="2755900" y="4318000"/>
            <a:ext cx="3581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Flat G-buffer</a:t>
            </a:r>
          </a:p>
        </p:txBody>
      </p:sp>
      <p:sp>
        <p:nvSpPr>
          <p:cNvPr id="46" name="TextBox 45"/>
          <p:cNvSpPr txBox="1"/>
          <p:nvPr/>
        </p:nvSpPr>
        <p:spPr>
          <a:xfrm>
            <a:off x="6591300" y="4318000"/>
            <a:ext cx="4622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DRAM ↔ SRAM ↔ unit</a:t>
            </a:r>
          </a:p>
        </p:txBody>
      </p:sp>
      <p:sp>
        <p:nvSpPr>
          <p:cNvPr id="47" name="Rectangle 46"/>
          <p:cNvSpPr/>
          <p:nvPr/>
        </p:nvSpPr>
        <p:spPr>
          <a:xfrm>
            <a:off x="850900" y="5054600"/>
            <a:ext cx="10490200" cy="850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7900" y="5168900"/>
            <a:ext cx="1524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Layer</a:t>
            </a:r>
          </a:p>
        </p:txBody>
      </p:sp>
      <p:sp>
        <p:nvSpPr>
          <p:cNvPr id="49" name="TextBox 48"/>
          <p:cNvSpPr txBox="1"/>
          <p:nvPr/>
        </p:nvSpPr>
        <p:spPr>
          <a:xfrm>
            <a:off x="2755900" y="5168900"/>
            <a:ext cx="3581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Host가 같은 layer program 반복</a:t>
            </a:r>
          </a:p>
        </p:txBody>
      </p:sp>
      <p:sp>
        <p:nvSpPr>
          <p:cNvPr id="50" name="TextBox 49"/>
          <p:cNvSpPr txBox="1"/>
          <p:nvPr/>
        </p:nvSpPr>
        <p:spPr>
          <a:xfrm>
            <a:off x="6591300" y="5168900"/>
            <a:ext cx="4622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전체 entry stream / 판단 cache</a:t>
            </a:r>
          </a:p>
        </p:txBody>
      </p:sp>
      <p:sp>
        <p:nvSpPr>
          <p:cNvPr id="51" name="Rectangle 50"/>
          <p:cNvSpPr/>
          <p:nvPr/>
        </p:nvSpPr>
        <p:spPr>
          <a:xfrm>
            <a:off x="850900" y="5905500"/>
            <a:ext cx="10490200" cy="8509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7900" y="6019800"/>
            <a:ext cx="1524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Decode</a:t>
            </a:r>
          </a:p>
        </p:txBody>
      </p:sp>
      <p:sp>
        <p:nvSpPr>
          <p:cNvPr id="53" name="TextBox 52"/>
          <p:cNvSpPr txBox="1"/>
          <p:nvPr/>
        </p:nvSpPr>
        <p:spPr>
          <a:xfrm>
            <a:off x="2755900" y="6019800"/>
            <a:ext cx="3581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Context 길이별 program</a:t>
            </a:r>
          </a:p>
        </p:txBody>
      </p:sp>
      <p:sp>
        <p:nvSpPr>
          <p:cNvPr id="54" name="TextBox 53"/>
          <p:cNvSpPr txBox="1"/>
          <p:nvPr/>
        </p:nvSpPr>
        <p:spPr>
          <a:xfrm>
            <a:off x="6591300" y="6019800"/>
            <a:ext cx="4622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Capacity + mask / bucket</a:t>
            </a:r>
          </a:p>
        </p:txBody>
      </p:sp>
      <p:sp>
        <p:nvSpPr>
          <p:cNvPr id="55" name="Rectangle 54"/>
          <p:cNvSpPr/>
          <p:nvPr/>
        </p:nvSpPr>
        <p:spPr>
          <a:xfrm>
            <a:off x="850900" y="6756400"/>
            <a:ext cx="10490200" cy="8509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7900" y="6870700"/>
            <a:ext cx="15240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KV</a:t>
            </a:r>
          </a:p>
        </p:txBody>
      </p:sp>
      <p:sp>
        <p:nvSpPr>
          <p:cNvPr id="57" name="TextBox 56"/>
          <p:cNvSpPr txBox="1"/>
          <p:nvPr/>
        </p:nvSpPr>
        <p:spPr>
          <a:xfrm>
            <a:off x="2755900" y="6870700"/>
            <a:ext cx="3581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Host concat</a:t>
            </a:r>
          </a:p>
        </p:txBody>
      </p:sp>
      <p:sp>
        <p:nvSpPr>
          <p:cNvPr id="58" name="TextBox 57"/>
          <p:cNvSpPr txBox="1"/>
          <p:nvPr/>
        </p:nvSpPr>
        <p:spPr>
          <a:xfrm>
            <a:off x="6591300" y="6870700"/>
            <a:ext cx="4622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별도 출력 + NPU append tail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부록 D / 양자화</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저장 dtype과 실제 연산 dtype을 구분해야 합니다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양자화는 별도 후반부 기능이며 전체 generation 검증은 아직 남아 있습니다.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W8A16: 저장을 줄이고 복원</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Weight를 INT8와 output-channel scale로</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저장합니다. SRAM에서 FP16으로 복원한 뒤 FP16</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GEMM과 FP32 누산을 수행하므로 모든 연산이</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INT8인 것은 아닙니다.</a:t>
            </a:r>
          </a:p>
        </p:txBody>
      </p:sp>
      <p:sp>
        <p:nvSpPr>
          <p:cNvPr id="17" name="Rounded Rectangle 16"/>
          <p:cNvSpPr/>
          <p:nvPr/>
        </p:nvSpPr>
        <p:spPr>
          <a:xfrm>
            <a:off x="11988800" y="4106672"/>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W8A8: 입력도 동적으로 양자화</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현재 FP16 X를 행별 scale로 INT8화합니다. INT8</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dot64의 INT32 부분합에 scale을 적용하고 FP32로</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누산하여 FP16 결과를 만듭니다.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완료된 범위를 분리</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작은 양자화 kernel 검증은 있으나 공개 generate</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경로 연결과 전체 연속 생성 검증은 남아 있습니다.</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QK/PV·KV cache까지 전부 INT8이 된다고 해석하지</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않습니다.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Weight-only 준비는 host lifting 전에 rewrite하여 host로 옮깁니다. 본문의 28-layer 출력 검증은 FP16 경로입니다.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 · 부록</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13_quantization.md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52 / 54</a:t>
            </a:r>
          </a:p>
        </p:txBody>
      </p:sp>
      <p:sp>
        <p:nvSpPr>
          <p:cNvPr id="36" name="TextBox 35"/>
          <p:cNvSpPr txBox="1"/>
          <p:nvPr/>
        </p:nvSpPr>
        <p:spPr>
          <a:xfrm>
            <a:off x="1003300" y="2692400"/>
            <a:ext cx="101473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008A82"/>
                </a:solidFill>
                <a:latin typeface="NanumGothic"/>
                <a:ea typeface="NanumGothic"/>
                <a:cs typeface="NanumGothic"/>
              </a:rPr>
              <a:t>W8A16</a:t>
            </a:r>
          </a:p>
        </p:txBody>
      </p:sp>
      <p:sp>
        <p:nvSpPr>
          <p:cNvPr id="37" name="Rounded Rectangle 36"/>
          <p:cNvSpPr/>
          <p:nvPr/>
        </p:nvSpPr>
        <p:spPr>
          <a:xfrm>
            <a:off x="977900" y="3187700"/>
            <a:ext cx="3098800" cy="1524000"/>
          </a:xfrm>
          <a:prstGeom prst="roundRect">
            <a:avLst>
              <a:gd name="adj" fmla="val 6666"/>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55700" y="3365500"/>
            <a:ext cx="2743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INT8 W + scale</a:t>
            </a:r>
          </a:p>
        </p:txBody>
      </p:sp>
      <p:sp>
        <p:nvSpPr>
          <p:cNvPr id="39" name="TextBox 38"/>
          <p:cNvSpPr txBox="1"/>
          <p:nvPr/>
        </p:nvSpPr>
        <p:spPr>
          <a:xfrm>
            <a:off x="1155700" y="3792220"/>
            <a:ext cx="2743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DRAM 저장</a:t>
            </a:r>
          </a:p>
        </p:txBody>
      </p:sp>
      <p:sp>
        <p:nvSpPr>
          <p:cNvPr id="40" name="Rounded Rectangle 39"/>
          <p:cNvSpPr/>
          <p:nvPr/>
        </p:nvSpPr>
        <p:spPr>
          <a:xfrm>
            <a:off x="4597400" y="3187700"/>
            <a:ext cx="3098800" cy="1524000"/>
          </a:xfrm>
          <a:prstGeom prst="roundRect">
            <a:avLst>
              <a:gd name="adj" fmla="val 6666"/>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75200" y="3365500"/>
            <a:ext cx="2743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FP16 W 복원</a:t>
            </a:r>
          </a:p>
        </p:txBody>
      </p:sp>
      <p:sp>
        <p:nvSpPr>
          <p:cNvPr id="42" name="TextBox 41"/>
          <p:cNvSpPr txBox="1"/>
          <p:nvPr/>
        </p:nvSpPr>
        <p:spPr>
          <a:xfrm>
            <a:off x="4775200" y="3792220"/>
            <a:ext cx="2743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SRAM dequant</a:t>
            </a:r>
          </a:p>
        </p:txBody>
      </p:sp>
      <p:cxnSp>
        <p:nvCxnSpPr>
          <p:cNvPr id="43" name="Connector 42"/>
          <p:cNvCxnSpPr/>
          <p:nvPr/>
        </p:nvCxnSpPr>
        <p:spPr>
          <a:xfrm>
            <a:off x="4127500" y="3949700"/>
            <a:ext cx="3810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4406900" y="38989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216900" y="3187700"/>
            <a:ext cx="3098800" cy="1524000"/>
          </a:xfrm>
          <a:prstGeom prst="roundRect">
            <a:avLst>
              <a:gd name="adj" fmla="val 6666"/>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94700" y="3365500"/>
            <a:ext cx="2743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FP16 GEMM</a:t>
            </a:r>
          </a:p>
        </p:txBody>
      </p:sp>
      <p:sp>
        <p:nvSpPr>
          <p:cNvPr id="47" name="TextBox 46"/>
          <p:cNvSpPr txBox="1"/>
          <p:nvPr/>
        </p:nvSpPr>
        <p:spPr>
          <a:xfrm>
            <a:off x="8394700" y="3792220"/>
            <a:ext cx="2743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FP32 accumulator</a:t>
            </a:r>
          </a:p>
        </p:txBody>
      </p:sp>
      <p:cxnSp>
        <p:nvCxnSpPr>
          <p:cNvPr id="48" name="Connector 47"/>
          <p:cNvCxnSpPr/>
          <p:nvPr/>
        </p:nvCxnSpPr>
        <p:spPr>
          <a:xfrm>
            <a:off x="7747000" y="3949700"/>
            <a:ext cx="3810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8026400" y="38989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3300" y="5245100"/>
            <a:ext cx="10147300" cy="438150"/>
          </a:xfrm>
          <a:prstGeom prst="rect">
            <a:avLst/>
          </a:prstGeom>
          <a:noFill/>
        </p:spPr>
        <p:txBody>
          <a:bodyPr wrap="none" tIns="0" bIns="0" lIns="0" rIns="0" anchor="t">
            <a:spAutoFit/>
          </a:bodyPr>
          <a:lstStyle/>
          <a:p>
            <a:pPr algn="l">
              <a:lnSpc>
                <a:spcPts val="3450"/>
              </a:lnSpc>
              <a:spcBef>
                <a:spcPts val="0"/>
              </a:spcBef>
              <a:spcAft>
                <a:spcPts val="0"/>
              </a:spcAft>
            </a:pPr>
            <a:r>
              <a:rPr sz="2500" b="1">
                <a:solidFill>
                  <a:srgbClr val="008A82"/>
                </a:solidFill>
                <a:latin typeface="NanumGothic"/>
                <a:ea typeface="NanumGothic"/>
                <a:cs typeface="NanumGothic"/>
              </a:rPr>
              <a:t>W8A8</a:t>
            </a:r>
          </a:p>
        </p:txBody>
      </p:sp>
      <p:sp>
        <p:nvSpPr>
          <p:cNvPr id="51" name="Rounded Rectangle 50"/>
          <p:cNvSpPr/>
          <p:nvPr/>
        </p:nvSpPr>
        <p:spPr>
          <a:xfrm>
            <a:off x="977900" y="5740400"/>
            <a:ext cx="3098800" cy="1524000"/>
          </a:xfrm>
          <a:prstGeom prst="roundRect">
            <a:avLst>
              <a:gd name="adj" fmla="val 6666"/>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55700" y="5918200"/>
            <a:ext cx="2743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INT8 W / 양자화 X</a:t>
            </a:r>
          </a:p>
        </p:txBody>
      </p:sp>
      <p:sp>
        <p:nvSpPr>
          <p:cNvPr id="53" name="TextBox 52"/>
          <p:cNvSpPr txBox="1"/>
          <p:nvPr/>
        </p:nvSpPr>
        <p:spPr>
          <a:xfrm>
            <a:off x="1155700" y="6344920"/>
            <a:ext cx="2743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Per-channel / per-row</a:t>
            </a:r>
          </a:p>
        </p:txBody>
      </p:sp>
      <p:sp>
        <p:nvSpPr>
          <p:cNvPr id="54" name="Rounded Rectangle 53"/>
          <p:cNvSpPr/>
          <p:nvPr/>
        </p:nvSpPr>
        <p:spPr>
          <a:xfrm>
            <a:off x="4597400" y="5740400"/>
            <a:ext cx="3098800" cy="1524000"/>
          </a:xfrm>
          <a:prstGeom prst="roundRect">
            <a:avLst>
              <a:gd name="adj" fmla="val 6666"/>
            </a:avLst>
          </a:prstGeom>
          <a:solidFill>
            <a:srgbClr val="EBE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75200" y="5918200"/>
            <a:ext cx="2743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INT8 dot64</a:t>
            </a:r>
          </a:p>
        </p:txBody>
      </p:sp>
      <p:sp>
        <p:nvSpPr>
          <p:cNvPr id="56" name="TextBox 55"/>
          <p:cNvSpPr txBox="1"/>
          <p:nvPr/>
        </p:nvSpPr>
        <p:spPr>
          <a:xfrm>
            <a:off x="4775200" y="6344920"/>
            <a:ext cx="2743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INT32 부분합</a:t>
            </a:r>
          </a:p>
        </p:txBody>
      </p:sp>
      <p:cxnSp>
        <p:nvCxnSpPr>
          <p:cNvPr id="57" name="Connector 56"/>
          <p:cNvCxnSpPr/>
          <p:nvPr/>
        </p:nvCxnSpPr>
        <p:spPr>
          <a:xfrm>
            <a:off x="4127500" y="6502400"/>
            <a:ext cx="3810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8" name="Freeform 57"/>
          <p:cNvSpPr/>
          <p:nvPr/>
        </p:nvSpPr>
        <p:spPr>
          <a:xfrm>
            <a:off x="4406900" y="64516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216900" y="5740400"/>
            <a:ext cx="3098800" cy="1524000"/>
          </a:xfrm>
          <a:prstGeom prst="roundRect">
            <a:avLst>
              <a:gd name="adj" fmla="val 6666"/>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94700" y="5918200"/>
            <a:ext cx="27432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Scale 후 누산</a:t>
            </a:r>
          </a:p>
        </p:txBody>
      </p:sp>
      <p:sp>
        <p:nvSpPr>
          <p:cNvPr id="61" name="TextBox 60"/>
          <p:cNvSpPr txBox="1"/>
          <p:nvPr/>
        </p:nvSpPr>
        <p:spPr>
          <a:xfrm>
            <a:off x="8394700" y="6344920"/>
            <a:ext cx="27432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FP32 → FP16 저장</a:t>
            </a:r>
          </a:p>
        </p:txBody>
      </p:sp>
      <p:cxnSp>
        <p:nvCxnSpPr>
          <p:cNvPr id="62" name="Connector 61"/>
          <p:cNvCxnSpPr/>
          <p:nvPr/>
        </p:nvCxnSpPr>
        <p:spPr>
          <a:xfrm>
            <a:off x="7747000" y="6502400"/>
            <a:ext cx="3810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8026400" y="64516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부록 E / 긴 prefill</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X와 W가 모두 커지면 양쪽을 나누어 올립니다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S=3072 gate projection의 설명용 산술입니다. 새 장문 compile 측정이 아닙니다.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568704"/>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두 입력 모두 8 MiB보다 크다</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S=3072일 때 X[3072,3072]는 18 MiB, gate</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W[3072,8192]는 48 MiB입니다. X 64행은 384</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KiB, W 256열은 1.5 MiB로 나눌 수 있습니다.</a:t>
            </a:r>
          </a:p>
        </p:txBody>
      </p:sp>
      <p:sp>
        <p:nvSpPr>
          <p:cNvPr id="16" name="Rounded Rectangle 15"/>
          <p:cNvSpPr/>
          <p:nvPr/>
        </p:nvSpPr>
        <p:spPr>
          <a:xfrm>
            <a:off x="11988800" y="3791204"/>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88800" y="3791204"/>
            <a:ext cx="50800" cy="1884171"/>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42800" y="4007104"/>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바깥에 두는 쪽이 재사용을 정한다</a:t>
            </a:r>
          </a:p>
        </p:txBody>
      </p:sp>
      <p:sp>
        <p:nvSpPr>
          <p:cNvPr id="19" name="TextBox 18"/>
          <p:cNvSpPr txBox="1"/>
          <p:nvPr/>
        </p:nvSpPr>
        <p:spPr>
          <a:xfrm>
            <a:off x="12255500" y="43373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X panel을 유지하며 W를 돌면 W 전체를 48번 읽고,</a:t>
            </a:r>
          </a:p>
        </p:txBody>
      </p:sp>
      <p:sp>
        <p:nvSpPr>
          <p:cNvPr id="20" name="TextBox 19"/>
          <p:cNvSpPr txBox="1"/>
          <p:nvPr/>
        </p:nvSpPr>
        <p:spPr>
          <a:xfrm>
            <a:off x="12255500" y="465277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W panel을 유지하며 X를 돌면 X 전체를 32번</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읽습니다. 원래 tensor 크기가 같아도 DMA는</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달라집니다.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설명용 산술과 실제 선택은 다르다</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실제 탐색은 더 큰 panel과 다른 cache 위치,</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resident 입력을 검토하며 출력·scratch·누산</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합법성도 검사합니다. 이 그림은 장문 전체 모델의 새</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compile 결과가 아닙니다.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입력 전송의 단순 산술: X 유지 2322 MiB, W 유지 624 MiB. 출력·scratch·정렬 비용을 뺀 비교이며 전역 최적을 뜻하지 않습니다.</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 · 부록</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06_matmul_schedule.md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53 / 54</a:t>
            </a:r>
          </a:p>
        </p:txBody>
      </p:sp>
      <p:sp>
        <p:nvSpPr>
          <p:cNvPr id="36" name="Rounded Rectangle 35"/>
          <p:cNvSpPr/>
          <p:nvPr/>
        </p:nvSpPr>
        <p:spPr>
          <a:xfrm>
            <a:off x="1003300" y="2768600"/>
            <a:ext cx="4927600" cy="1244600"/>
          </a:xfrm>
          <a:prstGeom prst="roundRect">
            <a:avLst>
              <a:gd name="adj" fmla="val 8163"/>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1100" y="2946400"/>
            <a:ext cx="4572000" cy="420623"/>
          </a:xfrm>
          <a:prstGeom prst="rect">
            <a:avLst/>
          </a:prstGeom>
          <a:noFill/>
        </p:spPr>
        <p:txBody>
          <a:bodyPr wrap="none" tIns="0" bIns="0" lIns="0" rIns="0" anchor="t">
            <a:spAutoFit/>
          </a:bodyPr>
          <a:lstStyle/>
          <a:p>
            <a:pPr algn="l">
              <a:lnSpc>
                <a:spcPts val="3311"/>
              </a:lnSpc>
              <a:spcBef>
                <a:spcPts val="0"/>
              </a:spcBef>
              <a:spcAft>
                <a:spcPts val="0"/>
              </a:spcAft>
            </a:pPr>
            <a:r>
              <a:rPr sz="2400" b="1">
                <a:solidFill>
                  <a:srgbClr val="172942"/>
                </a:solidFill>
                <a:latin typeface="NanumGothic"/>
                <a:ea typeface="NanumGothic"/>
                <a:cs typeface="NanumGothic"/>
              </a:rPr>
              <a:t>전체 X: 18 MiB</a:t>
            </a:r>
          </a:p>
        </p:txBody>
      </p:sp>
      <p:sp>
        <p:nvSpPr>
          <p:cNvPr id="38" name="TextBox 37"/>
          <p:cNvSpPr txBox="1"/>
          <p:nvPr/>
        </p:nvSpPr>
        <p:spPr>
          <a:xfrm>
            <a:off x="1181100" y="3443224"/>
            <a:ext cx="4572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64행 panel 384 KiB × 48개</a:t>
            </a:r>
          </a:p>
        </p:txBody>
      </p:sp>
      <p:sp>
        <p:nvSpPr>
          <p:cNvPr id="39" name="Rounded Rectangle 38"/>
          <p:cNvSpPr/>
          <p:nvPr/>
        </p:nvSpPr>
        <p:spPr>
          <a:xfrm>
            <a:off x="6286500" y="2768600"/>
            <a:ext cx="4927600" cy="1244600"/>
          </a:xfrm>
          <a:prstGeom prst="roundRect">
            <a:avLst>
              <a:gd name="adj" fmla="val 8163"/>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64300" y="2946400"/>
            <a:ext cx="4572000" cy="420623"/>
          </a:xfrm>
          <a:prstGeom prst="rect">
            <a:avLst/>
          </a:prstGeom>
          <a:noFill/>
        </p:spPr>
        <p:txBody>
          <a:bodyPr wrap="none" tIns="0" bIns="0" lIns="0" rIns="0" anchor="t">
            <a:spAutoFit/>
          </a:bodyPr>
          <a:lstStyle/>
          <a:p>
            <a:pPr algn="l">
              <a:lnSpc>
                <a:spcPts val="3311"/>
              </a:lnSpc>
              <a:spcBef>
                <a:spcPts val="0"/>
              </a:spcBef>
              <a:spcAft>
                <a:spcPts val="0"/>
              </a:spcAft>
            </a:pPr>
            <a:r>
              <a:rPr sz="2400" b="1">
                <a:solidFill>
                  <a:srgbClr val="172942"/>
                </a:solidFill>
                <a:latin typeface="NanumGothic"/>
                <a:ea typeface="NanumGothic"/>
                <a:cs typeface="NanumGothic"/>
              </a:rPr>
              <a:t>전체 W: 48 MiB</a:t>
            </a:r>
          </a:p>
        </p:txBody>
      </p:sp>
      <p:sp>
        <p:nvSpPr>
          <p:cNvPr id="41" name="TextBox 40"/>
          <p:cNvSpPr txBox="1"/>
          <p:nvPr/>
        </p:nvSpPr>
        <p:spPr>
          <a:xfrm>
            <a:off x="6464300" y="3443224"/>
            <a:ext cx="45720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256열 panel 1.5 MiB × 32개</a:t>
            </a:r>
          </a:p>
        </p:txBody>
      </p:sp>
      <p:sp>
        <p:nvSpPr>
          <p:cNvPr id="42" name="Rectangle 41"/>
          <p:cNvSpPr/>
          <p:nvPr/>
        </p:nvSpPr>
        <p:spPr>
          <a:xfrm>
            <a:off x="850900" y="46355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7900" y="4749800"/>
            <a:ext cx="20193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바깥 loop</a:t>
            </a:r>
          </a:p>
        </p:txBody>
      </p:sp>
      <p:sp>
        <p:nvSpPr>
          <p:cNvPr id="44" name="TextBox 43"/>
          <p:cNvSpPr txBox="1"/>
          <p:nvPr/>
        </p:nvSpPr>
        <p:spPr>
          <a:xfrm>
            <a:off x="3251200" y="4749800"/>
            <a:ext cx="37465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매 panel마다 다시 읽는 것</a:t>
            </a:r>
          </a:p>
        </p:txBody>
      </p:sp>
      <p:sp>
        <p:nvSpPr>
          <p:cNvPr id="45" name="TextBox 44"/>
          <p:cNvSpPr txBox="1"/>
          <p:nvPr/>
        </p:nvSpPr>
        <p:spPr>
          <a:xfrm>
            <a:off x="7251700" y="4749800"/>
            <a:ext cx="39624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입력 전송 산술</a:t>
            </a:r>
          </a:p>
        </p:txBody>
      </p:sp>
      <p:sp>
        <p:nvSpPr>
          <p:cNvPr id="46" name="Rectangle 45"/>
          <p:cNvSpPr/>
          <p:nvPr/>
        </p:nvSpPr>
        <p:spPr>
          <a:xfrm>
            <a:off x="850900" y="5092700"/>
            <a:ext cx="10490200" cy="10287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7900" y="5207000"/>
            <a:ext cx="2019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X panel 48개</a:t>
            </a:r>
          </a:p>
        </p:txBody>
      </p:sp>
      <p:sp>
        <p:nvSpPr>
          <p:cNvPr id="48" name="TextBox 47"/>
          <p:cNvSpPr txBox="1"/>
          <p:nvPr/>
        </p:nvSpPr>
        <p:spPr>
          <a:xfrm>
            <a:off x="3251200" y="5207000"/>
            <a:ext cx="3746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각 X panel에서 W 전체 순회</a:t>
            </a:r>
          </a:p>
        </p:txBody>
      </p:sp>
      <p:sp>
        <p:nvSpPr>
          <p:cNvPr id="49" name="TextBox 48"/>
          <p:cNvSpPr txBox="1"/>
          <p:nvPr/>
        </p:nvSpPr>
        <p:spPr>
          <a:xfrm>
            <a:off x="7251700" y="5207000"/>
            <a:ext cx="3962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18 + 48×48 = 2322 MiB</a:t>
            </a:r>
          </a:p>
        </p:txBody>
      </p:sp>
      <p:sp>
        <p:nvSpPr>
          <p:cNvPr id="50" name="Rectangle 49"/>
          <p:cNvSpPr/>
          <p:nvPr/>
        </p:nvSpPr>
        <p:spPr>
          <a:xfrm>
            <a:off x="850900" y="6121400"/>
            <a:ext cx="10490200" cy="10287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7900" y="6235700"/>
            <a:ext cx="20193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W panel 32개</a:t>
            </a:r>
          </a:p>
        </p:txBody>
      </p:sp>
      <p:sp>
        <p:nvSpPr>
          <p:cNvPr id="52" name="TextBox 51"/>
          <p:cNvSpPr txBox="1"/>
          <p:nvPr/>
        </p:nvSpPr>
        <p:spPr>
          <a:xfrm>
            <a:off x="3251200" y="6235700"/>
            <a:ext cx="3746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각 W panel에서 X 전체 순회</a:t>
            </a:r>
          </a:p>
        </p:txBody>
      </p:sp>
      <p:sp>
        <p:nvSpPr>
          <p:cNvPr id="53" name="TextBox 52"/>
          <p:cNvSpPr txBox="1"/>
          <p:nvPr/>
        </p:nvSpPr>
        <p:spPr>
          <a:xfrm>
            <a:off x="7251700" y="6235700"/>
            <a:ext cx="39624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48 + 18×32 = 624 MiB</a:t>
            </a:r>
          </a:p>
        </p:txBody>
      </p:sp>
      <p:sp>
        <p:nvSpPr>
          <p:cNvPr id="54" name="Rounded Rectangle 53"/>
          <p:cNvSpPr/>
          <p:nvPr/>
        </p:nvSpPr>
        <p:spPr>
          <a:xfrm>
            <a:off x="1028700" y="7607300"/>
            <a:ext cx="10147300" cy="381000"/>
          </a:xfrm>
          <a:prstGeom prst="roundRect">
            <a:avLst>
              <a:gd name="adj" fmla="val 12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43000" y="7683500"/>
            <a:ext cx="99187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172942"/>
                </a:solidFill>
                <a:latin typeface="NanumGothic"/>
                <a:ea typeface="NanumGothic"/>
                <a:cs typeface="NanumGothic"/>
              </a:rPr>
              <a:t>출력·scratch 비용 제외 / 설명용 비교 / 실제 장문 compile 아님</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4605000" cy="245364"/>
          </a:xfrm>
          <a:prstGeom prst="rect">
            <a:avLst/>
          </a:prstGeom>
          <a:noFill/>
        </p:spPr>
        <p:txBody>
          <a:bodyPr wrap="none" tIns="0" bIns="0" lIns="0" rIns="0" anchor="t">
            <a:spAutoFit/>
          </a:bodyPr>
          <a:lstStyle/>
          <a:p>
            <a:pPr algn="l">
              <a:lnSpc>
                <a:spcPts val="1932"/>
              </a:lnSpc>
              <a:spcBef>
                <a:spcPts val="0"/>
              </a:spcBef>
              <a:spcAft>
                <a:spcPts val="0"/>
              </a:spcAft>
            </a:pPr>
            <a:r>
              <a:rPr sz="1400" b="1">
                <a:solidFill>
                  <a:srgbClr val="008A82"/>
                </a:solidFill>
                <a:latin typeface="NanumGothic"/>
                <a:ea typeface="NanumGothic"/>
                <a:cs typeface="NanumGothic"/>
              </a:rPr>
              <a:t>부록 F / 자료 추적</a:t>
            </a:r>
          </a:p>
        </p:txBody>
      </p:sp>
      <p:sp>
        <p:nvSpPr>
          <p:cNvPr id="4" name="TextBox 3"/>
          <p:cNvSpPr txBox="1"/>
          <p:nvPr/>
        </p:nvSpPr>
        <p:spPr>
          <a:xfrm>
            <a:off x="16167100" y="330200"/>
            <a:ext cx="1524000" cy="227837"/>
          </a:xfrm>
          <a:prstGeom prst="rect">
            <a:avLst/>
          </a:prstGeom>
          <a:noFill/>
        </p:spPr>
        <p:txBody>
          <a:bodyPr wrap="none" tIns="0" bIns="0" lIns="0" rIns="0" anchor="t">
            <a:spAutoFit/>
          </a:bodyPr>
          <a:lstStyle/>
          <a:p>
            <a:pPr algn="r">
              <a:lnSpc>
                <a:spcPts val="1793"/>
              </a:lnSpc>
              <a:spcBef>
                <a:spcPts val="0"/>
              </a:spcBef>
              <a:spcAft>
                <a:spcPts val="0"/>
              </a:spcAft>
            </a:pPr>
            <a:r>
              <a:rPr sz="1300" b="0">
                <a:solidFill>
                  <a:srgbClr val="576980"/>
                </a:solidFill>
                <a:latin typeface="NanumGothic"/>
                <a:ea typeface="NanumGothic"/>
                <a:cs typeface="NanumGothic"/>
              </a:rPr>
              <a:t>상세 설명판</a:t>
            </a:r>
          </a:p>
        </p:txBody>
      </p:sp>
      <p:sp>
        <p:nvSpPr>
          <p:cNvPr id="5" name="TextBox 4"/>
          <p:cNvSpPr txBox="1"/>
          <p:nvPr/>
        </p:nvSpPr>
        <p:spPr>
          <a:xfrm>
            <a:off x="609600" y="787400"/>
            <a:ext cx="17068800" cy="578358"/>
          </a:xfrm>
          <a:prstGeom prst="rect">
            <a:avLst/>
          </a:prstGeom>
          <a:noFill/>
        </p:spPr>
        <p:txBody>
          <a:bodyPr wrap="none" tIns="0" bIns="0" lIns="0" rIns="0" anchor="t">
            <a:spAutoFit/>
          </a:bodyPr>
          <a:lstStyle/>
          <a:p>
            <a:pPr algn="l">
              <a:lnSpc>
                <a:spcPts val="4554"/>
              </a:lnSpc>
              <a:spcBef>
                <a:spcPts val="0"/>
              </a:spcBef>
              <a:spcAft>
                <a:spcPts val="0"/>
              </a:spcAft>
            </a:pPr>
            <a:r>
              <a:rPr sz="3300" b="1">
                <a:solidFill>
                  <a:srgbClr val="172942"/>
                </a:solidFill>
                <a:latin typeface="NanumGothic"/>
                <a:ea typeface="NanumGothic"/>
                <a:cs typeface="NanumGothic"/>
              </a:rPr>
              <a:t>발표의 그림과 숫자를 문서에서 다시 확인할 수 있습니다</a:t>
            </a:r>
          </a:p>
        </p:txBody>
      </p:sp>
      <p:sp>
        <p:nvSpPr>
          <p:cNvPr id="6" name="TextBox 5"/>
          <p:cNvSpPr txBox="1"/>
          <p:nvPr/>
        </p:nvSpPr>
        <p:spPr>
          <a:xfrm>
            <a:off x="609600" y="1473200"/>
            <a:ext cx="17068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슬라이드마다 발표자 노트와 원본 문서·실험 파일 경로가 있습니다.</a:t>
            </a:r>
          </a:p>
        </p:txBody>
      </p:sp>
      <p:cxnSp>
        <p:nvCxnSpPr>
          <p:cNvPr id="7" name="Connector 6"/>
          <p:cNvCxnSpPr/>
          <p:nvPr/>
        </p:nvCxnSpPr>
        <p:spPr>
          <a:xfrm>
            <a:off x="609600" y="1917700"/>
            <a:ext cx="17068800" cy="0"/>
          </a:xfrm>
          <a:prstGeom prst="line">
            <a:avLst/>
          </a:prstGeom>
          <a:ln w="19050">
            <a:solidFill>
              <a:srgbClr val="D5DFE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2095500"/>
            <a:ext cx="10795000" cy="210311"/>
          </a:xfrm>
          <a:prstGeom prst="rect">
            <a:avLst/>
          </a:prstGeom>
          <a:noFill/>
        </p:spPr>
        <p:txBody>
          <a:bodyPr wrap="none" tIns="0" bIns="0" lIns="0" rIns="0" anchor="t">
            <a:spAutoFit/>
          </a:bodyPr>
          <a:lstStyle/>
          <a:p>
            <a:pPr algn="l">
              <a:lnSpc>
                <a:spcPts val="1655"/>
              </a:lnSpc>
              <a:spcBef>
                <a:spcPts val="0"/>
              </a:spcBef>
              <a:spcAft>
                <a:spcPts val="0"/>
              </a:spcAft>
            </a:pPr>
            <a:r>
              <a:rPr sz="1200" b="1">
                <a:solidFill>
                  <a:srgbClr val="008A82"/>
                </a:solidFill>
                <a:latin typeface="NanumGothic"/>
                <a:ea typeface="NanumGothic"/>
                <a:cs typeface="NanumGothic"/>
              </a:rPr>
              <a:t>동작을 따라 읽는 그림</a:t>
            </a:r>
          </a:p>
        </p:txBody>
      </p:sp>
      <p:sp>
        <p:nvSpPr>
          <p:cNvPr id="9" name="Rounded Rectangle 8"/>
          <p:cNvSpPr/>
          <p:nvPr/>
        </p:nvSpPr>
        <p:spPr>
          <a:xfrm>
            <a:off x="609600" y="2425700"/>
            <a:ext cx="10972800" cy="5803900"/>
          </a:xfrm>
          <a:prstGeom prst="roundRect">
            <a:avLst>
              <a:gd name="adj" fmla="val 26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988800" y="2095500"/>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988800" y="2095500"/>
            <a:ext cx="50800" cy="1884171"/>
          </a:xfrm>
          <a:prstGeom prst="rect">
            <a:avLst/>
          </a:prstGeom>
          <a:solidFill>
            <a:srgbClr val="286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42800" y="2311400"/>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01  발표→문서→실제 결과</a:t>
            </a:r>
          </a:p>
        </p:txBody>
      </p:sp>
      <p:sp>
        <p:nvSpPr>
          <p:cNvPr id="13" name="TextBox 12"/>
          <p:cNvSpPr txBox="1"/>
          <p:nvPr/>
        </p:nvSpPr>
        <p:spPr>
          <a:xfrm>
            <a:off x="12255500" y="264160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각 슬라이드의 sources는 docs의 같은 주제 장과</a:t>
            </a:r>
          </a:p>
        </p:txBody>
      </p:sp>
      <p:sp>
        <p:nvSpPr>
          <p:cNvPr id="14" name="TextBox 13"/>
          <p:cNvSpPr txBox="1"/>
          <p:nvPr/>
        </p:nvSpPr>
        <p:spPr>
          <a:xfrm>
            <a:off x="12255500" y="295706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IR·JSON으로 연결됩니다. 노트에는 설명 흐름과</a:t>
            </a:r>
          </a:p>
        </p:txBody>
      </p:sp>
      <p:sp>
        <p:nvSpPr>
          <p:cNvPr id="15" name="TextBox 14"/>
          <p:cNvSpPr txBox="1"/>
          <p:nvPr/>
        </p:nvSpPr>
        <p:spPr>
          <a:xfrm>
            <a:off x="12255500" y="327253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조건을 남겼고 본문에도 핵심 이유와 예시를</a:t>
            </a:r>
          </a:p>
        </p:txBody>
      </p:sp>
      <p:sp>
        <p:nvSpPr>
          <p:cNvPr id="16" name="TextBox 15"/>
          <p:cNvSpPr txBox="1"/>
          <p:nvPr/>
        </p:nvSpPr>
        <p:spPr>
          <a:xfrm>
            <a:off x="12255500" y="358800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담았습니다.</a:t>
            </a:r>
          </a:p>
        </p:txBody>
      </p:sp>
      <p:sp>
        <p:nvSpPr>
          <p:cNvPr id="17" name="Rounded Rectangle 16"/>
          <p:cNvSpPr/>
          <p:nvPr/>
        </p:nvSpPr>
        <p:spPr>
          <a:xfrm>
            <a:off x="11988800" y="4106672"/>
            <a:ext cx="5689600" cy="1568704"/>
          </a:xfrm>
          <a:prstGeom prst="roundRect">
            <a:avLst>
              <a:gd name="adj" fmla="val 80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88800" y="4106672"/>
            <a:ext cx="50800" cy="1568704"/>
          </a:xfrm>
          <a:prstGeom prst="rect">
            <a:avLst/>
          </a:prstGeom>
          <a:solidFill>
            <a:srgbClr val="008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42800" y="4322572"/>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02  재생성 가능한 그림과 표</a:t>
            </a:r>
          </a:p>
        </p:txBody>
      </p:sp>
      <p:sp>
        <p:nvSpPr>
          <p:cNvPr id="20" name="TextBox 19"/>
          <p:cNvSpPr txBox="1"/>
          <p:nvPr/>
        </p:nvSpPr>
        <p:spPr>
          <a:xfrm>
            <a:off x="12255500" y="4652772"/>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도형은 PPTX에서 편집할 수 있고, 수치 그림은</a:t>
            </a:r>
          </a:p>
        </p:txBody>
      </p:sp>
      <p:sp>
        <p:nvSpPr>
          <p:cNvPr id="21" name="TextBox 20"/>
          <p:cNvSpPr txBox="1"/>
          <p:nvPr/>
        </p:nvSpPr>
        <p:spPr>
          <a:xfrm>
            <a:off x="12255500" y="496824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보존된 JSON을 기준으로 만듭니다. PDF는 같은</a:t>
            </a:r>
          </a:p>
        </p:txBody>
      </p:sp>
      <p:sp>
        <p:nvSpPr>
          <p:cNvPr id="22" name="TextBox 21"/>
          <p:cNvSpPr txBox="1"/>
          <p:nvPr/>
        </p:nvSpPr>
        <p:spPr>
          <a:xfrm>
            <a:off x="12255500" y="5283708"/>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좌표에서 별도로 렌더링한 보기용 파일입니다.</a:t>
            </a:r>
          </a:p>
        </p:txBody>
      </p:sp>
      <p:sp>
        <p:nvSpPr>
          <p:cNvPr id="23" name="Rounded Rectangle 22"/>
          <p:cNvSpPr/>
          <p:nvPr/>
        </p:nvSpPr>
        <p:spPr>
          <a:xfrm>
            <a:off x="11988800" y="5802376"/>
            <a:ext cx="5689600" cy="1884171"/>
          </a:xfrm>
          <a:prstGeom prst="roundRect">
            <a:avLst>
              <a:gd name="adj" fmla="val 674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88800" y="5802376"/>
            <a:ext cx="50800" cy="1884171"/>
          </a:xfrm>
          <a:prstGeom prst="rect">
            <a:avLst/>
          </a:prstGeom>
          <a:solidFill>
            <a:srgbClr val="7655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42800" y="6018276"/>
            <a:ext cx="5168900" cy="332994"/>
          </a:xfrm>
          <a:prstGeom prst="rect">
            <a:avLst/>
          </a:prstGeom>
          <a:noFill/>
        </p:spPr>
        <p:txBody>
          <a:bodyPr wrap="none" tIns="0" bIns="0" lIns="0" rIns="0" anchor="t">
            <a:spAutoFit/>
          </a:bodyPr>
          <a:lstStyle/>
          <a:p>
            <a:pPr algn="l">
              <a:lnSpc>
                <a:spcPts val="2622"/>
              </a:lnSpc>
              <a:spcBef>
                <a:spcPts val="0"/>
              </a:spcBef>
              <a:spcAft>
                <a:spcPts val="0"/>
              </a:spcAft>
            </a:pPr>
            <a:r>
              <a:rPr sz="1900" b="1">
                <a:solidFill>
                  <a:srgbClr val="172942"/>
                </a:solidFill>
                <a:latin typeface="NanumGothic"/>
                <a:ea typeface="NanumGothic"/>
                <a:cs typeface="NanumGothic"/>
              </a:rPr>
              <a:t>03  근거 갱신을 혼동하지 않는다</a:t>
            </a:r>
          </a:p>
        </p:txBody>
      </p:sp>
      <p:sp>
        <p:nvSpPr>
          <p:cNvPr id="26" name="TextBox 25"/>
          <p:cNvSpPr txBox="1"/>
          <p:nvPr/>
        </p:nvSpPr>
        <p:spPr>
          <a:xfrm>
            <a:off x="12255500" y="6348476"/>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발표자료를 다시 만들었다고 compiler나 전체 모델을</a:t>
            </a:r>
          </a:p>
        </p:txBody>
      </p:sp>
      <p:sp>
        <p:nvSpPr>
          <p:cNvPr id="27" name="TextBox 26"/>
          <p:cNvSpPr txBox="1"/>
          <p:nvPr/>
        </p:nvSpPr>
        <p:spPr>
          <a:xfrm>
            <a:off x="12255500" y="6663944"/>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재실행한 것은 아닙니다. sources.json과</a:t>
            </a:r>
          </a:p>
        </p:txBody>
      </p:sp>
      <p:sp>
        <p:nvSpPr>
          <p:cNvPr id="28" name="TextBox 27"/>
          <p:cNvSpPr txBox="1"/>
          <p:nvPr/>
        </p:nvSpPr>
        <p:spPr>
          <a:xfrm>
            <a:off x="12255500" y="6979411"/>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validation.json에서 원본 hash와 제작 검사 범위를</a:t>
            </a:r>
          </a:p>
        </p:txBody>
      </p:sp>
      <p:sp>
        <p:nvSpPr>
          <p:cNvPr id="29" name="TextBox 28"/>
          <p:cNvSpPr txBox="1"/>
          <p:nvPr/>
        </p:nvSpPr>
        <p:spPr>
          <a:xfrm>
            <a:off x="12255500" y="7294880"/>
            <a:ext cx="51308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576980"/>
                </a:solidFill>
                <a:latin typeface="NanumGothic"/>
                <a:ea typeface="NanumGothic"/>
                <a:cs typeface="NanumGothic"/>
              </a:rPr>
              <a:t>확인합니다.</a:t>
            </a:r>
          </a:p>
        </p:txBody>
      </p:sp>
      <p:sp>
        <p:nvSpPr>
          <p:cNvPr id="30" name="Rounded Rectangle 29"/>
          <p:cNvSpPr/>
          <p:nvPr/>
        </p:nvSpPr>
        <p:spPr>
          <a:xfrm>
            <a:off x="609600" y="8559800"/>
            <a:ext cx="17068800" cy="1016000"/>
          </a:xfrm>
          <a:prstGeom prst="roundRect">
            <a:avLst>
              <a:gd name="adj" fmla="val 12000"/>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200" y="8724900"/>
            <a:ext cx="1574800" cy="227837"/>
          </a:xfrm>
          <a:prstGeom prst="rect">
            <a:avLst/>
          </a:prstGeom>
          <a:noFill/>
        </p:spPr>
        <p:txBody>
          <a:bodyPr wrap="none" tIns="0" bIns="0" lIns="0" rIns="0" anchor="t">
            <a:spAutoFit/>
          </a:bodyPr>
          <a:lstStyle/>
          <a:p>
            <a:pPr algn="l">
              <a:lnSpc>
                <a:spcPts val="1793"/>
              </a:lnSpc>
              <a:spcBef>
                <a:spcPts val="0"/>
              </a:spcBef>
              <a:spcAft>
                <a:spcPts val="0"/>
              </a:spcAft>
            </a:pPr>
            <a:r>
              <a:rPr sz="1300" b="1">
                <a:solidFill>
                  <a:srgbClr val="008A82"/>
                </a:solidFill>
                <a:latin typeface="NanumGothic"/>
                <a:ea typeface="NanumGothic"/>
                <a:cs typeface="NanumGothic"/>
              </a:rPr>
              <a:t>예제와 해석</a:t>
            </a:r>
          </a:p>
        </p:txBody>
      </p:sp>
      <p:sp>
        <p:nvSpPr>
          <p:cNvPr id="32" name="TextBox 31"/>
          <p:cNvSpPr txBox="1"/>
          <p:nvPr/>
        </p:nvSpPr>
        <p:spPr>
          <a:xfrm>
            <a:off x="2527300" y="8737600"/>
            <a:ext cx="14846300" cy="332994"/>
          </a:xfrm>
          <a:prstGeom prst="rect">
            <a:avLst/>
          </a:prstGeom>
          <a:noFill/>
        </p:spPr>
        <p:txBody>
          <a:bodyPr wrap="none" tIns="0" bIns="0" lIns="0" rIns="0" anchor="t">
            <a:spAutoFit/>
          </a:bodyPr>
          <a:lstStyle/>
          <a:p>
            <a:pPr algn="l">
              <a:lnSpc>
                <a:spcPts val="2622"/>
              </a:lnSpc>
              <a:spcBef>
                <a:spcPts val="0"/>
              </a:spcBef>
              <a:spcAft>
                <a:spcPts val="0"/>
              </a:spcAft>
            </a:pPr>
            <a:r>
              <a:rPr sz="1900" b="0">
                <a:solidFill>
                  <a:srgbClr val="172942"/>
                </a:solidFill>
                <a:latin typeface="NanumGothic"/>
                <a:ea typeface="NanumGothic"/>
                <a:cs typeface="NanumGothic"/>
              </a:rPr>
              <a:t>더 읽기: docs/README.md의 13개 장 → examples의 IR·명령 → evidence의 실행·선택·회귀 기록.</a:t>
            </a:r>
          </a:p>
        </p:txBody>
      </p:sp>
      <p:sp>
        <p:nvSpPr>
          <p:cNvPr id="33" name="TextBox 32"/>
          <p:cNvSpPr txBox="1"/>
          <p:nvPr/>
        </p:nvSpPr>
        <p:spPr>
          <a:xfrm>
            <a:off x="609600" y="9918700"/>
            <a:ext cx="4572000" cy="175260"/>
          </a:xfrm>
          <a:prstGeom prst="rect">
            <a:avLst/>
          </a:prstGeom>
          <a:noFill/>
        </p:spPr>
        <p:txBody>
          <a:bodyPr wrap="none" tIns="0" bIns="0" lIns="0" rIns="0" anchor="t">
            <a:spAutoFit/>
          </a:bodyPr>
          <a:lstStyle/>
          <a:p>
            <a:pPr algn="l">
              <a:lnSpc>
                <a:spcPts val="1380"/>
              </a:lnSpc>
              <a:spcBef>
                <a:spcPts val="0"/>
              </a:spcBef>
              <a:spcAft>
                <a:spcPts val="0"/>
              </a:spcAft>
            </a:pPr>
            <a:r>
              <a:rPr sz="1000" b="0">
                <a:solidFill>
                  <a:srgbClr val="576980"/>
                </a:solidFill>
                <a:latin typeface="NanumGothic"/>
                <a:ea typeface="NanumGothic"/>
                <a:cs typeface="NanumGothic"/>
              </a:rPr>
              <a:t>NPU compiler · v09 FP16 · 상세 설명 · 부록</a:t>
            </a:r>
          </a:p>
        </p:txBody>
      </p:sp>
      <p:sp>
        <p:nvSpPr>
          <p:cNvPr id="34" name="TextBox 33"/>
          <p:cNvSpPr txBox="1"/>
          <p:nvPr/>
        </p:nvSpPr>
        <p:spPr>
          <a:xfrm>
            <a:off x="5232400" y="9918700"/>
            <a:ext cx="11366500" cy="157733"/>
          </a:xfrm>
          <a:prstGeom prst="rect">
            <a:avLst/>
          </a:prstGeom>
          <a:noFill/>
        </p:spPr>
        <p:txBody>
          <a:bodyPr wrap="none" tIns="0" bIns="0" lIns="0" rIns="0" anchor="t">
            <a:spAutoFit/>
          </a:bodyPr>
          <a:lstStyle/>
          <a:p>
            <a:pPr algn="l">
              <a:lnSpc>
                <a:spcPts val="1241"/>
              </a:lnSpc>
              <a:spcBef>
                <a:spcPts val="0"/>
              </a:spcBef>
              <a:spcAft>
                <a:spcPts val="0"/>
              </a:spcAft>
            </a:pPr>
            <a:r>
              <a:rPr sz="900" b="0">
                <a:solidFill>
                  <a:srgbClr val="576980"/>
                </a:solidFill>
                <a:latin typeface="NanumGothic"/>
                <a:ea typeface="NanumGothic"/>
                <a:cs typeface="NanumGothic"/>
              </a:rPr>
              <a:t>근거: README.md, README.md, README.md</a:t>
            </a:r>
          </a:p>
        </p:txBody>
      </p:sp>
      <p:sp>
        <p:nvSpPr>
          <p:cNvPr id="35" name="TextBox 34"/>
          <p:cNvSpPr txBox="1"/>
          <p:nvPr/>
        </p:nvSpPr>
        <p:spPr>
          <a:xfrm>
            <a:off x="16827500" y="9893300"/>
            <a:ext cx="825500" cy="210311"/>
          </a:xfrm>
          <a:prstGeom prst="rect">
            <a:avLst/>
          </a:prstGeom>
          <a:noFill/>
        </p:spPr>
        <p:txBody>
          <a:bodyPr wrap="none" tIns="0" bIns="0" lIns="0" rIns="0" anchor="t">
            <a:spAutoFit/>
          </a:bodyPr>
          <a:lstStyle/>
          <a:p>
            <a:pPr algn="r">
              <a:lnSpc>
                <a:spcPts val="1655"/>
              </a:lnSpc>
              <a:spcBef>
                <a:spcPts val="0"/>
              </a:spcBef>
              <a:spcAft>
                <a:spcPts val="0"/>
              </a:spcAft>
            </a:pPr>
            <a:r>
              <a:rPr sz="1200" b="0">
                <a:solidFill>
                  <a:srgbClr val="576980"/>
                </a:solidFill>
                <a:latin typeface="NanumGothic"/>
                <a:ea typeface="NanumGothic"/>
                <a:cs typeface="NanumGothic"/>
              </a:rPr>
              <a:t>54 / 54</a:t>
            </a:r>
          </a:p>
        </p:txBody>
      </p:sp>
      <p:sp>
        <p:nvSpPr>
          <p:cNvPr id="36" name="Rounded Rectangle 35"/>
          <p:cNvSpPr/>
          <p:nvPr/>
        </p:nvSpPr>
        <p:spPr>
          <a:xfrm>
            <a:off x="889000" y="2882900"/>
            <a:ext cx="3136900" cy="1841500"/>
          </a:xfrm>
          <a:prstGeom prst="roundRect">
            <a:avLst>
              <a:gd name="adj" fmla="val 5517"/>
            </a:avLst>
          </a:prstGeom>
          <a:solidFill>
            <a:srgbClr val="E5E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0607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발표 슬라이드</a:t>
            </a:r>
          </a:p>
        </p:txBody>
      </p:sp>
      <p:sp>
        <p:nvSpPr>
          <p:cNvPr id="38" name="TextBox 37"/>
          <p:cNvSpPr txBox="1"/>
          <p:nvPr/>
        </p:nvSpPr>
        <p:spPr>
          <a:xfrm>
            <a:off x="1066800" y="34874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그림 + 본문 + 예제 해석</a:t>
            </a:r>
          </a:p>
        </p:txBody>
      </p:sp>
      <p:sp>
        <p:nvSpPr>
          <p:cNvPr id="39" name="TextBox 38"/>
          <p:cNvSpPr txBox="1"/>
          <p:nvPr/>
        </p:nvSpPr>
        <p:spPr>
          <a:xfrm>
            <a:off x="1066800" y="37503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발표자 노트에 추가 설명</a:t>
            </a:r>
          </a:p>
        </p:txBody>
      </p:sp>
      <p:sp>
        <p:nvSpPr>
          <p:cNvPr id="40" name="Rounded Rectangle 39"/>
          <p:cNvSpPr/>
          <p:nvPr/>
        </p:nvSpPr>
        <p:spPr>
          <a:xfrm>
            <a:off x="4559300" y="2882900"/>
            <a:ext cx="3136900" cy="1841500"/>
          </a:xfrm>
          <a:prstGeom prst="roundRect">
            <a:avLst>
              <a:gd name="adj" fmla="val 5517"/>
            </a:avLst>
          </a:prstGeom>
          <a:solidFill>
            <a:srgbClr val="DE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37100" y="30607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주제별 문서</a:t>
            </a:r>
          </a:p>
        </p:txBody>
      </p:sp>
      <p:sp>
        <p:nvSpPr>
          <p:cNvPr id="42" name="TextBox 41"/>
          <p:cNvSpPr txBox="1"/>
          <p:nvPr/>
        </p:nvSpPr>
        <p:spPr>
          <a:xfrm>
            <a:off x="4737100" y="34874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13개 장 / TVM API</a:t>
            </a:r>
          </a:p>
        </p:txBody>
      </p:sp>
      <p:sp>
        <p:nvSpPr>
          <p:cNvPr id="43" name="TextBox 42"/>
          <p:cNvSpPr txBox="1"/>
          <p:nvPr/>
        </p:nvSpPr>
        <p:spPr>
          <a:xfrm>
            <a:off x="4737100" y="37503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실행 계약 / 기존 main</a:t>
            </a:r>
          </a:p>
        </p:txBody>
      </p:sp>
      <p:cxnSp>
        <p:nvCxnSpPr>
          <p:cNvPr id="44" name="Connector 43"/>
          <p:cNvCxnSpPr/>
          <p:nvPr/>
        </p:nvCxnSpPr>
        <p:spPr>
          <a:xfrm>
            <a:off x="4076700" y="38036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4368800" y="3759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29600" y="2882900"/>
            <a:ext cx="3136900" cy="1841500"/>
          </a:xfrm>
          <a:prstGeom prst="roundRect">
            <a:avLst>
              <a:gd name="adj" fmla="val 5517"/>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7400" y="3060700"/>
            <a:ext cx="2781300" cy="350520"/>
          </a:xfrm>
          <a:prstGeom prst="rect">
            <a:avLst/>
          </a:prstGeom>
          <a:noFill/>
        </p:spPr>
        <p:txBody>
          <a:bodyPr wrap="none" tIns="0" bIns="0" lIns="0" rIns="0" anchor="t">
            <a:spAutoFit/>
          </a:bodyPr>
          <a:lstStyle/>
          <a:p>
            <a:pPr algn="l">
              <a:lnSpc>
                <a:spcPts val="2760"/>
              </a:lnSpc>
              <a:spcBef>
                <a:spcPts val="0"/>
              </a:spcBef>
              <a:spcAft>
                <a:spcPts val="0"/>
              </a:spcAft>
            </a:pPr>
            <a:r>
              <a:rPr sz="2000" b="1">
                <a:solidFill>
                  <a:srgbClr val="172942"/>
                </a:solidFill>
                <a:latin typeface="NanumGothic"/>
                <a:ea typeface="NanumGothic"/>
                <a:cs typeface="NanumGothic"/>
              </a:rPr>
              <a:t>보존된 근거</a:t>
            </a:r>
          </a:p>
        </p:txBody>
      </p:sp>
      <p:sp>
        <p:nvSpPr>
          <p:cNvPr id="48" name="TextBox 47"/>
          <p:cNvSpPr txBox="1"/>
          <p:nvPr/>
        </p:nvSpPr>
        <p:spPr>
          <a:xfrm>
            <a:off x="8407400" y="348742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실제 IR·JSON·명령</a:t>
            </a:r>
          </a:p>
        </p:txBody>
      </p:sp>
      <p:sp>
        <p:nvSpPr>
          <p:cNvPr id="49" name="TextBox 48"/>
          <p:cNvSpPr txBox="1"/>
          <p:nvPr/>
        </p:nvSpPr>
        <p:spPr>
          <a:xfrm>
            <a:off x="8407400" y="3750310"/>
            <a:ext cx="2781300" cy="262890"/>
          </a:xfrm>
          <a:prstGeom prst="rect">
            <a:avLst/>
          </a:prstGeom>
          <a:noFill/>
        </p:spPr>
        <p:txBody>
          <a:bodyPr wrap="none" tIns="0" bIns="0" lIns="0" rIns="0" anchor="t">
            <a:spAutoFit/>
          </a:bodyPr>
          <a:lstStyle/>
          <a:p>
            <a:pPr algn="l">
              <a:lnSpc>
                <a:spcPts val="2070"/>
              </a:lnSpc>
              <a:spcBef>
                <a:spcPts val="0"/>
              </a:spcBef>
              <a:spcAft>
                <a:spcPts val="0"/>
              </a:spcAft>
            </a:pPr>
            <a:r>
              <a:rPr sz="1500" b="0">
                <a:solidFill>
                  <a:srgbClr val="576980"/>
                </a:solidFill>
                <a:latin typeface="NanumGothic"/>
                <a:ea typeface="NanumGothic"/>
                <a:cs typeface="NanumGothic"/>
              </a:rPr>
              <a:t>Source hash와 실행 범위</a:t>
            </a:r>
          </a:p>
        </p:txBody>
      </p:sp>
      <p:cxnSp>
        <p:nvCxnSpPr>
          <p:cNvPr id="50" name="Connector 49"/>
          <p:cNvCxnSpPr/>
          <p:nvPr/>
        </p:nvCxnSpPr>
        <p:spPr>
          <a:xfrm>
            <a:off x="7747000" y="3803650"/>
            <a:ext cx="393700" cy="0"/>
          </a:xfrm>
          <a:prstGeom prst="line">
            <a:avLst/>
          </a:prstGeom>
          <a:ln w="25400">
            <a:solidFill>
              <a:srgbClr val="576980"/>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8039100" y="3759200"/>
            <a:ext cx="101600" cy="101600"/>
          </a:xfrm>
          <a:custGeom>
            <a:avLst/>
            <a:gdLst/>
            <a:ahLst/>
            <a:cxnLst/>
            <a:rect l="l" t="t" r="r" b="b"/>
            <a:pathLst>
              <a:path w="8" h="8">
                <a:moveTo>
                  <a:pt x="8" y="4"/>
                </a:moveTo>
                <a:lnTo>
                  <a:pt x="0" y="8"/>
                </a:lnTo>
                <a:lnTo>
                  <a:pt x="0" y="0"/>
                </a:lnTo>
                <a:close/>
              </a:path>
            </a:pathLst>
          </a:custGeom>
          <a:solidFill>
            <a:srgbClr val="5769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50900" y="5448300"/>
            <a:ext cx="10490200" cy="457200"/>
          </a:xfrm>
          <a:prstGeom prst="rect">
            <a:avLst/>
          </a:prstGeom>
          <a:solidFill>
            <a:srgbClr val="142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900" y="5562600"/>
            <a:ext cx="44577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파일</a:t>
            </a:r>
          </a:p>
        </p:txBody>
      </p:sp>
      <p:sp>
        <p:nvSpPr>
          <p:cNvPr id="54" name="TextBox 53"/>
          <p:cNvSpPr txBox="1"/>
          <p:nvPr/>
        </p:nvSpPr>
        <p:spPr>
          <a:xfrm>
            <a:off x="5689600" y="5562600"/>
            <a:ext cx="5524500" cy="262890"/>
          </a:xfrm>
          <a:prstGeom prst="rect">
            <a:avLst/>
          </a:prstGeom>
          <a:noFill/>
        </p:spPr>
        <p:txBody>
          <a:bodyPr wrap="none" tIns="0" bIns="0" lIns="0" rIns="0" anchor="t">
            <a:spAutoFit/>
          </a:bodyPr>
          <a:lstStyle/>
          <a:p>
            <a:pPr algn="l">
              <a:lnSpc>
                <a:spcPts val="2070"/>
              </a:lnSpc>
              <a:spcBef>
                <a:spcPts val="0"/>
              </a:spcBef>
              <a:spcAft>
                <a:spcPts val="0"/>
              </a:spcAft>
            </a:pPr>
            <a:r>
              <a:rPr sz="1500" b="1">
                <a:solidFill>
                  <a:srgbClr val="FFFFFF"/>
                </a:solidFill>
                <a:latin typeface="NanumGothic"/>
                <a:ea typeface="NanumGothic"/>
                <a:cs typeface="NanumGothic"/>
              </a:rPr>
              <a:t>역할</a:t>
            </a:r>
          </a:p>
        </p:txBody>
      </p:sp>
      <p:sp>
        <p:nvSpPr>
          <p:cNvPr id="55" name="Rectangle 54"/>
          <p:cNvSpPr/>
          <p:nvPr/>
        </p:nvSpPr>
        <p:spPr>
          <a:xfrm>
            <a:off x="850900" y="5905500"/>
            <a:ext cx="10490200" cy="749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7900" y="6019800"/>
            <a:ext cx="4457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slide_content.json</a:t>
            </a:r>
          </a:p>
        </p:txBody>
      </p:sp>
      <p:sp>
        <p:nvSpPr>
          <p:cNvPr id="57" name="TextBox 56"/>
          <p:cNvSpPr txBox="1"/>
          <p:nvPr/>
        </p:nvSpPr>
        <p:spPr>
          <a:xfrm>
            <a:off x="5689600" y="6019800"/>
            <a:ext cx="5524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화면 설명·노트·근거의 편집 원본</a:t>
            </a:r>
          </a:p>
        </p:txBody>
      </p:sp>
      <p:sp>
        <p:nvSpPr>
          <p:cNvPr id="58" name="Rectangle 57"/>
          <p:cNvSpPr/>
          <p:nvPr/>
        </p:nvSpPr>
        <p:spPr>
          <a:xfrm>
            <a:off x="850900" y="6654800"/>
            <a:ext cx="10490200" cy="749300"/>
          </a:xfrm>
          <a:prstGeom prst="rect">
            <a:avLst/>
          </a:prstGeom>
          <a:solidFill>
            <a:srgbClr val="EB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7900" y="6769100"/>
            <a:ext cx="4457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build_deck.py</a:t>
            </a:r>
          </a:p>
        </p:txBody>
      </p:sp>
      <p:sp>
        <p:nvSpPr>
          <p:cNvPr id="60" name="TextBox 59"/>
          <p:cNvSpPr txBox="1"/>
          <p:nvPr/>
        </p:nvSpPr>
        <p:spPr>
          <a:xfrm>
            <a:off x="5689600" y="6769100"/>
            <a:ext cx="5524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편집 가능한 도형과 PPTX/PDF 재생성</a:t>
            </a:r>
          </a:p>
        </p:txBody>
      </p:sp>
      <p:sp>
        <p:nvSpPr>
          <p:cNvPr id="61" name="Rectangle 60"/>
          <p:cNvSpPr/>
          <p:nvPr/>
        </p:nvSpPr>
        <p:spPr>
          <a:xfrm>
            <a:off x="850900" y="7404100"/>
            <a:ext cx="10490200" cy="7493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7900" y="7518400"/>
            <a:ext cx="44577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sources.json / validation.json</a:t>
            </a:r>
          </a:p>
        </p:txBody>
      </p:sp>
      <p:sp>
        <p:nvSpPr>
          <p:cNvPr id="63" name="TextBox 62"/>
          <p:cNvSpPr txBox="1"/>
          <p:nvPr/>
        </p:nvSpPr>
        <p:spPr>
          <a:xfrm>
            <a:off x="5689600" y="7518400"/>
            <a:ext cx="5524500" cy="315467"/>
          </a:xfrm>
          <a:prstGeom prst="rect">
            <a:avLst/>
          </a:prstGeom>
          <a:noFill/>
        </p:spPr>
        <p:txBody>
          <a:bodyPr wrap="none" tIns="0" bIns="0" lIns="0" rIns="0" anchor="t">
            <a:spAutoFit/>
          </a:bodyPr>
          <a:lstStyle/>
          <a:p>
            <a:pPr algn="l">
              <a:lnSpc>
                <a:spcPts val="2483"/>
              </a:lnSpc>
              <a:spcBef>
                <a:spcPts val="0"/>
              </a:spcBef>
              <a:spcAft>
                <a:spcPts val="0"/>
              </a:spcAft>
            </a:pPr>
            <a:r>
              <a:rPr sz="1800" b="0">
                <a:solidFill>
                  <a:srgbClr val="172942"/>
                </a:solidFill>
                <a:latin typeface="NanumGothic"/>
                <a:ea typeface="NanumGothic"/>
                <a:cs typeface="NanumGothic"/>
              </a:rPr>
              <a:t>슬라이드별 출처 hash / 제작 검사 범위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TVM 기반 LLM NPU compiler: 구조와 동작 — 상세 설명판</dc:title>
  <dc:subject>현재 v09 FP16 backend의 pipeline, 메모리 계획, 실행과 검증</dc:subject>
  <dc:creator>NPU compiler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